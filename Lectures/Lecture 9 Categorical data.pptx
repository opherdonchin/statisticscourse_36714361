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8"/>
  </p:notesMasterIdLst>
  <p:sldIdLst>
    <p:sldId id="256" r:id="rId2"/>
    <p:sldId id="513" r:id="rId3"/>
    <p:sldId id="515" r:id="rId4"/>
    <p:sldId id="516" r:id="rId5"/>
    <p:sldId id="534" r:id="rId6"/>
    <p:sldId id="532" r:id="rId7"/>
    <p:sldId id="531" r:id="rId8"/>
    <p:sldId id="530" r:id="rId9"/>
    <p:sldId id="535" r:id="rId10"/>
    <p:sldId id="536" r:id="rId11"/>
    <p:sldId id="519" r:id="rId12"/>
    <p:sldId id="517" r:id="rId13"/>
    <p:sldId id="537" r:id="rId14"/>
    <p:sldId id="529" r:id="rId15"/>
    <p:sldId id="533" r:id="rId16"/>
    <p:sldId id="518" r:id="rId17"/>
    <p:sldId id="523" r:id="rId18"/>
    <p:sldId id="521" r:id="rId19"/>
    <p:sldId id="524" r:id="rId20"/>
    <p:sldId id="526" r:id="rId21"/>
    <p:sldId id="525" r:id="rId22"/>
    <p:sldId id="522" r:id="rId23"/>
    <p:sldId id="527" r:id="rId24"/>
    <p:sldId id="520" r:id="rId25"/>
    <p:sldId id="528" r:id="rId26"/>
    <p:sldId id="514" r:id="rId27"/>
  </p:sldIdLst>
  <p:sldSz cx="12192000" cy="6858000"/>
  <p:notesSz cx="7102475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  <a:srgbClr val="FFE389"/>
    <a:srgbClr val="0000FF"/>
    <a:srgbClr val="1801BF"/>
    <a:srgbClr val="FE18FE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8" autoAdjust="0"/>
    <p:restoredTop sz="94660"/>
  </p:normalViewPr>
  <p:slideViewPr>
    <p:cSldViewPr snapToGrid="0">
      <p:cViewPr varScale="1">
        <p:scale>
          <a:sx n="77" d="100"/>
          <a:sy n="77" d="100"/>
        </p:scale>
        <p:origin x="730" y="27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3508"/>
          </a:xfrm>
          <a:prstGeom prst="rect">
            <a:avLst/>
          </a:prstGeom>
        </p:spPr>
        <p:txBody>
          <a:bodyPr vert="horz" lIns="99066" tIns="49533" rIns="99066" bIns="49533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513508"/>
          </a:xfrm>
          <a:prstGeom prst="rect">
            <a:avLst/>
          </a:prstGeom>
        </p:spPr>
        <p:txBody>
          <a:bodyPr vert="horz" lIns="99066" tIns="49533" rIns="99066" bIns="49533" rtlCol="0"/>
          <a:lstStyle>
            <a:lvl1pPr algn="r">
              <a:defRPr sz="1300"/>
            </a:lvl1pPr>
          </a:lstStyle>
          <a:p>
            <a:fld id="{9CF176CD-15D1-4787-BBAA-B7F61FF9E394}" type="datetimeFigureOut">
              <a:rPr lang="en-GB" smtClean="0"/>
              <a:t>26/05/2025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66" tIns="49533" rIns="99066" bIns="49533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248" y="4925407"/>
            <a:ext cx="5681980" cy="4029879"/>
          </a:xfrm>
          <a:prstGeom prst="rect">
            <a:avLst/>
          </a:prstGeom>
        </p:spPr>
        <p:txBody>
          <a:bodyPr vert="horz" lIns="99066" tIns="49533" rIns="99066" bIns="49533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7739" cy="513507"/>
          </a:xfrm>
          <a:prstGeom prst="rect">
            <a:avLst/>
          </a:prstGeom>
        </p:spPr>
        <p:txBody>
          <a:bodyPr vert="horz" lIns="99066" tIns="49533" rIns="99066" bIns="49533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9721107"/>
            <a:ext cx="3077739" cy="513507"/>
          </a:xfrm>
          <a:prstGeom prst="rect">
            <a:avLst/>
          </a:prstGeom>
        </p:spPr>
        <p:txBody>
          <a:bodyPr vert="horz" lIns="99066" tIns="49533" rIns="99066" bIns="49533" rtlCol="0" anchor="b"/>
          <a:lstStyle>
            <a:lvl1pPr algn="r">
              <a:defRPr sz="1300"/>
            </a:lvl1pPr>
          </a:lstStyle>
          <a:p>
            <a:fld id="{204755F2-1724-4A9A-9963-AF329A7390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4792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CA8F5-E68A-4115-9C25-E96C286CB035}" type="datetime1">
              <a:rPr lang="en-GB" smtClean="0"/>
              <a:t>26/05/2025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5323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B202B-C763-46C3-A636-9DFD853B4605}" type="datetime1">
              <a:rPr lang="en-GB" smtClean="0"/>
              <a:t>26/05/2025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0905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1E87C-49EE-449B-BBE1-C8D9F03709E3}" type="datetime1">
              <a:rPr lang="en-GB" smtClean="0"/>
              <a:t>26/05/2025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915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DF79F-283F-4921-8EFE-03DC0706D514}" type="datetime1">
              <a:rPr lang="en-GB" smtClean="0"/>
              <a:t>26/05/2025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7933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6B75B-49C2-4C52-A9AA-29208F1CA2A2}" type="datetime1">
              <a:rPr lang="en-GB" smtClean="0"/>
              <a:t>26/05/2025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8919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8CB34-9D44-4B11-81FA-362E39680C1C}" type="datetime1">
              <a:rPr lang="en-GB" smtClean="0"/>
              <a:t>26/05/2025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0036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EA9AC-502E-4271-B4D2-4510E701B0BB}" type="datetime1">
              <a:rPr lang="en-GB" smtClean="0"/>
              <a:t>26/05/2025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82070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FC0ED-09ED-410F-BE71-C5A0E5CAF45C}" type="datetime1">
              <a:rPr lang="en-GB" smtClean="0"/>
              <a:t>26/05/2025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4039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4F426-D937-485B-A737-9052C677CC14}" type="datetime1">
              <a:rPr lang="en-GB" smtClean="0"/>
              <a:t>26/05/2025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9853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65654-1D4B-4B33-B8CE-F5581D9C13AC}" type="datetime1">
              <a:rPr lang="en-GB" smtClean="0"/>
              <a:t>26/05/2025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94257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3557C-D1F8-4213-9381-806C9A51FC91}" type="datetime1">
              <a:rPr lang="en-GB" smtClean="0"/>
              <a:t>26/05/2025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5652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29E2CA-F4BC-40A0-B78C-A9A7478F92E3}" type="datetime1">
              <a:rPr lang="en-GB" smtClean="0"/>
              <a:t>26/05/2025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DC7AD3-7C2E-418B-8082-788996B615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5350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7" Type="http://schemas.openxmlformats.org/officeDocument/2006/relationships/image" Target="../media/image10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3" Type="http://schemas.openxmlformats.org/officeDocument/2006/relationships/image" Target="../media/image8.wmf"/><Relationship Id="rId7" Type="http://schemas.openxmlformats.org/officeDocument/2006/relationships/oleObject" Target="../embeddings/oleObject3.bin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7" Type="http://schemas.openxmlformats.org/officeDocument/2006/relationships/image" Target="../media/image15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7" Type="http://schemas.openxmlformats.org/officeDocument/2006/relationships/image" Target="../media/image17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16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Statistics</a:t>
            </a:r>
            <a:br>
              <a:rPr lang="en-US" dirty="0"/>
            </a:br>
            <a:r>
              <a:rPr lang="en-US" dirty="0"/>
              <a:t>367-1-4361</a:t>
            </a:r>
            <a:br>
              <a:rPr lang="en-US" dirty="0"/>
            </a:br>
            <a:r>
              <a:rPr lang="en-US" dirty="0"/>
              <a:t>Categorical Data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Opher Donchin</a:t>
            </a:r>
            <a:endParaRPr lang="en-GB" sz="5400" dirty="0"/>
          </a:p>
        </p:txBody>
      </p:sp>
    </p:spTree>
    <p:extLst>
      <p:ext uri="{BB962C8B-B14F-4D97-AF65-F5344CB8AC3E}">
        <p14:creationId xmlns:p14="http://schemas.microsoft.com/office/powerpoint/2010/main" val="2095873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862"/>
    </mc:Choice>
    <mc:Fallback xmlns="">
      <p:transition spd="slow" advTm="8862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AD03F-1386-FFFF-9FB8-3727CF8D4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BE10E59-0B27-D1E1-E8D2-67F19613D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628FB38-F6C8-A105-F16D-64FC1B7EF3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7200" dirty="0"/>
              <a:t>9A Multiple categories</a:t>
            </a:r>
            <a:endParaRPr lang="en-IL" sz="7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DC25A1-06F1-03C0-D58C-B662FCCB4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469EAC8-EFAD-49DA-A425-6225312A328A}" type="slidenum">
              <a:rPr lang="he-IL" altLang="en-US" smtClean="0"/>
              <a:pPr>
                <a:defRPr/>
              </a:pPr>
              <a:t>2</a:t>
            </a:fld>
            <a:r>
              <a:rPr lang="en-US" altLang="en-US" dirty="0"/>
              <a:t> /  72</a:t>
            </a:r>
          </a:p>
        </p:txBody>
      </p:sp>
    </p:spTree>
    <p:extLst>
      <p:ext uri="{BB962C8B-B14F-4D97-AF65-F5344CB8AC3E}">
        <p14:creationId xmlns:p14="http://schemas.microsoft.com/office/powerpoint/2010/main" val="3244368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B241252-D103-3E95-2078-253445D4B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Penguins with large bills are heavier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42D0F9-D678-A14A-244E-DC4DD2787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3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FBC6BFA-127D-7469-3EEB-521EB74E01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03000" y="1690688"/>
            <a:ext cx="6453428" cy="4916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6565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2D85D-8B26-E62D-A590-5FB0F0566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69B867A-92AF-D507-BCE1-363FEFD30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4</a:t>
            </a:fld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F2EF59-A887-79A9-5E02-09326B9CAE6C}"/>
              </a:ext>
            </a:extLst>
          </p:cNvPr>
          <p:cNvSpPr txBox="1"/>
          <p:nvPr/>
        </p:nvSpPr>
        <p:spPr>
          <a:xfrm>
            <a:off x="838200" y="2057716"/>
            <a:ext cx="9456272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model_p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bmb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body_mass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~ 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bill_length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+ species"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penguins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3D5F735-BB69-3EC1-F2B2-735EAE8C4E9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95994" y="3011736"/>
            <a:ext cx="3649433" cy="278052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215B0C4-268B-54FD-FDCC-F5D63E3BEE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573" y="2823032"/>
            <a:ext cx="7791301" cy="3381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5121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8902B-F33F-BD8D-5993-2BC24941C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specify in the formula</a:t>
            </a:r>
            <a:endParaRPr lang="en-IL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D33406-A0CE-5A8A-306E-F975F9E1E3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Defining categorical variables in Pandas</a:t>
            </a:r>
          </a:p>
          <a:p>
            <a:r>
              <a:rPr lang="en-US" dirty="0"/>
              <a:t>Defining categorical variables in Bambi</a:t>
            </a:r>
            <a:endParaRPr lang="en-I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C7AA14-D6E0-958A-F220-57FA92E79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49748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E1CF5F-CE50-F9E3-C8DB-9D94EEE2B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613C0-ED85-50DF-8F03-A88DB2EB7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underlying model</a:t>
            </a:r>
            <a:endParaRPr lang="en-I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03FCE1-2AED-4F3F-13A7-7EFD253F5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6</a:t>
            </a:fld>
            <a:endParaRPr lang="en-GB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B0293F2-0331-F92D-700F-ECCA3EFCC1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3897" y="2675749"/>
            <a:ext cx="3336606" cy="249339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77683E0-6ECA-697C-8CE9-316FA8EECB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630" y="2231553"/>
            <a:ext cx="7791301" cy="3381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8231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CD14E1-D370-546D-D35F-183030C33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AF61E-0239-3AAF-241F-43837CAE7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a graph from </a:t>
            </a:r>
            <a:r>
              <a:rPr lang="en-US" dirty="0" err="1"/>
              <a:t>bambi</a:t>
            </a:r>
            <a:endParaRPr lang="en-I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2122AB-E1F9-51AA-AA46-6FC77B23E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7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21977D-C1A8-FDBB-4E64-CD0FC32FFA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9380" y="2315060"/>
            <a:ext cx="3918857" cy="397254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C9DC970-B177-1B1D-2AA1-97C8E03B45F9}"/>
              </a:ext>
            </a:extLst>
          </p:cNvPr>
          <p:cNvSpPr txBox="1"/>
          <p:nvPr/>
        </p:nvSpPr>
        <p:spPr>
          <a:xfrm>
            <a:off x="7738575" y="1883314"/>
            <a:ext cx="2521598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model_p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graph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284B4D-CCBF-D07C-9F69-143BF8018E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4193" y="2733869"/>
            <a:ext cx="2521715" cy="327673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E88985B-E7EC-B53C-FD07-51E68057D194}"/>
              </a:ext>
            </a:extLst>
          </p:cNvPr>
          <p:cNvSpPr txBox="1"/>
          <p:nvPr/>
        </p:nvSpPr>
        <p:spPr>
          <a:xfrm>
            <a:off x="729809" y="1985008"/>
            <a:ext cx="4327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body_mass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~ 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bill_length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+ species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3354839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783C6-9F0A-58C7-E43B-8B7CEAB03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87FE0-72CE-78C8-4571-EE866E0D7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62459"/>
          </a:xfrm>
        </p:spPr>
        <p:txBody>
          <a:bodyPr/>
          <a:lstStyle/>
          <a:p>
            <a:r>
              <a:rPr lang="en-US" dirty="0"/>
              <a:t>Examining the outcomes</a:t>
            </a:r>
            <a:endParaRPr lang="en-I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B295FAD-3116-32CE-3836-BBD7061E6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8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8D4EBA-CE8F-FDF9-7C33-026592D364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744" y="2457683"/>
            <a:ext cx="5407834" cy="24479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51635F0-6D1A-4E01-97BF-E6B4159971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7249" y="1385088"/>
            <a:ext cx="4667055" cy="468490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ED70D0D-5E54-7F4A-A100-8D2164A89DD1}"/>
              </a:ext>
            </a:extLst>
          </p:cNvPr>
          <p:cNvSpPr txBox="1"/>
          <p:nvPr/>
        </p:nvSpPr>
        <p:spPr>
          <a:xfrm>
            <a:off x="604934" y="1985644"/>
            <a:ext cx="5963816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ax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az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plot_forest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idata_p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combined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CD3131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3CE63D-2159-FD97-6955-10FF4C173009}"/>
              </a:ext>
            </a:extLst>
          </p:cNvPr>
          <p:cNvSpPr txBox="1"/>
          <p:nvPr/>
        </p:nvSpPr>
        <p:spPr>
          <a:xfrm>
            <a:off x="3040880" y="6069990"/>
            <a:ext cx="8969050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bmb</a:t>
            </a:r>
            <a:r>
              <a:rPr lang="en-US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interpret</a:t>
            </a:r>
            <a:r>
              <a:rPr lang="en-US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plot_predictions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model_p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idata_p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[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bill_length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 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"species"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])</a:t>
            </a:r>
          </a:p>
        </p:txBody>
      </p:sp>
    </p:spTree>
    <p:extLst>
      <p:ext uri="{BB962C8B-B14F-4D97-AF65-F5344CB8AC3E}">
        <p14:creationId xmlns:p14="http://schemas.microsoft.com/office/powerpoint/2010/main" val="3966174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3C8C6-E46A-73AA-9519-BEDCF2FB6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interaction term here</a:t>
            </a:r>
            <a:endParaRPr lang="en-IL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0AFF48-0F14-69F4-6249-A332093A96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 that we have slope and intercept</a:t>
            </a:r>
            <a:endParaRPr lang="en-I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2D55C33-0E12-AE91-6BB5-F1478BC5D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89774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7A0F3-1F16-7281-8C99-B6A95AFBC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 kinds of models</a:t>
            </a:r>
            <a:endParaRPr lang="en-IL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D01CC2-CF6B-BD04-32A7-9A3B51560D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Categorical regressor</a:t>
            </a:r>
            <a:endParaRPr lang="en-IL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13E219-6893-4C31-711E-D0BC798323F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With reference group</a:t>
            </a:r>
          </a:p>
          <a:p>
            <a:pPr lvl="1"/>
            <a:r>
              <a:rPr lang="en-US" dirty="0"/>
              <a:t>Or full model</a:t>
            </a:r>
          </a:p>
          <a:p>
            <a:r>
              <a:rPr lang="en-US" dirty="0"/>
              <a:t>With or without interaction term</a:t>
            </a:r>
          </a:p>
          <a:p>
            <a:r>
              <a:rPr lang="en-US" dirty="0"/>
              <a:t>With or without slope</a:t>
            </a:r>
          </a:p>
          <a:p>
            <a:r>
              <a:rPr lang="en-US" dirty="0"/>
              <a:t>With or without hierarchy</a:t>
            </a:r>
          </a:p>
          <a:p>
            <a:pPr lvl="1"/>
            <a:endParaRPr lang="en-IL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DD19E46-7861-D972-E7AC-FE97E1D68A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Categorical index</a:t>
            </a:r>
            <a:endParaRPr lang="en-IL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CEB7FF2-DABD-876F-385D-5D8F00B35E91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Always full model</a:t>
            </a:r>
          </a:p>
          <a:p>
            <a:r>
              <a:rPr lang="en-US" dirty="0"/>
              <a:t>With or without hierarchy</a:t>
            </a:r>
          </a:p>
          <a:p>
            <a:r>
              <a:rPr lang="en-US" dirty="0"/>
              <a:t>For slope and/or interaction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61E55A-476C-BC6D-7FD9-0409249BB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61226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80B93-C205-C2CC-A942-E58060B2E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09EDB3C-780E-57F6-6F61-178FDEC49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90FB83B-4174-93DB-C933-B8901F72DE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7200" dirty="0"/>
              <a:t>9B Modelling choices</a:t>
            </a:r>
            <a:endParaRPr lang="en-IL" sz="7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DC9EF1-05F5-1763-2542-B6CAC436B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469EAC8-EFAD-49DA-A425-6225312A328A}" type="slidenum">
              <a:rPr lang="he-IL" altLang="en-US" smtClean="0"/>
              <a:pPr>
                <a:defRPr/>
              </a:pPr>
              <a:t>11</a:t>
            </a:fld>
            <a:r>
              <a:rPr lang="en-US" altLang="en-US" dirty="0"/>
              <a:t> /  72</a:t>
            </a:r>
          </a:p>
        </p:txBody>
      </p:sp>
    </p:spTree>
    <p:extLst>
      <p:ext uri="{BB962C8B-B14F-4D97-AF65-F5344CB8AC3E}">
        <p14:creationId xmlns:p14="http://schemas.microsoft.com/office/powerpoint/2010/main" val="31993473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F2325-4010-1357-DC4F-30A271A70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590592" cy="1325563"/>
          </a:xfrm>
        </p:spPr>
        <p:txBody>
          <a:bodyPr/>
          <a:lstStyle/>
          <a:p>
            <a:r>
              <a:rPr lang="en-US" dirty="0"/>
              <a:t>Modelling choices</a:t>
            </a:r>
            <a:endParaRPr lang="en-I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E00DB52-5197-8612-4E31-B2610B101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12</a:t>
            </a:fld>
            <a:endParaRPr lang="en-GB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303C1D23-135C-4DED-B131-8A24F9A318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1897873"/>
              </p:ext>
            </p:extLst>
          </p:nvPr>
        </p:nvGraphicFramePr>
        <p:xfrm>
          <a:off x="589470" y="2471104"/>
          <a:ext cx="3704407" cy="3681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44440" imgH="203040" progId="Equation.DSMT4">
                  <p:embed/>
                </p:oleObj>
              </mc:Choice>
              <mc:Fallback>
                <p:oleObj name="Equation" r:id="rId2" imgW="20444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89470" y="2471104"/>
                        <a:ext cx="3704407" cy="3681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EFF1FA8D-CD91-5FD3-C3D4-2C0B1744F1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470" y="3118045"/>
            <a:ext cx="3336606" cy="2493394"/>
          </a:xfrm>
          <a:prstGeom prst="rect">
            <a:avLst/>
          </a:prstGeom>
        </p:spPr>
      </p:pic>
      <p:graphicFrame>
        <p:nvGraphicFramePr>
          <p:cNvPr id="18" name="Object 17">
            <a:extLst>
              <a:ext uri="{FF2B5EF4-FFF2-40B4-BE49-F238E27FC236}">
                <a16:creationId xmlns:a16="http://schemas.microsoft.com/office/drawing/2014/main" id="{4163920F-85A9-0C71-0ECF-4B0DC650EA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9448056"/>
              </p:ext>
            </p:extLst>
          </p:nvPr>
        </p:nvGraphicFramePr>
        <p:xfrm>
          <a:off x="7465721" y="1027906"/>
          <a:ext cx="3232150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232383" imgH="390439" progId="Equation.DSMT4">
                  <p:embed/>
                </p:oleObj>
              </mc:Choice>
              <mc:Fallback>
                <p:oleObj name="Equation" r:id="rId5" imgW="3232383" imgH="390439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465721" y="1027906"/>
                        <a:ext cx="3232150" cy="390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2" name="Picture 21">
            <a:extLst>
              <a:ext uri="{FF2B5EF4-FFF2-40B4-BE49-F238E27FC236}">
                <a16:creationId xmlns:a16="http://schemas.microsoft.com/office/drawing/2014/main" id="{FDF41A74-9281-6B01-907D-9AEF704236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42729" y="1708979"/>
            <a:ext cx="4078134" cy="48299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0436893-8AA3-DB68-3A7D-3EB503C8F6C7}"/>
              </a:ext>
            </a:extLst>
          </p:cNvPr>
          <p:cNvSpPr txBox="1"/>
          <p:nvPr/>
        </p:nvSpPr>
        <p:spPr>
          <a:xfrm>
            <a:off x="7344697" y="2839244"/>
            <a:ext cx="3519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Make prior mu = 0 for both beta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6412603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54201-E644-BDAF-9FEA-2D7297BCA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Talk here about random and fixed effects?</a:t>
            </a:r>
            <a:endParaRPr lang="en-I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081763-ED74-7E14-04FE-F4D9CB1AC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92862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B9E9F-7F92-9BEE-D583-39FD99EE9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DF861-8C20-0123-1E97-0411D9F95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021" y="365126"/>
            <a:ext cx="10515600" cy="1101876"/>
          </a:xfrm>
        </p:spPr>
        <p:txBody>
          <a:bodyPr/>
          <a:lstStyle/>
          <a:p>
            <a:r>
              <a:rPr lang="en-US" dirty="0"/>
              <a:t>Modelling choices</a:t>
            </a:r>
            <a:endParaRPr lang="en-I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7C04B15-03E1-AF17-C726-DAAC33B43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14</a:t>
            </a:fld>
            <a:endParaRPr lang="en-GB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80C551CB-DEEF-ABDE-BDDD-EE507237404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9362760"/>
              </p:ext>
            </p:extLst>
          </p:nvPr>
        </p:nvGraphicFramePr>
        <p:xfrm>
          <a:off x="541021" y="3102748"/>
          <a:ext cx="3704407" cy="3681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44440" imgH="203040" progId="Equation.DSMT4">
                  <p:embed/>
                </p:oleObj>
              </mc:Choice>
              <mc:Fallback>
                <p:oleObj name="Equation" r:id="rId2" imgW="2044440" imgH="203040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303C1D23-135C-4DED-B131-8A24F9A318F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41021" y="3102748"/>
                        <a:ext cx="3704407" cy="3681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672736FC-E549-2FD3-5214-5118C5CC65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780" y="3595307"/>
            <a:ext cx="3014887" cy="305618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DA875BC9-5A6F-E57D-3CAE-574B47D857E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32439" y="2303795"/>
            <a:ext cx="7317792" cy="4052555"/>
          </a:xfrm>
          <a:prstGeom prst="rect">
            <a:avLst/>
          </a:prstGeom>
        </p:spPr>
      </p:pic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52CC8429-572D-5813-148B-E37BFBA100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5154221"/>
              </p:ext>
            </p:extLst>
          </p:nvPr>
        </p:nvGraphicFramePr>
        <p:xfrm>
          <a:off x="6558819" y="1743960"/>
          <a:ext cx="3232188" cy="3894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108160" imgH="253800" progId="Equation.DSMT4">
                  <p:embed/>
                </p:oleObj>
              </mc:Choice>
              <mc:Fallback>
                <p:oleObj name="Equation" r:id="rId7" imgW="2108160" imgH="253800" progId="Equation.DSMT4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5E870A57-034E-5B4F-8CBE-9F84C7BB03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558819" y="1743960"/>
                        <a:ext cx="3232188" cy="3894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657142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6AFE4-FBB5-E613-2CEC-CF27A12B5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B1AC5-9EE3-033C-26B3-F53E99276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590592" cy="1325563"/>
          </a:xfrm>
        </p:spPr>
        <p:txBody>
          <a:bodyPr/>
          <a:lstStyle/>
          <a:p>
            <a:r>
              <a:rPr lang="en-US" dirty="0"/>
              <a:t>Modelling choices</a:t>
            </a:r>
            <a:endParaRPr lang="en-I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550812-F3DA-DE61-DC8A-2EED01DA3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15</a:t>
            </a:fld>
            <a:endParaRPr lang="en-GB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CD13FF8A-F406-E311-F171-C8AAFD59DBC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9470" y="2471104"/>
          <a:ext cx="3704407" cy="3681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44440" imgH="203040" progId="Equation.DSMT4">
                  <p:embed/>
                </p:oleObj>
              </mc:Choice>
              <mc:Fallback>
                <p:oleObj name="Equation" r:id="rId2" imgW="2044440" imgH="203040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303C1D23-135C-4DED-B131-8A24F9A318F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89470" y="2471104"/>
                        <a:ext cx="3704407" cy="3681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692BE4C0-7F72-92D3-FD31-EC68DD5150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470" y="3118045"/>
            <a:ext cx="3336606" cy="249339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2FEE4B9-F0D5-5107-24B1-9D3023EA16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1568" y="1495020"/>
            <a:ext cx="1944248" cy="4903150"/>
          </a:xfrm>
          <a:prstGeom prst="rect">
            <a:avLst/>
          </a:prstGeom>
        </p:spPr>
      </p:pic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39A0336D-1C4E-357D-5EE1-3EB72484F73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0918178"/>
              </p:ext>
            </p:extLst>
          </p:nvPr>
        </p:nvGraphicFramePr>
        <p:xfrm>
          <a:off x="7542042" y="832643"/>
          <a:ext cx="3543300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543279" imgH="390439" progId="Equation.DSMT4">
                  <p:embed/>
                </p:oleObj>
              </mc:Choice>
              <mc:Fallback>
                <p:oleObj name="Equation" r:id="rId6" imgW="3543279" imgH="390439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542042" y="832643"/>
                        <a:ext cx="3543300" cy="390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53642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B89CA-7F0B-F1BE-E5D4-BD5A92C84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C77EC-7826-6497-09E5-E653E2287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Modelling choices</a:t>
            </a:r>
            <a:endParaRPr lang="en-I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62F84C1-123A-5E4C-841D-EF580B534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16</a:t>
            </a:fld>
            <a:endParaRPr lang="en-GB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77534B3E-95C8-D8C3-987A-B628754F794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3698" y="1678002"/>
          <a:ext cx="3704407" cy="3681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44440" imgH="203040" progId="Equation.DSMT4">
                  <p:embed/>
                </p:oleObj>
              </mc:Choice>
              <mc:Fallback>
                <p:oleObj name="Equation" r:id="rId2" imgW="2044440" imgH="203040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303C1D23-135C-4DED-B131-8A24F9A318F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03698" y="1678002"/>
                        <a:ext cx="3704407" cy="3681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1BCB9D7F-07D1-F3DE-2D82-F83A9747B6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788" y="2139447"/>
            <a:ext cx="4386642" cy="4446733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D0C1B7F4-E3C9-31F5-9275-6EB8BBEBC6F9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75780" y="2303798"/>
            <a:ext cx="4719982" cy="3923607"/>
          </a:xfrm>
          <a:prstGeom prst="rect">
            <a:avLst/>
          </a:prstGeom>
        </p:spPr>
      </p:pic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DDD14F15-C177-9DFF-37C8-7ECE0082E7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5186855"/>
              </p:ext>
            </p:extLst>
          </p:nvPr>
        </p:nvGraphicFramePr>
        <p:xfrm>
          <a:off x="6619681" y="1651156"/>
          <a:ext cx="354330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543279" imgH="391881" progId="Equation.DSMT4">
                  <p:embed/>
                </p:oleObj>
              </mc:Choice>
              <mc:Fallback>
                <p:oleObj name="Equation" r:id="rId6" imgW="3543279" imgH="391881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619681" y="1651156"/>
                        <a:ext cx="3543300" cy="3921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40623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8F7D7-FE08-919C-43E5-B42B95DA2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Show differences in model outcomes for three different models</a:t>
            </a:r>
            <a:endParaRPr lang="en-I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151806D-4BB6-7BC1-9A01-F894BAF7E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14091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8282E-FF2B-6226-BA5E-82BB8B7C6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5000C49-9917-DC42-B559-E309B220C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E1CB84F-E0F9-0EEE-0ACD-21B8B2A0BB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7200" dirty="0"/>
              <a:t>9C Interaction models</a:t>
            </a:r>
            <a:endParaRPr lang="en-IL" sz="7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901CC5-E455-0270-9140-2C88A461C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469EAC8-EFAD-49DA-A425-6225312A328A}" type="slidenum">
              <a:rPr lang="he-IL" altLang="en-US" smtClean="0"/>
              <a:pPr>
                <a:defRPr/>
              </a:pPr>
              <a:t>18</a:t>
            </a:fld>
            <a:r>
              <a:rPr lang="en-US" altLang="en-US" dirty="0"/>
              <a:t> /  72</a:t>
            </a:r>
          </a:p>
        </p:txBody>
      </p:sp>
    </p:spTree>
    <p:extLst>
      <p:ext uri="{BB962C8B-B14F-4D97-AF65-F5344CB8AC3E}">
        <p14:creationId xmlns:p14="http://schemas.microsoft.com/office/powerpoint/2010/main" val="468468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39790-93ED-AAFF-8ED9-3C9385263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B8121-F5A5-D925-0703-C2122B651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Interactions </a:t>
            </a:r>
            <a:r>
              <a:rPr lang="en-US" dirty="0" err="1"/>
              <a:t>maths</a:t>
            </a:r>
            <a:r>
              <a:rPr lang="en-US" dirty="0"/>
              <a:t> and </a:t>
            </a:r>
            <a:r>
              <a:rPr lang="en-US" dirty="0" err="1"/>
              <a:t>bambi</a:t>
            </a:r>
            <a:endParaRPr lang="en-I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A8CB1B1-8E27-5BF8-B267-C465694D0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95806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FBC79-AF56-9B27-CFC6-66BFCA97A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Interactive demo</a:t>
            </a:r>
            <a:endParaRPr lang="en-I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448583A-C62F-7F93-CE30-101B05798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05676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5BD75-F2B1-6E16-0FB5-54B8E7DA6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Interaction fits</a:t>
            </a:r>
            <a:endParaRPr lang="en-I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769B7BA-1475-0F1B-98C2-005DC98E8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22837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343B5-65BD-D54F-F275-FD3337867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8C67286-F408-FADD-2635-EF855997A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2D10716-E6AB-5420-3672-180A70FB86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7200" dirty="0"/>
              <a:t>9C Interpreting Interactions</a:t>
            </a:r>
            <a:endParaRPr lang="en-IL" sz="7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597EB4-E49B-FD3F-DFE3-6AA70BE3B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469EAC8-EFAD-49DA-A425-6225312A328A}" type="slidenum">
              <a:rPr lang="he-IL" altLang="en-US" smtClean="0"/>
              <a:pPr>
                <a:defRPr/>
              </a:pPr>
              <a:t>22</a:t>
            </a:fld>
            <a:r>
              <a:rPr lang="en-US" altLang="en-US" dirty="0"/>
              <a:t> /  72</a:t>
            </a:r>
          </a:p>
        </p:txBody>
      </p:sp>
    </p:spTree>
    <p:extLst>
      <p:ext uri="{BB962C8B-B14F-4D97-AF65-F5344CB8AC3E}">
        <p14:creationId xmlns:p14="http://schemas.microsoft.com/office/powerpoint/2010/main" val="2510559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483D0-2633-48B0-5726-7BA7642E2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Alternative interpretations of interactions</a:t>
            </a:r>
            <a:endParaRPr lang="en-IL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1D43B4-986A-7B83-98DF-B395C12092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Is it the slope of X0 or the slope of X1 or the product?</a:t>
            </a:r>
            <a:endParaRPr lang="en-I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BF61F42-4771-2B0A-6B13-0E4DD632A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87060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EC218-3243-5ECB-FE05-E6A76FD93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Plotting contrasts and slopes</a:t>
            </a:r>
            <a:endParaRPr lang="en-I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6B94824-D23E-B91E-D3E6-167B2E05D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38647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D7E11-794D-34E5-6728-DDBD8D94D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FBA287-D067-6B83-A3A5-1946294F5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30935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05EBE-B4A5-EB92-3255-F4CB5881E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F2FC784-3764-0289-8B1E-358B2B18A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27AFE68-05AB-860F-E626-2B2AB3CDF2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7200" dirty="0"/>
              <a:t>9X Review</a:t>
            </a:r>
            <a:endParaRPr lang="en-IL" sz="7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CB1CC6-FBED-45B1-77C3-C9F9791E0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469EAC8-EFAD-49DA-A425-6225312A328A}" type="slidenum">
              <a:rPr lang="he-IL" altLang="en-US" smtClean="0"/>
              <a:pPr>
                <a:defRPr/>
              </a:pPr>
              <a:t>26</a:t>
            </a:fld>
            <a:r>
              <a:rPr lang="en-US" altLang="en-US" dirty="0"/>
              <a:t> /  72</a:t>
            </a:r>
          </a:p>
        </p:txBody>
      </p:sp>
    </p:spTree>
    <p:extLst>
      <p:ext uri="{BB962C8B-B14F-4D97-AF65-F5344CB8AC3E}">
        <p14:creationId xmlns:p14="http://schemas.microsoft.com/office/powerpoint/2010/main" val="15419782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17751</TotalTime>
  <Words>282</Words>
  <Application>Microsoft Office PowerPoint</Application>
  <PresentationFormat>Widescreen</PresentationFormat>
  <Paragraphs>70</Paragraphs>
  <Slides>26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Calibri</vt:lpstr>
      <vt:lpstr>Calibri Light</vt:lpstr>
      <vt:lpstr>Consolas</vt:lpstr>
      <vt:lpstr>Office Theme</vt:lpstr>
      <vt:lpstr>Equation</vt:lpstr>
      <vt:lpstr>Statistics 367-1-4361 Categorical Data</vt:lpstr>
      <vt:lpstr>PowerPoint Presentation</vt:lpstr>
      <vt:lpstr>Penguins with large bills are heavier</vt:lpstr>
      <vt:lpstr>PowerPoint Presentation</vt:lpstr>
      <vt:lpstr>How to specify in the formula</vt:lpstr>
      <vt:lpstr>The underlying model</vt:lpstr>
      <vt:lpstr>Getting a graph from bambi</vt:lpstr>
      <vt:lpstr>Examining the outcomes</vt:lpstr>
      <vt:lpstr>Add interaction term here</vt:lpstr>
      <vt:lpstr>Different kinds of models</vt:lpstr>
      <vt:lpstr>PowerPoint Presentation</vt:lpstr>
      <vt:lpstr>Modelling choices</vt:lpstr>
      <vt:lpstr>Talk here about random and fixed effects?</vt:lpstr>
      <vt:lpstr>Modelling choices</vt:lpstr>
      <vt:lpstr>Modelling choices</vt:lpstr>
      <vt:lpstr>Modelling choices</vt:lpstr>
      <vt:lpstr>Show differences in model outcomes for three different models</vt:lpstr>
      <vt:lpstr>PowerPoint Presentation</vt:lpstr>
      <vt:lpstr>Interactions maths and bambi</vt:lpstr>
      <vt:lpstr>Interactive demo</vt:lpstr>
      <vt:lpstr>Interaction fits</vt:lpstr>
      <vt:lpstr>PowerPoint Presentation</vt:lpstr>
      <vt:lpstr>Alternative interpretations of interactions</vt:lpstr>
      <vt:lpstr>Plotting contrasts and slopes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Data Analysis 367-2-5461</dc:title>
  <dc:creator>Opher Donchin</dc:creator>
  <cp:lastModifiedBy>Opher Donchin</cp:lastModifiedBy>
  <cp:revision>147</cp:revision>
  <cp:lastPrinted>2025-05-17T16:05:11Z</cp:lastPrinted>
  <dcterms:created xsi:type="dcterms:W3CDTF">2016-03-07T06:16:50Z</dcterms:created>
  <dcterms:modified xsi:type="dcterms:W3CDTF">2025-05-26T16:35:37Z</dcterms:modified>
</cp:coreProperties>
</file>