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7" r:id="rId2"/>
    <p:sldId id="325" r:id="rId3"/>
    <p:sldId id="259" r:id="rId4"/>
    <p:sldId id="262" r:id="rId5"/>
    <p:sldId id="261" r:id="rId6"/>
    <p:sldId id="263" r:id="rId7"/>
    <p:sldId id="264" r:id="rId8"/>
    <p:sldId id="265" r:id="rId9"/>
    <p:sldId id="321" r:id="rId10"/>
    <p:sldId id="268" r:id="rId11"/>
    <p:sldId id="276" r:id="rId12"/>
    <p:sldId id="324" r:id="rId13"/>
    <p:sldId id="269" r:id="rId14"/>
    <p:sldId id="270" r:id="rId15"/>
    <p:sldId id="271" r:id="rId16"/>
    <p:sldId id="272" r:id="rId17"/>
    <p:sldId id="277" r:id="rId18"/>
    <p:sldId id="326" r:id="rId19"/>
    <p:sldId id="273" r:id="rId20"/>
    <p:sldId id="278" r:id="rId21"/>
    <p:sldId id="275" r:id="rId22"/>
    <p:sldId id="279" r:id="rId23"/>
    <p:sldId id="735" r:id="rId24"/>
    <p:sldId id="280" r:id="rId25"/>
    <p:sldId id="281" r:id="rId26"/>
    <p:sldId id="282" r:id="rId27"/>
    <p:sldId id="283" r:id="rId28"/>
    <p:sldId id="288" r:id="rId29"/>
    <p:sldId id="289" r:id="rId30"/>
    <p:sldId id="290" r:id="rId31"/>
    <p:sldId id="292" r:id="rId32"/>
    <p:sldId id="736" r:id="rId33"/>
    <p:sldId id="737" r:id="rId34"/>
    <p:sldId id="738" r:id="rId35"/>
    <p:sldId id="291" r:id="rId36"/>
    <p:sldId id="293" r:id="rId37"/>
    <p:sldId id="297" r:id="rId38"/>
    <p:sldId id="294" r:id="rId39"/>
    <p:sldId id="295" r:id="rId40"/>
    <p:sldId id="296" r:id="rId41"/>
    <p:sldId id="267" r:id="rId42"/>
    <p:sldId id="287" r:id="rId43"/>
    <p:sldId id="313" r:id="rId44"/>
    <p:sldId id="285" r:id="rId45"/>
    <p:sldId id="323" r:id="rId46"/>
    <p:sldId id="298" r:id="rId47"/>
    <p:sldId id="310" r:id="rId48"/>
    <p:sldId id="306" r:id="rId49"/>
    <p:sldId id="322" r:id="rId50"/>
    <p:sldId id="305" r:id="rId51"/>
    <p:sldId id="307" r:id="rId52"/>
    <p:sldId id="309" r:id="rId53"/>
    <p:sldId id="301" r:id="rId54"/>
    <p:sldId id="299" r:id="rId55"/>
    <p:sldId id="317" r:id="rId56"/>
    <p:sldId id="316" r:id="rId57"/>
    <p:sldId id="318" r:id="rId58"/>
    <p:sldId id="320" r:id="rId59"/>
    <p:sldId id="319" r:id="rId60"/>
    <p:sldId id="300" r:id="rId61"/>
    <p:sldId id="311" r:id="rId62"/>
    <p:sldId id="312" r:id="rId63"/>
    <p:sldId id="308" r:id="rId64"/>
    <p:sldId id="284" r:id="rId65"/>
    <p:sldId id="314" r:id="rId66"/>
    <p:sldId id="315" r:id="rId67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C0947E3-3770-488D-B0B3-902650240093}">
          <p14:sldIdLst>
            <p14:sldId id="257"/>
            <p14:sldId id="325"/>
            <p14:sldId id="259"/>
            <p14:sldId id="262"/>
            <p14:sldId id="261"/>
            <p14:sldId id="263"/>
            <p14:sldId id="264"/>
            <p14:sldId id="265"/>
            <p14:sldId id="321"/>
            <p14:sldId id="268"/>
            <p14:sldId id="276"/>
            <p14:sldId id="324"/>
            <p14:sldId id="269"/>
            <p14:sldId id="270"/>
            <p14:sldId id="271"/>
            <p14:sldId id="272"/>
            <p14:sldId id="277"/>
            <p14:sldId id="326"/>
            <p14:sldId id="273"/>
            <p14:sldId id="278"/>
            <p14:sldId id="275"/>
            <p14:sldId id="279"/>
            <p14:sldId id="735"/>
            <p14:sldId id="280"/>
            <p14:sldId id="281"/>
            <p14:sldId id="282"/>
            <p14:sldId id="283"/>
            <p14:sldId id="288"/>
            <p14:sldId id="289"/>
            <p14:sldId id="290"/>
            <p14:sldId id="292"/>
            <p14:sldId id="736"/>
            <p14:sldId id="737"/>
            <p14:sldId id="738"/>
            <p14:sldId id="291"/>
            <p14:sldId id="293"/>
            <p14:sldId id="297"/>
            <p14:sldId id="294"/>
            <p14:sldId id="295"/>
            <p14:sldId id="296"/>
            <p14:sldId id="267"/>
            <p14:sldId id="287"/>
            <p14:sldId id="313"/>
            <p14:sldId id="285"/>
            <p14:sldId id="323"/>
            <p14:sldId id="298"/>
            <p14:sldId id="310"/>
            <p14:sldId id="306"/>
            <p14:sldId id="322"/>
            <p14:sldId id="305"/>
            <p14:sldId id="307"/>
            <p14:sldId id="309"/>
            <p14:sldId id="301"/>
            <p14:sldId id="299"/>
            <p14:sldId id="317"/>
            <p14:sldId id="316"/>
            <p14:sldId id="318"/>
            <p14:sldId id="320"/>
            <p14:sldId id="319"/>
            <p14:sldId id="300"/>
            <p14:sldId id="311"/>
            <p14:sldId id="312"/>
            <p14:sldId id="308"/>
            <p14:sldId id="284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BFAFC"/>
    <a:srgbClr val="F2CFEE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76150" autoAdjust="0"/>
  </p:normalViewPr>
  <p:slideViewPr>
    <p:cSldViewPr snapToGrid="0">
      <p:cViewPr>
        <p:scale>
          <a:sx n="63" d="100"/>
          <a:sy n="63" d="100"/>
        </p:scale>
        <p:origin x="8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fld id="{79D4A8A7-D893-4730-A90E-620C699F9DA7}" type="datetimeFigureOut">
              <a:rPr lang="he-IL" smtClean="0"/>
              <a:pPr/>
              <a:t>א'/תמוז/תשפ"ו</a:t>
            </a:fld>
            <a:endParaRPr lang="he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fld id="{5853D6E6-3E79-4F23-BDAE-DFB603395E52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4059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avid" panose="020E0502060401010101" pitchFamily="34" charset="-79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6652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457A-4DA0-305A-5E71-BDADA00BA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73E24E-35FC-96FC-0F81-EACDA5D1A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1BBBF-3A97-AF4C-46AF-AD4D32D50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76463-3AD8-53E1-4371-8DF07E34C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14690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Remainder – this is a “fake” dataset, not real data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48711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Remainder – this is a “fake” dataset, not real data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18707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Remainder – this is a “fake” dataset, not real data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48055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B5976-B076-3378-2215-7479FB74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6081D-5DEA-10C7-3F0E-91E296389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98582D5-D574-22A6-70AA-000B281133C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Green - Simple linear regression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Blue - Multiple linear regression</a:t>
                </a:r>
                <a:endParaRPr lang="en-US" sz="1200" dirty="0">
                  <a:solidFill>
                    <a:schemeClr val="accent4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Purple - Multiple</a:t>
                </a:r>
                <a:r>
                  <a:rPr lang="en-US" dirty="0">
                    <a:solidFill>
                      <a:schemeClr val="accent5"/>
                    </a:solidFill>
                  </a:rPr>
                  <a:t> linear</a:t>
                </a:r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 regression with interaction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dirty="0"/>
              </a:p>
              <a:p>
                <a:r>
                  <a:rPr lang="en-US" dirty="0"/>
                  <a:t>Is the same as in Bambi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98582D5-D574-22A6-70AA-000B281133C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Green - Simple linear regression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Blue - Multiple linear regression</a:t>
                </a:r>
                <a:endParaRPr lang="en-US" sz="1200" dirty="0">
                  <a:solidFill>
                    <a:schemeClr val="accent4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Purple - Multiple</a:t>
                </a:r>
                <a:r>
                  <a:rPr lang="en-US" dirty="0">
                    <a:solidFill>
                      <a:schemeClr val="accent5"/>
                    </a:solidFill>
                  </a:rPr>
                  <a:t> linear</a:t>
                </a:r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 regression with interaction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∗ 𝑔𝑒𝑛𝑑𝑒𝑟</a:t>
                </a:r>
                <a:endParaRPr dirty="0"/>
              </a:p>
              <a:p>
                <a:r>
                  <a:rPr lang="en-US" dirty="0"/>
                  <a:t>Is the same as in Bambi</a:t>
                </a:r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+ 𝑔𝑒𝑛𝑑𝑒𝑟 +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𝑑𝑖𝑒𝑡_𝑡𝑦𝑝𝑒:𝑔𝑒𝑛𝑑𝑒𝑟</a:t>
                </a:r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F3C90-B0C3-5A87-BC1B-6E2967E97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80300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Reminder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13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79427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For</a:t>
                </a:r>
                <a:r>
                  <a:rPr lang="en-US" b="0" baseline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simple linear regression with one categorical predictor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For</a:t>
                </a:r>
                <a:r>
                  <a:rPr lang="en-US" b="0" baseline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simple linear regression with one categorical predictor - </a:t>
                </a:r>
                <a:r>
                  <a:rPr lang="en-US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𝜇</a:t>
                </a:r>
                <a:r>
                  <a:rPr lang="en-US" b="0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_𝑖= 𝛽_0+ 𝛽_1 𝑥_1</a:t>
                </a:r>
                <a:endParaRPr lang="he-IL" dirty="0">
                  <a:solidFill>
                    <a:srgbClr val="FF0000"/>
                  </a:solidFill>
                </a:endParaRP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15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20985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For</a:t>
                </a:r>
                <a:r>
                  <a:rPr lang="en-US" b="0" baseline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simple linear regression with one categorical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For</a:t>
                </a:r>
                <a:r>
                  <a:rPr lang="en-US" b="0" baseline="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simple linear regression with one categorical predictor </a:t>
                </a:r>
                <a:r>
                  <a:rPr lang="en-US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𝜇</a:t>
                </a:r>
                <a:r>
                  <a:rPr lang="en-US" b="0" i="0">
                    <a:solidFill>
                      <a:srgbClr val="FF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_𝑖= 𝛽_0+ 𝛽_1 𝑥_1+ 𝛽_2 𝑥_2</a:t>
                </a:r>
                <a:endParaRPr lang="he-IL" dirty="0">
                  <a:solidFill>
                    <a:srgbClr val="FF0000"/>
                  </a:solidFill>
                </a:endParaRP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16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47054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A29FA-6960-FEA9-5996-CF23E055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29483-3DD8-3799-FDE5-074A37FB2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D01AB2-C9A2-D464-8644-5419E03BC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3B01D-FE04-C89D-7A95-1D6753F8B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3841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2FAF-0776-AB17-9987-3737B3D5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ADDA7-5D73-6816-C513-C110D9287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78816-7DB5-129A-AB4C-729A09C47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57F8E-F5D7-3C92-F861-67C3CA0A1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3133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slope change in </a:t>
            </a:r>
            <a:r>
              <a:rPr lang="en-US" dirty="0" err="1"/>
              <a:t>diet_type</a:t>
            </a:r>
            <a:r>
              <a:rPr lang="en-US" dirty="0"/>
              <a:t> 2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37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94299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interaction model allows the diet effect to differ by gender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07651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Green - Simple linear regression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Blue - Multiple linear regression</a:t>
                </a:r>
                <a:endParaRPr lang="en-US" sz="1200" dirty="0">
                  <a:solidFill>
                    <a:schemeClr val="accent4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Purple - Multiple</a:t>
                </a:r>
                <a:r>
                  <a:rPr lang="en-US" dirty="0">
                    <a:solidFill>
                      <a:schemeClr val="accent5"/>
                    </a:solidFill>
                  </a:rPr>
                  <a:t> linear</a:t>
                </a:r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 regression with interaction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dirty="0"/>
              </a:p>
              <a:p>
                <a:r>
                  <a:rPr lang="en-US" dirty="0"/>
                  <a:t>Is the same as in Bambi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𝑔𝑒𝑛𝑑𝑒𝑟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𝑑𝑖𝑒𝑡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𝑡𝑦𝑝𝑒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𝑔𝑒𝑛𝑑𝑒𝑟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dirty="0">
                    <a:solidFill>
                      <a:schemeClr val="accent6"/>
                    </a:solidFill>
                    <a:effectLst/>
                  </a:rPr>
                  <a:t>Green - Simple linear regression</a:t>
                </a:r>
              </a:p>
              <a:p>
                <a:r>
                  <a:rPr lang="en-US" dirty="0">
                    <a:solidFill>
                      <a:schemeClr val="accent4"/>
                    </a:solidFill>
                  </a:rPr>
                  <a:t>Blue - Multiple linear regression</a:t>
                </a:r>
                <a:endParaRPr lang="en-US" sz="1200" dirty="0">
                  <a:solidFill>
                    <a:schemeClr val="accent4"/>
                  </a:solidFill>
                  <a:effectLst/>
                </a:endParaRPr>
              </a:p>
              <a:p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Purple - Multiple</a:t>
                </a:r>
                <a:r>
                  <a:rPr lang="en-US" dirty="0">
                    <a:solidFill>
                      <a:schemeClr val="accent5"/>
                    </a:solidFill>
                  </a:rPr>
                  <a:t> linear</a:t>
                </a:r>
                <a:r>
                  <a:rPr lang="en-US" sz="1200" dirty="0">
                    <a:solidFill>
                      <a:schemeClr val="accent5"/>
                    </a:solidFill>
                    <a:effectLst/>
                  </a:rPr>
                  <a:t> regression with interaction</a:t>
                </a:r>
                <a:endParaRPr lang="he-IL" dirty="0">
                  <a:solidFill>
                    <a:schemeClr val="accent5"/>
                  </a:solidFill>
                </a:endParaRPr>
              </a:p>
              <a:p>
                <a:endParaRPr lang="en-US" i="1" dirty="0"/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∗ 𝑔𝑒𝑛𝑑𝑒𝑟</a:t>
                </a:r>
                <a:endParaRPr dirty="0"/>
              </a:p>
              <a:p>
                <a:r>
                  <a:rPr lang="en-US" dirty="0"/>
                  <a:t>Is the same as in Bambi</a:t>
                </a:r>
              </a:p>
              <a:p>
                <a:pPr/>
                <a:r>
                  <a:rPr lang="en-US" i="0" dirty="0">
                    <a:latin typeface="Cambria Math" panose="02040503050406030204" pitchFamily="18" charset="0"/>
                  </a:rPr>
                  <a:t>𝑤𝑒𝑖𝑔ℎ𝑡_𝑙𝑜𝑠𝑠 ~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</a:t>
                </a:r>
                <a:r>
                  <a:rPr lang="en-US" i="0" dirty="0">
                    <a:latin typeface="Cambria Math" panose="02040503050406030204" pitchFamily="18" charset="0"/>
                  </a:rPr>
                  <a:t> + 𝑔𝑒𝑛𝑑𝑒𝑟 + </a:t>
                </a:r>
                <a:r>
                  <a:rPr lang="en-US" i="0" dirty="0" err="1">
                    <a:latin typeface="Cambria Math" panose="02040503050406030204" pitchFamily="18" charset="0"/>
                  </a:rPr>
                  <a:t>𝑑𝑖𝑒𝑡_𝑡𝑦𝑝𝑒:𝑔𝑒𝑛𝑑𝑒𝑟</a:t>
                </a:r>
                <a:endParaRPr lang="en-US" dirty="0"/>
              </a:p>
              <a:p>
                <a:endParaRPr lang="en-US" dirty="0"/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22606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C1F9-462D-47AF-7AF9-715A4428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AA4C7-4CB3-1380-B4A8-258DDD7A8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F50CEBA-3CE0-B335-C96C-90088359B0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F50CEBA-3CE0-B335-C96C-90088359B0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/>
                  <a:t>Definitions :</a:t>
                </a:r>
              </a:p>
              <a:p>
                <a:pPr marL="0" indent="0">
                  <a:buNone/>
                </a:pPr>
                <a:r>
                  <a:rPr lang="he-IL" i="0" dirty="0">
                    <a:latin typeface="Cambria Math" panose="02040503050406030204" pitchFamily="18" charset="0"/>
                  </a:rPr>
                  <a:t>𝑆𝑆</a:t>
                </a:r>
                <a:r>
                  <a:rPr lang="en-US" i="0" dirty="0">
                    <a:latin typeface="Cambria Math" panose="02040503050406030204" pitchFamily="18" charset="0"/>
                  </a:rPr>
                  <a:t>_</a:t>
                </a:r>
                <a:r>
                  <a:rPr lang="he-IL" i="0" dirty="0">
                    <a:latin typeface="Cambria Math" panose="02040503050406030204" pitchFamily="18" charset="0"/>
                  </a:rPr>
                  <a:t>𝑡𝑒𝑟𝑚^𝑠 ​=∑</a:t>
                </a:r>
                <a:r>
                  <a:rPr lang="en-US" i="0" dirty="0">
                    <a:latin typeface="Cambria Math" panose="02040503050406030204" pitchFamily="18" charset="0"/>
                  </a:rPr>
                  <a:t>_𝑖</a:t>
                </a:r>
                <a:r>
                  <a:rPr lang="he-IL" i="0" dirty="0">
                    <a:latin typeface="Cambria Math" panose="02040503050406030204" pitchFamily="18" charset="0"/>
                  </a:rPr>
                  <a:t>▒(</a:t>
                </a:r>
                <a:r>
                  <a:rPr lang="he-IL" i="0" dirty="0" err="1">
                    <a:latin typeface="Cambria Math" panose="02040503050406030204" pitchFamily="18" charset="0"/>
                  </a:rPr>
                  <a:t>𝜇</a:t>
                </a:r>
                <a:r>
                  <a:rPr lang="en-US" i="0" dirty="0">
                    <a:latin typeface="Cambria Math" panose="02040503050406030204" pitchFamily="18" charset="0"/>
                  </a:rPr>
                  <a:t>_(</a:t>
                </a:r>
                <a:r>
                  <a:rPr lang="he-IL" i="0" dirty="0" err="1">
                    <a:latin typeface="Cambria Math" panose="02040503050406030204" pitchFamily="18" charset="0"/>
                  </a:rPr>
                  <a:t>𝑡𝑒𝑟𝑚</a:t>
                </a:r>
                <a:r>
                  <a:rPr lang="en-US" i="0" dirty="0">
                    <a:latin typeface="Cambria Math" panose="02040503050406030204" pitchFamily="18" charset="0"/>
                  </a:rPr>
                  <a:t>,𝑖)^((𝑠) )</a:t>
                </a:r>
                <a:r>
                  <a:rPr lang="he-IL" i="0" dirty="0">
                    <a:latin typeface="Cambria Math" panose="02040503050406030204" pitchFamily="18" charset="0"/>
                  </a:rPr>
                  <a:t> ​−(</a:t>
                </a:r>
                <a:r>
                  <a:rPr lang="he-IL" i="0" dirty="0" err="1">
                    <a:latin typeface="Cambria Math" panose="02040503050406030204" pitchFamily="18" charset="0"/>
                  </a:rPr>
                  <a:t>𝜇</a:t>
                </a:r>
                <a:r>
                  <a:rPr lang="en-US" i="0" dirty="0">
                    <a:latin typeface="Cambria Math" panose="02040503050406030204" pitchFamily="18" charset="0"/>
                  </a:rPr>
                  <a:t>_</a:t>
                </a:r>
                <a:r>
                  <a:rPr lang="he-IL" i="0" dirty="0" err="1">
                    <a:latin typeface="Cambria Math" panose="02040503050406030204" pitchFamily="18" charset="0"/>
                  </a:rPr>
                  <a:t>𝑡𝑒𝑟𝑚</a:t>
                </a:r>
                <a:r>
                  <a:rPr lang="en-US" i="0" dirty="0">
                    <a:latin typeface="Cambria Math" panose="02040503050406030204" pitchFamily="18" charset="0"/>
                  </a:rPr>
                  <a:t>(𝑠)  </a:t>
                </a:r>
                <a:r>
                  <a:rPr lang="he-IL" i="0" dirty="0">
                    <a:latin typeface="Cambria Math" panose="02040503050406030204" pitchFamily="18" charset="0"/>
                  </a:rPr>
                  <a:t>) ̅​​)</a:t>
                </a:r>
                <a:r>
                  <a:rPr lang="en-US" i="0" dirty="0">
                    <a:latin typeface="Cambria Math" panose="02040503050406030204" pitchFamily="18" charset="0"/>
                  </a:rPr>
                  <a:t>^</a:t>
                </a:r>
                <a:r>
                  <a:rPr lang="he-IL" i="0" dirty="0">
                    <a:latin typeface="Cambria Math" panose="02040503050406030204" pitchFamily="18" charset="0"/>
                  </a:rPr>
                  <a:t>2  ​</a:t>
                </a:r>
                <a:endParaRPr lang="he-IL" dirty="0"/>
              </a:p>
              <a:p>
                <a:pPr marL="0" indent="0">
                  <a:buNone/>
                </a:pPr>
                <a:r>
                  <a:rPr lang="he-IL" i="0">
                    <a:latin typeface="Cambria Math" panose="02040503050406030204" pitchFamily="18" charset="0"/>
                  </a:rPr>
                  <a:t>𝑆𝑆_𝑟𝑒𝑠^((𝑠) )=(𝑛−1) (𝜎^((𝑠) ) )^2</a:t>
                </a:r>
                <a:endParaRPr lang="he-IL" dirty="0"/>
              </a:p>
              <a:p>
                <a:pPr marL="0" indent="0">
                  <a:buNone/>
                </a:pPr>
                <a:r>
                  <a:rPr lang="he-IL" i="0">
                    <a:latin typeface="Cambria Math" panose="02040503050406030204" pitchFamily="18" charset="0"/>
                  </a:rPr>
                  <a:t>𝜇_(𝑡𝑒𝑟𝑚,𝑖)^((𝑠) )=𝜇_(𝑓𝑢𝑙𝑙,𝑖)^((𝑠) )−𝜇_(𝑟𝑒𝑑𝑢𝑐𝑒𝑑(−𝑡),𝑖)^((𝑠) )</a:t>
                </a:r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  <a:endParaRPr lang="en-US" dirty="0"/>
              </a:p>
              <a:p>
                <a:pPr lvl="1"/>
                <a:r>
                  <a:rPr lang="en-US" dirty="0"/>
                  <a:t>s is one posterior draw. Each draw contains one sampled set of model parameters.</a:t>
                </a:r>
                <a:endParaRPr lang="he-IL" dirty="0"/>
              </a:p>
              <a:p>
                <a:pPr lvl="1"/>
                <a:r>
                  <a:rPr lang="he-IL" i="0" dirty="0">
                    <a:latin typeface="Cambria Math" panose="02040503050406030204" pitchFamily="18" charset="0"/>
                  </a:rPr>
                  <a:t>𝑆𝑆</a:t>
                </a:r>
                <a:r>
                  <a:rPr lang="en-US" i="0" dirty="0">
                    <a:latin typeface="Cambria Math" panose="02040503050406030204" pitchFamily="18" charset="0"/>
                  </a:rPr>
                  <a:t>_</a:t>
                </a:r>
                <a:r>
                  <a:rPr lang="he-IL" i="0" dirty="0">
                    <a:latin typeface="Cambria Math" panose="02040503050406030204" pitchFamily="18" charset="0"/>
                  </a:rPr>
                  <a:t>𝑡𝑒𝑟𝑚^𝑠 ​</a:t>
                </a:r>
                <a:r>
                  <a:rPr lang="en-US" dirty="0"/>
                  <a:t> is the variation across observations caused by term t at draw s.</a:t>
                </a:r>
              </a:p>
              <a:p>
                <a:pPr lvl="1"/>
                <a:r>
                  <a:rPr lang="he-IL" i="0">
                    <a:latin typeface="Cambria Math" panose="02040503050406030204" pitchFamily="18" charset="0"/>
                  </a:rPr>
                  <a:t>𝑆𝑆_𝑟𝑒𝑠^((𝑠) )</a:t>
                </a:r>
                <a:r>
                  <a:rPr lang="en-US" dirty="0"/>
                  <a:t> is the residual unexplained variation at draw s, calculated from </a:t>
                </a:r>
                <a:r>
                  <a:rPr lang="en-US" i="0" dirty="0">
                    <a:latin typeface="Cambria Math" panose="02040503050406030204" pitchFamily="18" charset="0"/>
                  </a:rPr>
                  <a:t>𝜎^𝑠.</a:t>
                </a:r>
                <a:r>
                  <a:rPr lang="he-IL" i="0" dirty="0">
                    <a:latin typeface="Cambria Math" panose="02040503050406030204" pitchFamily="18" charset="0"/>
                  </a:rPr>
                  <a:t> </a:t>
                </a:r>
                <a:r>
                  <a:rPr lang="en-US" b="0" i="0" dirty="0">
                    <a:latin typeface="Cambria Math" panose="02040503050406030204" pitchFamily="18" charset="0"/>
                  </a:rPr>
                  <a:t> </a:t>
                </a:r>
                <a:endParaRPr lang="en-US" dirty="0"/>
              </a:p>
              <a:p>
                <a:pPr lvl="1"/>
                <a:r>
                  <a:rPr lang="he-IL" i="0">
                    <a:latin typeface="Cambria Math" panose="02040503050406030204" pitchFamily="18" charset="0"/>
                  </a:rPr>
                  <a:t>𝜇_(𝑓𝑢𝑙𝑙,𝑖)^((𝑠) )  </a:t>
                </a:r>
                <a:r>
                  <a:rPr lang="en-US" dirty="0"/>
                  <a:t>The fitted mean for observation i using the full model at draw s.</a:t>
                </a:r>
              </a:p>
              <a:p>
                <a:pPr lvl="1"/>
                <a:r>
                  <a:rPr lang="he-IL" i="0">
                    <a:latin typeface="Cambria Math" panose="02040503050406030204" pitchFamily="18" charset="0"/>
                  </a:rPr>
                  <a:t>𝜇_(𝑟𝑒𝑑𝑢𝑐𝑒𝑑(−𝑡),𝑖)^((𝑠) )</a:t>
                </a:r>
                <a:r>
                  <a:rPr lang="en-US" dirty="0"/>
                  <a:t> The fitted mean for observation i after removing term t, using the same posterior draw.</a:t>
                </a:r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11C44-0FA9-46F6-790C-8BA7203BF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83354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1826-86EC-304B-CEAB-875D483B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03495-7E4A-260A-5375-B6EF8349D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926B719-62B1-9BC5-53A2-873FFE9328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difference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n-US"/>
                          <m:t>partial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is in the denominator: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𝑝𝑎𝑟𝑡𝑖𝑎𝑙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takes variability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variability not explained by other terms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takes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total variability in the data</a:t>
                </a:r>
              </a:p>
              <a:p>
                <a:endParaRPr lang="he-IL" dirty="0"/>
              </a:p>
              <a:p>
                <a:r>
                  <a:rPr lang="he-IL" dirty="0"/>
                  <a:t>הממוצע של </a:t>
                </a:r>
                <a:r>
                  <a:rPr lang="he-IL" dirty="0" err="1"/>
                  <a:t>הלייקליהוד</a:t>
                </a:r>
                <a:r>
                  <a:rPr lang="he-IL" dirty="0"/>
                  <a:t> של הדאטה בנקודה מסויימת בדגימה פוסטריורית מסויימת</a:t>
                </a:r>
              </a:p>
              <a:p>
                <a:r>
                  <a:rPr lang="he-IL" dirty="0"/>
                  <a:t>השונות של הממוצעים על הדאטה, בכל הדגימות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926B719-62B1-9BC5-53A2-873FFE9328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difference between </a:t>
                </a:r>
                <a:r>
                  <a:rPr lang="en-US" i="0">
                    <a:latin typeface="Cambria Math" panose="02040503050406030204" pitchFamily="18" charset="0"/>
                  </a:rPr>
                  <a:t>〖𝑅^2〗_("</a:t>
                </a:r>
                <a:r>
                  <a:rPr lang="en-US" i="0"/>
                  <a:t>partial</a:t>
                </a:r>
                <a:r>
                  <a:rPr lang="en-US" i="0">
                    <a:latin typeface="Cambria Math" panose="02040503050406030204" pitchFamily="18" charset="0"/>
                  </a:rPr>
                  <a:t>" ,𝑡)^((𝑠) )</a:t>
                </a:r>
                <a:r>
                  <a:rPr lang="en-US" dirty="0"/>
                  <a:t> and </a:t>
                </a:r>
                <a:r>
                  <a:rPr lang="en-US" i="0">
                    <a:latin typeface="Cambria Math" panose="02040503050406030204" pitchFamily="18" charset="0"/>
                  </a:rPr>
                  <a:t>〖𝜂^2〗^((𝑠) )</a:t>
                </a:r>
                <a:r>
                  <a:rPr lang="en-US" dirty="0"/>
                  <a:t> is in the denominator:</a:t>
                </a:r>
              </a:p>
              <a:p>
                <a:pPr>
                  <a:buFontTx/>
                  <a:buChar char="-"/>
                </a:pPr>
                <a:r>
                  <a:rPr lang="en-US" b="0" i="0">
                    <a:latin typeface="Cambria Math" panose="02040503050406030204" pitchFamily="18" charset="0"/>
                  </a:rPr>
                  <a:t>𝑅_𝑝𝑎𝑟𝑡𝑖𝑎𝑙^2</a:t>
                </a:r>
                <a:r>
                  <a:rPr lang="en-US" dirty="0"/>
                  <a:t> takes variability explained by term </a:t>
                </a:r>
                <a:r>
                  <a:rPr lang="en-US" b="0" i="0">
                    <a:latin typeface="Cambria Math" panose="02040503050406030204" pitchFamily="18" charset="0"/>
                  </a:rPr>
                  <a:t>𝑡</a:t>
                </a:r>
                <a:r>
                  <a:rPr lang="en-US" dirty="0"/>
                  <a:t> out of variability not explained by other terms</a:t>
                </a:r>
              </a:p>
              <a:p>
                <a:pPr>
                  <a:buFontTx/>
                  <a:buChar char="-"/>
                </a:pPr>
                <a:r>
                  <a:rPr lang="en-US" i="0">
                    <a:latin typeface="Cambria Math" panose="02040503050406030204" pitchFamily="18" charset="0"/>
                  </a:rPr>
                  <a:t>𝜂^2</a:t>
                </a:r>
                <a:r>
                  <a:rPr lang="en-US" dirty="0"/>
                  <a:t> takes explained by term </a:t>
                </a:r>
                <a:r>
                  <a:rPr lang="en-US" b="0" i="0">
                    <a:latin typeface="Cambria Math" panose="02040503050406030204" pitchFamily="18" charset="0"/>
                  </a:rPr>
                  <a:t>𝑡</a:t>
                </a:r>
                <a:r>
                  <a:rPr lang="en-US" dirty="0"/>
                  <a:t> out of total variability in the data</a:t>
                </a: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AEE64-AA9F-29C2-C282-1675FD9C1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39610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2002-8ED7-03AE-DA9E-D3212ADA9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4711A-EDCB-DA7F-E1A4-4E72C333D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4B4A006-A217-2DC2-7D7F-F709F398B0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difference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n-US"/>
                          <m:t>partial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is in the denominator: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𝑝𝑎𝑟𝑡𝑖𝑎𝑙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takes variability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variability not explained by other terms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takes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total variability in the data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4B4A006-A217-2DC2-7D7F-F709F398B0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difference between </a:t>
                </a:r>
                <a:r>
                  <a:rPr lang="en-US" i="0">
                    <a:latin typeface="Cambria Math" panose="02040503050406030204" pitchFamily="18" charset="0"/>
                  </a:rPr>
                  <a:t>〖𝑅^2〗_("</a:t>
                </a:r>
                <a:r>
                  <a:rPr lang="en-US" i="0"/>
                  <a:t>partial</a:t>
                </a:r>
                <a:r>
                  <a:rPr lang="en-US" i="0">
                    <a:latin typeface="Cambria Math" panose="02040503050406030204" pitchFamily="18" charset="0"/>
                  </a:rPr>
                  <a:t>" ,𝑡)^((𝑠) )</a:t>
                </a:r>
                <a:r>
                  <a:rPr lang="en-US" dirty="0"/>
                  <a:t> and </a:t>
                </a:r>
                <a:r>
                  <a:rPr lang="en-US" i="0">
                    <a:latin typeface="Cambria Math" panose="02040503050406030204" pitchFamily="18" charset="0"/>
                  </a:rPr>
                  <a:t>〖𝜂^2〗^((𝑠) )</a:t>
                </a:r>
                <a:r>
                  <a:rPr lang="en-US" dirty="0"/>
                  <a:t> is in the denominator:</a:t>
                </a:r>
              </a:p>
              <a:p>
                <a:pPr>
                  <a:buFontTx/>
                  <a:buChar char="-"/>
                </a:pPr>
                <a:r>
                  <a:rPr lang="en-US" b="0" i="0">
                    <a:latin typeface="Cambria Math" panose="02040503050406030204" pitchFamily="18" charset="0"/>
                  </a:rPr>
                  <a:t>𝑅_𝑝𝑎𝑟𝑡𝑖𝑎𝑙^2</a:t>
                </a:r>
                <a:r>
                  <a:rPr lang="en-US" dirty="0"/>
                  <a:t> takes variability explained by term </a:t>
                </a:r>
                <a:r>
                  <a:rPr lang="en-US" b="0" i="0">
                    <a:latin typeface="Cambria Math" panose="02040503050406030204" pitchFamily="18" charset="0"/>
                  </a:rPr>
                  <a:t>𝑡</a:t>
                </a:r>
                <a:r>
                  <a:rPr lang="en-US" dirty="0"/>
                  <a:t> out of variability not explained by other terms</a:t>
                </a:r>
              </a:p>
              <a:p>
                <a:pPr>
                  <a:buFontTx/>
                  <a:buChar char="-"/>
                </a:pPr>
                <a:r>
                  <a:rPr lang="en-US" i="0">
                    <a:latin typeface="Cambria Math" panose="02040503050406030204" pitchFamily="18" charset="0"/>
                  </a:rPr>
                  <a:t>𝜂^2</a:t>
                </a:r>
                <a:r>
                  <a:rPr lang="en-US" dirty="0"/>
                  <a:t> takes explained by term </a:t>
                </a:r>
                <a:r>
                  <a:rPr lang="en-US" b="0" i="0">
                    <a:latin typeface="Cambria Math" panose="02040503050406030204" pitchFamily="18" charset="0"/>
                  </a:rPr>
                  <a:t>𝑡</a:t>
                </a:r>
                <a:r>
                  <a:rPr lang="en-US" dirty="0"/>
                  <a:t> out of total variability in the data</a:t>
                </a: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58E06-3651-BCF0-55D4-48DB39CF7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64954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803D-39A7-7F0F-EB0F-0819458C0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8D5D7-6F5F-C47D-2803-D93D303CA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23FFB-E8E7-2E95-9F7A-A9BB0A05D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D549E-B77F-4AC0-25A1-5A1EBF97E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477109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359B-74D2-431C-0AEF-686841A0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8EE0F-E1E7-25DB-986A-36430C516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A7B98-578E-CAF2-6729-1EDD8159B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A9AAC-BD0E-E2C6-AF04-E9607AF447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53572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3A44A-7583-6A06-0C53-DED5AC2C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88B5AA-A416-5184-CA02-0E0C9A434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EDB1F-CC42-B496-F255-BD3418B4E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14642-F00B-9CEF-2AB1-6FA20BE10A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48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58553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D25BE-469C-374E-8C91-E4417FD4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641A9E-904D-C364-CA5F-32D381D17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971499-98A1-041C-50FE-599B68A7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EB9DA-2184-EC90-8470-4FAE830FD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82656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3C46-7CB3-1639-BE52-47C393CE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F5A25-0D5E-12EE-42D3-A6789D01F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E33FE-BC80-A7D4-3EC4-90AC3B05C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1E37A-D4A0-FF6F-9DF2-CCF05CF31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51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96523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F609-10F9-8066-6319-F80D6CA69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40E4F-2304-C0A8-1207-F21602A6E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DA3AA-0AA2-4821-9EAC-4A54F74BD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6056E-902E-896C-B481-15A7BE7F4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00412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814303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66575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DC69-EF74-5BAF-F068-49D8C3B14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052FD-5215-89F4-2192-F2D693B0E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E63E5-1030-C5FB-C51D-035D8B22B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B8576-52CE-518A-5EE7-2400FAC85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55145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6E25-2BA5-08AF-AAF4-1DC8965A0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3FF60-45BC-E94A-60A0-FB150FBC3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4A03D-7895-29EF-B524-D09BEE6DE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5C85C-327B-2118-E478-4221DB92B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287191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AC3A2-B3EA-98C1-118B-0A0BAF8C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7C61C-D207-8227-FBBD-02DE94F1B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050B7-ED8D-35AC-3E02-EB8056C59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95CF7-B7D1-BA19-A2D4-E8A5C6F5B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57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634399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D46B-3DA4-26F8-C9F4-E8DD44CD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71514F-9BC2-64E5-51BD-C06818275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F65FE-68BE-0C45-8351-844BF6FD0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3E66-38A9-1B64-3C9B-1E79DED12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58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273748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F6897-7896-73DE-F2E9-2DCBAC37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DAA94-E56A-C53B-9F40-F4B51FBD1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A553B-6DF5-6EFC-C520-0C316ED0E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36F52-B56E-B3A6-64E3-7DAD5401F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59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882418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Bayesian analysis focuses on uncertainty about parameters and predictive checks.</a:t>
            </a:r>
          </a:p>
          <a:p>
            <a:r>
              <a:rPr lang="en-US" dirty="0"/>
              <a:t>Frequentist analysis focuses on point estimates, sampling-based uncertainty, and sums-of-squares summaries.</a:t>
            </a:r>
          </a:p>
          <a:p>
            <a:r>
              <a:rPr lang="en-US" dirty="0"/>
              <a:t>Both can use the same model structure, but they answer the question in different languages.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60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81675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6B0D-7CDC-AD10-6320-69A68AF47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8A9C9-CD97-A15F-3DAB-ECE70BAD71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A450051-85AC-70EB-D095-93E03177E7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Definitions</a:t>
                </a:r>
                <a:r>
                  <a:rPr lang="he-IL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𝑟𝑒𝑔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𝑡𝑜𝑡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𝑅𝑆𝑆</m:t>
                      </m:r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rtl="0"/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SStot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total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outcome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by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fitted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model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/ RSS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residual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unexplained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SSterm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attributed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to one model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term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n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observations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predictors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, not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including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intercept</a:t>
                </a:r>
                <a:endParaRPr lang="he-IL" sz="12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+mn-cs"/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A450051-85AC-70EB-D095-93E03177E70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Definitions</a:t>
                </a:r>
                <a:r>
                  <a:rPr lang="he-IL" dirty="0"/>
                  <a:t> </a:t>
                </a:r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𝑆𝑆_𝑟𝑒𝑠=∑128_𝑖▒( ├ 𝑦_𝑖−𝑦 ̂_𝑖 ├ )┤^2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𝑆𝑆_𝑟𝑒𝑔=∑128_𝑖▒( ├ 𝑦 ̂_𝑖−𝑦┴ˉ ├ )┤^2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𝑆𝑆_𝑡𝑜𝑡=∑128_𝑖▒( ├ 𝑦_𝑖−𝑦┴ˉ ├ )┤^2=𝑆𝑆_𝑟𝑒𝑔+𝑆𝑆_𝑟𝑒𝑠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𝑅𝑆𝑆=𝑆𝑆_𝑟𝑒𝑠</a:t>
                </a:r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rtl="0"/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SStot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total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outcome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by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fitted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model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/ RSS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residual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unexplained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SSterm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attributed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to one model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term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n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observations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predictors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, not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including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intercept</a:t>
                </a:r>
                <a:endParaRPr lang="he-IL" sz="12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+mn-cs"/>
                </a:endParaRP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ABE5E-FB1F-79D3-BE62-7FF26A8C6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62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80144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8FFA-BF78-0178-76EE-9EC6948E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9A290-34E0-A081-BD0F-CBEC6714C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8C3B349-32EF-1AA2-78F3-45A25E8B040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Definitions</a:t>
                </a:r>
                <a:r>
                  <a:rPr lang="he-IL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𝑟𝑒𝑔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𝑡𝑜𝑡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𝑅𝑆𝑆</m:t>
                      </m:r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rtl="0"/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SStot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total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outcome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by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fitted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model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/ RSS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residual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unexplained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SSterm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attributed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to one model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term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n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observations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predictors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, not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including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intercept</a:t>
                </a:r>
                <a:endParaRPr lang="he-IL" sz="12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+mn-cs"/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8C3B349-32EF-1AA2-78F3-45A25E8B040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Definitions</a:t>
                </a:r>
                <a:r>
                  <a:rPr lang="he-IL" dirty="0"/>
                  <a:t> </a:t>
                </a:r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𝑆𝑆_𝑟𝑒𝑠=∑128_𝑖▒( ├ 𝑦_𝑖−𝑦 ̂_𝑖 ├ )┤^2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𝑆𝑆_𝑟𝑒𝑔=∑128_𝑖▒( ├ 𝑦 ̂_𝑖−𝑦┴ˉ ├ )┤^2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𝑆𝑆_𝑡𝑜𝑡=∑128_𝑖▒( ├ 𝑦_𝑖−𝑦┴ˉ ├ )┤^2=𝑆𝑆_𝑟𝑒𝑔+𝑆𝑆_𝑟𝑒𝑠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𝑅𝑆𝑆=𝑆𝑆_𝑟𝑒𝑠</a:t>
                </a:r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rtl="0"/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SStot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total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outcome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by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fitted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model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/ RSS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residual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unexplained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SSterm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attributed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to one model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term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n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observations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predictors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, not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including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intercept</a:t>
                </a:r>
                <a:endParaRPr lang="he-IL" sz="12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+mn-cs"/>
                </a:endParaRP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9AF46-D0CE-2BED-304D-781F0853A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63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909928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Definitions</a:t>
                </a:r>
                <a:r>
                  <a:rPr lang="he-IL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𝑟𝑒𝑔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𝑡𝑜𝑡</m:t>
                          </m:r>
                        </m:sub>
                      </m:sSub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limUpp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sz="1200" i="1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lang="he-IL" sz="1200" i="0" kern="12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  <m:r>
                            <a:rPr lang="he-IL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𝑅𝑆𝑆</m:t>
                      </m:r>
                      <m:r>
                        <a:rPr lang="he-IL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lang="he-IL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</m:t>
                      </m:r>
                      <m:sSub>
                        <m:sSubPr>
                          <m:ctrlP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lang="he-IL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𝑟𝑒𝑠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rtl="0"/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SStot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total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outcome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by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fitted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model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/ RSS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residual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unexplained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SSterm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attributed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to one model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term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n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observations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predictors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, not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including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intercept</a:t>
                </a:r>
                <a:endParaRPr lang="he-IL" sz="12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+mn-cs"/>
                </a:endParaRP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he-IL" dirty="0" err="1"/>
                  <a:t>Definitions</a:t>
                </a:r>
                <a:r>
                  <a:rPr lang="he-IL" dirty="0"/>
                  <a:t> :</a:t>
                </a:r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𝑆𝑆_𝑟𝑒𝑠=∑128_𝑖▒( ├ 𝑦_𝑖−𝑦 ̂_𝑖 ├ )┤^2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𝑆𝑆_𝑟𝑒𝑔=∑128_𝑖▒( ├ 𝑦 ̂_𝑖−𝑦┴ˉ ├ )┤^2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𝑆𝑆_𝑡𝑜𝑡=∑128_𝑖▒( ├ 𝑦_𝑖−𝑦┴ˉ ├ )┤^2=𝑆𝑆_𝑟𝑒𝑔+𝑆𝑆_𝑟𝑒𝑠 ┤</a:t>
                </a:r>
                <a:endParaRPr lang="he-IL" dirty="0"/>
              </a:p>
              <a:p>
                <a:pPr/>
                <a:r>
                  <a:rPr lang="he-IL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𝑅𝑆𝑆=𝑆𝑆_𝑟𝑒𝑠</a:t>
                </a:r>
                <a:endParaRPr lang="he-IL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rtl="0"/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SStot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total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outcome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by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fitted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model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SSres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/ RSS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residual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unexplained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SSterm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=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variation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attributed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to one model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term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n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observations</a:t>
                </a:r>
                <a:b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</a:b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 = number of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predictors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, not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including</a:t>
                </a:r>
                <a:r>
                  <a:rPr lang="he-IL" sz="1200" kern="1200" dirty="0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 the </a:t>
                </a:r>
                <a:r>
                  <a:rPr lang="he-IL" sz="1200" kern="1200" dirty="0" err="1">
                    <a:solidFill>
                      <a:schemeClr val="tx1"/>
                    </a:solidFill>
                    <a:latin typeface="David" panose="020E0502060401010101" pitchFamily="34" charset="-79"/>
                    <a:ea typeface="+mn-ea"/>
                    <a:cs typeface="+mn-cs"/>
                  </a:rPr>
                  <a:t>intercept</a:t>
                </a:r>
                <a:endParaRPr lang="he-IL" sz="1200" kern="1200" dirty="0">
                  <a:solidFill>
                    <a:schemeClr val="tx1"/>
                  </a:solidFill>
                  <a:latin typeface="David" panose="020E0502060401010101" pitchFamily="34" charset="-79"/>
                  <a:ea typeface="+mn-ea"/>
                  <a:cs typeface="+mn-cs"/>
                </a:endParaRPr>
              </a:p>
              <a:p>
                <a:endParaRPr lang="he-I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64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876139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Frequentist statistics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65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158217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Frequentist statistics</a:t>
            </a:r>
            <a:endParaRPr lang="he-IL" dirty="0"/>
          </a:p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53D6E6-3E79-4F23-BDAE-DFB603395E52}" type="slidenum">
              <a:rPr lang="he-IL" smtClean="0"/>
              <a:pPr/>
              <a:t>66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36390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9AA4-8DED-FA37-108C-05C30AC42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95E7E-B7A3-E618-7047-8984D92ED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33D4D-9D0A-0BCF-BC14-F3D01EC9F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3051C-88EC-78DE-E3D7-1465155B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4AF09-D0C8-6040-080B-53EE023E3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2346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35C8-10F8-E1BD-ABB5-2892F9E1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178A6-E92A-54EC-B300-980C7882E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5DEC7-022D-0AE1-5DB9-1D1E6C35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B1242-48C2-7A68-AAE8-A431FB3B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E1EA-7809-89E9-F7B2-CFC22E05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0034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6D650-A3EC-CFCF-0DC0-8E0EE850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B912-A7B5-A7CC-8E0D-74401B969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D0239-EF62-E557-A6F8-DA2B1BBD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B9DFE-81D8-1883-9297-036752CB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AB3C1-D618-CB4D-17A7-F96C129C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4030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4D5D-342A-DF7B-18FF-CFD8390C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98C6-157A-10BB-61E5-C8CE6035E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0E71-63A5-A2D3-DAD2-96918C545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0E066-BC6E-6DB7-A944-57F4771FC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2896E-CB31-A9F3-1727-5346E87F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A54E8-1398-5A1E-D351-EF5BBFAE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7386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8CFF-48F3-5885-AF53-0B6223972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BC7F8-5F33-DF4F-3CB9-917BECF76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51B73-5BD7-C736-5B13-19EA3822B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63F2A-2E48-6304-C275-6C7D6E6CB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4004C-B15E-84E0-EB97-EA224AA6C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FEEED-789A-D36C-EA29-EFF57BFE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0233F7-7DE0-1DA7-4A4A-79CE823E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7A7A8-3F74-6F5D-201B-5EC95B2F2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2057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70AA1-7BAC-E9BE-D762-1F9D66BD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517DC-0FA1-03DC-3919-B6B4CD043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D65D6-5898-0EF9-5F61-960695819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63442C-4AC1-AA35-D2D4-B68D2EB9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667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8D132-BD60-DC16-4510-81EF1C32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CD639-320A-A5D4-9DA0-1E3D3262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4C2AA-4825-76B5-553A-5979068E6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622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46CC-E85E-26A8-74D8-E6CB9FB6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D869A-8D29-D9DF-740F-6846F84DA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43755-0DC0-3249-81C7-190C373CA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5DDE-8BF1-C07B-C54C-C615A7CE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2EAC3-FBC3-0FB8-8AE0-9F15A51CA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AEAB7-190C-A4C4-A12F-16A3698F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851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239F-E396-BD31-CFB3-66A19CFD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AC218-3683-E37C-6329-3427E1651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4E6BF-7F4E-B50B-F270-DE81A6A081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A908A-17A7-0E1A-44BB-A25AD206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5B6AA-30E7-6680-C52B-A09D5B49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CBC2F-0FC0-F2D1-9E28-DCA9C990B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396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4AD6C-4019-F4AB-3B90-A05D767EC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CCE49-CF7E-E1E4-25EB-1410DE985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4B9B3-0ABB-BB7A-C2FB-FE09F024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ECFBA-4F7F-B458-466A-CC3FADAD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405BD-9154-A270-54ED-4E8DA4F3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0213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9A98C0-B0C2-2D8A-DE60-41BB8CE06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728E9-C32E-A846-C471-DF6C146E4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E2388-45A9-B604-6566-BCFBCB32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C2CB-5D2B-4120-9F79-A939E1B95DA8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F4E03-8FA2-6F6E-723B-A403886DF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8FE49-5E32-DF54-5A38-EB648464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5DE7A-792B-413A-8DF6-2F007F02549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719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11B0CA-3D6A-F019-B06E-96FFB712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DD7B4-E7F1-DAEF-E6DD-C119448FD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9565E-03FA-AD0B-EAB4-727F9C171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8D77C2CB-5D2B-4120-9F79-A939E1B95DA8}" type="datetimeFigureOut">
              <a:rPr lang="he-IL" smtClean="0"/>
              <a:pPr/>
              <a:t>א'/תמוז/תשפ"ו</a:t>
            </a:fld>
            <a:endParaRPr lang="he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D34BA-193F-4537-437A-4F5F208FB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endParaRPr lang="he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EB0D-54E1-5185-0939-57F44857B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B0C5DE7A-792B-413A-8DF6-2F007F025494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2108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avid" panose="020E0502060401010101" pitchFamily="34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AA4-DC6F-AC25-85E9-23B70AA8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5332"/>
            <a:ext cx="9144000" cy="1267695"/>
          </a:xfrm>
        </p:spPr>
        <p:txBody>
          <a:bodyPr/>
          <a:lstStyle/>
          <a:p>
            <a:r>
              <a:rPr lang="en-US" dirty="0"/>
              <a:t>Tutorial </a:t>
            </a:r>
            <a:r>
              <a:rPr lang="he-IL" dirty="0"/>
              <a:t>8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F89-9CAA-78A3-9827-25C0441AF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Computation and Analysis</a:t>
            </a:r>
          </a:p>
          <a:p>
            <a:r>
              <a:rPr lang="en-US" dirty="0"/>
              <a:t>Spring 2026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A626382-5653-EECD-4173-5FECADC5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1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377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08E4-E6CA-CA4C-1550-65336AE79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B9D5-E5F2-3ED0-12D3-0617B2244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8267"/>
            <a:ext cx="9144000" cy="1267695"/>
          </a:xfrm>
        </p:spPr>
        <p:txBody>
          <a:bodyPr>
            <a:normAutofit/>
          </a:bodyPr>
          <a:lstStyle/>
          <a:p>
            <a:r>
              <a:rPr lang="en-US" sz="4800" dirty="0"/>
              <a:t>Assignment 2 quiz</a:t>
            </a:r>
            <a:endParaRPr lang="LID4096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1D0D3-AF5D-6B37-5BA9-02F66FA879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15 minutes</a:t>
            </a:r>
          </a:p>
          <a:p>
            <a:r>
              <a:rPr lang="en-US" dirty="0"/>
              <a:t>Answer 4 out of 8 questions right to pass</a:t>
            </a:r>
            <a:endParaRPr lang="LID4096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2987831-D46F-C10A-7CD9-5BA84F12B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2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32432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pPr algn="l" rtl="0"/>
            <a:r>
              <a:rPr lang="en-US" dirty="0"/>
              <a:t>Tutorial Outline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749"/>
            <a:ext cx="10515600" cy="521522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Continuous predictors &amp; categorical predictors in regression</a:t>
            </a:r>
          </a:p>
          <a:p>
            <a:r>
              <a:rPr lang="en-US" sz="2400" dirty="0"/>
              <a:t>Simple linear regression </a:t>
            </a:r>
          </a:p>
          <a:p>
            <a:r>
              <a:rPr lang="en-US" sz="2400" dirty="0"/>
              <a:t>Multiple linear regression </a:t>
            </a:r>
          </a:p>
          <a:p>
            <a:r>
              <a:rPr lang="en-US" sz="2400" dirty="0"/>
              <a:t>Interaction model </a:t>
            </a:r>
          </a:p>
          <a:p>
            <a:r>
              <a:rPr lang="en-US" sz="2400" dirty="0"/>
              <a:t>Bayesian effect sizes:</a:t>
            </a:r>
          </a:p>
          <a:p>
            <a:pPr lvl="1"/>
            <a:r>
              <a:rPr lang="en-US" sz="2000" dirty="0"/>
              <a:t>Bayesian R²</a:t>
            </a:r>
          </a:p>
          <a:p>
            <a:pPr lvl="1"/>
            <a:r>
              <a:rPr lang="en-US" sz="2000" dirty="0"/>
              <a:t>Bayesian term-level partial R²</a:t>
            </a:r>
          </a:p>
          <a:p>
            <a:pPr lvl="1"/>
            <a:r>
              <a:rPr lang="en-US" sz="2000" dirty="0"/>
              <a:t>Bayesian </a:t>
            </a:r>
            <a:r>
              <a:rPr lang="el-GR" sz="2000" dirty="0"/>
              <a:t>η²</a:t>
            </a:r>
            <a:endParaRPr lang="en-US" sz="2000" dirty="0"/>
          </a:p>
          <a:p>
            <a:pPr lvl="1"/>
            <a:r>
              <a:rPr lang="en-US" sz="2000" dirty="0"/>
              <a:t>Bayesian Cohen’s f</a:t>
            </a:r>
          </a:p>
          <a:p>
            <a:r>
              <a:rPr lang="en-US" sz="2400" dirty="0"/>
              <a:t>Frequentist effect sizes:</a:t>
            </a:r>
          </a:p>
          <a:p>
            <a:pPr lvl="1"/>
            <a:r>
              <a:rPr lang="en-US" sz="2000" dirty="0"/>
              <a:t>R²</a:t>
            </a:r>
          </a:p>
          <a:p>
            <a:pPr lvl="1"/>
            <a:r>
              <a:rPr lang="en-US" sz="2000" dirty="0"/>
              <a:t>Term-level partial R²</a:t>
            </a:r>
          </a:p>
          <a:p>
            <a:pPr lvl="1"/>
            <a:r>
              <a:rPr lang="el-GR" sz="2000" dirty="0"/>
              <a:t>η²</a:t>
            </a:r>
            <a:endParaRPr lang="en-US" sz="2000" dirty="0"/>
          </a:p>
          <a:p>
            <a:pPr lvl="1"/>
            <a:r>
              <a:rPr lang="en-US" sz="2000" dirty="0"/>
              <a:t>Cohen’s f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endParaRPr lang="he-IL" sz="2400" dirty="0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9FB8A29-817C-0AE9-3536-E610EF5A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263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BD61-24AD-7C59-5AEF-011F8E4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65A930-0E80-3366-924F-9246F127F2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9081" y="2375084"/>
            <a:ext cx="10704719" cy="346329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4510B-E0C1-E326-821F-34CBD29DBEC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Dataset - foodDiet_extended.csv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9979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D66D-DAED-EE94-5B75-BDECEE27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Dataset and </a:t>
            </a:r>
            <a:r>
              <a:rPr lang="en-US" dirty="0"/>
              <a:t>V</a:t>
            </a:r>
            <a:r>
              <a:rPr lang="he-IL" dirty="0"/>
              <a:t>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1FB18-B235-E308-06E4-49FEFE07B8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Dataset - foodDiet_extended.csv</a:t>
                </a:r>
              </a:p>
              <a:p>
                <a:r>
                  <a:rPr lang="en-US" dirty="0"/>
                  <a:t>Dependent variable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𝑏𝑒𝑓𝑜𝑟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​−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𝑎𝑓𝑡𝑒</m:t>
                      </m:r>
                      <m:sSub>
                        <m:sSubPr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Predictors\ Independent variables: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1FB18-B235-E308-06E4-49FEFE07B8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0504FB-47D9-9B00-6B7F-CEE1E9614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696959"/>
              </p:ext>
            </p:extLst>
          </p:nvPr>
        </p:nvGraphicFramePr>
        <p:xfrm>
          <a:off x="1094873" y="4483100"/>
          <a:ext cx="9419073" cy="182880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139691">
                  <a:extLst>
                    <a:ext uri="{9D8B030D-6E8A-4147-A177-3AD203B41FA5}">
                      <a16:colId xmlns:a16="http://schemas.microsoft.com/office/drawing/2014/main" val="2156570461"/>
                    </a:ext>
                  </a:extLst>
                </a:gridCol>
                <a:gridCol w="3139691">
                  <a:extLst>
                    <a:ext uri="{9D8B030D-6E8A-4147-A177-3AD203B41FA5}">
                      <a16:colId xmlns:a16="http://schemas.microsoft.com/office/drawing/2014/main" val="1159495066"/>
                    </a:ext>
                  </a:extLst>
                </a:gridCol>
                <a:gridCol w="3139691">
                  <a:extLst>
                    <a:ext uri="{9D8B030D-6E8A-4147-A177-3AD203B41FA5}">
                      <a16:colId xmlns:a16="http://schemas.microsoft.com/office/drawing/2014/main" val="2901468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b="1" dirty="0" err="1"/>
                        <a:t>Variable</a:t>
                      </a:r>
                      <a:endParaRPr lang="he-IL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b="1" dirty="0" err="1"/>
                        <a:t>Type</a:t>
                      </a:r>
                      <a:endParaRPr lang="he-IL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Transformation</a:t>
                      </a:r>
                      <a:endParaRPr lang="he-IL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419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/>
                        <a:t>age_z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/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/>
                        <a:t>standardized</a:t>
                      </a:r>
                      <a:r>
                        <a:rPr lang="he-IL" dirty="0"/>
                        <a:t> </a:t>
                      </a:r>
                      <a:r>
                        <a:rPr lang="he-IL" dirty="0" err="1"/>
                        <a:t>age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620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/>
                        <a:t>height_z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/>
                        <a:t>continuous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/>
                        <a:t>standardized</a:t>
                      </a:r>
                      <a:r>
                        <a:rPr lang="he-IL" dirty="0"/>
                        <a:t> </a:t>
                      </a:r>
                      <a:r>
                        <a:rPr lang="he-IL" dirty="0" err="1"/>
                        <a:t>height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0811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/>
                        <a:t>diet_type</a:t>
                      </a:r>
                      <a:endParaRPr lang="he-IL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/>
                        <a:t>categorical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Coded as </a:t>
                      </a:r>
                      <a:r>
                        <a:rPr lang="he-IL" dirty="0" err="1"/>
                        <a:t>diet</a:t>
                      </a:r>
                      <a:r>
                        <a:rPr lang="he-IL" dirty="0"/>
                        <a:t> </a:t>
                      </a:r>
                      <a:r>
                        <a:rPr lang="he-IL" dirty="0" err="1"/>
                        <a:t>group</a:t>
                      </a:r>
                      <a:r>
                        <a:rPr lang="en-US" dirty="0"/>
                        <a:t> :1, 2, 3</a:t>
                      </a:r>
                      <a:endParaRPr lang="he-IL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608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/>
                        <a:t>gender</a:t>
                      </a:r>
                      <a:endParaRPr lang="he-IL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/>
                        <a:t>categorical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dirty="0" err="1"/>
                        <a:t>coded</a:t>
                      </a:r>
                      <a:r>
                        <a:rPr lang="he-IL" dirty="0"/>
                        <a:t> </a:t>
                      </a:r>
                      <a:r>
                        <a:rPr lang="he-IL" dirty="0" err="1"/>
                        <a:t>as</a:t>
                      </a:r>
                      <a:r>
                        <a:rPr lang="he-IL" dirty="0"/>
                        <a:t> F / M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60998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7390BCD-46DA-B3CA-9657-025468B5D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87688"/>
            <a:ext cx="10920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118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3F64A-A7E9-84D8-2432-2C144612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E146-4466-68CD-CAA1-FA2C2839C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1F28EA-8020-4090-59FB-87AB2BCAC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802880" cy="4351338"/>
              </a:xfrm>
            </p:spPr>
            <p:txBody>
              <a:bodyPr/>
              <a:lstStyle/>
              <a:p>
                <a:r>
                  <a:rPr lang="en-US" dirty="0"/>
                  <a:t>Our dependent variable:</a:t>
                </a:r>
                <a:endParaRPr lang="he-IL" dirty="0"/>
              </a:p>
              <a:p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000" i="1" dirty="0" err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𝑏𝑒𝑓𝑜𝑟</m:t>
                          </m:r>
                          <m:sSub>
                            <m:sSubPr>
                              <m:ctrlP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sz="2000" i="1" dirty="0" err="1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  <m:t>𝑎𝑓𝑡𝑒𝑟</m:t>
                              </m:r>
                            </m:sub>
                          </m:sSub>
                        </m:e>
                        <m:sub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E1F28EA-8020-4090-59FB-87AB2BCAC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802880" cy="4351338"/>
              </a:xfrm>
              <a:blipFill>
                <a:blip r:embed="rId2"/>
                <a:stretch>
                  <a:fillRect l="-1406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D383F0BC-4B85-7F18-087B-23688B10AF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143"/>
          <a:stretch>
            <a:fillRect/>
          </a:stretch>
        </p:blipFill>
        <p:spPr bwMode="auto">
          <a:xfrm>
            <a:off x="5693371" y="1700575"/>
            <a:ext cx="6271300" cy="47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49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39CA-7C47-7E00-5C18-89EEB9BD4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DDF82-F50B-9D00-377E-A74A248D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64486-8075-32B8-1D8D-0BE46C691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</a:t>
            </a:r>
            <a:r>
              <a:rPr lang="en-US" b="1" dirty="0"/>
              <a:t>continuous</a:t>
            </a:r>
            <a:r>
              <a:rPr lang="en-US" dirty="0"/>
              <a:t> independent variables:</a:t>
            </a:r>
            <a:endParaRPr lang="he-IL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17561A-7B16-93BA-214D-343FDF2DBA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2"/>
          <a:stretch>
            <a:fillRect/>
          </a:stretch>
        </p:blipFill>
        <p:spPr bwMode="auto">
          <a:xfrm>
            <a:off x="1334292" y="2560968"/>
            <a:ext cx="9775668" cy="375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23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6E131-E6A9-4F72-AC87-8C1B1E63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9CB6-8A19-4DFF-EBAA-7B1DFCBF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C3A220-6C08-8984-B4E8-4D56EA586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</a:t>
            </a:r>
            <a:r>
              <a:rPr lang="en-US" b="1" dirty="0"/>
              <a:t>categorical</a:t>
            </a:r>
            <a:r>
              <a:rPr lang="en-US" dirty="0"/>
              <a:t> independent variables:</a:t>
            </a:r>
            <a:endParaRPr lang="he-IL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36AE3335-3BF4-DE1B-D57E-E5B9304046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2"/>
          <a:stretch>
            <a:fillRect/>
          </a:stretch>
        </p:blipFill>
        <p:spPr bwMode="auto">
          <a:xfrm>
            <a:off x="6405056" y="2702588"/>
            <a:ext cx="4948744" cy="316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DC03A0-13FA-CACE-67D3-8994EFF8BA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42"/>
          <a:stretch>
            <a:fillRect/>
          </a:stretch>
        </p:blipFill>
        <p:spPr bwMode="auto">
          <a:xfrm>
            <a:off x="1192577" y="2702588"/>
            <a:ext cx="4948741" cy="316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434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220D-876E-F3FE-11A8-C58C0F1DC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590E-5F1D-59B0-E114-81A69560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</a:t>
            </a:r>
            <a:r>
              <a:rPr lang="he-IL" dirty="0"/>
              <a:t> Model</a:t>
            </a:r>
            <a:r>
              <a:rPr lang="en-US" dirty="0"/>
              <a:t>s</a:t>
            </a:r>
            <a:endParaRPr lang="he-I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4BB35A-7A3D-69AB-3A08-EAD79F18C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731025"/>
              </p:ext>
            </p:extLst>
          </p:nvPr>
        </p:nvGraphicFramePr>
        <p:xfrm>
          <a:off x="1165860" y="1804988"/>
          <a:ext cx="9521189" cy="4349335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758311">
                  <a:extLst>
                    <a:ext uri="{9D8B030D-6E8A-4147-A177-3AD203B41FA5}">
                      <a16:colId xmlns:a16="http://schemas.microsoft.com/office/drawing/2014/main" val="1366583496"/>
                    </a:ext>
                  </a:extLst>
                </a:gridCol>
                <a:gridCol w="3772629">
                  <a:extLst>
                    <a:ext uri="{9D8B030D-6E8A-4147-A177-3AD203B41FA5}">
                      <a16:colId xmlns:a16="http://schemas.microsoft.com/office/drawing/2014/main" val="722527131"/>
                    </a:ext>
                  </a:extLst>
                </a:gridCol>
                <a:gridCol w="4990249">
                  <a:extLst>
                    <a:ext uri="{9D8B030D-6E8A-4147-A177-3AD203B41FA5}">
                      <a16:colId xmlns:a16="http://schemas.microsoft.com/office/drawing/2014/main" val="2071573366"/>
                    </a:ext>
                  </a:extLst>
                </a:gridCol>
              </a:tblGrid>
              <a:tr h="343852"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M</a:t>
                      </a:r>
                      <a:r>
                        <a:rPr lang="he-IL" sz="1700" b="1" dirty="0">
                          <a:effectLst/>
                        </a:rPr>
                        <a:t>odel</a:t>
                      </a:r>
                      <a:r>
                        <a:rPr lang="en-US" sz="1700" b="1" dirty="0">
                          <a:effectLst/>
                        </a:rPr>
                        <a:t> Type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Wilkinson Notation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838460106"/>
                  </a:ext>
                </a:extLst>
              </a:tr>
              <a:tr h="348107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Simple linear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vert="vert27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one continuous</a:t>
                      </a:r>
                      <a:r>
                        <a:rPr lang="en-US" sz="1700" dirty="0">
                          <a:effectLst/>
                        </a:rPr>
                        <a:t> predictor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>
                          <a:effectLst/>
                        </a:rPr>
                        <a:t>weight_loss ~ age_z</a:t>
                      </a: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523467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one categorical</a:t>
                      </a:r>
                      <a:r>
                        <a:rPr lang="en-US" sz="1700" dirty="0">
                          <a:effectLst/>
                        </a:rPr>
                        <a:t> predictor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 err="1">
                          <a:effectLst/>
                        </a:rPr>
                        <a:t>weight_loss</a:t>
                      </a:r>
                      <a:r>
                        <a:rPr lang="he-IL" sz="1700" dirty="0">
                          <a:effectLst/>
                        </a:rPr>
                        <a:t> ~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898547"/>
                  </a:ext>
                </a:extLst>
              </a:tr>
              <a:tr h="609187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Multiple linear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vert="vert27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continuous + continuous</a:t>
                      </a:r>
                      <a:r>
                        <a:rPr lang="en-US" sz="1700" dirty="0">
                          <a:effectLst/>
                        </a:rPr>
                        <a:t> predictors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r>
                        <a:rPr lang="he-IL" sz="1700" dirty="0">
                          <a:effectLst/>
                        </a:rPr>
                        <a:t> + </a:t>
                      </a:r>
                      <a:r>
                        <a:rPr lang="he-IL" sz="1700" dirty="0" err="1">
                          <a:effectLst/>
                        </a:rPr>
                        <a:t>height_z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048136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categorical + categorical</a:t>
                      </a:r>
                      <a:r>
                        <a:rPr lang="en-US" sz="1700" dirty="0">
                          <a:effectLst/>
                        </a:rPr>
                        <a:t> predictors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r>
                        <a:rPr lang="he-IL" sz="1700" dirty="0">
                          <a:effectLst/>
                        </a:rPr>
                        <a:t> + </a:t>
                      </a:r>
                      <a:r>
                        <a:rPr lang="he-IL" sz="1700" dirty="0" err="1">
                          <a:effectLst/>
                        </a:rPr>
                        <a:t>gender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68398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continuous + categorical</a:t>
                      </a:r>
                      <a:r>
                        <a:rPr lang="en-US" sz="1700" dirty="0">
                          <a:effectLst/>
                        </a:rPr>
                        <a:t> predictors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r>
                        <a:rPr lang="he-IL" sz="1700" dirty="0">
                          <a:effectLst/>
                        </a:rPr>
                        <a:t> +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430855"/>
                  </a:ext>
                </a:extLst>
              </a:tr>
              <a:tr h="609187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Interaction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vert="vert27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continuous * categorical</a:t>
                      </a: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r>
                        <a:rPr lang="he-IL" sz="1700" dirty="0">
                          <a:effectLst/>
                        </a:rPr>
                        <a:t> *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19813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categorical * categorical</a:t>
                      </a: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 err="1">
                          <a:effectLst/>
                        </a:rPr>
                        <a:t>weight_loss</a:t>
                      </a:r>
                      <a:r>
                        <a:rPr lang="he-IL" sz="1700" dirty="0">
                          <a:effectLst/>
                        </a:rPr>
                        <a:t> ~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r>
                        <a:rPr lang="he-IL" sz="1700" dirty="0">
                          <a:effectLst/>
                        </a:rPr>
                        <a:t> * </a:t>
                      </a:r>
                      <a:r>
                        <a:rPr lang="he-IL" sz="1700" dirty="0" err="1">
                          <a:effectLst/>
                        </a:rPr>
                        <a:t>gender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04983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E4ECCF63-7956-535D-FD54-F4D45FF95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804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1858-8733-B353-1836-3B7B1BE3B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Regression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46CA2-4927-79BA-787E-F0393D585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Every model will assume: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he-IL" i="1" dirty="0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he-IL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he-IL" i="1" dirty="0" smtClean="0">
                              <a:latin typeface="Cambria Math" panose="02040503050406030204" pitchFamily="18" charset="0"/>
                            </a:rPr>
                            <m:t>𝑙𝑜𝑠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he-IL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</m:sub>
                      </m:sSub>
                      <m:r>
                        <a:rPr lang="he-IL" i="1" dirty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he-IL" i="1" dirty="0" err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he-IL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dirty="0" err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he-IL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​,</m:t>
                          </m:r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When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 err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e-IL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𝑒𝑥𝑝𝑒𝑐𝑡𝑒𝑑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𝑝𝑎𝑡𝑖𝑐𝑖𝑎𝑛𝑡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b="0" i="1" dirty="0"/>
              </a:p>
              <a:p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𝑠𝑡𝑎𝑛𝑑𝑎𝑟𝑑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𝑑𝑒𝑣𝑖𝑎𝑡𝑖𝑜𝑛</m:t>
                      </m:r>
                    </m:oMath>
                  </m:oMathPara>
                </a14:m>
                <a:endParaRPr lang="en-US" b="0" i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F46CA2-4927-79BA-787E-F0393D585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679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4956-CF5E-90A6-B0AC-15FC9585F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487C-4D75-E27D-797C-95760787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Regression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88977-E482-3663-A348-C47264D28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Every model will assume: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𝑙𝑜𝑠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he-IL" i="1" dirty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he-IL" i="1" dirty="0" err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he-IL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dirty="0" err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he-IL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​,</m:t>
                          </m:r>
                          <m:r>
                            <a:rPr lang="he-IL" i="1" dirty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When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dirty="0" err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he-IL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𝑒𝑥𝑝𝑒𝑐𝑡𝑒𝑑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𝑝𝑎𝑡𝑖𝑐𝑖𝑎𝑛𝑡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b="0" i="1" dirty="0"/>
              </a:p>
              <a:p>
                <a:r>
                  <a:rPr lang="en-US" dirty="0"/>
                  <a:t>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𝑟𝑒𝑠𝑖𝑑𝑢𝑎𝑙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𝑠𝑡𝑎𝑛𝑑𝑎𝑟𝑑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𝑑𝑒𝑣𝑖𝑎𝑡𝑖𝑜𝑛</m:t>
                      </m:r>
                    </m:oMath>
                  </m:oMathPara>
                </a14:m>
                <a:endParaRPr lang="en-US" b="0" i="1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All models in this tutorial use the same outcome and the same likelihood idea.</a:t>
                </a:r>
              </a:p>
              <a:p>
                <a:r>
                  <a:rPr lang="en-US" dirty="0"/>
                  <a:t>The only thing that changes is the formula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88977-E482-3663-A348-C47264D28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478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621E-4235-227F-69AE-5ED3C5E2B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F09B6-D1BB-7465-887C-B2F9C303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Regression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7BE80-E961-D5CF-6260-33DF4574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full </a:t>
            </a:r>
            <a:r>
              <a:rPr lang="en-US" dirty="0" err="1"/>
              <a:t>Bayseian</a:t>
            </a:r>
            <a:r>
              <a:rPr lang="en-US" dirty="0"/>
              <a:t> workflow was also done for all models (and is expected of you). </a:t>
            </a:r>
          </a:p>
          <a:p>
            <a:r>
              <a:rPr lang="en-US" dirty="0"/>
              <a:t>See the tutorial code notebook for the full model code &amp; outputs.</a:t>
            </a:r>
          </a:p>
        </p:txBody>
      </p:sp>
    </p:spTree>
    <p:extLst>
      <p:ext uri="{BB962C8B-B14F-4D97-AF65-F5344CB8AC3E}">
        <p14:creationId xmlns:p14="http://schemas.microsoft.com/office/powerpoint/2010/main" val="114914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EC6C3-F044-004D-2E7C-2BA72BA8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predictors in the regression model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F1F9EB-C41F-24BD-AF56-5D94CB3E7D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continuous predictor is a numerical predictor where changes are interpreted per unit</a:t>
                </a:r>
                <a:r>
                  <a:rPr lang="he-IL" dirty="0"/>
                  <a:t>.</a:t>
                </a:r>
              </a:p>
              <a:p>
                <a:pPr lvl="1"/>
                <a:r>
                  <a:rPr lang="en-US" dirty="0"/>
                  <a:t>In our example: age and height. </a:t>
                </a:r>
              </a:p>
              <a:p>
                <a:r>
                  <a:rPr lang="en-US" dirty="0"/>
                  <a:t>We always standardized our continuous predictors so: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means average 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means average height</a:t>
                </a:r>
              </a:p>
              <a:p>
                <a:r>
                  <a:rPr lang="en-US" dirty="0"/>
                  <a:t>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𝑎𝑔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means 1 standard deviation above the average 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𝑒𝑖𝑔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means 1 standard deviation above the average height</a:t>
                </a:r>
                <a:endParaRPr lang="he-IL" dirty="0"/>
              </a:p>
              <a:p>
                <a:pPr lvl="1"/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F1F9EB-C41F-24BD-AF56-5D94CB3E7D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08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F2B9A-E43D-0B76-6EF5-B7C4B58E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C4AD-4DB5-2318-1AF7-B55EDF4C9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 in the regression model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094F9-A444-F0E0-714F-B39D59D85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categorical predictor is a predictor whose values are labels, not numerical measurements.</a:t>
            </a:r>
          </a:p>
          <a:p>
            <a:r>
              <a:rPr lang="en-US" dirty="0"/>
              <a:t>In our example: </a:t>
            </a:r>
            <a:r>
              <a:rPr lang="en-US" dirty="0" err="1"/>
              <a:t>diet_type</a:t>
            </a:r>
            <a:r>
              <a:rPr lang="en-US" dirty="0"/>
              <a:t> and gender. </a:t>
            </a:r>
          </a:p>
          <a:p>
            <a:r>
              <a:rPr lang="en-US" dirty="0"/>
              <a:t>Categorical predictors cannot enter a regression model directly as text labels. They are represented using </a:t>
            </a:r>
            <a:r>
              <a:rPr lang="en-US" b="1" dirty="0"/>
              <a:t>indicator variables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610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FA66-53DA-A651-A68E-F3C9EBEE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3A461-8F15-B6F2-C77A-0694E9061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 in the regression model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86DA2-3E19-EB17-007F-E44886EE9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Indicator variables:</a:t>
                </a:r>
              </a:p>
              <a:p>
                <a:r>
                  <a:rPr lang="en-US" dirty="0"/>
                  <a:t>For gender: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𝑔𝑒𝑛𝑑𝑒𝑟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𝑓𝑒𝑚𝑎𝑙𝑒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𝑟𝑒𝑓𝑒𝑟𝑛𝑐𝑒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𝑔𝑟𝑜𝑢𝑝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𝑚𝑎𝑙𝑒𝑠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𝑐𝑜𝑚𝑝𝑎𝑟𝑖𝑠𝑜𝑛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𝑔𝑟𝑜𝑢𝑝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reference category is absorbed into the intercept.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𝑖𝑛𝑡𝑒𝑟𝑐𝑒𝑝𝑡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the expected outcome for the reference group.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𝑠𝑙𝑜𝑝𝑒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expected difference between males and females.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86DA2-3E19-EB17-007F-E44886EE9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3380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46262-EC2C-AE37-D7FF-F3A7485C0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5C04-1080-992C-EEAE-79C82CE8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predictors in the regression model</a:t>
            </a: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A4C9E-4D57-4963-80B4-7D354D9D61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Indicator variables:</a:t>
                </a:r>
              </a:p>
              <a:p>
                <a:r>
                  <a:rPr lang="en-US" dirty="0"/>
                  <a:t>For </a:t>
                </a:r>
                <a:r>
                  <a:rPr lang="en-US" dirty="0" err="1"/>
                  <a:t>diet_type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𝑟𝑒𝑓𝑒𝑟𝑒𝑛𝑐𝑒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𝑔𝑟𝑜𝑢𝑝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𝑐𝑜𝑚𝑝𝑎𝑟𝑖𝑠𝑜𝑛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𝑔𝑟𝑜𝑢𝑝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he-IL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he-IL" dirty="0"/>
              </a:p>
              <a:p>
                <a:pPr marL="0" indent="0">
                  <a:buNone/>
                </a:pPr>
                <a:endParaRPr lang="he-I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 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𝑟𝑒𝑓𝑒𝑟𝑒𝑛𝑐𝑒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𝑔𝑟𝑜𝑢𝑝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he-IL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𝑐𝑜𝑚𝑝𝑎𝑟𝑖𝑠𝑜𝑛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𝑔𝑟𝑜𝑢𝑝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reference category is absorbed into the intercept.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𝑖𝑛𝑡𝑒𝑟𝑐𝑒𝑝𝑡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is the expected outcome for the reference group.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𝑠𝑙𝑜𝑝𝑒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𝑑𝑖𝑒𝑡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sub>
                    </m:sSub>
                  </m:oMath>
                </a14:m>
                <a:r>
                  <a:rPr lang="en-US" dirty="0"/>
                  <a:t> is the expected difference between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𝑑𝑖𝑒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and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𝑑𝑖𝑒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𝑠𝑙𝑜𝑝𝑒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𝑑𝑖𝑒𝑡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expected difference between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𝑑𝑖𝑒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) and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𝑑𝑖𝑒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A4C9E-4D57-4963-80B4-7D354D9D61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30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920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5C5A-9B3F-6C10-9C5F-93718FCA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24350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Simple Linear Regression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58247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7F45-37DF-3F19-665A-D48E2E45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1AE0-828E-B729-43F1-9A110689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Simple Linear Regression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331C4-7D3C-9E81-39F1-393CE3D53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Bayesian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8FBA0C-95D0-26DA-A791-12CA50883528}"/>
                  </a:ext>
                </a:extLst>
              </p:cNvPr>
              <p:cNvSpPr txBox="1"/>
              <p:nvPr/>
            </p:nvSpPr>
            <p:spPr>
              <a:xfrm>
                <a:off x="2278905" y="2447887"/>
                <a:ext cx="251460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𝐻𝑎𝑙𝑓𝑁𝑜𝑟𝑚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𝑜𝑟𝑚𝑎𝑙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8FBA0C-95D0-26DA-A791-12CA50883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8905" y="2447887"/>
                <a:ext cx="2514600" cy="3416320"/>
              </a:xfrm>
              <a:prstGeom prst="rect">
                <a:avLst/>
              </a:prstGeom>
              <a:blipFill>
                <a:blip r:embed="rId3"/>
                <a:stretch>
                  <a:fillRect r="-46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642103E-0C63-2509-7BC7-72284AD42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199" y="1741015"/>
            <a:ext cx="5210766" cy="458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3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09BD6AC-8575-A790-3DB9-542FCDEF73F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he-IL" dirty="0" err="1"/>
                  <a:t>age_z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09BD6AC-8575-A790-3DB9-542FCDEF73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CAC1B2-6EB8-0B59-EC0A-74E033C280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2400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cs typeface="David" panose="020E0502060401010101" pitchFamily="34" charset="-79"/>
                  </a:rPr>
                  <a:t>- </a:t>
                </a:r>
                <a:r>
                  <a:rPr lang="en-US" sz="2400" dirty="0">
                    <a:cs typeface="David" panose="020E0502060401010101" pitchFamily="34" charset="-79"/>
                  </a:rPr>
                  <a:t>expected weight loss for a person with average age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400" dirty="0"/>
                  <a:t> - </a:t>
                </a:r>
                <a:r>
                  <a:rPr lang="en-US" sz="2400" dirty="0"/>
                  <a:t>expected change in weight loss for a one-SD increase in age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CAC1B2-6EB8-0B59-EC0A-74E033C280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  <a:blipFill>
                <a:blip r:embed="rId3"/>
                <a:stretch>
                  <a:fillRect l="-1624" r="-11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A9F5970-1260-DFB9-E50E-7C071788B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3964" y="4904558"/>
            <a:ext cx="3702836" cy="1530980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E3845C0B-0640-E438-800D-89C21CDAF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92297"/>
            <a:ext cx="5850514" cy="36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47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EF52-84E6-F732-F537-9D791149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74FB10E-8CB0-F55C-7978-792199A8CC2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𝑛𝑑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diet_type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74FB10E-8CB0-F55C-7978-792199A8C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7CB6F-B2A6-4308-FF1C-50700DAAD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David" panose="020E0502060401010101" pitchFamily="34" charset="-79"/>
                  </a:rPr>
                  <a:t>- expected weight loss for the reference diet type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compared with the reference diet type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E7CB6F-B2A6-4308-FF1C-50700DAAD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  <a:blipFill>
                <a:blip r:embed="rId3"/>
                <a:stretch>
                  <a:fillRect l="-162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BF51BAF-B702-6AB8-5103-FB094A2093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443" y="4504519"/>
            <a:ext cx="4253345" cy="20618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66FA88E-2972-5215-62B9-DF64ABD57F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248613"/>
                  </p:ext>
                </p:extLst>
              </p:nvPr>
            </p:nvGraphicFramePr>
            <p:xfrm>
              <a:off x="7323443" y="2098172"/>
              <a:ext cx="4253346" cy="1998862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787302">
                      <a:extLst>
                        <a:ext uri="{9D8B030D-6E8A-4147-A177-3AD203B41FA5}">
                          <a16:colId xmlns:a16="http://schemas.microsoft.com/office/drawing/2014/main" val="3467442648"/>
                        </a:ext>
                      </a:extLst>
                    </a:gridCol>
                    <a:gridCol w="809169">
                      <a:extLst>
                        <a:ext uri="{9D8B030D-6E8A-4147-A177-3AD203B41FA5}">
                          <a16:colId xmlns:a16="http://schemas.microsoft.com/office/drawing/2014/main" val="2456651579"/>
                        </a:ext>
                      </a:extLst>
                    </a:gridCol>
                    <a:gridCol w="897348">
                      <a:extLst>
                        <a:ext uri="{9D8B030D-6E8A-4147-A177-3AD203B41FA5}">
                          <a16:colId xmlns:a16="http://schemas.microsoft.com/office/drawing/2014/main" val="278383129"/>
                        </a:ext>
                      </a:extLst>
                    </a:gridCol>
                    <a:gridCol w="1759527">
                      <a:extLst>
                        <a:ext uri="{9D8B030D-6E8A-4147-A177-3AD203B41FA5}">
                          <a16:colId xmlns:a16="http://schemas.microsoft.com/office/drawing/2014/main" val="3310702304"/>
                        </a:ext>
                      </a:extLst>
                    </a:gridCol>
                  </a:tblGrid>
                  <a:tr h="36920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Diet type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𝒅𝒊𝒆𝒕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𝟐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}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𝑫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{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𝒅𝒊𝒆𝒕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}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sz="16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Expected value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8628198"/>
                      </a:ext>
                    </a:extLst>
                  </a:tr>
                  <a:tr h="29197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  <m:r>
                                  <a:rPr lang="ar-AE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ar-AE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ar-AE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37915870"/>
                      </a:ext>
                    </a:extLst>
                  </a:tr>
                  <a:tr h="54223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  <m:r>
                                  <a:rPr lang="en-US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𝑑𝑖𝑒𝑡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02766405"/>
                      </a:ext>
                    </a:extLst>
                  </a:tr>
                  <a:tr h="54223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𝑑𝑖</m:t>
                                </m:r>
                                <m:r>
                                  <a:rPr lang="en-US" sz="16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𝑑𝑖𝑒𝑡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he-IL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908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66FA88E-2972-5215-62B9-DF64ABD57F1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0248613"/>
                  </p:ext>
                </p:extLst>
              </p:nvPr>
            </p:nvGraphicFramePr>
            <p:xfrm>
              <a:off x="7323443" y="2098172"/>
              <a:ext cx="4253346" cy="1998862"/>
            </p:xfrm>
            <a:graphic>
              <a:graphicData uri="http://schemas.openxmlformats.org/drawingml/2006/table">
                <a:tbl>
                  <a:tblPr>
                    <a:tableStyleId>{073A0DAA-6AF3-43AB-8588-CEC1D06C72B9}</a:tableStyleId>
                  </a:tblPr>
                  <a:tblGrid>
                    <a:gridCol w="787302">
                      <a:extLst>
                        <a:ext uri="{9D8B030D-6E8A-4147-A177-3AD203B41FA5}">
                          <a16:colId xmlns:a16="http://schemas.microsoft.com/office/drawing/2014/main" val="3467442648"/>
                        </a:ext>
                      </a:extLst>
                    </a:gridCol>
                    <a:gridCol w="809169">
                      <a:extLst>
                        <a:ext uri="{9D8B030D-6E8A-4147-A177-3AD203B41FA5}">
                          <a16:colId xmlns:a16="http://schemas.microsoft.com/office/drawing/2014/main" val="2456651579"/>
                        </a:ext>
                      </a:extLst>
                    </a:gridCol>
                    <a:gridCol w="897348">
                      <a:extLst>
                        <a:ext uri="{9D8B030D-6E8A-4147-A177-3AD203B41FA5}">
                          <a16:colId xmlns:a16="http://schemas.microsoft.com/office/drawing/2014/main" val="278383129"/>
                        </a:ext>
                      </a:extLst>
                    </a:gridCol>
                    <a:gridCol w="1759527">
                      <a:extLst>
                        <a:ext uri="{9D8B030D-6E8A-4147-A177-3AD203B41FA5}">
                          <a16:colId xmlns:a16="http://schemas.microsoft.com/office/drawing/2014/main" val="3310702304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Diet type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97744" t="-3158" r="-330075" b="-24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77703" t="-3158" r="-196622" b="-24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Expected value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862819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75" t="-175000" r="-443411" b="-3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2215" t="-175000" r="-692" b="-3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7915870"/>
                      </a:ext>
                    </a:extLst>
                  </a:tr>
                  <a:tr h="542231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75" t="-173034" r="-443411" b="-10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2215" t="-173034" r="-692" b="-10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2766405"/>
                      </a:ext>
                    </a:extLst>
                  </a:tr>
                  <a:tr h="542231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775" t="-273034" r="-443411" b="-2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60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2215" t="-273034" r="-692" b="-2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908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923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C48C-DE00-DEEF-B368-CA0DA1A7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A12C86E-DF28-F084-C58D-4618DA5B46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𝑛𝑑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diet_type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A12C86E-DF28-F084-C58D-4618DA5B4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937E8-5756-8B9F-BF3E-BBDE25B77D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cs typeface="David" panose="020E0502060401010101" pitchFamily="34" charset="-79"/>
                  </a:rPr>
                  <a:t>- expected weight loss for the reference diet type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compared with the reference diet type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B937E8-5756-8B9F-BF3E-BBDE25B77D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5257800" cy="4351338"/>
              </a:xfrm>
              <a:blipFill>
                <a:blip r:embed="rId3"/>
                <a:stretch>
                  <a:fillRect l="-162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7297B6E-DCE6-A019-1403-1F3A3D53B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858894"/>
            <a:ext cx="3585082" cy="1737890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DAB61504-17B9-8319-0AAE-3A9A3D71E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663" y="2563091"/>
            <a:ext cx="5345136" cy="329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7131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537D-3524-52FA-5555-6D7239D12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06712-D5B1-02E6-9546-9C1320DD0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24350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Multiple Linear Regression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30523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24737-5252-CB4F-E0E1-8C4151B1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BBC8-9548-92F3-C9B6-FB719C2E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Multiple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A6124-C94D-D5C4-9B87-1720D0EEA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789508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 </a:t>
            </a:r>
            <a:r>
              <a:rPr lang="en-US" dirty="0"/>
              <a:t>Multiple regression includes more than one predictor</a:t>
            </a:r>
            <a:r>
              <a:rPr lang="en-GB" dirty="0"/>
              <a:t> (independent variable).</a:t>
            </a:r>
          </a:p>
          <a:p>
            <a:pPr>
              <a:lnSpc>
                <a:spcPct val="150000"/>
              </a:lnSpc>
            </a:pPr>
            <a:r>
              <a:rPr lang="en-GB" dirty="0"/>
              <a:t>For example: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GB" dirty="0"/>
          </a:p>
          <a:p>
            <a:pPr lvl="1">
              <a:lnSpc>
                <a:spcPct val="150000"/>
              </a:lnSpc>
            </a:pP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3E0637-ECC0-5BFC-A329-9DB5BCA09A67}"/>
                  </a:ext>
                </a:extLst>
              </p:cNvPr>
              <p:cNvSpPr txBox="1"/>
              <p:nvPr/>
            </p:nvSpPr>
            <p:spPr>
              <a:xfrm>
                <a:off x="1991509" y="2818450"/>
                <a:ext cx="5009626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𝐻𝑎𝑙𝑓𝑁𝑜𝑟𝑚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𝑜𝑟𝑚𝑎𝑙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33E0637-ECC0-5BFC-A329-9DB5BCA0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09" y="2818450"/>
                <a:ext cx="5009626" cy="3970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3B1E262-09FB-65E5-09EB-9DF093B895CF}"/>
              </a:ext>
            </a:extLst>
          </p:cNvPr>
          <p:cNvGrpSpPr/>
          <p:nvPr/>
        </p:nvGrpSpPr>
        <p:grpSpPr>
          <a:xfrm>
            <a:off x="6301217" y="2257225"/>
            <a:ext cx="5759882" cy="4213766"/>
            <a:chOff x="6301217" y="2257225"/>
            <a:chExt cx="5759882" cy="421376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783E5D-0F9E-07BB-76CA-51E9ECDCE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01217" y="2257225"/>
              <a:ext cx="5759882" cy="421376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BCEBC8E-9DC6-A264-44F1-D42CEE9DC82D}"/>
                    </a:ext>
                  </a:extLst>
                </p:cNvPr>
                <p:cNvSpPr txBox="1"/>
                <p:nvPr/>
              </p:nvSpPr>
              <p:spPr>
                <a:xfrm>
                  <a:off x="7989569" y="2775704"/>
                  <a:ext cx="6086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BCEBC8E-9DC6-A264-44F1-D42CEE9DC8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9569" y="2775704"/>
                  <a:ext cx="60864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4918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734C44E-22DC-EA02-8EF2-4EB970F3F174}"/>
                    </a:ext>
                  </a:extLst>
                </p:cNvPr>
                <p:cNvSpPr txBox="1"/>
                <p:nvPr/>
              </p:nvSpPr>
              <p:spPr>
                <a:xfrm>
                  <a:off x="9296399" y="2740703"/>
                  <a:ext cx="6086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734C44E-22DC-EA02-8EF2-4EB970F3F1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6399" y="2740703"/>
                  <a:ext cx="608647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4921681-AC98-935B-A05F-D81F808A41DF}"/>
                    </a:ext>
                  </a:extLst>
                </p:cNvPr>
                <p:cNvSpPr txBox="1"/>
                <p:nvPr/>
              </p:nvSpPr>
              <p:spPr>
                <a:xfrm>
                  <a:off x="10694669" y="2740703"/>
                  <a:ext cx="6086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4921681-AC98-935B-A05F-D81F808A4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4669" y="2740703"/>
                  <a:ext cx="608647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B6903D2-48AF-95D4-5221-027C9BE31FAE}"/>
                    </a:ext>
                  </a:extLst>
                </p:cNvPr>
                <p:cNvSpPr txBox="1"/>
                <p:nvPr/>
              </p:nvSpPr>
              <p:spPr>
                <a:xfrm>
                  <a:off x="11079069" y="2554298"/>
                  <a:ext cx="6086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B6903D2-48AF-95D4-5221-027C9BE31F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9069" y="2554298"/>
                  <a:ext cx="608647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8A5F922-7826-673B-621D-CFFF0A89259D}"/>
                    </a:ext>
                  </a:extLst>
                </p:cNvPr>
                <p:cNvSpPr txBox="1"/>
                <p:nvPr/>
              </p:nvSpPr>
              <p:spPr>
                <a:xfrm>
                  <a:off x="9699306" y="2683174"/>
                  <a:ext cx="60864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8A5F922-7826-673B-621D-CFFF0A892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9306" y="2683174"/>
                  <a:ext cx="608647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2591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8E04-C72A-2293-59B1-93C51757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349B56-7ACA-7801-D0E8-C8C0BFFE47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𝑟𝑑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age_z + height_z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C349B56-7ACA-7801-D0E8-C8C0BFFE47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CE224E-C49F-B392-A3B4-1C7652D30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7748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cs typeface="David" panose="020E0502060401010101" pitchFamily="34" charset="-79"/>
                  </a:rPr>
                  <a:t>- </a:t>
                </a:r>
                <a:r>
                  <a:rPr lang="en-US" sz="2400" dirty="0">
                    <a:cs typeface="David" panose="020E0502060401010101" pitchFamily="34" charset="-79"/>
                  </a:rPr>
                  <a:t>expected weight loss for a person with average age and average height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2400" dirty="0"/>
                  <a:t> - </a:t>
                </a:r>
                <a:r>
                  <a:rPr lang="en-US" sz="2400" dirty="0"/>
                  <a:t>expected change in weight loss for a one-SD increase in age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expected change in weight loss for a one-SD increase in height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CE224E-C49F-B392-A3B4-1C7652D30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77483" cy="4351338"/>
              </a:xfrm>
              <a:blipFill>
                <a:blip r:embed="rId3"/>
                <a:stretch>
                  <a:fillRect l="-129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EE1E105-41CB-127C-46F5-64B0A2EA9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347" y="3878663"/>
            <a:ext cx="4330664" cy="222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268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D15F4-DBFB-75A0-79A9-2E021FE62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EB9B71-CCFF-7E8B-1CEF-0CEB7B36AF4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𝑟𝑑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age_z + </a:t>
                </a:r>
                <a:r>
                  <a:rPr lang="he-IL" dirty="0" err="1"/>
                  <a:t>height_z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7EB9B71-CCFF-7E8B-1CEF-0CEB7B36AF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AF0B506-E552-5D2A-4F00-DD4653B1B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23" y="2330575"/>
            <a:ext cx="5991577" cy="369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AABF9D9-2677-3AD2-60F6-D7F40B9E5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30575"/>
            <a:ext cx="5991577" cy="369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079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7A0F2-C577-5235-F317-B60787757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24BB6-D197-AD23-1DF7-75947A1546E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𝑟𝑑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age_z + </a:t>
                </a:r>
                <a:r>
                  <a:rPr lang="he-IL" dirty="0" err="1"/>
                  <a:t>height_z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EC24BB6-D197-AD23-1DF7-75947A154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32BE6CE9-A3FF-D1E3-7A58-9FF4419AC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43" y="2632669"/>
            <a:ext cx="5752383" cy="355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EAB653B-E98A-280F-E5ED-A9CD20BEE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23104"/>
            <a:ext cx="5752383" cy="3550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2307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B6F9-232B-C134-6BDC-F790DD13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44619E-556B-454A-871D-844353882E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diet_type</a:t>
                </a:r>
                <a:r>
                  <a:rPr lang="en-US" dirty="0"/>
                  <a:t> + gender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D44619E-556B-454A-871D-844353882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58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79B78-5107-5D61-73AB-2080191A21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7748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cs typeface="David" panose="020E0502060401010101" pitchFamily="34" charset="-79"/>
                  </a:rPr>
                  <a:t>- </a:t>
                </a:r>
                <a:r>
                  <a:rPr lang="en-US" sz="2400" dirty="0">
                    <a:cs typeface="David" panose="020E0502060401010101" pitchFamily="34" charset="-79"/>
                  </a:rPr>
                  <a:t> expected weight loss for a female in the diet_1 group (reference groups)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for diet groups 2 and 3 compared with the reference diet type (group 1)</a:t>
                </a:r>
                <a:endParaRPr lang="he-IL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for males compared with the reference gender group (females).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A79B78-5107-5D61-73AB-2080191A2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77483" cy="4351338"/>
              </a:xfrm>
              <a:blipFill>
                <a:blip r:embed="rId3"/>
                <a:stretch>
                  <a:fillRect l="-1299" r="-2134" b="-42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67B4FC3-A923-F076-6A29-D15D15311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510" y="3002992"/>
            <a:ext cx="39343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170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5FC6-C1D1-2D7A-3693-08F95B94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D90C750-3713-AEDD-A33A-E59817E5D5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diet_type</a:t>
                </a:r>
                <a:r>
                  <a:rPr lang="en-US" dirty="0"/>
                  <a:t> + gender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D90C750-3713-AEDD-A33A-E59817E5D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r="-58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FECF9B-7E55-1630-CD03-F48646E8C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172" y="2992943"/>
            <a:ext cx="3934374" cy="2238687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C7D40205-8C28-DD69-8756-7EE7238D4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312" y="2260879"/>
            <a:ext cx="6533759" cy="403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094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9EC9B-8DD6-1050-3A32-28B993AF8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BD5388-F6EB-A624-D57D-6E22EC7B17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age_z</a:t>
                </a:r>
                <a:r>
                  <a:rPr lang="en-US" dirty="0"/>
                  <a:t> + </a:t>
                </a:r>
                <a:r>
                  <a:rPr lang="en-US" dirty="0" err="1"/>
                  <a:t>diet_type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FBD5388-F6EB-A624-D57D-6E22EC7B17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83143B-E1EC-D323-4DFD-374B060AA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57748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cs typeface="David" panose="020E0502060401010101" pitchFamily="34" charset="-79"/>
                  </a:rPr>
                  <a:t>- </a:t>
                </a:r>
                <a:r>
                  <a:rPr lang="en-US" sz="2400" dirty="0">
                    <a:cs typeface="David" panose="020E0502060401010101" pitchFamily="34" charset="-79"/>
                  </a:rPr>
                  <a:t> expected weight loss for a person with average age in diet_1 group (reference groups)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for diet groups 2 and 3 compared with the reference diet type (group 1)</a:t>
                </a:r>
                <a:endParaRPr lang="he-IL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- expected change in weight loss for a one-SD increase in age.</a:t>
                </a:r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83143B-E1EC-D323-4DFD-374B060AA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577483" cy="4351338"/>
              </a:xfrm>
              <a:blipFill>
                <a:blip r:embed="rId3"/>
                <a:stretch>
                  <a:fillRect l="-1299" r="-213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80E4D46-FB9A-8601-F9C2-27B9CB164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683" y="2783395"/>
            <a:ext cx="4530004" cy="252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2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6D7DA-36AD-C2F8-7193-DA50DFEE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4669C0-FE4D-9757-3A83-59B213A3A8D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age_z</a:t>
                </a:r>
                <a:r>
                  <a:rPr lang="en-US" dirty="0"/>
                  <a:t> + </a:t>
                </a:r>
                <a:r>
                  <a:rPr lang="en-US" dirty="0" err="1"/>
                  <a:t>diet_type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34669C0-FE4D-9757-3A83-59B213A3A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135E688-5EE3-F59B-B2C0-D6577772B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751" y="3255665"/>
            <a:ext cx="3683935" cy="2056353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BF5E2B2A-E638-DDD4-66C6-7314160B1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54" y="1934659"/>
            <a:ext cx="7611497" cy="469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086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E21DE-1EBE-3E6D-D786-D2996865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D670C-A484-2F88-4FE5-06D5523B3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24350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Interaction Models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76217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B71A2-DD61-BD94-1890-6273B59C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Models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3809-C912-EFDB-5B8A-754B4F7CC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linear regression with interaction allows for the influence of one predictor to depend on the value of another predictor.</a:t>
            </a:r>
            <a:endParaRPr lang="he-IL" dirty="0"/>
          </a:p>
          <a:p>
            <a:r>
              <a:rPr lang="en-US" dirty="0"/>
              <a:t>An interaction - the effect of one predictor depends on the value or category of another predictor.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150556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D1DEB-3080-D2C2-867F-B6DD960A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C69A3-09A0-256D-037E-7CED8CB1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Models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2866D-2D02-5450-87DC-6863178E0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 regression model </a:t>
            </a:r>
            <a:r>
              <a:rPr lang="en-US" b="1" dirty="0"/>
              <a:t>without an interaction</a:t>
            </a:r>
            <a:r>
              <a:rPr lang="en-US" dirty="0"/>
              <a:t>, we assume that a predictor has the same effect across all values of the other predictors.</a:t>
            </a:r>
          </a:p>
          <a:p>
            <a:r>
              <a:rPr lang="en-US" b="1" dirty="0"/>
              <a:t>With an interaction</a:t>
            </a:r>
            <a:r>
              <a:rPr lang="en-US" dirty="0"/>
              <a:t>, the model allows that effect to change. changes depending on another predictor.</a:t>
            </a:r>
          </a:p>
          <a:p>
            <a:endParaRPr lang="en-US" dirty="0"/>
          </a:p>
          <a:p>
            <a:r>
              <a:rPr lang="en-US" dirty="0"/>
              <a:t>We can use it to tests whether the relationship between one predictor and the outcome.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42551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327C-A6FD-B4F3-6D48-ABDF23E2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4E818-6667-8283-041C-530A687B0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Models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486B-8F05-89BC-62B1-6D7DD78EC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dirty="0"/>
              <a:t>An interaction - the effect of one predictor depends on the value or category of another predictor.</a:t>
            </a:r>
          </a:p>
          <a:p>
            <a:endParaRPr lang="he-IL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A759A5-72C4-0AFE-9E29-AA9153B233B8}"/>
              </a:ext>
            </a:extLst>
          </p:cNvPr>
          <p:cNvGrpSpPr/>
          <p:nvPr/>
        </p:nvGrpSpPr>
        <p:grpSpPr>
          <a:xfrm>
            <a:off x="6301217" y="2257225"/>
            <a:ext cx="5759882" cy="4213766"/>
            <a:chOff x="6301217" y="2257225"/>
            <a:chExt cx="5759882" cy="421376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D3E87E2-9FE1-BE1A-4D0B-C581DBFE74BB}"/>
                </a:ext>
              </a:extLst>
            </p:cNvPr>
            <p:cNvGrpSpPr/>
            <p:nvPr/>
          </p:nvGrpSpPr>
          <p:grpSpPr>
            <a:xfrm>
              <a:off x="6301217" y="2257225"/>
              <a:ext cx="5759882" cy="4213766"/>
              <a:chOff x="6301217" y="2257225"/>
              <a:chExt cx="5759882" cy="421376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84554BB-A026-52B5-CE04-1228FC1B32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01217" y="2257225"/>
                <a:ext cx="5759882" cy="421376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02BD7CB-68B5-F31A-C31D-6339DA7F16EE}"/>
                      </a:ext>
                    </a:extLst>
                  </p:cNvPr>
                  <p:cNvSpPr txBox="1"/>
                  <p:nvPr/>
                </p:nvSpPr>
                <p:spPr>
                  <a:xfrm>
                    <a:off x="7989569" y="2775704"/>
                    <a:ext cx="6086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02BD7CB-68B5-F31A-C31D-6339DA7F16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9569" y="2775704"/>
                    <a:ext cx="608647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918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4FC18D9D-C0F0-45B4-0FD5-DF96C48EE9BA}"/>
                      </a:ext>
                    </a:extLst>
                  </p:cNvPr>
                  <p:cNvSpPr txBox="1"/>
                  <p:nvPr/>
                </p:nvSpPr>
                <p:spPr>
                  <a:xfrm>
                    <a:off x="9296399" y="2740703"/>
                    <a:ext cx="6086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4FC18D9D-C0F0-45B4-0FD5-DF96C48EE9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296399" y="2740703"/>
                    <a:ext cx="6086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34445A1-90C0-6543-BC13-114D200AFD5E}"/>
                      </a:ext>
                    </a:extLst>
                  </p:cNvPr>
                  <p:cNvSpPr txBox="1"/>
                  <p:nvPr/>
                </p:nvSpPr>
                <p:spPr>
                  <a:xfrm>
                    <a:off x="10694669" y="2740703"/>
                    <a:ext cx="6086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534445A1-90C0-6543-BC13-114D200AFD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694669" y="2740703"/>
                    <a:ext cx="60864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CBE142B-5B86-CE56-6C6E-5B9D2B4B7366}"/>
                      </a:ext>
                    </a:extLst>
                  </p:cNvPr>
                  <p:cNvSpPr txBox="1"/>
                  <p:nvPr/>
                </p:nvSpPr>
                <p:spPr>
                  <a:xfrm>
                    <a:off x="11079069" y="2554298"/>
                    <a:ext cx="6086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FCBE142B-5B86-CE56-6C6E-5B9D2B4B73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79069" y="2554298"/>
                    <a:ext cx="608647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A448712-D767-A9AC-F448-0AC38CB46250}"/>
                      </a:ext>
                    </a:extLst>
                  </p:cNvPr>
                  <p:cNvSpPr txBox="1"/>
                  <p:nvPr/>
                </p:nvSpPr>
                <p:spPr>
                  <a:xfrm>
                    <a:off x="9699306" y="2683174"/>
                    <a:ext cx="60864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he-IL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FA448712-D767-A9AC-F448-0AC38CB462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9306" y="2683174"/>
                    <a:ext cx="60864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he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50D867D-24F9-88BB-65B2-AD4E104946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203626" y="4251367"/>
              <a:ext cx="2495680" cy="40963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12D8D5E-CD10-FEBF-24A3-28C0F71B4A01}"/>
                    </a:ext>
                  </a:extLst>
                </p:cNvPr>
                <p:cNvSpPr txBox="1"/>
                <p:nvPr/>
              </p:nvSpPr>
              <p:spPr>
                <a:xfrm>
                  <a:off x="7431014" y="4193838"/>
                  <a:ext cx="32636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AE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 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dirty="0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12D8D5E-CD10-FEBF-24A3-28C0F71B4A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1014" y="4193838"/>
                  <a:ext cx="3263655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5C8F01-8C44-80D6-DF49-8AC3348346CA}"/>
                  </a:ext>
                </a:extLst>
              </p:cNvPr>
              <p:cNvSpPr txBox="1"/>
              <p:nvPr/>
            </p:nvSpPr>
            <p:spPr>
              <a:xfrm>
                <a:off x="1497331" y="3103634"/>
                <a:ext cx="4393453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>
                    <a:latin typeface="David" panose="020E0502060401010101" pitchFamily="34" charset="-79"/>
                  </a:rPr>
                  <a:t> 𝛽_2 +𝑥_2+𝜷_𝟑 𝒙_𝟏 𝒙_𝟐</a:t>
                </a:r>
                <a:endParaRPr lang="en-GB" sz="20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𝐻𝑎𝑙𝑓𝑁𝑜𝑟𝑚</m:t>
                      </m:r>
                      <m:r>
                        <a:rPr lang="en-GB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b="0" dirty="0">
                  <a:latin typeface="David" panose="020E0502060401010101" pitchFamily="34" charset="-79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𝑜𝑟𝑚𝑎𝑙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𝑁𝑜𝑟𝑚𝑎𝑙</m:t>
                      </m:r>
                      <m:d>
                        <m:d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5C8F01-8C44-80D6-DF49-8AC334834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31" y="3103634"/>
                <a:ext cx="4393453" cy="3323987"/>
              </a:xfrm>
              <a:prstGeom prst="rect">
                <a:avLst/>
              </a:prstGeom>
              <a:blipFill>
                <a:blip r:embed="rId10"/>
                <a:stretch>
                  <a:fillRect r="-97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237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9204B-848B-A477-188E-F73C576F2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BEA6CD-EC57-A415-7CB8-0A7F1A3795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age_z</a:t>
                </a:r>
                <a:r>
                  <a:rPr lang="en-US" dirty="0"/>
                  <a:t> * </a:t>
                </a:r>
                <a:r>
                  <a:rPr lang="en-US" dirty="0" err="1"/>
                  <a:t>diet_type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8BEA6CD-EC57-A415-7CB8-0A7F1A3795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9AD73-F34F-19B1-EBB7-EEC0E309A4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88898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cs typeface="David" panose="020E0502060401010101" pitchFamily="34" charset="-79"/>
                  </a:rPr>
                  <a:t>- </a:t>
                </a:r>
                <a:r>
                  <a:rPr lang="en-US" sz="2400" dirty="0">
                    <a:cs typeface="David" panose="020E0502060401010101" pitchFamily="34" charset="-79"/>
                  </a:rPr>
                  <a:t> expected weight loss for a person with average age in diet_1 group (reference groups)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intercept shifts relative to the reference diet type</a:t>
                </a:r>
                <a:endParaRPr lang="he-IL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- expected change in weight loss for a one-SD increase in age.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- slope differences relative to the reference diet type</a:t>
                </a:r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F9AD73-F34F-19B1-EBB7-EEC0E309A4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888982" cy="4351338"/>
              </a:xfrm>
              <a:blipFill>
                <a:blip r:embed="rId3"/>
                <a:stretch>
                  <a:fillRect l="-1239" r="-1947" b="-322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3B6C407-D369-5C39-E10E-ED2594979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915" y="2280974"/>
            <a:ext cx="4426803" cy="306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88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064D2-B5A1-781E-F9E0-7E54C98A0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C07D10-ABF3-43CE-FE5A-18394D392F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age_z</a:t>
                </a:r>
                <a:r>
                  <a:rPr lang="en-US" dirty="0"/>
                  <a:t> * </a:t>
                </a:r>
                <a:r>
                  <a:rPr lang="en-US" dirty="0" err="1"/>
                  <a:t>diet_type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1C07D10-ABF3-43CE-FE5A-18394D392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6791C49-7A03-A79F-0F9E-C73770223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915" y="2280974"/>
            <a:ext cx="4426803" cy="3068363"/>
          </a:xfrm>
          <a:prstGeom prst="rect">
            <a:avLst/>
          </a:prstGeom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A11474E4-6551-66DE-1F25-C101FA8E06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483" y="1885916"/>
            <a:ext cx="704930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908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B01C-2C4D-DC00-2185-A5E00457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184F-16C5-761F-2434-C4D678A9D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and Without Interaction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94E27B-D73D-42E5-DA53-4755FBEA10EE}"/>
              </a:ext>
            </a:extLst>
          </p:cNvPr>
          <p:cNvSpPr txBox="1"/>
          <p:nvPr/>
        </p:nvSpPr>
        <p:spPr>
          <a:xfrm>
            <a:off x="2115671" y="1950942"/>
            <a:ext cx="9789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Without Interaction                                                  With Interaction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30E86F-8025-C0E2-7E1D-8C7AABC68E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85633"/>
            <a:ext cx="5809130" cy="3585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08017A0-B532-8BD2-1D9C-89AC627E5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65" y="2354829"/>
            <a:ext cx="5927435" cy="365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4E5F8A-7069-562B-164C-600496059BCF}"/>
              </a:ext>
            </a:extLst>
          </p:cNvPr>
          <p:cNvSpPr txBox="1"/>
          <p:nvPr/>
        </p:nvSpPr>
        <p:spPr>
          <a:xfrm>
            <a:off x="3030071" y="6308209"/>
            <a:ext cx="7025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The interaction model allows the age slope to differ by diet type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01995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57B10-75D3-248C-E5C2-EDB53B964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0B8184-8623-2119-F5F0-451B744516E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diet_type</a:t>
                </a:r>
                <a:r>
                  <a:rPr lang="en-US" dirty="0"/>
                  <a:t> * gender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0B8184-8623-2119-F5F0-451B74451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00E33-DA8E-D524-3A57-6F34CCC8A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888982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𝑤𝑒𝑖𝑔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ar-A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ar-AE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sz="2400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2400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sz="2400" dirty="0">
                    <a:cs typeface="David" panose="020E0502060401010101" pitchFamily="34" charset="-79"/>
                  </a:rPr>
                  <a:t>- </a:t>
                </a:r>
                <a:r>
                  <a:rPr lang="en-US" sz="2400" dirty="0">
                    <a:cs typeface="David" panose="020E0502060401010101" pitchFamily="34" charset="-79"/>
                  </a:rPr>
                  <a:t> expected weight loss for a female in the diet_1 group (reference groups)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for diet groups 2 and 3 compared with the reference diet type (group 1)</a:t>
                </a:r>
                <a:endParaRPr lang="he-IL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- differences in expected weight loss for males compared with the reference gender group (females).</a:t>
                </a:r>
                <a:endParaRPr lang="he-IL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- changes in the diet effect across genders</a:t>
                </a:r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100E33-DA8E-D524-3A57-6F34CCC8A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888982" cy="4351338"/>
              </a:xfrm>
              <a:blipFill>
                <a:blip r:embed="rId3"/>
                <a:stretch>
                  <a:fillRect l="-1239" r="-708" b="-33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599D34AB-EF22-B840-9160-D8C0FFE2CC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092" y="2562329"/>
            <a:ext cx="4461369" cy="281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15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950E-C987-0900-3FD3-570A5FE12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30895DD-7D50-B8BD-BAE9-1FC1B66AAE1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Model: </a:t>
                </a:r>
                <a:r>
                  <a:rPr lang="he-IL" dirty="0"/>
                  <a:t>weight_loss ~ </a:t>
                </a:r>
                <a:r>
                  <a:rPr lang="en-US" dirty="0" err="1"/>
                  <a:t>diet_type</a:t>
                </a:r>
                <a:r>
                  <a:rPr lang="en-US" dirty="0"/>
                  <a:t> * gender</a:t>
                </a:r>
                <a:endParaRPr lang="he-IL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30895DD-7D50-B8BD-BAE9-1FC1B66AA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9B5256E-7B33-2868-FDDA-FAADA680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092" y="2562329"/>
            <a:ext cx="4461369" cy="2813957"/>
          </a:xfrm>
          <a:prstGeom prst="rect">
            <a:avLst/>
          </a:prstGeom>
        </p:spPr>
      </p:pic>
      <p:pic>
        <p:nvPicPr>
          <p:cNvPr id="14338" name="Picture 2">
            <a:extLst>
              <a:ext uri="{FF2B5EF4-FFF2-40B4-BE49-F238E27FC236}">
                <a16:creationId xmlns:a16="http://schemas.microsoft.com/office/drawing/2014/main" id="{BA60E948-665B-47CD-7099-EDDC512247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20" y="1793638"/>
            <a:ext cx="704930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562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255D-B55F-3B00-F420-81EF277BB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and Without Interaction</a:t>
            </a:r>
            <a:endParaRPr lang="he-IL" dirty="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2540DB5C-0830-9DD8-6E7E-9FDD5BCB7E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72861"/>
            <a:ext cx="5644196" cy="348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0A8B7E6B-E7E9-7D50-3A15-EED72761D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465" y="2672861"/>
            <a:ext cx="5644197" cy="3484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4EF81E-F2E3-A98D-205A-7B6DFA3E90E7}"/>
              </a:ext>
            </a:extLst>
          </p:cNvPr>
          <p:cNvSpPr txBox="1"/>
          <p:nvPr/>
        </p:nvSpPr>
        <p:spPr>
          <a:xfrm>
            <a:off x="2115671" y="1950942"/>
            <a:ext cx="9789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Without Interaction                                                  With Interaction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14A1E-107A-2595-0085-82FBA2C411CA}"/>
              </a:ext>
            </a:extLst>
          </p:cNvPr>
          <p:cNvSpPr txBox="1"/>
          <p:nvPr/>
        </p:nvSpPr>
        <p:spPr>
          <a:xfrm>
            <a:off x="3030071" y="6308209"/>
            <a:ext cx="7025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The interaction model allows the diet effect to differ by gender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84385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1704-F9B6-FF3E-A385-7911C0BA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</a:t>
            </a:r>
            <a:r>
              <a:rPr lang="he-IL" dirty="0"/>
              <a:t> Model</a:t>
            </a:r>
            <a:r>
              <a:rPr lang="en-US" dirty="0"/>
              <a:t>s</a:t>
            </a:r>
            <a:endParaRPr lang="he-I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9CD603-EDA9-21EC-E62D-B30BABAE4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endParaRPr lang="he-IL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7B45BBF-5889-FA3C-7647-686FBF0D08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1473463"/>
              </p:ext>
            </p:extLst>
          </p:nvPr>
        </p:nvGraphicFramePr>
        <p:xfrm>
          <a:off x="1440180" y="1631382"/>
          <a:ext cx="9521189" cy="4861493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497540">
                  <a:extLst>
                    <a:ext uri="{9D8B030D-6E8A-4147-A177-3AD203B41FA5}">
                      <a16:colId xmlns:a16="http://schemas.microsoft.com/office/drawing/2014/main" val="1366583496"/>
                    </a:ext>
                  </a:extLst>
                </a:gridCol>
                <a:gridCol w="2475283">
                  <a:extLst>
                    <a:ext uri="{9D8B030D-6E8A-4147-A177-3AD203B41FA5}">
                      <a16:colId xmlns:a16="http://schemas.microsoft.com/office/drawing/2014/main" val="722527131"/>
                    </a:ext>
                  </a:extLst>
                </a:gridCol>
                <a:gridCol w="3274183">
                  <a:extLst>
                    <a:ext uri="{9D8B030D-6E8A-4147-A177-3AD203B41FA5}">
                      <a16:colId xmlns:a16="http://schemas.microsoft.com/office/drawing/2014/main" val="2071573366"/>
                    </a:ext>
                  </a:extLst>
                </a:gridCol>
                <a:gridCol w="3274183">
                  <a:extLst>
                    <a:ext uri="{9D8B030D-6E8A-4147-A177-3AD203B41FA5}">
                      <a16:colId xmlns:a16="http://schemas.microsoft.com/office/drawing/2014/main" val="2669473827"/>
                    </a:ext>
                  </a:extLst>
                </a:gridCol>
              </a:tblGrid>
              <a:tr h="343852">
                <a:tc grid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M</a:t>
                      </a:r>
                      <a:r>
                        <a:rPr lang="he-IL" sz="1700" b="1" dirty="0">
                          <a:effectLst/>
                        </a:rPr>
                        <a:t>odel</a:t>
                      </a:r>
                      <a:r>
                        <a:rPr lang="en-US" sz="1700" b="1" dirty="0">
                          <a:effectLst/>
                        </a:rPr>
                        <a:t> Type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Wilkinson Notation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I</a:t>
                      </a:r>
                      <a:r>
                        <a:rPr lang="he-IL" sz="1700" b="1" dirty="0">
                          <a:effectLst/>
                        </a:rPr>
                        <a:t>nterpretation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838460106"/>
                  </a:ext>
                </a:extLst>
              </a:tr>
              <a:tr h="348107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Simple linear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vert="vert27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one continuous</a:t>
                      </a:r>
                      <a:r>
                        <a:rPr lang="en-US" sz="1700" dirty="0">
                          <a:effectLst/>
                        </a:rPr>
                        <a:t> predictor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One slope: weight loss changes linearly with age</a:t>
                      </a: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523467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one categorical</a:t>
                      </a:r>
                      <a:r>
                        <a:rPr lang="en-US" sz="1700" dirty="0">
                          <a:effectLst/>
                        </a:rPr>
                        <a:t> predictor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 err="1">
                          <a:effectLst/>
                        </a:rPr>
                        <a:t>weight_loss</a:t>
                      </a:r>
                      <a:r>
                        <a:rPr lang="he-IL" sz="1700" dirty="0">
                          <a:effectLst/>
                        </a:rPr>
                        <a:t> ~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Mean differences between diet types</a:t>
                      </a:r>
                    </a:p>
                  </a:txBody>
                  <a:tcPr marL="87027" marR="87027" marT="43513" marB="43513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898547"/>
                  </a:ext>
                </a:extLst>
              </a:tr>
              <a:tr h="609187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Multiple linear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vert="vert27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continuous + continuous</a:t>
                      </a:r>
                      <a:r>
                        <a:rPr lang="en-US" sz="1700" dirty="0">
                          <a:effectLst/>
                        </a:rPr>
                        <a:t> predictors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r>
                        <a:rPr lang="he-IL" sz="1700" dirty="0">
                          <a:effectLst/>
                        </a:rPr>
                        <a:t> + </a:t>
                      </a:r>
                      <a:r>
                        <a:rPr lang="he-IL" sz="1700" dirty="0" err="1">
                          <a:effectLst/>
                        </a:rPr>
                        <a:t>height_z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Adjusted slopes: each predictor is interpreted while holding the other fixed</a:t>
                      </a: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048136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categorical + categorical</a:t>
                      </a:r>
                      <a:r>
                        <a:rPr lang="en-US" sz="1700" dirty="0">
                          <a:effectLst/>
                        </a:rPr>
                        <a:t> predictors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r>
                        <a:rPr lang="he-IL" sz="1700" dirty="0">
                          <a:effectLst/>
                        </a:rPr>
                        <a:t> + </a:t>
                      </a:r>
                      <a:r>
                        <a:rPr lang="he-IL" sz="1700" dirty="0" err="1">
                          <a:effectLst/>
                        </a:rPr>
                        <a:t>gender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Additive group effects: diet and gender contribute separately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68398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continuous + categorical</a:t>
                      </a:r>
                      <a:r>
                        <a:rPr lang="en-US" sz="1700" dirty="0">
                          <a:effectLst/>
                        </a:rPr>
                        <a:t> predictors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r>
                        <a:rPr lang="he-IL" sz="1700" dirty="0">
                          <a:effectLst/>
                        </a:rPr>
                        <a:t> +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Same age slope for all diet types, different intercepts by diet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430855"/>
                  </a:ext>
                </a:extLst>
              </a:tr>
              <a:tr h="609187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b="1" dirty="0">
                          <a:effectLst/>
                        </a:rPr>
                        <a:t>Interaction</a:t>
                      </a: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vert="vert27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continuous * categorical</a:t>
                      </a: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weight_loss ~ </a:t>
                      </a:r>
                      <a:r>
                        <a:rPr lang="he-IL" sz="1700" dirty="0" err="1">
                          <a:effectLst/>
                        </a:rPr>
                        <a:t>age_z</a:t>
                      </a:r>
                      <a:r>
                        <a:rPr lang="he-IL" sz="1700" dirty="0">
                          <a:effectLst/>
                        </a:rPr>
                        <a:t> *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The age slope may differ between diet types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19813"/>
                  </a:ext>
                </a:extLst>
              </a:tr>
              <a:tr h="609187">
                <a:tc vMerge="1"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700" b="1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>
                          <a:effectLst/>
                        </a:rPr>
                        <a:t>categorical * categorical</a:t>
                      </a: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700" dirty="0" err="1">
                          <a:effectLst/>
                        </a:rPr>
                        <a:t>weight_loss</a:t>
                      </a:r>
                      <a:r>
                        <a:rPr lang="he-IL" sz="1700" dirty="0">
                          <a:effectLst/>
                        </a:rPr>
                        <a:t> ~ </a:t>
                      </a:r>
                      <a:r>
                        <a:rPr lang="he-IL" sz="1700" dirty="0" err="1">
                          <a:effectLst/>
                        </a:rPr>
                        <a:t>diet_type</a:t>
                      </a:r>
                      <a:r>
                        <a:rPr lang="he-IL" sz="1700" dirty="0">
                          <a:effectLst/>
                        </a:rPr>
                        <a:t> * </a:t>
                      </a:r>
                      <a:r>
                        <a:rPr lang="he-IL" sz="1700" dirty="0" err="1">
                          <a:effectLst/>
                        </a:rPr>
                        <a:t>gender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700" dirty="0">
                          <a:effectLst/>
                        </a:rPr>
                        <a:t>The diet effect is allowed to differ by gender</a:t>
                      </a:r>
                      <a:endParaRPr lang="he-IL" sz="1700" dirty="0">
                        <a:effectLst/>
                      </a:endParaRPr>
                    </a:p>
                  </a:txBody>
                  <a:tcPr marL="87027" marR="87027" marT="43513" marB="43513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049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359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857F-7751-D55B-940F-C9D3D8C9E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EF41-C98F-C6DE-91A2-0B8C93E2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24350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Bayesian Effect Size Measures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A2816-7C8A-AEEF-ED24-E209C072D63E}"/>
              </a:ext>
            </a:extLst>
          </p:cNvPr>
          <p:cNvSpPr txBox="1"/>
          <p:nvPr/>
        </p:nvSpPr>
        <p:spPr>
          <a:xfrm>
            <a:off x="1201270" y="4325488"/>
            <a:ext cx="97894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These measures summarize explained variation or effect size.</a:t>
            </a:r>
          </a:p>
          <a:p>
            <a:pPr algn="ctr"/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They should not be used alone to choose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10783107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F9096-3C81-8400-54DD-922C92FC5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A0A9-C0B0-EF21-3047-F40B9E33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14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4E3521-7F43-111E-7081-B106DEA2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4818231"/>
          </a:xfrm>
        </p:spPr>
        <p:txBody>
          <a:bodyPr>
            <a:normAutofit/>
          </a:bodyPr>
          <a:lstStyle/>
          <a:p>
            <a:r>
              <a:rPr lang="en-US" dirty="0"/>
              <a:t>In the Bayesian framework, effect sizes are calculated for every posterior draw using μ and σ.</a:t>
            </a:r>
          </a:p>
          <a:p>
            <a:r>
              <a:rPr lang="en-US" dirty="0"/>
              <a:t>Therefore, Bayesian effect sizes are posterior distributions.</a:t>
            </a:r>
          </a:p>
          <a:p>
            <a:endParaRPr lang="en-US" dirty="0"/>
          </a:p>
          <a:p>
            <a:r>
              <a:rPr lang="en-US" dirty="0"/>
              <a:t>In this tutorial, posterior predictive draws are used for model checking, not for effect-size calculation.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110864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3228A-B925-0C61-D86C-D202F2A2C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43B7-C3A8-B5CA-0625-A5A35AF3F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34" y="13716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Effect Size Measures - Definitions</a:t>
            </a:r>
            <a:endParaRPr lang="he-IL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FE1C83A-2580-3EE0-C0A3-EEB26FAE1D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9834" y="1656397"/>
                <a:ext cx="10977336" cy="45386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i="1" dirty="0"/>
                  <a:t>                                  </a:t>
                </a:r>
                <a:r>
                  <a:rPr lang="en-US" sz="2400" dirty="0"/>
                  <a:t>: The mean of the likelihood of data point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in posterior draw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400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L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  <m:sup>
                        <m:d>
                          <m:dPr>
                            <m:ctrlPr>
                              <a:rPr lang="en-IL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IL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L" sz="2400" i="0" dirty="0"/>
                      <m:t>Va</m:t>
                    </m:r>
                    <m:sSub>
                      <m:sSub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L" sz="2400" i="0" dirty="0"/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IL" sz="2400" i="0" dirty="0" err="1"/>
                          <m:t>i</m:t>
                        </m:r>
                      </m:sub>
                    </m:sSub>
                    <m:d>
                      <m:d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L" sz="2400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L" sz="24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IL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L" sz="2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sz="2400" i="1" dirty="0"/>
                  <a:t>       </a:t>
                </a:r>
                <a:r>
                  <a:rPr lang="en-US" sz="2400" dirty="0"/>
                  <a:t>: The variability of the means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over data points</a:t>
                </a:r>
              </a:p>
              <a:p>
                <a:pPr marL="0" indent="0">
                  <a:buNone/>
                </a:pPr>
                <a:endParaRPr lang="he-IL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L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i="1" dirty="0"/>
                  <a:t>                                  </a:t>
                </a:r>
                <a:r>
                  <a:rPr lang="en-US" sz="2400" dirty="0"/>
                  <a:t>: The mean of the likelihood of data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after removing term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L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L" sz="24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L" sz="2400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/>
                  <a:t>     : The difference between the model with and without term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sz="24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IL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sz="24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IL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L" sz="2400" dirty="0"/>
                      <m:t>Va</m:t>
                    </m:r>
                    <m:sSub>
                      <m:sSub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L" sz="2400" dirty="0"/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IL" sz="2400" dirty="0" err="1"/>
                          <m:t>i</m:t>
                        </m:r>
                      </m:sub>
                    </m:sSub>
                    <m:d>
                      <m:dPr>
                        <m:ctrlPr>
                          <a:rPr lang="en-IL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L" sz="2400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L" sz="24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IL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L" sz="24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sz="2400" i="1" dirty="0"/>
                  <a:t>        </a:t>
                </a:r>
                <a:r>
                  <a:rPr lang="en-US" sz="2400" dirty="0"/>
                  <a:t>:</a:t>
                </a:r>
                <a:r>
                  <a:rPr lang="en-US" sz="2400" i="1" dirty="0"/>
                  <a:t> </a:t>
                </a:r>
                <a:r>
                  <a:rPr lang="en-US" sz="2400" dirty="0"/>
                  <a:t>The variability added to the model by term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FE1C83A-2580-3EE0-C0A3-EEB26FAE1D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9834" y="1656397"/>
                <a:ext cx="10977336" cy="4538663"/>
              </a:xfrm>
              <a:blipFill>
                <a:blip r:embed="rId3"/>
                <a:stretch>
                  <a:fillRect t="-13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2856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EF5CB9-9787-CF49-F291-113A8CA3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5A31-798A-3BAC-C881-5EBB60D12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3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Effect Size Measures</a:t>
            </a:r>
            <a:endParaRPr lang="he-I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1EBDF12-9B4C-7EEA-8425-8F61ACEE54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5078"/>
                <a:ext cx="10515600" cy="5258753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he-IL" dirty="0"/>
                  <a:t>Definitions 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i="1" dirty="0"/>
                  <a:t>                              </a:t>
                </a:r>
                <a:r>
                  <a:rPr lang="en-US" dirty="0"/>
                  <a:t>: The mean of the likelihood of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in posterior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i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L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sub>
                      <m:sup>
                        <m:d>
                          <m:dPr>
                            <m:ctrlPr>
                              <a:rPr lang="en-IL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IL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L" i="0" dirty="0"/>
                      <m:t>Va</m:t>
                    </m:r>
                    <m:sSub>
                      <m:sSub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L" i="0" dirty="0"/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IL" i="0" dirty="0" err="1"/>
                          <m:t>i</m:t>
                        </m:r>
                      </m:sub>
                    </m:sSub>
                    <m:d>
                      <m:d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L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IL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IL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L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i="1" dirty="0"/>
                  <a:t>  : </a:t>
                </a:r>
                <a:r>
                  <a:rPr lang="en-US" dirty="0"/>
                  <a:t>The variability of the means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over data points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i="1" dirty="0"/>
                  <a:t>          </a:t>
                </a:r>
                <a:r>
                  <a:rPr lang="en-US" dirty="0"/>
                  <a:t>: The fraction of the variability explained by the model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L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i="1" dirty="0"/>
                  <a:t>                                  </a:t>
                </a:r>
                <a:r>
                  <a:rPr lang="en-US" dirty="0"/>
                  <a:t>: The mean of the likelihood of data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after removing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sup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L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IL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IL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L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I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   : The difference between the model with and without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L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IL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L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IL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L" dirty="0"/>
                      <m:t>Va</m:t>
                    </m:r>
                    <m:sSub>
                      <m:sSub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L" dirty="0"/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IL" dirty="0" err="1"/>
                          <m:t>i</m:t>
                        </m:r>
                      </m:sub>
                    </m:sSub>
                    <m:d>
                      <m:dPr>
                        <m:ctrlPr>
                          <a:rPr lang="en-IL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IL" i="1" dirty="0" err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L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IL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L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r>
                  <a:rPr lang="en-US" i="1" dirty="0"/>
                  <a:t>       </a:t>
                </a:r>
                <a:r>
                  <a:rPr lang="en-US" dirty="0"/>
                  <a:t>:</a:t>
                </a:r>
                <a:r>
                  <a:rPr lang="en-US" i="1" dirty="0"/>
                  <a:t> </a:t>
                </a:r>
                <a:r>
                  <a:rPr lang="en-US" dirty="0"/>
                  <a:t>The variability added to the model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n-US" b="0" i="0" smtClean="0"/>
                          <m:t>partial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i="1" dirty="0"/>
                  <a:t>      </a:t>
                </a:r>
                <a:r>
                  <a:rPr lang="en-US" dirty="0"/>
                  <a:t>: The fraction of the variability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sup>
                        </m:sSup>
                      </m:den>
                    </m:f>
                  </m:oMath>
                </a14:m>
                <a:r>
                  <a:rPr lang="en-US" i="1" dirty="0"/>
                  <a:t>      </a:t>
                </a:r>
                <a:r>
                  <a:rPr lang="en-US" dirty="0"/>
                  <a:t>: η² compares the term contribution to the model-implied total variation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The difference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n-US"/>
                          <m:t>partial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is in the denominator: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𝑝𝑎𝑟𝑡𝑖𝑎𝑙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takes variability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variability not explained by other terms</a:t>
                </a:r>
              </a:p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takes explained by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total variability in the data</a:t>
                </a:r>
              </a:p>
              <a:p>
                <a:pPr marL="0" indent="0">
                  <a:buNone/>
                </a:pPr>
                <a:endParaRPr lang="he-I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1EBDF12-9B4C-7EEA-8425-8F61ACEE5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5078"/>
                <a:ext cx="10515600" cy="5258753"/>
              </a:xfrm>
              <a:blipFill>
                <a:blip r:embed="rId3"/>
                <a:stretch>
                  <a:fillRect l="-116" t="-11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8731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3232F-BB41-D593-52A0-A71333E5A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0E61F-E124-383F-DBE5-FC0F7BFC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59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EF90BBA-4C97-932D-8406-C1BD8F383D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6992" y="1738364"/>
                <a:ext cx="6046037" cy="446430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/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How much of the modeled variation in y is explained by the fitted mean structure?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Computed for each posterior draw. The result is a posterior distribution, summarized with mean and HDI.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en-US" sz="2400" i="1" dirty="0"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2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cs typeface="David" panose="020E0502060401010101" pitchFamily="34" charset="-79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𝑉𝑎𝑟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David" panose="020E0502060401010101" pitchFamily="34" charset="-79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David" panose="020E0502060401010101" pitchFamily="34" charset="-79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David" panose="020E0502060401010101" pitchFamily="34" charset="-79"/>
                                        </a:rPr>
                                        <m:t>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  <a:p>
                <a:endParaRPr lang="en-US" sz="2400" b="1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EF90BBA-4C97-932D-8406-C1BD8F383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992" y="1738364"/>
                <a:ext cx="6046037" cy="4464306"/>
              </a:xfrm>
              <a:blipFill>
                <a:blip r:embed="rId3"/>
                <a:stretch>
                  <a:fillRect l="-1310" t="-1503" r="-50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F1DD014-40AB-0AA0-702A-75605D8D6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844" y="2219114"/>
            <a:ext cx="4582164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722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C37F-4AD3-1B10-69B2-F4008E85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6EEBBC-8198-CA3C-79EA-3D6E58F08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88" y="3154883"/>
            <a:ext cx="4764047" cy="26125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4E0419-26E1-0A12-06D5-B760C306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59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DFBF9BD-801E-49EE-59AC-1DCDCF4239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6992" y="1738364"/>
                <a:ext cx="4498591" cy="446430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dirty="0"/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How much of the modeled variation in y is explained by the fitted mean structure?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Computed for each posterior draw. The result is a posterior distribution, summarized with mean and HDI.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:endParaRPr lang="en-US" sz="2400" i="1" dirty="0">
                  <a:cs typeface="David" panose="020E0502060401010101" pitchFamily="34" charset="-79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2</m:t>
                          </m:r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  <a:cs typeface="David" panose="020E0502060401010101" pitchFamily="34" charset="-79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𝑉𝑎𝑟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𝑠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cs typeface="David" panose="020E0502060401010101" pitchFamily="34" charset="-79"/>
                            </a:rPr>
                            <m:t>𝑉𝑎𝑟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avid" panose="020E0502060401010101" pitchFamily="34" charset="-79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David" panose="020E0502060401010101" pitchFamily="34" charset="-79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David" panose="020E0502060401010101" pitchFamily="34" charset="-79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David" panose="020E0502060401010101" pitchFamily="34" charset="-79"/>
                                        </a:rPr>
                                        <m:t>𝑠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  <a:p>
                <a:endParaRPr lang="en-US" sz="2400" b="1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DFBF9BD-801E-49EE-59AC-1DCDCF4239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992" y="1738364"/>
                <a:ext cx="4498591" cy="4464306"/>
              </a:xfrm>
              <a:blipFill>
                <a:blip r:embed="rId4"/>
                <a:stretch>
                  <a:fillRect l="-1762" t="-1503" r="-27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88" name="Picture 4">
            <a:extLst>
              <a:ext uri="{FF2B5EF4-FFF2-40B4-BE49-F238E27FC236}">
                <a16:creationId xmlns:a16="http://schemas.microsoft.com/office/drawing/2014/main" id="{17E9371A-5D1A-658D-1FFE-32F01AB766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74"/>
          <a:stretch>
            <a:fillRect/>
          </a:stretch>
        </p:blipFill>
        <p:spPr bwMode="auto">
          <a:xfrm>
            <a:off x="4941752" y="1738364"/>
            <a:ext cx="6922739" cy="470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422E1112-15EC-8314-B9B6-59BE57D6C3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90" t="9240" b="51999"/>
          <a:stretch>
            <a:fillRect/>
          </a:stretch>
        </p:blipFill>
        <p:spPr bwMode="auto">
          <a:xfrm>
            <a:off x="10453842" y="2917371"/>
            <a:ext cx="1549472" cy="167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369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BFD32-792A-1CB4-6F6F-C8D178A9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17CC-7091-94DE-E06E-2DC2AF48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59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391A63-7E83-BDF8-E21C-7462617570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6992" y="1738364"/>
                <a:ext cx="10214986" cy="4464306"/>
              </a:xfrm>
            </p:spPr>
            <p:txBody>
              <a:bodyPr>
                <a:normAutofit/>
              </a:bodyPr>
              <a:lstStyle/>
              <a:p>
                <a:r>
                  <a:rPr lang="he-IL" sz="2400" b="1" dirty="0">
                    <a:cs typeface="David" panose="020E0502060401010101" pitchFamily="34" charset="-79"/>
                  </a:rPr>
                  <a:t>Bayesian </a:t>
                </a:r>
                <a:r>
                  <a:rPr lang="he-IL" sz="2400" b="1" dirty="0" err="1">
                    <a:cs typeface="David" panose="020E0502060401010101" pitchFamily="34" charset="-79"/>
                  </a:rPr>
                  <a:t>term-level</a:t>
                </a:r>
                <a:r>
                  <a:rPr lang="he-IL" sz="2400" b="1" dirty="0">
                    <a:cs typeface="David" panose="020E0502060401010101" pitchFamily="34" charset="-79"/>
                  </a:rPr>
                  <a:t> </a:t>
                </a:r>
                <a:r>
                  <a:rPr lang="he-IL" sz="2400" b="1" dirty="0" err="1">
                    <a:cs typeface="David" panose="020E0502060401010101" pitchFamily="34" charset="-79"/>
                  </a:rPr>
                  <a:t>partial</a:t>
                </a:r>
                <a:r>
                  <a:rPr lang="he-IL" sz="2400" b="1" dirty="0">
                    <a:cs typeface="David" panose="020E0502060401010101" pitchFamily="34" charset="-79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400" b="1" i="1" dirty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  <m:t>𝑹</m:t>
                        </m:r>
                      </m:e>
                      <m:sup>
                        <m:r>
                          <a:rPr lang="he-IL" sz="2400" b="1" i="1" dirty="0">
                            <a:latin typeface="Cambria Math" panose="02040503050406030204" pitchFamily="18" charset="0"/>
                            <a:cs typeface="David" panose="020E0502060401010101" pitchFamily="34" charset="-79"/>
                          </a:rPr>
                          <m:t>𝟐</m:t>
                        </m:r>
                      </m:sup>
                    </m:sSup>
                  </m:oMath>
                </a14:m>
                <a:endParaRPr lang="he-IL" sz="2400" b="1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How large is a specific term relative to that term plus residual variation?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Term-level Bayesian effect size for terms such as </a:t>
                </a:r>
                <a:r>
                  <a:rPr lang="en-US" sz="2400" dirty="0" err="1">
                    <a:cs typeface="David" panose="020E0502060401010101" pitchFamily="34" charset="-79"/>
                  </a:rPr>
                  <a:t>diet_type</a:t>
                </a:r>
                <a:r>
                  <a:rPr lang="en-US" sz="2400" dirty="0">
                    <a:cs typeface="David" panose="020E0502060401010101" pitchFamily="34" charset="-79"/>
                  </a:rPr>
                  <a:t>, gender, </a:t>
                </a:r>
                <a:r>
                  <a:rPr lang="en-US" sz="2400" dirty="0" err="1">
                    <a:cs typeface="David" panose="020E0502060401010101" pitchFamily="34" charset="-79"/>
                  </a:rPr>
                  <a:t>age_z:diet_type</a:t>
                </a:r>
                <a:r>
                  <a:rPr lang="en-US" sz="2400" dirty="0">
                    <a:cs typeface="David" panose="020E0502060401010101" pitchFamily="34" charset="-79"/>
                  </a:rPr>
                  <a:t>, </a:t>
                </a:r>
                <a:r>
                  <a:rPr lang="en-US" sz="2400" dirty="0" err="1">
                    <a:cs typeface="David" panose="020E0502060401010101" pitchFamily="34" charset="-79"/>
                  </a:rPr>
                  <a:t>diet_type:gender</a:t>
                </a:r>
                <a:endParaRPr lang="he-IL" sz="2400" dirty="0">
                  <a:cs typeface="David" panose="020E0502060401010101" pitchFamily="34" charset="-79"/>
                </a:endParaRPr>
              </a:p>
              <a:p>
                <a:r>
                  <a:rPr lang="en-US" sz="2400" dirty="0">
                    <a:cs typeface="David" panose="020E0502060401010101" pitchFamily="34" charset="-79"/>
                  </a:rPr>
                  <a:t>Computed from posterior draws of μ and σ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  <m:sub>
                          <m:r>
                            <m:rPr>
                              <m:nor/>
                            </m:rPr>
                            <a:rPr lang="en-US" sz="2400"/>
                            <m:t>partial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F9391A63-7E83-BDF8-E21C-7462617570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992" y="1738364"/>
                <a:ext cx="10214986" cy="4464306"/>
              </a:xfrm>
              <a:blipFill>
                <a:blip r:embed="rId3"/>
                <a:stretch>
                  <a:fillRect l="-776" t="-163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53629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C6CC9-0CDD-F0ED-8479-FD791D627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 Measures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F97AB6-61B1-279D-D715-79FC24DD94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/>
                  <a:t>Bayesian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𝜼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r>
                  <a:rPr lang="en-US" sz="2400" dirty="0"/>
                  <a:t>η² compares the term contribution to the model-implied total variation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  <m:sup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The difference between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b>
                        <m:r>
                          <m:rPr>
                            <m:nor/>
                          </m:rPr>
                          <a:rPr lang="en-US" sz="2400"/>
                          <m:t>partial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  <m:sup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400" dirty="0"/>
                  <a:t> is in the denominator:</a:t>
                </a:r>
                <a:br>
                  <a:rPr lang="en-US" sz="2400" dirty="0"/>
                </a:b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𝑝𝑎𝑟𝑡𝑖𝑎𝑙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takes variability explained by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variability not explained by other terms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takes explained by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out of total variability in the data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F97AB6-61B1-279D-D715-79FC24DD94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681" r="-121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150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CE4C-93FD-72B0-92E0-0C983F2D9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DDAA-83BA-54DB-4A9A-49AF4316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59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A0C9550-7E82-0ACD-2D17-6C080CF91F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6992" y="1738364"/>
                <a:ext cx="9169957" cy="4464306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𝑩𝒂𝒚𝒆𝒔𝒊𝒂𝒏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𝑪𝒐𝒉𝒆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en-US" sz="2400" b="1" dirty="0"/>
              </a:p>
              <a:p>
                <a:r>
                  <a:rPr lang="en-US" sz="2400" dirty="0"/>
                  <a:t>How large is the term’s explained variation relative to residual variation?</a:t>
                </a:r>
              </a:p>
              <a:p>
                <a:r>
                  <a:rPr lang="en-US" sz="2400" dirty="0"/>
                  <a:t>Standardized effect-size scale</a:t>
                </a:r>
              </a:p>
              <a:p>
                <a:r>
                  <a:rPr lang="en-US" sz="2400" dirty="0"/>
                  <a:t>Larger f means the term is large relative to unexplained variation. </a:t>
                </a:r>
              </a:p>
              <a:p>
                <a:endParaRPr lang="en-US" sz="2400" i="1" dirty="0"/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𝐶𝑜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𝑒𝑛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  <m:sup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ar-AE" sz="2400" dirty="0"/>
              </a:p>
              <a:p>
                <a:endParaRPr lang="he-IL" sz="2400" dirty="0"/>
              </a:p>
            </p:txBody>
          </p:sp>
        </mc:Choice>
        <mc:Fallback xmlns="">
          <p:sp>
            <p:nvSpPr>
              <p:cNvPr id="8" name="Content Placeholder 4">
                <a:extLst>
                  <a:ext uri="{FF2B5EF4-FFF2-40B4-BE49-F238E27FC236}">
                    <a16:creationId xmlns:a16="http://schemas.microsoft.com/office/drawing/2014/main" id="{6A0C9550-7E82-0ACD-2D17-6C080CF91F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6992" y="1738364"/>
                <a:ext cx="9169957" cy="4464306"/>
              </a:xfrm>
              <a:blipFill>
                <a:blip r:embed="rId3"/>
                <a:stretch>
                  <a:fillRect l="-864" t="-150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1637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ADEB-7342-E288-C28A-D2AF38704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04E9-17F7-C362-36EF-7593B7CF7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" y="169409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Effect Size Measures Summary Table</a:t>
            </a:r>
            <a:endParaRPr lang="he-I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ABA79E0-FBA2-4EE6-71BE-B4C08BE7F44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72271955"/>
                  </p:ext>
                </p:extLst>
              </p:nvPr>
            </p:nvGraphicFramePr>
            <p:xfrm>
              <a:off x="1632585" y="1494972"/>
              <a:ext cx="8926829" cy="4821282"/>
            </p:xfrm>
            <a:graphic>
              <a:graphicData uri="http://schemas.openxmlformats.org/drawingml/2006/table">
                <a:tbl>
                  <a:tblPr/>
                  <a:tblGrid>
                    <a:gridCol w="1687997">
                      <a:extLst>
                        <a:ext uri="{9D8B030D-6E8A-4147-A177-3AD203B41FA5}">
                          <a16:colId xmlns:a16="http://schemas.microsoft.com/office/drawing/2014/main" val="2225954439"/>
                        </a:ext>
                      </a:extLst>
                    </a:gridCol>
                    <a:gridCol w="3700993">
                      <a:extLst>
                        <a:ext uri="{9D8B030D-6E8A-4147-A177-3AD203B41FA5}">
                          <a16:colId xmlns:a16="http://schemas.microsoft.com/office/drawing/2014/main" val="2153364857"/>
                        </a:ext>
                      </a:extLst>
                    </a:gridCol>
                    <a:gridCol w="3537839">
                      <a:extLst>
                        <a:ext uri="{9D8B030D-6E8A-4147-A177-3AD203B41FA5}">
                          <a16:colId xmlns:a16="http://schemas.microsoft.com/office/drawing/2014/main" val="3242019161"/>
                        </a:ext>
                      </a:extLst>
                    </a:gridCol>
                  </a:tblGrid>
                  <a:tr h="32445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Measure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Formula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What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it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asks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985920"/>
                      </a:ext>
                    </a:extLst>
                  </a:tr>
                  <a:tr h="91549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</a:t>
                          </a: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cs typeface="David" panose="020E0502060401010101" pitchFamily="34" charset="-79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𝑉𝑎𝑟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  <m:t>𝜇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  <m:t>𝑠</m:t>
                                        </m:r>
                                      </m:sup>
                                    </m:sSub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𝑉𝑎𝑟</m:t>
                                    </m:r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David" panose="020E0502060401010101" pitchFamily="34" charset="-79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David" panose="020E0502060401010101" pitchFamily="34" charset="-79"/>
                                              </a:rPr>
                                              <m:t>𝜇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David" panose="020E0502060401010101" pitchFamily="34" charset="-79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David" panose="020E0502060401010101" pitchFamily="34" charset="-79"/>
                                              </a:rPr>
                                              <m:t>𝑠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avid" panose="020E0502060401010101" pitchFamily="34" charset="-79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18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David" panose="020E0502060401010101" pitchFamily="34" charset="-79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David" panose="020E0502060401010101" pitchFamily="34" charset="-79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David" panose="020E0502060401010101" pitchFamily="34" charset="-79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800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David" panose="020E0502060401010101" pitchFamily="34" charset="-79"/>
                                                  </a:rPr>
                                                  <m:t>𝑠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avid" panose="020E0502060401010101" pitchFamily="34" charset="-79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much of the modeled variation in y is explained by the fitted mean structure?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35568"/>
                      </a:ext>
                    </a:extLst>
                  </a:tr>
                  <a:tr h="11222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term-level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partial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he-IL" sz="1800" b="0" i="1" dirty="0" smtClean="0">
                                      <a:latin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he-IL" sz="1800" b="0" i="1" dirty="0" smtClean="0">
                                      <a:latin typeface="Cambria Math" panose="02040503050406030204" pitchFamily="18" charset="0"/>
                                      <a:cs typeface="David" panose="020E0502060401010101" pitchFamily="34" charset="-79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en-US" sz="1800" b="0" i="0" smtClean="0">
                                        <a:latin typeface="David" panose="020E0502060401010101" pitchFamily="34" charset="-79"/>
                                      </a:rPr>
                                      <m:t>partial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L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a specific term relative to that term plus residual variation?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386442"/>
                      </a:ext>
                    </a:extLst>
                  </a:tr>
                  <a:tr h="11222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𝜂</m:t>
                                  </m:r>
                                </m:e>
                                <m:sup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Sup>
                                      <m:sSubSup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𝜂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L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sub>
                                      <m:sup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sup>
                                    </m:sSubSup>
                                    <m: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p>
                                          <m:sSup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sz="1800" i="1" dirty="0"/>
                                  <m:t>      </m:t>
                                </m:r>
                              </m:oMath>
                            </m:oMathPara>
                          </a14:m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What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fraction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of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model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−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implied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total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variation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associated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with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term</m:t>
                                </m:r>
                                <m:r>
                                  <m:rPr>
                                    <m:nor/>
                                  </m:rPr>
                                  <a:rPr lang="en-US" sz="1800" kern="1200" dirty="0" smtClean="0">
                                    <a:solidFill>
                                      <a:schemeClr val="tx1"/>
                                    </a:solidFill>
                                    <a:latin typeface="David" panose="020E0502060401010101" pitchFamily="34" charset="-79"/>
                                    <a:ea typeface="+mn-ea"/>
                                    <a:cs typeface="David" panose="020E0502060401010101" pitchFamily="34" charset="-79"/>
                                  </a:rPr>
                                  <m:t>?</m:t>
                                </m:r>
                              </m:oMath>
                            </m:oMathPara>
                          </a14:m>
                          <a:endParaRPr lang="en-US" sz="1800" kern="1200" dirty="0">
                            <a:solidFill>
                              <a:schemeClr val="tx1"/>
                            </a:solidFill>
                            <a:latin typeface="David" panose="020E0502060401010101" pitchFamily="34" charset="-79"/>
                            <a:ea typeface="+mn-ea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7558393"/>
                      </a:ext>
                    </a:extLst>
                  </a:tr>
                  <a:tr h="112426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Cohen’s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f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𝐶𝑜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𝑒𝑛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’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Sup>
                                          <m:sSubSupPr>
                                            <m:ctrlPr>
                                              <a:rPr lang="en-US" sz="1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sz="1800" i="1" dirty="0">
                                                <a:latin typeface="Cambria Math" panose="02040503050406030204" pitchFamily="18" charset="0"/>
                                              </a:rPr>
                                              <m:t>𝑉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 dirty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</m:d>
                                          </m:sup>
                                        </m:sSubSup>
                                      </m:e>
                                    </m:ra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en-US" sz="1800" b="0" dirty="0"/>
                        </a:p>
                        <a:p>
                          <a:pPr algn="ctr">
                            <a:buNone/>
                          </a:pP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the term’s contribution relative to residual variation?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6066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ABA79E0-FBA2-4EE6-71BE-B4C08BE7F44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72271955"/>
                  </p:ext>
                </p:extLst>
              </p:nvPr>
            </p:nvGraphicFramePr>
            <p:xfrm>
              <a:off x="1632585" y="1494972"/>
              <a:ext cx="8926829" cy="4821282"/>
            </p:xfrm>
            <a:graphic>
              <a:graphicData uri="http://schemas.openxmlformats.org/drawingml/2006/table">
                <a:tbl>
                  <a:tblPr/>
                  <a:tblGrid>
                    <a:gridCol w="1687997">
                      <a:extLst>
                        <a:ext uri="{9D8B030D-6E8A-4147-A177-3AD203B41FA5}">
                          <a16:colId xmlns:a16="http://schemas.microsoft.com/office/drawing/2014/main" val="2225954439"/>
                        </a:ext>
                      </a:extLst>
                    </a:gridCol>
                    <a:gridCol w="3700993">
                      <a:extLst>
                        <a:ext uri="{9D8B030D-6E8A-4147-A177-3AD203B41FA5}">
                          <a16:colId xmlns:a16="http://schemas.microsoft.com/office/drawing/2014/main" val="2153364857"/>
                        </a:ext>
                      </a:extLst>
                    </a:gridCol>
                    <a:gridCol w="3537839">
                      <a:extLst>
                        <a:ext uri="{9D8B030D-6E8A-4147-A177-3AD203B41FA5}">
                          <a16:colId xmlns:a16="http://schemas.microsoft.com/office/drawing/2014/main" val="324201916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Measure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Formula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What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it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asks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985920"/>
                      </a:ext>
                    </a:extLst>
                  </a:tr>
                  <a:tr h="915495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3333" r="-429242" b="-3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559" t="-43333" r="-95559" b="-39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much of the modeled variation in y is explained by the fitted mean structure?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35568"/>
                      </a:ext>
                    </a:extLst>
                  </a:tr>
                  <a:tr h="1122218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16216" r="-429242" b="-22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559" t="-116216" r="-95559" b="-22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a specific term relative to that term plus residual variation?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386442"/>
                      </a:ext>
                    </a:extLst>
                  </a:tr>
                  <a:tr h="1122218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17391" r="-429242" b="-12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559" t="-217391" r="-95559" b="-12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152324" t="-217391" b="-1239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17558393"/>
                      </a:ext>
                    </a:extLst>
                  </a:tr>
                  <a:tr h="129559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Cohen’s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f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5559" t="-274178" r="-95559" b="-70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the term’s contribution relative to residual variation?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6066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323473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47F8A-2232-0BC3-DDA3-D22463AA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B7C6-7771-CCFD-82F2-B91AEDA4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59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AEF42F-26CE-4375-622B-0E2B8FD45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992" y="1375507"/>
            <a:ext cx="10214986" cy="4464306"/>
          </a:xfrm>
        </p:spPr>
        <p:txBody>
          <a:bodyPr>
            <a:normAutofit/>
          </a:bodyPr>
          <a:lstStyle/>
          <a:p>
            <a:r>
              <a:rPr lang="en-US" sz="2400" b="1" dirty="0">
                <a:cs typeface="David" panose="020E0502060401010101" pitchFamily="34" charset="-79"/>
              </a:rPr>
              <a:t>Bayesian partial R², η², and Cohen’s f for each model</a:t>
            </a:r>
            <a:endParaRPr lang="he-IL" sz="2400" b="1" dirty="0">
              <a:cs typeface="David" panose="020E0502060401010101" pitchFamily="34" charset="-79"/>
            </a:endParaRPr>
          </a:p>
          <a:p>
            <a:endParaRPr lang="en-US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FD1DCF-93BE-529E-C418-23538CC26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146367"/>
              </p:ext>
            </p:extLst>
          </p:nvPr>
        </p:nvGraphicFramePr>
        <p:xfrm>
          <a:off x="1042417" y="2057400"/>
          <a:ext cx="10311385" cy="4394983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11681">
                  <a:extLst>
                    <a:ext uri="{9D8B030D-6E8A-4147-A177-3AD203B41FA5}">
                      <a16:colId xmlns:a16="http://schemas.microsoft.com/office/drawing/2014/main" val="3507220372"/>
                    </a:ext>
                  </a:extLst>
                </a:gridCol>
                <a:gridCol w="1206884">
                  <a:extLst>
                    <a:ext uri="{9D8B030D-6E8A-4147-A177-3AD203B41FA5}">
                      <a16:colId xmlns:a16="http://schemas.microsoft.com/office/drawing/2014/main" val="1420187113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1316152599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4152104482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1354673455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2572445316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1883738705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912098078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4274890603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1052346800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3509152494"/>
                    </a:ext>
                  </a:extLst>
                </a:gridCol>
                <a:gridCol w="859282">
                  <a:extLst>
                    <a:ext uri="{9D8B030D-6E8A-4147-A177-3AD203B41FA5}">
                      <a16:colId xmlns:a16="http://schemas.microsoft.com/office/drawing/2014/main" val="280200482"/>
                    </a:ext>
                  </a:extLst>
                </a:gridCol>
              </a:tblGrid>
              <a:tr h="53202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he-IL" sz="105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>
                          <a:effectLst/>
                        </a:rPr>
                        <a:t>model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term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mean_eta_sq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hdi_low_eta_sq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hdi_high_eta_sq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>
                          <a:effectLst/>
                        </a:rPr>
                        <a:t>mean_partial_R2_term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>
                          <a:effectLst/>
                        </a:rPr>
                        <a:t>hdi_low_partial_R2_term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>
                          <a:effectLst/>
                        </a:rPr>
                        <a:t>hdi_high_partial_R2_term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mean_cohens_f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hdi_low_cohens_f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b="1" dirty="0" err="1">
                          <a:effectLst/>
                        </a:rPr>
                        <a:t>hdi_high_cohens_f</a:t>
                      </a:r>
                      <a:endParaRPr lang="he-IL" sz="1050" b="1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1956255525"/>
                  </a:ext>
                </a:extLst>
              </a:tr>
              <a:tr h="18706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age_z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0.037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0.086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288774963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diet_type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0.361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0.274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0.445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955734576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 + height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age_z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0.036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0.086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758917509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 + height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height_z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0.013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0.031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0.013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0.031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0.106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0.193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4144318677"/>
                  </a:ext>
                </a:extLst>
              </a:tr>
              <a:tr h="33175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4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 + 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diet_type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0.067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0.067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0.360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0.269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0.449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883476538"/>
                  </a:ext>
                </a:extLst>
              </a:tr>
              <a:tr h="33175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 + 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0.016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0.018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0.065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0.135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795292868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 + diet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age_z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0.042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0.098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1213462855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 + diet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diet_type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0.069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0.171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0.069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0.363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0.278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0.459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417413680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dirty="0" err="1">
                          <a:effectLst/>
                        </a:rPr>
                        <a:t>age</a:t>
                      </a:r>
                      <a:r>
                        <a:rPr lang="he-IL" sz="1050" dirty="0">
                          <a:effectLst/>
                        </a:rPr>
                        <a:t> * </a:t>
                      </a:r>
                      <a:r>
                        <a:rPr lang="he-IL" sz="1050" dirty="0" err="1">
                          <a:effectLst/>
                        </a:rPr>
                        <a:t>diet</a:t>
                      </a:r>
                      <a:endParaRPr lang="he-IL" sz="1050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age_z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0.162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229962290"/>
                  </a:ext>
                </a:extLst>
              </a:tr>
              <a:tr h="2316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 * diet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diet_type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0.118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0.070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0.364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0.278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0.456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1410923746"/>
                  </a:ext>
                </a:extLst>
              </a:tr>
              <a:tr h="3334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10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 * diet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age_z:diet_type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0.008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0.081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0.162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220402653"/>
                  </a:ext>
                </a:extLst>
              </a:tr>
              <a:tr h="33175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11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 * 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diet_type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0.382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0.273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0.495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0.323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0.244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0.402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0.692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0.567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0.819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3140076290"/>
                  </a:ext>
                </a:extLst>
              </a:tr>
              <a:tr h="33175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12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 * 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0.053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0.024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0.000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0.063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0.141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0.001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0.260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2307038027"/>
                  </a:ext>
                </a:extLst>
              </a:tr>
              <a:tr h="33340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13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dirty="0" err="1">
                          <a:effectLst/>
                        </a:rPr>
                        <a:t>diet</a:t>
                      </a:r>
                      <a:r>
                        <a:rPr lang="he-IL" sz="1050" dirty="0">
                          <a:effectLst/>
                        </a:rPr>
                        <a:t> * </a:t>
                      </a:r>
                      <a:r>
                        <a:rPr lang="he-IL" sz="1050" dirty="0" err="1">
                          <a:effectLst/>
                        </a:rPr>
                        <a:t>gender</a:t>
                      </a:r>
                      <a:endParaRPr lang="he-IL" sz="1050" dirty="0">
                        <a:effectLst/>
                      </a:endParaRP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diet_type:gender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0.177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0.093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0.267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0.181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0.096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0.255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0.469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>
                          <a:effectLst/>
                        </a:rPr>
                        <a:t>0.337</a:t>
                      </a:r>
                    </a:p>
                  </a:txBody>
                  <a:tcPr marL="38170" marR="38170" marT="19085" marB="19085"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he-IL" sz="1050" dirty="0">
                          <a:effectLst/>
                        </a:rPr>
                        <a:t>0.596</a:t>
                      </a:r>
                    </a:p>
                  </a:txBody>
                  <a:tcPr marL="38170" marR="38170" marT="19085" marB="19085" anchor="ctr"/>
                </a:tc>
                <a:extLst>
                  <a:ext uri="{0D108BD9-81ED-4DB2-BD59-A6C34878D82A}">
                    <a16:rowId xmlns:a16="http://schemas.microsoft.com/office/drawing/2014/main" val="543507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79642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AA54-FDFF-2C9D-7D9C-3D88F6522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47394-35B9-6C95-5874-CE98B9765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24350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Frequentist Regression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D56B8E-3A50-460E-7823-50DF6BA64CF8}"/>
              </a:ext>
            </a:extLst>
          </p:cNvPr>
          <p:cNvSpPr txBox="1"/>
          <p:nvPr/>
        </p:nvSpPr>
        <p:spPr>
          <a:xfrm>
            <a:off x="1201270" y="4325488"/>
            <a:ext cx="97894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In-depth explanations in the tutorial code notebook</a:t>
            </a:r>
          </a:p>
        </p:txBody>
      </p:sp>
    </p:spTree>
    <p:extLst>
      <p:ext uri="{BB962C8B-B14F-4D97-AF65-F5344CB8AC3E}">
        <p14:creationId xmlns:p14="http://schemas.microsoft.com/office/powerpoint/2010/main" val="25218365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2374F-45FE-BF82-9BEC-7F219DCE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Regression</a:t>
            </a:r>
            <a:endParaRPr lang="he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6E61E-7D61-DD14-4AE8-A7D5D264FB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Calculating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he-IL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directly from the data</a:t>
                </a:r>
              </a:p>
              <a:p>
                <a:r>
                  <a:rPr lang="en-US" dirty="0"/>
                  <a:t>The regression formula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he-IL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Instead of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𝑁𝑜𝑟𝑚𝑎𝑙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The Effect sizes are calculated directly on the data instead of the posterior draws.</a:t>
                </a:r>
              </a:p>
              <a:p>
                <a:endParaRPr lang="he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56E61E-7D61-DD14-4AE8-A7D5D264FB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2952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96B0B-E4AA-AAF0-8546-06966078A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5ED6-CF39-313D-8D56-1E0AE3AF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Regression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5B9F5-B6EB-19DC-DC21-443B6A359B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4271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Example for interaction model with OLS: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i="1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ar-AE" i="1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ar-AE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i="1" dirty="0" err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AE" dirty="0">
                    <a:cs typeface="David" panose="020E0502060401010101" pitchFamily="34" charset="-79"/>
                  </a:rPr>
                  <a:t>- </a:t>
                </a:r>
                <a:r>
                  <a:rPr lang="en-US" dirty="0">
                    <a:cs typeface="David" panose="020E0502060401010101" pitchFamily="34" charset="-79"/>
                  </a:rPr>
                  <a:t> expected weight loss for a person with average age in diet_1 group (reference groups)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intercept shifts relative to the reference diet type</a:t>
                </a:r>
                <a:endParaRPr lang="he-IL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expected change in weight loss for a one-SD increase in age.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- slope differences relative to the reference diet type</a:t>
                </a:r>
              </a:p>
              <a:p>
                <a:endParaRPr lang="en-US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E5B9F5-B6EB-19DC-DC21-443B6A359B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4271"/>
                <a:ext cx="10515600" cy="4351338"/>
              </a:xfrm>
              <a:blipFill>
                <a:blip r:embed="rId3"/>
                <a:stretch>
                  <a:fillRect l="-1043" t="-2241" r="-168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7805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B7AD-557C-F531-3F91-C0783FBA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17205-8F83-3D8A-599C-7DAB7B01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Regression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74033-5724-0921-0C9F-25F8442AA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271"/>
            <a:ext cx="10515600" cy="4351338"/>
          </a:xfrm>
        </p:spPr>
        <p:txBody>
          <a:bodyPr/>
          <a:lstStyle/>
          <a:p>
            <a:r>
              <a:rPr lang="en-US" dirty="0"/>
              <a:t>Example for interaction model with OLS:</a:t>
            </a:r>
          </a:p>
          <a:p>
            <a:endParaRPr lang="he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D776AC-4846-A9D3-34AE-982160AA7E3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89585"/>
          <a:stretch>
            <a:fillRect/>
          </a:stretch>
        </p:blipFill>
        <p:spPr>
          <a:xfrm>
            <a:off x="562395" y="2225198"/>
            <a:ext cx="7906356" cy="615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796226-17A9-3D45-942A-4EC3F95DE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63"/>
          <a:stretch>
            <a:fillRect/>
          </a:stretch>
        </p:blipFill>
        <p:spPr>
          <a:xfrm>
            <a:off x="6032473" y="2588455"/>
            <a:ext cx="6051673" cy="414783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B6F179-2246-84B2-59E8-A79C44920527}"/>
              </a:ext>
            </a:extLst>
          </p:cNvPr>
          <p:cNvSpPr/>
          <p:nvPr/>
        </p:nvSpPr>
        <p:spPr>
          <a:xfrm>
            <a:off x="388620" y="4720504"/>
            <a:ext cx="5154930" cy="18560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In both Bambi and </a:t>
            </a:r>
            <a:r>
              <a:rPr lang="en-US" dirty="0" err="1">
                <a:solidFill>
                  <a:schemeClr val="tx2"/>
                </a:solidFill>
              </a:rPr>
              <a:t>smf.ols</a:t>
            </a:r>
            <a:r>
              <a:rPr lang="en-US" dirty="0">
                <a:solidFill>
                  <a:schemeClr val="tx2"/>
                </a:solidFill>
              </a:rPr>
              <a:t> formula notation: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weight_loss ~ </a:t>
            </a:r>
            <a:r>
              <a:rPr lang="en-US" dirty="0" err="1">
                <a:solidFill>
                  <a:schemeClr val="tx2"/>
                </a:solidFill>
              </a:rPr>
              <a:t>age_z</a:t>
            </a:r>
            <a:r>
              <a:rPr lang="en-US" dirty="0">
                <a:solidFill>
                  <a:schemeClr val="tx2"/>
                </a:solidFill>
              </a:rPr>
              <a:t>*</a:t>
            </a:r>
            <a:r>
              <a:rPr lang="en-US" dirty="0" err="1">
                <a:solidFill>
                  <a:schemeClr val="tx2"/>
                </a:solidFill>
              </a:rPr>
              <a:t>diet_type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is the same as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</a:rPr>
              <a:t>weight_loss ~ </a:t>
            </a:r>
            <a:r>
              <a:rPr lang="en-US" dirty="0" err="1">
                <a:solidFill>
                  <a:schemeClr val="tx2"/>
                </a:solidFill>
              </a:rPr>
              <a:t>age_z</a:t>
            </a:r>
            <a:r>
              <a:rPr lang="en-US" dirty="0">
                <a:solidFill>
                  <a:schemeClr val="tx2"/>
                </a:solidFill>
              </a:rPr>
              <a:t>  + </a:t>
            </a:r>
            <a:r>
              <a:rPr lang="en-US" dirty="0" err="1">
                <a:solidFill>
                  <a:schemeClr val="tx2"/>
                </a:solidFill>
              </a:rPr>
              <a:t>diet_type</a:t>
            </a:r>
            <a:r>
              <a:rPr lang="en-US" dirty="0">
                <a:solidFill>
                  <a:schemeClr val="tx2"/>
                </a:solidFill>
              </a:rPr>
              <a:t> + </a:t>
            </a:r>
            <a:r>
              <a:rPr lang="en-US" dirty="0" err="1">
                <a:solidFill>
                  <a:schemeClr val="tx2"/>
                </a:solidFill>
              </a:rPr>
              <a:t>age_z:diet_type</a:t>
            </a:r>
            <a:r>
              <a:rPr lang="en-US" dirty="0">
                <a:solidFill>
                  <a:schemeClr val="tx2"/>
                </a:solidFill>
              </a:rPr>
              <a:t>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EF8A0BB-31C4-7F9F-8999-019044B05D4F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2966085" y="2532821"/>
            <a:ext cx="1343025" cy="2187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29155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2229-7B31-2C9E-6A3D-C7DA88E95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AD6E9BF-659A-06C0-F568-56880E886245}"/>
              </a:ext>
            </a:extLst>
          </p:cNvPr>
          <p:cNvSpPr/>
          <p:nvPr/>
        </p:nvSpPr>
        <p:spPr>
          <a:xfrm>
            <a:off x="6222863" y="2051113"/>
            <a:ext cx="2979446" cy="234887"/>
          </a:xfrm>
          <a:prstGeom prst="rect">
            <a:avLst/>
          </a:prstGeom>
          <a:solidFill>
            <a:srgbClr val="FFFF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06543A-FBAC-5834-A321-EE3F5C9857B7}"/>
              </a:ext>
            </a:extLst>
          </p:cNvPr>
          <p:cNvSpPr/>
          <p:nvPr/>
        </p:nvSpPr>
        <p:spPr>
          <a:xfrm>
            <a:off x="3116554" y="1959036"/>
            <a:ext cx="2979446" cy="722987"/>
          </a:xfrm>
          <a:prstGeom prst="rect">
            <a:avLst/>
          </a:prstGeom>
          <a:solidFill>
            <a:srgbClr val="FFFF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731656-E888-E992-FBD0-C014A6B32B04}"/>
              </a:ext>
            </a:extLst>
          </p:cNvPr>
          <p:cNvSpPr/>
          <p:nvPr/>
        </p:nvSpPr>
        <p:spPr>
          <a:xfrm>
            <a:off x="3116554" y="3685735"/>
            <a:ext cx="6913710" cy="1610750"/>
          </a:xfrm>
          <a:prstGeom prst="rect">
            <a:avLst/>
          </a:prstGeom>
          <a:solidFill>
            <a:srgbClr val="FFFF99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23F5B-1BA1-7AC8-7082-C5DBF4C1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Regression</a:t>
            </a:r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1C5B07-BA09-5B9F-8ED9-1D4B140F4AB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8263"/>
          <a:stretch>
            <a:fillRect/>
          </a:stretch>
        </p:blipFill>
        <p:spPr>
          <a:xfrm>
            <a:off x="3116554" y="1561515"/>
            <a:ext cx="6913710" cy="473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546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B3CA0-2801-7D8B-C57F-0E6587B0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556F-36A1-A71E-0F21-2CCCBE7A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Regression</a:t>
            </a:r>
            <a:endParaRPr lang="he-I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1D9F32-A80C-60A6-7258-0B1EE612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709" y="1759255"/>
            <a:ext cx="7509728" cy="473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2926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A1B1CA-6796-DC66-88BB-5DD396D5D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4913A-A1BF-C999-F5E6-4A4DE05E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Regression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BF16FB-57B8-9EB8-1E2C-82A6C733C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83" y="2005729"/>
            <a:ext cx="9021434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699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4126-9F8C-B347-E1D2-0D0ED2CBE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F95AB-9F2C-BDEF-1986-43CDB537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vs Bayesian Regression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7BA90B20-A507-61F3-407A-39D6C465DF0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57195524"/>
                  </p:ext>
                </p:extLst>
              </p:nvPr>
            </p:nvGraphicFramePr>
            <p:xfrm>
              <a:off x="710502" y="1831033"/>
              <a:ext cx="10515600" cy="4716293"/>
            </p:xfrm>
            <a:graphic>
              <a:graphicData uri="http://schemas.openxmlformats.org/drawingml/2006/table">
                <a:tbl>
                  <a:tblPr/>
                  <a:tblGrid>
                    <a:gridCol w="2051741">
                      <a:extLst>
                        <a:ext uri="{9D8B030D-6E8A-4147-A177-3AD203B41FA5}">
                          <a16:colId xmlns:a16="http://schemas.microsoft.com/office/drawing/2014/main" val="2225954439"/>
                        </a:ext>
                      </a:extLst>
                    </a:gridCol>
                    <a:gridCol w="4277639">
                      <a:extLst>
                        <a:ext uri="{9D8B030D-6E8A-4147-A177-3AD203B41FA5}">
                          <a16:colId xmlns:a16="http://schemas.microsoft.com/office/drawing/2014/main" val="2153364857"/>
                        </a:ext>
                      </a:extLst>
                    </a:gridCol>
                    <a:gridCol w="4186220">
                      <a:extLst>
                        <a:ext uri="{9D8B030D-6E8A-4147-A177-3AD203B41FA5}">
                          <a16:colId xmlns:a16="http://schemas.microsoft.com/office/drawing/2014/main" val="3242019161"/>
                        </a:ext>
                      </a:extLst>
                    </a:gridCol>
                  </a:tblGrid>
                  <a:tr h="30055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Topic</a:t>
                          </a:r>
                          <a:endParaRPr lang="he-IL" sz="20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</a:t>
                          </a:r>
                          <a:r>
                            <a:rPr lang="he-IL" sz="20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approach</a:t>
                          </a:r>
                          <a:endParaRPr lang="he-IL" sz="20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Frequentist </a:t>
                          </a: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approach</a:t>
                          </a:r>
                          <a:endParaRPr lang="he-IL" sz="20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985920"/>
                      </a:ext>
                    </a:extLst>
                  </a:tr>
                  <a:tr h="55425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Model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formula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Uses the same formula notation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Uses the same formula notation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35568"/>
                      </a:ext>
                    </a:extLst>
                  </a:tr>
                  <a:tr h="52124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Coefficients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Unknown quantities with posterior distributions 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avid" panose="020E0502060401010101" pitchFamily="34" charset="-79"/>
                                </a:rPr>
                                <m:t>𝛽</m:t>
                              </m:r>
                            </m:oMath>
                          </a14:m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)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Fixed but unknown quantities estimated by point estimates (b)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3410500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Uncertainty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Summarized by posterior distributions and HDI intervals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Summarized by standard errors, confidence intervals, and p-values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5624788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Model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fitting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Bambi samples from the posterior distribution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OLS finds coefficient estimates that minimize squared residuals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386442"/>
                      </a:ext>
                    </a:extLst>
                  </a:tr>
                  <a:tr h="521243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Model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checking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Prior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predictive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checks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,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diagnostics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,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posterior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predictive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checks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Residual-based checks and ANOVA-style summaries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738944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Prediction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plots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  <a:p>
                          <a:pPr algn="ctr">
                            <a:buNone/>
                          </a:pP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Show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posterior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predictions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of the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expected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mean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structure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Show fitted OLS prediction lines or group means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5774245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Explained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variance</a:t>
                          </a:r>
                        </a:p>
                        <a:p>
                          <a:pPr algn="ctr">
                            <a:buNone/>
                          </a:pP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The effect sizes are distributions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The effect sizes are point summaries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6066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3">
                <a:extLst>
                  <a:ext uri="{FF2B5EF4-FFF2-40B4-BE49-F238E27FC236}">
                    <a16:creationId xmlns:a16="http://schemas.microsoft.com/office/drawing/2014/main" id="{7BA90B20-A507-61F3-407A-39D6C465DF08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157195524"/>
                  </p:ext>
                </p:extLst>
              </p:nvPr>
            </p:nvGraphicFramePr>
            <p:xfrm>
              <a:off x="710502" y="1831033"/>
              <a:ext cx="10515600" cy="4716293"/>
            </p:xfrm>
            <a:graphic>
              <a:graphicData uri="http://schemas.openxmlformats.org/drawingml/2006/table">
                <a:tbl>
                  <a:tblPr/>
                  <a:tblGrid>
                    <a:gridCol w="2051741">
                      <a:extLst>
                        <a:ext uri="{9D8B030D-6E8A-4147-A177-3AD203B41FA5}">
                          <a16:colId xmlns:a16="http://schemas.microsoft.com/office/drawing/2014/main" val="2225954439"/>
                        </a:ext>
                      </a:extLst>
                    </a:gridCol>
                    <a:gridCol w="4277639">
                      <a:extLst>
                        <a:ext uri="{9D8B030D-6E8A-4147-A177-3AD203B41FA5}">
                          <a16:colId xmlns:a16="http://schemas.microsoft.com/office/drawing/2014/main" val="2153364857"/>
                        </a:ext>
                      </a:extLst>
                    </a:gridCol>
                    <a:gridCol w="4186220">
                      <a:extLst>
                        <a:ext uri="{9D8B030D-6E8A-4147-A177-3AD203B41FA5}">
                          <a16:colId xmlns:a16="http://schemas.microsoft.com/office/drawing/2014/main" val="3242019161"/>
                        </a:ext>
                      </a:extLst>
                    </a:gridCol>
                  </a:tblGrid>
                  <a:tr h="36281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Topic</a:t>
                          </a:r>
                          <a:endParaRPr lang="he-IL" sz="20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Bayesian</a:t>
                          </a:r>
                          <a:r>
                            <a:rPr lang="he-IL" sz="20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approach</a:t>
                          </a:r>
                          <a:endParaRPr lang="he-IL" sz="20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Frequentist </a:t>
                          </a:r>
                          <a:r>
                            <a:rPr lang="he-IL" sz="20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approach</a:t>
                          </a:r>
                          <a:endParaRPr lang="he-IL" sz="20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985920"/>
                      </a:ext>
                    </a:extLst>
                  </a:tr>
                  <a:tr h="554255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Model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formula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Uses the same formula notation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Uses the same formula notation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35568"/>
                      </a:ext>
                    </a:extLst>
                  </a:tr>
                  <a:tr h="6066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Coefficients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48006" t="-161616" r="-9786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Fixed but unknown quantities estimated by point estimates (b)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3410500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Uncertainty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Summarized by posterior distributions and HDI intervals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Summarized by standard errors, confidence intervals, and p-values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5624788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Model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fitting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Bambi samples from the posterior distribution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OLS finds coefficient estimates that minimize squared residuals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386442"/>
                      </a:ext>
                    </a:extLst>
                  </a:tr>
                  <a:tr h="6066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Model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checking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Prior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predictive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checks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,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diagnostics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,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posterior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predictive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checks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Residual-based checks and ANOVA-style summaries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738944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Prediction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plots</a:t>
                          </a: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  <a:p>
                          <a:pPr algn="ctr">
                            <a:buNone/>
                          </a:pP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Show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posterior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predictions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of the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expected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mean</a:t>
                          </a:r>
                          <a:r>
                            <a:rPr lang="he-IL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</a:t>
                          </a:r>
                          <a:r>
                            <a:rPr lang="he-IL" sz="1800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structure</a:t>
                          </a:r>
                          <a:endParaRPr lang="he-IL" sz="1800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Show fitted OLS prediction lines or group means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5774245"/>
                      </a:ext>
                    </a:extLst>
                  </a:tr>
                  <a:tr h="6464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800" b="1" dirty="0" err="1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Explained</a:t>
                          </a:r>
                          <a:r>
                            <a:rPr lang="he-IL" sz="1800" b="1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 variance</a:t>
                          </a:r>
                        </a:p>
                        <a:p>
                          <a:pPr algn="ctr">
                            <a:buNone/>
                          </a:pPr>
                          <a:endParaRPr lang="he-IL" sz="1800" b="1" dirty="0">
                            <a:latin typeface="David" panose="020E0502060401010101" pitchFamily="34" charset="-79"/>
                            <a:cs typeface="David" panose="020E0502060401010101" pitchFamily="34" charset="-79"/>
                          </a:endParaRP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The effect sizes are distributions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The effect sizes are point summaries</a:t>
                          </a:r>
                        </a:p>
                      </a:txBody>
                      <a:tcPr marL="58018" marR="58018" marT="29009" marB="29009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6066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07705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674D-FDC7-18D8-B75E-165992DA5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F1EC-884C-8B42-5ADF-7663A2F3D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877" y="24350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Frequentist Effect Size Measures</a:t>
            </a:r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F5A3C6-3820-64F5-CF7D-7741B0C7EA27}"/>
              </a:ext>
            </a:extLst>
          </p:cNvPr>
          <p:cNvSpPr txBox="1"/>
          <p:nvPr/>
        </p:nvSpPr>
        <p:spPr>
          <a:xfrm>
            <a:off x="1201270" y="4325488"/>
            <a:ext cx="97894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These measures summarize explained variation or effect size.</a:t>
            </a:r>
          </a:p>
          <a:p>
            <a:pPr algn="ctr"/>
            <a:r>
              <a:rPr lang="en-US" sz="2400" dirty="0">
                <a:latin typeface="David" panose="020E0502060401010101" pitchFamily="34" charset="-79"/>
                <a:cs typeface="David" panose="020E0502060401010101" pitchFamily="34" charset="-79"/>
              </a:rPr>
              <a:t>They should not be used alone to choose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35677121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98160-586D-BCF3-4E9F-D32105426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4A192-2643-A112-0BA0-1E05A7068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88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Effect Size Measures</a:t>
            </a:r>
            <a:endParaRPr lang="he-IL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990340-316B-76BD-6AB9-DDEC3F8C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657"/>
            <a:ext cx="10515600" cy="4760174"/>
          </a:xfrm>
        </p:spPr>
        <p:txBody>
          <a:bodyPr>
            <a:normAutofit/>
          </a:bodyPr>
          <a:lstStyle/>
          <a:p>
            <a:r>
              <a:rPr lang="en-US" dirty="0"/>
              <a:t>In the Bayesian framework, effect sizes are calculated for every posterior draw using μ and σ.</a:t>
            </a:r>
            <a:endParaRPr lang="he-IL" dirty="0"/>
          </a:p>
          <a:p>
            <a:endParaRPr lang="he-IL" dirty="0"/>
          </a:p>
          <a:p>
            <a:r>
              <a:rPr lang="en-US" dirty="0"/>
              <a:t>In the frequentist framework, effect sizes are calculated from one fitted OLS model using sums of squares.</a:t>
            </a:r>
          </a:p>
          <a:p>
            <a:r>
              <a:rPr lang="en-US" dirty="0"/>
              <a:t>The result is one point summary for each model or term.</a:t>
            </a:r>
          </a:p>
        </p:txBody>
      </p:sp>
    </p:spTree>
    <p:extLst>
      <p:ext uri="{BB962C8B-B14F-4D97-AF65-F5344CB8AC3E}">
        <p14:creationId xmlns:p14="http://schemas.microsoft.com/office/powerpoint/2010/main" val="27263447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BBC94-42A9-38EF-1424-71BF5985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7DD83-2CDE-F835-3B9B-83429D48C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Effect Size Measures</a:t>
            </a:r>
            <a:endParaRPr lang="he-IL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7B0F67A-4330-5642-045F-94D63E1A1E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85078"/>
                <a:ext cx="10515600" cy="52587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he-IL" dirty="0"/>
                  <a:t>Definitions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𝑟𝑒𝑠</m:t>
                          </m:r>
                        </m:sub>
                      </m:sSub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e-IL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𝑟𝑒𝑔</m:t>
                          </m:r>
                        </m:sub>
                      </m:sSub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he-IL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e-IL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he-IL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he-IL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he-IL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d>
                        <m:dPr>
                          <m:begChr m:val=""/>
                          <m:endChr m:val=""/>
                          <m:ctrlPr>
                            <a:rPr lang="he-IL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−</m:t>
                          </m:r>
                          <m:limUpp>
                            <m:limUpp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limUpp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lim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ˉ</m:t>
                              </m:r>
                            </m:lim>
                          </m:limUpp>
                          <m:sSup>
                            <m:sSup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he-IL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e-IL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he-IL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he-IL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𝑟𝑒𝑔</m:t>
                              </m:r>
                            </m:sub>
                          </m:sSub>
                          <m:r>
                            <a:rPr lang="he-IL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e-IL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he-IL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he-IL" i="1">
                                  <a:latin typeface="Cambria Math" panose="02040503050406030204" pitchFamily="18" charset="0"/>
                                </a:rPr>
                                <m:t>𝑟𝑒𝑠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he-IL" dirty="0" err="1"/>
                  <a:t>Where</a:t>
                </a:r>
                <a:r>
                  <a:rPr lang="he-IL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he-I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total variation in the observed outcome</a:t>
                </a:r>
                <a:endParaRPr lang="he-IL" dirty="0"/>
              </a:p>
              <a:p>
                <a:pPr lvl="1"/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𝑟𝑒𝑔</m:t>
                        </m:r>
                      </m:sub>
                    </m:sSub>
                  </m:oMath>
                </a14:m>
                <a:r>
                  <a:rPr lang="en-US" dirty="0"/>
                  <a:t> = variation explained by the fitted model</a:t>
                </a:r>
                <a:endParaRPr lang="he-IL" dirty="0"/>
              </a:p>
              <a:p>
                <a:pPr lvl="1"/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</m:oMath>
                </a14:m>
                <a:r>
                  <a:rPr lang="en-US" dirty="0"/>
                  <a:t> /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dirty="0"/>
                  <a:t> = residual unexplained variation</a:t>
                </a:r>
                <a:endParaRPr lang="he-IL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𝑡𝑒𝑟𝑚</m:t>
                        </m:r>
                      </m:sub>
                    </m:sSub>
                  </m:oMath>
                </a14:m>
                <a:r>
                  <a:rPr lang="en-US" dirty="0"/>
                  <a:t> = variation attributed to one model term</a:t>
                </a:r>
                <a:r>
                  <a:rPr lang="he-IL" dirty="0"/>
                  <a:t> 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7B0F67A-4330-5642-045F-94D63E1A1E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85078"/>
                <a:ext cx="10515600" cy="5258753"/>
              </a:xfrm>
              <a:blipFill>
                <a:blip r:embed="rId3"/>
                <a:stretch>
                  <a:fillRect l="-1043" t="-2897" b="-8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82817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7F1CF-D6AB-02A7-EACC-627CC2A4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" y="14526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Effect Size Measures - Frequentist</a:t>
            </a:r>
            <a:endParaRPr lang="he-IL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5714136-080A-F066-F050-AD3230F7D9B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8267985"/>
                  </p:ext>
                </p:extLst>
              </p:nvPr>
            </p:nvGraphicFramePr>
            <p:xfrm>
              <a:off x="1908810" y="1703070"/>
              <a:ext cx="8343899" cy="4523786"/>
            </p:xfrm>
            <a:graphic>
              <a:graphicData uri="http://schemas.openxmlformats.org/drawingml/2006/table">
                <a:tbl>
                  <a:tblPr/>
                  <a:tblGrid>
                    <a:gridCol w="1909158">
                      <a:extLst>
                        <a:ext uri="{9D8B030D-6E8A-4147-A177-3AD203B41FA5}">
                          <a16:colId xmlns:a16="http://schemas.microsoft.com/office/drawing/2014/main" val="2225954439"/>
                        </a:ext>
                      </a:extLst>
                    </a:gridCol>
                    <a:gridCol w="3200052">
                      <a:extLst>
                        <a:ext uri="{9D8B030D-6E8A-4147-A177-3AD203B41FA5}">
                          <a16:colId xmlns:a16="http://schemas.microsoft.com/office/drawing/2014/main" val="2153364857"/>
                        </a:ext>
                      </a:extLst>
                    </a:gridCol>
                    <a:gridCol w="3234689">
                      <a:extLst>
                        <a:ext uri="{9D8B030D-6E8A-4147-A177-3AD203B41FA5}">
                          <a16:colId xmlns:a16="http://schemas.microsoft.com/office/drawing/2014/main" val="3242019161"/>
                        </a:ext>
                      </a:extLst>
                    </a:gridCol>
                  </a:tblGrid>
                  <a:tr h="3230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/>
                            <a:t>Measure</a:t>
                          </a:r>
                          <a:endParaRPr lang="he-IL" sz="2000" b="1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2000" b="1" i="1" dirty="0" smtClean="0">
                                    <a:latin typeface="Cambria Math" panose="02040503050406030204" pitchFamily="18" charset="0"/>
                                  </a:rPr>
                                  <m:t>𝑭𝒐𝒓𝒎𝒖𝒍𝒂</m:t>
                                </m:r>
                              </m:oMath>
                            </m:oMathPara>
                          </a14:m>
                          <a:endParaRPr sz="24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/>
                            <a:t>What</a:t>
                          </a:r>
                          <a:r>
                            <a:rPr lang="he-IL" sz="2000" b="1" dirty="0"/>
                            <a:t> </a:t>
                          </a:r>
                          <a:r>
                            <a:rPr lang="he-IL" sz="2000" b="1" dirty="0" err="1"/>
                            <a:t>it</a:t>
                          </a:r>
                          <a:r>
                            <a:rPr lang="he-IL" sz="2000" b="1" dirty="0"/>
                            <a:t> </a:t>
                          </a:r>
                          <a:r>
                            <a:rPr lang="he-IL" sz="2000" b="1" dirty="0" err="1"/>
                            <a:t>asks</a:t>
                          </a:r>
                          <a:endParaRPr lang="he-IL" sz="2000" b="1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985920"/>
                      </a:ext>
                    </a:extLst>
                  </a:tr>
                  <a:tr h="93556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he-IL" sz="18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e-IL" sz="180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he-IL" sz="180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20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𝑟𝑒𝑔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𝑡𝑜𝑡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f>
                                  <m:f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𝑟𝑒𝑠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𝑡𝑜𝑡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sz="24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much of the total variation in (y) is explained by the whole model?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35568"/>
                      </a:ext>
                    </a:extLst>
                  </a:tr>
                  <a:tr h="11603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𝑇𝑒𝑟𝑚</m:t>
                                </m:r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𝑙𝑒𝑣𝑒𝑙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he-IL" sz="18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he-IL" sz="1800" i="1" dirty="0" err="1">
                                    <a:latin typeface="Cambria Math" panose="02040503050406030204" pitchFamily="18" charset="0"/>
                                  </a:rPr>
                                  <m:t>𝑝𝑎𝑟𝑡𝑖𝑎𝑙</m:t>
                                </m:r>
                                <m:r>
                                  <a:rPr lang="he-IL" sz="18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he-IL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he-IL" sz="1800" i="1" dirty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he-IL" sz="1800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20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i="1" dirty="0" smtClean="0">
                                            <a:latin typeface="Cambria Math" panose="02040503050406030204" pitchFamily="18" charset="0"/>
                                          </a:rPr>
                                          <m:t>𝑡𝑒𝑟𝑚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𝑡𝑒𝑟𝑚</m:t>
                                        </m:r>
                                      </m:sub>
                                    </m:sSub>
                                    <m:r>
                                      <a:rPr lang="he-IL" sz="1800" b="0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𝑟𝑒𝑠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sz="24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a specific ANOVA term relative to that term plus residual variation?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386442"/>
                      </a:ext>
                    </a:extLst>
                  </a:tr>
                  <a:tr h="935561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sz="20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𝑡𝑒𝑟𝑚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e>
                                      <m:sub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𝑡𝑜𝑡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sz="24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What proportion of total variation is associated with a specific term?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738944"/>
                      </a:ext>
                    </a:extLst>
                  </a:tr>
                  <a:tr h="1160334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𝐶𝑜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𝑒𝑛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’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he-IL" sz="18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he-IL" sz="18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sz="20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𝐶𝑜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𝑒𝑛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’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f>
                                  <m:fPr>
                                    <m:ctrlPr>
                                      <a:rPr lang="en-US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ad>
                                      <m:radPr>
                                        <m:degHide m:val="on"/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𝑡𝑒𝑟𝑚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sz="1800" b="0" i="1" dirty="0" smtClean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𝑟𝑒𝑠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sz="2400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the term’s explained variation relative to residual variation?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6066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35714136-080A-F066-F050-AD3230F7D9B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08267985"/>
                  </p:ext>
                </p:extLst>
              </p:nvPr>
            </p:nvGraphicFramePr>
            <p:xfrm>
              <a:off x="1908810" y="1703070"/>
              <a:ext cx="8343899" cy="4523786"/>
            </p:xfrm>
            <a:graphic>
              <a:graphicData uri="http://schemas.openxmlformats.org/drawingml/2006/table">
                <a:tbl>
                  <a:tblPr/>
                  <a:tblGrid>
                    <a:gridCol w="1909158">
                      <a:extLst>
                        <a:ext uri="{9D8B030D-6E8A-4147-A177-3AD203B41FA5}">
                          <a16:colId xmlns:a16="http://schemas.microsoft.com/office/drawing/2014/main" val="2225954439"/>
                        </a:ext>
                      </a:extLst>
                    </a:gridCol>
                    <a:gridCol w="3200052">
                      <a:extLst>
                        <a:ext uri="{9D8B030D-6E8A-4147-A177-3AD203B41FA5}">
                          <a16:colId xmlns:a16="http://schemas.microsoft.com/office/drawing/2014/main" val="2153364857"/>
                        </a:ext>
                      </a:extLst>
                    </a:gridCol>
                    <a:gridCol w="3234689">
                      <a:extLst>
                        <a:ext uri="{9D8B030D-6E8A-4147-A177-3AD203B41FA5}">
                          <a16:colId xmlns:a16="http://schemas.microsoft.com/office/drawing/2014/main" val="3242019161"/>
                        </a:ext>
                      </a:extLst>
                    </a:gridCol>
                  </a:tblGrid>
                  <a:tr h="331996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/>
                            <a:t>Measure</a:t>
                          </a:r>
                          <a:endParaRPr lang="he-IL" sz="2000" b="1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59619" t="-20000" r="-101143" b="-125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2000" b="1" dirty="0" err="1"/>
                            <a:t>What</a:t>
                          </a:r>
                          <a:r>
                            <a:rPr lang="he-IL" sz="2000" b="1" dirty="0"/>
                            <a:t> </a:t>
                          </a:r>
                          <a:r>
                            <a:rPr lang="he-IL" sz="2000" b="1" dirty="0" err="1"/>
                            <a:t>it</a:t>
                          </a:r>
                          <a:r>
                            <a:rPr lang="he-IL" sz="2000" b="1" dirty="0"/>
                            <a:t> </a:t>
                          </a:r>
                          <a:r>
                            <a:rPr lang="he-IL" sz="2000" b="1" dirty="0" err="1"/>
                            <a:t>asks</a:t>
                          </a:r>
                          <a:endParaRPr lang="he-IL" sz="2000" b="1" dirty="0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985920"/>
                      </a:ext>
                    </a:extLst>
                  </a:tr>
                  <a:tr h="935561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3137" r="-337380" b="-349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59619" t="-43137" r="-101143" b="-349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much of the total variation in (y) is explained by the whole model?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63335568"/>
                      </a:ext>
                    </a:extLst>
                  </a:tr>
                  <a:tr h="1160334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114660" r="-337380" b="-180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59619" t="-114660" r="-101143" b="-1801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he-IL" sz="180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a specific ANOVA term relative to that term plus residual variation?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386442"/>
                      </a:ext>
                    </a:extLst>
                  </a:tr>
                  <a:tr h="935561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67974" r="-337380" b="-124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59619" t="-267974" r="-101143" b="-124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What proportion of total variation is associated with a specific term?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738944"/>
                      </a:ext>
                    </a:extLst>
                  </a:tr>
                  <a:tr h="1160334"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294764" r="-3373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59619" t="-294764" r="-101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800" dirty="0">
                              <a:latin typeface="David" panose="020E0502060401010101" pitchFamily="34" charset="-79"/>
                              <a:cs typeface="David" panose="020E0502060401010101" pitchFamily="34" charset="-79"/>
                            </a:rPr>
                            <a:t>How large is the term’s explained variation relative to residual variation?</a:t>
                          </a:r>
                        </a:p>
                      </a:txBody>
                      <a:tcPr marL="27196" marR="27196" marT="13598" marB="13598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rgbClr val="FB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06066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155643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76DA7-169B-0DA2-5F06-7D012E3A4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Style Summary Tables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82523-9B60-CB1A-1403-DF882990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tutorial, we use ANOVA-style summaries to quantify how much variation is associated with model terms.</a:t>
            </a:r>
          </a:p>
          <a:p>
            <a:r>
              <a:rPr lang="en-US" dirty="0"/>
              <a:t>For example: </a:t>
            </a:r>
          </a:p>
          <a:p>
            <a:endParaRPr lang="en-US" dirty="0"/>
          </a:p>
          <a:p>
            <a:endParaRPr lang="en-US" dirty="0"/>
          </a:p>
          <a:p>
            <a:endParaRPr lang="he-IL" dirty="0"/>
          </a:p>
          <a:p>
            <a:r>
              <a:rPr lang="en-US" dirty="0"/>
              <a:t>We are not treating ANOVA as a standalone frequentist hypothesis test just yet.</a:t>
            </a:r>
            <a:endParaRPr lang="he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20902F-E38F-A82C-AADF-015FD19B6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05" y="3170855"/>
            <a:ext cx="9439187" cy="129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084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B516BD-3337-8EFF-D962-607994609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907C-3CAC-A4D6-5A55-0D349048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style Summary Tables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B64EF-ABF5-ABA7-0395-5D14B9526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187" y="1679680"/>
            <a:ext cx="9439187" cy="1293810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1F042A-A72A-077A-27A4-0C8BB6F21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35867" y="3108426"/>
            <a:ext cx="9519507" cy="16109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D9B4F9-D2E4-46F6-C76C-D8B2EDDBC9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027" y="4886053"/>
            <a:ext cx="9479347" cy="18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2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4398</Words>
  <Application>Microsoft Office PowerPoint</Application>
  <PresentationFormat>Widescreen</PresentationFormat>
  <Paragraphs>756</Paragraphs>
  <Slides>66</Slides>
  <Notes>36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0" baseType="lpstr">
      <vt:lpstr>Arial</vt:lpstr>
      <vt:lpstr>Cambria Math</vt:lpstr>
      <vt:lpstr>David</vt:lpstr>
      <vt:lpstr>Office Theme</vt:lpstr>
      <vt:lpstr>Tutorial 8</vt:lpstr>
      <vt:lpstr>Assignment 2 quiz</vt:lpstr>
      <vt:lpstr>Tutorial Outline</vt:lpstr>
      <vt:lpstr>Data</vt:lpstr>
      <vt:lpstr>Dataset and Variables</vt:lpstr>
      <vt:lpstr>Data</vt:lpstr>
      <vt:lpstr>Data</vt:lpstr>
      <vt:lpstr>Data</vt:lpstr>
      <vt:lpstr>Today’s  Models</vt:lpstr>
      <vt:lpstr>Bayesian Regression</vt:lpstr>
      <vt:lpstr>Bayesian Regression</vt:lpstr>
      <vt:lpstr>Bayesian Regression</vt:lpstr>
      <vt:lpstr>Continuous predictors in the regression model</vt:lpstr>
      <vt:lpstr>Categorical predictors in the regression model</vt:lpstr>
      <vt:lpstr>Categorical predictors in the regression model</vt:lpstr>
      <vt:lpstr>Categorical predictors in the regression model</vt:lpstr>
      <vt:lpstr>Simple Linear Regression</vt:lpstr>
      <vt:lpstr>Simple Linear Regression</vt:lpstr>
      <vt:lpstr>1^st Model: weight_loss ~ age_z</vt:lpstr>
      <vt:lpstr>2^nd Model: weight_loss ~ diet_type</vt:lpstr>
      <vt:lpstr>2^nd Model: weight_loss ~ diet_type</vt:lpstr>
      <vt:lpstr>Multiple Linear Regression</vt:lpstr>
      <vt:lpstr>Multiple Regression</vt:lpstr>
      <vt:lpstr>3^rd Model: weight_loss ~ age_z + height_z</vt:lpstr>
      <vt:lpstr>3^rd Model: weight_loss ~ age_z + height_z</vt:lpstr>
      <vt:lpstr>3^rd Model: weight_loss ~ age_z + height_z</vt:lpstr>
      <vt:lpstr>4^th Model: weight_loss ~ diet_type + gender</vt:lpstr>
      <vt:lpstr>4^th Model: weight_loss ~ diet_type + gender</vt:lpstr>
      <vt:lpstr>5^th Model: weight_loss ~ age_z + diet_type</vt:lpstr>
      <vt:lpstr>5^th Model: weight_loss ~ age_z + diet_type</vt:lpstr>
      <vt:lpstr>Interaction Models</vt:lpstr>
      <vt:lpstr>Interaction Models</vt:lpstr>
      <vt:lpstr>Interaction Models</vt:lpstr>
      <vt:lpstr>Interaction Models</vt:lpstr>
      <vt:lpstr>6^th Model: weight_loss ~ age_z * diet_type</vt:lpstr>
      <vt:lpstr>6^th Model: weight_loss ~ age_z * diet_type</vt:lpstr>
      <vt:lpstr>With and Without Interaction</vt:lpstr>
      <vt:lpstr>7^th Model: weight_loss ~ diet_type * gender</vt:lpstr>
      <vt:lpstr>7^th Model: weight_loss ~ diet_type * gender</vt:lpstr>
      <vt:lpstr>With and Without Interaction</vt:lpstr>
      <vt:lpstr>Today’s  Models</vt:lpstr>
      <vt:lpstr>Bayesian Effect Size Measures</vt:lpstr>
      <vt:lpstr>Effect Size Measures</vt:lpstr>
      <vt:lpstr>Effect Size Measures - Definitions</vt:lpstr>
      <vt:lpstr>Effect Size Measures</vt:lpstr>
      <vt:lpstr>Effect Size Measures</vt:lpstr>
      <vt:lpstr>Effect Size Measures</vt:lpstr>
      <vt:lpstr>Effect Size Measures</vt:lpstr>
      <vt:lpstr>Effect Size Measures</vt:lpstr>
      <vt:lpstr>Effect Size Measures</vt:lpstr>
      <vt:lpstr>Effect Size Measures Summary Table</vt:lpstr>
      <vt:lpstr>Effect Size Measures</vt:lpstr>
      <vt:lpstr>Frequentist Regression</vt:lpstr>
      <vt:lpstr>Frequentist Regression</vt:lpstr>
      <vt:lpstr>Frequentist Regression</vt:lpstr>
      <vt:lpstr>Frequentist Regression</vt:lpstr>
      <vt:lpstr>Frequentist Regression</vt:lpstr>
      <vt:lpstr>Frequentist Regression</vt:lpstr>
      <vt:lpstr>Frequentist Regression</vt:lpstr>
      <vt:lpstr>Frequentist vs Bayesian Regression</vt:lpstr>
      <vt:lpstr>Frequentist Effect Size Measures</vt:lpstr>
      <vt:lpstr>Effect Size Measures</vt:lpstr>
      <vt:lpstr>Effect Size Measures</vt:lpstr>
      <vt:lpstr>Effect Size Measures - Frequentist</vt:lpstr>
      <vt:lpstr>ANOVA Style Summary Tables</vt:lpstr>
      <vt:lpstr>ANOVA style Summary 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נעם גונן</dc:creator>
  <cp:lastModifiedBy>נעם גונן</cp:lastModifiedBy>
  <cp:revision>289</cp:revision>
  <dcterms:created xsi:type="dcterms:W3CDTF">2026-06-07T05:41:50Z</dcterms:created>
  <dcterms:modified xsi:type="dcterms:W3CDTF">2026-06-16T13:39:20Z</dcterms:modified>
</cp:coreProperties>
</file>