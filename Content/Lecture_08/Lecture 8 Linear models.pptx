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68"/>
  </p:notesMasterIdLst>
  <p:sldIdLst>
    <p:sldId id="256" r:id="rId3"/>
    <p:sldId id="257" r:id="rId4"/>
    <p:sldId id="263" r:id="rId5"/>
    <p:sldId id="259" r:id="rId6"/>
    <p:sldId id="265" r:id="rId7"/>
    <p:sldId id="260" r:id="rId8"/>
    <p:sldId id="264" r:id="rId9"/>
    <p:sldId id="261" r:id="rId10"/>
    <p:sldId id="27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94" r:id="rId21"/>
    <p:sldId id="276" r:id="rId22"/>
    <p:sldId id="277" r:id="rId23"/>
    <p:sldId id="278" r:id="rId24"/>
    <p:sldId id="283" r:id="rId25"/>
    <p:sldId id="279" r:id="rId26"/>
    <p:sldId id="280" r:id="rId27"/>
    <p:sldId id="281" r:id="rId28"/>
    <p:sldId id="282" r:id="rId29"/>
    <p:sldId id="284" r:id="rId30"/>
    <p:sldId id="288" r:id="rId31"/>
    <p:sldId id="289" r:id="rId32"/>
    <p:sldId id="292" r:id="rId33"/>
    <p:sldId id="285" r:id="rId34"/>
    <p:sldId id="286" r:id="rId35"/>
    <p:sldId id="287" r:id="rId36"/>
    <p:sldId id="290" r:id="rId37"/>
    <p:sldId id="291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10" r:id="rId50"/>
    <p:sldId id="306" r:id="rId51"/>
    <p:sldId id="307" r:id="rId52"/>
    <p:sldId id="311" r:id="rId53"/>
    <p:sldId id="308" r:id="rId54"/>
    <p:sldId id="309" r:id="rId55"/>
    <p:sldId id="312" r:id="rId56"/>
    <p:sldId id="313" r:id="rId57"/>
    <p:sldId id="315" r:id="rId58"/>
    <p:sldId id="314" r:id="rId59"/>
    <p:sldId id="316" r:id="rId60"/>
    <p:sldId id="317" r:id="rId61"/>
    <p:sldId id="318" r:id="rId62"/>
    <p:sldId id="319" r:id="rId63"/>
    <p:sldId id="322" r:id="rId64"/>
    <p:sldId id="323" r:id="rId65"/>
    <p:sldId id="321" r:id="rId66"/>
    <p:sldId id="320" r:id="rId67"/>
  </p:sldIdLst>
  <p:sldSz cx="12192000" cy="6858000"/>
  <p:notesSz cx="7102475" cy="10234613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182" y="28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25982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4954123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pPr>
              <a:defRPr/>
            </a:pPr>
            <a:fld id="{9CF176CD-15D1-4787-BBAA-B7F61FF9E394}" type="datetimeFigureOut">
              <a:rPr lang="en-GB"/>
              <a:t>02/06/2026</a:t>
            </a:fld>
            <a:endParaRPr lang="en-GB"/>
          </a:p>
        </p:txBody>
      </p:sp>
      <p:sp>
        <p:nvSpPr>
          <p:cNvPr id="2112470345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99742350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2793434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7241968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pPr>
              <a:defRPr/>
            </a:pPr>
            <a:fld id="{204755F2-1724-4A9A-9963-AF329A73906F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66743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92495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66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3269FC-302C-F409-8D21-0CAB838FEF4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50382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8CD189B-C584-69B3-87C9-075E42831F2B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+mn-ea"/>
                <a:cs typeface="Arial"/>
              </a:rPr>
              <a:t>2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+mn-ea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52987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20972958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7331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93FD17-2903-BC92-0261-8991FF746DB6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2251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1748198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3403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F36223-ABDC-9533-8CB5-E0B1C1185835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8903E-4EF3-3342-5427-063E92C394C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96905C6D-ABE1-342B-06B3-B564BD6DE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8F600495-19A2-3200-6BFB-EC1C4DAA97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187D4E36-D23E-88B4-2D35-B5E8AC7BC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6727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20401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1906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7994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E4AA34-FCA7-AF95-8189-1C14DE101A0F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A2CD-F608-F7B0-E953-4AF5136197B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204016" name="Slide Image Placeholder 1">
            <a:extLst>
              <a:ext uri="{FF2B5EF4-FFF2-40B4-BE49-F238E27FC236}">
                <a16:creationId xmlns:a16="http://schemas.microsoft.com/office/drawing/2014/main" id="{170F5468-7422-355D-3D6E-ABC0F9C2C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19069064" name="Notes Placeholder 2">
            <a:extLst>
              <a:ext uri="{FF2B5EF4-FFF2-40B4-BE49-F238E27FC236}">
                <a16:creationId xmlns:a16="http://schemas.microsoft.com/office/drawing/2014/main" id="{F4CCF5EE-0F94-1A49-E126-2B8EF8DC93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799405" name="Slide Number Placeholder 3">
            <a:extLst>
              <a:ext uri="{FF2B5EF4-FFF2-40B4-BE49-F238E27FC236}">
                <a16:creationId xmlns:a16="http://schemas.microsoft.com/office/drawing/2014/main" id="{8F176616-59E3-839A-B508-4CCF4E1C7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E4AA34-FCA7-AF95-8189-1C14DE101A0F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938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14080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145227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3987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BBB00B-6711-0D9F-0EA4-91C1E4342335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3291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87D4-A613-A61F-23BC-9D160644D9F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140808" name="Slide Image Placeholder 1">
            <a:extLst>
              <a:ext uri="{FF2B5EF4-FFF2-40B4-BE49-F238E27FC236}">
                <a16:creationId xmlns:a16="http://schemas.microsoft.com/office/drawing/2014/main" id="{541540E5-924B-38B7-2DD1-CAAF27537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1452276141" name="Notes Placeholder 2">
            <a:extLst>
              <a:ext uri="{FF2B5EF4-FFF2-40B4-BE49-F238E27FC236}">
                <a16:creationId xmlns:a16="http://schemas.microsoft.com/office/drawing/2014/main" id="{4FF44232-5A95-F143-ACA7-2C6C3B669C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3987830" name="Slide Number Placeholder 3">
            <a:extLst>
              <a:ext uri="{FF2B5EF4-FFF2-40B4-BE49-F238E27FC236}">
                <a16:creationId xmlns:a16="http://schemas.microsoft.com/office/drawing/2014/main" id="{CDFC8D7C-1889-0094-EB6A-9E25E5F61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BBB00B-6711-0D9F-0EA4-91C1E4342335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9295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078EC-4F16-4A87-BB74-76D3C8C929A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204016" name="Slide Image Placeholder 1">
            <a:extLst>
              <a:ext uri="{FF2B5EF4-FFF2-40B4-BE49-F238E27FC236}">
                <a16:creationId xmlns:a16="http://schemas.microsoft.com/office/drawing/2014/main" id="{9783C3E0-18B0-4984-B2A9-0E01EAE56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19069064" name="Notes Placeholder 2">
            <a:extLst>
              <a:ext uri="{FF2B5EF4-FFF2-40B4-BE49-F238E27FC236}">
                <a16:creationId xmlns:a16="http://schemas.microsoft.com/office/drawing/2014/main" id="{1E10B4AE-AAD2-8C4D-7FF9-E9C3124C0F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799405" name="Slide Number Placeholder 3">
            <a:extLst>
              <a:ext uri="{FF2B5EF4-FFF2-40B4-BE49-F238E27FC236}">
                <a16:creationId xmlns:a16="http://schemas.microsoft.com/office/drawing/2014/main" id="{D53EC6B5-5DAE-4DDA-7BDC-4FBF66B2A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E4AA34-FCA7-AF95-8189-1C14DE101A0F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8631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7ED3-2381-CD45-CD7C-C3AF710B522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204016" name="Slide Image Placeholder 1">
            <a:extLst>
              <a:ext uri="{FF2B5EF4-FFF2-40B4-BE49-F238E27FC236}">
                <a16:creationId xmlns:a16="http://schemas.microsoft.com/office/drawing/2014/main" id="{200A2054-E4FC-8C95-5C60-DBDE1120F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19069064" name="Notes Placeholder 2">
            <a:extLst>
              <a:ext uri="{FF2B5EF4-FFF2-40B4-BE49-F238E27FC236}">
                <a16:creationId xmlns:a16="http://schemas.microsoft.com/office/drawing/2014/main" id="{5E66DA19-EAE7-E044-25C5-C9712B2843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799405" name="Slide Number Placeholder 3">
            <a:extLst>
              <a:ext uri="{FF2B5EF4-FFF2-40B4-BE49-F238E27FC236}">
                <a16:creationId xmlns:a16="http://schemas.microsoft.com/office/drawing/2014/main" id="{C4042FBF-D166-7C1B-7BA9-6345F7B0A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E4AA34-FCA7-AF95-8189-1C14DE101A0F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995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02DD9-02C8-7CCC-446E-34560C05B65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204016" name="Slide Image Placeholder 1">
            <a:extLst>
              <a:ext uri="{FF2B5EF4-FFF2-40B4-BE49-F238E27FC236}">
                <a16:creationId xmlns:a16="http://schemas.microsoft.com/office/drawing/2014/main" id="{65DDFA96-403D-2C4A-7115-6D3928EA4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19069064" name="Notes Placeholder 2">
            <a:extLst>
              <a:ext uri="{FF2B5EF4-FFF2-40B4-BE49-F238E27FC236}">
                <a16:creationId xmlns:a16="http://schemas.microsoft.com/office/drawing/2014/main" id="{29E7CC8B-5903-F50A-2BDF-BD7E2EA424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799405" name="Slide Number Placeholder 3">
            <a:extLst>
              <a:ext uri="{FF2B5EF4-FFF2-40B4-BE49-F238E27FC236}">
                <a16:creationId xmlns:a16="http://schemas.microsoft.com/office/drawing/2014/main" id="{CF926D50-3043-66F6-2218-E16164091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E4AA34-FCA7-AF95-8189-1C14DE101A0F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3751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2E293-25DF-DD7D-194E-35D31E98AB4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919BBA6B-2F46-C2A7-05DF-3011C8C8B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F86ACF55-6248-6771-5447-EFD088207B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2F7880B9-E606-0493-6304-A60D041CD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44361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2D39E-4C65-652B-B611-5037FACB595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88F0BDD6-A177-7A0F-7127-4429FAE11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E1E6A6FE-148C-77E5-AF14-AE79EA1391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F1E778F4-841A-1BB2-1330-EB17C5AE6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4868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0214A-13CA-D437-1BBB-59D86F36D0F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F5F9F54E-A50F-A512-C7F5-F9C94B04E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0D947D2B-6627-8739-24A7-92727925E0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DFDAE68D-EF38-5E7A-9E1A-4D8390ED67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59431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B072A-6B40-F19D-130A-2EAE56E242C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C7B4E094-CD70-683D-6DED-9B2AC1CDE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38D56663-F5F1-28D7-AD68-499895F524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906CBCE8-FEA9-086B-4993-E2AAE24C60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8475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FDD24-8422-CB6A-3EAA-907E0F1BDBB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AFA8C6AD-CA29-7094-99F8-5DBCD16FD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AE58D509-D67B-8070-66BF-6D4EDF5024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DF59D2BE-0FAA-09DE-BD9E-15E78FD05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11066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796D6-DFCF-49D7-D721-5478C8093C9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41748" name="Slide Image Placeholder 1">
            <a:extLst>
              <a:ext uri="{FF2B5EF4-FFF2-40B4-BE49-F238E27FC236}">
                <a16:creationId xmlns:a16="http://schemas.microsoft.com/office/drawing/2014/main" id="{5CE9F214-EF84-3894-785A-961C0C24A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1013" y="1279525"/>
            <a:ext cx="6140450" cy="3454400"/>
          </a:xfrm>
        </p:spPr>
      </p:sp>
      <p:sp>
        <p:nvSpPr>
          <p:cNvPr id="250382882" name="Notes Placeholder 2">
            <a:extLst>
              <a:ext uri="{FF2B5EF4-FFF2-40B4-BE49-F238E27FC236}">
                <a16:creationId xmlns:a16="http://schemas.microsoft.com/office/drawing/2014/main" id="{BD39BC0F-0410-47FA-04CB-DB480A782F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442299" name="Slide Number Placeholder 3">
            <a:extLst>
              <a:ext uri="{FF2B5EF4-FFF2-40B4-BE49-F238E27FC236}">
                <a16:creationId xmlns:a16="http://schemas.microsoft.com/office/drawing/2014/main" id="{DD6E2331-3C89-C1D0-E68A-32B4F8CE1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671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82021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984583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2849491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56CA8F5-E68A-4115-9C25-E96C286CB035}" type="datetime1">
              <a:rPr lang="en-GB"/>
              <a:t>02/06/2026</a:t>
            </a:fld>
            <a:endParaRPr lang="en-GB"/>
          </a:p>
        </p:txBody>
      </p:sp>
      <p:sp>
        <p:nvSpPr>
          <p:cNvPr id="7655990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48804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1261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699816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305145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EAB202B-C763-46C3-A636-9DFD853B4605}" type="datetime1">
              <a:rPr lang="en-GB"/>
              <a:t>02/06/2026</a:t>
            </a:fld>
            <a:endParaRPr lang="en-GB"/>
          </a:p>
        </p:txBody>
      </p:sp>
      <p:sp>
        <p:nvSpPr>
          <p:cNvPr id="8060692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739094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83465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364301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21819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81E87C-49EE-449B-BBE1-C8D9F03709E3}" type="datetime1">
              <a:rPr lang="en-GB"/>
              <a:t>02/06/2026</a:t>
            </a:fld>
            <a:endParaRPr lang="en-GB"/>
          </a:p>
        </p:txBody>
      </p:sp>
      <p:sp>
        <p:nvSpPr>
          <p:cNvPr id="1607933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149046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1543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7323213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297638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732084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2DF79F-283F-4921-8EFE-03DC0706D514}" type="datetime1">
              <a:rPr lang="en-GB"/>
              <a:t>02/06/2026</a:t>
            </a:fld>
            <a:endParaRPr lang="en-GB"/>
          </a:p>
        </p:txBody>
      </p:sp>
      <p:sp>
        <p:nvSpPr>
          <p:cNvPr id="19258607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00791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35754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67143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975062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3570522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994304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1415844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B6B75B-49C2-4C52-A9AA-29208F1CA2A2}" type="datetime1">
              <a:rPr lang="en-GB"/>
              <a:t>02/06/2026</a:t>
            </a:fld>
            <a:endParaRPr lang="en-GB"/>
          </a:p>
        </p:txBody>
      </p:sp>
      <p:sp>
        <p:nvSpPr>
          <p:cNvPr id="8151967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5736166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2827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540258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338CB34-9D44-4B11-81FA-362E39680C1C}" type="datetime1">
              <a:rPr lang="en-GB"/>
              <a:t>02/06/2026</a:t>
            </a:fld>
            <a:endParaRPr lang="en-GB"/>
          </a:p>
        </p:txBody>
      </p:sp>
      <p:sp>
        <p:nvSpPr>
          <p:cNvPr id="129641006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6459781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23661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4CEA9AC-502E-4271-B4D2-4510E701B0BB}" type="datetime1">
              <a:rPr lang="en-GB"/>
              <a:t>02/06/2026</a:t>
            </a:fld>
            <a:endParaRPr lang="en-GB"/>
          </a:p>
        </p:txBody>
      </p:sp>
      <p:sp>
        <p:nvSpPr>
          <p:cNvPr id="71455028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507226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08011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154568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785839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6040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CDFC0ED-09ED-410F-BE71-C5A0E5CAF45C}" type="datetime1">
              <a:rPr lang="en-GB"/>
              <a:t>02/06/2026</a:t>
            </a:fld>
            <a:endParaRPr lang="en-GB"/>
          </a:p>
        </p:txBody>
      </p:sp>
      <p:sp>
        <p:nvSpPr>
          <p:cNvPr id="4301469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366093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3125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4491339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20106789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74588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BB4F426-D937-485B-A737-9052C677CC14}" type="datetime1">
              <a:rPr lang="en-GB"/>
              <a:t>02/06/2026</a:t>
            </a:fld>
            <a:endParaRPr lang="en-GB"/>
          </a:p>
        </p:txBody>
      </p:sp>
      <p:sp>
        <p:nvSpPr>
          <p:cNvPr id="18476489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417206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2795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1016458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896491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D65654-1D4B-4B33-B8CE-F5581D9C13AC}" type="datetime1">
              <a:rPr lang="en-GB"/>
              <a:t>02/06/2026</a:t>
            </a:fld>
            <a:endParaRPr lang="en-GB"/>
          </a:p>
        </p:txBody>
      </p:sp>
      <p:sp>
        <p:nvSpPr>
          <p:cNvPr id="7828669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892370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26090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3222687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075735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0B3557C-D1F8-4213-9381-806C9A51FC91}" type="datetime1">
              <a:rPr lang="en-GB"/>
              <a:t>02/06/2026</a:t>
            </a:fld>
            <a:endParaRPr lang="en-GB"/>
          </a:p>
        </p:txBody>
      </p:sp>
      <p:sp>
        <p:nvSpPr>
          <p:cNvPr id="18881299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300693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11749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0942177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6393884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13461010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311688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8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513482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87128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11637567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031576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22973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951057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07932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10677854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824865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4229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4598529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5214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36015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2449644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909222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29824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127888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89919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2326590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704931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9280312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150582078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1553023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946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1538113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170013299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2543204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12974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109780227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7197734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75013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6157056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297872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61207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3405545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230215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67221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9577495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20248363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8522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15176048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289846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5134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7893993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591842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5189753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551077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11922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1174507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347730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2894150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984564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37756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779024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843410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29E2CA-F4BC-40A0-B78C-A9A7478F92E3}" type="datetime1">
              <a:rPr lang="en-GB"/>
              <a:t>02/06/2026</a:t>
            </a:fld>
            <a:endParaRPr lang="en-GB"/>
          </a:p>
        </p:txBody>
      </p:sp>
      <p:sp>
        <p:nvSpPr>
          <p:cNvPr id="14519108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915402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76354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309631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12709099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33AF1EE-65BA-4140-B6B9-7F82C437F84A}" type="datetimeFigureOut">
              <a:rPr lang="en-GB"/>
              <a:t>02/06/2026</a:t>
            </a:fld>
            <a:endParaRPr lang="en-GB"/>
          </a:p>
        </p:txBody>
      </p:sp>
      <p:sp>
        <p:nvSpPr>
          <p:cNvPr id="31307709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4797421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5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11.sv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svg"/><Relationship Id="rId11" Type="http://schemas.openxmlformats.org/officeDocument/2006/relationships/image" Target="../media/image13.wmf"/><Relationship Id="rId5" Type="http://schemas.openxmlformats.org/officeDocument/2006/relationships/image" Target="../media/image9.svg"/><Relationship Id="rId10" Type="http://schemas.openxmlformats.org/officeDocument/2006/relationships/oleObject" Target="../embeddings/oleObject4.bin"/><Relationship Id="rId4" Type="http://schemas.openxmlformats.org/officeDocument/2006/relationships/image" Target="../media/image6.wmf"/><Relationship Id="rId9" Type="http://schemas.openxmlformats.org/officeDocument/2006/relationships/image" Target="../media/image12.emf"/><Relationship Id="rId1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7.bin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0.png"/><Relationship Id="rId5" Type="http://schemas.openxmlformats.org/officeDocument/2006/relationships/image" Target="../media/image37.png"/><Relationship Id="rId4" Type="http://schemas.openxmlformats.org/officeDocument/2006/relationships/image" Target="../media/image36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44.wmf"/><Relationship Id="rId18" Type="http://schemas.openxmlformats.org/officeDocument/2006/relationships/oleObject" Target="../embeddings/oleObject16.bin"/><Relationship Id="rId26" Type="http://schemas.openxmlformats.org/officeDocument/2006/relationships/oleObject" Target="../embeddings/oleObject20.bin"/><Relationship Id="rId3" Type="http://schemas.openxmlformats.org/officeDocument/2006/relationships/image" Target="../media/image39.wmf"/><Relationship Id="rId21" Type="http://schemas.openxmlformats.org/officeDocument/2006/relationships/image" Target="../media/image48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46.wmf"/><Relationship Id="rId25" Type="http://schemas.openxmlformats.org/officeDocument/2006/relationships/image" Target="../media/image50.w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20" Type="http://schemas.openxmlformats.org/officeDocument/2006/relationships/oleObject" Target="../embeddings/oleObject17.bin"/><Relationship Id="rId29" Type="http://schemas.openxmlformats.org/officeDocument/2006/relationships/image" Target="../media/image52.wmf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43.wmf"/><Relationship Id="rId24" Type="http://schemas.openxmlformats.org/officeDocument/2006/relationships/oleObject" Target="../embeddings/oleObject19.bin"/><Relationship Id="rId5" Type="http://schemas.openxmlformats.org/officeDocument/2006/relationships/image" Target="../media/image40.wmf"/><Relationship Id="rId15" Type="http://schemas.openxmlformats.org/officeDocument/2006/relationships/image" Target="../media/image45.wmf"/><Relationship Id="rId23" Type="http://schemas.openxmlformats.org/officeDocument/2006/relationships/image" Target="../media/image49.wmf"/><Relationship Id="rId28" Type="http://schemas.openxmlformats.org/officeDocument/2006/relationships/oleObject" Target="../embeddings/oleObject21.bin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47.wmf"/><Relationship Id="rId31" Type="http://schemas.openxmlformats.org/officeDocument/2006/relationships/image" Target="../media/image53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14.bin"/><Relationship Id="rId22" Type="http://schemas.openxmlformats.org/officeDocument/2006/relationships/oleObject" Target="../embeddings/oleObject18.bin"/><Relationship Id="rId27" Type="http://schemas.openxmlformats.org/officeDocument/2006/relationships/image" Target="../media/image51.wmf"/><Relationship Id="rId30" Type="http://schemas.openxmlformats.org/officeDocument/2006/relationships/oleObject" Target="../embeddings/oleObject22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59.wmf"/><Relationship Id="rId3" Type="http://schemas.openxmlformats.org/officeDocument/2006/relationships/image" Target="../media/image54.svg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27.bin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5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61.png"/><Relationship Id="rId7" Type="http://schemas.openxmlformats.org/officeDocument/2006/relationships/image" Target="../media/image60.w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61.wmf"/><Relationship Id="rId5" Type="http://schemas.openxmlformats.org/officeDocument/2006/relationships/image" Target="../media/image59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6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4.sv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81.wmf"/><Relationship Id="rId7" Type="http://schemas.openxmlformats.org/officeDocument/2006/relationships/image" Target="../media/image83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84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9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36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image" Target="../media/image101.wmf"/><Relationship Id="rId7" Type="http://schemas.openxmlformats.org/officeDocument/2006/relationships/oleObject" Target="../embeddings/oleObject39.bin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5.png"/><Relationship Id="rId5" Type="http://schemas.openxmlformats.org/officeDocument/2006/relationships/image" Target="../media/image102.wmf"/><Relationship Id="rId10" Type="http://schemas.openxmlformats.org/officeDocument/2006/relationships/image" Target="../media/image104.wmf"/><Relationship Id="rId4" Type="http://schemas.openxmlformats.org/officeDocument/2006/relationships/oleObject" Target="../embeddings/oleObject38.bin"/><Relationship Id="rId9" Type="http://schemas.openxmlformats.org/officeDocument/2006/relationships/oleObject" Target="../embeddings/oleObject40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oleObject" Target="../embeddings/oleObject41.bin"/><Relationship Id="rId7" Type="http://schemas.openxmlformats.org/officeDocument/2006/relationships/image" Target="../media/image75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2.wmf"/><Relationship Id="rId11" Type="http://schemas.openxmlformats.org/officeDocument/2006/relationships/image" Target="../media/image108.wmf"/><Relationship Id="rId5" Type="http://schemas.openxmlformats.org/officeDocument/2006/relationships/oleObject" Target="../embeddings/oleObject42.bin"/><Relationship Id="rId10" Type="http://schemas.openxmlformats.org/officeDocument/2006/relationships/oleObject" Target="../embeddings/oleObject44.bin"/><Relationship Id="rId4" Type="http://schemas.openxmlformats.org/officeDocument/2006/relationships/image" Target="../media/image106.wmf"/><Relationship Id="rId9" Type="http://schemas.openxmlformats.org/officeDocument/2006/relationships/image" Target="../media/image107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oleObject" Target="../embeddings/oleObject49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112.wmf"/><Relationship Id="rId2" Type="http://schemas.openxmlformats.org/officeDocument/2006/relationships/image" Target="../media/image109.png"/><Relationship Id="rId16" Type="http://schemas.openxmlformats.org/officeDocument/2006/relationships/image" Target="../media/image108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111.wmf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113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oleObject" Target="../embeddings/oleObject50.bin"/><Relationship Id="rId7" Type="http://schemas.openxmlformats.org/officeDocument/2006/relationships/image" Target="../media/image12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118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53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5.bin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125.wmf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56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7.png"/><Relationship Id="rId7" Type="http://schemas.openxmlformats.org/officeDocument/2006/relationships/image" Target="../media/image129.wmf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128.wmf"/><Relationship Id="rId4" Type="http://schemas.openxmlformats.org/officeDocument/2006/relationships/oleObject" Target="../embeddings/oleObject57.bin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513906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Statistics</a:t>
            </a:r>
            <a:br>
              <a:rPr lang="en-US"/>
            </a:br>
            <a:r>
              <a:rPr lang="en-US"/>
              <a:t>367-1-4361</a:t>
            </a:r>
            <a:br>
              <a:rPr lang="en-US"/>
            </a:br>
            <a:r>
              <a:rPr lang="en-US"/>
              <a:t>Linear Models</a:t>
            </a:r>
            <a:endParaRPr lang="en-GB"/>
          </a:p>
        </p:txBody>
      </p:sp>
      <p:sp>
        <p:nvSpPr>
          <p:cNvPr id="418982020" name="Subtitle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5400"/>
              <a:t>Opher Donchin</a:t>
            </a:r>
            <a:endParaRPr lang="en-GB" sz="5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862"/>
    </mc:Choice>
    <mc:Fallback xmlns="" xmlns:m="http://schemas.openxmlformats.org/officeDocument/2006/math" xmlns:w="http://schemas.openxmlformats.org/wordprocessingml/2006/main">
      <p:transition advClick="1" advTm="88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Source Sans Pro"/>
                <a:ea typeface="Source Sans Pro"/>
              </a:rPr>
              <a:t>8.1 Bivariate data</a:t>
            </a:r>
            <a:endParaRPr>
              <a:latin typeface="Source Sans Pro"/>
              <a:ea typeface="Source Sans Pro"/>
            </a:endParaRPr>
          </a:p>
        </p:txBody>
      </p:sp>
      <p:sp>
        <p:nvSpPr>
          <p:cNvPr id="576670250" name="Text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Examples of how two variables can be related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66388" name="Rectangle 1"/>
          <p:cNvSpPr/>
          <p:nvPr/>
        </p:nvSpPr>
        <p:spPr bwMode="auto"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7486611" name="TextBox 2"/>
          <p:cNvSpPr txBox="1"/>
          <p:nvPr/>
        </p:nvSpPr>
        <p:spPr bwMode="auto">
          <a:xfrm>
            <a:off x="594374" y="320040"/>
            <a:ext cx="6675287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1E293B"/>
                </a:solidFill>
                <a:latin typeface="Aptos"/>
              </a:rPr>
              <a:t>What we've learned so far</a:t>
            </a:r>
            <a:endParaRPr/>
          </a:p>
        </p:txBody>
      </p:sp>
      <p:sp>
        <p:nvSpPr>
          <p:cNvPr id="777318635" name="TextBox 3"/>
          <p:cNvSpPr txBox="1"/>
          <p:nvPr/>
        </p:nvSpPr>
        <p:spPr bwMode="auto">
          <a:xfrm>
            <a:off x="621807" y="859536"/>
            <a:ext cx="6583844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64748B"/>
                </a:solidFill>
                <a:latin typeface="Aptos"/>
              </a:rPr>
              <a:t>The course has built a chain of ideas, tools, and model families</a:t>
            </a:r>
            <a:endParaRPr/>
          </a:p>
        </p:txBody>
      </p:sp>
      <p:sp>
        <p:nvSpPr>
          <p:cNvPr id="656470831" name="Rounded Rectangle 4"/>
          <p:cNvSpPr/>
          <p:nvPr/>
        </p:nvSpPr>
        <p:spPr bwMode="auto">
          <a:xfrm>
            <a:off x="626379" y="1458468"/>
            <a:ext cx="3090749" cy="489203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3112840" name="Rounded Rectangle 5"/>
          <p:cNvSpPr/>
          <p:nvPr/>
        </p:nvSpPr>
        <p:spPr bwMode="auto">
          <a:xfrm>
            <a:off x="594374" y="1417319"/>
            <a:ext cx="3090749" cy="48920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6456020" name="Rounded Rectangle 6"/>
          <p:cNvSpPr/>
          <p:nvPr/>
        </p:nvSpPr>
        <p:spPr bwMode="auto">
          <a:xfrm>
            <a:off x="704105" y="1527048"/>
            <a:ext cx="2871287" cy="530352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220292" name="Rounded Rectangle 7"/>
          <p:cNvSpPr/>
          <p:nvPr/>
        </p:nvSpPr>
        <p:spPr bwMode="auto">
          <a:xfrm>
            <a:off x="4073753" y="1458468"/>
            <a:ext cx="3090749" cy="489203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6517966" name="Rounded Rectangle 8"/>
          <p:cNvSpPr/>
          <p:nvPr/>
        </p:nvSpPr>
        <p:spPr bwMode="auto">
          <a:xfrm>
            <a:off x="4041749" y="1417319"/>
            <a:ext cx="3090749" cy="48920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0521572" name="Rounded Rectangle 9"/>
          <p:cNvSpPr/>
          <p:nvPr/>
        </p:nvSpPr>
        <p:spPr bwMode="auto">
          <a:xfrm>
            <a:off x="4151478" y="1527048"/>
            <a:ext cx="2871287" cy="530352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3889600" name="Rounded Rectangle 10"/>
          <p:cNvSpPr/>
          <p:nvPr/>
        </p:nvSpPr>
        <p:spPr bwMode="auto">
          <a:xfrm>
            <a:off x="7511983" y="1458468"/>
            <a:ext cx="4114902" cy="489203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8425980" name="Rounded Rectangle 11"/>
          <p:cNvSpPr/>
          <p:nvPr/>
        </p:nvSpPr>
        <p:spPr bwMode="auto">
          <a:xfrm>
            <a:off x="7479979" y="1417319"/>
            <a:ext cx="4114902" cy="48920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5419026" name="Rounded Rectangle 12"/>
          <p:cNvSpPr/>
          <p:nvPr/>
        </p:nvSpPr>
        <p:spPr bwMode="auto">
          <a:xfrm>
            <a:off x="7589709" y="1527048"/>
            <a:ext cx="3895440" cy="530352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0877975" name="TextBox 13"/>
          <p:cNvSpPr txBox="1"/>
          <p:nvPr/>
        </p:nvSpPr>
        <p:spPr bwMode="auto">
          <a:xfrm>
            <a:off x="850413" y="1664208"/>
            <a:ext cx="258781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700" b="1" i="0">
                <a:solidFill>
                  <a:srgbClr val="2563EB"/>
                </a:solidFill>
                <a:latin typeface="Aptos"/>
              </a:rPr>
              <a:t>Fundamental concepts</a:t>
            </a:r>
            <a:endParaRPr/>
          </a:p>
        </p:txBody>
      </p:sp>
      <p:sp>
        <p:nvSpPr>
          <p:cNvPr id="191058533" name="TextBox 14"/>
          <p:cNvSpPr txBox="1"/>
          <p:nvPr/>
        </p:nvSpPr>
        <p:spPr bwMode="auto">
          <a:xfrm>
            <a:off x="4297787" y="1664208"/>
            <a:ext cx="258781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700" b="1" i="0">
                <a:solidFill>
                  <a:srgbClr val="0D9488"/>
                </a:solidFill>
                <a:latin typeface="Aptos"/>
              </a:rPr>
              <a:t>Computational approach</a:t>
            </a:r>
            <a:endParaRPr/>
          </a:p>
        </p:txBody>
      </p:sp>
      <p:sp>
        <p:nvSpPr>
          <p:cNvPr id="1339168650" name="TextBox 15"/>
          <p:cNvSpPr txBox="1"/>
          <p:nvPr/>
        </p:nvSpPr>
        <p:spPr bwMode="auto">
          <a:xfrm>
            <a:off x="7736016" y="1664208"/>
            <a:ext cx="361197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6D28D9"/>
                </a:solidFill>
                <a:latin typeface="Aptos"/>
              </a:rPr>
              <a:t>Applications</a:t>
            </a:r>
            <a:endParaRPr/>
          </a:p>
        </p:txBody>
      </p:sp>
      <p:cxnSp>
        <p:nvCxnSpPr>
          <p:cNvPr id="665729868" name="Connector 16"/>
          <p:cNvCxnSpPr/>
          <p:nvPr/>
        </p:nvCxnSpPr>
        <p:spPr bwMode="auto">
          <a:xfrm>
            <a:off x="2139749" y="2944368"/>
            <a:ext cx="0" cy="347471"/>
          </a:xfrm>
          <a:prstGeom prst="line">
            <a:avLst/>
          </a:prstGeom>
          <a:ln w="215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074773" name="Connector 17"/>
          <p:cNvCxnSpPr/>
          <p:nvPr/>
        </p:nvCxnSpPr>
        <p:spPr bwMode="auto">
          <a:xfrm>
            <a:off x="2139749" y="3913632"/>
            <a:ext cx="0" cy="347471"/>
          </a:xfrm>
          <a:prstGeom prst="line">
            <a:avLst/>
          </a:prstGeom>
          <a:ln w="215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5799423" name="Connector 18"/>
          <p:cNvCxnSpPr/>
          <p:nvPr/>
        </p:nvCxnSpPr>
        <p:spPr bwMode="auto">
          <a:xfrm flipV="1">
            <a:off x="3305638" y="3118104"/>
            <a:ext cx="1024153" cy="1499616"/>
          </a:xfrm>
          <a:prstGeom prst="line">
            <a:avLst/>
          </a:prstGeom>
          <a:ln w="215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712426" name="Connector 19"/>
          <p:cNvCxnSpPr/>
          <p:nvPr/>
        </p:nvCxnSpPr>
        <p:spPr bwMode="auto">
          <a:xfrm>
            <a:off x="5587123" y="3401568"/>
            <a:ext cx="0" cy="740664"/>
          </a:xfrm>
          <a:prstGeom prst="line">
            <a:avLst/>
          </a:prstGeom>
          <a:ln w="215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4609320" name="Connector 20"/>
          <p:cNvCxnSpPr/>
          <p:nvPr/>
        </p:nvCxnSpPr>
        <p:spPr bwMode="auto">
          <a:xfrm flipV="1">
            <a:off x="6753012" y="2569463"/>
            <a:ext cx="1129312" cy="1920240"/>
          </a:xfrm>
          <a:prstGeom prst="line">
            <a:avLst/>
          </a:prstGeom>
          <a:ln w="215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5173775" name="Rounded Rectangle 21"/>
          <p:cNvSpPr/>
          <p:nvPr/>
        </p:nvSpPr>
        <p:spPr bwMode="auto">
          <a:xfrm>
            <a:off x="1005864" y="2418588"/>
            <a:ext cx="2331778" cy="56692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1522135" name="Rounded Rectangle 22"/>
          <p:cNvSpPr/>
          <p:nvPr/>
        </p:nvSpPr>
        <p:spPr bwMode="auto">
          <a:xfrm>
            <a:off x="973859" y="2377440"/>
            <a:ext cx="2331778" cy="56692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/>
            </a:pPr>
            <a:r>
              <a:rPr sz="1600" b="1">
                <a:solidFill>
                  <a:srgbClr val="1E293B"/>
                </a:solidFill>
                <a:latin typeface="Aptos"/>
              </a:rPr>
              <a:t>Data and models</a:t>
            </a:r>
            <a:endParaRPr/>
          </a:p>
        </p:txBody>
      </p:sp>
      <p:sp>
        <p:nvSpPr>
          <p:cNvPr id="541650452" name="Oval 23"/>
          <p:cNvSpPr/>
          <p:nvPr/>
        </p:nvSpPr>
        <p:spPr bwMode="auto">
          <a:xfrm>
            <a:off x="864129" y="2523744"/>
            <a:ext cx="256038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  <a:endParaRPr/>
          </a:p>
        </p:txBody>
      </p:sp>
      <p:sp>
        <p:nvSpPr>
          <p:cNvPr id="716157687" name="Rounded Rectangle 24"/>
          <p:cNvSpPr/>
          <p:nvPr/>
        </p:nvSpPr>
        <p:spPr bwMode="auto">
          <a:xfrm>
            <a:off x="1005864" y="3396996"/>
            <a:ext cx="2331778" cy="56692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2102529" name="Rounded Rectangle 25"/>
          <p:cNvSpPr/>
          <p:nvPr/>
        </p:nvSpPr>
        <p:spPr bwMode="auto">
          <a:xfrm>
            <a:off x="973859" y="3346704"/>
            <a:ext cx="2331778" cy="56692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/>
            </a:pPr>
            <a:r>
              <a:rPr sz="1600" b="0">
                <a:solidFill>
                  <a:srgbClr val="1E293B"/>
                </a:solidFill>
                <a:latin typeface="Aptos"/>
              </a:rPr>
              <a:t>Bayes law</a:t>
            </a:r>
            <a:endParaRPr/>
          </a:p>
        </p:txBody>
      </p:sp>
      <p:sp>
        <p:nvSpPr>
          <p:cNvPr id="470357706" name="Oval 26"/>
          <p:cNvSpPr/>
          <p:nvPr/>
        </p:nvSpPr>
        <p:spPr bwMode="auto">
          <a:xfrm>
            <a:off x="864129" y="3502152"/>
            <a:ext cx="256038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50" b="1">
                <a:solidFill>
                  <a:srgbClr val="FFFFFF"/>
                </a:solidFill>
                <a:latin typeface="Aptos"/>
              </a:rPr>
              <a:t>2</a:t>
            </a:r>
            <a:endParaRPr/>
          </a:p>
        </p:txBody>
      </p:sp>
      <p:sp>
        <p:nvSpPr>
          <p:cNvPr id="29351524" name="Rounded Rectangle 27"/>
          <p:cNvSpPr/>
          <p:nvPr/>
        </p:nvSpPr>
        <p:spPr bwMode="auto">
          <a:xfrm>
            <a:off x="1005864" y="4375404"/>
            <a:ext cx="2331778" cy="56692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6694644" name="Rounded Rectangle 28"/>
          <p:cNvSpPr/>
          <p:nvPr/>
        </p:nvSpPr>
        <p:spPr bwMode="auto">
          <a:xfrm>
            <a:off x="973859" y="4334256"/>
            <a:ext cx="2331778" cy="56692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/>
            </a:pPr>
            <a:r>
              <a:rPr sz="1600" b="0">
                <a:solidFill>
                  <a:srgbClr val="1E293B"/>
                </a:solidFill>
                <a:latin typeface="Aptos"/>
              </a:rPr>
              <a:t>Posterior</a:t>
            </a:r>
            <a:endParaRPr/>
          </a:p>
        </p:txBody>
      </p:sp>
      <p:sp>
        <p:nvSpPr>
          <p:cNvPr id="1374600569" name="Oval 29"/>
          <p:cNvSpPr/>
          <p:nvPr/>
        </p:nvSpPr>
        <p:spPr bwMode="auto">
          <a:xfrm>
            <a:off x="864129" y="4480560"/>
            <a:ext cx="256038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50" b="1">
                <a:solidFill>
                  <a:srgbClr val="FFFFFF"/>
                </a:solidFill>
                <a:latin typeface="Aptos"/>
              </a:rPr>
              <a:t>3</a:t>
            </a:r>
            <a:endParaRPr/>
          </a:p>
        </p:txBody>
      </p:sp>
      <p:sp>
        <p:nvSpPr>
          <p:cNvPr id="1451520696" name="TextBox 30"/>
          <p:cNvSpPr txBox="1"/>
          <p:nvPr/>
        </p:nvSpPr>
        <p:spPr bwMode="auto">
          <a:xfrm>
            <a:off x="923567" y="5623560"/>
            <a:ext cx="2432363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Aptos"/>
              </a:rPr>
              <a:t>What uncertainty means</a:t>
            </a:r>
            <a:br>
              <a:rPr sz="1050" b="0" i="0">
                <a:solidFill>
                  <a:srgbClr val="64748B"/>
                </a:solidFill>
                <a:latin typeface="Aptos"/>
              </a:rPr>
            </a:br>
            <a:r>
              <a:rPr sz="1050" b="0" i="0">
                <a:solidFill>
                  <a:srgbClr val="64748B"/>
                </a:solidFill>
                <a:latin typeface="Aptos"/>
              </a:rPr>
              <a:t>and how evidence updates models</a:t>
            </a:r>
            <a:endParaRPr/>
          </a:p>
        </p:txBody>
      </p:sp>
      <p:sp>
        <p:nvSpPr>
          <p:cNvPr id="1897636988" name="Rounded Rectangle 31"/>
          <p:cNvSpPr/>
          <p:nvPr/>
        </p:nvSpPr>
        <p:spPr bwMode="auto">
          <a:xfrm>
            <a:off x="4453239" y="2875788"/>
            <a:ext cx="2331778" cy="56692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2954061" name="Rounded Rectangle 32"/>
          <p:cNvSpPr/>
          <p:nvPr/>
        </p:nvSpPr>
        <p:spPr bwMode="auto">
          <a:xfrm>
            <a:off x="4421234" y="2834639"/>
            <a:ext cx="2331778" cy="566928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/>
            </a:pPr>
            <a:r>
              <a:rPr sz="1600" b="1">
                <a:solidFill>
                  <a:srgbClr val="1E293B"/>
                </a:solidFill>
                <a:latin typeface="Aptos"/>
              </a:rPr>
              <a:t>Sampling</a:t>
            </a:r>
            <a:endParaRPr/>
          </a:p>
        </p:txBody>
      </p:sp>
      <p:sp>
        <p:nvSpPr>
          <p:cNvPr id="76831689" name="Oval 33"/>
          <p:cNvSpPr/>
          <p:nvPr/>
        </p:nvSpPr>
        <p:spPr bwMode="auto">
          <a:xfrm>
            <a:off x="4311503" y="2980944"/>
            <a:ext cx="256038" cy="2560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50" b="1">
                <a:solidFill>
                  <a:srgbClr val="FFFFFF"/>
                </a:solidFill>
                <a:latin typeface="Aptos"/>
              </a:rPr>
              <a:t>4</a:t>
            </a:r>
            <a:endParaRPr/>
          </a:p>
        </p:txBody>
      </p:sp>
      <p:sp>
        <p:nvSpPr>
          <p:cNvPr id="1623280667" name="Rounded Rectangle 34"/>
          <p:cNvSpPr/>
          <p:nvPr/>
        </p:nvSpPr>
        <p:spPr bwMode="auto">
          <a:xfrm>
            <a:off x="4453239" y="4247388"/>
            <a:ext cx="2331778" cy="56692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4113827" name="Rounded Rectangle 35"/>
          <p:cNvSpPr/>
          <p:nvPr/>
        </p:nvSpPr>
        <p:spPr bwMode="auto">
          <a:xfrm>
            <a:off x="4421234" y="4206240"/>
            <a:ext cx="2331778" cy="566928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/>
            </a:pPr>
            <a:r>
              <a:rPr sz="1600" b="0">
                <a:solidFill>
                  <a:srgbClr val="1E293B"/>
                </a:solidFill>
                <a:latin typeface="Aptos"/>
              </a:rPr>
              <a:t>Workflow</a:t>
            </a:r>
            <a:endParaRPr/>
          </a:p>
        </p:txBody>
      </p:sp>
      <p:sp>
        <p:nvSpPr>
          <p:cNvPr id="2010084982" name="Oval 36"/>
          <p:cNvSpPr/>
          <p:nvPr/>
        </p:nvSpPr>
        <p:spPr bwMode="auto">
          <a:xfrm>
            <a:off x="4311503" y="4352544"/>
            <a:ext cx="256038" cy="2560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50" b="1">
                <a:solidFill>
                  <a:srgbClr val="FFFFFF"/>
                </a:solidFill>
                <a:latin typeface="Aptos"/>
              </a:rPr>
              <a:t>5</a:t>
            </a:r>
            <a:endParaRPr/>
          </a:p>
        </p:txBody>
      </p:sp>
      <p:sp>
        <p:nvSpPr>
          <p:cNvPr id="924508476" name="TextBox 37"/>
          <p:cNvSpPr txBox="1"/>
          <p:nvPr/>
        </p:nvSpPr>
        <p:spPr bwMode="auto">
          <a:xfrm>
            <a:off x="4370941" y="5623560"/>
            <a:ext cx="2432363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Aptos"/>
              </a:rPr>
              <a:t>How we compute posteriors</a:t>
            </a:r>
            <a:br>
              <a:rPr sz="1050" b="0" i="0">
                <a:solidFill>
                  <a:srgbClr val="64748B"/>
                </a:solidFill>
                <a:latin typeface="Aptos"/>
              </a:rPr>
            </a:br>
            <a:r>
              <a:rPr sz="1050" b="0" i="0">
                <a:solidFill>
                  <a:srgbClr val="64748B"/>
                </a:solidFill>
                <a:latin typeface="Aptos"/>
              </a:rPr>
              <a:t>and check whether we should trust them</a:t>
            </a:r>
            <a:endParaRPr/>
          </a:p>
        </p:txBody>
      </p:sp>
      <p:sp>
        <p:nvSpPr>
          <p:cNvPr id="1476563377" name="Rounded Rectangle 38"/>
          <p:cNvSpPr/>
          <p:nvPr/>
        </p:nvSpPr>
        <p:spPr bwMode="auto">
          <a:xfrm>
            <a:off x="8042349" y="2327148"/>
            <a:ext cx="2971874" cy="56692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6830357" name="Rounded Rectangle 39"/>
          <p:cNvSpPr/>
          <p:nvPr/>
        </p:nvSpPr>
        <p:spPr bwMode="auto">
          <a:xfrm>
            <a:off x="8010344" y="2286000"/>
            <a:ext cx="2971874" cy="56692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/>
            </a:pPr>
            <a:r>
              <a:rPr sz="1550" b="0">
                <a:solidFill>
                  <a:srgbClr val="1E293B"/>
                </a:solidFill>
                <a:latin typeface="Aptos"/>
              </a:rPr>
              <a:t>Binomial models</a:t>
            </a:r>
            <a:endParaRPr/>
          </a:p>
          <a:p>
            <a:pPr algn="ctr">
              <a:defRPr/>
            </a:pPr>
            <a:r>
              <a:rPr sz="1050">
                <a:solidFill>
                  <a:srgbClr val="1E293B"/>
                </a:solidFill>
                <a:latin typeface="Aptos"/>
              </a:rPr>
              <a:t>probabilities</a:t>
            </a:r>
            <a:endParaRPr/>
          </a:p>
        </p:txBody>
      </p:sp>
      <p:sp>
        <p:nvSpPr>
          <p:cNvPr id="517375823" name="Oval 40"/>
          <p:cNvSpPr/>
          <p:nvPr/>
        </p:nvSpPr>
        <p:spPr bwMode="auto">
          <a:xfrm>
            <a:off x="7900613" y="2432302"/>
            <a:ext cx="256038" cy="25603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50" b="1">
                <a:solidFill>
                  <a:srgbClr val="FFFFFF"/>
                </a:solidFill>
                <a:latin typeface="Aptos"/>
              </a:rPr>
              <a:t>6</a:t>
            </a:r>
            <a:endParaRPr/>
          </a:p>
        </p:txBody>
      </p:sp>
      <p:sp>
        <p:nvSpPr>
          <p:cNvPr id="1232317377" name="Rounded Rectangle 41"/>
          <p:cNvSpPr/>
          <p:nvPr/>
        </p:nvSpPr>
        <p:spPr bwMode="auto">
          <a:xfrm>
            <a:off x="8042349" y="3140964"/>
            <a:ext cx="2971874" cy="56692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8906798" name="Rounded Rectangle 42"/>
          <p:cNvSpPr/>
          <p:nvPr/>
        </p:nvSpPr>
        <p:spPr bwMode="auto">
          <a:xfrm>
            <a:off x="8010344" y="3099816"/>
            <a:ext cx="2971874" cy="56692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/>
            </a:pPr>
            <a:r>
              <a:rPr sz="1550" b="0">
                <a:solidFill>
                  <a:srgbClr val="1E293B"/>
                </a:solidFill>
                <a:latin typeface="Aptos"/>
              </a:rPr>
              <a:t>Hierarchical models</a:t>
            </a:r>
            <a:endParaRPr/>
          </a:p>
          <a:p>
            <a:pPr algn="ctr">
              <a:defRPr/>
            </a:pPr>
            <a:r>
              <a:rPr sz="1050">
                <a:solidFill>
                  <a:srgbClr val="1E293B"/>
                </a:solidFill>
                <a:latin typeface="Aptos"/>
              </a:rPr>
              <a:t>structured data</a:t>
            </a:r>
            <a:endParaRPr/>
          </a:p>
        </p:txBody>
      </p:sp>
      <p:sp>
        <p:nvSpPr>
          <p:cNvPr id="1790400753" name="Oval 43"/>
          <p:cNvSpPr/>
          <p:nvPr/>
        </p:nvSpPr>
        <p:spPr bwMode="auto">
          <a:xfrm>
            <a:off x="7900613" y="3246120"/>
            <a:ext cx="256038" cy="25603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50" b="1">
                <a:solidFill>
                  <a:srgbClr val="FFFFFF"/>
                </a:solidFill>
                <a:latin typeface="Aptos"/>
              </a:rPr>
              <a:t>7</a:t>
            </a:r>
            <a:endParaRPr/>
          </a:p>
        </p:txBody>
      </p:sp>
      <p:sp>
        <p:nvSpPr>
          <p:cNvPr id="1010892945" name="Rounded Rectangle 44"/>
          <p:cNvSpPr/>
          <p:nvPr/>
        </p:nvSpPr>
        <p:spPr bwMode="auto">
          <a:xfrm>
            <a:off x="8042349" y="3954780"/>
            <a:ext cx="2971874" cy="56692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574278" name="Rounded Rectangle 45"/>
          <p:cNvSpPr/>
          <p:nvPr/>
        </p:nvSpPr>
        <p:spPr bwMode="auto">
          <a:xfrm>
            <a:off x="8010344" y="3913632"/>
            <a:ext cx="2971874" cy="56692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/>
            </a:pPr>
            <a:r>
              <a:rPr sz="1550" b="0">
                <a:solidFill>
                  <a:srgbClr val="1E293B"/>
                </a:solidFill>
                <a:latin typeface="Aptos"/>
              </a:rPr>
              <a:t>Normal models</a:t>
            </a:r>
            <a:endParaRPr/>
          </a:p>
          <a:p>
            <a:pPr algn="ctr">
              <a:defRPr/>
            </a:pPr>
            <a:r>
              <a:rPr sz="1050">
                <a:solidFill>
                  <a:srgbClr val="1E293B"/>
                </a:solidFill>
                <a:latin typeface="Aptos"/>
              </a:rPr>
              <a:t>continuous data</a:t>
            </a:r>
            <a:endParaRPr/>
          </a:p>
        </p:txBody>
      </p:sp>
      <p:sp>
        <p:nvSpPr>
          <p:cNvPr id="1359583468" name="Oval 46"/>
          <p:cNvSpPr/>
          <p:nvPr/>
        </p:nvSpPr>
        <p:spPr bwMode="auto">
          <a:xfrm>
            <a:off x="7900613" y="4059936"/>
            <a:ext cx="256038" cy="25603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50" b="1">
                <a:solidFill>
                  <a:srgbClr val="FFFFFF"/>
                </a:solidFill>
                <a:latin typeface="Aptos"/>
              </a:rPr>
              <a:t>8</a:t>
            </a:r>
            <a:endParaRPr/>
          </a:p>
        </p:txBody>
      </p:sp>
      <p:sp>
        <p:nvSpPr>
          <p:cNvPr id="589306063" name="Rounded Rectangle 47"/>
          <p:cNvSpPr/>
          <p:nvPr/>
        </p:nvSpPr>
        <p:spPr bwMode="auto">
          <a:xfrm>
            <a:off x="8042349" y="4768596"/>
            <a:ext cx="2971874" cy="566928"/>
          </a:xfrm>
          <a:prstGeom prst="roundRect">
            <a:avLst>
              <a:gd name="adj" fmla="val 16667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3180783" name="Rounded Rectangle 48"/>
          <p:cNvSpPr/>
          <p:nvPr/>
        </p:nvSpPr>
        <p:spPr bwMode="auto">
          <a:xfrm>
            <a:off x="8010344" y="4727448"/>
            <a:ext cx="2971874" cy="566928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/>
            </a:pPr>
            <a:r>
              <a:rPr sz="1550" b="1">
                <a:solidFill>
                  <a:srgbClr val="EA580C"/>
                </a:solidFill>
                <a:latin typeface="Aptos"/>
              </a:rPr>
              <a:t>Regression models</a:t>
            </a:r>
            <a:endParaRPr/>
          </a:p>
          <a:p>
            <a:pPr algn="ctr">
              <a:defRPr/>
            </a:pPr>
            <a:r>
              <a:rPr sz="1050">
                <a:solidFill>
                  <a:srgbClr val="EA580C"/>
                </a:solidFill>
                <a:latin typeface="Aptos"/>
              </a:rPr>
              <a:t>multivariate data</a:t>
            </a:r>
            <a:endParaRPr/>
          </a:p>
        </p:txBody>
      </p:sp>
      <p:sp>
        <p:nvSpPr>
          <p:cNvPr id="829877732" name="Oval 49"/>
          <p:cNvSpPr/>
          <p:nvPr/>
        </p:nvSpPr>
        <p:spPr bwMode="auto">
          <a:xfrm>
            <a:off x="7900613" y="4873752"/>
            <a:ext cx="256038" cy="25603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sz="850" b="1">
                <a:solidFill>
                  <a:srgbClr val="FFFFFF"/>
                </a:solidFill>
                <a:latin typeface="Aptos"/>
              </a:rPr>
              <a:t>9</a:t>
            </a:r>
            <a:endParaRPr/>
          </a:p>
        </p:txBody>
      </p:sp>
      <p:sp>
        <p:nvSpPr>
          <p:cNvPr id="2121286288" name="TextBox 50"/>
          <p:cNvSpPr txBox="1"/>
          <p:nvPr/>
        </p:nvSpPr>
        <p:spPr bwMode="auto">
          <a:xfrm>
            <a:off x="10323834" y="4846320"/>
            <a:ext cx="457211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900" b="1" i="0">
                <a:solidFill>
                  <a:srgbClr val="EA580C"/>
                </a:solidFill>
                <a:latin typeface="Aptos"/>
              </a:rPr>
              <a:t>Today</a:t>
            </a:r>
            <a:endParaRPr/>
          </a:p>
        </p:txBody>
      </p:sp>
      <p:sp>
        <p:nvSpPr>
          <p:cNvPr id="1584868206" name="TextBox 51"/>
          <p:cNvSpPr txBox="1"/>
          <p:nvPr/>
        </p:nvSpPr>
        <p:spPr bwMode="auto">
          <a:xfrm>
            <a:off x="7809171" y="5623560"/>
            <a:ext cx="345651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Aptos"/>
              </a:rPr>
              <a:t>Different data structures; same Bayesian logic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55171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17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52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5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15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10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3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7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5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69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60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79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2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51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5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5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71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63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5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28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11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08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0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60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88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2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41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1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56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83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37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86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1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0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40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89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7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58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30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18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7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28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20292" grpId="0" animBg="1"/>
      <p:bldP spid="676517966" grpId="0" animBg="1"/>
      <p:bldP spid="2100521572" grpId="0" animBg="1"/>
      <p:bldP spid="1023889600" grpId="0" animBg="1"/>
      <p:bldP spid="288425980" grpId="0" animBg="1"/>
      <p:bldP spid="2045419026" grpId="0" animBg="1"/>
      <p:bldP spid="191058533" grpId="0"/>
      <p:bldP spid="1339168650" grpId="0"/>
      <p:bldP spid="1645173775" grpId="0" animBg="1"/>
      <p:bldP spid="971522135" grpId="0" animBg="1"/>
      <p:bldP spid="541650452" grpId="0" animBg="1"/>
      <p:bldP spid="716157687" grpId="0" animBg="1"/>
      <p:bldP spid="2102102529" grpId="0" animBg="1"/>
      <p:bldP spid="470357706" grpId="0" animBg="1"/>
      <p:bldP spid="29351524" grpId="0" animBg="1"/>
      <p:bldP spid="1156694644" grpId="0" animBg="1"/>
      <p:bldP spid="1374600569" grpId="0" animBg="1"/>
      <p:bldP spid="1897636988" grpId="0" animBg="1"/>
      <p:bldP spid="442954061" grpId="0" animBg="1"/>
      <p:bldP spid="76831689" grpId="0" animBg="1"/>
      <p:bldP spid="1623280667" grpId="0" animBg="1"/>
      <p:bldP spid="354113827" grpId="0" animBg="1"/>
      <p:bldP spid="2010084982" grpId="0" animBg="1"/>
      <p:bldP spid="924508476" grpId="0"/>
      <p:bldP spid="1476563377" grpId="0" animBg="1"/>
      <p:bldP spid="1906830357" grpId="0" animBg="1"/>
      <p:bldP spid="517375823" grpId="0" animBg="1"/>
      <p:bldP spid="1232317377" grpId="0" animBg="1"/>
      <p:bldP spid="848906798" grpId="0" animBg="1"/>
      <p:bldP spid="1790400753" grpId="0" animBg="1"/>
      <p:bldP spid="1010892945" grpId="0" animBg="1"/>
      <p:bldP spid="124574278" grpId="0" animBg="1"/>
      <p:bldP spid="1359583468" grpId="0" animBg="1"/>
      <p:bldP spid="589306063" grpId="0" animBg="1"/>
      <p:bldP spid="1173180783" grpId="0" animBg="1"/>
      <p:bldP spid="829877732" grpId="0" animBg="1"/>
      <p:bldP spid="2121286288" grpId="0"/>
      <p:bldP spid="15848682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655248" name="Title 1"/>
          <p:cNvSpPr>
            <a:spLocks noGrp="1"/>
          </p:cNvSpPr>
          <p:nvPr>
            <p:ph type="title"/>
          </p:nvPr>
        </p:nvSpPr>
        <p:spPr bwMode="auto">
          <a:xfrm>
            <a:off x="209736" y="365124"/>
            <a:ext cx="11939670" cy="1325562"/>
          </a:xfrm>
        </p:spPr>
        <p:txBody>
          <a:bodyPr/>
          <a:lstStyle/>
          <a:p>
            <a:pPr>
              <a:defRPr/>
            </a:pPr>
            <a:r>
              <a:rPr lang="en-US" sz="3200"/>
              <a:t>Todays models relate age, brain volume, and cognitive function</a:t>
            </a:r>
            <a:endParaRPr sz="3200"/>
          </a:p>
        </p:txBody>
      </p:sp>
      <p:sp>
        <p:nvSpPr>
          <p:cNvPr id="19500973" name="Content Placeholder 2"/>
          <p:cNvSpPr>
            <a:spLocks noGrp="1"/>
          </p:cNvSpPr>
          <p:nvPr>
            <p:ph idx="1"/>
          </p:nvPr>
        </p:nvSpPr>
        <p:spPr bwMode="auto">
          <a:xfrm>
            <a:off x="360278" y="1510716"/>
            <a:ext cx="5246957" cy="159744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12000"/>
          </a:bodyPr>
          <a:lstStyle/>
          <a:p>
            <a:pPr lvl="0">
              <a:defRPr/>
            </a:pPr>
            <a:r>
              <a:t>Characterize</a:t>
            </a:r>
          </a:p>
          <a:p>
            <a:pPr lvl="0">
              <a:defRPr/>
            </a:pPr>
            <a:r>
              <a:t>Estimate parameters</a:t>
            </a:r>
          </a:p>
          <a:p>
            <a:pPr lvl="1">
              <a:defRPr/>
            </a:pPr>
            <a:r>
              <a:t>Assess effect sizes</a:t>
            </a:r>
          </a:p>
          <a:p>
            <a:pPr lvl="0">
              <a:defRPr/>
            </a:pPr>
            <a:r>
              <a:t>Make inferences</a:t>
            </a:r>
          </a:p>
        </p:txBody>
      </p:sp>
      <p:sp>
        <p:nvSpPr>
          <p:cNvPr id="37771490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16C311-76E6-4493-A800-03F6BFB61D22}" type="slidenum">
              <a:rPr lang="he-IL"/>
              <a:t>4</a:t>
            </a:fld>
            <a:r>
              <a:rPr lang="en-CA"/>
              <a:t>/76</a:t>
            </a:r>
            <a:endParaRPr lang="en-US"/>
          </a:p>
        </p:txBody>
      </p:sp>
      <p:pic>
        <p:nvPicPr>
          <p:cNvPr id="1100850101" name="Picture 1100850100"/>
          <p:cNvPicPr>
            <a:picLocks noChangeAspect="1"/>
          </p:cNvPicPr>
          <p:nvPr/>
        </p:nvPicPr>
        <p:blipFill rotWithShape="1">
          <a:blip r:embed="rId3"/>
          <a:srcRect l="1416" t="7284" b="4995"/>
          <a:stretch/>
        </p:blipFill>
        <p:spPr bwMode="auto">
          <a:xfrm>
            <a:off x="6599655" y="1462170"/>
            <a:ext cx="5248848" cy="1892860"/>
          </a:xfrm>
          <a:prstGeom prst="rect">
            <a:avLst/>
          </a:prstGeom>
        </p:spPr>
      </p:pic>
      <p:pic>
        <p:nvPicPr>
          <p:cNvPr id="1178989181" name="Picture 117898918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60278" y="3546124"/>
            <a:ext cx="10901468" cy="3175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0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0973">
                                            <p:txEl>
                                              <p:charRg st="6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0973">
                                            <p:txEl>
                                              <p:charRg st="6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0973">
                                            <p:txEl>
                                              <p:charRg st="6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248C4-4504-D9C0-3803-E2366C30CB6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0FAF9DA0-AF7E-4CBD-C09A-C3AD2F0F3311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8.2 The bivariate model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0FD9075D-C4EA-0B94-EC4C-B667F50C16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Independent variables, dependent variables, linear model, shared variance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287704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2173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Generalizing the two group normal model</a:t>
            </a:r>
          </a:p>
        </p:txBody>
      </p:sp>
      <p:sp>
        <p:nvSpPr>
          <p:cNvPr id="974872959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547461"/>
            <a:ext cx="10515600" cy="73685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12000"/>
          </a:bodyPr>
          <a:lstStyle/>
          <a:p>
            <a:pPr>
              <a:defRPr/>
            </a:pPr>
            <a:r>
              <a:t>In two group model</a:t>
            </a:r>
          </a:p>
          <a:p>
            <a:pPr lvl="1">
              <a:defRPr/>
            </a:pPr>
            <a:r>
              <a:t>Each data point had one of two means</a:t>
            </a:r>
          </a:p>
        </p:txBody>
      </p:sp>
      <p:pic>
        <p:nvPicPr>
          <p:cNvPr id="220853332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3080" y="3382607"/>
            <a:ext cx="4804221" cy="3317682"/>
          </a:xfrm>
          <a:prstGeom prst="rect">
            <a:avLst/>
          </a:prstGeom>
        </p:spPr>
      </p:pic>
      <p:cxnSp>
        <p:nvCxnSpPr>
          <p:cNvPr id="222532444" name="Line 1578410960"/>
          <p:cNvCxnSpPr>
            <a:endCxn id="5180797" idx="1"/>
          </p:cNvCxnSpPr>
          <p:nvPr/>
        </p:nvCxnSpPr>
        <p:spPr bwMode="auto">
          <a:xfrm flipV="1">
            <a:off x="4982522" y="5091190"/>
            <a:ext cx="192424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7746069" name="TextBox 1487746068"/>
          <p:cNvSpPr txBox="1"/>
          <p:nvPr/>
        </p:nvSpPr>
        <p:spPr bwMode="auto">
          <a:xfrm>
            <a:off x="838198" y="2421947"/>
            <a:ext cx="9819695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327936" lvl="0" indent="-327936" algn="l">
              <a:buFont typeface="Arial"/>
              <a:buChar char="•"/>
              <a:defRPr/>
            </a:pPr>
            <a:r>
              <a:rPr sz="2200"/>
              <a:t>In bivariate model</a:t>
            </a:r>
          </a:p>
          <a:p>
            <a:pPr marL="785136" lvl="1" indent="-327936" algn="l">
              <a:buFont typeface="Arial"/>
              <a:buChar char="•"/>
              <a:defRPr/>
            </a:pPr>
            <a:r>
              <a:rPr sz="2200"/>
              <a:t>Each data point has its own mean</a:t>
            </a:r>
          </a:p>
        </p:txBody>
      </p:sp>
      <p:pic>
        <p:nvPicPr>
          <p:cNvPr id="5180797" name="Picture 518079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06768" y="3506398"/>
            <a:ext cx="4693625" cy="31526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3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74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6F0FA43-CAE3-30A4-3EF4-DFD7BB55593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217395" name="Title 1">
            <a:extLst>
              <a:ext uri="{FF2B5EF4-FFF2-40B4-BE49-F238E27FC236}">
                <a16:creationId xmlns:a16="http://schemas.microsoft.com/office/drawing/2014/main" id="{71AF4FFC-5C43-F4EB-97CD-CD0DD9220C19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Linear regression has a normal likelihood</a:t>
            </a:r>
            <a:endParaRPr dirty="0"/>
          </a:p>
        </p:txBody>
      </p:sp>
      <p:sp>
        <p:nvSpPr>
          <p:cNvPr id="974872959" name="Content Placeholder 2">
            <a:extLst>
              <a:ext uri="{FF2B5EF4-FFF2-40B4-BE49-F238E27FC236}">
                <a16:creationId xmlns:a16="http://schemas.microsoft.com/office/drawing/2014/main" id="{105F0897-5710-9130-59B9-1CAB4E028813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198" y="1547461"/>
            <a:ext cx="10515600" cy="13255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7500" lnSpcReduction="10000"/>
          </a:bodyPr>
          <a:lstStyle/>
          <a:p>
            <a:pPr>
              <a:defRPr/>
            </a:pPr>
            <a:r>
              <a:rPr lang="en-US" dirty="0"/>
              <a:t>Each data point has its own mean</a:t>
            </a:r>
          </a:p>
          <a:p>
            <a:pPr lvl="1">
              <a:defRPr/>
            </a:pPr>
            <a:r>
              <a:rPr lang="en-US" dirty="0"/>
              <a:t>And the equation for the mean is linear</a:t>
            </a:r>
          </a:p>
          <a:p>
            <a:pPr>
              <a:defRPr/>
            </a:pPr>
            <a:r>
              <a:rPr lang="en-US" dirty="0"/>
              <a:t>And they share a standard deviation</a:t>
            </a:r>
            <a:endParaRPr dirty="0"/>
          </a:p>
        </p:txBody>
      </p:sp>
      <p:pic>
        <p:nvPicPr>
          <p:cNvPr id="5180797" name="Picture 5180796">
            <a:extLst>
              <a:ext uri="{FF2B5EF4-FFF2-40B4-BE49-F238E27FC236}">
                <a16:creationId xmlns:a16="http://schemas.microsoft.com/office/drawing/2014/main" id="{86B4C6E3-A3AD-E0A9-E512-DE8CAC12CF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63472" y="2805634"/>
            <a:ext cx="5736921" cy="3853391"/>
          </a:xfrm>
          <a:prstGeom prst="rect">
            <a:avLst/>
          </a:prstGeom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36B2E49-AD1E-44CE-35A1-55F39605CA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006852"/>
              </p:ext>
            </p:extLst>
          </p:nvPr>
        </p:nvGraphicFramePr>
        <p:xfrm>
          <a:off x="762000" y="3402013"/>
          <a:ext cx="25574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28600" progId="Equation.DSMT4">
                  <p:embed/>
                </p:oleObj>
              </mc:Choice>
              <mc:Fallback>
                <p:oleObj name="Equation" r:id="rId4" imgW="850680" imgH="228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36B2E49-AD1E-44CE-35A1-55F39605CA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2000" y="3402013"/>
                        <a:ext cx="2557463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706E203-4710-C974-772F-26B8E6888D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999346"/>
              </p:ext>
            </p:extLst>
          </p:nvPr>
        </p:nvGraphicFramePr>
        <p:xfrm>
          <a:off x="838198" y="4243783"/>
          <a:ext cx="2404622" cy="68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253800" progId="Equation.DSMT4">
                  <p:embed/>
                </p:oleObj>
              </mc:Choice>
              <mc:Fallback>
                <p:oleObj name="Equation" r:id="rId6" imgW="888840" imgH="2538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A706E203-4710-C974-772F-26B8E6888D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8198" y="4243783"/>
                        <a:ext cx="2404622" cy="687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734901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7980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There is an asymmetry in the model</a:t>
            </a:r>
            <a:endParaRPr dirty="0"/>
          </a:p>
        </p:txBody>
      </p:sp>
      <p:sp>
        <p:nvSpPr>
          <p:cNvPr id="1892582165" name="Content Placeholder 2"/>
          <p:cNvSpPr>
            <a:spLocks noGrp="1"/>
          </p:cNvSpPr>
          <p:nvPr>
            <p:ph idx="1"/>
          </p:nvPr>
        </p:nvSpPr>
        <p:spPr bwMode="auto">
          <a:xfrm>
            <a:off x="348611" y="1532105"/>
            <a:ext cx="5747387" cy="273509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x: independent variable</a:t>
            </a:r>
          </a:p>
          <a:p>
            <a:pPr lvl="1">
              <a:defRPr/>
            </a:pPr>
            <a:r>
              <a:rPr lang="en-US" dirty="0"/>
              <a:t>Assumed to be known precisely</a:t>
            </a:r>
            <a:endParaRPr dirty="0"/>
          </a:p>
          <a:p>
            <a:pPr>
              <a:defRPr/>
            </a:pPr>
            <a:r>
              <a:rPr lang="en-US" dirty="0"/>
              <a:t>y: dependent variable</a:t>
            </a:r>
          </a:p>
          <a:p>
            <a:pPr lvl="1">
              <a:defRPr/>
            </a:pPr>
            <a:r>
              <a:rPr lang="en-US" dirty="0"/>
              <a:t>Measured with noise</a:t>
            </a:r>
            <a:endParaRPr dirty="0"/>
          </a:p>
          <a:p>
            <a:pPr>
              <a:defRPr/>
            </a:pPr>
            <a:r>
              <a:rPr lang="en-US" dirty="0"/>
              <a:t>Implied underlying causal structure</a:t>
            </a:r>
          </a:p>
          <a:p>
            <a:pPr lvl="1">
              <a:defRPr/>
            </a:pPr>
            <a:endParaRPr dirty="0"/>
          </a:p>
        </p:txBody>
      </p:sp>
      <p:sp>
        <p:nvSpPr>
          <p:cNvPr id="9936790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453435-D863-AD33-74AC-AB8AF0346755}" type="slidenum">
              <a:rPr lang="he-IL"/>
              <a:t>8</a:t>
            </a:fld>
            <a:r>
              <a:rPr lang="en-CA"/>
              <a:t>/76</a:t>
            </a:r>
            <a:endParaRPr lang="en-US"/>
          </a:p>
        </p:txBody>
      </p:sp>
      <p:pic>
        <p:nvPicPr>
          <p:cNvPr id="1024234418" name="Picture 2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6375399" y="2866159"/>
            <a:ext cx="5467990" cy="3672753"/>
          </a:xfrm>
          <a:prstGeom prst="rect">
            <a:avLst/>
          </a:prstGeom>
          <a:noFill/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C046C36-2C19-A102-CB27-EC9129AD20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607255"/>
              </p:ext>
            </p:extLst>
          </p:nvPr>
        </p:nvGraphicFramePr>
        <p:xfrm>
          <a:off x="7890933" y="1467054"/>
          <a:ext cx="2112697" cy="566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28600" progId="Equation.DSMT4">
                  <p:embed/>
                </p:oleObj>
              </mc:Choice>
              <mc:Fallback>
                <p:oleObj name="Equation" r:id="rId4" imgW="850680" imgH="228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C046C36-2C19-A102-CB27-EC9129AD20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90933" y="1467054"/>
                        <a:ext cx="2112697" cy="566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A83CD9E-93BE-49BD-7400-EF7ACF2C95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494934"/>
              </p:ext>
            </p:extLst>
          </p:nvPr>
        </p:nvGraphicFramePr>
        <p:xfrm>
          <a:off x="8017194" y="2138270"/>
          <a:ext cx="1986436" cy="567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253800" progId="Equation.DSMT4">
                  <p:embed/>
                </p:oleObj>
              </mc:Choice>
              <mc:Fallback>
                <p:oleObj name="Equation" r:id="rId6" imgW="888840" imgH="2538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A83CD9E-93BE-49BD-7400-EF7ACF2C95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017194" y="2138270"/>
                        <a:ext cx="1986436" cy="567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CD7D452-5563-6E00-9677-7ED8CF4A96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408" y="4133911"/>
            <a:ext cx="1337919" cy="2578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DD40D6-30C2-B80E-5016-0FA6EF4A0EF5}"/>
              </a:ext>
            </a:extLst>
          </p:cNvPr>
          <p:cNvSpPr txBox="1"/>
          <p:nvPr/>
        </p:nvSpPr>
        <p:spPr>
          <a:xfrm>
            <a:off x="2503055" y="4368800"/>
            <a:ext cx="3223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called a DAG and they are used to show causal relationships between variables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77316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582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582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582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85B469C-619C-B109-3D4A-AA246A2A984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798004" name="Title 1">
            <a:extLst>
              <a:ext uri="{FF2B5EF4-FFF2-40B4-BE49-F238E27FC236}">
                <a16:creationId xmlns:a16="http://schemas.microsoft.com/office/drawing/2014/main" id="{C3B758BE-8D4D-A425-9B4C-9D470AE39F5A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There is an asymmetry in the model</a:t>
            </a:r>
            <a:endParaRPr dirty="0"/>
          </a:p>
        </p:txBody>
      </p:sp>
      <p:sp>
        <p:nvSpPr>
          <p:cNvPr id="1892582165" name="Content Placeholder 2">
            <a:extLst>
              <a:ext uri="{FF2B5EF4-FFF2-40B4-BE49-F238E27FC236}">
                <a16:creationId xmlns:a16="http://schemas.microsoft.com/office/drawing/2014/main" id="{7C31D7B1-EFDA-F616-78E7-DE2FC9B438C4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199" y="1532105"/>
            <a:ext cx="5257799" cy="3672754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x: independent variable</a:t>
            </a:r>
          </a:p>
          <a:p>
            <a:pPr lvl="1">
              <a:defRPr/>
            </a:pPr>
            <a:r>
              <a:rPr lang="en-US" dirty="0"/>
              <a:t>Assumed to be known precisely</a:t>
            </a:r>
            <a:endParaRPr dirty="0"/>
          </a:p>
          <a:p>
            <a:pPr>
              <a:defRPr/>
            </a:pPr>
            <a:r>
              <a:rPr lang="en-US" dirty="0"/>
              <a:t>y: dependent variable</a:t>
            </a:r>
          </a:p>
          <a:p>
            <a:pPr lvl="1">
              <a:defRPr/>
            </a:pPr>
            <a:r>
              <a:rPr lang="en-US" dirty="0"/>
              <a:t>Measured with noise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It can make sense</a:t>
            </a:r>
            <a:endParaRPr dirty="0"/>
          </a:p>
          <a:p>
            <a:pPr lvl="1">
              <a:defRPr/>
            </a:pPr>
            <a:r>
              <a:rPr lang="en-US" dirty="0"/>
              <a:t>Age affects brain volume</a:t>
            </a:r>
            <a:endParaRPr dirty="0"/>
          </a:p>
          <a:p>
            <a:pPr>
              <a:defRPr/>
            </a:pPr>
            <a:r>
              <a:rPr lang="en-US" dirty="0"/>
              <a:t>It can be arbitrary</a:t>
            </a:r>
            <a:endParaRPr dirty="0"/>
          </a:p>
          <a:p>
            <a:pPr lvl="1">
              <a:defRPr/>
            </a:pPr>
            <a:r>
              <a:rPr lang="en-US" dirty="0"/>
              <a:t>Cognitive test and motor skill test</a:t>
            </a:r>
          </a:p>
          <a:p>
            <a:pPr lvl="1">
              <a:defRPr/>
            </a:pPr>
            <a:r>
              <a:rPr lang="en-US" dirty="0"/>
              <a:t>Brain volume and education level</a:t>
            </a:r>
          </a:p>
          <a:p>
            <a:pPr lvl="1">
              <a:defRPr/>
            </a:pPr>
            <a:endParaRPr dirty="0"/>
          </a:p>
        </p:txBody>
      </p:sp>
      <p:sp>
        <p:nvSpPr>
          <p:cNvPr id="993679007" name="Slide Number Placeholder 4">
            <a:extLst>
              <a:ext uri="{FF2B5EF4-FFF2-40B4-BE49-F238E27FC236}">
                <a16:creationId xmlns:a16="http://schemas.microsoft.com/office/drawing/2014/main" id="{73C64D14-04E9-AB76-156E-6BE34567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453435-D863-AD33-74AC-AB8AF0346755}" type="slidenum">
              <a:rPr lang="he-IL"/>
              <a:t>9</a:t>
            </a:fld>
            <a:r>
              <a:rPr lang="en-CA"/>
              <a:t>/76</a:t>
            </a:r>
            <a:endParaRPr lang="en-US"/>
          </a:p>
        </p:txBody>
      </p:sp>
      <p:pic>
        <p:nvPicPr>
          <p:cNvPr id="1024234418" name="Picture 2">
            <a:extLst>
              <a:ext uri="{FF2B5EF4-FFF2-40B4-BE49-F238E27FC236}">
                <a16:creationId xmlns:a16="http://schemas.microsoft.com/office/drawing/2014/main" id="{9A4BDD69-ECB1-5DC2-4573-2AEC97F5B4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6375399" y="2866159"/>
            <a:ext cx="5467990" cy="3672753"/>
          </a:xfrm>
          <a:prstGeom prst="rect">
            <a:avLst/>
          </a:prstGeom>
          <a:noFill/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C5D0470-1222-1F83-AB07-B21289CAA9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0933" y="1467054"/>
          <a:ext cx="2112697" cy="566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28600" progId="Equation.DSMT4">
                  <p:embed/>
                </p:oleObj>
              </mc:Choice>
              <mc:Fallback>
                <p:oleObj name="Equation" r:id="rId4" imgW="850680" imgH="228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C5D0470-1222-1F83-AB07-B21289CAA9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90933" y="1467054"/>
                        <a:ext cx="2112697" cy="566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58AF2A0-1237-C54A-2334-673DF4EBB4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17194" y="2138270"/>
          <a:ext cx="1986436" cy="567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253800" progId="Equation.DSMT4">
                  <p:embed/>
                </p:oleObj>
              </mc:Choice>
              <mc:Fallback>
                <p:oleObj name="Equation" r:id="rId6" imgW="888840" imgH="2538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558AF2A0-1237-C54A-2334-673DF4EBB4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017194" y="2138270"/>
                        <a:ext cx="1986436" cy="567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11554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582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582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582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582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582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582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582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50D53D7-CE12-1D9A-BB61-CEED02A96B0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217395" name="Title 1">
            <a:extLst>
              <a:ext uri="{FF2B5EF4-FFF2-40B4-BE49-F238E27FC236}">
                <a16:creationId xmlns:a16="http://schemas.microsoft.com/office/drawing/2014/main" id="{1B2B5FCF-C3B5-BB81-BA90-876168C3885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14009" y="365125"/>
            <a:ext cx="1177046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We translate the formal idea into a graphical model</a:t>
            </a:r>
            <a:endParaRPr sz="4000" dirty="0"/>
          </a:p>
        </p:txBody>
      </p:sp>
      <p:sp>
        <p:nvSpPr>
          <p:cNvPr id="974872959" name="Content Placeholder 2">
            <a:extLst>
              <a:ext uri="{FF2B5EF4-FFF2-40B4-BE49-F238E27FC236}">
                <a16:creationId xmlns:a16="http://schemas.microsoft.com/office/drawing/2014/main" id="{9E8C4735-1124-614B-3C8C-8D185D1F1B6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198" y="1547461"/>
            <a:ext cx="10515600" cy="95064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7500" lnSpcReduction="10000"/>
          </a:bodyPr>
          <a:lstStyle/>
          <a:p>
            <a:pPr>
              <a:defRPr/>
            </a:pPr>
            <a:r>
              <a:rPr lang="en-US" dirty="0"/>
              <a:t>We have the likelihood</a:t>
            </a:r>
          </a:p>
          <a:p>
            <a:pPr>
              <a:defRPr/>
            </a:pPr>
            <a:r>
              <a:rPr lang="en-US" dirty="0"/>
              <a:t>We need priors</a:t>
            </a:r>
            <a:endParaRPr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7211B13-77F1-4EBD-B603-B27FC6B78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425500"/>
              </p:ext>
            </p:extLst>
          </p:nvPr>
        </p:nvGraphicFramePr>
        <p:xfrm>
          <a:off x="838199" y="5465881"/>
          <a:ext cx="2404622" cy="68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88840" imgH="253800" progId="Equation.DSMT4">
                  <p:embed/>
                </p:oleObj>
              </mc:Choice>
              <mc:Fallback>
                <p:oleObj name="Equation" r:id="rId3" imgW="888840" imgH="2538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7211B13-77F1-4EBD-B603-B27FC6B781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199" y="5465881"/>
                        <a:ext cx="2404622" cy="687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4B3EFD07-B9F1-90FE-9850-62EAD1B33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0661" y="4588517"/>
            <a:ext cx="1565599" cy="207846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D751027-B47F-1CA5-D273-A93C45887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1854" y="3596709"/>
            <a:ext cx="2838260" cy="308000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2339682-865C-DB56-43DD-39F534A64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2623" y="1477972"/>
            <a:ext cx="4413336" cy="5189013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BA89E23-1EAC-936A-75B6-04C7CDB95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228772"/>
              </p:ext>
            </p:extLst>
          </p:nvPr>
        </p:nvGraphicFramePr>
        <p:xfrm>
          <a:off x="838199" y="4780081"/>
          <a:ext cx="25574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57335" imgH="686062" progId="Equation.DSMT4">
                  <p:embed/>
                </p:oleObj>
              </mc:Choice>
              <mc:Fallback>
                <p:oleObj name="Equation" r:id="rId8" imgW="2557335" imgH="686062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BA89E23-1EAC-936A-75B6-04C7CDB955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8199" y="4780081"/>
                        <a:ext cx="2557463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1952556-BC30-B0E2-7F8A-6E7069284A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768266"/>
              </p:ext>
            </p:extLst>
          </p:nvPr>
        </p:nvGraphicFramePr>
        <p:xfrm>
          <a:off x="838199" y="3423294"/>
          <a:ext cx="2290714" cy="1189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760" imgH="507960" progId="Equation.DSMT4">
                  <p:embed/>
                </p:oleObj>
              </mc:Choice>
              <mc:Fallback>
                <p:oleObj name="Equation" r:id="rId10" imgW="977760" imgH="50796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1952556-BC30-B0E2-7F8A-6E7069284A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38199" y="3423294"/>
                        <a:ext cx="2290714" cy="11899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ABB2E321-220E-3184-7585-7AADB37A6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0269" y="1459118"/>
            <a:ext cx="5914776" cy="5207867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73C2F54-3C1E-E154-4430-92E7146237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691586"/>
              </p:ext>
            </p:extLst>
          </p:nvPr>
        </p:nvGraphicFramePr>
        <p:xfrm>
          <a:off x="838199" y="2737495"/>
          <a:ext cx="363474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46040" imgH="253800" progId="Equation.DSMT4">
                  <p:embed/>
                </p:oleObj>
              </mc:Choice>
              <mc:Fallback>
                <p:oleObj name="Equation" r:id="rId13" imgW="1346040" imgH="25380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173C2F54-3C1E-E154-4430-92E7146237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38199" y="2737495"/>
                        <a:ext cx="363474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65996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75EC720-C534-5EAC-1F04-A9FA90260B6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217395" name="Title 1">
            <a:extLst>
              <a:ext uri="{FF2B5EF4-FFF2-40B4-BE49-F238E27FC236}">
                <a16:creationId xmlns:a16="http://schemas.microsoft.com/office/drawing/2014/main" id="{07EA61AD-ED3A-72C6-9C3C-9CB425B3576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14009" y="365125"/>
            <a:ext cx="7120646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From graphic model to </a:t>
            </a:r>
            <a:r>
              <a:rPr lang="en-US" sz="3600" dirty="0" err="1"/>
              <a:t>PyMC</a:t>
            </a:r>
            <a:endParaRPr sz="3600" dirty="0"/>
          </a:p>
        </p:txBody>
      </p:sp>
      <p:sp>
        <p:nvSpPr>
          <p:cNvPr id="974872959" name="Content Placeholder 2">
            <a:extLst>
              <a:ext uri="{FF2B5EF4-FFF2-40B4-BE49-F238E27FC236}">
                <a16:creationId xmlns:a16="http://schemas.microsoft.com/office/drawing/2014/main" id="{A24118A7-7B82-D982-C247-F5D297677B5C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198" y="1547461"/>
            <a:ext cx="10515600" cy="95064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7500"/>
          </a:bodyPr>
          <a:lstStyle/>
          <a:p>
            <a:pPr>
              <a:defRPr/>
            </a:pPr>
            <a:r>
              <a:rPr lang="en-US" dirty="0"/>
              <a:t>Automatic broadcasting:</a:t>
            </a:r>
          </a:p>
          <a:p>
            <a:pPr lvl="1">
              <a:defRPr/>
            </a:pPr>
            <a:r>
              <a:rPr lang="en-US" dirty="0"/>
              <a:t>Age, mu and </a:t>
            </a:r>
            <a:r>
              <a:rPr lang="en-US" dirty="0" err="1"/>
              <a:t>nwbv</a:t>
            </a:r>
            <a:r>
              <a:rPr lang="en-US" dirty="0"/>
              <a:t> all have the same dims</a:t>
            </a:r>
            <a:endParaRPr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8C48081-43DB-E65B-F4CA-A0A8700B25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2520" y="123076"/>
            <a:ext cx="5605467" cy="49355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B35884-1A83-DFFD-9ABE-D607EFE864AF}"/>
              </a:ext>
            </a:extLst>
          </p:cNvPr>
          <p:cNvSpPr txBox="1"/>
          <p:nvPr/>
        </p:nvSpPr>
        <p:spPr>
          <a:xfrm>
            <a:off x="129168" y="4120261"/>
            <a:ext cx="117639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coords_age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nwbv_age_model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"beta0"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"beta1"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HalfNormal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"sigma"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sigma_sigma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Deterministic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observed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EBC359-20CB-EA73-6551-1FECADBFB748}"/>
              </a:ext>
            </a:extLst>
          </p:cNvPr>
          <p:cNvSpPr/>
          <p:nvPr/>
        </p:nvSpPr>
        <p:spPr>
          <a:xfrm>
            <a:off x="565608" y="5410986"/>
            <a:ext cx="9973559" cy="52515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F21260-37FB-3AFB-5655-D6810696EB19}"/>
              </a:ext>
            </a:extLst>
          </p:cNvPr>
          <p:cNvSpPr/>
          <p:nvPr/>
        </p:nvSpPr>
        <p:spPr bwMode="auto">
          <a:xfrm>
            <a:off x="565609" y="4647415"/>
            <a:ext cx="6532776" cy="749966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99BEEA-29A5-46D6-189A-D778BABC7595}"/>
              </a:ext>
            </a:extLst>
          </p:cNvPr>
          <p:cNvSpPr/>
          <p:nvPr/>
        </p:nvSpPr>
        <p:spPr bwMode="auto">
          <a:xfrm>
            <a:off x="565609" y="4337359"/>
            <a:ext cx="6532776" cy="310056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25727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2F3C57-774F-C69E-EF96-766C1BE9206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09305C-A577-CDD0-C06F-E88846FB7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97" y="365125"/>
            <a:ext cx="5546103" cy="4491812"/>
          </a:xfrm>
          <a:prstGeom prst="rect">
            <a:avLst/>
          </a:prstGeom>
        </p:spPr>
      </p:pic>
      <p:sp>
        <p:nvSpPr>
          <p:cNvPr id="1139217395" name="Title 1">
            <a:extLst>
              <a:ext uri="{FF2B5EF4-FFF2-40B4-BE49-F238E27FC236}">
                <a16:creationId xmlns:a16="http://schemas.microsoft.com/office/drawing/2014/main" id="{7CA5F29B-2F44-767B-6DEC-FB308785A80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14009" y="365125"/>
            <a:ext cx="7120646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From </a:t>
            </a:r>
            <a:r>
              <a:rPr lang="en-US" sz="3600" dirty="0" err="1"/>
              <a:t>PyMC</a:t>
            </a:r>
            <a:r>
              <a:rPr lang="en-US" sz="3600" dirty="0"/>
              <a:t> to graphic representation</a:t>
            </a:r>
            <a:endParaRPr sz="3600" dirty="0"/>
          </a:p>
        </p:txBody>
      </p:sp>
      <p:sp>
        <p:nvSpPr>
          <p:cNvPr id="974872959" name="Content Placeholder 2">
            <a:extLst>
              <a:ext uri="{FF2B5EF4-FFF2-40B4-BE49-F238E27FC236}">
                <a16:creationId xmlns:a16="http://schemas.microsoft.com/office/drawing/2014/main" id="{CEAB9A40-78B7-4DA4-E260-B14825C2FD90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198" y="1547461"/>
            <a:ext cx="10515600" cy="95064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7500"/>
          </a:bodyPr>
          <a:lstStyle/>
          <a:p>
            <a:pPr>
              <a:defRPr/>
            </a:pPr>
            <a:r>
              <a:rPr lang="en-US" dirty="0"/>
              <a:t>Sanity check for the model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BCE7FA-78ED-FEBC-B030-E6A19BF39DE4}"/>
              </a:ext>
            </a:extLst>
          </p:cNvPr>
          <p:cNvSpPr txBox="1"/>
          <p:nvPr/>
        </p:nvSpPr>
        <p:spPr>
          <a:xfrm>
            <a:off x="129168" y="4120261"/>
            <a:ext cx="117639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coords_age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nwbv_age_model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"beta0"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"beta1"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HalfNormal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"sigma"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sigma_sigma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Deterministic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observed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093527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C4D70A-BE03-1B0F-C275-AEF1DD3489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146" y="240790"/>
                <a:ext cx="11025187" cy="835277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Priors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depend on regression equation</a:t>
                </a:r>
                <a:endParaRPr lang="en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C4D70A-BE03-1B0F-C275-AEF1DD348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146" y="240790"/>
                <a:ext cx="11025187" cy="835277"/>
              </a:xfrm>
              <a:blipFill>
                <a:blip r:embed="rId2"/>
                <a:stretch>
                  <a:fillRect l="-1991" t="-7971" b="-1956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56897-F696-ABDB-7FB7-28B3B3DA1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600" y="1690688"/>
                <a:ext cx="7001933" cy="4351338"/>
              </a:xfrm>
            </p:spPr>
            <p:txBody>
              <a:bodyPr/>
              <a:lstStyle/>
              <a:p>
                <a:r>
                  <a:rPr lang="en-US" dirty="0"/>
                  <a:t>Priors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slope: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𝑛𝑊𝐵𝑉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𝐴𝑔𝑒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 err="1"/>
                  <a:t>nWBV</a:t>
                </a:r>
                <a:r>
                  <a:rPr lang="en-US" dirty="0"/>
                  <a:t> ranges from 0.60 to 0.90</a:t>
                </a:r>
              </a:p>
              <a:p>
                <a:pPr lvl="2"/>
                <a:r>
                  <a:rPr lang="en-US" dirty="0"/>
                  <a:t>Age ranges from 60 to 90</a:t>
                </a:r>
              </a:p>
              <a:p>
                <a:pPr lvl="2"/>
                <a:r>
                  <a:rPr lang="en-US" dirty="0"/>
                  <a:t>Slopes might range from -0.03 to 0.03</a:t>
                </a:r>
                <a:endParaRPr lang="he-IL" dirty="0"/>
              </a:p>
              <a:p>
                <a:pPr lvl="3"/>
                <a:r>
                  <a:rPr lang="en-US" dirty="0"/>
                  <a:t>If we “know” the brain </a:t>
                </a:r>
                <a:r>
                  <a:rPr lang="en-US" dirty="0" err="1"/>
                  <a:t>degeneraes</a:t>
                </a:r>
                <a:r>
                  <a:rPr lang="en-US" dirty="0"/>
                  <a:t> with age</a:t>
                </a:r>
              </a:p>
              <a:p>
                <a:pPr lvl="4"/>
                <a:r>
                  <a:rPr lang="en-US" dirty="0"/>
                  <a:t>We could have a tighter prior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the intercept: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𝑛𝑊𝐵𝑉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𝐴𝑔𝑒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Prior uncertainty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influenced by </a:t>
                </a:r>
              </a:p>
              <a:p>
                <a:pPr lvl="3"/>
                <a:r>
                  <a:rPr lang="en-US" dirty="0"/>
                  <a:t>Distance to y axis</a:t>
                </a:r>
              </a:p>
              <a:p>
                <a:pPr lvl="3"/>
                <a:r>
                  <a:rPr lang="en-US" dirty="0"/>
                  <a:t>Uncertainty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56897-F696-ABDB-7FB7-28B3B3DA1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600" y="1690688"/>
                <a:ext cx="7001933" cy="4351338"/>
              </a:xfrm>
              <a:blipFill>
                <a:blip r:embed="rId3"/>
                <a:stretch>
                  <a:fillRect l="-1568" t="-22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03F9B2C-60AF-C5F2-6028-9320115E0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903571"/>
            <a:ext cx="5640387" cy="3788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A51B80-3E05-4D79-5E63-00170E8FABF6}"/>
              </a:ext>
            </a:extLst>
          </p:cNvPr>
          <p:cNvSpPr txBox="1"/>
          <p:nvPr/>
        </p:nvSpPr>
        <p:spPr>
          <a:xfrm>
            <a:off x="7205133" y="5182407"/>
            <a:ext cx="3886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will proceed with this very broad prior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9060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C2FC-534B-B6E7-0C37-E4E0C472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611"/>
          </a:xfrm>
        </p:spPr>
        <p:txBody>
          <a:bodyPr/>
          <a:lstStyle/>
          <a:p>
            <a:r>
              <a:rPr lang="en-US" dirty="0"/>
              <a:t>Sampling looks ok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5B506E-D79F-7200-3308-8F9EDC576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9467" y="1083736"/>
            <a:ext cx="7735994" cy="39031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897D9A-41CF-C966-99F9-0EDBCE2AD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134" y="5142317"/>
            <a:ext cx="6988602" cy="135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38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6D617-F23C-037E-871F-413B1878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9475"/>
          </a:xfrm>
        </p:spPr>
        <p:txBody>
          <a:bodyPr/>
          <a:lstStyle/>
          <a:p>
            <a:r>
              <a:rPr lang="en-US" dirty="0"/>
              <a:t>Posterior predictive distribution looks ok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739B5C-7D7B-90DC-5816-3C293B59F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1" y="1244601"/>
            <a:ext cx="4467247" cy="25823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5B96B6-B65C-3D1F-0691-61BBBB55D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533" y="3939181"/>
            <a:ext cx="8342312" cy="283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06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3C21-BCF9-C38C-410E-80F2651A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95DA-2D23-AC5E-E3B1-C40C236A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49" y="178859"/>
            <a:ext cx="11899901" cy="710142"/>
          </a:xfrm>
        </p:spPr>
        <p:txBody>
          <a:bodyPr>
            <a:normAutofit/>
          </a:bodyPr>
          <a:lstStyle/>
          <a:p>
            <a:r>
              <a:rPr lang="en-US" sz="4000" dirty="0" err="1"/>
              <a:t>sample_posterior_predictive</a:t>
            </a:r>
            <a:r>
              <a:rPr lang="en-US" sz="4000" dirty="0"/>
              <a:t> can predict on new data</a:t>
            </a:r>
            <a:endParaRPr lang="en-IL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BB22B-BD9A-ACF1-D2D7-B29474401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225550"/>
            <a:ext cx="5507567" cy="1815882"/>
          </a:xfrm>
        </p:spPr>
        <p:txBody>
          <a:bodyPr>
            <a:normAutofit/>
          </a:bodyPr>
          <a:lstStyle/>
          <a:p>
            <a:r>
              <a:rPr lang="en-US" sz="2400" dirty="0"/>
              <a:t>Need to update coords to appropriate length</a:t>
            </a:r>
          </a:p>
          <a:p>
            <a:r>
              <a:rPr lang="en-US" sz="2400" dirty="0"/>
              <a:t>Should restore original data for sanity</a:t>
            </a:r>
            <a:endParaRPr lang="en-IL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3A1F5-D420-491A-AD4A-7099B2DFA233}"/>
              </a:ext>
            </a:extLst>
          </p:cNvPr>
          <p:cNvSpPr txBox="1"/>
          <p:nvPr/>
        </p:nvSpPr>
        <p:spPr>
          <a:xfrm>
            <a:off x="283633" y="1303868"/>
            <a:ext cx="581236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age_prediction_idata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sample_model_predictions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nwbv_age_model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nwbv_age_idata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data_updates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age_grid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arange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age_grid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))},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restore_data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restore_coords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arange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simple_df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))},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4D1A7C-A361-46B1-BEBF-B0117E1D3580}"/>
              </a:ext>
            </a:extLst>
          </p:cNvPr>
          <p:cNvSpPr txBox="1"/>
          <p:nvPr/>
        </p:nvSpPr>
        <p:spPr>
          <a:xfrm>
            <a:off x="283633" y="3377982"/>
            <a:ext cx="1148503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sample_model_predictions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data_updates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restore_data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restore_coords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var_names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data_updates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predictions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sample_posterior_predictive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var_names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var_names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predictions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return_inferencedata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random_seed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RANDOM_SEED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progressbar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restore_data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restore_coords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predictions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309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1AFE-9F28-EC6D-12D3-21BF0024C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Posterior predictive shows model fit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5647AD-232C-E418-0D17-39BEB37BD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6" y="1785563"/>
            <a:ext cx="5173134" cy="2583237"/>
          </a:xfrm>
        </p:spPr>
        <p:txBody>
          <a:bodyPr/>
          <a:lstStyle/>
          <a:p>
            <a:r>
              <a:rPr lang="en-US" dirty="0"/>
              <a:t>Predictive data </a:t>
            </a:r>
          </a:p>
          <a:p>
            <a:pPr lvl="1"/>
            <a:r>
              <a:rPr lang="en-US" dirty="0"/>
              <a:t>Should look like original data</a:t>
            </a:r>
          </a:p>
          <a:p>
            <a:pPr lvl="2"/>
            <a:r>
              <a:rPr lang="en-US" dirty="0"/>
              <a:t>Center and width</a:t>
            </a:r>
          </a:p>
          <a:p>
            <a:pPr lvl="1"/>
            <a:r>
              <a:rPr lang="en-US" dirty="0"/>
              <a:t>Should respect model</a:t>
            </a:r>
          </a:p>
          <a:p>
            <a:pPr lvl="2"/>
            <a:r>
              <a:rPr lang="en-US" dirty="0"/>
              <a:t>Distance from model</a:t>
            </a:r>
          </a:p>
          <a:p>
            <a:pPr lvl="2"/>
            <a:r>
              <a:rPr lang="en-US" dirty="0"/>
              <a:t>Across the range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493B83-6A21-69EF-1E50-8C7CA709B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02363" y="1759608"/>
            <a:ext cx="5915759" cy="383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47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119B1-4E5C-6A0D-893C-5D42A090696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EB5AD7CE-1F55-A3DF-7B12-4C5D608C104C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5400" dirty="0">
                <a:latin typeface="Source Sans Pro"/>
                <a:ea typeface="Source Sans Pro"/>
              </a:rPr>
              <a:t>8.3 Posterior regression parameters</a:t>
            </a:r>
            <a:endParaRPr sz="5400"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E7C341D0-6440-5235-324C-8F8D3ED699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Presentation and interpretation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00798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833EEC-8CA5-D336-FEE8-1E25519DE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Each posterior sample is a regression line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4D85626-3CF9-76CF-18FC-EF2DBC4629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894667" cy="266170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Each posterior sample:</a:t>
                </a:r>
              </a:p>
              <a:p>
                <a:pPr lvl="1"/>
                <a:r>
                  <a:rPr lang="en-US" dirty="0"/>
                  <a:t>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Defines a possible line</a:t>
                </a:r>
              </a:p>
              <a:p>
                <a:r>
                  <a:rPr lang="en-US" dirty="0"/>
                  <a:t>Near middle of the data</a:t>
                </a:r>
              </a:p>
              <a:p>
                <a:pPr lvl="1"/>
                <a:r>
                  <a:rPr lang="en-US" dirty="0"/>
                  <a:t>More certainty</a:t>
                </a:r>
              </a:p>
              <a:p>
                <a:r>
                  <a:rPr lang="en-US" dirty="0"/>
                  <a:t>At edges</a:t>
                </a:r>
              </a:p>
              <a:p>
                <a:pPr lvl="1"/>
                <a:r>
                  <a:rPr lang="en-US" dirty="0"/>
                  <a:t>Less</a:t>
                </a:r>
                <a:endParaRPr lang="en-IL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4D85626-3CF9-76CF-18FC-EF2DBC4629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894667" cy="2661708"/>
              </a:xfrm>
              <a:blipFill>
                <a:blip r:embed="rId2"/>
                <a:stretch>
                  <a:fillRect l="-2508" t="-4577" b="-34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97E0C79-E76A-0189-18A2-35B517D4D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044" y="2319867"/>
            <a:ext cx="6436027" cy="417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44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CD3492-C5A1-69CF-07A1-CDFD161B4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5602"/>
          </a:xfrm>
        </p:spPr>
        <p:txBody>
          <a:bodyPr/>
          <a:lstStyle/>
          <a:p>
            <a:r>
              <a:rPr lang="en-US" dirty="0"/>
              <a:t>Our main interest is in the slope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CF40B0-1B3C-1620-EE62-B845A5F10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0728"/>
            <a:ext cx="10515600" cy="917575"/>
          </a:xfrm>
        </p:spPr>
        <p:txBody>
          <a:bodyPr/>
          <a:lstStyle/>
          <a:p>
            <a:r>
              <a:rPr lang="en-US" dirty="0"/>
              <a:t>Near 1% loss every 3 years</a:t>
            </a:r>
          </a:p>
          <a:p>
            <a:pPr lvl="1"/>
            <a:r>
              <a:rPr lang="en-US" dirty="0"/>
              <a:t>Between 0.20% and 0.33%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B73D15-4463-7C33-CF19-6D348B6CA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19" y="2339239"/>
            <a:ext cx="6456218" cy="433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2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1615C-E813-A0E5-D7FD-BDAE13B0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89676A-A187-4A05-A0A1-BE7F989A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5602"/>
          </a:xfrm>
        </p:spPr>
        <p:txBody>
          <a:bodyPr/>
          <a:lstStyle/>
          <a:p>
            <a:r>
              <a:rPr lang="en-US" dirty="0"/>
              <a:t>The intercept is </a:t>
            </a:r>
            <a:r>
              <a:rPr lang="en-US" dirty="0" err="1"/>
              <a:t>nWBV</a:t>
            </a:r>
            <a:r>
              <a:rPr lang="en-US" dirty="0"/>
              <a:t> at age 0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704ADB-DBC0-4F8D-9D7B-BAA081FCB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0727"/>
            <a:ext cx="10515600" cy="155733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Model suggests brain volume at birth is 89-99% of cranial volume</a:t>
            </a:r>
          </a:p>
          <a:p>
            <a:pPr lvl="1"/>
            <a:r>
              <a:rPr lang="en-US" dirty="0"/>
              <a:t>Broad range</a:t>
            </a:r>
          </a:p>
          <a:p>
            <a:pPr lvl="1"/>
            <a:r>
              <a:rPr lang="en-US" dirty="0"/>
              <a:t>Derived from the trend between ages 60 and 90</a:t>
            </a:r>
          </a:p>
          <a:p>
            <a:pPr lvl="1"/>
            <a:r>
              <a:rPr lang="en-US" dirty="0"/>
              <a:t>Not necessarily relevant to other ages</a:t>
            </a:r>
          </a:p>
          <a:p>
            <a:pPr lvl="2"/>
            <a:r>
              <a:rPr lang="en-US" dirty="0"/>
              <a:t>Regression does not always support extrapolation</a:t>
            </a:r>
            <a:endParaRPr lang="en-I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7DEA11-93D5-40CB-7DC9-D74FDE5F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8" y="3116864"/>
            <a:ext cx="5366327" cy="36044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CD00AD-BAD9-9939-A96C-F63E0BFF327A}"/>
              </a:ext>
            </a:extLst>
          </p:cNvPr>
          <p:cNvSpPr txBox="1"/>
          <p:nvPr/>
        </p:nvSpPr>
        <p:spPr>
          <a:xfrm>
            <a:off x="7869382" y="2495475"/>
            <a:ext cx="3186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Actual </a:t>
            </a:r>
            <a:r>
              <a:rPr lang="en-US" sz="2000" dirty="0" err="1"/>
              <a:t>nWBV</a:t>
            </a:r>
            <a:r>
              <a:rPr lang="en-US" sz="2000" dirty="0"/>
              <a:t> for newborn infants is above 90%</a:t>
            </a:r>
            <a:endParaRPr lang="en-IL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B73520-7E0B-2584-682C-B5D738DEE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239" y="3352800"/>
            <a:ext cx="3932186" cy="268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6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D308-304D-F6E3-61C4-DF22F7FB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Sigma is the variability among individuals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94EE41-80A2-6E0C-1FFE-087B0766A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933969" cy="26423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C7B5CA-7947-9E14-A02F-8137AD47C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008" y="2137554"/>
            <a:ext cx="677227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71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1F28-9992-7B59-23D1-76AE9FF19D5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IL">
                <a:noFill/>
              </a:rPr>
              <a:t>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5B780-B488-00C4-42D3-3E51B2487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40927" cy="4351338"/>
          </a:xfrm>
        </p:spPr>
        <p:txBody>
          <a:bodyPr/>
          <a:lstStyle/>
          <a:p>
            <a:r>
              <a:rPr lang="en-US" dirty="0"/>
              <a:t>Large negative slope</a:t>
            </a:r>
          </a:p>
          <a:p>
            <a:pPr lvl="1"/>
            <a:r>
              <a:rPr lang="en-US" dirty="0"/>
              <a:t>High intercept</a:t>
            </a:r>
          </a:p>
          <a:p>
            <a:r>
              <a:rPr lang="en-US" dirty="0"/>
              <a:t>Small negative slope</a:t>
            </a:r>
          </a:p>
          <a:p>
            <a:pPr lvl="1"/>
            <a:r>
              <a:rPr lang="en-US" dirty="0"/>
              <a:t>Low intercept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DBD927-BDA5-499C-2D99-D35F36FFD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73" y="2235200"/>
            <a:ext cx="4487573" cy="448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64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F9298-53C2-77F0-55D0-08D81A3CC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effect size is the slope</a:t>
            </a:r>
            <a:endParaRPr lang="en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5B851-73BA-CFC7-4022-6AEC5EB02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001"/>
            <a:ext cx="5164667" cy="1676400"/>
          </a:xfrm>
        </p:spPr>
        <p:txBody>
          <a:bodyPr/>
          <a:lstStyle/>
          <a:p>
            <a:r>
              <a:rPr lang="en-US" dirty="0"/>
              <a:t>0.27% from a baseline of 75%</a:t>
            </a:r>
          </a:p>
          <a:p>
            <a:pPr lvl="1"/>
            <a:r>
              <a:rPr lang="en-US" dirty="0"/>
              <a:t>0.36% brain loss per year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922240-83BE-48A3-AE6E-3D001639A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2236996"/>
            <a:ext cx="5936721" cy="3987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693EF5-268B-64CA-46F1-4A75B5412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75" y="3276600"/>
            <a:ext cx="5080752" cy="3294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BF29B3-212E-5085-4C67-FB5C4AFE4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718" y="596371"/>
            <a:ext cx="3360668" cy="16012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0F4987-A85B-23C4-22D5-103DDECF9D10}"/>
              </a:ext>
            </a:extLst>
          </p:cNvPr>
          <p:cNvSpPr txBox="1"/>
          <p:nvPr/>
        </p:nvSpPr>
        <p:spPr>
          <a:xfrm>
            <a:off x="8008018" y="41959"/>
            <a:ext cx="3179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Rate of change of brain volume </a:t>
            </a:r>
            <a:br>
              <a:rPr lang="en-US" dirty="0"/>
            </a:br>
            <a:r>
              <a:rPr lang="en-US" dirty="0"/>
              <a:t>throughout life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5482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CBB4-0FE7-2B3B-9CB0-2DE8FA4E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365125"/>
            <a:ext cx="11836400" cy="1325563"/>
          </a:xfrm>
        </p:spPr>
        <p:txBody>
          <a:bodyPr/>
          <a:lstStyle/>
          <a:p>
            <a:r>
              <a:rPr lang="en-US" dirty="0"/>
              <a:t>Standardized slope is a standardized effect size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F47532-9DE5-DE55-6EB4-A86334704D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00601" cy="256010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Standardization</a:t>
                </a:r>
              </a:p>
              <a:p>
                <a:pPr lvl="1"/>
                <a:r>
                  <a:rPr lang="en-US" dirty="0"/>
                  <a:t>Dimensionless units of std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dirty="0"/>
                  <a:t> but in std units</a:t>
                </a:r>
                <a:endParaRPr lang="he-IL" dirty="0"/>
              </a:p>
              <a:p>
                <a:r>
                  <a:rPr lang="en-US" dirty="0"/>
                  <a:t>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correlation coefficient</a:t>
                </a:r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F47532-9DE5-DE55-6EB4-A86334704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00601" cy="2560108"/>
              </a:xfrm>
              <a:blipFill>
                <a:blip r:embed="rId2"/>
                <a:stretch>
                  <a:fillRect l="-2287" t="-3810" b="-142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776D536-43D5-6E39-AEAD-0189D7EB69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848482"/>
              </p:ext>
            </p:extLst>
          </p:nvPr>
        </p:nvGraphicFramePr>
        <p:xfrm>
          <a:off x="7915275" y="1690688"/>
          <a:ext cx="1970088" cy="13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0240" imgH="444240" progId="Equation.DSMT4">
                  <p:embed/>
                </p:oleObj>
              </mc:Choice>
              <mc:Fallback>
                <p:oleObj name="Equation" r:id="rId3" imgW="6602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15275" y="1690688"/>
                        <a:ext cx="1970088" cy="1325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CE808B6-7D0E-13FF-1314-33DDBBB844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3200" y="3246675"/>
            <a:ext cx="5299604" cy="3436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A5884E4-E680-23D9-73F6-AD2D18B2D6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2101814"/>
                  </p:ext>
                </p:extLst>
              </p:nvPr>
            </p:nvGraphicFramePr>
            <p:xfrm>
              <a:off x="1015999" y="4665132"/>
              <a:ext cx="2895602" cy="1598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1">
                      <a:extLst>
                        <a:ext uri="{9D8B030D-6E8A-4147-A177-3AD203B41FA5}">
                          <a16:colId xmlns:a16="http://schemas.microsoft.com/office/drawing/2014/main" val="594343026"/>
                        </a:ext>
                      </a:extLst>
                    </a:gridCol>
                    <a:gridCol w="1447801">
                      <a:extLst>
                        <a:ext uri="{9D8B030D-6E8A-4147-A177-3AD203B41FA5}">
                          <a16:colId xmlns:a16="http://schemas.microsoft.com/office/drawing/2014/main" val="31845408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Effect size</a:t>
                          </a:r>
                          <a:endParaRPr lang="en-I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𝒔𝒕𝒅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23038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0.1</a:t>
                          </a:r>
                          <a:endParaRPr lang="en-I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Small</a:t>
                          </a:r>
                          <a:endParaRPr lang="en-I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12853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</a:t>
                          </a:r>
                          <a:endParaRPr lang="en-I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Medium</a:t>
                          </a:r>
                          <a:endParaRPr lang="en-I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03576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0.5</a:t>
                          </a:r>
                          <a:endParaRPr lang="en-I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Large</a:t>
                          </a:r>
                          <a:endParaRPr lang="en-I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11986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A5884E4-E680-23D9-73F6-AD2D18B2D6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2101814"/>
                  </p:ext>
                </p:extLst>
              </p:nvPr>
            </p:nvGraphicFramePr>
            <p:xfrm>
              <a:off x="1015999" y="4665132"/>
              <a:ext cx="2895602" cy="1598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1">
                      <a:extLst>
                        <a:ext uri="{9D8B030D-6E8A-4147-A177-3AD203B41FA5}">
                          <a16:colId xmlns:a16="http://schemas.microsoft.com/office/drawing/2014/main" val="594343026"/>
                        </a:ext>
                      </a:extLst>
                    </a:gridCol>
                    <a:gridCol w="1447801">
                      <a:extLst>
                        <a:ext uri="{9D8B030D-6E8A-4147-A177-3AD203B41FA5}">
                          <a16:colId xmlns:a16="http://schemas.microsoft.com/office/drawing/2014/main" val="3184540889"/>
                        </a:ext>
                      </a:extLst>
                    </a:gridCol>
                  </a:tblGrid>
                  <a:tr h="40951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Effect size</a:t>
                          </a:r>
                          <a:endParaRPr lang="en-I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6"/>
                          <a:stretch>
                            <a:fillRect l="-100420" t="-8955" r="-1681" b="-3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230381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0.1</a:t>
                          </a:r>
                          <a:endParaRPr lang="en-I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Small</a:t>
                          </a:r>
                          <a:endParaRPr lang="en-I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128537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</a:t>
                          </a:r>
                          <a:endParaRPr lang="en-I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Medium</a:t>
                          </a:r>
                          <a:endParaRPr lang="en-I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035762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0.5</a:t>
                          </a:r>
                          <a:endParaRPr lang="en-I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Large</a:t>
                          </a:r>
                          <a:endParaRPr lang="en-I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119860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6C816F4-75DE-3180-6ED1-91429C5D4D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848787"/>
              </p:ext>
            </p:extLst>
          </p:nvPr>
        </p:nvGraphicFramePr>
        <p:xfrm>
          <a:off x="10093429" y="2014127"/>
          <a:ext cx="863653" cy="454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200" imgH="126720" progId="Equation.DSMT4">
                  <p:embed/>
                </p:oleObj>
              </mc:Choice>
              <mc:Fallback>
                <p:oleObj name="Equation" r:id="rId7" imgW="241200" imgH="12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093429" y="2014127"/>
                        <a:ext cx="863653" cy="454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424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51870-3E7C-0421-412D-3837314698E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EF7FFCBE-5AF0-67C1-8476-B867EC74F67C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5400" dirty="0">
                <a:latin typeface="Source Sans Pro"/>
                <a:ea typeface="Source Sans Pro"/>
              </a:rPr>
              <a:t>8.4 Centered and uncentered data</a:t>
            </a:r>
            <a:endParaRPr sz="5400"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3C6BD865-BB90-B438-88F8-61CEB50362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Moving the center to 0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4243403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696768-2847-AFDF-B2FE-3E1099A5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504" y="297990"/>
            <a:ext cx="11532877" cy="534848"/>
          </a:xfrm>
        </p:spPr>
        <p:txBody>
          <a:bodyPr>
            <a:normAutofit fontScale="90000"/>
          </a:bodyPr>
          <a:lstStyle/>
          <a:p>
            <a:r>
              <a:rPr lang="en-US" dirty="0"/>
              <a:t>Centering and standardization remove means and units</a:t>
            </a:r>
            <a:endParaRPr lang="en-IL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0340A25-57D8-01EC-5407-1E3CA39EAD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838573"/>
              </p:ext>
            </p:extLst>
          </p:nvPr>
        </p:nvGraphicFramePr>
        <p:xfrm>
          <a:off x="400505" y="1613784"/>
          <a:ext cx="2487943" cy="464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200" imgH="177480" progId="Equation.DSMT4">
                  <p:embed/>
                </p:oleObj>
              </mc:Choice>
              <mc:Fallback>
                <p:oleObj name="Equation" r:id="rId2" imgW="9522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0505" y="1613784"/>
                        <a:ext cx="2487943" cy="464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727F5D8-85D9-C08C-1533-40EB35C40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807293"/>
              </p:ext>
            </p:extLst>
          </p:nvPr>
        </p:nvGraphicFramePr>
        <p:xfrm>
          <a:off x="8959920" y="1089088"/>
          <a:ext cx="8921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177480" progId="Equation.DSMT4">
                  <p:embed/>
                </p:oleObj>
              </mc:Choice>
              <mc:Fallback>
                <p:oleObj name="Equation" r:id="rId4" imgW="342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59920" y="1089088"/>
                        <a:ext cx="892175" cy="461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340C230-FED1-0B57-90C9-B1F80B7C69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307652"/>
              </p:ext>
            </p:extLst>
          </p:nvPr>
        </p:nvGraphicFramePr>
        <p:xfrm>
          <a:off x="400505" y="3283292"/>
          <a:ext cx="18446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7320" imgH="203040" progId="Equation.DSMT4">
                  <p:embed/>
                </p:oleObj>
              </mc:Choice>
              <mc:Fallback>
                <p:oleObj name="Equation" r:id="rId6" imgW="787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0505" y="3283292"/>
                        <a:ext cx="1844675" cy="474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3C7876F-2395-344D-561F-B36DB926A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953845"/>
              </p:ext>
            </p:extLst>
          </p:nvPr>
        </p:nvGraphicFramePr>
        <p:xfrm>
          <a:off x="480210" y="5225234"/>
          <a:ext cx="2408238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520" imgH="203040" progId="Equation.DSMT4">
                  <p:embed/>
                </p:oleObj>
              </mc:Choice>
              <mc:Fallback>
                <p:oleObj name="Equation" r:id="rId8" imgW="1028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0210" y="5225234"/>
                        <a:ext cx="2408238" cy="474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D68414A-A4AB-229A-0956-3B3D6B2950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79496"/>
              </p:ext>
            </p:extLst>
          </p:nvPr>
        </p:nvGraphicFramePr>
        <p:xfrm>
          <a:off x="5375928" y="1613784"/>
          <a:ext cx="1415760" cy="959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49160" imgH="507960" progId="Equation.DSMT4">
                  <p:embed/>
                </p:oleObj>
              </mc:Choice>
              <mc:Fallback>
                <p:oleObj name="Equation" r:id="rId10" imgW="7491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75928" y="1613784"/>
                        <a:ext cx="1415760" cy="9598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4EC31D5-6A20-29AA-32CE-E2D3C0DA6D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380016"/>
              </p:ext>
            </p:extLst>
          </p:nvPr>
        </p:nvGraphicFramePr>
        <p:xfrm>
          <a:off x="9765145" y="1613784"/>
          <a:ext cx="19050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55600" imgH="863280" progId="Equation.DSMT4">
                  <p:embed/>
                </p:oleObj>
              </mc:Choice>
              <mc:Fallback>
                <p:oleObj name="Equation" r:id="rId12" imgW="11556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765145" y="1613784"/>
                        <a:ext cx="1905000" cy="142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46E4A785-561F-C3A6-443B-902EDA0352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649154"/>
              </p:ext>
            </p:extLst>
          </p:nvPr>
        </p:nvGraphicFramePr>
        <p:xfrm>
          <a:off x="5375928" y="3283292"/>
          <a:ext cx="1565419" cy="1074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50680" imgH="583920" progId="Equation.DSMT4">
                  <p:embed/>
                </p:oleObj>
              </mc:Choice>
              <mc:Fallback>
                <p:oleObj name="Equation" r:id="rId14" imgW="85068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75928" y="3283292"/>
                        <a:ext cx="1565419" cy="1074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C0FA7012-24E5-55B9-DE69-67E579FB57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741730"/>
              </p:ext>
            </p:extLst>
          </p:nvPr>
        </p:nvGraphicFramePr>
        <p:xfrm>
          <a:off x="9765145" y="3283292"/>
          <a:ext cx="1905000" cy="1392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80800" imgH="863280" progId="Equation.DSMT4">
                  <p:embed/>
                </p:oleObj>
              </mc:Choice>
              <mc:Fallback>
                <p:oleObj name="Equation" r:id="rId16" imgW="11808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765145" y="3283292"/>
                        <a:ext cx="1905000" cy="13929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D76AA89F-C744-8688-9854-E49FCD7920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085522"/>
              </p:ext>
            </p:extLst>
          </p:nvPr>
        </p:nvGraphicFramePr>
        <p:xfrm>
          <a:off x="5375928" y="5225234"/>
          <a:ext cx="1231170" cy="959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49160" imgH="583920" progId="Equation.DSMT4">
                  <p:embed/>
                </p:oleObj>
              </mc:Choice>
              <mc:Fallback>
                <p:oleObj name="Equation" r:id="rId18" imgW="74916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375928" y="5225234"/>
                        <a:ext cx="1231170" cy="959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195430EE-4676-EF1D-6319-B504BFC90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470452"/>
              </p:ext>
            </p:extLst>
          </p:nvPr>
        </p:nvGraphicFramePr>
        <p:xfrm>
          <a:off x="9765145" y="5225234"/>
          <a:ext cx="1693069" cy="1308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17440" imgH="863280" progId="Equation.DSMT4">
                  <p:embed/>
                </p:oleObj>
              </mc:Choice>
              <mc:Fallback>
                <p:oleObj name="Equation" r:id="rId20" imgW="1117440" imgH="86328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C0FA7012-24E5-55B9-DE69-67E579FB57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765145" y="5225234"/>
                        <a:ext cx="1693069" cy="1308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10847EA8-DAB8-754F-4E6D-7BF3AEF9BB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567267"/>
              </p:ext>
            </p:extLst>
          </p:nvPr>
        </p:nvGraphicFramePr>
        <p:xfrm>
          <a:off x="3650384" y="1085912"/>
          <a:ext cx="28194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79280" imgH="177480" progId="Equation.DSMT4">
                  <p:embed/>
                </p:oleObj>
              </mc:Choice>
              <mc:Fallback>
                <p:oleObj name="Equation" r:id="rId22" imgW="1079280" imgH="1774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F0340A25-57D8-01EC-5407-1E3CA39EAD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650384" y="1085912"/>
                        <a:ext cx="2819400" cy="46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D5BC2C27-6910-0654-182C-3D49DA1A20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694248"/>
              </p:ext>
            </p:extLst>
          </p:nvPr>
        </p:nvGraphicFramePr>
        <p:xfrm>
          <a:off x="3369301" y="3283292"/>
          <a:ext cx="1255308" cy="4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47640" imgH="228600" progId="Equation.DSMT4">
                  <p:embed/>
                </p:oleObj>
              </mc:Choice>
              <mc:Fallback>
                <p:oleObj name="Equation" r:id="rId24" imgW="647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369301" y="3283292"/>
                        <a:ext cx="1255308" cy="44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C015D659-3A6A-D83C-517D-F6A076E48D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980782"/>
              </p:ext>
            </p:extLst>
          </p:nvPr>
        </p:nvGraphicFramePr>
        <p:xfrm>
          <a:off x="7781491" y="3283292"/>
          <a:ext cx="1288631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72840" imgH="241200" progId="Equation.DSMT4">
                  <p:embed/>
                </p:oleObj>
              </mc:Choice>
              <mc:Fallback>
                <p:oleObj name="Equation" r:id="rId26" imgW="6728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781491" y="3283292"/>
                        <a:ext cx="1288631" cy="461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F5AF3F6C-6D1B-D395-4156-6A01DBEE8E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956492"/>
              </p:ext>
            </p:extLst>
          </p:nvPr>
        </p:nvGraphicFramePr>
        <p:xfrm>
          <a:off x="3369301" y="5225234"/>
          <a:ext cx="1304021" cy="762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72840" imgH="393480" progId="Equation.DSMT4">
                  <p:embed/>
                </p:oleObj>
              </mc:Choice>
              <mc:Fallback>
                <p:oleObj name="Equation" r:id="rId28" imgW="6728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369301" y="5225234"/>
                        <a:ext cx="1304021" cy="7627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AFD53B64-E0FA-2C8C-9999-A475B4347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216245"/>
              </p:ext>
            </p:extLst>
          </p:nvPr>
        </p:nvGraphicFramePr>
        <p:xfrm>
          <a:off x="7781491" y="5225234"/>
          <a:ext cx="1316246" cy="741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98400" imgH="393480" progId="Equation.DSMT4">
                  <p:embed/>
                </p:oleObj>
              </mc:Choice>
              <mc:Fallback>
                <p:oleObj name="Equation" r:id="rId30" imgW="6984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781491" y="5225234"/>
                        <a:ext cx="1316246" cy="741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0D6F04D-6218-6214-7872-FD2A59D3E950}"/>
              </a:ext>
            </a:extLst>
          </p:cNvPr>
          <p:cNvCxnSpPr/>
          <p:nvPr/>
        </p:nvCxnSpPr>
        <p:spPr>
          <a:xfrm>
            <a:off x="400505" y="3094178"/>
            <a:ext cx="1153287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AEB9EA4-AE90-467F-8D12-B1669D6EBC5D}"/>
              </a:ext>
            </a:extLst>
          </p:cNvPr>
          <p:cNvCxnSpPr/>
          <p:nvPr/>
        </p:nvCxnSpPr>
        <p:spPr>
          <a:xfrm>
            <a:off x="400505" y="4946069"/>
            <a:ext cx="1153287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97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4952-0D51-BD47-2C14-5EEB0A793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09" y="365125"/>
            <a:ext cx="11720946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Switch the model to use a centered independent variable</a:t>
            </a:r>
            <a:endParaRPr lang="en-IL" sz="36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4D58AB-D7C9-C38A-5964-5CAF6B70AC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>
            <a:off x="304801" y="2520604"/>
            <a:ext cx="4367223" cy="384527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25A9F11-5690-1841-49C1-95D95014A3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87127" y="2520604"/>
            <a:ext cx="4561175" cy="4016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693962-F8B4-9FA8-2444-7772EF8ED2F0}"/>
              </a:ext>
            </a:extLst>
          </p:cNvPr>
          <p:cNvSpPr txBox="1"/>
          <p:nvPr/>
        </p:nvSpPr>
        <p:spPr>
          <a:xfrm>
            <a:off x="1108364" y="1963066"/>
            <a:ext cx="3783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Uncentered independent variable</a:t>
            </a:r>
            <a:endParaRPr lang="en-IL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9A6F1-0719-2799-115E-A8E7D7B46FB9}"/>
              </a:ext>
            </a:extLst>
          </p:cNvPr>
          <p:cNvSpPr txBox="1"/>
          <p:nvPr/>
        </p:nvSpPr>
        <p:spPr>
          <a:xfrm>
            <a:off x="7409435" y="1963066"/>
            <a:ext cx="3507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Centered independent variable</a:t>
            </a:r>
            <a:endParaRPr lang="en-IL" sz="2000" b="1" dirty="0"/>
          </a:p>
        </p:txBody>
      </p:sp>
    </p:spTree>
    <p:extLst>
      <p:ext uri="{BB962C8B-B14F-4D97-AF65-F5344CB8AC3E}">
        <p14:creationId xmlns:p14="http://schemas.microsoft.com/office/powerpoint/2010/main" val="19754114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22824-97E0-B88B-257D-594DAA9B3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5F05-20B0-0D07-095E-37CA80CC8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51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The fit will be the same</a:t>
            </a:r>
            <a:endParaRPr lang="en-IL" sz="36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73F8234-CC15-A1D2-AEC1-5F468CBD4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1961"/>
            <a:ext cx="10474757" cy="4496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are just relabeling parameters</a:t>
            </a:r>
            <a:endParaRPr lang="en-IL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4F7C7B3-973A-93D5-BEFF-82FA52266D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>
            <a:off x="230909" y="2163121"/>
            <a:ext cx="2863272" cy="252106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709CD16-66FD-EB3F-FEFD-AE14DA646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49684" y="2003369"/>
            <a:ext cx="2863273" cy="25210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30E0C1-0CA9-2B05-CC8E-AFBFE068C160}"/>
              </a:ext>
            </a:extLst>
          </p:cNvPr>
          <p:cNvSpPr txBox="1"/>
          <p:nvPr/>
        </p:nvSpPr>
        <p:spPr>
          <a:xfrm>
            <a:off x="1006764" y="1505481"/>
            <a:ext cx="3783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Uncentered independent variable</a:t>
            </a:r>
            <a:endParaRPr lang="en-IL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BADF9-2C1B-26A6-0A5E-6D5CA2DEFA8C}"/>
              </a:ext>
            </a:extLst>
          </p:cNvPr>
          <p:cNvSpPr txBox="1"/>
          <p:nvPr/>
        </p:nvSpPr>
        <p:spPr>
          <a:xfrm>
            <a:off x="7401830" y="1505481"/>
            <a:ext cx="3507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Centered independent variable</a:t>
            </a:r>
            <a:endParaRPr lang="en-IL" sz="2000" b="1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6AB7AE5-674C-4165-FA5F-E095918AD3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823437"/>
              </p:ext>
            </p:extLst>
          </p:nvPr>
        </p:nvGraphicFramePr>
        <p:xfrm>
          <a:off x="3742317" y="2562493"/>
          <a:ext cx="19954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28600" progId="Equation.DSMT4">
                  <p:embed/>
                </p:oleObj>
              </mc:Choice>
              <mc:Fallback>
                <p:oleObj name="Equation" r:id="rId4" imgW="850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42317" y="2562493"/>
                        <a:ext cx="1995488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DCF8CF9-EDD3-C374-EA46-5FF07C75F4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853843"/>
              </p:ext>
            </p:extLst>
          </p:nvPr>
        </p:nvGraphicFramePr>
        <p:xfrm>
          <a:off x="5752669" y="2562495"/>
          <a:ext cx="1664855" cy="536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9160" imgH="241200" progId="Equation.DSMT4">
                  <p:embed/>
                </p:oleObj>
              </mc:Choice>
              <mc:Fallback>
                <p:oleObj name="Equation" r:id="rId6" imgW="749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52669" y="2562495"/>
                        <a:ext cx="1664855" cy="536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2493F41-A123-802B-B0B2-24813585ED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002301"/>
              </p:ext>
            </p:extLst>
          </p:nvPr>
        </p:nvGraphicFramePr>
        <p:xfrm>
          <a:off x="4357401" y="3385880"/>
          <a:ext cx="39401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6160" imgH="253800" progId="Equation.DSMT4">
                  <p:embed/>
                </p:oleObj>
              </mc:Choice>
              <mc:Fallback>
                <p:oleObj name="Equation" r:id="rId8" imgW="16761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57401" y="3385880"/>
                        <a:ext cx="3940175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7AF1C08-4291-DFB2-221E-FD18400921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026111"/>
              </p:ext>
            </p:extLst>
          </p:nvPr>
        </p:nvGraphicFramePr>
        <p:xfrm>
          <a:off x="4181295" y="4094965"/>
          <a:ext cx="4639931" cy="723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90640" imgH="279360" progId="Equation.DSMT4">
                  <p:embed/>
                </p:oleObj>
              </mc:Choice>
              <mc:Fallback>
                <p:oleObj name="Equation" r:id="rId10" imgW="1790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81295" y="4094965"/>
                        <a:ext cx="4639931" cy="723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3264FE7-F456-D2BA-9E93-43A808E83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182282"/>
              </p:ext>
            </p:extLst>
          </p:nvPr>
        </p:nvGraphicFramePr>
        <p:xfrm>
          <a:off x="4181295" y="5166697"/>
          <a:ext cx="2186996" cy="1204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76240" imgH="482400" progId="Equation.DSMT4">
                  <p:embed/>
                </p:oleObj>
              </mc:Choice>
              <mc:Fallback>
                <p:oleObj name="Equation" r:id="rId12" imgW="8762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81295" y="5166697"/>
                        <a:ext cx="2186996" cy="12044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694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E665FE-2E0E-19B2-3D73-7DE89C2738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Prior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will be centered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E665FE-2E0E-19B2-3D73-7DE89C2738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AAC0C-19E0-85E8-7E62-79058DB35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45284"/>
              </a:xfrm>
            </p:spPr>
            <p:txBody>
              <a:bodyPr/>
              <a:lstStyle/>
              <a:p>
                <a:r>
                  <a:rPr lang="en-US" dirty="0"/>
                  <a:t>The “intercept”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is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 most cases, this will be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AAC0C-19E0-85E8-7E62-79058DB35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45284"/>
              </a:xfrm>
              <a:blipFill>
                <a:blip r:embed="rId3"/>
                <a:stretch>
                  <a:fillRect l="-1043" t="-10256" b="-576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B45FAB6-37E1-038E-9944-2BC4794BDB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807751"/>
              </p:ext>
            </p:extLst>
          </p:nvPr>
        </p:nvGraphicFramePr>
        <p:xfrm>
          <a:off x="838200" y="3162406"/>
          <a:ext cx="2186996" cy="1204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240" imgH="482400" progId="Equation.DSMT4">
                  <p:embed/>
                </p:oleObj>
              </mc:Choice>
              <mc:Fallback>
                <p:oleObj name="Equation" r:id="rId4" imgW="876240" imgH="48240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13264FE7-F456-D2BA-9E93-43A808E839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3162406"/>
                        <a:ext cx="2186996" cy="12044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09AB5C3-6E92-465D-AB8F-D9AD9B2ADF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145498"/>
              </p:ext>
            </p:extLst>
          </p:nvPr>
        </p:nvGraphicFramePr>
        <p:xfrm>
          <a:off x="3937000" y="2995613"/>
          <a:ext cx="267176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241200" progId="Equation.DSMT4">
                  <p:embed/>
                </p:oleObj>
              </mc:Choice>
              <mc:Fallback>
                <p:oleObj name="Equation" r:id="rId6" imgW="888840" imgH="2412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36B2E49-AD1E-44CE-35A1-55F39605CA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37000" y="2995613"/>
                        <a:ext cx="2671763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D933D1E-CCA1-5220-6A5B-0397BFCCCB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402702"/>
              </p:ext>
            </p:extLst>
          </p:nvPr>
        </p:nvGraphicFramePr>
        <p:xfrm>
          <a:off x="3937000" y="3764622"/>
          <a:ext cx="2404622" cy="68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253800" progId="Equation.DSMT4">
                  <p:embed/>
                </p:oleObj>
              </mc:Choice>
              <mc:Fallback>
                <p:oleObj name="Equation" r:id="rId8" imgW="888840" imgH="2538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A706E203-4710-C974-772F-26B8E6888D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37000" y="3764622"/>
                        <a:ext cx="2404622" cy="687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1F6D7B1-F95E-7822-6DF8-165CA5CAD2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598818"/>
              </p:ext>
            </p:extLst>
          </p:nvPr>
        </p:nvGraphicFramePr>
        <p:xfrm>
          <a:off x="8342024" y="3214471"/>
          <a:ext cx="1890567" cy="945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80" imgH="431640" progId="Equation.DSMT4">
                  <p:embed/>
                </p:oleObj>
              </mc:Choice>
              <mc:Fallback>
                <p:oleObj name="Equation" r:id="rId10" imgW="863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342024" y="3214471"/>
                        <a:ext cx="1890567" cy="945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802ECC-5261-427D-19A6-B518EF82E8B3}"/>
              </a:ext>
            </a:extLst>
          </p:cNvPr>
          <p:cNvSpPr txBox="1"/>
          <p:nvPr/>
        </p:nvSpPr>
        <p:spPr>
          <a:xfrm>
            <a:off x="387928" y="5751107"/>
            <a:ext cx="652087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mu_0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7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nwbv_data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7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sigma_0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sigma_1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7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age_data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9FBB2A-2C3D-11E1-AD9A-D2862A2666C4}"/>
              </a:ext>
            </a:extLst>
          </p:cNvPr>
          <p:cNvSpPr txBox="1"/>
          <p:nvPr/>
        </p:nvSpPr>
        <p:spPr>
          <a:xfrm>
            <a:off x="7282873" y="5751107"/>
            <a:ext cx="432954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mu_0_centered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nwbv_data</a:t>
            </a:r>
            <a:r>
              <a:rPr lang="en-US" sz="17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sigma_0_centered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BA288C-EB27-4755-49E0-4D4652DEE5A6}"/>
              </a:ext>
            </a:extLst>
          </p:cNvPr>
          <p:cNvSpPr txBox="1"/>
          <p:nvPr/>
        </p:nvSpPr>
        <p:spPr>
          <a:xfrm>
            <a:off x="1133492" y="5259150"/>
            <a:ext cx="3783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Uncentered independent variable</a:t>
            </a:r>
            <a:endParaRPr lang="en-IL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E5B750-9262-1BF3-28D6-33F25BAEDFA3}"/>
              </a:ext>
            </a:extLst>
          </p:cNvPr>
          <p:cNvSpPr txBox="1"/>
          <p:nvPr/>
        </p:nvSpPr>
        <p:spPr>
          <a:xfrm>
            <a:off x="7434563" y="5259150"/>
            <a:ext cx="3507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Centered independent variable</a:t>
            </a:r>
            <a:endParaRPr lang="en-IL" sz="2000" b="1" dirty="0"/>
          </a:p>
        </p:txBody>
      </p:sp>
    </p:spTree>
    <p:extLst>
      <p:ext uri="{BB962C8B-B14F-4D97-AF65-F5344CB8AC3E}">
        <p14:creationId xmlns:p14="http://schemas.microsoft.com/office/powerpoint/2010/main" val="1599497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6E31-FB97-D221-80A5-148C4F7B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6"/>
            <a:ext cx="11353800" cy="862542"/>
          </a:xfrm>
        </p:spPr>
        <p:txBody>
          <a:bodyPr>
            <a:normAutofit fontScale="90000"/>
          </a:bodyPr>
          <a:lstStyle/>
          <a:p>
            <a:r>
              <a:rPr lang="en-US" dirty="0"/>
              <a:t>Intercept has different meaning in </a:t>
            </a:r>
            <a:r>
              <a:rPr lang="en-US"/>
              <a:t>the two </a:t>
            </a:r>
            <a:r>
              <a:rPr lang="en-US" dirty="0"/>
              <a:t>models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D445E-E322-7D0F-8886-BB070D8A0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734" y="1275293"/>
            <a:ext cx="10515600" cy="161184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Scientific question</a:t>
            </a:r>
          </a:p>
          <a:p>
            <a:pPr lvl="1"/>
            <a:r>
              <a:rPr lang="en-US" dirty="0"/>
              <a:t>Which do you care about?</a:t>
            </a:r>
          </a:p>
          <a:p>
            <a:r>
              <a:rPr lang="en-US" dirty="0"/>
              <a:t>Statistical question</a:t>
            </a:r>
          </a:p>
          <a:p>
            <a:pPr lvl="1"/>
            <a:r>
              <a:rPr lang="en-US" dirty="0"/>
              <a:t>Which produces stable inference?</a:t>
            </a:r>
          </a:p>
          <a:p>
            <a:pPr lvl="1"/>
            <a:r>
              <a:rPr lang="en-US" dirty="0"/>
              <a:t>Because we can convert between them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34BDA2-6F3E-3970-CD80-726BA02F6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067" y="3076099"/>
            <a:ext cx="8759825" cy="351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27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88851-C25B-C6AA-C125-835AB699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00" y="365126"/>
            <a:ext cx="10960600" cy="817130"/>
          </a:xfrm>
        </p:spPr>
        <p:txBody>
          <a:bodyPr/>
          <a:lstStyle/>
          <a:p>
            <a:r>
              <a:rPr lang="en-US" dirty="0"/>
              <a:t>The sampling is slower and less independent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93E52-87B7-9AF6-8206-19202DB5C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00" y="4247508"/>
            <a:ext cx="5702800" cy="11212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5E9A30-5A0A-E2DA-8663-D9EA34F5886A}"/>
              </a:ext>
            </a:extLst>
          </p:cNvPr>
          <p:cNvSpPr txBox="1"/>
          <p:nvPr/>
        </p:nvSpPr>
        <p:spPr>
          <a:xfrm>
            <a:off x="393200" y="3583925"/>
            <a:ext cx="4810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chains for 1,000 tune and 1,000 draw iterations</a:t>
            </a:r>
          </a:p>
          <a:p>
            <a:r>
              <a:rPr lang="en-US" dirty="0"/>
              <a:t>	</a:t>
            </a:r>
            <a:r>
              <a:rPr lang="en-US" dirty="0">
                <a:highlight>
                  <a:srgbClr val="FFFF00"/>
                </a:highlight>
              </a:rPr>
              <a:t>17 seconds</a:t>
            </a:r>
            <a:endParaRPr lang="en-IL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0AA2E-E1F7-C507-EF3A-57AD3DB26770}"/>
              </a:ext>
            </a:extLst>
          </p:cNvPr>
          <p:cNvSpPr txBox="1"/>
          <p:nvPr/>
        </p:nvSpPr>
        <p:spPr>
          <a:xfrm>
            <a:off x="6542868" y="3558525"/>
            <a:ext cx="4810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chains for 1,000 tune and 1,000 draw iterations</a:t>
            </a:r>
          </a:p>
          <a:p>
            <a:r>
              <a:rPr lang="en-US" dirty="0"/>
              <a:t>	</a:t>
            </a:r>
            <a:r>
              <a:rPr lang="en-US" dirty="0">
                <a:highlight>
                  <a:srgbClr val="FFFF00"/>
                </a:highlight>
              </a:rPr>
              <a:t>3 seconds</a:t>
            </a:r>
            <a:endParaRPr lang="en-IL" dirty="0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DCF5F6-7823-8184-34CD-EA453035C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455" y="4230256"/>
            <a:ext cx="5607800" cy="104770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F293BEE-F6A6-DE8E-68F6-338127D18D62}"/>
              </a:ext>
            </a:extLst>
          </p:cNvPr>
          <p:cNvSpPr/>
          <p:nvPr/>
        </p:nvSpPr>
        <p:spPr>
          <a:xfrm>
            <a:off x="4424218" y="4313382"/>
            <a:ext cx="779914" cy="96458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0E41B4-D2A0-7250-FC01-3F5AFCD23BD5}"/>
              </a:ext>
            </a:extLst>
          </p:cNvPr>
          <p:cNvSpPr/>
          <p:nvPr/>
        </p:nvSpPr>
        <p:spPr>
          <a:xfrm>
            <a:off x="10325600" y="4271819"/>
            <a:ext cx="779914" cy="96458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C2229-C34E-A694-548A-0BF59C76298F}"/>
              </a:ext>
            </a:extLst>
          </p:cNvPr>
          <p:cNvSpPr txBox="1"/>
          <p:nvPr/>
        </p:nvSpPr>
        <p:spPr>
          <a:xfrm>
            <a:off x="951345" y="2962979"/>
            <a:ext cx="3783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Uncentered independent variable</a:t>
            </a:r>
            <a:endParaRPr lang="en-IL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3F38C-DC15-DD51-6EAF-BF4318834548}"/>
              </a:ext>
            </a:extLst>
          </p:cNvPr>
          <p:cNvSpPr txBox="1"/>
          <p:nvPr/>
        </p:nvSpPr>
        <p:spPr>
          <a:xfrm>
            <a:off x="7252416" y="2962979"/>
            <a:ext cx="3507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Centered independent variable</a:t>
            </a:r>
            <a:endParaRPr lang="en-IL" sz="2000" b="1" dirty="0"/>
          </a:p>
        </p:txBody>
      </p:sp>
    </p:spTree>
    <p:extLst>
      <p:ext uri="{BB962C8B-B14F-4D97-AF65-F5344CB8AC3E}">
        <p14:creationId xmlns:p14="http://schemas.microsoft.com/office/powerpoint/2010/main" val="2249974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9B28-2DA2-33A2-EC20-2264C070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82" y="365125"/>
            <a:ext cx="10901218" cy="1325563"/>
          </a:xfrm>
        </p:spPr>
        <p:txBody>
          <a:bodyPr/>
          <a:lstStyle/>
          <a:p>
            <a:r>
              <a:rPr lang="en-US" dirty="0"/>
              <a:t>The posterior of the slope is unchanged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C5F4C4-740B-C94C-854D-29CD15787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518" y="2530764"/>
            <a:ext cx="5533736" cy="37169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80729E-4BC9-FF46-AFF7-684270697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2" y="2530764"/>
            <a:ext cx="5533735" cy="37169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281D1-E620-132C-CCA1-C70C5F793A69}"/>
              </a:ext>
            </a:extLst>
          </p:cNvPr>
          <p:cNvSpPr txBox="1"/>
          <p:nvPr/>
        </p:nvSpPr>
        <p:spPr>
          <a:xfrm>
            <a:off x="1089891" y="1910671"/>
            <a:ext cx="3783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Uncentered independent variable</a:t>
            </a:r>
            <a:endParaRPr lang="en-IL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F4CC9-55ED-FB04-B2F2-22673308E5F4}"/>
              </a:ext>
            </a:extLst>
          </p:cNvPr>
          <p:cNvSpPr txBox="1"/>
          <p:nvPr/>
        </p:nvSpPr>
        <p:spPr>
          <a:xfrm>
            <a:off x="7390962" y="1910671"/>
            <a:ext cx="3507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Centered independent variable</a:t>
            </a:r>
            <a:endParaRPr lang="en-IL" sz="2000" b="1" dirty="0"/>
          </a:p>
        </p:txBody>
      </p:sp>
    </p:spTree>
    <p:extLst>
      <p:ext uri="{BB962C8B-B14F-4D97-AF65-F5344CB8AC3E}">
        <p14:creationId xmlns:p14="http://schemas.microsoft.com/office/powerpoint/2010/main" val="886055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27F4-25E2-6661-755B-28855FAE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posterior of the intercept is different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C71DAD-5092-513A-3493-7E12FA520F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2091" y="1394692"/>
                <a:ext cx="10515600" cy="1477816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value at the mean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More meaningful and interpretable than extrapolation to 0</a:t>
                </a:r>
              </a:p>
              <a:p>
                <a:pPr lvl="1"/>
                <a:r>
                  <a:rPr lang="en-US" dirty="0"/>
                  <a:t>Often, not always</a:t>
                </a:r>
              </a:p>
              <a:p>
                <a:r>
                  <a:rPr lang="en-US" dirty="0"/>
                  <a:t>Narrower by a </a:t>
                </a:r>
                <a:r>
                  <a:rPr lang="en-US" dirty="0" err="1"/>
                  <a:t>fator</a:t>
                </a:r>
                <a:r>
                  <a:rPr lang="en-US" dirty="0"/>
                  <a:t> of 10</a:t>
                </a:r>
                <a:endParaRPr lang="en-I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C71DAD-5092-513A-3493-7E12FA520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2091" y="1394692"/>
                <a:ext cx="10515600" cy="1477816"/>
              </a:xfrm>
              <a:blipFill>
                <a:blip r:embed="rId2"/>
                <a:stretch>
                  <a:fillRect l="-928" t="-10331" b="-454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F1FB1DB-2784-20F6-EB03-4D2632DC7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849" y="2872509"/>
            <a:ext cx="5093702" cy="34213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3045BD-E1B0-E4A6-8FE7-84B1D2461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36" y="2872508"/>
            <a:ext cx="5093703" cy="342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833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B8A57-88F5-ED47-A59D-65815ECB2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final fit is the same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02BDF-1B92-925E-CA6C-03091A84A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535"/>
            <a:ext cx="10515600" cy="7513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Reparameterization affects sampling and interpretability of parameters</a:t>
            </a:r>
          </a:p>
          <a:p>
            <a:pPr lvl="1"/>
            <a:r>
              <a:rPr lang="en-US" dirty="0"/>
              <a:t>Not fit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D19DA-A76A-3BA7-CB83-9B301F842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486025"/>
            <a:ext cx="6179762" cy="400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0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2A7F2-C399-A008-71D7-D9F3783D996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E431059D-3EAC-BC40-6FBE-73462828DC3F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5400" dirty="0">
                <a:latin typeface="Source Sans Pro"/>
                <a:ea typeface="Source Sans Pro"/>
              </a:rPr>
              <a:t>8.5 Multivariate regression</a:t>
            </a:r>
            <a:endParaRPr sz="5400"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9337151A-07F1-B42C-FCF6-F937A4E84A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Multivariate dependencies, the multivariate model with simple and matrix variables, workflow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19673881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58585-7B28-12E3-3264-0C8795643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67" y="365126"/>
            <a:ext cx="11065933" cy="786342"/>
          </a:xfrm>
        </p:spPr>
        <p:txBody>
          <a:bodyPr/>
          <a:lstStyle/>
          <a:p>
            <a:r>
              <a:rPr lang="en-US" dirty="0"/>
              <a:t>Mini-mental state exam (MMSE)</a:t>
            </a:r>
            <a:endParaRPr lang="en-I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0F220-CB84-7414-361B-C05DD8036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450" y="1571625"/>
            <a:ext cx="4826000" cy="2314575"/>
          </a:xfrm>
        </p:spPr>
        <p:txBody>
          <a:bodyPr/>
          <a:lstStyle/>
          <a:p>
            <a:r>
              <a:rPr lang="en-US" dirty="0"/>
              <a:t>Widely used in clinical practice and in research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41CFE8-E7B1-21FD-3B53-3238386E6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50" y="4503328"/>
            <a:ext cx="6995766" cy="21185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C81262-594C-EAE9-8DDC-277AF870E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667" y="1502116"/>
            <a:ext cx="5914286" cy="309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492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ADB8-A8EC-8302-4AB8-DF760D187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8542"/>
          </a:xfrm>
        </p:spPr>
        <p:txBody>
          <a:bodyPr>
            <a:normAutofit fontScale="90000"/>
          </a:bodyPr>
          <a:lstStyle/>
          <a:p>
            <a:r>
              <a:rPr lang="en-US" dirty="0"/>
              <a:t>MMSE predicts brain volume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C069F-0333-190C-A04F-7136ADFD3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668"/>
            <a:ext cx="10515600" cy="222673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Note that the MMSE is</a:t>
            </a:r>
          </a:p>
          <a:p>
            <a:pPr lvl="1"/>
            <a:r>
              <a:rPr lang="en-US" dirty="0"/>
              <a:t>Ordinal</a:t>
            </a:r>
          </a:p>
          <a:p>
            <a:pPr lvl="1"/>
            <a:r>
              <a:rPr lang="en-US" dirty="0"/>
              <a:t>Bounded</a:t>
            </a:r>
          </a:p>
          <a:p>
            <a:pPr lvl="1"/>
            <a:r>
              <a:rPr lang="en-US" dirty="0"/>
              <a:t>Non-Gaussian</a:t>
            </a:r>
          </a:p>
          <a:p>
            <a:r>
              <a:rPr lang="en-US" dirty="0"/>
              <a:t>None of this violates the regression model</a:t>
            </a:r>
          </a:p>
          <a:p>
            <a:pPr lvl="1"/>
            <a:r>
              <a:rPr lang="en-US" dirty="0"/>
              <a:t>No assumptions about the independent variable</a:t>
            </a:r>
          </a:p>
          <a:p>
            <a:pPr lvl="1"/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B5050D-BFBE-8D42-E266-0C898BAEA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199" y="3519243"/>
            <a:ext cx="8378825" cy="2973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D43C94-6776-C35F-79B6-EE269A12F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029" y="3429001"/>
            <a:ext cx="4561491" cy="3063874"/>
          </a:xfrm>
          <a:prstGeom prst="rect">
            <a:avLst/>
          </a:prstGeom>
          <a:ln w="57150"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976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69C1-6B4E-2479-8605-01B8249B3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008"/>
          </a:xfrm>
        </p:spPr>
        <p:txBody>
          <a:bodyPr/>
          <a:lstStyle/>
          <a:p>
            <a:r>
              <a:rPr lang="en-US" dirty="0"/>
              <a:t>Can we ask about Age and MMSE together?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C2B4C-B3DE-415B-9685-9D58F3810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14814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Treat age and MMSE as two </a:t>
            </a:r>
            <a:r>
              <a:rPr lang="en-US" b="1" dirty="0"/>
              <a:t>independent</a:t>
            </a:r>
            <a:r>
              <a:rPr lang="en-US" dirty="0"/>
              <a:t> variables</a:t>
            </a:r>
          </a:p>
          <a:p>
            <a:r>
              <a:rPr lang="en-US" dirty="0"/>
              <a:t>Treat </a:t>
            </a:r>
            <a:r>
              <a:rPr lang="en-US" dirty="0" err="1"/>
              <a:t>nWBV</a:t>
            </a:r>
            <a:r>
              <a:rPr lang="en-US" dirty="0"/>
              <a:t> as a </a:t>
            </a:r>
            <a:r>
              <a:rPr lang="en-US" b="1" dirty="0"/>
              <a:t>dependent</a:t>
            </a:r>
            <a:r>
              <a:rPr lang="en-US" dirty="0"/>
              <a:t> variable</a:t>
            </a:r>
          </a:p>
          <a:p>
            <a:r>
              <a:rPr lang="en-US" dirty="0"/>
              <a:t>Combine into a single model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3EA54-6B15-21DD-204D-A229BEC9C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3505" y="3276174"/>
            <a:ext cx="4873549" cy="3159924"/>
          </a:xfrm>
          <a:prstGeom prst="rect">
            <a:avLst/>
          </a:prstGeom>
          <a:ln w="57150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91DF18-C074-2990-CE9E-1D178D73B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73" y="3219397"/>
            <a:ext cx="5371955" cy="348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6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0AE7C-D99B-5637-F130-FA13CEAAF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608"/>
          </a:xfrm>
        </p:spPr>
        <p:txBody>
          <a:bodyPr/>
          <a:lstStyle/>
          <a:p>
            <a:r>
              <a:rPr lang="en-US" dirty="0"/>
              <a:t>Three dimensional plots can help visualize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BEB8DF-516F-E7CB-5B5D-2C39AAD00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66" y="1771542"/>
            <a:ext cx="5105402" cy="3314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711971-C763-B08E-21DE-B74964840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689" y="1771542"/>
            <a:ext cx="5105402" cy="331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1384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8503F-7D4F-51A5-9E0C-C2B5D04F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generalize the bivariate model</a:t>
            </a:r>
            <a:endParaRPr lang="en-IL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44BE22A-7553-1020-9C60-AB18AFD11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2635" y="1987204"/>
            <a:ext cx="5281937" cy="465066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1E7504E-BD6E-24ED-C58D-309196321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t="5538"/>
          <a:stretch>
            <a:fillRect/>
          </a:stretch>
        </p:blipFill>
        <p:spPr>
          <a:xfrm>
            <a:off x="5900934" y="1733514"/>
            <a:ext cx="6031215" cy="490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6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DC7E7-C33C-762E-60CA-87A98A2DE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D810265-CF4A-8D38-836A-C86C682109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0114" y="1386749"/>
            <a:ext cx="3850898" cy="3134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BFBE8C-9523-44D6-2ECA-ABA977E9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77378"/>
            <a:ext cx="10515600" cy="1325563"/>
          </a:xfrm>
        </p:spPr>
        <p:txBody>
          <a:bodyPr/>
          <a:lstStyle/>
          <a:p>
            <a:r>
              <a:rPr lang="en-US" dirty="0"/>
              <a:t>And translate it to </a:t>
            </a:r>
            <a:r>
              <a:rPr lang="en-US" dirty="0" err="1"/>
              <a:t>PyMC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E4757-411B-878A-A25A-0086BF4DA5C8}"/>
              </a:ext>
            </a:extLst>
          </p:cNvPr>
          <p:cNvSpPr txBox="1"/>
          <p:nvPr/>
        </p:nvSpPr>
        <p:spPr>
          <a:xfrm>
            <a:off x="364067" y="4208398"/>
            <a:ext cx="11430000" cy="1709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coords_multiple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L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nwbv_multiple_model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Age_c_data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Age_c_data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multiple_df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Age_c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to_numpy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MMSE_c_data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MMSE_c_data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multiple_df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MMSE_c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to_numpy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beta0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"beta0"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mu_beta0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sigma_beta0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beta1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"beta1"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mu_beta1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sigma_beta1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beta2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"beta2"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mu_beta2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sigma_beta2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HalfNormal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"sigma"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Deterministic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beta0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beta1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Age_c_data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beta2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MMSE_c_data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observed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multiple_df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nWBV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to_numpy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80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8D414-B4C3-30D7-EA8D-E15F69F53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3564-8078-544A-0EF2-800997D16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77378"/>
            <a:ext cx="10515600" cy="1325563"/>
          </a:xfrm>
        </p:spPr>
        <p:txBody>
          <a:bodyPr/>
          <a:lstStyle/>
          <a:p>
            <a:r>
              <a:rPr lang="en-US" dirty="0"/>
              <a:t>We can generalize to matrix notation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457C4B-F29F-135D-5959-E8771B724BB5}"/>
              </a:ext>
            </a:extLst>
          </p:cNvPr>
          <p:cNvSpPr txBox="1"/>
          <p:nvPr/>
        </p:nvSpPr>
        <p:spPr>
          <a:xfrm>
            <a:off x="381000" y="2073782"/>
            <a:ext cx="11430000" cy="1709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L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nwbv_multiple_model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Age_c_data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Age_c_data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multiple_df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Age_c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to_numpy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MMSE_c_data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MMSE_c_data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multiple_df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MMSE_c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to_numpy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beta0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"beta0"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mu_beta0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sigma_beta0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beta1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"beta1"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mu_beta1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sigma_beta1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beta2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"beta2"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mu_beta2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sigma_beta2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HalfNormal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"sigma"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Deterministic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beta0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beta1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Age_c_data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beta2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MMSE_c_data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observed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multiple_df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nWBV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to_numpy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314797D-CDB3-A47D-3A70-6269C8E0CA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339885"/>
              </p:ext>
            </p:extLst>
          </p:nvPr>
        </p:nvGraphicFramePr>
        <p:xfrm>
          <a:off x="3730231" y="1302109"/>
          <a:ext cx="5066636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840" imgH="241200" progId="Equation.DSMT4">
                  <p:embed/>
                </p:oleObj>
              </mc:Choice>
              <mc:Fallback>
                <p:oleObj name="Equation" r:id="rId2" imgW="20318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30231" y="1302109"/>
                        <a:ext cx="5066636" cy="601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8883D66-21F7-8284-CAE8-E41334F821EF}"/>
              </a:ext>
            </a:extLst>
          </p:cNvPr>
          <p:cNvSpPr txBox="1"/>
          <p:nvPr/>
        </p:nvSpPr>
        <p:spPr>
          <a:xfrm>
            <a:off x="364067" y="3953234"/>
            <a:ext cx="102785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L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L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model_matrix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_matrix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"var"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mu_beta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sigma_beta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"var"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HalfNormal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"sigma"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Deterministic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observed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multiple_df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nWBV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to_numpy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E1F498-9CD7-F5A1-ABC4-64B365790878}"/>
              </a:ext>
            </a:extLst>
          </p:cNvPr>
          <p:cNvSpPr/>
          <p:nvPr/>
        </p:nvSpPr>
        <p:spPr>
          <a:xfrm>
            <a:off x="736600" y="2650067"/>
            <a:ext cx="9262533" cy="8890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B2FF18-9DE1-4B1E-6324-106A7BE7CF83}"/>
              </a:ext>
            </a:extLst>
          </p:cNvPr>
          <p:cNvSpPr/>
          <p:nvPr/>
        </p:nvSpPr>
        <p:spPr>
          <a:xfrm>
            <a:off x="736600" y="4826000"/>
            <a:ext cx="7120467" cy="29633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9743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EE0ED-94DD-517C-6E84-F677FE6E1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59B86-F5AA-D140-4CD5-F2B13BCE1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77378"/>
            <a:ext cx="10515600" cy="1325563"/>
          </a:xfrm>
        </p:spPr>
        <p:txBody>
          <a:bodyPr/>
          <a:lstStyle/>
          <a:p>
            <a:r>
              <a:rPr lang="en-US" dirty="0"/>
              <a:t>We can generalize to matrix notation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B05D2-9C41-B342-02D8-4567B14843EE}"/>
              </a:ext>
            </a:extLst>
          </p:cNvPr>
          <p:cNvSpPr txBox="1"/>
          <p:nvPr/>
        </p:nvSpPr>
        <p:spPr>
          <a:xfrm>
            <a:off x="364067" y="1602941"/>
            <a:ext cx="102785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L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L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model_matrix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_matrix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"var"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"beta"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mu_beta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sigma_beta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"var"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HalfNormal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"sigma"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sigma_sigma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Deterministic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L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L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L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nwbv_obs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sigma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observed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multiple_df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nWBV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L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to_numpy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L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IL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obs_id</a:t>
            </a:r>
            <a:r>
              <a:rPr lang="en-IL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L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92B6E-1481-4318-CBE7-C22516791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0" y="1602941"/>
            <a:ext cx="4675357" cy="530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4015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C7B0-5827-4A6E-34DE-D562E120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99" y="365125"/>
            <a:ext cx="11711709" cy="1325563"/>
          </a:xfrm>
        </p:spPr>
        <p:txBody>
          <a:bodyPr/>
          <a:lstStyle/>
          <a:p>
            <a:r>
              <a:rPr lang="en-US" dirty="0"/>
              <a:t>The data matrix holds all the independent variables</a:t>
            </a:r>
            <a:endParaRPr lang="en-IL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1BD53EE-9A8A-364A-FE62-29F33F6D5C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419950"/>
              </p:ext>
            </p:extLst>
          </p:nvPr>
        </p:nvGraphicFramePr>
        <p:xfrm>
          <a:off x="640583" y="2020473"/>
          <a:ext cx="4292307" cy="260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939600" progId="Equation.DSMT4">
                  <p:embed/>
                </p:oleObj>
              </mc:Choice>
              <mc:Fallback>
                <p:oleObj name="Equation" r:id="rId2" imgW="15490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0583" y="2020473"/>
                        <a:ext cx="4292307" cy="260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F6D4AE5-82CB-0FEC-A0C2-E406A86EAF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938306"/>
              </p:ext>
            </p:extLst>
          </p:nvPr>
        </p:nvGraphicFramePr>
        <p:xfrm>
          <a:off x="5787499" y="2020473"/>
          <a:ext cx="1471613" cy="2367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3920" imgH="939600" progId="Equation.DSMT4">
                  <p:embed/>
                </p:oleObj>
              </mc:Choice>
              <mc:Fallback>
                <p:oleObj name="Equation" r:id="rId4" imgW="5839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87499" y="2020473"/>
                        <a:ext cx="1471613" cy="2367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17BF266-3AD6-C363-EA19-F013F2A924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065311"/>
              </p:ext>
            </p:extLst>
          </p:nvPr>
        </p:nvGraphicFramePr>
        <p:xfrm>
          <a:off x="8113721" y="1857381"/>
          <a:ext cx="1939925" cy="2929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939600" progId="Equation.DSMT4">
                  <p:embed/>
                </p:oleObj>
              </mc:Choice>
              <mc:Fallback>
                <p:oleObj name="Equation" r:id="rId6" imgW="6220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13721" y="1857381"/>
                        <a:ext cx="1939925" cy="29296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7A57C05-BDFD-2DD8-70B5-C545381577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915016"/>
              </p:ext>
            </p:extLst>
          </p:nvPr>
        </p:nvGraphicFramePr>
        <p:xfrm>
          <a:off x="10053646" y="2971384"/>
          <a:ext cx="1227931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203040" progId="Equation.DSMT4">
                  <p:embed/>
                </p:oleObj>
              </mc:Choice>
              <mc:Fallback>
                <p:oleObj name="Equation" r:id="rId8" imgW="355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053646" y="2971384"/>
                        <a:ext cx="1227931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494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F156-83FA-0084-03C9-BDAB71F1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365126"/>
            <a:ext cx="11096625" cy="749300"/>
          </a:xfrm>
        </p:spPr>
        <p:txBody>
          <a:bodyPr/>
          <a:lstStyle/>
          <a:p>
            <a:r>
              <a:rPr lang="en-US" dirty="0"/>
              <a:t>Always do the workflow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5A9E5-93AD-957E-6E79-80FA0B60D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6" y="1097231"/>
            <a:ext cx="5772150" cy="33366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303F35-A9AB-8E9E-0410-E356B420D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006" y="4524375"/>
            <a:ext cx="7666758" cy="164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543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4C00-C819-BBC2-2292-E49A87A9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07DF-00F7-08FD-86BB-72108B193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365126"/>
            <a:ext cx="11096625" cy="749300"/>
          </a:xfrm>
        </p:spPr>
        <p:txBody>
          <a:bodyPr/>
          <a:lstStyle/>
          <a:p>
            <a:r>
              <a:rPr lang="en-US" dirty="0"/>
              <a:t>Check goodness of fit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1828C0-8B0F-4C09-9CAF-05507DD5D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2373581"/>
            <a:ext cx="5772150" cy="3336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1927FB-B24A-3E75-4B4E-B384D7CEB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2677" y="2373581"/>
            <a:ext cx="5772150" cy="333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82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43767-4CB7-B075-1059-A1919D6A9D9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D7DAD79F-8271-55E8-AEFE-A14DE4A40474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5400" dirty="0">
                <a:latin typeface="Source Sans Pro"/>
                <a:ea typeface="Source Sans Pro"/>
              </a:rPr>
              <a:t>8.6 Multivariate regression posterior</a:t>
            </a:r>
            <a:endParaRPr sz="5400"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98A27B86-4154-0445-7225-CA0EFED2A5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43734003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236FF8-0167-364C-2F72-A6700B8C9FD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09575" y="365125"/>
                <a:ext cx="11334750" cy="873125"/>
              </a:xfrm>
            </p:spPr>
            <p:txBody>
              <a:bodyPr>
                <a:normAutofit fontScale="9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Age</m:t>
                        </m:r>
                      </m:sub>
                    </m:sSub>
                  </m:oMath>
                </a14:m>
                <a:r>
                  <a:rPr lang="en-US" dirty="0"/>
                  <a:t> gives the effect of Age when MMSE is held fixed</a:t>
                </a:r>
                <a:endParaRPr lang="en-IL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236FF8-0167-364C-2F72-A6700B8C9F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09575" y="365125"/>
                <a:ext cx="11334750" cy="873125"/>
              </a:xfrm>
              <a:blipFill>
                <a:blip r:embed="rId2"/>
                <a:stretch>
                  <a:fillRect t="-13287" r="-484" b="-97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F597FE-2A1A-8ADB-9BDF-2534B15D1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575"/>
            <a:ext cx="10515600" cy="120015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nWBV</a:t>
            </a:r>
            <a:r>
              <a:rPr lang="en-US" dirty="0"/>
              <a:t> is reduced around 0.25% / year </a:t>
            </a:r>
          </a:p>
          <a:p>
            <a:pPr lvl="1"/>
            <a:r>
              <a:rPr lang="en-US" dirty="0"/>
              <a:t>HDI is 0.2%-0.3%</a:t>
            </a:r>
          </a:p>
          <a:p>
            <a:pPr lvl="1"/>
            <a:r>
              <a:rPr lang="en-US" dirty="0"/>
              <a:t>For different values of MMSE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B62100-3CF3-4751-D1CC-359FFB0F1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324" y="3019426"/>
            <a:ext cx="5757873" cy="37385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3F92AD-EDB0-A647-D3A9-61892BA3A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917" y="3638550"/>
            <a:ext cx="5311591" cy="292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034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2E24-78A7-CF22-E868-A1A882BF5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D26C7A-AB6D-115E-5B60-1075B1A69D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15481" y="365125"/>
                <a:ext cx="11738394" cy="98742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MMSE</m:t>
                        </m:r>
                      </m:sub>
                    </m:sSub>
                  </m:oMath>
                </a14:m>
                <a:r>
                  <a:rPr lang="en-US" sz="3600" dirty="0"/>
                  <a:t> gives the effect of MMSE when Age is held fixed</a:t>
                </a:r>
                <a:endParaRPr lang="en-IL" sz="36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D26C7A-AB6D-115E-5B60-1075B1A69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15481" y="365125"/>
                <a:ext cx="11738394" cy="987425"/>
              </a:xfrm>
              <a:blipFill>
                <a:blip r:embed="rId2"/>
                <a:stretch>
                  <a:fillRect b="-308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DABF057-4493-981B-5C6A-52F987F66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80" y="2743200"/>
            <a:ext cx="5347119" cy="34718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F64105-915A-17ED-F034-EEF87E3E8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681" y="3032125"/>
            <a:ext cx="5639384" cy="304165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8A933A-13CD-8875-4FE3-4170F48C5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254" y="1454150"/>
            <a:ext cx="10515600" cy="11938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nWBV</a:t>
            </a:r>
            <a:r>
              <a:rPr lang="en-US" dirty="0"/>
              <a:t> goes up by 0.4% for every point of MMSE</a:t>
            </a:r>
          </a:p>
          <a:p>
            <a:pPr lvl="1"/>
            <a:r>
              <a:rPr lang="en-US" dirty="0"/>
              <a:t>HDI is 2.4%-5.2%</a:t>
            </a:r>
          </a:p>
          <a:p>
            <a:pPr lvl="1"/>
            <a:r>
              <a:rPr lang="en-US" dirty="0"/>
              <a:t>For a given age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879241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CAA5-DBF8-C225-D18E-1D4899754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slope parameters are not correlated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C7FFB-D36B-5B72-CF1B-BF534A40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67400" cy="1441450"/>
          </a:xfrm>
        </p:spPr>
        <p:txBody>
          <a:bodyPr/>
          <a:lstStyle/>
          <a:p>
            <a:r>
              <a:rPr lang="en-US" dirty="0"/>
              <a:t>Correlated parameters can be a problem for models</a:t>
            </a:r>
          </a:p>
          <a:p>
            <a:pPr lvl="1"/>
            <a:r>
              <a:rPr lang="en-US" dirty="0"/>
              <a:t>Like with uncentered data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367CC2-9ED9-3046-9F72-96690EC4C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3287" y="2085974"/>
            <a:ext cx="423862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06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166C-8A00-1A4F-D760-2CB34D4F2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65125"/>
            <a:ext cx="11068050" cy="1325563"/>
          </a:xfrm>
        </p:spPr>
        <p:txBody>
          <a:bodyPr/>
          <a:lstStyle/>
          <a:p>
            <a:r>
              <a:rPr lang="en-US" dirty="0"/>
              <a:t>Compare effect sizes using standardized slopes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8966C-4DE5-661D-FEFB-CAE146074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2975" y="1771650"/>
            <a:ext cx="5095876" cy="1447799"/>
          </a:xfrm>
        </p:spPr>
        <p:txBody>
          <a:bodyPr/>
          <a:lstStyle/>
          <a:p>
            <a:r>
              <a:rPr lang="en-US" dirty="0"/>
              <a:t>Compare slopes despite difference in units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5CFB8-D4F6-2622-9232-B9B7A239F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7800" y="3429000"/>
            <a:ext cx="5881686" cy="3234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E01888-8464-6F3B-5DD8-9D84B0B13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18" y="2059394"/>
            <a:ext cx="3269258" cy="1797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1D6A08-9735-6542-9768-7CC36A863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18" y="4089400"/>
            <a:ext cx="3269258" cy="1763302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3362D7B-0B31-68B6-CF31-81CFD26A07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001541"/>
              </p:ext>
            </p:extLst>
          </p:nvPr>
        </p:nvGraphicFramePr>
        <p:xfrm>
          <a:off x="10025760" y="1433918"/>
          <a:ext cx="1924050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600" imgH="469800" progId="Equation.DSMT4">
                  <p:embed/>
                </p:oleObj>
              </mc:Choice>
              <mc:Fallback>
                <p:oleObj name="Equation" r:id="rId5" imgW="7236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25760" y="1433918"/>
                        <a:ext cx="1924050" cy="1250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73784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F47C-0B51-B427-10D5-CE63E6EAB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365125"/>
            <a:ext cx="11182350" cy="835025"/>
          </a:xfrm>
        </p:spPr>
        <p:txBody>
          <a:bodyPr/>
          <a:lstStyle/>
          <a:p>
            <a:r>
              <a:rPr lang="en-US" dirty="0"/>
              <a:t>Compare HDI and ROPE on standardized effects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87F2A-F3CD-7E07-7CFF-3E507046D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320800"/>
            <a:ext cx="10515600" cy="1870075"/>
          </a:xfrm>
        </p:spPr>
        <p:txBody>
          <a:bodyPr/>
          <a:lstStyle/>
          <a:p>
            <a:r>
              <a:rPr lang="en-US" dirty="0"/>
              <a:t>Plots show only the HDI without the tails</a:t>
            </a:r>
          </a:p>
          <a:p>
            <a:r>
              <a:rPr lang="en-US" dirty="0"/>
              <a:t>No overlap with ROPE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E77815-C084-7AB3-90BA-3D390CE0B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972" y="2905126"/>
            <a:ext cx="6524016" cy="358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625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A04DD6-4CFF-E47B-2560-91B47D15E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537" y="2708276"/>
            <a:ext cx="5805207" cy="38992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97F48-171E-9448-FF10-EB5F3BC81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61"/>
            <a:ext cx="10515600" cy="1325563"/>
          </a:xfrm>
        </p:spPr>
        <p:txBody>
          <a:bodyPr/>
          <a:lstStyle/>
          <a:p>
            <a:r>
              <a:rPr lang="en-US" dirty="0"/>
              <a:t>Variance explained is used as an effect size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0BC4D7-4FBF-CFAB-ED1A-5777F3846B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6225" y="1382713"/>
                <a:ext cx="6543675" cy="2317750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divides the variance into two parts:</a:t>
                </a:r>
              </a:p>
              <a:p>
                <a:pPr lvl="1"/>
                <a:r>
                  <a:rPr lang="en-US" dirty="0"/>
                  <a:t>Variance captured by the model: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I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Residual variance in the data: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 general: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Although not exactly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always increases when new variables are added to the model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0BC4D7-4FBF-CFAB-ED1A-5777F3846B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6225" y="1382713"/>
                <a:ext cx="6543675" cy="2317750"/>
              </a:xfrm>
              <a:blipFill>
                <a:blip r:embed="rId3"/>
                <a:stretch>
                  <a:fillRect t="-6579" b="-28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0F39704-99F0-40D6-638B-B9901A985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477492"/>
              </p:ext>
            </p:extLst>
          </p:nvPr>
        </p:nvGraphicFramePr>
        <p:xfrm>
          <a:off x="1066799" y="4614067"/>
          <a:ext cx="3122311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469800" progId="Equation.DSMT4">
                  <p:embed/>
                </p:oleObj>
              </mc:Choice>
              <mc:Fallback>
                <p:oleObj name="Equation" r:id="rId4" imgW="11682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6799" y="4614067"/>
                        <a:ext cx="3122311" cy="1255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415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E951E-6BEB-97B7-A0C5-77F2A727FE9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C2C4D6AA-F50C-0C42-DA94-2C35B97AD802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5400" dirty="0">
                <a:latin typeface="Source Sans Pro"/>
                <a:ea typeface="Source Sans Pro"/>
              </a:rPr>
              <a:t>8.7 Frequentist methods</a:t>
            </a:r>
            <a:endParaRPr sz="5400"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0A05A261-A7AF-B7DE-A68B-0209BE2AF6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 fontScale="92500"/>
          </a:bodyPr>
          <a:lstStyle/>
          <a:p>
            <a:pPr>
              <a:defRPr/>
            </a:pPr>
            <a:r>
              <a:rPr lang="en-US" sz="4000" dirty="0"/>
              <a:t>Frequentist multivariate model, estimators for regression coefficients, effect sizes, hypothesis tests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355402151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4F13-794B-6F89-7B68-9C8B3D56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A1BC09-6AC3-EA1A-6F4E-6CDFF35C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frequentist multivariate regression model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B25F3A-2D6A-3D43-F7E7-D47D2EE27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1"/>
            <a:ext cx="10515600" cy="1028700"/>
          </a:xfrm>
        </p:spPr>
        <p:txBody>
          <a:bodyPr>
            <a:normAutofit/>
          </a:bodyPr>
          <a:lstStyle/>
          <a:p>
            <a:r>
              <a:rPr lang="en-US" dirty="0"/>
              <a:t>Estimators use Roman letters instead of Greek letters</a:t>
            </a:r>
          </a:p>
          <a:p>
            <a:r>
              <a:rPr lang="en-US" dirty="0"/>
              <a:t>The estimator can be derived by minimizing the sum squared error</a:t>
            </a:r>
            <a:endParaRPr lang="en-IL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0760185-D5C4-BFD9-1998-A1874D2950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219992"/>
              </p:ext>
            </p:extLst>
          </p:nvPr>
        </p:nvGraphicFramePr>
        <p:xfrm>
          <a:off x="819150" y="2430463"/>
          <a:ext cx="14493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400" imgH="203040" progId="Equation.DSMT4">
                  <p:embed/>
                </p:oleObj>
              </mc:Choice>
              <mc:Fallback>
                <p:oleObj name="Equation" r:id="rId2" imgW="482400" imgH="2030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94C5890E-3000-D4CB-DF3A-84884ACDA1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19150" y="2430463"/>
                        <a:ext cx="1449388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5F6FC29-B96E-5E05-465D-98EEDAA72E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781287"/>
              </p:ext>
            </p:extLst>
          </p:nvPr>
        </p:nvGraphicFramePr>
        <p:xfrm>
          <a:off x="838200" y="2960159"/>
          <a:ext cx="2469472" cy="756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279360" progId="Equation.DSMT4">
                  <p:embed/>
                </p:oleObj>
              </mc:Choice>
              <mc:Fallback>
                <p:oleObj name="Equation" r:id="rId4" imgW="914400" imgH="2793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3145689-626A-5412-F343-8CEF1BA7C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2960159"/>
                        <a:ext cx="2469472" cy="7560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90B1C34-F8E1-2FAD-F0BE-E08FCD8453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2866" y="2929842"/>
            <a:ext cx="5105402" cy="3314916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0A28702-D160-E9C6-1EA2-8C46B631E7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538019"/>
              </p:ext>
            </p:extLst>
          </p:nvPr>
        </p:nvGraphicFramePr>
        <p:xfrm>
          <a:off x="938212" y="5782330"/>
          <a:ext cx="412432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79560" imgH="431640" progId="Equation.DSMT4">
                  <p:embed/>
                </p:oleObj>
              </mc:Choice>
              <mc:Fallback>
                <p:oleObj name="Equation" r:id="rId7" imgW="1879560" imgH="4316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28A1D6B3-032D-6BC7-D5DE-19AF41FF6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38212" y="5782330"/>
                        <a:ext cx="4124325" cy="947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B44B92C-22F2-7B63-15EC-722A7119AC32}"/>
              </a:ext>
            </a:extLst>
          </p:cNvPr>
          <p:cNvSpPr txBox="1"/>
          <p:nvPr/>
        </p:nvSpPr>
        <p:spPr>
          <a:xfrm>
            <a:off x="620513" y="5283574"/>
            <a:ext cx="16289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Minimize:</a:t>
            </a:r>
            <a:endParaRPr lang="en-IL" sz="280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613D0D6-7C17-422C-0052-1389EA4EC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19397"/>
              </p:ext>
            </p:extLst>
          </p:nvPr>
        </p:nvGraphicFramePr>
        <p:xfrm>
          <a:off x="1093257" y="4496140"/>
          <a:ext cx="1409698" cy="609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69800" imgH="203040" progId="Equation.DSMT4">
                  <p:embed/>
                </p:oleObj>
              </mc:Choice>
              <mc:Fallback>
                <p:oleObj name="Equation" r:id="rId9" imgW="469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93257" y="4496140"/>
                        <a:ext cx="1409698" cy="609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6EDDAD9-C2A8-473D-89A4-9E9ADD214BCE}"/>
              </a:ext>
            </a:extLst>
          </p:cNvPr>
          <p:cNvSpPr txBox="1"/>
          <p:nvPr/>
        </p:nvSpPr>
        <p:spPr>
          <a:xfrm>
            <a:off x="544313" y="4083763"/>
            <a:ext cx="1832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Estimators: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214524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B6AA6D-7174-A213-1030-DA2510A4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743" y="150922"/>
            <a:ext cx="10515600" cy="1325563"/>
          </a:xfrm>
        </p:spPr>
        <p:txBody>
          <a:bodyPr/>
          <a:lstStyle/>
          <a:p>
            <a:r>
              <a:rPr lang="en-US" dirty="0"/>
              <a:t>The estimators have a simple formula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341A887-6EF9-C0B0-ED2C-1F9BD43C3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6484"/>
                <a:ext cx="10515600" cy="132545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times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Over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 times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IL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341A887-6EF9-C0B0-ED2C-1F9BD43C3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6484"/>
                <a:ext cx="10515600" cy="1325451"/>
              </a:xfrm>
              <a:blipFill>
                <a:blip r:embed="rId2"/>
                <a:stretch>
                  <a:fillRect l="-1043" t="-733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4C5890E-3000-D4CB-DF3A-84884ACDA1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069601"/>
              </p:ext>
            </p:extLst>
          </p:nvPr>
        </p:nvGraphicFramePr>
        <p:xfrm>
          <a:off x="723900" y="2801938"/>
          <a:ext cx="34321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203040" progId="Equation.DSMT4">
                  <p:embed/>
                </p:oleObj>
              </mc:Choice>
              <mc:Fallback>
                <p:oleObj name="Equation" r:id="rId3" imgW="1143000" imgH="2030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36B2E49-AD1E-44CE-35A1-55F39605CA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3900" y="2801938"/>
                        <a:ext cx="3432175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3145689-626A-5412-F343-8CEF1BA7C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434016"/>
              </p:ext>
            </p:extLst>
          </p:nvPr>
        </p:nvGraphicFramePr>
        <p:xfrm>
          <a:off x="838198" y="3567112"/>
          <a:ext cx="2473325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279360" progId="Equation.DSMT4">
                  <p:embed/>
                </p:oleObj>
              </mc:Choice>
              <mc:Fallback>
                <p:oleObj name="Equation" r:id="rId5" imgW="914400" imgH="27936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A706E203-4710-C974-772F-26B8E6888D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198" y="3567112"/>
                        <a:ext cx="2473325" cy="757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215D012-FE70-086B-21FF-B55A872F99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2866" y="2929842"/>
            <a:ext cx="5105402" cy="3314916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8A1D6B3-032D-6BC7-D5DE-19AF41FF6B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472075"/>
              </p:ext>
            </p:extLst>
          </p:nvPr>
        </p:nvGraphicFramePr>
        <p:xfrm>
          <a:off x="819150" y="4479925"/>
          <a:ext cx="3243263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5920" imgH="304560" progId="Equation.DSMT4">
                  <p:embed/>
                </p:oleObj>
              </mc:Choice>
              <mc:Fallback>
                <p:oleObj name="Equation" r:id="rId8" imgW="10159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19150" y="4479925"/>
                        <a:ext cx="3243263" cy="973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1BEF9CA-7C48-D979-04F4-CF526A1E1E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733962"/>
              </p:ext>
            </p:extLst>
          </p:nvPr>
        </p:nvGraphicFramePr>
        <p:xfrm>
          <a:off x="838197" y="5608639"/>
          <a:ext cx="3908921" cy="735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85720" imgH="279360" progId="Equation.DSMT4">
                  <p:embed/>
                </p:oleObj>
              </mc:Choice>
              <mc:Fallback>
                <p:oleObj name="Equation" r:id="rId10" imgW="14857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38197" y="5608639"/>
                        <a:ext cx="3908921" cy="7350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1019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05DD4-069D-BFA9-8FC4-21621B04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3EE66D-7786-F9F6-EFC6-77A6D2D1F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50922"/>
            <a:ext cx="11906250" cy="1325563"/>
          </a:xfrm>
        </p:spPr>
        <p:txBody>
          <a:bodyPr/>
          <a:lstStyle/>
          <a:p>
            <a:r>
              <a:rPr lang="en-US" dirty="0"/>
              <a:t>The sampling distribution of the estimators is normal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4CCE397-134B-BC60-6D3A-36E72DD3C4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6484"/>
                <a:ext cx="4953000" cy="248591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They are unbiased</a:t>
                </a:r>
              </a:p>
              <a:p>
                <a:r>
                  <a:rPr lang="en-US" dirty="0"/>
                  <a:t>With known variance</a:t>
                </a:r>
              </a:p>
              <a:p>
                <a:r>
                  <a:rPr lang="en-US" dirty="0"/>
                  <a:t>That can be estimated</a:t>
                </a:r>
              </a:p>
              <a:p>
                <a:r>
                  <a:rPr lang="en-US" dirty="0"/>
                  <a:t>So each estimator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normally distributed with known variance that can be estimated</a:t>
                </a:r>
                <a:endParaRPr lang="en-IL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4CCE397-134B-BC60-6D3A-36E72DD3C4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6484"/>
                <a:ext cx="4953000" cy="2485916"/>
              </a:xfrm>
              <a:blipFill>
                <a:blip r:embed="rId2"/>
                <a:stretch>
                  <a:fillRect l="-1970" t="-4902" r="-123" b="-24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EEA3761-4658-09A8-1013-D8F4398D76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88347"/>
              </p:ext>
            </p:extLst>
          </p:nvPr>
        </p:nvGraphicFramePr>
        <p:xfrm>
          <a:off x="838200" y="4335461"/>
          <a:ext cx="33940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203040" progId="Equation.DSMT4">
                  <p:embed/>
                </p:oleObj>
              </mc:Choice>
              <mc:Fallback>
                <p:oleObj name="Equation" r:id="rId3" imgW="1130040" imgH="2030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94C5890E-3000-D4CB-DF3A-84884ACDA1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4335461"/>
                        <a:ext cx="3394075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25BD411-E11D-65D2-B1B0-C29E85C72A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269455"/>
              </p:ext>
            </p:extLst>
          </p:nvPr>
        </p:nvGraphicFramePr>
        <p:xfrm>
          <a:off x="932655" y="5100637"/>
          <a:ext cx="2473325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279360" progId="Equation.DSMT4">
                  <p:embed/>
                </p:oleObj>
              </mc:Choice>
              <mc:Fallback>
                <p:oleObj name="Equation" r:id="rId5" imgW="914400" imgH="2793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3145689-626A-5412-F343-8CEF1BA7C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2655" y="5100637"/>
                        <a:ext cx="2473325" cy="757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0C5AEE3-B8AE-5066-3FB1-6E56EC0ABA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034479"/>
              </p:ext>
            </p:extLst>
          </p:nvPr>
        </p:nvGraphicFramePr>
        <p:xfrm>
          <a:off x="6276975" y="2008185"/>
          <a:ext cx="3243263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304560" progId="Equation.DSMT4">
                  <p:embed/>
                </p:oleObj>
              </mc:Choice>
              <mc:Fallback>
                <p:oleObj name="Equation" r:id="rId7" imgW="1015920" imgH="30456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28A1D6B3-032D-6BC7-D5DE-19AF41FF6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76975" y="2008185"/>
                        <a:ext cx="3243263" cy="973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0E56B7A-EDEA-ABE7-6AD3-52A2DBC992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18931"/>
              </p:ext>
            </p:extLst>
          </p:nvPr>
        </p:nvGraphicFramePr>
        <p:xfrm>
          <a:off x="6276975" y="3789362"/>
          <a:ext cx="2536744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50680" imgH="253800" progId="Equation.DSMT4">
                  <p:embed/>
                </p:oleObj>
              </mc:Choice>
              <mc:Fallback>
                <p:oleObj name="Equation" r:id="rId9" imgW="850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76975" y="3789362"/>
                        <a:ext cx="2536744" cy="757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32822F6-AAEE-F0FC-0333-4CDDA39C46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862444"/>
              </p:ext>
            </p:extLst>
          </p:nvPr>
        </p:nvGraphicFramePr>
        <p:xfrm>
          <a:off x="6276975" y="4721222"/>
          <a:ext cx="2781300" cy="79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66680" imgH="304560" progId="Equation.DSMT4">
                  <p:embed/>
                </p:oleObj>
              </mc:Choice>
              <mc:Fallback>
                <p:oleObj name="Equation" r:id="rId11" imgW="10666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76975" y="4721222"/>
                        <a:ext cx="2781300" cy="794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F2D2E5D-9B71-264F-ACC0-9B0A7DB2E1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894374"/>
              </p:ext>
            </p:extLst>
          </p:nvPr>
        </p:nvGraphicFramePr>
        <p:xfrm>
          <a:off x="6276975" y="5690502"/>
          <a:ext cx="2549525" cy="79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77760" imgH="304560" progId="Equation.DSMT4">
                  <p:embed/>
                </p:oleObj>
              </mc:Choice>
              <mc:Fallback>
                <p:oleObj name="Equation" r:id="rId13" imgW="9777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76975" y="5690502"/>
                        <a:ext cx="2549525" cy="794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67AA821-83DE-6A59-2883-AB3F0E7997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180968"/>
              </p:ext>
            </p:extLst>
          </p:nvPr>
        </p:nvGraphicFramePr>
        <p:xfrm>
          <a:off x="6276975" y="2962270"/>
          <a:ext cx="3908921" cy="735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85720" imgH="279360" progId="Equation.DSMT4">
                  <p:embed/>
                </p:oleObj>
              </mc:Choice>
              <mc:Fallback>
                <p:oleObj name="Equation" r:id="rId15" imgW="1485720" imgH="27936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91BEF9CA-7C48-D979-04F4-CF526A1E1E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76975" y="2962270"/>
                        <a:ext cx="3908921" cy="7350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619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58A07-C423-A6DA-75A6-6BC74667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sampling distribution we can do statistics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19454-AADC-C305-9694-E889599A8D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7559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 is normally distributed</a:t>
                </a:r>
              </a:p>
              <a:p>
                <a:pPr lvl="1"/>
                <a:r>
                  <a:rPr lang="en-US" dirty="0"/>
                  <a:t>So we can get a confidence interval</a:t>
                </a:r>
              </a:p>
              <a:p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L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r>
                  <a:rPr lang="en-US" dirty="0"/>
                  <a:t> is distributed with a Student’s t distribution</a:t>
                </a:r>
              </a:p>
              <a:p>
                <a:pPr lvl="1"/>
                <a:r>
                  <a:rPr lang="en-US" dirty="0"/>
                  <a:t>Under the null hypothesis</a:t>
                </a:r>
              </a:p>
              <a:p>
                <a:pPr lvl="1"/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degrees of freedom </a:t>
                </a:r>
              </a:p>
              <a:p>
                <a:pPr lvl="2"/>
                <a:r>
                  <a:rPr lang="en-US" dirty="0"/>
                  <a:t>If 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independent variables</a:t>
                </a:r>
              </a:p>
              <a:p>
                <a:pPr lvl="1"/>
                <a:r>
                  <a:rPr lang="en-US" dirty="0"/>
                  <a:t>So we can do a hypothesis test</a:t>
                </a:r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19454-AADC-C305-9694-E889599A8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755900"/>
              </a:xfrm>
              <a:blipFill>
                <a:blip r:embed="rId2"/>
                <a:stretch>
                  <a:fillRect l="-1043" t="-4857" b="-176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2D25232-2D66-6AB7-0B3B-E5F2F945D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915" y="4970462"/>
            <a:ext cx="7807209" cy="1464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7CC7A4-94A3-4F79-68E4-2C784971190F}"/>
              </a:ext>
            </a:extLst>
          </p:cNvPr>
          <p:cNvSpPr txBox="1"/>
          <p:nvPr/>
        </p:nvSpPr>
        <p:spPr>
          <a:xfrm>
            <a:off x="8410575" y="4733925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standard error (SE) is the standard deviation of the sampling distribution.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494192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8E7C-8890-3811-4656-3D921FE9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frequentist to Bayesian intervals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D2152-D58F-D0C8-A032-BCBF13631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2850"/>
          </a:xfrm>
        </p:spPr>
        <p:txBody>
          <a:bodyPr/>
          <a:lstStyle/>
          <a:p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49BC6-EB43-D030-9023-E52462C81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848" y="3524251"/>
            <a:ext cx="7998969" cy="15004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27131C-A2F7-D05C-F5FD-1539494CF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80" y="5362575"/>
            <a:ext cx="10100767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985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B2DBEA-4024-0567-CE0D-448CC06253F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Frequentist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to as effect size for regression</a:t>
                </a:r>
                <a:endParaRPr lang="en-IL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B2DBEA-4024-0567-CE0D-448CC0625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r="-110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35907-2A1A-9D1D-9CC1-E7C1922B1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60500"/>
          </a:xfrm>
        </p:spPr>
        <p:txBody>
          <a:bodyPr/>
          <a:lstStyle/>
          <a:p>
            <a:r>
              <a:rPr lang="en-US" dirty="0"/>
              <a:t>Variance explained over total variance</a:t>
            </a:r>
          </a:p>
          <a:p>
            <a:pPr lvl="1"/>
            <a:r>
              <a:rPr lang="en-US" dirty="0"/>
              <a:t>But use only the estimators</a:t>
            </a:r>
          </a:p>
          <a:p>
            <a:pPr lvl="1"/>
            <a:r>
              <a:rPr lang="en-US" dirty="0"/>
              <a:t>Without a distribution</a:t>
            </a:r>
            <a:endParaRPr lang="en-IL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1EB9A8A-BA60-D22F-5AA5-08B577F898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752355"/>
              </p:ext>
            </p:extLst>
          </p:nvPr>
        </p:nvGraphicFramePr>
        <p:xfrm>
          <a:off x="838200" y="3421062"/>
          <a:ext cx="2273300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680" imgH="469800" progId="Equation.DSMT4">
                  <p:embed/>
                </p:oleObj>
              </mc:Choice>
              <mc:Fallback>
                <p:oleObj name="Equation" r:id="rId3" imgW="850680" imgH="4698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0F39704-99F0-40D6-638B-B9901A985B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3421062"/>
                        <a:ext cx="2273300" cy="1255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C549838-E739-F785-EF8D-936309AF05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875436"/>
              </p:ext>
            </p:extLst>
          </p:nvPr>
        </p:nvGraphicFramePr>
        <p:xfrm>
          <a:off x="3111500" y="3751262"/>
          <a:ext cx="137432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7960" imgH="177480" progId="Equation.DSMT4">
                  <p:embed/>
                </p:oleObj>
              </mc:Choice>
              <mc:Fallback>
                <p:oleObj name="Equation" r:id="rId5" imgW="5079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11500" y="3751262"/>
                        <a:ext cx="1374323" cy="481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65F337D-459C-6FBF-B77D-A333EF7544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811712"/>
            <a:ext cx="2809875" cy="17637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FF12E8-B3E3-F03A-DDCC-F084A72909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175" y="3092906"/>
            <a:ext cx="5232569" cy="35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4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0D3B3-4062-002C-6640-018049DBF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B5B4-7521-ADB4-907A-AA2A3AE8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987425"/>
          </a:xfrm>
        </p:spPr>
        <p:txBody>
          <a:bodyPr/>
          <a:lstStyle/>
          <a:p>
            <a:r>
              <a:rPr lang="en-US" dirty="0"/>
              <a:t>Define some useful statistics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FE666-C41D-C2CB-6618-0EED9FBFF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690688"/>
            <a:ext cx="10515600" cy="2586037"/>
          </a:xfrm>
        </p:spPr>
        <p:txBody>
          <a:bodyPr/>
          <a:lstStyle/>
          <a:p>
            <a:r>
              <a:rPr lang="en-US" dirty="0"/>
              <a:t>The total variability in the model</a:t>
            </a:r>
          </a:p>
          <a:p>
            <a:pPr lvl="1"/>
            <a:r>
              <a:rPr lang="en-US" dirty="0"/>
              <a:t>The sum squared distance between the model and the mean</a:t>
            </a:r>
          </a:p>
          <a:p>
            <a:r>
              <a:rPr lang="en-US" dirty="0"/>
              <a:t>The total variability not explained by the model</a:t>
            </a:r>
          </a:p>
          <a:p>
            <a:pPr lvl="1"/>
            <a:r>
              <a:rPr lang="en-US" dirty="0"/>
              <a:t>The squared distance between the data and the model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3CDA345-D718-97A7-D9A3-F93D4DA21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786632"/>
              </p:ext>
            </p:extLst>
          </p:nvPr>
        </p:nvGraphicFramePr>
        <p:xfrm>
          <a:off x="532936" y="4276725"/>
          <a:ext cx="5404597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431640" progId="Equation.DSMT4">
                  <p:embed/>
                </p:oleObj>
              </mc:Choice>
              <mc:Fallback>
                <p:oleObj name="Equation" r:id="rId2" imgW="2311200" imgH="4316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1C2EA1B-600F-8CB0-B7B6-47CF6FA362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2936" y="4276725"/>
                        <a:ext cx="5404597" cy="100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D2F3968-5E02-AA41-BEF1-841276F075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715072"/>
              </p:ext>
            </p:extLst>
          </p:nvPr>
        </p:nvGraphicFramePr>
        <p:xfrm>
          <a:off x="532936" y="5362574"/>
          <a:ext cx="504769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11200" imgH="431640" progId="Equation.DSMT4">
                  <p:embed/>
                </p:oleObj>
              </mc:Choice>
              <mc:Fallback>
                <p:oleObj name="Equation" r:id="rId4" imgW="2311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2936" y="5362574"/>
                        <a:ext cx="5047690" cy="94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11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F817-F7B1-DB12-5E6A-0E5810E3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3A36-DAF3-C4C2-1B27-16A48701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58738"/>
            <a:ext cx="11087100" cy="987425"/>
          </a:xfrm>
        </p:spPr>
        <p:txBody>
          <a:bodyPr/>
          <a:lstStyle/>
          <a:p>
            <a:r>
              <a:rPr lang="en-US" dirty="0"/>
              <a:t>Count the degrees of freedom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DDF34D-5FEC-1531-7E54-D8361268F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2826" y="1046163"/>
                <a:ext cx="10515600" cy="159226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There is a real logic to counting degrees of freedom</a:t>
                </a:r>
              </a:p>
              <a:p>
                <a:r>
                  <a:rPr lang="en-US" dirty="0"/>
                  <a:t>We will not learn it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independent variables</a:t>
                </a:r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DDF34D-5FEC-1531-7E54-D8361268F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2826" y="1046163"/>
                <a:ext cx="10515600" cy="1592261"/>
              </a:xfrm>
              <a:blipFill>
                <a:blip r:embed="rId2"/>
                <a:stretch>
                  <a:fillRect l="-1043" t="-6513" b="-49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A7C69C1-6EC6-4A5D-D7E4-E3E7D662A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829389"/>
              </p:ext>
            </p:extLst>
          </p:nvPr>
        </p:nvGraphicFramePr>
        <p:xfrm>
          <a:off x="551986" y="3514725"/>
          <a:ext cx="5404597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200" imgH="431640" progId="Equation.DSMT4">
                  <p:embed/>
                </p:oleObj>
              </mc:Choice>
              <mc:Fallback>
                <p:oleObj name="Equation" r:id="rId3" imgW="2311200" imgH="4316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3CDA345-D718-97A7-D9A3-F93D4DA21A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1986" y="3514725"/>
                        <a:ext cx="5404597" cy="100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49D56D2-1D28-D036-6EE2-69DDC9F9E6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22986"/>
              </p:ext>
            </p:extLst>
          </p:nvPr>
        </p:nvGraphicFramePr>
        <p:xfrm>
          <a:off x="551986" y="4600574"/>
          <a:ext cx="504769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11200" imgH="431640" progId="Equation.DSMT4">
                  <p:embed/>
                </p:oleObj>
              </mc:Choice>
              <mc:Fallback>
                <p:oleObj name="Equation" r:id="rId5" imgW="2311200" imgH="431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D2F3968-5E02-AA41-BEF1-841276F075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1986" y="4600574"/>
                        <a:ext cx="5047690" cy="94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040EEA9-6B19-FBB8-F762-E483909EF7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445387"/>
              </p:ext>
            </p:extLst>
          </p:nvPr>
        </p:nvGraphicFramePr>
        <p:xfrm>
          <a:off x="7351712" y="3594100"/>
          <a:ext cx="1824789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3160" imgH="241200" progId="Equation.DSMT4">
                  <p:embed/>
                </p:oleObj>
              </mc:Choice>
              <mc:Fallback>
                <p:oleObj name="Equation" r:id="rId7" imgW="533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51712" y="3594100"/>
                        <a:ext cx="1824789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4F28192-73B2-ED23-55AE-6824992924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853843"/>
              </p:ext>
            </p:extLst>
          </p:nvPr>
        </p:nvGraphicFramePr>
        <p:xfrm>
          <a:off x="7351712" y="4600574"/>
          <a:ext cx="3065463" cy="712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91880" imgH="253800" progId="Equation.DSMT4">
                  <p:embed/>
                </p:oleObj>
              </mc:Choice>
              <mc:Fallback>
                <p:oleObj name="Equation" r:id="rId9" imgW="1091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51712" y="4600574"/>
                        <a:ext cx="3065463" cy="712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5945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7E657E-0CDC-6EC3-F450-EBC3E8704BC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66700" y="365125"/>
                <a:ext cx="11087100" cy="1325563"/>
              </a:xfrm>
            </p:spPr>
            <p:txBody>
              <a:bodyPr/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statistic can be used for hypothesis tests</a:t>
                </a:r>
                <a:endParaRPr lang="en-IL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7E657E-0CDC-6EC3-F450-EBC3E8704B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66700" y="365125"/>
                <a:ext cx="11087100" cy="1325563"/>
              </a:xfrm>
              <a:blipFill>
                <a:blip r:embed="rId2"/>
                <a:stretch>
                  <a:fillRect l="-225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417141-817A-19EF-FB4A-F7FA56A0AA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1690688"/>
                <a:ext cx="10515600" cy="258603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statistic is a ratio of two measures of variance</a:t>
                </a:r>
              </a:p>
              <a:p>
                <a:pPr lvl="1"/>
                <a:r>
                  <a:rPr lang="en-US" dirty="0"/>
                  <a:t>Variance from the model in the numerator</a:t>
                </a:r>
              </a:p>
              <a:p>
                <a:pPr lvl="1"/>
                <a:r>
                  <a:rPr lang="en-US" dirty="0"/>
                  <a:t>Variance for the residuals in the denominator</a:t>
                </a:r>
              </a:p>
              <a:p>
                <a:r>
                  <a:rPr lang="en-US" dirty="0"/>
                  <a:t>Under the null model, these two variances should be approximately equal</a:t>
                </a:r>
              </a:p>
              <a:p>
                <a:pPr lvl="1"/>
                <a:r>
                  <a:rPr lang="en-US" dirty="0"/>
                  <a:t>So the ratio is around 1</a:t>
                </a:r>
              </a:p>
              <a:p>
                <a:pPr lvl="1"/>
                <a:r>
                  <a:rPr lang="en-US" dirty="0"/>
                  <a:t>With known distribution called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distribution</a:t>
                </a:r>
              </a:p>
              <a:p>
                <a:pPr lvl="2"/>
                <a:r>
                  <a:rPr lang="en-US" dirty="0" err="1"/>
                  <a:t>Paramaterized</a:t>
                </a:r>
                <a:r>
                  <a:rPr lang="en-US" dirty="0"/>
                  <a:t> by the two degrees of freedom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417141-817A-19EF-FB4A-F7FA56A0AA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1690688"/>
                <a:ext cx="10515600" cy="2586037"/>
              </a:xfrm>
              <a:blipFill>
                <a:blip r:embed="rId3"/>
                <a:stretch>
                  <a:fillRect l="-928" t="-470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ED4EA4C-DA4A-52B2-0B2F-613501CD66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064108"/>
              </p:ext>
            </p:extLst>
          </p:nvPr>
        </p:nvGraphicFramePr>
        <p:xfrm>
          <a:off x="892174" y="4300977"/>
          <a:ext cx="2986065" cy="2191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93760" imgH="876240" progId="Equation.DSMT4">
                  <p:embed/>
                </p:oleObj>
              </mc:Choice>
              <mc:Fallback>
                <p:oleObj name="Equation" r:id="rId4" imgW="119376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2174" y="4300977"/>
                        <a:ext cx="2986065" cy="2191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8B51BDB-AA77-856B-EA3B-2BE565774E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721484"/>
              </p:ext>
            </p:extLst>
          </p:nvPr>
        </p:nvGraphicFramePr>
        <p:xfrm>
          <a:off x="3878239" y="5045074"/>
          <a:ext cx="2983057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90360" imgH="279360" progId="Equation.DSMT4">
                  <p:embed/>
                </p:oleObj>
              </mc:Choice>
              <mc:Fallback>
                <p:oleObj name="Equation" r:id="rId6" imgW="9903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78239" y="5045074"/>
                        <a:ext cx="2983057" cy="84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975FCBF-B0F2-A333-C814-31958DABB9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7009" y="4830654"/>
            <a:ext cx="4394745" cy="105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3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F3B01-7270-AC98-34E9-20D60A14F9C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1597" name="Title 1">
            <a:extLst>
              <a:ext uri="{FF2B5EF4-FFF2-40B4-BE49-F238E27FC236}">
                <a16:creationId xmlns:a16="http://schemas.microsoft.com/office/drawing/2014/main" id="{EB2A1950-1F76-7377-85B4-9CE6243C8DAF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5400" dirty="0">
                <a:latin typeface="Source Sans Pro"/>
                <a:ea typeface="Source Sans Pro"/>
              </a:rPr>
              <a:t>8.8 Next time</a:t>
            </a:r>
            <a:endParaRPr sz="5400" dirty="0">
              <a:latin typeface="Source Sans Pro"/>
              <a:ea typeface="Source Sans Pro"/>
            </a:endParaRPr>
          </a:p>
        </p:txBody>
      </p:sp>
      <p:sp>
        <p:nvSpPr>
          <p:cNvPr id="576670250" name="Text Placeholder 2">
            <a:extLst>
              <a:ext uri="{FF2B5EF4-FFF2-40B4-BE49-F238E27FC236}">
                <a16:creationId xmlns:a16="http://schemas.microsoft.com/office/drawing/2014/main" id="{76E5F9E3-E2CD-1F74-4228-D324492404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Combining regression with categorical variables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90736970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  <wetp:taskpane dockstate="right" visibility="0" width="438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B33B403-C6DD-4869-A5ED-869B44B49067}">
  <we:reference id="wa200010215" version="2.0.0.0" store="en-US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E99DC6F-51F6-4A83-9F3C-815A03D101C4}">
  <we:reference id="wa200010725" version="1.0.0.1" store="en-US" storeType="OMEX"/>
  <we:alternateReferences>
    <we:reference id="WA200010725" version="1.0.0.1" store="WA2000107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3034</TotalTime>
  <Words>2861</Words>
  <Application>Microsoft Office PowerPoint</Application>
  <PresentationFormat>Widescreen</PresentationFormat>
  <Paragraphs>382</Paragraphs>
  <Slides>65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6" baseType="lpstr">
      <vt:lpstr>Aptos</vt:lpstr>
      <vt:lpstr>Arial</vt:lpstr>
      <vt:lpstr>Calibri</vt:lpstr>
      <vt:lpstr>Calibri Light</vt:lpstr>
      <vt:lpstr>Cambria Math</vt:lpstr>
      <vt:lpstr>Consolas</vt:lpstr>
      <vt:lpstr>Source Sans Pro</vt:lpstr>
      <vt:lpstr>Office Theme</vt:lpstr>
      <vt:lpstr>1_Office Theme</vt:lpstr>
      <vt:lpstr>Equation</vt:lpstr>
      <vt:lpstr>MathType 7.0 Equation</vt:lpstr>
      <vt:lpstr>Statistics 367-1-4361 Linear Models</vt:lpstr>
      <vt:lpstr>8.1 Bivariate data</vt:lpstr>
      <vt:lpstr>PowerPoint Presentation</vt:lpstr>
      <vt:lpstr>Todays models relate age, brain volume, and cognitive function</vt:lpstr>
      <vt:lpstr>8.2 The bivariate model</vt:lpstr>
      <vt:lpstr>Generalizing the two group normal model</vt:lpstr>
      <vt:lpstr>Linear regression has a normal likelihood</vt:lpstr>
      <vt:lpstr>There is an asymmetry in the model</vt:lpstr>
      <vt:lpstr>There is an asymmetry in the model</vt:lpstr>
      <vt:lpstr>We translate the formal idea into a graphical model</vt:lpstr>
      <vt:lpstr>From graphic model to PyMC</vt:lpstr>
      <vt:lpstr>From PyMC to graphic representation</vt:lpstr>
      <vt:lpstr>Priors for β_0 and β_1  depend on regression equation</vt:lpstr>
      <vt:lpstr>Sampling looks ok</vt:lpstr>
      <vt:lpstr>Posterior predictive distribution looks ok</vt:lpstr>
      <vt:lpstr>sample_posterior_predictive can predict on new data</vt:lpstr>
      <vt:lpstr>Posterior predictive shows model fit</vt:lpstr>
      <vt:lpstr>8.3 Posterior regression parameters</vt:lpstr>
      <vt:lpstr>Each posterior sample is a regression line</vt:lpstr>
      <vt:lpstr>Our main interest is in the slope</vt:lpstr>
      <vt:lpstr>The intercept is nWBV at age 0</vt:lpstr>
      <vt:lpstr>Sigma is the variability among individuals</vt:lpstr>
      <vt:lpstr> </vt:lpstr>
      <vt:lpstr>Raw effect size is the slope</vt:lpstr>
      <vt:lpstr>Standardized slope is a standardized effect size</vt:lpstr>
      <vt:lpstr>8.4 Centered and uncentered data</vt:lpstr>
      <vt:lpstr>Centering and standardization remove means and units</vt:lpstr>
      <vt:lpstr>Switch the model to use a centered independent variable</vt:lpstr>
      <vt:lpstr>The fit will be the same</vt:lpstr>
      <vt:lpstr>Prior for β_0 will be centered at y(x ̅ )</vt:lpstr>
      <vt:lpstr>Intercept has different meaning in the two models</vt:lpstr>
      <vt:lpstr>The sampling is slower and less independent</vt:lpstr>
      <vt:lpstr>The posterior of the slope is unchanged</vt:lpstr>
      <vt:lpstr>The posterior of the intercept is different</vt:lpstr>
      <vt:lpstr>The final fit is the same</vt:lpstr>
      <vt:lpstr>8.5 Multivariate regression</vt:lpstr>
      <vt:lpstr>Mini-mental state exam (MMSE)</vt:lpstr>
      <vt:lpstr>MMSE predicts brain volume</vt:lpstr>
      <vt:lpstr>Can we ask about Age and MMSE together?</vt:lpstr>
      <vt:lpstr>Three dimensional plots can help visualize</vt:lpstr>
      <vt:lpstr>We generalize the bivariate model</vt:lpstr>
      <vt:lpstr>And translate it to PyMC</vt:lpstr>
      <vt:lpstr>We can generalize to matrix notation</vt:lpstr>
      <vt:lpstr>We can generalize to matrix notation</vt:lpstr>
      <vt:lpstr>The data matrix holds all the independent variables</vt:lpstr>
      <vt:lpstr>Always do the workflow</vt:lpstr>
      <vt:lpstr>Check goodness of fit</vt:lpstr>
      <vt:lpstr>8.6 Multivariate regression posterior</vt:lpstr>
      <vt:lpstr>β_"Age"  gives the effect of Age when MMSE is held fixed</vt:lpstr>
      <vt:lpstr>β_"MMSE"  gives the effect of MMSE when Age is held fixed</vt:lpstr>
      <vt:lpstr>The two slope parameters are not correlated</vt:lpstr>
      <vt:lpstr>Compare effect sizes using standardized slopes</vt:lpstr>
      <vt:lpstr>Compare HDI and ROPE on standardized effects</vt:lpstr>
      <vt:lpstr>Variance explained is used as an effect size</vt:lpstr>
      <vt:lpstr>8.7 Frequentist methods</vt:lpstr>
      <vt:lpstr>The frequentist multivariate regression model</vt:lpstr>
      <vt:lpstr>The estimators have a simple formula</vt:lpstr>
      <vt:lpstr>The sampling distribution of the estimators is normal</vt:lpstr>
      <vt:lpstr>From the sampling distribution we can do statistics</vt:lpstr>
      <vt:lpstr>Compare frequentist to Bayesian intervals</vt:lpstr>
      <vt:lpstr>Frequentist R^2 to as effect size for regression</vt:lpstr>
      <vt:lpstr>Define some useful statistics</vt:lpstr>
      <vt:lpstr>Count the degrees of freedom</vt:lpstr>
      <vt:lpstr>The F statistic can be used for hypothesis tests</vt:lpstr>
      <vt:lpstr>8.8 Next time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Analysis 367-2-5461</dc:title>
  <dc:creator>Opher Donchin</dc:creator>
  <cp:lastModifiedBy>Opher Donchin</cp:lastModifiedBy>
  <cp:revision>134</cp:revision>
  <cp:lastPrinted>2026-06-03T02:29:41Z</cp:lastPrinted>
  <dcterms:created xsi:type="dcterms:W3CDTF">2016-03-07T06:16:50Z</dcterms:created>
  <dcterms:modified xsi:type="dcterms:W3CDTF">2026-06-03T03:34:45Z</dcterms:modified>
</cp:coreProperties>
</file>