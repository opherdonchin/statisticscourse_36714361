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7"/>
  </p:notesMasterIdLst>
  <p:sldIdLst>
    <p:sldId id="257" r:id="rId2"/>
    <p:sldId id="259" r:id="rId3"/>
    <p:sldId id="812" r:id="rId4"/>
    <p:sldId id="261" r:id="rId5"/>
    <p:sldId id="835" r:id="rId6"/>
    <p:sldId id="756" r:id="rId7"/>
    <p:sldId id="811" r:id="rId8"/>
    <p:sldId id="757" r:id="rId9"/>
    <p:sldId id="262" r:id="rId10"/>
    <p:sldId id="263" r:id="rId11"/>
    <p:sldId id="264" r:id="rId12"/>
    <p:sldId id="753" r:id="rId13"/>
    <p:sldId id="265" r:id="rId14"/>
    <p:sldId id="842" r:id="rId15"/>
    <p:sldId id="758" r:id="rId16"/>
    <p:sldId id="759" r:id="rId17"/>
    <p:sldId id="760" r:id="rId18"/>
    <p:sldId id="755" r:id="rId19"/>
    <p:sldId id="843" r:id="rId20"/>
    <p:sldId id="761" r:id="rId21"/>
    <p:sldId id="762" r:id="rId22"/>
    <p:sldId id="764" r:id="rId23"/>
    <p:sldId id="763" r:id="rId24"/>
    <p:sldId id="754" r:id="rId25"/>
    <p:sldId id="766" r:id="rId26"/>
    <p:sldId id="765" r:id="rId27"/>
    <p:sldId id="767" r:id="rId28"/>
    <p:sldId id="768" r:id="rId29"/>
    <p:sldId id="773" r:id="rId30"/>
    <p:sldId id="769" r:id="rId31"/>
    <p:sldId id="777" r:id="rId32"/>
    <p:sldId id="770" r:id="rId33"/>
    <p:sldId id="778" r:id="rId34"/>
    <p:sldId id="776" r:id="rId35"/>
    <p:sldId id="814" r:id="rId36"/>
    <p:sldId id="771" r:id="rId37"/>
    <p:sldId id="772" r:id="rId38"/>
    <p:sldId id="774" r:id="rId39"/>
    <p:sldId id="775" r:id="rId40"/>
    <p:sldId id="810" r:id="rId41"/>
    <p:sldId id="735" r:id="rId42"/>
    <p:sldId id="781" r:id="rId43"/>
    <p:sldId id="782" r:id="rId44"/>
    <p:sldId id="845" r:id="rId45"/>
    <p:sldId id="783" r:id="rId46"/>
    <p:sldId id="809" r:id="rId47"/>
    <p:sldId id="779" r:id="rId48"/>
    <p:sldId id="780" r:id="rId49"/>
    <p:sldId id="282" r:id="rId50"/>
    <p:sldId id="785" r:id="rId51"/>
    <p:sldId id="784" r:id="rId52"/>
    <p:sldId id="836" r:id="rId53"/>
    <p:sldId id="837" r:id="rId54"/>
    <p:sldId id="786" r:id="rId55"/>
    <p:sldId id="789" r:id="rId56"/>
    <p:sldId id="787" r:id="rId57"/>
    <p:sldId id="839" r:id="rId58"/>
    <p:sldId id="790" r:id="rId59"/>
    <p:sldId id="788" r:id="rId60"/>
    <p:sldId id="838" r:id="rId61"/>
    <p:sldId id="808" r:id="rId62"/>
    <p:sldId id="791" r:id="rId63"/>
    <p:sldId id="795" r:id="rId64"/>
    <p:sldId id="793" r:id="rId65"/>
    <p:sldId id="794" r:id="rId66"/>
    <p:sldId id="737" r:id="rId67"/>
    <p:sldId id="260" r:id="rId68"/>
    <p:sldId id="738" r:id="rId69"/>
    <p:sldId id="739" r:id="rId70"/>
    <p:sldId id="796" r:id="rId71"/>
    <p:sldId id="741" r:id="rId72"/>
    <p:sldId id="797" r:id="rId73"/>
    <p:sldId id="743" r:id="rId74"/>
    <p:sldId id="802" r:id="rId75"/>
    <p:sldId id="798" r:id="rId76"/>
    <p:sldId id="799" r:id="rId77"/>
    <p:sldId id="800" r:id="rId78"/>
    <p:sldId id="803" r:id="rId79"/>
    <p:sldId id="801" r:id="rId80"/>
    <p:sldId id="744" r:id="rId81"/>
    <p:sldId id="807" r:id="rId82"/>
    <p:sldId id="804" r:id="rId83"/>
    <p:sldId id="806" r:id="rId84"/>
    <p:sldId id="805" r:id="rId85"/>
    <p:sldId id="815" r:id="rId86"/>
    <p:sldId id="818" r:id="rId87"/>
    <p:sldId id="819" r:id="rId88"/>
    <p:sldId id="817" r:id="rId89"/>
    <p:sldId id="816" r:id="rId90"/>
    <p:sldId id="840" r:id="rId91"/>
    <p:sldId id="821" r:id="rId92"/>
    <p:sldId id="825" r:id="rId93"/>
    <p:sldId id="823" r:id="rId94"/>
    <p:sldId id="841" r:id="rId95"/>
    <p:sldId id="826" r:id="rId96"/>
    <p:sldId id="828" r:id="rId97"/>
    <p:sldId id="830" r:id="rId98"/>
    <p:sldId id="827" r:id="rId99"/>
    <p:sldId id="829" r:id="rId100"/>
    <p:sldId id="832" r:id="rId101"/>
    <p:sldId id="824" r:id="rId102"/>
    <p:sldId id="831" r:id="rId103"/>
    <p:sldId id="844" r:id="rId104"/>
    <p:sldId id="833" r:id="rId105"/>
    <p:sldId id="834" r:id="rId106"/>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C0947E3-3770-488D-B0B3-902650240093}">
          <p14:sldIdLst>
            <p14:sldId id="257"/>
            <p14:sldId id="259"/>
          </p14:sldIdLst>
        </p14:section>
        <p14:section name="Variables Types &amp; Transformations" id="{7E000921-6775-48F9-AA1E-8317CBDD3A84}">
          <p14:sldIdLst>
            <p14:sldId id="812"/>
            <p14:sldId id="261"/>
            <p14:sldId id="835"/>
            <p14:sldId id="756"/>
          </p14:sldIdLst>
        </p14:section>
        <p14:section name="Simple Regression" id="{6D9DBCBD-3524-4DD6-9F9F-8BEFAB0ABE2B}">
          <p14:sldIdLst>
            <p14:sldId id="811"/>
            <p14:sldId id="757"/>
            <p14:sldId id="262"/>
            <p14:sldId id="263"/>
            <p14:sldId id="264"/>
            <p14:sldId id="753"/>
            <p14:sldId id="265"/>
            <p14:sldId id="842"/>
            <p14:sldId id="758"/>
            <p14:sldId id="759"/>
            <p14:sldId id="760"/>
            <p14:sldId id="755"/>
            <p14:sldId id="843"/>
            <p14:sldId id="761"/>
            <p14:sldId id="762"/>
            <p14:sldId id="764"/>
            <p14:sldId id="763"/>
            <p14:sldId id="754"/>
            <p14:sldId id="766"/>
            <p14:sldId id="765"/>
            <p14:sldId id="767"/>
            <p14:sldId id="768"/>
            <p14:sldId id="773"/>
            <p14:sldId id="769"/>
            <p14:sldId id="777"/>
            <p14:sldId id="770"/>
            <p14:sldId id="778"/>
            <p14:sldId id="776"/>
          </p14:sldIdLst>
        </p14:section>
        <p14:section name="Why center?" id="{8F05922D-3D0C-4795-9487-968C1C0812B7}">
          <p14:sldIdLst>
            <p14:sldId id="814"/>
            <p14:sldId id="771"/>
            <p14:sldId id="772"/>
            <p14:sldId id="774"/>
            <p14:sldId id="775"/>
          </p14:sldIdLst>
        </p14:section>
        <p14:section name="Multiple Regression" id="{7F467370-5A5D-4F2E-999F-96A894DD948C}">
          <p14:sldIdLst>
            <p14:sldId id="810"/>
            <p14:sldId id="735"/>
            <p14:sldId id="781"/>
            <p14:sldId id="782"/>
            <p14:sldId id="845"/>
            <p14:sldId id="783"/>
          </p14:sldIdLst>
        </p14:section>
        <p14:section name="Categorical Variables" id="{048E68A3-8CD4-4513-AB82-E5E42C327CD7}">
          <p14:sldIdLst>
            <p14:sldId id="809"/>
            <p14:sldId id="779"/>
            <p14:sldId id="780"/>
          </p14:sldIdLst>
        </p14:section>
        <p14:section name="Multiple Regression" id="{596FE9E4-7765-48D5-9BF6-9BC76CDF6C41}">
          <p14:sldIdLst>
            <p14:sldId id="282"/>
            <p14:sldId id="785"/>
            <p14:sldId id="784"/>
            <p14:sldId id="836"/>
            <p14:sldId id="837"/>
            <p14:sldId id="786"/>
            <p14:sldId id="789"/>
            <p14:sldId id="787"/>
            <p14:sldId id="839"/>
            <p14:sldId id="790"/>
            <p14:sldId id="788"/>
            <p14:sldId id="838"/>
          </p14:sldIdLst>
        </p14:section>
        <p14:section name="Bayesian R^2" id="{D5D6C0E1-F1E0-4DE5-B657-85DE0881F8BF}">
          <p14:sldIdLst>
            <p14:sldId id="808"/>
            <p14:sldId id="791"/>
            <p14:sldId id="795"/>
            <p14:sldId id="793"/>
            <p14:sldId id="794"/>
          </p14:sldIdLst>
        </p14:section>
        <p14:section name="Bambi" id="{7A4C7B69-C884-4D65-AD3B-325293A9A4AD}">
          <p14:sldIdLst>
            <p14:sldId id="737"/>
            <p14:sldId id="260"/>
            <p14:sldId id="738"/>
            <p14:sldId id="739"/>
            <p14:sldId id="796"/>
            <p14:sldId id="741"/>
            <p14:sldId id="797"/>
            <p14:sldId id="743"/>
            <p14:sldId id="802"/>
            <p14:sldId id="798"/>
            <p14:sldId id="799"/>
            <p14:sldId id="800"/>
            <p14:sldId id="803"/>
            <p14:sldId id="801"/>
            <p14:sldId id="744"/>
            <p14:sldId id="807"/>
            <p14:sldId id="804"/>
            <p14:sldId id="806"/>
            <p14:sldId id="805"/>
          </p14:sldIdLst>
        </p14:section>
        <p14:section name="Frequentist linear regression" id="{EECE5B8F-C70D-4CF0-BA65-804F3965A956}">
          <p14:sldIdLst>
            <p14:sldId id="815"/>
            <p14:sldId id="818"/>
            <p14:sldId id="819"/>
            <p14:sldId id="817"/>
            <p14:sldId id="816"/>
            <p14:sldId id="840"/>
            <p14:sldId id="821"/>
            <p14:sldId id="825"/>
            <p14:sldId id="823"/>
            <p14:sldId id="841"/>
            <p14:sldId id="826"/>
            <p14:sldId id="828"/>
            <p14:sldId id="830"/>
            <p14:sldId id="827"/>
            <p14:sldId id="829"/>
            <p14:sldId id="832"/>
            <p14:sldId id="824"/>
            <p14:sldId id="831"/>
            <p14:sldId id="844"/>
            <p14:sldId id="833"/>
            <p14:sldId id="8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2CFEE"/>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5835" autoAdjust="0"/>
  </p:normalViewPr>
  <p:slideViewPr>
    <p:cSldViewPr snapToGrid="0">
      <p:cViewPr varScale="1">
        <p:scale>
          <a:sx n="95" d="100"/>
          <a:sy n="95" d="100"/>
        </p:scale>
        <p:origin x="11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atin typeface="David" panose="020E0502060401010101" pitchFamily="34" charset="-79"/>
              </a:defRPr>
            </a:lvl1pPr>
          </a:lstStyle>
          <a:p>
            <a:endParaRPr lang="he-IL"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atin typeface="David" panose="020E0502060401010101" pitchFamily="34" charset="-79"/>
              </a:defRPr>
            </a:lvl1pPr>
          </a:lstStyle>
          <a:p>
            <a:fld id="{79D4A8A7-D893-4730-A90E-620C699F9DA7}" type="datetimeFigureOut">
              <a:rPr lang="he-IL" smtClean="0"/>
              <a:pPr/>
              <a:t>כ"ד/סיון/תשפ"ו</a:t>
            </a:fld>
            <a:endParaRPr lang="he-IL"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atin typeface="David" panose="020E0502060401010101" pitchFamily="34" charset="-79"/>
              </a:defRPr>
            </a:lvl1pPr>
          </a:lstStyle>
          <a:p>
            <a:endParaRPr lang="he-IL"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atin typeface="David" panose="020E0502060401010101" pitchFamily="34" charset="-79"/>
              </a:defRPr>
            </a:lvl1pPr>
          </a:lstStyle>
          <a:p>
            <a:fld id="{5853D6E6-3E79-4F23-BDAE-DFB603395E52}" type="slidenum">
              <a:rPr lang="he-IL" smtClean="0"/>
              <a:pPr/>
              <a:t>‹#›</a:t>
            </a:fld>
            <a:endParaRPr lang="he-IL" dirty="0"/>
          </a:p>
        </p:txBody>
      </p:sp>
    </p:spTree>
    <p:extLst>
      <p:ext uri="{BB962C8B-B14F-4D97-AF65-F5344CB8AC3E}">
        <p14:creationId xmlns:p14="http://schemas.microsoft.com/office/powerpoint/2010/main" val="3540595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David" panose="020E0502060401010101" pitchFamily="34" charset="-79"/>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FA96E01F-8DBD-4634-ACB5-33D503B64F6E}" type="slidenum">
              <a:rPr lang="LID4096" smtClean="0"/>
              <a:t>1</a:t>
            </a:fld>
            <a:endParaRPr lang="LID4096"/>
          </a:p>
        </p:txBody>
      </p:sp>
    </p:spTree>
    <p:extLst>
      <p:ext uri="{BB962C8B-B14F-4D97-AF65-F5344CB8AC3E}">
        <p14:creationId xmlns:p14="http://schemas.microsoft.com/office/powerpoint/2010/main" val="22066529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AB272-EB76-71A8-8F2B-1CAC23AC7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C8419A-A4C4-EA1B-C9FF-CF7E07036D8F}"/>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BA4B447D-A73D-A151-F5CC-05034AA04960}"/>
                  </a:ext>
                </a:extLst>
              </p:cNvPr>
              <p:cNvSpPr>
                <a:spLocks noGrp="1"/>
              </p:cNvSpPr>
              <p:nvPr>
                <p:ph type="body" idx="1"/>
              </p:nvPr>
            </p:nvSpPr>
            <p:spPr/>
            <p:txBody>
              <a:bodyPr/>
              <a:lstStyle/>
              <a:p>
                <a:r>
                  <a:rPr lang="he-IL" dirty="0"/>
                  <a:t>In </a:t>
                </a:r>
                <a:r>
                  <a:rPr lang="he-IL" dirty="0" err="1"/>
                  <a:t>linear</a:t>
                </a:r>
                <a:r>
                  <a:rPr lang="he-IL" dirty="0"/>
                  <a:t> </a:t>
                </a:r>
                <a:r>
                  <a:rPr lang="he-IL" dirty="0" err="1"/>
                  <a:t>regression</a:t>
                </a:r>
                <a:r>
                  <a:rPr lang="he-IL" dirty="0"/>
                  <a:t>, the </a:t>
                </a:r>
                <a:r>
                  <a:rPr lang="he-IL" dirty="0" err="1"/>
                  <a:t>Normal</a:t>
                </a:r>
                <a:r>
                  <a:rPr lang="he-IL" dirty="0"/>
                  <a:t> </a:t>
                </a:r>
                <a:r>
                  <a:rPr lang="he-IL" dirty="0" err="1"/>
                  <a:t>likelihood</a:t>
                </a:r>
                <a:r>
                  <a:rPr lang="he-IL" dirty="0"/>
                  <a:t> is </a:t>
                </a:r>
                <a:r>
                  <a:rPr lang="he-IL" dirty="0" err="1"/>
                  <a:t>about</a:t>
                </a:r>
                <a:r>
                  <a:rPr lang="he-IL" dirty="0"/>
                  <a:t> the </a:t>
                </a:r>
                <a:r>
                  <a:rPr lang="he-IL" dirty="0" err="1"/>
                  <a:t>dependent</a:t>
                </a:r>
                <a:r>
                  <a:rPr lang="he-IL" dirty="0"/>
                  <a:t> </a:t>
                </a:r>
                <a:r>
                  <a:rPr lang="he-IL" dirty="0" err="1"/>
                  <a:t>variable</a:t>
                </a:r>
                <a:r>
                  <a:rPr lang="he-IL" dirty="0"/>
                  <a:t>:</a:t>
                </a:r>
              </a:p>
              <a:p>
                <a:pPr/>
                <a14:m>
                  <m:oMathPara xmlns:m="http://schemas.openxmlformats.org/officeDocument/2006/math">
                    <m:oMathParaPr>
                      <m:jc m:val="centerGroup"/>
                    </m:oMathParaPr>
                    <m:oMath xmlns:m="http://schemas.openxmlformats.org/officeDocument/2006/math">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𝑦</m:t>
                          </m:r>
                        </m:e>
                        <m:sub>
                          <m:r>
                            <a:rPr lang="he-IL" sz="1200" i="1" kern="1200">
                              <a:solidFill>
                                <a:schemeClr val="tx1"/>
                              </a:solidFill>
                              <a:latin typeface="Cambria Math" panose="02040503050406030204" pitchFamily="18" charset="0"/>
                              <a:ea typeface="+mn-ea"/>
                              <a:cs typeface="+mn-cs"/>
                            </a:rPr>
                            <m:t>𝑖</m:t>
                          </m:r>
                        </m:sub>
                      </m:sSub>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𝑥</m:t>
                          </m:r>
                        </m:e>
                        <m:sub>
                          <m:r>
                            <a:rPr lang="he-IL" sz="1200" i="1" kern="1200">
                              <a:solidFill>
                                <a:schemeClr val="tx1"/>
                              </a:solidFill>
                              <a:latin typeface="Cambria Math" panose="02040503050406030204" pitchFamily="18" charset="0"/>
                              <a:ea typeface="+mn-ea"/>
                              <a:cs typeface="+mn-cs"/>
                            </a:rPr>
                            <m:t>𝑖</m:t>
                          </m:r>
                        </m:sub>
                      </m:sSub>
                      <m:r>
                        <a:rPr lang="he-IL" sz="1200" i="0" kern="1200">
                          <a:solidFill>
                            <a:schemeClr val="tx1"/>
                          </a:solidFill>
                          <a:latin typeface="Cambria Math" panose="02040503050406030204" pitchFamily="18" charset="0"/>
                          <a:ea typeface="+mn-ea"/>
                          <a:cs typeface="+mn-cs"/>
                        </a:rPr>
                        <m:t>∼</m:t>
                      </m:r>
                      <m:r>
                        <a:rPr lang="he-IL" sz="1200" i="1" kern="1200">
                          <a:solidFill>
                            <a:schemeClr val="tx1"/>
                          </a:solidFill>
                          <a:latin typeface="Cambria Math" panose="02040503050406030204" pitchFamily="18" charset="0"/>
                          <a:ea typeface="+mn-ea"/>
                          <a:cs typeface="+mn-cs"/>
                        </a:rPr>
                        <m:t>𝑁𝑜𝑟𝑚𝑎𝑙</m:t>
                      </m:r>
                      <m:d>
                        <m:dPr>
                          <m:sepChr m:val=","/>
                          <m:ctrlPr>
                            <a:rPr lang="he-IL" sz="1200" i="1" kern="1200">
                              <a:solidFill>
                                <a:schemeClr val="tx1"/>
                              </a:solidFill>
                              <a:latin typeface="Cambria Math" panose="02040503050406030204" pitchFamily="18" charset="0"/>
                              <a:ea typeface="+mn-ea"/>
                              <a:cs typeface="+mn-cs"/>
                            </a:rPr>
                          </m:ctrlPr>
                        </m:dPr>
                        <m:e>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𝜇</m:t>
                              </m:r>
                            </m:e>
                            <m:sub>
                              <m:r>
                                <a:rPr lang="he-IL" sz="1200" i="1" kern="1200">
                                  <a:solidFill>
                                    <a:schemeClr val="tx1"/>
                                  </a:solidFill>
                                  <a:latin typeface="Cambria Math" panose="02040503050406030204" pitchFamily="18" charset="0"/>
                                  <a:ea typeface="+mn-ea"/>
                                  <a:cs typeface="+mn-cs"/>
                                </a:rPr>
                                <m:t>𝑖</m:t>
                              </m:r>
                            </m:sub>
                          </m:sSub>
                        </m:e>
                        <m:e>
                          <m:r>
                            <a:rPr lang="he-IL" sz="1200" i="1" kern="1200">
                              <a:solidFill>
                                <a:schemeClr val="tx1"/>
                              </a:solidFill>
                              <a:latin typeface="Cambria Math" panose="02040503050406030204" pitchFamily="18" charset="0"/>
                              <a:ea typeface="+mn-ea"/>
                              <a:cs typeface="+mn-cs"/>
                            </a:rPr>
                            <m:t>𝜎</m:t>
                          </m:r>
                        </m:e>
                      </m:d>
                    </m:oMath>
                  </m:oMathPara>
                </a14:m>
                <a:endParaRPr lang="he-IL" dirty="0"/>
              </a:p>
              <a:p>
                <a:r>
                  <a:rPr lang="he-IL" dirty="0" err="1"/>
                  <a:t>It</a:t>
                </a:r>
                <a:r>
                  <a:rPr lang="he-IL" dirty="0"/>
                  <a:t> is </a:t>
                </a:r>
                <a:r>
                  <a:rPr lang="he-IL" b="1" dirty="0"/>
                  <a:t>not</a:t>
                </a:r>
                <a:r>
                  <a:rPr lang="he-IL" dirty="0"/>
                  <a:t> </a:t>
                </a:r>
                <a:r>
                  <a:rPr lang="he-IL" dirty="0" err="1"/>
                  <a:t>an</a:t>
                </a:r>
                <a:r>
                  <a:rPr lang="he-IL" dirty="0"/>
                  <a:t> assumption </a:t>
                </a:r>
                <a:r>
                  <a:rPr lang="he-IL" dirty="0" err="1"/>
                  <a:t>that</a:t>
                </a:r>
                <a:r>
                  <a:rPr lang="he-IL" dirty="0"/>
                  <a:t> the </a:t>
                </a:r>
                <a:r>
                  <a:rPr lang="he-IL" dirty="0" err="1"/>
                  <a:t>independent</a:t>
                </a:r>
                <a:r>
                  <a:rPr lang="he-IL" dirty="0"/>
                  <a:t> </a:t>
                </a:r>
                <a:r>
                  <a:rPr lang="he-IL" dirty="0" err="1"/>
                  <a:t>variable</a:t>
                </a:r>
                <a:r>
                  <a:rPr lang="he-IL" dirty="0"/>
                  <a:t> </a:t>
                </a:r>
                <a14:m>
                  <m:oMath xmlns:m="http://schemas.openxmlformats.org/officeDocument/2006/math">
                    <m:r>
                      <a:rPr lang="he-IL" sz="1200" i="1" kern="1200">
                        <a:solidFill>
                          <a:schemeClr val="tx1"/>
                        </a:solidFill>
                        <a:latin typeface="Cambria Math" panose="02040503050406030204" pitchFamily="18" charset="0"/>
                        <a:ea typeface="+mn-ea"/>
                        <a:cs typeface="+mn-cs"/>
                      </a:rPr>
                      <m:t>𝑥</m:t>
                    </m:r>
                  </m:oMath>
                </a14:m>
                <a:r>
                  <a:rPr lang="he-IL" dirty="0"/>
                  <a:t>is </a:t>
                </a:r>
                <a:r>
                  <a:rPr lang="he-IL" dirty="0" err="1"/>
                  <a:t>normally</a:t>
                </a:r>
                <a:r>
                  <a:rPr lang="he-IL" dirty="0"/>
                  <a:t> </a:t>
                </a:r>
                <a:r>
                  <a:rPr lang="he-IL" dirty="0" err="1"/>
                  <a:t>distributed</a:t>
                </a:r>
                <a:r>
                  <a:rPr lang="he-IL" dirty="0"/>
                  <a:t>.</a:t>
                </a:r>
              </a:p>
              <a:p>
                <a:r>
                  <a:rPr lang="he-IL" dirty="0"/>
                  <a:t>The </a:t>
                </a:r>
                <a:r>
                  <a:rPr lang="he-IL" dirty="0" err="1"/>
                  <a:t>predictor</a:t>
                </a:r>
                <a:r>
                  <a:rPr lang="he-IL" dirty="0"/>
                  <a:t> </a:t>
                </a:r>
                <a14:m>
                  <m:oMath xmlns:m="http://schemas.openxmlformats.org/officeDocument/2006/math">
                    <m:r>
                      <a:rPr lang="he-IL" sz="1200" i="1" kern="1200">
                        <a:solidFill>
                          <a:schemeClr val="tx1"/>
                        </a:solidFill>
                        <a:latin typeface="Cambria Math" panose="02040503050406030204" pitchFamily="18" charset="0"/>
                        <a:ea typeface="+mn-ea"/>
                        <a:cs typeface="+mn-cs"/>
                      </a:rPr>
                      <m:t>𝑥</m:t>
                    </m:r>
                  </m:oMath>
                </a14:m>
                <a:r>
                  <a:rPr lang="he-IL" dirty="0"/>
                  <a:t>is </a:t>
                </a:r>
                <a:r>
                  <a:rPr lang="he-IL" dirty="0" err="1"/>
                  <a:t>treated</a:t>
                </a:r>
                <a:r>
                  <a:rPr lang="he-IL" dirty="0"/>
                  <a:t> </a:t>
                </a:r>
                <a:r>
                  <a:rPr lang="he-IL" dirty="0" err="1"/>
                  <a:t>as</a:t>
                </a:r>
                <a:r>
                  <a:rPr lang="he-IL" dirty="0"/>
                  <a:t> </a:t>
                </a:r>
                <a:r>
                  <a:rPr lang="he-IL" dirty="0" err="1"/>
                  <a:t>known</a:t>
                </a:r>
                <a:r>
                  <a:rPr lang="he-IL" dirty="0"/>
                  <a:t> </a:t>
                </a:r>
                <a:r>
                  <a:rPr lang="he-IL" dirty="0" err="1"/>
                  <a:t>input</a:t>
                </a:r>
                <a:r>
                  <a:rPr lang="he-IL" dirty="0"/>
                  <a:t> to the model.</a:t>
                </a:r>
              </a:p>
              <a:p>
                <a:endParaRPr lang="LID4096" dirty="0"/>
              </a:p>
            </p:txBody>
          </p:sp>
        </mc:Choice>
        <mc:Fallback xmlns="">
          <p:sp>
            <p:nvSpPr>
              <p:cNvPr id="3" name="Notes Placeholder 2">
                <a:extLst>
                  <a:ext uri="{FF2B5EF4-FFF2-40B4-BE49-F238E27FC236}">
                    <a16:creationId xmlns:a16="http://schemas.microsoft.com/office/drawing/2014/main" id="{BA4B447D-A73D-A151-F5CC-05034AA04960}"/>
                  </a:ext>
                </a:extLst>
              </p:cNvPr>
              <p:cNvSpPr>
                <a:spLocks noGrp="1"/>
              </p:cNvSpPr>
              <p:nvPr>
                <p:ph type="body" idx="1"/>
              </p:nvPr>
            </p:nvSpPr>
            <p:spPr/>
            <p:txBody>
              <a:bodyPr/>
              <a:lstStyle/>
              <a:p>
                <a:r>
                  <a:rPr lang="he-IL" dirty="0"/>
                  <a:t>In </a:t>
                </a:r>
                <a:r>
                  <a:rPr lang="he-IL" dirty="0" err="1"/>
                  <a:t>linear</a:t>
                </a:r>
                <a:r>
                  <a:rPr lang="he-IL" dirty="0"/>
                  <a:t> </a:t>
                </a:r>
                <a:r>
                  <a:rPr lang="he-IL" dirty="0" err="1"/>
                  <a:t>regression</a:t>
                </a:r>
                <a:r>
                  <a:rPr lang="he-IL" dirty="0"/>
                  <a:t>, the </a:t>
                </a:r>
                <a:r>
                  <a:rPr lang="he-IL" dirty="0" err="1"/>
                  <a:t>Normal</a:t>
                </a:r>
                <a:r>
                  <a:rPr lang="he-IL" dirty="0"/>
                  <a:t> </a:t>
                </a:r>
                <a:r>
                  <a:rPr lang="he-IL" dirty="0" err="1"/>
                  <a:t>likelihood</a:t>
                </a:r>
                <a:r>
                  <a:rPr lang="he-IL" dirty="0"/>
                  <a:t> is </a:t>
                </a:r>
                <a:r>
                  <a:rPr lang="he-IL" dirty="0" err="1"/>
                  <a:t>about</a:t>
                </a:r>
                <a:r>
                  <a:rPr lang="he-IL" dirty="0"/>
                  <a:t> the </a:t>
                </a:r>
                <a:r>
                  <a:rPr lang="he-IL" dirty="0" err="1"/>
                  <a:t>dependent</a:t>
                </a:r>
                <a:r>
                  <a:rPr lang="he-IL" dirty="0"/>
                  <a:t> </a:t>
                </a:r>
                <a:r>
                  <a:rPr lang="he-IL" dirty="0" err="1"/>
                  <a:t>variable</a:t>
                </a:r>
                <a:r>
                  <a:rPr lang="he-IL" dirty="0"/>
                  <a:t>:</a:t>
                </a:r>
              </a:p>
              <a:p>
                <a:r>
                  <a:rPr lang="he-IL" sz="1200" i="0" kern="1200">
                    <a:solidFill>
                      <a:schemeClr val="tx1"/>
                    </a:solidFill>
                    <a:latin typeface="David" panose="020E0502060401010101" pitchFamily="34" charset="-79"/>
                    <a:ea typeface="+mn-ea"/>
                    <a:cs typeface="+mn-cs"/>
                  </a:rPr>
                  <a:t>𝑦_𝑖∣𝑥_𝑖∼𝑁𝑜𝑟𝑚𝑎𝑙(𝜇_𝑖ⓜ,𝜎)</a:t>
                </a:r>
                <a:endParaRPr lang="he-IL" dirty="0"/>
              </a:p>
              <a:p>
                <a:r>
                  <a:rPr lang="he-IL" dirty="0" err="1"/>
                  <a:t>It</a:t>
                </a:r>
                <a:r>
                  <a:rPr lang="he-IL" dirty="0"/>
                  <a:t> is </a:t>
                </a:r>
                <a:r>
                  <a:rPr lang="he-IL" b="1" dirty="0"/>
                  <a:t>not</a:t>
                </a:r>
                <a:r>
                  <a:rPr lang="he-IL" dirty="0"/>
                  <a:t> </a:t>
                </a:r>
                <a:r>
                  <a:rPr lang="he-IL" dirty="0" err="1"/>
                  <a:t>an</a:t>
                </a:r>
                <a:r>
                  <a:rPr lang="he-IL" dirty="0"/>
                  <a:t> assumption </a:t>
                </a:r>
                <a:r>
                  <a:rPr lang="he-IL" dirty="0" err="1"/>
                  <a:t>that</a:t>
                </a:r>
                <a:r>
                  <a:rPr lang="he-IL" dirty="0"/>
                  <a:t> the </a:t>
                </a:r>
                <a:r>
                  <a:rPr lang="he-IL" dirty="0" err="1"/>
                  <a:t>independent</a:t>
                </a:r>
                <a:r>
                  <a:rPr lang="he-IL" dirty="0"/>
                  <a:t> </a:t>
                </a:r>
                <a:r>
                  <a:rPr lang="he-IL" dirty="0" err="1"/>
                  <a:t>variable</a:t>
                </a:r>
                <a:r>
                  <a:rPr lang="he-IL" dirty="0"/>
                  <a:t> </a:t>
                </a:r>
                <a:r>
                  <a:rPr lang="he-IL" sz="1200" i="0" kern="1200">
                    <a:solidFill>
                      <a:schemeClr val="tx1"/>
                    </a:solidFill>
                    <a:latin typeface="David" panose="020E0502060401010101" pitchFamily="34" charset="-79"/>
                    <a:ea typeface="+mn-ea"/>
                    <a:cs typeface="+mn-cs"/>
                  </a:rPr>
                  <a:t>𝑥</a:t>
                </a:r>
                <a:r>
                  <a:rPr lang="he-IL" dirty="0"/>
                  <a:t>is </a:t>
                </a:r>
                <a:r>
                  <a:rPr lang="he-IL" dirty="0" err="1"/>
                  <a:t>normally</a:t>
                </a:r>
                <a:r>
                  <a:rPr lang="he-IL" dirty="0"/>
                  <a:t> </a:t>
                </a:r>
                <a:r>
                  <a:rPr lang="he-IL" dirty="0" err="1"/>
                  <a:t>distributed</a:t>
                </a:r>
                <a:r>
                  <a:rPr lang="he-IL" dirty="0"/>
                  <a:t>.</a:t>
                </a:r>
              </a:p>
              <a:p>
                <a:r>
                  <a:rPr lang="he-IL" dirty="0"/>
                  <a:t>The </a:t>
                </a:r>
                <a:r>
                  <a:rPr lang="he-IL" dirty="0" err="1"/>
                  <a:t>predictor</a:t>
                </a:r>
                <a:r>
                  <a:rPr lang="he-IL" dirty="0"/>
                  <a:t> </a:t>
                </a:r>
                <a:r>
                  <a:rPr lang="he-IL" sz="1200" i="0" kern="1200">
                    <a:solidFill>
                      <a:schemeClr val="tx1"/>
                    </a:solidFill>
                    <a:latin typeface="David" panose="020E0502060401010101" pitchFamily="34" charset="-79"/>
                    <a:ea typeface="+mn-ea"/>
                    <a:cs typeface="+mn-cs"/>
                  </a:rPr>
                  <a:t>𝑥</a:t>
                </a:r>
                <a:r>
                  <a:rPr lang="he-IL" dirty="0"/>
                  <a:t>is </a:t>
                </a:r>
                <a:r>
                  <a:rPr lang="he-IL" dirty="0" err="1"/>
                  <a:t>treated</a:t>
                </a:r>
                <a:r>
                  <a:rPr lang="he-IL" dirty="0"/>
                  <a:t> </a:t>
                </a:r>
                <a:r>
                  <a:rPr lang="he-IL" dirty="0" err="1"/>
                  <a:t>as</a:t>
                </a:r>
                <a:r>
                  <a:rPr lang="he-IL" dirty="0"/>
                  <a:t> </a:t>
                </a:r>
                <a:r>
                  <a:rPr lang="he-IL" dirty="0" err="1"/>
                  <a:t>known</a:t>
                </a:r>
                <a:r>
                  <a:rPr lang="he-IL" dirty="0"/>
                  <a:t> </a:t>
                </a:r>
                <a:r>
                  <a:rPr lang="he-IL" dirty="0" err="1"/>
                  <a:t>input</a:t>
                </a:r>
                <a:r>
                  <a:rPr lang="he-IL" dirty="0"/>
                  <a:t> to the model.</a:t>
                </a:r>
              </a:p>
              <a:p>
                <a:endParaRPr lang="LID4096" dirty="0"/>
              </a:p>
            </p:txBody>
          </p:sp>
        </mc:Fallback>
      </mc:AlternateContent>
      <p:sp>
        <p:nvSpPr>
          <p:cNvPr id="4" name="Slide Number Placeholder 3">
            <a:extLst>
              <a:ext uri="{FF2B5EF4-FFF2-40B4-BE49-F238E27FC236}">
                <a16:creationId xmlns:a16="http://schemas.microsoft.com/office/drawing/2014/main" id="{DB6607CA-9CF4-F288-0B56-26063186ECFC}"/>
              </a:ext>
            </a:extLst>
          </p:cNvPr>
          <p:cNvSpPr>
            <a:spLocks noGrp="1"/>
          </p:cNvSpPr>
          <p:nvPr>
            <p:ph type="sldNum" sz="quarter" idx="5"/>
          </p:nvPr>
        </p:nvSpPr>
        <p:spPr/>
        <p:txBody>
          <a:bodyPr/>
          <a:lstStyle/>
          <a:p>
            <a:fld id="{FA96E01F-8DBD-4634-ACB5-33D503B64F6E}" type="slidenum">
              <a:rPr lang="LID4096" smtClean="0"/>
              <a:t>4</a:t>
            </a:fld>
            <a:endParaRPr lang="LID4096"/>
          </a:p>
        </p:txBody>
      </p:sp>
    </p:spTree>
    <p:extLst>
      <p:ext uri="{BB962C8B-B14F-4D97-AF65-F5344CB8AC3E}">
        <p14:creationId xmlns:p14="http://schemas.microsoft.com/office/powerpoint/2010/main" val="977083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1E1D2-12F2-8C69-475A-CBB296BCB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45623C-3157-384F-B2B8-1B215A71B28B}"/>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47581A2-527D-D1ED-5106-07EEB40C67D9}"/>
                  </a:ext>
                </a:extLst>
              </p:cNvPr>
              <p:cNvSpPr>
                <a:spLocks noGrp="1"/>
              </p:cNvSpPr>
              <p:nvPr>
                <p:ph type="body" idx="1"/>
              </p:nvPr>
            </p:nvSpPr>
            <p:spPr/>
            <p:txBody>
              <a:bodyPr/>
              <a:lstStyle/>
              <a:p>
                <a:r>
                  <a:rPr lang="he-IL" dirty="0"/>
                  <a:t>In </a:t>
                </a:r>
                <a:r>
                  <a:rPr lang="he-IL" dirty="0" err="1"/>
                  <a:t>linear</a:t>
                </a:r>
                <a:r>
                  <a:rPr lang="he-IL" dirty="0"/>
                  <a:t> </a:t>
                </a:r>
                <a:r>
                  <a:rPr lang="he-IL" dirty="0" err="1"/>
                  <a:t>regression</a:t>
                </a:r>
                <a:r>
                  <a:rPr lang="he-IL" dirty="0"/>
                  <a:t>, the </a:t>
                </a:r>
                <a:r>
                  <a:rPr lang="he-IL" dirty="0" err="1"/>
                  <a:t>Normal</a:t>
                </a:r>
                <a:r>
                  <a:rPr lang="he-IL" dirty="0"/>
                  <a:t> </a:t>
                </a:r>
                <a:r>
                  <a:rPr lang="he-IL" dirty="0" err="1"/>
                  <a:t>likelihood</a:t>
                </a:r>
                <a:r>
                  <a:rPr lang="he-IL" dirty="0"/>
                  <a:t> is </a:t>
                </a:r>
                <a:r>
                  <a:rPr lang="he-IL" dirty="0" err="1"/>
                  <a:t>about</a:t>
                </a:r>
                <a:r>
                  <a:rPr lang="he-IL" dirty="0"/>
                  <a:t> the </a:t>
                </a:r>
                <a:r>
                  <a:rPr lang="he-IL" dirty="0" err="1"/>
                  <a:t>dependent</a:t>
                </a:r>
                <a:r>
                  <a:rPr lang="he-IL" dirty="0"/>
                  <a:t> </a:t>
                </a:r>
                <a:r>
                  <a:rPr lang="he-IL" dirty="0" err="1"/>
                  <a:t>variable</a:t>
                </a:r>
                <a:r>
                  <a:rPr lang="he-IL" dirty="0"/>
                  <a:t>:</a:t>
                </a:r>
              </a:p>
              <a:p>
                <a:pPr/>
                <a14:m>
                  <m:oMathPara xmlns:m="http://schemas.openxmlformats.org/officeDocument/2006/math">
                    <m:oMathParaPr>
                      <m:jc m:val="centerGroup"/>
                    </m:oMathParaPr>
                    <m:oMath xmlns:m="http://schemas.openxmlformats.org/officeDocument/2006/math">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𝑦</m:t>
                          </m:r>
                        </m:e>
                        <m:sub>
                          <m:r>
                            <a:rPr lang="he-IL" sz="1200" i="1" kern="1200">
                              <a:solidFill>
                                <a:schemeClr val="tx1"/>
                              </a:solidFill>
                              <a:latin typeface="Cambria Math" panose="02040503050406030204" pitchFamily="18" charset="0"/>
                              <a:ea typeface="+mn-ea"/>
                              <a:cs typeface="+mn-cs"/>
                            </a:rPr>
                            <m:t>𝑖</m:t>
                          </m:r>
                        </m:sub>
                      </m:sSub>
                      <m:r>
                        <a:rPr lang="he-IL" sz="1200" i="0" kern="1200">
                          <a:solidFill>
                            <a:schemeClr val="tx1"/>
                          </a:solidFill>
                          <a:latin typeface="Cambria Math" panose="02040503050406030204" pitchFamily="18" charset="0"/>
                          <a:ea typeface="+mn-ea"/>
                          <a:cs typeface="+mn-cs"/>
                        </a:rPr>
                        <m:t>∣</m:t>
                      </m:r>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𝑥</m:t>
                          </m:r>
                        </m:e>
                        <m:sub>
                          <m:r>
                            <a:rPr lang="he-IL" sz="1200" i="1" kern="1200">
                              <a:solidFill>
                                <a:schemeClr val="tx1"/>
                              </a:solidFill>
                              <a:latin typeface="Cambria Math" panose="02040503050406030204" pitchFamily="18" charset="0"/>
                              <a:ea typeface="+mn-ea"/>
                              <a:cs typeface="+mn-cs"/>
                            </a:rPr>
                            <m:t>𝑖</m:t>
                          </m:r>
                        </m:sub>
                      </m:sSub>
                      <m:r>
                        <a:rPr lang="he-IL" sz="1200" i="0" kern="1200">
                          <a:solidFill>
                            <a:schemeClr val="tx1"/>
                          </a:solidFill>
                          <a:latin typeface="Cambria Math" panose="02040503050406030204" pitchFamily="18" charset="0"/>
                          <a:ea typeface="+mn-ea"/>
                          <a:cs typeface="+mn-cs"/>
                        </a:rPr>
                        <m:t>∼</m:t>
                      </m:r>
                      <m:r>
                        <a:rPr lang="he-IL" sz="1200" i="1" kern="1200">
                          <a:solidFill>
                            <a:schemeClr val="tx1"/>
                          </a:solidFill>
                          <a:latin typeface="Cambria Math" panose="02040503050406030204" pitchFamily="18" charset="0"/>
                          <a:ea typeface="+mn-ea"/>
                          <a:cs typeface="+mn-cs"/>
                        </a:rPr>
                        <m:t>𝑁𝑜𝑟𝑚𝑎𝑙</m:t>
                      </m:r>
                      <m:d>
                        <m:dPr>
                          <m:sepChr m:val=","/>
                          <m:ctrlPr>
                            <a:rPr lang="he-IL" sz="1200" i="1" kern="1200">
                              <a:solidFill>
                                <a:schemeClr val="tx1"/>
                              </a:solidFill>
                              <a:latin typeface="Cambria Math" panose="02040503050406030204" pitchFamily="18" charset="0"/>
                              <a:ea typeface="+mn-ea"/>
                              <a:cs typeface="+mn-cs"/>
                            </a:rPr>
                          </m:ctrlPr>
                        </m:dPr>
                        <m:e>
                          <m:sSub>
                            <m:sSubPr>
                              <m:ctrlPr>
                                <a:rPr lang="he-IL" sz="1200" i="1" kern="1200">
                                  <a:solidFill>
                                    <a:schemeClr val="tx1"/>
                                  </a:solidFill>
                                  <a:latin typeface="Cambria Math" panose="02040503050406030204" pitchFamily="18" charset="0"/>
                                  <a:ea typeface="+mn-ea"/>
                                  <a:cs typeface="+mn-cs"/>
                                </a:rPr>
                              </m:ctrlPr>
                            </m:sSubPr>
                            <m:e>
                              <m:r>
                                <a:rPr lang="he-IL" sz="1200" i="1" kern="1200">
                                  <a:solidFill>
                                    <a:schemeClr val="tx1"/>
                                  </a:solidFill>
                                  <a:latin typeface="Cambria Math" panose="02040503050406030204" pitchFamily="18" charset="0"/>
                                  <a:ea typeface="+mn-ea"/>
                                  <a:cs typeface="+mn-cs"/>
                                </a:rPr>
                                <m:t>𝜇</m:t>
                              </m:r>
                            </m:e>
                            <m:sub>
                              <m:r>
                                <a:rPr lang="he-IL" sz="1200" i="1" kern="1200">
                                  <a:solidFill>
                                    <a:schemeClr val="tx1"/>
                                  </a:solidFill>
                                  <a:latin typeface="Cambria Math" panose="02040503050406030204" pitchFamily="18" charset="0"/>
                                  <a:ea typeface="+mn-ea"/>
                                  <a:cs typeface="+mn-cs"/>
                                </a:rPr>
                                <m:t>𝑖</m:t>
                              </m:r>
                            </m:sub>
                          </m:sSub>
                        </m:e>
                        <m:e>
                          <m:r>
                            <a:rPr lang="he-IL" sz="1200" i="1" kern="1200">
                              <a:solidFill>
                                <a:schemeClr val="tx1"/>
                              </a:solidFill>
                              <a:latin typeface="Cambria Math" panose="02040503050406030204" pitchFamily="18" charset="0"/>
                              <a:ea typeface="+mn-ea"/>
                              <a:cs typeface="+mn-cs"/>
                            </a:rPr>
                            <m:t>𝜎</m:t>
                          </m:r>
                        </m:e>
                      </m:d>
                    </m:oMath>
                  </m:oMathPara>
                </a14:m>
                <a:endParaRPr lang="he-IL" dirty="0"/>
              </a:p>
              <a:p>
                <a:r>
                  <a:rPr lang="he-IL" dirty="0" err="1"/>
                  <a:t>It</a:t>
                </a:r>
                <a:r>
                  <a:rPr lang="he-IL" dirty="0"/>
                  <a:t> is </a:t>
                </a:r>
                <a:r>
                  <a:rPr lang="he-IL" b="1" dirty="0"/>
                  <a:t>not</a:t>
                </a:r>
                <a:r>
                  <a:rPr lang="he-IL" dirty="0"/>
                  <a:t> </a:t>
                </a:r>
                <a:r>
                  <a:rPr lang="he-IL" dirty="0" err="1"/>
                  <a:t>an</a:t>
                </a:r>
                <a:r>
                  <a:rPr lang="he-IL" dirty="0"/>
                  <a:t> assumption </a:t>
                </a:r>
                <a:r>
                  <a:rPr lang="he-IL" dirty="0" err="1"/>
                  <a:t>that</a:t>
                </a:r>
                <a:r>
                  <a:rPr lang="he-IL" dirty="0"/>
                  <a:t> the </a:t>
                </a:r>
                <a:r>
                  <a:rPr lang="he-IL" dirty="0" err="1"/>
                  <a:t>independent</a:t>
                </a:r>
                <a:r>
                  <a:rPr lang="he-IL" dirty="0"/>
                  <a:t> </a:t>
                </a:r>
                <a:r>
                  <a:rPr lang="he-IL" dirty="0" err="1"/>
                  <a:t>variable</a:t>
                </a:r>
                <a:r>
                  <a:rPr lang="he-IL" dirty="0"/>
                  <a:t> </a:t>
                </a:r>
                <a14:m>
                  <m:oMath xmlns:m="http://schemas.openxmlformats.org/officeDocument/2006/math">
                    <m:r>
                      <a:rPr lang="he-IL" sz="1200" i="1" kern="1200">
                        <a:solidFill>
                          <a:schemeClr val="tx1"/>
                        </a:solidFill>
                        <a:latin typeface="Cambria Math" panose="02040503050406030204" pitchFamily="18" charset="0"/>
                        <a:ea typeface="+mn-ea"/>
                        <a:cs typeface="+mn-cs"/>
                      </a:rPr>
                      <m:t>𝑥</m:t>
                    </m:r>
                  </m:oMath>
                </a14:m>
                <a:r>
                  <a:rPr lang="he-IL" dirty="0"/>
                  <a:t>is </a:t>
                </a:r>
                <a:r>
                  <a:rPr lang="he-IL" dirty="0" err="1"/>
                  <a:t>normally</a:t>
                </a:r>
                <a:r>
                  <a:rPr lang="he-IL" dirty="0"/>
                  <a:t> </a:t>
                </a:r>
                <a:r>
                  <a:rPr lang="he-IL" dirty="0" err="1"/>
                  <a:t>distributed</a:t>
                </a:r>
                <a:r>
                  <a:rPr lang="he-IL" dirty="0"/>
                  <a:t>.</a:t>
                </a:r>
              </a:p>
              <a:p>
                <a:r>
                  <a:rPr lang="he-IL" dirty="0"/>
                  <a:t>The </a:t>
                </a:r>
                <a:r>
                  <a:rPr lang="he-IL" dirty="0" err="1"/>
                  <a:t>predictor</a:t>
                </a:r>
                <a:r>
                  <a:rPr lang="he-IL" dirty="0"/>
                  <a:t> </a:t>
                </a:r>
                <a14:m>
                  <m:oMath xmlns:m="http://schemas.openxmlformats.org/officeDocument/2006/math">
                    <m:r>
                      <a:rPr lang="he-IL" sz="1200" i="1" kern="1200">
                        <a:solidFill>
                          <a:schemeClr val="tx1"/>
                        </a:solidFill>
                        <a:latin typeface="Cambria Math" panose="02040503050406030204" pitchFamily="18" charset="0"/>
                        <a:ea typeface="+mn-ea"/>
                        <a:cs typeface="+mn-cs"/>
                      </a:rPr>
                      <m:t>𝑥</m:t>
                    </m:r>
                  </m:oMath>
                </a14:m>
                <a:r>
                  <a:rPr lang="he-IL" dirty="0"/>
                  <a:t>is </a:t>
                </a:r>
                <a:r>
                  <a:rPr lang="he-IL" dirty="0" err="1"/>
                  <a:t>treated</a:t>
                </a:r>
                <a:r>
                  <a:rPr lang="he-IL" dirty="0"/>
                  <a:t> </a:t>
                </a:r>
                <a:r>
                  <a:rPr lang="he-IL" dirty="0" err="1"/>
                  <a:t>as</a:t>
                </a:r>
                <a:r>
                  <a:rPr lang="he-IL" dirty="0"/>
                  <a:t> </a:t>
                </a:r>
                <a:r>
                  <a:rPr lang="he-IL" dirty="0" err="1"/>
                  <a:t>known</a:t>
                </a:r>
                <a:r>
                  <a:rPr lang="he-IL" dirty="0"/>
                  <a:t> </a:t>
                </a:r>
                <a:r>
                  <a:rPr lang="he-IL" dirty="0" err="1"/>
                  <a:t>input</a:t>
                </a:r>
                <a:r>
                  <a:rPr lang="he-IL" dirty="0"/>
                  <a:t> to the model.</a:t>
                </a:r>
              </a:p>
              <a:p>
                <a:endParaRPr lang="LID4096" dirty="0"/>
              </a:p>
            </p:txBody>
          </p:sp>
        </mc:Choice>
        <mc:Fallback xmlns="">
          <p:sp>
            <p:nvSpPr>
              <p:cNvPr id="3" name="Notes Placeholder 2">
                <a:extLst>
                  <a:ext uri="{FF2B5EF4-FFF2-40B4-BE49-F238E27FC236}">
                    <a16:creationId xmlns:a16="http://schemas.microsoft.com/office/drawing/2014/main" id="{347581A2-527D-D1ED-5106-07EEB40C67D9}"/>
                  </a:ext>
                </a:extLst>
              </p:cNvPr>
              <p:cNvSpPr>
                <a:spLocks noGrp="1"/>
              </p:cNvSpPr>
              <p:nvPr>
                <p:ph type="body" idx="1"/>
              </p:nvPr>
            </p:nvSpPr>
            <p:spPr/>
            <p:txBody>
              <a:bodyPr/>
              <a:lstStyle/>
              <a:p>
                <a:r>
                  <a:rPr lang="he-IL" dirty="0"/>
                  <a:t>In </a:t>
                </a:r>
                <a:r>
                  <a:rPr lang="he-IL" dirty="0" err="1"/>
                  <a:t>linear</a:t>
                </a:r>
                <a:r>
                  <a:rPr lang="he-IL" dirty="0"/>
                  <a:t> </a:t>
                </a:r>
                <a:r>
                  <a:rPr lang="he-IL" dirty="0" err="1"/>
                  <a:t>regression</a:t>
                </a:r>
                <a:r>
                  <a:rPr lang="he-IL" dirty="0"/>
                  <a:t>, the </a:t>
                </a:r>
                <a:r>
                  <a:rPr lang="he-IL" dirty="0" err="1"/>
                  <a:t>Normal</a:t>
                </a:r>
                <a:r>
                  <a:rPr lang="he-IL" dirty="0"/>
                  <a:t> </a:t>
                </a:r>
                <a:r>
                  <a:rPr lang="he-IL" dirty="0" err="1"/>
                  <a:t>likelihood</a:t>
                </a:r>
                <a:r>
                  <a:rPr lang="he-IL" dirty="0"/>
                  <a:t> is </a:t>
                </a:r>
                <a:r>
                  <a:rPr lang="he-IL" dirty="0" err="1"/>
                  <a:t>about</a:t>
                </a:r>
                <a:r>
                  <a:rPr lang="he-IL" dirty="0"/>
                  <a:t> the </a:t>
                </a:r>
                <a:r>
                  <a:rPr lang="he-IL" dirty="0" err="1"/>
                  <a:t>dependent</a:t>
                </a:r>
                <a:r>
                  <a:rPr lang="he-IL" dirty="0"/>
                  <a:t> </a:t>
                </a:r>
                <a:r>
                  <a:rPr lang="he-IL" dirty="0" err="1"/>
                  <a:t>variable</a:t>
                </a:r>
                <a:r>
                  <a:rPr lang="he-IL" dirty="0"/>
                  <a:t>:</a:t>
                </a:r>
              </a:p>
              <a:p>
                <a:pPr/>
                <a:r>
                  <a:rPr lang="he-IL" sz="1200" i="0" kern="1200">
                    <a:solidFill>
                      <a:schemeClr val="tx1"/>
                    </a:solidFill>
                    <a:latin typeface="Cambria Math" panose="02040503050406030204" pitchFamily="18" charset="0"/>
                    <a:ea typeface="+mn-ea"/>
                    <a:cs typeface="+mn-cs"/>
                  </a:rPr>
                  <a:t>𝑦_𝑖∣𝑥_𝑖∼𝑁𝑜𝑟𝑚𝑎𝑙(𝜇_𝑖ⓜ,𝜎)</a:t>
                </a:r>
                <a:endParaRPr lang="he-IL" dirty="0"/>
              </a:p>
              <a:p>
                <a:r>
                  <a:rPr lang="he-IL" dirty="0" err="1"/>
                  <a:t>It</a:t>
                </a:r>
                <a:r>
                  <a:rPr lang="he-IL" dirty="0"/>
                  <a:t> is </a:t>
                </a:r>
                <a:r>
                  <a:rPr lang="he-IL" b="1" dirty="0"/>
                  <a:t>not</a:t>
                </a:r>
                <a:r>
                  <a:rPr lang="he-IL" dirty="0"/>
                  <a:t> </a:t>
                </a:r>
                <a:r>
                  <a:rPr lang="he-IL" dirty="0" err="1"/>
                  <a:t>an</a:t>
                </a:r>
                <a:r>
                  <a:rPr lang="he-IL" dirty="0"/>
                  <a:t> assumption </a:t>
                </a:r>
                <a:r>
                  <a:rPr lang="he-IL" dirty="0" err="1"/>
                  <a:t>that</a:t>
                </a:r>
                <a:r>
                  <a:rPr lang="he-IL" dirty="0"/>
                  <a:t> the </a:t>
                </a:r>
                <a:r>
                  <a:rPr lang="he-IL" dirty="0" err="1"/>
                  <a:t>independent</a:t>
                </a:r>
                <a:r>
                  <a:rPr lang="he-IL" dirty="0"/>
                  <a:t> </a:t>
                </a:r>
                <a:r>
                  <a:rPr lang="he-IL" dirty="0" err="1"/>
                  <a:t>variable</a:t>
                </a:r>
                <a:r>
                  <a:rPr lang="he-IL" dirty="0"/>
                  <a:t> </a:t>
                </a:r>
                <a:r>
                  <a:rPr lang="he-IL" sz="1200" i="0" kern="1200">
                    <a:solidFill>
                      <a:schemeClr val="tx1"/>
                    </a:solidFill>
                    <a:latin typeface="Cambria Math" panose="02040503050406030204" pitchFamily="18" charset="0"/>
                    <a:ea typeface="+mn-ea"/>
                    <a:cs typeface="+mn-cs"/>
                  </a:rPr>
                  <a:t>𝑥</a:t>
                </a:r>
                <a:r>
                  <a:rPr lang="he-IL" dirty="0"/>
                  <a:t>is </a:t>
                </a:r>
                <a:r>
                  <a:rPr lang="he-IL" dirty="0" err="1"/>
                  <a:t>normally</a:t>
                </a:r>
                <a:r>
                  <a:rPr lang="he-IL" dirty="0"/>
                  <a:t> </a:t>
                </a:r>
                <a:r>
                  <a:rPr lang="he-IL" dirty="0" err="1"/>
                  <a:t>distributed</a:t>
                </a:r>
                <a:r>
                  <a:rPr lang="he-IL" dirty="0"/>
                  <a:t>.</a:t>
                </a:r>
              </a:p>
              <a:p>
                <a:r>
                  <a:rPr lang="he-IL" dirty="0"/>
                  <a:t>The </a:t>
                </a:r>
                <a:r>
                  <a:rPr lang="he-IL" dirty="0" err="1"/>
                  <a:t>predictor</a:t>
                </a:r>
                <a:r>
                  <a:rPr lang="he-IL" dirty="0"/>
                  <a:t> </a:t>
                </a:r>
                <a:r>
                  <a:rPr lang="he-IL" sz="1200" i="0" kern="1200">
                    <a:solidFill>
                      <a:schemeClr val="tx1"/>
                    </a:solidFill>
                    <a:latin typeface="Cambria Math" panose="02040503050406030204" pitchFamily="18" charset="0"/>
                    <a:ea typeface="+mn-ea"/>
                    <a:cs typeface="+mn-cs"/>
                  </a:rPr>
                  <a:t>𝑥</a:t>
                </a:r>
                <a:r>
                  <a:rPr lang="he-IL" dirty="0"/>
                  <a:t>is </a:t>
                </a:r>
                <a:r>
                  <a:rPr lang="he-IL" dirty="0" err="1"/>
                  <a:t>treated</a:t>
                </a:r>
                <a:r>
                  <a:rPr lang="he-IL" dirty="0"/>
                  <a:t> </a:t>
                </a:r>
                <a:r>
                  <a:rPr lang="he-IL" dirty="0" err="1"/>
                  <a:t>as</a:t>
                </a:r>
                <a:r>
                  <a:rPr lang="he-IL" dirty="0"/>
                  <a:t> </a:t>
                </a:r>
                <a:r>
                  <a:rPr lang="he-IL" dirty="0" err="1"/>
                  <a:t>known</a:t>
                </a:r>
                <a:r>
                  <a:rPr lang="he-IL" dirty="0"/>
                  <a:t> </a:t>
                </a:r>
                <a:r>
                  <a:rPr lang="he-IL" dirty="0" err="1"/>
                  <a:t>input</a:t>
                </a:r>
                <a:r>
                  <a:rPr lang="he-IL" dirty="0"/>
                  <a:t> to the model.</a:t>
                </a:r>
              </a:p>
              <a:p>
                <a:endParaRPr lang="LID4096" dirty="0"/>
              </a:p>
            </p:txBody>
          </p:sp>
        </mc:Fallback>
      </mc:AlternateContent>
      <p:sp>
        <p:nvSpPr>
          <p:cNvPr id="4" name="Slide Number Placeholder 3">
            <a:extLst>
              <a:ext uri="{FF2B5EF4-FFF2-40B4-BE49-F238E27FC236}">
                <a16:creationId xmlns:a16="http://schemas.microsoft.com/office/drawing/2014/main" id="{DA3BD410-8D97-A59D-BE41-65A896597CD7}"/>
              </a:ext>
            </a:extLst>
          </p:cNvPr>
          <p:cNvSpPr>
            <a:spLocks noGrp="1"/>
          </p:cNvSpPr>
          <p:nvPr>
            <p:ph type="sldNum" sz="quarter" idx="5"/>
          </p:nvPr>
        </p:nvSpPr>
        <p:spPr/>
        <p:txBody>
          <a:bodyPr/>
          <a:lstStyle/>
          <a:p>
            <a:fld id="{FA96E01F-8DBD-4634-ACB5-33D503B64F6E}" type="slidenum">
              <a:rPr lang="LID4096" smtClean="0"/>
              <a:t>5</a:t>
            </a:fld>
            <a:endParaRPr lang="LID4096"/>
          </a:p>
        </p:txBody>
      </p:sp>
    </p:spTree>
    <p:extLst>
      <p:ext uri="{BB962C8B-B14F-4D97-AF65-F5344CB8AC3E}">
        <p14:creationId xmlns:p14="http://schemas.microsoft.com/office/powerpoint/2010/main" val="274618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3782D-2BDB-4D95-735C-610F88D16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1147D-EBDC-A057-339C-3F34A76514A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C0CF906-668B-2B93-88E5-1E990C32D8F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06BE1131-DDFC-ED8A-5ECB-6081F6F61645}"/>
              </a:ext>
            </a:extLst>
          </p:cNvPr>
          <p:cNvSpPr>
            <a:spLocks noGrp="1"/>
          </p:cNvSpPr>
          <p:nvPr>
            <p:ph type="sldNum" sz="quarter" idx="5"/>
          </p:nvPr>
        </p:nvSpPr>
        <p:spPr/>
        <p:txBody>
          <a:bodyPr/>
          <a:lstStyle/>
          <a:p>
            <a:fld id="{FA96E01F-8DBD-4634-ACB5-33D503B64F6E}" type="slidenum">
              <a:rPr lang="LID4096" smtClean="0"/>
              <a:t>8</a:t>
            </a:fld>
            <a:endParaRPr lang="LID4096"/>
          </a:p>
        </p:txBody>
      </p:sp>
    </p:spTree>
    <p:extLst>
      <p:ext uri="{BB962C8B-B14F-4D97-AF65-F5344CB8AC3E}">
        <p14:creationId xmlns:p14="http://schemas.microsoft.com/office/powerpoint/2010/main" val="375533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A29FA-6960-FEA9-5996-CF23E055F2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29483-3DD8-3799-FDE5-074A37FB2C6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CD01AB2-C9A2-D464-8644-5419E03BC868}"/>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FFD3B01D-FE04-C89D-7A95-1D6753F8B70B}"/>
              </a:ext>
            </a:extLst>
          </p:cNvPr>
          <p:cNvSpPr>
            <a:spLocks noGrp="1"/>
          </p:cNvSpPr>
          <p:nvPr>
            <p:ph type="sldNum" sz="quarter" idx="5"/>
          </p:nvPr>
        </p:nvSpPr>
        <p:spPr/>
        <p:txBody>
          <a:bodyPr/>
          <a:lstStyle/>
          <a:p>
            <a:fld id="{FA96E01F-8DBD-4634-ACB5-33D503B64F6E}" type="slidenum">
              <a:rPr lang="LID4096" smtClean="0"/>
              <a:t>9</a:t>
            </a:fld>
            <a:endParaRPr lang="LID4096"/>
          </a:p>
        </p:txBody>
      </p:sp>
    </p:spTree>
    <p:extLst>
      <p:ext uri="{BB962C8B-B14F-4D97-AF65-F5344CB8AC3E}">
        <p14:creationId xmlns:p14="http://schemas.microsoft.com/office/powerpoint/2010/main" val="3573841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F74F5-E37C-52E3-ABE2-FECEE9EB1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AC9AE-92E5-7CA4-F049-7562A830A55C}"/>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88027ED-9AFC-7C46-11A0-8096116AFEB3}"/>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BB40811F-32D9-3ABC-8701-865446F819DB}"/>
              </a:ext>
            </a:extLst>
          </p:cNvPr>
          <p:cNvSpPr>
            <a:spLocks noGrp="1"/>
          </p:cNvSpPr>
          <p:nvPr>
            <p:ph type="sldNum" sz="quarter" idx="5"/>
          </p:nvPr>
        </p:nvSpPr>
        <p:spPr/>
        <p:txBody>
          <a:bodyPr/>
          <a:lstStyle/>
          <a:p>
            <a:fld id="{FA96E01F-8DBD-4634-ACB5-33D503B64F6E}" type="slidenum">
              <a:rPr lang="LID4096" smtClean="0"/>
              <a:t>10</a:t>
            </a:fld>
            <a:endParaRPr lang="LID4096"/>
          </a:p>
        </p:txBody>
      </p:sp>
    </p:spTree>
    <p:extLst>
      <p:ext uri="{BB962C8B-B14F-4D97-AF65-F5344CB8AC3E}">
        <p14:creationId xmlns:p14="http://schemas.microsoft.com/office/powerpoint/2010/main" val="4012760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6EBFC-DE58-899E-BAFC-B5A279EC83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69A51-9DAC-B5AC-40C9-A0A9B82FF3D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754874D-3B64-B127-20BE-90F1E92EB755}"/>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525A6F57-6F2B-B871-087F-FF78562F68F6}"/>
              </a:ext>
            </a:extLst>
          </p:cNvPr>
          <p:cNvSpPr>
            <a:spLocks noGrp="1"/>
          </p:cNvSpPr>
          <p:nvPr>
            <p:ph type="sldNum" sz="quarter" idx="5"/>
          </p:nvPr>
        </p:nvSpPr>
        <p:spPr/>
        <p:txBody>
          <a:bodyPr/>
          <a:lstStyle/>
          <a:p>
            <a:fld id="{FA96E01F-8DBD-4634-ACB5-33D503B64F6E}" type="slidenum">
              <a:rPr lang="LID4096" smtClean="0"/>
              <a:t>11</a:t>
            </a:fld>
            <a:endParaRPr lang="LID4096"/>
          </a:p>
        </p:txBody>
      </p:sp>
    </p:spTree>
    <p:extLst>
      <p:ext uri="{BB962C8B-B14F-4D97-AF65-F5344CB8AC3E}">
        <p14:creationId xmlns:p14="http://schemas.microsoft.com/office/powerpoint/2010/main" val="2705598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9AF0F-D53C-4D78-6DE7-0EE35210E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745407-21EA-133E-37C2-A2207B6EC86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55CEA29-3FD6-B0D3-84FD-1C9DF9F7E1AA}"/>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0874BFD1-D952-FE7C-94C0-E8950113A355}"/>
              </a:ext>
            </a:extLst>
          </p:cNvPr>
          <p:cNvSpPr>
            <a:spLocks noGrp="1"/>
          </p:cNvSpPr>
          <p:nvPr>
            <p:ph type="sldNum" sz="quarter" idx="5"/>
          </p:nvPr>
        </p:nvSpPr>
        <p:spPr/>
        <p:txBody>
          <a:bodyPr/>
          <a:lstStyle/>
          <a:p>
            <a:fld id="{FA96E01F-8DBD-4634-ACB5-33D503B64F6E}" type="slidenum">
              <a:rPr lang="LID4096" smtClean="0"/>
              <a:t>12</a:t>
            </a:fld>
            <a:endParaRPr lang="LID4096"/>
          </a:p>
        </p:txBody>
      </p:sp>
    </p:spTree>
    <p:extLst>
      <p:ext uri="{BB962C8B-B14F-4D97-AF65-F5344CB8AC3E}">
        <p14:creationId xmlns:p14="http://schemas.microsoft.com/office/powerpoint/2010/main" val="3740306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35FAE-0DCF-F78A-10F5-47CC980B86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D98DD-29E8-692B-6672-1807807DC67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B8A08E3-3C64-2D16-2687-D4C8FEFD5DF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69B78DD-B08D-6E5C-D8EC-0485549CDDBA}"/>
              </a:ext>
            </a:extLst>
          </p:cNvPr>
          <p:cNvSpPr>
            <a:spLocks noGrp="1"/>
          </p:cNvSpPr>
          <p:nvPr>
            <p:ph type="sldNum" sz="quarter" idx="5"/>
          </p:nvPr>
        </p:nvSpPr>
        <p:spPr/>
        <p:txBody>
          <a:bodyPr/>
          <a:lstStyle/>
          <a:p>
            <a:fld id="{FA96E01F-8DBD-4634-ACB5-33D503B64F6E}" type="slidenum">
              <a:rPr lang="LID4096" smtClean="0"/>
              <a:t>13</a:t>
            </a:fld>
            <a:endParaRPr lang="LID4096"/>
          </a:p>
        </p:txBody>
      </p:sp>
    </p:spTree>
    <p:extLst>
      <p:ext uri="{BB962C8B-B14F-4D97-AF65-F5344CB8AC3E}">
        <p14:creationId xmlns:p14="http://schemas.microsoft.com/office/powerpoint/2010/main" val="3046798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E3C90-0BCA-4179-A005-78BCB7C25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F7F5F2-D298-3421-8BCE-BD8A92C1E51B}"/>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E2D7D36-5EEE-FBFE-6CB7-E2B62DFBAAD3}"/>
                  </a:ext>
                </a:extLst>
              </p:cNvPr>
              <p:cNvSpPr>
                <a:spLocks noGrp="1"/>
              </p:cNvSpPr>
              <p:nvPr>
                <p:ph type="body" idx="1"/>
              </p:nvPr>
            </p:nvSpPr>
            <p:spPr/>
            <p:txBody>
              <a:bodyPr/>
              <a:lstStyle/>
              <a:p>
                <a:r>
                  <a:rPr lang="en-US" dirty="0"/>
                  <a:t>We’ll discuss categorial variables later in the tutorial</a:t>
                </a:r>
                <a:endParaRPr lang="he-IL" dirty="0"/>
              </a:p>
              <a:p>
                <a:r>
                  <a:rPr lang="he-IL" sz="1200" kern="1200" dirty="0" err="1">
                    <a:solidFill>
                      <a:schemeClr val="tx1"/>
                    </a:solidFill>
                    <a:latin typeface="David" panose="020E0502060401010101" pitchFamily="34" charset="-79"/>
                    <a:ea typeface="+mn-ea"/>
                    <a:cs typeface="+mn-cs"/>
                  </a:rPr>
                  <a:t>radon</a:t>
                </a:r>
                <a:r>
                  <a:rPr lang="he-IL" dirty="0"/>
                  <a:t> </a:t>
                </a:r>
                <a:r>
                  <a:rPr lang="he-IL" dirty="0" err="1"/>
                  <a:t>itself</a:t>
                </a:r>
                <a:r>
                  <a:rPr lang="he-IL" dirty="0"/>
                  <a:t>:</a:t>
                </a:r>
              </a:p>
              <a:p>
                <a:pPr marL="171450" indent="-171450">
                  <a:buFont typeface="Arial" panose="020B0604020202020204" pitchFamily="34" charset="0"/>
                  <a:buChar char="•"/>
                </a:pPr>
                <a:r>
                  <a:rPr lang="he-IL" dirty="0"/>
                  <a:t>is </a:t>
                </a:r>
                <a:r>
                  <a:rPr lang="he-IL" dirty="0" err="1"/>
                  <a:t>always</a:t>
                </a:r>
                <a:r>
                  <a:rPr lang="he-IL" dirty="0"/>
                  <a:t> </a:t>
                </a:r>
                <a:r>
                  <a:rPr lang="he-IL" dirty="0" err="1"/>
                  <a:t>positive</a:t>
                </a:r>
                <a:r>
                  <a:rPr lang="he-IL" dirty="0"/>
                  <a:t>; </a:t>
                </a:r>
              </a:p>
              <a:p>
                <a:pPr marL="171450" indent="-171450">
                  <a:buFont typeface="Arial" panose="020B0604020202020204" pitchFamily="34" charset="0"/>
                  <a:buChar char="•"/>
                </a:pPr>
                <a:r>
                  <a:rPr lang="he-IL" dirty="0"/>
                  <a:t>can </a:t>
                </a:r>
                <a:r>
                  <a:rPr lang="he-IL" dirty="0" err="1"/>
                  <a:t>contain</a:t>
                </a:r>
                <a:r>
                  <a:rPr lang="he-IL" dirty="0"/>
                  <a:t> a </a:t>
                </a:r>
                <a:r>
                  <a:rPr lang="he-IL" dirty="0" err="1"/>
                  <a:t>few</a:t>
                </a:r>
                <a:r>
                  <a:rPr lang="he-IL" dirty="0"/>
                  <a:t> </a:t>
                </a:r>
                <a:r>
                  <a:rPr lang="he-IL" dirty="0" err="1"/>
                  <a:t>houses</a:t>
                </a:r>
                <a:r>
                  <a:rPr lang="he-IL" dirty="0"/>
                  <a:t> </a:t>
                </a:r>
                <a:r>
                  <a:rPr lang="he-IL" dirty="0" err="1"/>
                  <a:t>or</a:t>
                </a:r>
                <a:r>
                  <a:rPr lang="he-IL" dirty="0"/>
                  <a:t> </a:t>
                </a:r>
                <a:r>
                  <a:rPr lang="he-IL" dirty="0" err="1"/>
                  <a:t>areas</a:t>
                </a:r>
                <a:r>
                  <a:rPr lang="he-IL" dirty="0"/>
                  <a:t> with very </a:t>
                </a:r>
                <a:r>
                  <a:rPr lang="he-IL" dirty="0" err="1"/>
                  <a:t>high</a:t>
                </a:r>
                <a:r>
                  <a:rPr lang="he-IL" dirty="0"/>
                  <a:t> </a:t>
                </a:r>
                <a:r>
                  <a:rPr lang="he-IL" dirty="0" err="1"/>
                  <a:t>values</a:t>
                </a:r>
                <a:r>
                  <a:rPr lang="he-IL" dirty="0"/>
                  <a:t>; </a:t>
                </a:r>
              </a:p>
              <a:p>
                <a:pPr marL="171450" indent="-171450">
                  <a:buFont typeface="Arial" panose="020B0604020202020204" pitchFamily="34" charset="0"/>
                  <a:buChar char="•"/>
                </a:pPr>
                <a:r>
                  <a:rPr lang="he-IL" dirty="0" err="1"/>
                  <a:t>often</a:t>
                </a:r>
                <a:r>
                  <a:rPr lang="he-IL" dirty="0"/>
                  <a:t> </a:t>
                </a:r>
                <a:r>
                  <a:rPr lang="he-IL" dirty="0" err="1"/>
                  <a:t>has</a:t>
                </a:r>
                <a:r>
                  <a:rPr lang="he-IL" dirty="0"/>
                  <a:t> </a:t>
                </a:r>
                <a:r>
                  <a:rPr lang="he-IL" dirty="0" err="1"/>
                  <a:t>larger</a:t>
                </a:r>
                <a:r>
                  <a:rPr lang="he-IL" dirty="0"/>
                  <a:t> </a:t>
                </a:r>
                <a:r>
                  <a:rPr lang="he-IL" dirty="0" err="1"/>
                  <a:t>variability</a:t>
                </a:r>
                <a:r>
                  <a:rPr lang="he-IL" dirty="0"/>
                  <a:t> </a:t>
                </a:r>
                <a:r>
                  <a:rPr lang="he-IL" dirty="0" err="1"/>
                  <a:t>when</a:t>
                </a:r>
                <a:r>
                  <a:rPr lang="he-IL" dirty="0"/>
                  <a:t> the </a:t>
                </a:r>
                <a:r>
                  <a:rPr lang="he-IL" dirty="0" err="1"/>
                  <a:t>mean</a:t>
                </a:r>
                <a:r>
                  <a:rPr lang="he-IL" dirty="0"/>
                  <a:t> is </a:t>
                </a:r>
                <a:r>
                  <a:rPr lang="he-IL" dirty="0" err="1"/>
                  <a:t>larger</a:t>
                </a:r>
                <a:r>
                  <a:rPr lang="he-IL" dirty="0"/>
                  <a:t>; </a:t>
                </a:r>
              </a:p>
              <a:p>
                <a:pPr marL="171450" indent="-171450">
                  <a:buFont typeface="Arial" panose="020B0604020202020204" pitchFamily="34" charset="0"/>
                  <a:buChar char="•"/>
                </a:pPr>
                <a:r>
                  <a:rPr lang="he-IL" dirty="0" err="1"/>
                  <a:t>may</a:t>
                </a:r>
                <a:r>
                  <a:rPr lang="he-IL" dirty="0"/>
                  <a:t> </a:t>
                </a:r>
                <a:r>
                  <a:rPr lang="he-IL" dirty="0" err="1"/>
                  <a:t>be</a:t>
                </a:r>
                <a:r>
                  <a:rPr lang="he-IL" dirty="0"/>
                  <a:t> </a:t>
                </a:r>
                <a:r>
                  <a:rPr lang="he-IL" dirty="0" err="1"/>
                  <a:t>poorly</a:t>
                </a:r>
                <a:r>
                  <a:rPr lang="he-IL" dirty="0"/>
                  <a:t> </a:t>
                </a:r>
                <a:r>
                  <a:rPr lang="he-IL" dirty="0" err="1"/>
                  <a:t>represented</a:t>
                </a:r>
                <a:r>
                  <a:rPr lang="he-IL" dirty="0"/>
                  <a:t> by a </a:t>
                </a:r>
                <a:r>
                  <a:rPr lang="he-IL" dirty="0" err="1"/>
                  <a:t>Normal</a:t>
                </a:r>
                <a:r>
                  <a:rPr lang="he-IL" dirty="0"/>
                  <a:t> model, </a:t>
                </a:r>
                <a:r>
                  <a:rPr lang="he-IL" dirty="0" err="1"/>
                  <a:t>because</a:t>
                </a:r>
                <a:r>
                  <a:rPr lang="he-IL" dirty="0"/>
                  <a:t> a </a:t>
                </a:r>
                <a:r>
                  <a:rPr lang="he-IL" dirty="0" err="1"/>
                  <a:t>Normal</a:t>
                </a:r>
                <a:r>
                  <a:rPr lang="he-IL" dirty="0"/>
                  <a:t> </a:t>
                </a:r>
                <a:r>
                  <a:rPr lang="he-IL" dirty="0" err="1"/>
                  <a:t>likelihood</a:t>
                </a:r>
                <a:r>
                  <a:rPr lang="he-IL" dirty="0"/>
                  <a:t> can </a:t>
                </a:r>
                <a:r>
                  <a:rPr lang="he-IL" dirty="0" err="1"/>
                  <a:t>generate</a:t>
                </a:r>
                <a:r>
                  <a:rPr lang="he-IL" dirty="0"/>
                  <a:t> </a:t>
                </a:r>
                <a:r>
                  <a:rPr lang="he-IL" dirty="0" err="1"/>
                  <a:t>negative</a:t>
                </a:r>
                <a:r>
                  <a:rPr lang="he-IL" dirty="0"/>
                  <a:t> </a:t>
                </a:r>
                <a:r>
                  <a:rPr lang="he-IL" dirty="0" err="1"/>
                  <a:t>radon</a:t>
                </a:r>
                <a:r>
                  <a:rPr lang="he-IL" dirty="0"/>
                  <a:t> </a:t>
                </a:r>
                <a:r>
                  <a:rPr lang="he-IL" dirty="0" err="1"/>
                  <a:t>values</a:t>
                </a:r>
                <a:r>
                  <a:rPr lang="he-IL" dirty="0"/>
                  <a:t>, </a:t>
                </a:r>
                <a:r>
                  <a:rPr lang="he-IL" dirty="0" err="1"/>
                  <a:t>which</a:t>
                </a:r>
                <a:r>
                  <a:rPr lang="he-IL" dirty="0"/>
                  <a:t> are not </a:t>
                </a:r>
                <a:r>
                  <a:rPr lang="he-IL" dirty="0" err="1"/>
                  <a:t>physically</a:t>
                </a:r>
                <a:r>
                  <a:rPr lang="he-IL" dirty="0"/>
                  <a:t> </a:t>
                </a:r>
                <a:r>
                  <a:rPr lang="he-IL" dirty="0" err="1"/>
                  <a:t>meaningful</a:t>
                </a:r>
                <a:r>
                  <a:rPr lang="he-IL" dirty="0"/>
                  <a:t>. </a:t>
                </a:r>
              </a:p>
              <a:p>
                <a:r>
                  <a:rPr lang="he-IL" sz="1200" kern="1200" dirty="0" err="1">
                    <a:solidFill>
                      <a:schemeClr val="tx1"/>
                    </a:solidFill>
                    <a:latin typeface="David" panose="020E0502060401010101" pitchFamily="34" charset="-79"/>
                    <a:ea typeface="+mn-ea"/>
                    <a:cs typeface="+mn-cs"/>
                  </a:rPr>
                  <a:t>log_radon</a:t>
                </a:r>
                <a:r>
                  <a:rPr lang="he-IL" dirty="0"/>
                  <a:t>:</a:t>
                </a:r>
              </a:p>
              <a:p>
                <a:pPr marL="171450" indent="-171450">
                  <a:buFont typeface="Arial" panose="020B0604020202020204" pitchFamily="34" charset="0"/>
                  <a:buChar char="•"/>
                </a:pPr>
                <a:r>
                  <a:rPr lang="he-IL" dirty="0" err="1"/>
                  <a:t>represents</a:t>
                </a:r>
                <a:r>
                  <a:rPr lang="he-IL" dirty="0"/>
                  <a:t> the same </a:t>
                </a:r>
                <a:r>
                  <a:rPr lang="he-IL" dirty="0" err="1"/>
                  <a:t>measurement</a:t>
                </a:r>
                <a:r>
                  <a:rPr lang="he-IL" dirty="0"/>
                  <a:t>, </a:t>
                </a:r>
                <a:r>
                  <a:rPr lang="he-IL" dirty="0" err="1"/>
                  <a:t>but</a:t>
                </a:r>
                <a:r>
                  <a:rPr lang="he-IL" dirty="0"/>
                  <a:t> </a:t>
                </a:r>
                <a:r>
                  <a:rPr lang="he-IL" dirty="0" err="1"/>
                  <a:t>on</a:t>
                </a:r>
                <a:r>
                  <a:rPr lang="he-IL" dirty="0"/>
                  <a:t> a different </a:t>
                </a:r>
                <a:r>
                  <a:rPr lang="he-IL" dirty="0" err="1"/>
                  <a:t>scale</a:t>
                </a:r>
                <a:r>
                  <a:rPr lang="he-IL" dirty="0"/>
                  <a:t>; </a:t>
                </a:r>
              </a:p>
              <a:p>
                <a:pPr marL="171450" indent="-171450">
                  <a:buFont typeface="Arial" panose="020B0604020202020204" pitchFamily="34" charset="0"/>
                  <a:buChar char="•"/>
                </a:pPr>
                <a:r>
                  <a:rPr lang="he-IL" dirty="0" err="1"/>
                  <a:t>reduces</a:t>
                </a:r>
                <a:r>
                  <a:rPr lang="he-IL" dirty="0"/>
                  <a:t> the </a:t>
                </a:r>
                <a:r>
                  <a:rPr lang="he-IL" dirty="0" err="1"/>
                  <a:t>influence</a:t>
                </a:r>
                <a:r>
                  <a:rPr lang="he-IL" dirty="0"/>
                  <a:t> of very large </a:t>
                </a:r>
                <a:r>
                  <a:rPr lang="he-IL" dirty="0" err="1"/>
                  <a:t>values</a:t>
                </a:r>
                <a:r>
                  <a:rPr lang="he-IL" dirty="0"/>
                  <a:t>; </a:t>
                </a:r>
              </a:p>
              <a:p>
                <a:pPr marL="171450" indent="-171450">
                  <a:buFont typeface="Arial" panose="020B0604020202020204" pitchFamily="34" charset="0"/>
                  <a:buChar char="•"/>
                </a:pPr>
                <a:r>
                  <a:rPr lang="he-IL" dirty="0" err="1"/>
                  <a:t>turns</a:t>
                </a:r>
                <a:r>
                  <a:rPr lang="he-IL" dirty="0"/>
                  <a:t> </a:t>
                </a:r>
                <a:r>
                  <a:rPr lang="he-IL" dirty="0" err="1"/>
                  <a:t>multiplicative</a:t>
                </a:r>
                <a:r>
                  <a:rPr lang="he-IL" dirty="0"/>
                  <a:t> </a:t>
                </a:r>
                <a:r>
                  <a:rPr lang="he-IL" dirty="0" err="1"/>
                  <a:t>differences</a:t>
                </a:r>
                <a:r>
                  <a:rPr lang="he-IL" dirty="0"/>
                  <a:t> </a:t>
                </a:r>
                <a:r>
                  <a:rPr lang="he-IL" dirty="0" err="1"/>
                  <a:t>into</a:t>
                </a:r>
                <a:r>
                  <a:rPr lang="he-IL" dirty="0"/>
                  <a:t> </a:t>
                </a:r>
                <a:r>
                  <a:rPr lang="he-IL" dirty="0" err="1"/>
                  <a:t>additive</a:t>
                </a:r>
                <a:r>
                  <a:rPr lang="he-IL" dirty="0"/>
                  <a:t> </a:t>
                </a:r>
                <a:r>
                  <a:rPr lang="he-IL" dirty="0" err="1"/>
                  <a:t>differences</a:t>
                </a:r>
                <a:r>
                  <a:rPr lang="he-IL" dirty="0"/>
                  <a:t>. </a:t>
                </a:r>
                <a:r>
                  <a:rPr lang="he-IL" dirty="0" err="1"/>
                  <a:t>For</a:t>
                </a:r>
                <a:r>
                  <a:rPr lang="he-IL" dirty="0"/>
                  <a:t> </a:t>
                </a:r>
                <a:r>
                  <a:rPr lang="he-IL" dirty="0" err="1"/>
                  <a:t>example</a:t>
                </a:r>
                <a:r>
                  <a:rPr lang="he-IL" dirty="0"/>
                  <a:t>, the </a:t>
                </a:r>
                <a:r>
                  <a:rPr lang="he-IL" dirty="0" err="1"/>
                  <a:t>change</a:t>
                </a:r>
                <a:r>
                  <a:rPr lang="he-IL" dirty="0"/>
                  <a:t> from 1 to 2 is </a:t>
                </a:r>
                <a:r>
                  <a:rPr lang="he-IL" dirty="0" err="1"/>
                  <a:t>similar</a:t>
                </a:r>
                <a:r>
                  <a:rPr lang="he-IL" dirty="0"/>
                  <a:t> to the </a:t>
                </a:r>
                <a:r>
                  <a:rPr lang="he-IL" dirty="0" err="1"/>
                  <a:t>change</a:t>
                </a:r>
                <a:r>
                  <a:rPr lang="he-IL" dirty="0"/>
                  <a:t> from 10 to 20 </a:t>
                </a:r>
                <a:r>
                  <a:rPr lang="he-IL" dirty="0" err="1"/>
                  <a:t>because</a:t>
                </a:r>
                <a:r>
                  <a:rPr lang="he-IL" dirty="0"/>
                  <a:t> </a:t>
                </a:r>
                <a:r>
                  <a:rPr lang="he-IL" dirty="0" err="1"/>
                  <a:t>both</a:t>
                </a:r>
                <a:r>
                  <a:rPr lang="he-IL" dirty="0"/>
                  <a:t> are a </a:t>
                </a:r>
                <a:r>
                  <a:rPr lang="he-IL" dirty="0" err="1"/>
                  <a:t>doubling</a:t>
                </a:r>
                <a:r>
                  <a:rPr lang="he-IL" dirty="0"/>
                  <a:t>; </a:t>
                </a:r>
              </a:p>
              <a:p>
                <a:pPr marL="171450" indent="-171450">
                  <a:buFont typeface="Arial" panose="020B0604020202020204" pitchFamily="34" charset="0"/>
                  <a:buChar char="•"/>
                </a:pPr>
                <a:r>
                  <a:rPr lang="he-IL" dirty="0"/>
                  <a:t>is </a:t>
                </a:r>
                <a:r>
                  <a:rPr lang="he-IL" dirty="0" err="1"/>
                  <a:t>usually</a:t>
                </a:r>
                <a:r>
                  <a:rPr lang="he-IL" dirty="0"/>
                  <a:t> more </a:t>
                </a:r>
                <a:r>
                  <a:rPr lang="he-IL" dirty="0" err="1"/>
                  <a:t>appropriate</a:t>
                </a:r>
                <a:r>
                  <a:rPr lang="he-IL" dirty="0"/>
                  <a:t> </a:t>
                </a:r>
                <a:r>
                  <a:rPr lang="he-IL" dirty="0" err="1"/>
                  <a:t>for</a:t>
                </a:r>
                <a:r>
                  <a:rPr lang="he-IL" dirty="0"/>
                  <a:t> a </a:t>
                </a:r>
                <a:r>
                  <a:rPr lang="he-IL" dirty="0" err="1"/>
                  <a:t>Normal</a:t>
                </a:r>
                <a:r>
                  <a:rPr lang="he-IL" dirty="0"/>
                  <a:t> </a:t>
                </a:r>
                <a:r>
                  <a:rPr lang="he-IL" dirty="0" err="1"/>
                  <a:t>regression</a:t>
                </a:r>
                <a:r>
                  <a:rPr lang="he-IL" dirty="0"/>
                  <a:t> model, </a:t>
                </a:r>
                <a:r>
                  <a:rPr lang="he-IL" dirty="0" err="1"/>
                  <a:t>where</a:t>
                </a:r>
                <a:r>
                  <a:rPr lang="he-IL" dirty="0"/>
                  <a:t> we </a:t>
                </a:r>
                <a:r>
                  <a:rPr lang="he-IL" dirty="0" err="1"/>
                  <a:t>assume</a:t>
                </a:r>
                <a:r>
                  <a:rPr lang="he-IL" dirty="0"/>
                  <a:t> </a:t>
                </a:r>
                <a:r>
                  <a:rPr lang="he-IL" dirty="0" err="1"/>
                  <a:t>something</a:t>
                </a:r>
                <a:r>
                  <a:rPr lang="he-IL" dirty="0"/>
                  <a:t> </a:t>
                </a:r>
                <a:r>
                  <a:rPr lang="he-IL" dirty="0" err="1"/>
                  <a:t>like</a:t>
                </a:r>
                <a:r>
                  <a:rPr lang="he-IL" dirty="0"/>
                  <a:t>: </a:t>
                </a:r>
              </a:p>
              <a:p>
                <a:pPr/>
                <a14:m>
                  <m:oMathPara xmlns:m="http://schemas.openxmlformats.org/officeDocument/2006/math">
                    <m:oMathParaPr>
                      <m:jc m:val="centerGroup"/>
                    </m:oMathParaPr>
                    <m:oMath xmlns:m="http://schemas.openxmlformats.org/officeDocument/2006/math">
                      <m:r>
                        <m:rPr>
                          <m:sty m:val="p"/>
                        </m:rPr>
                        <a:rPr lang="he-IL" sz="1200" kern="1200">
                          <a:solidFill>
                            <a:schemeClr val="tx1"/>
                          </a:solidFill>
                          <a:latin typeface="Cambria Math" panose="02040503050406030204" pitchFamily="18" charset="0"/>
                          <a:ea typeface="+mn-ea"/>
                          <a:cs typeface="+mn-cs"/>
                        </a:rPr>
                        <m:t>log</m:t>
                      </m:r>
                      <m:r>
                        <a:rPr lang="he-IL" sz="1200" i="0" kern="1200">
                          <a:solidFill>
                            <a:schemeClr val="tx1"/>
                          </a:solidFill>
                          <a:latin typeface="Cambria Math" panose="02040503050406030204" pitchFamily="18" charset="0"/>
                          <a:ea typeface="+mn-ea"/>
                          <a:cs typeface="+mn-cs"/>
                        </a:rPr>
                        <m:t>⁡</m:t>
                      </m:r>
                      <m:d>
                        <m:dPr>
                          <m:ctrlPr>
                            <a:rPr lang="he-IL" sz="1200" i="1" kern="1200">
                              <a:solidFill>
                                <a:schemeClr val="tx1"/>
                              </a:solidFill>
                              <a:latin typeface="Cambria Math" panose="02040503050406030204" pitchFamily="18" charset="0"/>
                              <a:ea typeface="+mn-ea"/>
                              <a:cs typeface="+mn-cs"/>
                            </a:rPr>
                          </m:ctrlPr>
                        </m:dPr>
                        <m:e>
                          <m:sSub>
                            <m:sSubPr>
                              <m:ctrlPr>
                                <a:rPr lang="he-IL" sz="1200" i="1" kern="1200">
                                  <a:solidFill>
                                    <a:schemeClr val="tx1"/>
                                  </a:solidFill>
                                  <a:latin typeface="Cambria Math" panose="02040503050406030204" pitchFamily="18" charset="0"/>
                                  <a:ea typeface="+mn-ea"/>
                                  <a:cs typeface="+mn-cs"/>
                                </a:rPr>
                              </m:ctrlPr>
                            </m:sSubPr>
                            <m:e>
                              <m:r>
                                <m:rPr>
                                  <m:nor/>
                                </m:rPr>
                                <a:rPr lang="he-IL" sz="1200" b="0" i="1" kern="1200">
                                  <a:solidFill>
                                    <a:schemeClr val="tx1"/>
                                  </a:solidFill>
                                  <a:latin typeface="David" panose="020E0502060401010101" pitchFamily="34" charset="-79"/>
                                  <a:ea typeface="+mn-ea"/>
                                  <a:cs typeface="+mn-cs"/>
                                </a:rPr>
                                <m:t>radon</m:t>
                              </m:r>
                            </m:e>
                            <m:sub>
                              <m:r>
                                <a:rPr lang="he-IL" sz="1200" b="0" i="1" kern="1200">
                                  <a:solidFill>
                                    <a:schemeClr val="tx1"/>
                                  </a:solidFill>
                                  <a:latin typeface="Cambria Math" panose="02040503050406030204" pitchFamily="18" charset="0"/>
                                  <a:ea typeface="+mn-ea"/>
                                  <a:cs typeface="+mn-cs"/>
                                </a:rPr>
                                <m:t>𝑖</m:t>
                              </m:r>
                            </m:sub>
                          </m:sSub>
                        </m:e>
                      </m:d>
                      <m:r>
                        <a:rPr lang="he-IL" sz="1200" b="0" i="0" kern="1200">
                          <a:solidFill>
                            <a:schemeClr val="tx1"/>
                          </a:solidFill>
                          <a:latin typeface="Cambria Math" panose="02040503050406030204" pitchFamily="18" charset="0"/>
                          <a:ea typeface="+mn-ea"/>
                          <a:cs typeface="+mn-cs"/>
                        </a:rPr>
                        <m:t>∼</m:t>
                      </m:r>
                      <m:r>
                        <m:rPr>
                          <m:nor/>
                        </m:rPr>
                        <a:rPr lang="he-IL" sz="1200" b="0" i="1" kern="1200">
                          <a:solidFill>
                            <a:schemeClr val="tx1"/>
                          </a:solidFill>
                          <a:latin typeface="David" panose="020E0502060401010101" pitchFamily="34" charset="-79"/>
                          <a:ea typeface="+mn-ea"/>
                          <a:cs typeface="+mn-cs"/>
                        </a:rPr>
                        <m:t>Normal</m:t>
                      </m:r>
                      <m:d>
                        <m:dPr>
                          <m:sepChr m:val=","/>
                          <m:ctrlPr>
                            <a:rPr lang="he-IL" sz="1200" b="0" i="1" kern="1200">
                              <a:solidFill>
                                <a:schemeClr val="tx1"/>
                              </a:solidFill>
                              <a:latin typeface="Cambria Math" panose="02040503050406030204" pitchFamily="18" charset="0"/>
                              <a:ea typeface="+mn-ea"/>
                              <a:cs typeface="+mn-cs"/>
                            </a:rPr>
                          </m:ctrlPr>
                        </m:dPr>
                        <m:e>
                          <m:sSub>
                            <m:sSubPr>
                              <m:ctrlPr>
                                <a:rPr lang="he-IL" sz="1200" b="0" i="1" kern="1200">
                                  <a:solidFill>
                                    <a:schemeClr val="tx1"/>
                                  </a:solidFill>
                                  <a:latin typeface="Cambria Math" panose="02040503050406030204" pitchFamily="18" charset="0"/>
                                  <a:ea typeface="+mn-ea"/>
                                  <a:cs typeface="+mn-cs"/>
                                </a:rPr>
                              </m:ctrlPr>
                            </m:sSubPr>
                            <m:e>
                              <m:r>
                                <a:rPr lang="he-IL" sz="1200" b="0" i="1" kern="1200">
                                  <a:solidFill>
                                    <a:schemeClr val="tx1"/>
                                  </a:solidFill>
                                  <a:latin typeface="Cambria Math" panose="02040503050406030204" pitchFamily="18" charset="0"/>
                                  <a:ea typeface="+mn-ea"/>
                                  <a:cs typeface="+mn-cs"/>
                                </a:rPr>
                                <m:t>𝜇</m:t>
                              </m:r>
                            </m:e>
                            <m:sub>
                              <m:r>
                                <a:rPr lang="he-IL" sz="1200" b="0" i="1" kern="1200">
                                  <a:solidFill>
                                    <a:schemeClr val="tx1"/>
                                  </a:solidFill>
                                  <a:latin typeface="Cambria Math" panose="02040503050406030204" pitchFamily="18" charset="0"/>
                                  <a:ea typeface="+mn-ea"/>
                                  <a:cs typeface="+mn-cs"/>
                                </a:rPr>
                                <m:t>𝑖</m:t>
                              </m:r>
                            </m:sub>
                          </m:sSub>
                        </m:e>
                        <m:e>
                          <m:r>
                            <a:rPr lang="he-IL" sz="1200" b="0" i="1" kern="1200">
                              <a:solidFill>
                                <a:schemeClr val="tx1"/>
                              </a:solidFill>
                              <a:latin typeface="Cambria Math" panose="02040503050406030204" pitchFamily="18" charset="0"/>
                              <a:ea typeface="+mn-ea"/>
                              <a:cs typeface="+mn-cs"/>
                            </a:rPr>
                            <m:t>𝜎</m:t>
                          </m:r>
                        </m:e>
                      </m:d>
                    </m:oMath>
                  </m:oMathPara>
                </a14:m>
                <a:endParaRPr lang="he-IL" b="0" dirty="0"/>
              </a:p>
              <a:p>
                <a:endParaRPr lang="LID4096" dirty="0"/>
              </a:p>
            </p:txBody>
          </p:sp>
        </mc:Choice>
        <mc:Fallback xmlns="">
          <p:sp>
            <p:nvSpPr>
              <p:cNvPr id="3" name="Notes Placeholder 2">
                <a:extLst>
                  <a:ext uri="{FF2B5EF4-FFF2-40B4-BE49-F238E27FC236}">
                    <a16:creationId xmlns:a16="http://schemas.microsoft.com/office/drawing/2014/main" id="{6E2D7D36-5EEE-FBFE-6CB7-E2B62DFBAAD3}"/>
                  </a:ext>
                </a:extLst>
              </p:cNvPr>
              <p:cNvSpPr>
                <a:spLocks noGrp="1"/>
              </p:cNvSpPr>
              <p:nvPr>
                <p:ph type="body" idx="1"/>
              </p:nvPr>
            </p:nvSpPr>
            <p:spPr/>
            <p:txBody>
              <a:bodyPr/>
              <a:lstStyle/>
              <a:p>
                <a:r>
                  <a:rPr lang="en-US" dirty="0"/>
                  <a:t>We’ll discuss categorial variables later in the tutorial</a:t>
                </a:r>
                <a:endParaRPr lang="he-IL" dirty="0"/>
              </a:p>
              <a:p>
                <a:r>
                  <a:rPr lang="he-IL" sz="1200" kern="1200" dirty="0" err="1">
                    <a:solidFill>
                      <a:schemeClr val="tx1"/>
                    </a:solidFill>
                    <a:latin typeface="David" panose="020E0502060401010101" pitchFamily="34" charset="-79"/>
                    <a:ea typeface="+mn-ea"/>
                    <a:cs typeface="+mn-cs"/>
                  </a:rPr>
                  <a:t>radon</a:t>
                </a:r>
                <a:r>
                  <a:rPr lang="he-IL" dirty="0"/>
                  <a:t> </a:t>
                </a:r>
                <a:r>
                  <a:rPr lang="he-IL" dirty="0" err="1"/>
                  <a:t>itself</a:t>
                </a:r>
                <a:r>
                  <a:rPr lang="he-IL" dirty="0"/>
                  <a:t>:</a:t>
                </a:r>
              </a:p>
              <a:p>
                <a:pPr marL="171450" indent="-171450">
                  <a:buFont typeface="Arial" panose="020B0604020202020204" pitchFamily="34" charset="0"/>
                  <a:buChar char="•"/>
                </a:pPr>
                <a:r>
                  <a:rPr lang="he-IL" dirty="0"/>
                  <a:t>is </a:t>
                </a:r>
                <a:r>
                  <a:rPr lang="he-IL" dirty="0" err="1"/>
                  <a:t>always</a:t>
                </a:r>
                <a:r>
                  <a:rPr lang="he-IL" dirty="0"/>
                  <a:t> </a:t>
                </a:r>
                <a:r>
                  <a:rPr lang="he-IL" dirty="0" err="1"/>
                  <a:t>positive</a:t>
                </a:r>
                <a:r>
                  <a:rPr lang="he-IL" dirty="0"/>
                  <a:t>; </a:t>
                </a:r>
              </a:p>
              <a:p>
                <a:pPr marL="171450" indent="-171450">
                  <a:buFont typeface="Arial" panose="020B0604020202020204" pitchFamily="34" charset="0"/>
                  <a:buChar char="•"/>
                </a:pPr>
                <a:r>
                  <a:rPr lang="he-IL" dirty="0"/>
                  <a:t>can </a:t>
                </a:r>
                <a:r>
                  <a:rPr lang="he-IL" dirty="0" err="1"/>
                  <a:t>contain</a:t>
                </a:r>
                <a:r>
                  <a:rPr lang="he-IL" dirty="0"/>
                  <a:t> a </a:t>
                </a:r>
                <a:r>
                  <a:rPr lang="he-IL" dirty="0" err="1"/>
                  <a:t>few</a:t>
                </a:r>
                <a:r>
                  <a:rPr lang="he-IL" dirty="0"/>
                  <a:t> </a:t>
                </a:r>
                <a:r>
                  <a:rPr lang="he-IL" dirty="0" err="1"/>
                  <a:t>houses</a:t>
                </a:r>
                <a:r>
                  <a:rPr lang="he-IL" dirty="0"/>
                  <a:t> </a:t>
                </a:r>
                <a:r>
                  <a:rPr lang="he-IL" dirty="0" err="1"/>
                  <a:t>or</a:t>
                </a:r>
                <a:r>
                  <a:rPr lang="he-IL" dirty="0"/>
                  <a:t> </a:t>
                </a:r>
                <a:r>
                  <a:rPr lang="he-IL" dirty="0" err="1"/>
                  <a:t>areas</a:t>
                </a:r>
                <a:r>
                  <a:rPr lang="he-IL" dirty="0"/>
                  <a:t> with very </a:t>
                </a:r>
                <a:r>
                  <a:rPr lang="he-IL" dirty="0" err="1"/>
                  <a:t>high</a:t>
                </a:r>
                <a:r>
                  <a:rPr lang="he-IL" dirty="0"/>
                  <a:t> </a:t>
                </a:r>
                <a:r>
                  <a:rPr lang="he-IL" dirty="0" err="1"/>
                  <a:t>values</a:t>
                </a:r>
                <a:r>
                  <a:rPr lang="he-IL" dirty="0"/>
                  <a:t>; </a:t>
                </a:r>
              </a:p>
              <a:p>
                <a:pPr marL="171450" indent="-171450">
                  <a:buFont typeface="Arial" panose="020B0604020202020204" pitchFamily="34" charset="0"/>
                  <a:buChar char="•"/>
                </a:pPr>
                <a:r>
                  <a:rPr lang="he-IL" dirty="0" err="1"/>
                  <a:t>often</a:t>
                </a:r>
                <a:r>
                  <a:rPr lang="he-IL" dirty="0"/>
                  <a:t> </a:t>
                </a:r>
                <a:r>
                  <a:rPr lang="he-IL" dirty="0" err="1"/>
                  <a:t>has</a:t>
                </a:r>
                <a:r>
                  <a:rPr lang="he-IL" dirty="0"/>
                  <a:t> </a:t>
                </a:r>
                <a:r>
                  <a:rPr lang="he-IL" dirty="0" err="1"/>
                  <a:t>larger</a:t>
                </a:r>
                <a:r>
                  <a:rPr lang="he-IL" dirty="0"/>
                  <a:t> </a:t>
                </a:r>
                <a:r>
                  <a:rPr lang="he-IL" dirty="0" err="1"/>
                  <a:t>variability</a:t>
                </a:r>
                <a:r>
                  <a:rPr lang="he-IL" dirty="0"/>
                  <a:t> </a:t>
                </a:r>
                <a:r>
                  <a:rPr lang="he-IL" dirty="0" err="1"/>
                  <a:t>when</a:t>
                </a:r>
                <a:r>
                  <a:rPr lang="he-IL" dirty="0"/>
                  <a:t> the </a:t>
                </a:r>
                <a:r>
                  <a:rPr lang="he-IL" dirty="0" err="1"/>
                  <a:t>mean</a:t>
                </a:r>
                <a:r>
                  <a:rPr lang="he-IL" dirty="0"/>
                  <a:t> is </a:t>
                </a:r>
                <a:r>
                  <a:rPr lang="he-IL" dirty="0" err="1"/>
                  <a:t>larger</a:t>
                </a:r>
                <a:r>
                  <a:rPr lang="he-IL" dirty="0"/>
                  <a:t>; </a:t>
                </a:r>
              </a:p>
              <a:p>
                <a:pPr marL="171450" indent="-171450">
                  <a:buFont typeface="Arial" panose="020B0604020202020204" pitchFamily="34" charset="0"/>
                  <a:buChar char="•"/>
                </a:pPr>
                <a:r>
                  <a:rPr lang="he-IL" dirty="0" err="1"/>
                  <a:t>may</a:t>
                </a:r>
                <a:r>
                  <a:rPr lang="he-IL" dirty="0"/>
                  <a:t> </a:t>
                </a:r>
                <a:r>
                  <a:rPr lang="he-IL" dirty="0" err="1"/>
                  <a:t>be</a:t>
                </a:r>
                <a:r>
                  <a:rPr lang="he-IL" dirty="0"/>
                  <a:t> </a:t>
                </a:r>
                <a:r>
                  <a:rPr lang="he-IL" dirty="0" err="1"/>
                  <a:t>poorly</a:t>
                </a:r>
                <a:r>
                  <a:rPr lang="he-IL" dirty="0"/>
                  <a:t> </a:t>
                </a:r>
                <a:r>
                  <a:rPr lang="he-IL" dirty="0" err="1"/>
                  <a:t>represented</a:t>
                </a:r>
                <a:r>
                  <a:rPr lang="he-IL" dirty="0"/>
                  <a:t> by a </a:t>
                </a:r>
                <a:r>
                  <a:rPr lang="he-IL" dirty="0" err="1"/>
                  <a:t>Normal</a:t>
                </a:r>
                <a:r>
                  <a:rPr lang="he-IL" dirty="0"/>
                  <a:t> model, </a:t>
                </a:r>
                <a:r>
                  <a:rPr lang="he-IL" dirty="0" err="1"/>
                  <a:t>because</a:t>
                </a:r>
                <a:r>
                  <a:rPr lang="he-IL" dirty="0"/>
                  <a:t> a </a:t>
                </a:r>
                <a:r>
                  <a:rPr lang="he-IL" dirty="0" err="1"/>
                  <a:t>Normal</a:t>
                </a:r>
                <a:r>
                  <a:rPr lang="he-IL" dirty="0"/>
                  <a:t> </a:t>
                </a:r>
                <a:r>
                  <a:rPr lang="he-IL" dirty="0" err="1"/>
                  <a:t>likelihood</a:t>
                </a:r>
                <a:r>
                  <a:rPr lang="he-IL" dirty="0"/>
                  <a:t> can </a:t>
                </a:r>
                <a:r>
                  <a:rPr lang="he-IL" dirty="0" err="1"/>
                  <a:t>generate</a:t>
                </a:r>
                <a:r>
                  <a:rPr lang="he-IL" dirty="0"/>
                  <a:t> </a:t>
                </a:r>
                <a:r>
                  <a:rPr lang="he-IL" dirty="0" err="1"/>
                  <a:t>negative</a:t>
                </a:r>
                <a:r>
                  <a:rPr lang="he-IL" dirty="0"/>
                  <a:t> </a:t>
                </a:r>
                <a:r>
                  <a:rPr lang="he-IL" dirty="0" err="1"/>
                  <a:t>radon</a:t>
                </a:r>
                <a:r>
                  <a:rPr lang="he-IL" dirty="0"/>
                  <a:t> </a:t>
                </a:r>
                <a:r>
                  <a:rPr lang="he-IL" dirty="0" err="1"/>
                  <a:t>values</a:t>
                </a:r>
                <a:r>
                  <a:rPr lang="he-IL" dirty="0"/>
                  <a:t>, </a:t>
                </a:r>
                <a:r>
                  <a:rPr lang="he-IL" dirty="0" err="1"/>
                  <a:t>which</a:t>
                </a:r>
                <a:r>
                  <a:rPr lang="he-IL" dirty="0"/>
                  <a:t> are not </a:t>
                </a:r>
                <a:r>
                  <a:rPr lang="he-IL" dirty="0" err="1"/>
                  <a:t>physically</a:t>
                </a:r>
                <a:r>
                  <a:rPr lang="he-IL" dirty="0"/>
                  <a:t> </a:t>
                </a:r>
                <a:r>
                  <a:rPr lang="he-IL" dirty="0" err="1"/>
                  <a:t>meaningful</a:t>
                </a:r>
                <a:r>
                  <a:rPr lang="he-IL" dirty="0"/>
                  <a:t>. </a:t>
                </a:r>
              </a:p>
              <a:p>
                <a:r>
                  <a:rPr lang="he-IL" sz="1200" kern="1200" dirty="0" err="1">
                    <a:solidFill>
                      <a:schemeClr val="tx1"/>
                    </a:solidFill>
                    <a:latin typeface="David" panose="020E0502060401010101" pitchFamily="34" charset="-79"/>
                    <a:ea typeface="+mn-ea"/>
                    <a:cs typeface="+mn-cs"/>
                  </a:rPr>
                  <a:t>log_radon</a:t>
                </a:r>
                <a:r>
                  <a:rPr lang="he-IL" dirty="0"/>
                  <a:t>:</a:t>
                </a:r>
              </a:p>
              <a:p>
                <a:pPr marL="171450" indent="-171450">
                  <a:buFont typeface="Arial" panose="020B0604020202020204" pitchFamily="34" charset="0"/>
                  <a:buChar char="•"/>
                </a:pPr>
                <a:r>
                  <a:rPr lang="he-IL" dirty="0" err="1"/>
                  <a:t>represents</a:t>
                </a:r>
                <a:r>
                  <a:rPr lang="he-IL" dirty="0"/>
                  <a:t> the same </a:t>
                </a:r>
                <a:r>
                  <a:rPr lang="he-IL" dirty="0" err="1"/>
                  <a:t>measurement</a:t>
                </a:r>
                <a:r>
                  <a:rPr lang="he-IL" dirty="0"/>
                  <a:t>, </a:t>
                </a:r>
                <a:r>
                  <a:rPr lang="he-IL" dirty="0" err="1"/>
                  <a:t>but</a:t>
                </a:r>
                <a:r>
                  <a:rPr lang="he-IL" dirty="0"/>
                  <a:t> </a:t>
                </a:r>
                <a:r>
                  <a:rPr lang="he-IL" dirty="0" err="1"/>
                  <a:t>on</a:t>
                </a:r>
                <a:r>
                  <a:rPr lang="he-IL" dirty="0"/>
                  <a:t> a different </a:t>
                </a:r>
                <a:r>
                  <a:rPr lang="he-IL" dirty="0" err="1"/>
                  <a:t>scale</a:t>
                </a:r>
                <a:r>
                  <a:rPr lang="he-IL" dirty="0"/>
                  <a:t>; </a:t>
                </a:r>
              </a:p>
              <a:p>
                <a:pPr marL="171450" indent="-171450">
                  <a:buFont typeface="Arial" panose="020B0604020202020204" pitchFamily="34" charset="0"/>
                  <a:buChar char="•"/>
                </a:pPr>
                <a:r>
                  <a:rPr lang="he-IL" dirty="0" err="1"/>
                  <a:t>reduces</a:t>
                </a:r>
                <a:r>
                  <a:rPr lang="he-IL" dirty="0"/>
                  <a:t> the </a:t>
                </a:r>
                <a:r>
                  <a:rPr lang="he-IL" dirty="0" err="1"/>
                  <a:t>influence</a:t>
                </a:r>
                <a:r>
                  <a:rPr lang="he-IL" dirty="0"/>
                  <a:t> of very large </a:t>
                </a:r>
                <a:r>
                  <a:rPr lang="he-IL" dirty="0" err="1"/>
                  <a:t>values</a:t>
                </a:r>
                <a:r>
                  <a:rPr lang="he-IL" dirty="0"/>
                  <a:t>; </a:t>
                </a:r>
              </a:p>
              <a:p>
                <a:pPr marL="171450" indent="-171450">
                  <a:buFont typeface="Arial" panose="020B0604020202020204" pitchFamily="34" charset="0"/>
                  <a:buChar char="•"/>
                </a:pPr>
                <a:r>
                  <a:rPr lang="he-IL" dirty="0" err="1"/>
                  <a:t>turns</a:t>
                </a:r>
                <a:r>
                  <a:rPr lang="he-IL" dirty="0"/>
                  <a:t> </a:t>
                </a:r>
                <a:r>
                  <a:rPr lang="he-IL" dirty="0" err="1"/>
                  <a:t>multiplicative</a:t>
                </a:r>
                <a:r>
                  <a:rPr lang="he-IL" dirty="0"/>
                  <a:t> </a:t>
                </a:r>
                <a:r>
                  <a:rPr lang="he-IL" dirty="0" err="1"/>
                  <a:t>differences</a:t>
                </a:r>
                <a:r>
                  <a:rPr lang="he-IL" dirty="0"/>
                  <a:t> </a:t>
                </a:r>
                <a:r>
                  <a:rPr lang="he-IL" dirty="0" err="1"/>
                  <a:t>into</a:t>
                </a:r>
                <a:r>
                  <a:rPr lang="he-IL" dirty="0"/>
                  <a:t> </a:t>
                </a:r>
                <a:r>
                  <a:rPr lang="he-IL" dirty="0" err="1"/>
                  <a:t>additive</a:t>
                </a:r>
                <a:r>
                  <a:rPr lang="he-IL" dirty="0"/>
                  <a:t> </a:t>
                </a:r>
                <a:r>
                  <a:rPr lang="he-IL" dirty="0" err="1"/>
                  <a:t>differences</a:t>
                </a:r>
                <a:r>
                  <a:rPr lang="he-IL" dirty="0"/>
                  <a:t>. </a:t>
                </a:r>
                <a:r>
                  <a:rPr lang="he-IL" dirty="0" err="1"/>
                  <a:t>For</a:t>
                </a:r>
                <a:r>
                  <a:rPr lang="he-IL" dirty="0"/>
                  <a:t> </a:t>
                </a:r>
                <a:r>
                  <a:rPr lang="he-IL" dirty="0" err="1"/>
                  <a:t>example</a:t>
                </a:r>
                <a:r>
                  <a:rPr lang="he-IL" dirty="0"/>
                  <a:t>, the </a:t>
                </a:r>
                <a:r>
                  <a:rPr lang="he-IL" dirty="0" err="1"/>
                  <a:t>change</a:t>
                </a:r>
                <a:r>
                  <a:rPr lang="he-IL" dirty="0"/>
                  <a:t> from 1 to 2 is </a:t>
                </a:r>
                <a:r>
                  <a:rPr lang="he-IL" dirty="0" err="1"/>
                  <a:t>similar</a:t>
                </a:r>
                <a:r>
                  <a:rPr lang="he-IL" dirty="0"/>
                  <a:t> to the </a:t>
                </a:r>
                <a:r>
                  <a:rPr lang="he-IL" dirty="0" err="1"/>
                  <a:t>change</a:t>
                </a:r>
                <a:r>
                  <a:rPr lang="he-IL" dirty="0"/>
                  <a:t> from 10 to 20 </a:t>
                </a:r>
                <a:r>
                  <a:rPr lang="he-IL" dirty="0" err="1"/>
                  <a:t>because</a:t>
                </a:r>
                <a:r>
                  <a:rPr lang="he-IL" dirty="0"/>
                  <a:t> </a:t>
                </a:r>
                <a:r>
                  <a:rPr lang="he-IL" dirty="0" err="1"/>
                  <a:t>both</a:t>
                </a:r>
                <a:r>
                  <a:rPr lang="he-IL" dirty="0"/>
                  <a:t> are a </a:t>
                </a:r>
                <a:r>
                  <a:rPr lang="he-IL" dirty="0" err="1"/>
                  <a:t>doubling</a:t>
                </a:r>
                <a:r>
                  <a:rPr lang="he-IL" dirty="0"/>
                  <a:t>; </a:t>
                </a:r>
              </a:p>
              <a:p>
                <a:pPr marL="171450" indent="-171450">
                  <a:buFont typeface="Arial" panose="020B0604020202020204" pitchFamily="34" charset="0"/>
                  <a:buChar char="•"/>
                </a:pPr>
                <a:r>
                  <a:rPr lang="he-IL" dirty="0"/>
                  <a:t>is </a:t>
                </a:r>
                <a:r>
                  <a:rPr lang="he-IL" dirty="0" err="1"/>
                  <a:t>usually</a:t>
                </a:r>
                <a:r>
                  <a:rPr lang="he-IL" dirty="0"/>
                  <a:t> more </a:t>
                </a:r>
                <a:r>
                  <a:rPr lang="he-IL" dirty="0" err="1"/>
                  <a:t>appropriate</a:t>
                </a:r>
                <a:r>
                  <a:rPr lang="he-IL" dirty="0"/>
                  <a:t> </a:t>
                </a:r>
                <a:r>
                  <a:rPr lang="he-IL" dirty="0" err="1"/>
                  <a:t>for</a:t>
                </a:r>
                <a:r>
                  <a:rPr lang="he-IL" dirty="0"/>
                  <a:t> a </a:t>
                </a:r>
                <a:r>
                  <a:rPr lang="he-IL" dirty="0" err="1"/>
                  <a:t>Normal</a:t>
                </a:r>
                <a:r>
                  <a:rPr lang="he-IL" dirty="0"/>
                  <a:t> </a:t>
                </a:r>
                <a:r>
                  <a:rPr lang="he-IL" dirty="0" err="1"/>
                  <a:t>regression</a:t>
                </a:r>
                <a:r>
                  <a:rPr lang="he-IL" dirty="0"/>
                  <a:t> model, </a:t>
                </a:r>
                <a:r>
                  <a:rPr lang="he-IL" dirty="0" err="1"/>
                  <a:t>where</a:t>
                </a:r>
                <a:r>
                  <a:rPr lang="he-IL" dirty="0"/>
                  <a:t> we </a:t>
                </a:r>
                <a:r>
                  <a:rPr lang="he-IL" dirty="0" err="1"/>
                  <a:t>assume</a:t>
                </a:r>
                <a:r>
                  <a:rPr lang="he-IL" dirty="0"/>
                  <a:t> </a:t>
                </a:r>
                <a:r>
                  <a:rPr lang="he-IL" dirty="0" err="1"/>
                  <a:t>something</a:t>
                </a:r>
                <a:r>
                  <a:rPr lang="he-IL" dirty="0"/>
                  <a:t> </a:t>
                </a:r>
                <a:r>
                  <a:rPr lang="he-IL" dirty="0" err="1"/>
                  <a:t>like</a:t>
                </a:r>
                <a:r>
                  <a:rPr lang="he-IL" dirty="0"/>
                  <a:t>: </a:t>
                </a:r>
              </a:p>
              <a:p>
                <a:r>
                  <a:rPr lang="he-IL" sz="1200" i="0" kern="1200">
                    <a:solidFill>
                      <a:schemeClr val="tx1"/>
                    </a:solidFill>
                    <a:latin typeface="David" panose="020E0502060401010101" pitchFamily="34" charset="-79"/>
                    <a:ea typeface="+mn-ea"/>
                    <a:cs typeface="+mn-cs"/>
                  </a:rPr>
                  <a:t>log⁡(〖</a:t>
                </a:r>
                <a:r>
                  <a:rPr lang="he-IL" sz="1200" b="0" i="0" kern="1200">
                    <a:solidFill>
                      <a:schemeClr val="tx1"/>
                    </a:solidFill>
                    <a:latin typeface="David" panose="020E0502060401010101" pitchFamily="34" charset="-79"/>
                    <a:ea typeface="+mn-ea"/>
                    <a:cs typeface="+mn-cs"/>
                  </a:rPr>
                  <a:t>"radon" 〗_𝑖 )∼</a:t>
                </a:r>
                <a:r>
                  <a:rPr lang="he-IL" sz="1200" b="0" i="0" kern="1200">
                    <a:solidFill>
                      <a:schemeClr val="tx1"/>
                    </a:solidFill>
                    <a:latin typeface="Cambria Math" panose="02040503050406030204" pitchFamily="18" charset="0"/>
                    <a:ea typeface="+mn-ea"/>
                    <a:cs typeface="+mn-cs"/>
                  </a:rPr>
                  <a:t>"Normal</a:t>
                </a:r>
                <a:r>
                  <a:rPr lang="he-IL" sz="1200" b="0" i="0" kern="1200">
                    <a:solidFill>
                      <a:schemeClr val="tx1"/>
                    </a:solidFill>
                    <a:latin typeface="David" panose="020E0502060401010101" pitchFamily="34" charset="-79"/>
                    <a:ea typeface="+mn-ea"/>
                    <a:cs typeface="+mn-cs"/>
                  </a:rPr>
                  <a:t>" (𝜇_𝑖ⓜ,𝜎)</a:t>
                </a:r>
                <a:endParaRPr lang="he-IL" b="0" dirty="0"/>
              </a:p>
              <a:p>
                <a:endParaRPr lang="LID4096" dirty="0"/>
              </a:p>
            </p:txBody>
          </p:sp>
        </mc:Fallback>
      </mc:AlternateContent>
      <p:sp>
        <p:nvSpPr>
          <p:cNvPr id="4" name="Slide Number Placeholder 3">
            <a:extLst>
              <a:ext uri="{FF2B5EF4-FFF2-40B4-BE49-F238E27FC236}">
                <a16:creationId xmlns:a16="http://schemas.microsoft.com/office/drawing/2014/main" id="{ACF62AA5-DEEC-9129-9418-600950EB99E1}"/>
              </a:ext>
            </a:extLst>
          </p:cNvPr>
          <p:cNvSpPr>
            <a:spLocks noGrp="1"/>
          </p:cNvSpPr>
          <p:nvPr>
            <p:ph type="sldNum" sz="quarter" idx="5"/>
          </p:nvPr>
        </p:nvSpPr>
        <p:spPr/>
        <p:txBody>
          <a:bodyPr/>
          <a:lstStyle/>
          <a:p>
            <a:fld id="{FA96E01F-8DBD-4634-ACB5-33D503B64F6E}" type="slidenum">
              <a:rPr lang="LID4096" smtClean="0"/>
              <a:t>18</a:t>
            </a:fld>
            <a:endParaRPr lang="LID4096"/>
          </a:p>
        </p:txBody>
      </p:sp>
    </p:spTree>
    <p:extLst>
      <p:ext uri="{BB962C8B-B14F-4D97-AF65-F5344CB8AC3E}">
        <p14:creationId xmlns:p14="http://schemas.microsoft.com/office/powerpoint/2010/main" val="2347205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5853D6E6-3E79-4F23-BDAE-DFB603395E52}" type="slidenum">
              <a:rPr lang="he-IL" smtClean="0"/>
              <a:pPr/>
              <a:t>19</a:t>
            </a:fld>
            <a:endParaRPr lang="he-IL" dirty="0"/>
          </a:p>
        </p:txBody>
      </p:sp>
    </p:spTree>
    <p:extLst>
      <p:ext uri="{BB962C8B-B14F-4D97-AF65-F5344CB8AC3E}">
        <p14:creationId xmlns:p14="http://schemas.microsoft.com/office/powerpoint/2010/main" val="2103445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2DB2F-F0C5-9F9D-CEDE-A32288B99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01215-9B33-BDF3-C998-0CAE2BCD6A5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E067B88-E5B9-3919-F7BE-A0DD6F189058}"/>
              </a:ext>
            </a:extLst>
          </p:cNvPr>
          <p:cNvSpPr>
            <a:spLocks noGrp="1"/>
          </p:cNvSpPr>
          <p:nvPr>
            <p:ph type="body" idx="1"/>
          </p:nvPr>
        </p:nvSpPr>
        <p:spPr/>
        <p:txBody>
          <a:bodyPr/>
          <a:lstStyle/>
          <a:p>
            <a:r>
              <a:rPr lang="en-US" dirty="0"/>
              <a:t>We’ll discuss categorial variables later in the tutorial</a:t>
            </a:r>
            <a:endParaRPr lang="LID4096" dirty="0"/>
          </a:p>
        </p:txBody>
      </p:sp>
      <p:sp>
        <p:nvSpPr>
          <p:cNvPr id="4" name="Slide Number Placeholder 3">
            <a:extLst>
              <a:ext uri="{FF2B5EF4-FFF2-40B4-BE49-F238E27FC236}">
                <a16:creationId xmlns:a16="http://schemas.microsoft.com/office/drawing/2014/main" id="{2EF0EB3F-ED17-E328-6DD9-FDE3A94463D5}"/>
              </a:ext>
            </a:extLst>
          </p:cNvPr>
          <p:cNvSpPr>
            <a:spLocks noGrp="1"/>
          </p:cNvSpPr>
          <p:nvPr>
            <p:ph type="sldNum" sz="quarter" idx="5"/>
          </p:nvPr>
        </p:nvSpPr>
        <p:spPr/>
        <p:txBody>
          <a:bodyPr/>
          <a:lstStyle/>
          <a:p>
            <a:fld id="{FA96E01F-8DBD-4634-ACB5-33D503B64F6E}" type="slidenum">
              <a:rPr lang="LID4096" smtClean="0"/>
              <a:t>20</a:t>
            </a:fld>
            <a:endParaRPr lang="LID4096"/>
          </a:p>
        </p:txBody>
      </p:sp>
    </p:spTree>
    <p:extLst>
      <p:ext uri="{BB962C8B-B14F-4D97-AF65-F5344CB8AC3E}">
        <p14:creationId xmlns:p14="http://schemas.microsoft.com/office/powerpoint/2010/main" val="2393844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763EF-27BF-D35D-9C1C-9455DE887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14701-1726-68B6-4BC9-150B8781D77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555CC3F-60BC-4D4E-7F1C-50E4BD266360}"/>
              </a:ext>
            </a:extLst>
          </p:cNvPr>
          <p:cNvSpPr>
            <a:spLocks noGrp="1"/>
          </p:cNvSpPr>
          <p:nvPr>
            <p:ph type="body" idx="1"/>
          </p:nvPr>
        </p:nvSpPr>
        <p:spPr/>
        <p:txBody>
          <a:bodyPr/>
          <a:lstStyle/>
          <a:p>
            <a:r>
              <a:rPr lang="en-US" dirty="0"/>
              <a:t>We’ll discuss categorial variables later in the tutorial</a:t>
            </a:r>
            <a:endParaRPr lang="LID4096" dirty="0"/>
          </a:p>
        </p:txBody>
      </p:sp>
      <p:sp>
        <p:nvSpPr>
          <p:cNvPr id="4" name="Slide Number Placeholder 3">
            <a:extLst>
              <a:ext uri="{FF2B5EF4-FFF2-40B4-BE49-F238E27FC236}">
                <a16:creationId xmlns:a16="http://schemas.microsoft.com/office/drawing/2014/main" id="{2C14805A-45AB-9575-67F4-364A6653EFB7}"/>
              </a:ext>
            </a:extLst>
          </p:cNvPr>
          <p:cNvSpPr>
            <a:spLocks noGrp="1"/>
          </p:cNvSpPr>
          <p:nvPr>
            <p:ph type="sldNum" sz="quarter" idx="5"/>
          </p:nvPr>
        </p:nvSpPr>
        <p:spPr/>
        <p:txBody>
          <a:bodyPr/>
          <a:lstStyle/>
          <a:p>
            <a:fld id="{FA96E01F-8DBD-4634-ACB5-33D503B64F6E}" type="slidenum">
              <a:rPr lang="LID4096" smtClean="0"/>
              <a:t>21</a:t>
            </a:fld>
            <a:endParaRPr lang="LID4096"/>
          </a:p>
        </p:txBody>
      </p:sp>
    </p:spTree>
    <p:extLst>
      <p:ext uri="{BB962C8B-B14F-4D97-AF65-F5344CB8AC3E}">
        <p14:creationId xmlns:p14="http://schemas.microsoft.com/office/powerpoint/2010/main" val="984648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619E2-BE4A-579F-43ED-14A9A573A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6F5EBB-CFE3-1DAA-60BA-4BD4AA3986E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AA68C1B7-3353-A595-5185-651FEC3AEE57}"/>
              </a:ext>
            </a:extLst>
          </p:cNvPr>
          <p:cNvSpPr>
            <a:spLocks noGrp="1"/>
          </p:cNvSpPr>
          <p:nvPr>
            <p:ph type="body" idx="1"/>
          </p:nvPr>
        </p:nvSpPr>
        <p:spPr/>
        <p:txBody>
          <a:bodyPr/>
          <a:lstStyle/>
          <a:p>
            <a:r>
              <a:rPr lang="en-US" dirty="0"/>
              <a:t>We’ll discuss categorial variables later in the tutorial</a:t>
            </a:r>
            <a:endParaRPr lang="LID4096" dirty="0"/>
          </a:p>
        </p:txBody>
      </p:sp>
      <p:sp>
        <p:nvSpPr>
          <p:cNvPr id="4" name="Slide Number Placeholder 3">
            <a:extLst>
              <a:ext uri="{FF2B5EF4-FFF2-40B4-BE49-F238E27FC236}">
                <a16:creationId xmlns:a16="http://schemas.microsoft.com/office/drawing/2014/main" id="{6343E403-FBF6-C505-A177-90CB8E7396A3}"/>
              </a:ext>
            </a:extLst>
          </p:cNvPr>
          <p:cNvSpPr>
            <a:spLocks noGrp="1"/>
          </p:cNvSpPr>
          <p:nvPr>
            <p:ph type="sldNum" sz="quarter" idx="5"/>
          </p:nvPr>
        </p:nvSpPr>
        <p:spPr/>
        <p:txBody>
          <a:bodyPr/>
          <a:lstStyle/>
          <a:p>
            <a:fld id="{FA96E01F-8DBD-4634-ACB5-33D503B64F6E}" type="slidenum">
              <a:rPr lang="LID4096" smtClean="0"/>
              <a:t>22</a:t>
            </a:fld>
            <a:endParaRPr lang="LID4096"/>
          </a:p>
        </p:txBody>
      </p:sp>
    </p:spTree>
    <p:extLst>
      <p:ext uri="{BB962C8B-B14F-4D97-AF65-F5344CB8AC3E}">
        <p14:creationId xmlns:p14="http://schemas.microsoft.com/office/powerpoint/2010/main" val="1734833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59AC2-7C91-CDAD-5675-F1FBE5D83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A977BF-FC55-5A64-9C4C-501C29CE888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58BC2CA0-F24C-B108-B2D0-10D2D00D9C58}"/>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FE818F4D-4338-F74D-360A-20FAD441A691}"/>
              </a:ext>
            </a:extLst>
          </p:cNvPr>
          <p:cNvSpPr>
            <a:spLocks noGrp="1"/>
          </p:cNvSpPr>
          <p:nvPr>
            <p:ph type="sldNum" sz="quarter" idx="5"/>
          </p:nvPr>
        </p:nvSpPr>
        <p:spPr/>
        <p:txBody>
          <a:bodyPr/>
          <a:lstStyle/>
          <a:p>
            <a:fld id="{FA96E01F-8DBD-4634-ACB5-33D503B64F6E}" type="slidenum">
              <a:rPr lang="LID4096" smtClean="0"/>
              <a:t>23</a:t>
            </a:fld>
            <a:endParaRPr lang="LID4096"/>
          </a:p>
        </p:txBody>
      </p:sp>
    </p:spTree>
    <p:extLst>
      <p:ext uri="{BB962C8B-B14F-4D97-AF65-F5344CB8AC3E}">
        <p14:creationId xmlns:p14="http://schemas.microsoft.com/office/powerpoint/2010/main" val="24286165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81C37-FE06-08CC-E8BA-B007CC90E1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75D0A-9D21-4810-9690-34B4B2338717}"/>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AC083EA7-8755-495A-4466-03F975C3EE98}"/>
                  </a:ext>
                </a:extLst>
              </p:cNvPr>
              <p:cNvSpPr>
                <a:spLocks noGrp="1"/>
              </p:cNvSpPr>
              <p:nvPr>
                <p:ph type="body" idx="1"/>
              </p:nvPr>
            </p:nvSpPr>
            <p:spPr/>
            <p:txBody>
              <a:bodyPr/>
              <a:lstStyle/>
              <a:p>
                <a:pPr lvl="1">
                  <a:lnSpc>
                    <a:spcPct val="150000"/>
                  </a:lnSpc>
                </a:pPr>
                <a:r>
                  <a:rPr lang="en-US" dirty="0"/>
                  <a:t>Because </a:t>
                </a:r>
                <a14:m>
                  <m:oMath xmlns:m="http://schemas.openxmlformats.org/officeDocument/2006/math">
                    <m:r>
                      <a:rPr lang="en-US" i="1" dirty="0" smtClean="0">
                        <a:latin typeface="Cambria Math" panose="02040503050406030204" pitchFamily="18" charset="0"/>
                      </a:rPr>
                      <m:t>𝑢𝑟𝑎𝑛𝑖𝑢</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𝑚</m:t>
                        </m:r>
                      </m:e>
                      <m:sub>
                        <m:r>
                          <a:rPr lang="en-US" i="1" dirty="0" smtClean="0">
                            <a:latin typeface="Cambria Math" panose="02040503050406030204" pitchFamily="18" charset="0"/>
                          </a:rPr>
                          <m:t>𝑧</m:t>
                        </m:r>
                      </m:sub>
                    </m:sSub>
                  </m:oMath>
                </a14:m>
                <a:r>
                  <a:rPr lang="en-US" dirty="0"/>
                  <a:t> is standardized, a one-unit change means one standard deviation in </a:t>
                </a:r>
                <a14:m>
                  <m:oMath xmlns:m="http://schemas.openxmlformats.org/officeDocument/2006/math">
                    <m:r>
                      <m:rPr>
                        <m:sty m:val="p"/>
                      </m:rPr>
                      <a:rPr lang="en-US" i="1" dirty="0" smtClean="0">
                        <a:latin typeface="Cambria Math" panose="02040503050406030204" pitchFamily="18" charset="0"/>
                      </a:rPr>
                      <m:t>log</m:t>
                    </m:r>
                    <m:r>
                      <a:rPr lang="en-US" i="1" dirty="0" smtClean="0">
                        <a:latin typeface="Cambria Math" panose="02040503050406030204" pitchFamily="18" charset="0"/>
                      </a:rPr>
                      <m:t>⁡_</m:t>
                    </m:r>
                    <m:r>
                      <a:rPr lang="en-US" i="1" dirty="0" smtClean="0">
                        <a:latin typeface="Cambria Math" panose="02040503050406030204" pitchFamily="18" charset="0"/>
                      </a:rPr>
                      <m:t>𝑢𝑟𝑎𝑛𝑖𝑢𝑚</m:t>
                    </m:r>
                  </m:oMath>
                </a14:m>
                <a:r>
                  <a:rPr lang="en-US" dirty="0"/>
                  <a:t>. </a:t>
                </a:r>
              </a:p>
              <a:p>
                <a:pPr lvl="1">
                  <a:lnSpc>
                    <a:spcPct val="150000"/>
                  </a:lnSpc>
                </a:pPr>
                <a:r>
                  <a:rPr lang="en-US" dirty="0"/>
                  <a:t>A slope prior such as  Normal(0,1) is therefore written on a standardized effect-size scale.</a:t>
                </a:r>
              </a:p>
            </p:txBody>
          </p:sp>
        </mc:Choice>
        <mc:Fallback xmlns="">
          <p:sp>
            <p:nvSpPr>
              <p:cNvPr id="3" name="Notes Placeholder 2">
                <a:extLst>
                  <a:ext uri="{FF2B5EF4-FFF2-40B4-BE49-F238E27FC236}">
                    <a16:creationId xmlns:a16="http://schemas.microsoft.com/office/drawing/2014/main" id="{AC083EA7-8755-495A-4466-03F975C3EE98}"/>
                  </a:ext>
                </a:extLst>
              </p:cNvPr>
              <p:cNvSpPr>
                <a:spLocks noGrp="1"/>
              </p:cNvSpPr>
              <p:nvPr>
                <p:ph type="body" idx="1"/>
              </p:nvPr>
            </p:nvSpPr>
            <p:spPr/>
            <p:txBody>
              <a:bodyPr/>
              <a:lstStyle/>
              <a:p>
                <a:pPr lvl="1">
                  <a:lnSpc>
                    <a:spcPct val="150000"/>
                  </a:lnSpc>
                </a:pPr>
                <a:r>
                  <a:rPr lang="en-US" dirty="0"/>
                  <a:t>Because </a:t>
                </a:r>
                <a:r>
                  <a:rPr lang="en-US" i="0" dirty="0">
                    <a:latin typeface="Cambria Math" panose="02040503050406030204" pitchFamily="18" charset="0"/>
                  </a:rPr>
                  <a:t>𝑢𝑟𝑎𝑛𝑖𝑢𝑚_𝑧</a:t>
                </a:r>
                <a:r>
                  <a:rPr lang="en-US" dirty="0"/>
                  <a:t> is standardized, a one-unit change means one standard deviation in </a:t>
                </a:r>
                <a:r>
                  <a:rPr lang="en-US" i="0" dirty="0">
                    <a:latin typeface="Cambria Math" panose="02040503050406030204" pitchFamily="18" charset="0"/>
                  </a:rPr>
                  <a:t>log⁡_𝑢𝑟𝑎𝑛𝑖𝑢𝑚</a:t>
                </a:r>
                <a:r>
                  <a:rPr lang="en-US" dirty="0"/>
                  <a:t>. </a:t>
                </a:r>
              </a:p>
              <a:p>
                <a:pPr lvl="1">
                  <a:lnSpc>
                    <a:spcPct val="150000"/>
                  </a:lnSpc>
                </a:pPr>
                <a:r>
                  <a:rPr lang="en-US" dirty="0"/>
                  <a:t>A slope prior such as  Normal(0,1) is therefore written on a standardized effect-size scale.</a:t>
                </a:r>
              </a:p>
            </p:txBody>
          </p:sp>
        </mc:Fallback>
      </mc:AlternateContent>
      <p:sp>
        <p:nvSpPr>
          <p:cNvPr id="4" name="Slide Number Placeholder 3">
            <a:extLst>
              <a:ext uri="{FF2B5EF4-FFF2-40B4-BE49-F238E27FC236}">
                <a16:creationId xmlns:a16="http://schemas.microsoft.com/office/drawing/2014/main" id="{654D3A28-1056-6F80-17DA-8B12062CA5D8}"/>
              </a:ext>
            </a:extLst>
          </p:cNvPr>
          <p:cNvSpPr>
            <a:spLocks noGrp="1"/>
          </p:cNvSpPr>
          <p:nvPr>
            <p:ph type="sldNum" sz="quarter" idx="5"/>
          </p:nvPr>
        </p:nvSpPr>
        <p:spPr/>
        <p:txBody>
          <a:bodyPr/>
          <a:lstStyle/>
          <a:p>
            <a:fld id="{FA96E01F-8DBD-4634-ACB5-33D503B64F6E}" type="slidenum">
              <a:rPr lang="LID4096" smtClean="0"/>
              <a:t>24</a:t>
            </a:fld>
            <a:endParaRPr lang="LID4096"/>
          </a:p>
        </p:txBody>
      </p:sp>
    </p:spTree>
    <p:extLst>
      <p:ext uri="{BB962C8B-B14F-4D97-AF65-F5344CB8AC3E}">
        <p14:creationId xmlns:p14="http://schemas.microsoft.com/office/powerpoint/2010/main" val="77239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9359A-76B7-15DB-80F9-DE2109D2FC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992DFB-5846-37DD-4985-32497549966B}"/>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F00A823-4B6B-ACC8-A92A-9AC920B15F1A}"/>
                  </a:ext>
                </a:extLst>
              </p:cNvPr>
              <p:cNvSpPr>
                <a:spLocks noGrp="1"/>
              </p:cNvSpPr>
              <p:nvPr>
                <p:ph type="body" idx="1"/>
              </p:nvPr>
            </p:nvSpPr>
            <p:spPr/>
            <p:txBody>
              <a:bodyPr/>
              <a:lstStyle/>
              <a:p>
                <a:pPr lvl="1">
                  <a:lnSpc>
                    <a:spcPct val="150000"/>
                  </a:lnSpc>
                </a:pPr>
                <a:r>
                  <a:rPr lang="en-US" dirty="0"/>
                  <a:t>Because </a:t>
                </a:r>
                <a14:m>
                  <m:oMath xmlns:m="http://schemas.openxmlformats.org/officeDocument/2006/math">
                    <m:r>
                      <a:rPr lang="en-US" i="1" dirty="0" smtClean="0">
                        <a:latin typeface="Cambria Math" panose="02040503050406030204" pitchFamily="18" charset="0"/>
                      </a:rPr>
                      <m:t>𝑢𝑟𝑎𝑛𝑖𝑢</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𝑚</m:t>
                        </m:r>
                      </m:e>
                      <m:sub>
                        <m:r>
                          <a:rPr lang="en-US" i="1" dirty="0" smtClean="0">
                            <a:latin typeface="Cambria Math" panose="02040503050406030204" pitchFamily="18" charset="0"/>
                          </a:rPr>
                          <m:t>𝑧</m:t>
                        </m:r>
                      </m:sub>
                    </m:sSub>
                  </m:oMath>
                </a14:m>
                <a:r>
                  <a:rPr lang="en-US" dirty="0"/>
                  <a:t> is standardized, a one-unit change means one standard deviation in </a:t>
                </a:r>
                <a14:m>
                  <m:oMath xmlns:m="http://schemas.openxmlformats.org/officeDocument/2006/math">
                    <m:r>
                      <m:rPr>
                        <m:sty m:val="p"/>
                      </m:rPr>
                      <a:rPr lang="en-US" i="1" dirty="0" smtClean="0">
                        <a:latin typeface="Cambria Math" panose="02040503050406030204" pitchFamily="18" charset="0"/>
                      </a:rPr>
                      <m:t>log</m:t>
                    </m:r>
                    <m:r>
                      <a:rPr lang="en-US" i="1" dirty="0" smtClean="0">
                        <a:latin typeface="Cambria Math" panose="02040503050406030204" pitchFamily="18" charset="0"/>
                      </a:rPr>
                      <m:t>⁡_</m:t>
                    </m:r>
                    <m:r>
                      <a:rPr lang="en-US" i="1" dirty="0" smtClean="0">
                        <a:latin typeface="Cambria Math" panose="02040503050406030204" pitchFamily="18" charset="0"/>
                      </a:rPr>
                      <m:t>𝑢𝑟𝑎𝑛𝑖𝑢𝑚</m:t>
                    </m:r>
                  </m:oMath>
                </a14:m>
                <a:r>
                  <a:rPr lang="en-US" dirty="0"/>
                  <a:t>. </a:t>
                </a:r>
              </a:p>
              <a:p>
                <a:pPr lvl="1">
                  <a:lnSpc>
                    <a:spcPct val="150000"/>
                  </a:lnSpc>
                </a:pPr>
                <a:r>
                  <a:rPr lang="en-US" dirty="0"/>
                  <a:t>A slope prior such as  Normal(0,1) is therefore written on a standardized effect-size scale.</a:t>
                </a:r>
              </a:p>
            </p:txBody>
          </p:sp>
        </mc:Choice>
        <mc:Fallback xmlns="">
          <p:sp>
            <p:nvSpPr>
              <p:cNvPr id="3" name="Notes Placeholder 2">
                <a:extLst>
                  <a:ext uri="{FF2B5EF4-FFF2-40B4-BE49-F238E27FC236}">
                    <a16:creationId xmlns:a16="http://schemas.microsoft.com/office/drawing/2014/main" id="{7F00A823-4B6B-ACC8-A92A-9AC920B15F1A}"/>
                  </a:ext>
                </a:extLst>
              </p:cNvPr>
              <p:cNvSpPr>
                <a:spLocks noGrp="1"/>
              </p:cNvSpPr>
              <p:nvPr>
                <p:ph type="body" idx="1"/>
              </p:nvPr>
            </p:nvSpPr>
            <p:spPr/>
            <p:txBody>
              <a:bodyPr/>
              <a:lstStyle/>
              <a:p>
                <a:pPr lvl="1">
                  <a:lnSpc>
                    <a:spcPct val="150000"/>
                  </a:lnSpc>
                </a:pPr>
                <a:r>
                  <a:rPr lang="en-US" dirty="0"/>
                  <a:t>Because </a:t>
                </a:r>
                <a:r>
                  <a:rPr lang="en-US" i="0" dirty="0">
                    <a:latin typeface="Cambria Math" panose="02040503050406030204" pitchFamily="18" charset="0"/>
                  </a:rPr>
                  <a:t>𝑢𝑟𝑎𝑛𝑖𝑢𝑚_𝑧</a:t>
                </a:r>
                <a:r>
                  <a:rPr lang="en-US" dirty="0"/>
                  <a:t> is standardized, a one-unit change means one standard deviation in </a:t>
                </a:r>
                <a:r>
                  <a:rPr lang="en-US" i="0" dirty="0">
                    <a:latin typeface="Cambria Math" panose="02040503050406030204" pitchFamily="18" charset="0"/>
                  </a:rPr>
                  <a:t>log⁡_𝑢𝑟𝑎𝑛𝑖𝑢𝑚</a:t>
                </a:r>
                <a:r>
                  <a:rPr lang="en-US" dirty="0"/>
                  <a:t>. </a:t>
                </a:r>
              </a:p>
              <a:p>
                <a:pPr lvl="1">
                  <a:lnSpc>
                    <a:spcPct val="150000"/>
                  </a:lnSpc>
                </a:pPr>
                <a:r>
                  <a:rPr lang="en-US" dirty="0"/>
                  <a:t>A slope prior such as  Normal(0,1) is therefore written on a standardized effect-size scale.</a:t>
                </a:r>
              </a:p>
            </p:txBody>
          </p:sp>
        </mc:Fallback>
      </mc:AlternateContent>
      <p:sp>
        <p:nvSpPr>
          <p:cNvPr id="4" name="Slide Number Placeholder 3">
            <a:extLst>
              <a:ext uri="{FF2B5EF4-FFF2-40B4-BE49-F238E27FC236}">
                <a16:creationId xmlns:a16="http://schemas.microsoft.com/office/drawing/2014/main" id="{DD324412-EF90-9461-8E4C-8619E9F9EBAB}"/>
              </a:ext>
            </a:extLst>
          </p:cNvPr>
          <p:cNvSpPr>
            <a:spLocks noGrp="1"/>
          </p:cNvSpPr>
          <p:nvPr>
            <p:ph type="sldNum" sz="quarter" idx="5"/>
          </p:nvPr>
        </p:nvSpPr>
        <p:spPr/>
        <p:txBody>
          <a:bodyPr/>
          <a:lstStyle/>
          <a:p>
            <a:fld id="{FA96E01F-8DBD-4634-ACB5-33D503B64F6E}" type="slidenum">
              <a:rPr lang="LID4096" smtClean="0"/>
              <a:t>25</a:t>
            </a:fld>
            <a:endParaRPr lang="LID4096"/>
          </a:p>
        </p:txBody>
      </p:sp>
    </p:spTree>
    <p:extLst>
      <p:ext uri="{BB962C8B-B14F-4D97-AF65-F5344CB8AC3E}">
        <p14:creationId xmlns:p14="http://schemas.microsoft.com/office/powerpoint/2010/main" val="28520354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208BF-F1F9-FBAC-A696-F039C80043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B8755-E00E-02D4-0AD9-A0E507218C9A}"/>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D107E14F-339D-2182-EA92-49281878B804}"/>
              </a:ext>
            </a:extLst>
          </p:cNvPr>
          <p:cNvSpPr>
            <a:spLocks noGrp="1"/>
          </p:cNvSpPr>
          <p:nvPr>
            <p:ph type="body" idx="1"/>
          </p:nvPr>
        </p:nvSpPr>
        <p:spPr/>
        <p:txBody>
          <a:bodyPr/>
          <a:lstStyle/>
          <a:p>
            <a:pPr lvl="1">
              <a:lnSpc>
                <a:spcPct val="150000"/>
              </a:lnSpc>
            </a:pPr>
            <a:r>
              <a:rPr lang="he-IL" sz="1200" b="0" i="0" kern="1200" dirty="0">
                <a:solidFill>
                  <a:schemeClr val="tx1"/>
                </a:solidFill>
                <a:effectLst/>
                <a:latin typeface="David" panose="020E0502060401010101" pitchFamily="34" charset="-79"/>
                <a:ea typeface="+mn-ea"/>
                <a:cs typeface="+mn-cs"/>
              </a:rPr>
              <a:t>The </a:t>
            </a:r>
            <a:r>
              <a:rPr lang="he-IL" sz="1200" b="0" i="0" kern="1200" dirty="0" err="1">
                <a:solidFill>
                  <a:schemeClr val="tx1"/>
                </a:solidFill>
                <a:effectLst/>
                <a:latin typeface="David" panose="020E0502060401010101" pitchFamily="34" charset="-79"/>
                <a:ea typeface="+mn-ea"/>
                <a:cs typeface="+mn-cs"/>
              </a:rPr>
              <a:t>prior</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predictive</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check</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asks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whether</a:t>
            </a:r>
            <a:r>
              <a:rPr lang="he-IL" sz="1200" b="0" i="0" kern="1200" dirty="0">
                <a:solidFill>
                  <a:schemeClr val="tx1"/>
                </a:solidFill>
                <a:effectLst/>
                <a:latin typeface="David" panose="020E0502060401010101" pitchFamily="34" charset="-79"/>
                <a:ea typeface="+mn-ea"/>
                <a:cs typeface="+mn-cs"/>
              </a:rPr>
              <a:t> the model </a:t>
            </a:r>
            <a:r>
              <a:rPr lang="he-IL" sz="1200" b="0" i="0" kern="1200" dirty="0" err="1">
                <a:solidFill>
                  <a:schemeClr val="tx1"/>
                </a:solidFill>
                <a:effectLst/>
                <a:latin typeface="David" panose="020E0502060401010101" pitchFamily="34" charset="-79"/>
                <a:ea typeface="+mn-ea"/>
                <a:cs typeface="+mn-cs"/>
              </a:rPr>
              <a:t>generates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plausible</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log-radon</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values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before</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seeing</a:t>
            </a:r>
            <a:r>
              <a:rPr lang="he-IL" sz="1200" b="0" i="0" kern="1200" dirty="0">
                <a:solidFill>
                  <a:schemeClr val="tx1"/>
                </a:solidFill>
                <a:effectLst/>
                <a:latin typeface="David" panose="020E0502060401010101" pitchFamily="34" charset="-79"/>
                <a:ea typeface="+mn-ea"/>
                <a:cs typeface="+mn-cs"/>
              </a:rPr>
              <a:t> the data. </a:t>
            </a:r>
            <a:r>
              <a:rPr lang="he-IL" sz="1200" b="0" i="0" kern="1200" dirty="0" err="1">
                <a:solidFill>
                  <a:schemeClr val="tx1"/>
                </a:solidFill>
                <a:effectLst/>
                <a:latin typeface="David" panose="020E0502060401010101" pitchFamily="34" charset="-79"/>
                <a:ea typeface="+mn-ea"/>
                <a:cs typeface="+mn-cs"/>
              </a:rPr>
              <a:t>This</a:t>
            </a:r>
            <a:r>
              <a:rPr lang="he-IL" sz="1200" b="0" i="0" kern="1200" dirty="0">
                <a:solidFill>
                  <a:schemeClr val="tx1"/>
                </a:solidFill>
                <a:effectLst/>
                <a:latin typeface="David" panose="020E0502060401010101" pitchFamily="34" charset="-79"/>
                <a:ea typeface="+mn-ea"/>
                <a:cs typeface="+mn-cs"/>
              </a:rPr>
              <a:t> </a:t>
            </a:r>
            <a:r>
              <a:rPr lang="he-IL" sz="1200" b="0" i="0" kern="1200" dirty="0" err="1">
                <a:solidFill>
                  <a:schemeClr val="tx1"/>
                </a:solidFill>
                <a:effectLst/>
                <a:latin typeface="David" panose="020E0502060401010101" pitchFamily="34" charset="-79"/>
                <a:ea typeface="+mn-ea"/>
                <a:cs typeface="+mn-cs"/>
              </a:rPr>
              <a:t>checks</a:t>
            </a:r>
            <a:r>
              <a:rPr lang="he-IL" sz="1200" b="0" i="0" kern="1200" dirty="0">
                <a:solidFill>
                  <a:schemeClr val="tx1"/>
                </a:solidFill>
                <a:effectLst/>
                <a:latin typeface="David" panose="020E0502060401010101" pitchFamily="34" charset="-79"/>
                <a:ea typeface="+mn-ea"/>
                <a:cs typeface="+mn-cs"/>
              </a:rPr>
              <a:t> </a:t>
            </a:r>
            <a:r>
              <a:rPr lang="he-IL" sz="1200" b="1" i="0" kern="1200" dirty="0">
                <a:solidFill>
                  <a:schemeClr val="tx1"/>
                </a:solidFill>
                <a:effectLst/>
                <a:latin typeface="David" panose="020E0502060401010101" pitchFamily="34" charset="-79"/>
                <a:ea typeface="+mn-ea"/>
                <a:cs typeface="+mn-cs"/>
              </a:rPr>
              <a:t>model </a:t>
            </a:r>
            <a:r>
              <a:rPr lang="he-IL" sz="1200" b="1" i="0" kern="1200" dirty="0" err="1">
                <a:solidFill>
                  <a:schemeClr val="tx1"/>
                </a:solidFill>
                <a:effectLst/>
                <a:latin typeface="David" panose="020E0502060401010101" pitchFamily="34" charset="-79"/>
                <a:ea typeface="+mn-ea"/>
                <a:cs typeface="+mn-cs"/>
              </a:rPr>
              <a:t>coherence</a:t>
            </a:r>
            <a:r>
              <a:rPr lang="he-IL" sz="1200" b="0" i="0" kern="1200" dirty="0">
                <a:solidFill>
                  <a:schemeClr val="tx1"/>
                </a:solidFill>
                <a:effectLst/>
                <a:latin typeface="David" panose="020E0502060401010101" pitchFamily="34" charset="-79"/>
                <a:ea typeface="+mn-ea"/>
                <a:cs typeface="+mn-cs"/>
              </a:rPr>
              <a:t>, not model </a:t>
            </a:r>
            <a:r>
              <a:rPr lang="he-IL" sz="1200" b="0" i="0" kern="1200" dirty="0" err="1">
                <a:solidFill>
                  <a:schemeClr val="tx1"/>
                </a:solidFill>
                <a:effectLst/>
                <a:latin typeface="David" panose="020E0502060401010101" pitchFamily="34" charset="-79"/>
                <a:ea typeface="+mn-ea"/>
                <a:cs typeface="+mn-cs"/>
              </a:rPr>
              <a:t>fit</a:t>
            </a:r>
            <a:r>
              <a:rPr lang="he-IL" sz="1200" b="0" i="0" kern="1200" dirty="0">
                <a:solidFill>
                  <a:schemeClr val="tx1"/>
                </a:solidFill>
                <a:effectLst/>
                <a:latin typeface="David" panose="020E0502060401010101" pitchFamily="34" charset="-79"/>
                <a:ea typeface="+mn-ea"/>
                <a:cs typeface="+mn-cs"/>
              </a:rPr>
              <a:t>.</a:t>
            </a:r>
            <a:endParaRPr lang="en-US" dirty="0"/>
          </a:p>
        </p:txBody>
      </p:sp>
      <p:sp>
        <p:nvSpPr>
          <p:cNvPr id="4" name="Slide Number Placeholder 3">
            <a:extLst>
              <a:ext uri="{FF2B5EF4-FFF2-40B4-BE49-F238E27FC236}">
                <a16:creationId xmlns:a16="http://schemas.microsoft.com/office/drawing/2014/main" id="{4FC7EE3A-E593-4917-CB3D-27985CF25BE0}"/>
              </a:ext>
            </a:extLst>
          </p:cNvPr>
          <p:cNvSpPr>
            <a:spLocks noGrp="1"/>
          </p:cNvSpPr>
          <p:nvPr>
            <p:ph type="sldNum" sz="quarter" idx="5"/>
          </p:nvPr>
        </p:nvSpPr>
        <p:spPr/>
        <p:txBody>
          <a:bodyPr/>
          <a:lstStyle/>
          <a:p>
            <a:fld id="{FA96E01F-8DBD-4634-ACB5-33D503B64F6E}" type="slidenum">
              <a:rPr lang="LID4096" smtClean="0"/>
              <a:t>26</a:t>
            </a:fld>
            <a:endParaRPr lang="LID4096"/>
          </a:p>
        </p:txBody>
      </p:sp>
    </p:spTree>
    <p:extLst>
      <p:ext uri="{BB962C8B-B14F-4D97-AF65-F5344CB8AC3E}">
        <p14:creationId xmlns:p14="http://schemas.microsoft.com/office/powerpoint/2010/main" val="35346559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BE847-6773-CCD4-32D7-1DBE394F7A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C9EBA-599C-75A9-C55A-F01772B53E87}"/>
              </a:ext>
            </a:extLst>
          </p:cNvPr>
          <p:cNvSpPr>
            <a:spLocks noGrp="1" noRot="1" noChangeAspect="1"/>
          </p:cNvSpPr>
          <p:nvPr>
            <p:ph type="sldImg"/>
          </p:nvPr>
        </p:nvSpPr>
        <p:spPr/>
        <p:txBody>
          <a:bodyPr/>
          <a:lstStyle/>
          <a:p>
            <a:endParaRPr lang="he-IL"/>
          </a:p>
        </p:txBody>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F8C02A4D-34EA-D8BA-AC85-7795061BFB83}"/>
                  </a:ext>
                </a:extLst>
              </p:cNvPr>
              <p:cNvSpPr>
                <a:spLocks noGrp="1"/>
              </p:cNvSpPr>
              <p:nvPr>
                <p:ph type="body" idx="1"/>
              </p:nvPr>
            </p:nvSpPr>
            <p:spPr/>
            <p:txBody>
              <a:bodyPr/>
              <a:lstStyle/>
              <a:p>
                <a:r>
                  <a:rPr lang="en-US" sz="2400" dirty="0"/>
                  <a:t>Each pair of possible </a:t>
                </a:r>
                <a14:m>
                  <m:oMath xmlns:m="http://schemas.openxmlformats.org/officeDocument/2006/math">
                    <m:sSub>
                      <m:sSubPr>
                        <m:ctrlPr>
                          <a:rPr lang="he-IL" sz="2400" i="1">
                            <a:latin typeface="Cambria Math" panose="02040503050406030204" pitchFamily="18" charset="0"/>
                          </a:rPr>
                        </m:ctrlPr>
                      </m:sSubPr>
                      <m:e>
                        <m:r>
                          <a:rPr lang="he-IL" sz="2400" i="1">
                            <a:latin typeface="Cambria Math" panose="02040503050406030204" pitchFamily="18" charset="0"/>
                          </a:rPr>
                          <m:t>𝛽</m:t>
                        </m:r>
                      </m:e>
                      <m:sub>
                        <m:r>
                          <a:rPr lang="en-US" sz="2400" b="0" i="0" smtClean="0">
                            <a:latin typeface="Cambria Math" panose="02040503050406030204" pitchFamily="18" charset="0"/>
                          </a:rPr>
                          <m:t>0</m:t>
                        </m:r>
                      </m:sub>
                    </m:sSub>
                    <m:r>
                      <a:rPr lang="he-IL" sz="2400" i="1">
                        <a:latin typeface="Cambria Math" panose="02040503050406030204" pitchFamily="18" charset="0"/>
                      </a:rPr>
                      <m:t> </m:t>
                    </m:r>
                    <m:r>
                      <a:rPr lang="en-US" sz="2400" b="0" i="0" smtClean="0">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a:latin typeface="Cambria Math" panose="02040503050406030204" pitchFamily="18" charset="0"/>
                          </a:rPr>
                          <m:t>1</m:t>
                        </m:r>
                      </m:sub>
                    </m:sSub>
                  </m:oMath>
                </a14:m>
                <a:r>
                  <a:rPr lang="en-US" sz="2400" dirty="0"/>
                  <a:t> creates a possible line:</a:t>
                </a:r>
                <a:r>
                  <a:rPr lang="en-US" sz="1200" i="1" baseline="0" dirty="0"/>
                  <a:t> </a:t>
                </a:r>
                <a14:m>
                  <m:oMath xmlns:m="http://schemas.openxmlformats.org/officeDocument/2006/math">
                    <m:r>
                      <a:rPr lang="he-IL" i="1">
                        <a:latin typeface="Cambria Math" panose="02040503050406030204" pitchFamily="18" charset="0"/>
                      </a:rPr>
                      <m:t>𝜇</m:t>
                    </m:r>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a:latin typeface="Cambria Math" panose="02040503050406030204" pitchFamily="18" charset="0"/>
                          </a:rPr>
                          <m:t>0</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a:latin typeface="Cambria Math" panose="02040503050406030204" pitchFamily="18" charset="0"/>
                          </a:rPr>
                          <m:t>1</m:t>
                        </m:r>
                      </m:sub>
                    </m:sSub>
                    <m:r>
                      <a:rPr lang="he-IL" i="1">
                        <a:latin typeface="Cambria Math" panose="02040503050406030204" pitchFamily="18" charset="0"/>
                      </a:rPr>
                      <m:t>𝑥</m:t>
                    </m:r>
                  </m:oMath>
                </a14:m>
                <a:endParaRPr lang="he-IL" sz="2400" dirty="0"/>
              </a:p>
            </p:txBody>
          </p:sp>
        </mc:Choice>
        <mc:Fallback xmlns="">
          <p:sp>
            <p:nvSpPr>
              <p:cNvPr id="3" name="Notes Placeholder 2">
                <a:extLst>
                  <a:ext uri="{FF2B5EF4-FFF2-40B4-BE49-F238E27FC236}">
                    <a16:creationId xmlns:a16="http://schemas.microsoft.com/office/drawing/2014/main" id="{F8C02A4D-34EA-D8BA-AC85-7795061BFB83}"/>
                  </a:ext>
                </a:extLst>
              </p:cNvPr>
              <p:cNvSpPr>
                <a:spLocks noGrp="1"/>
              </p:cNvSpPr>
              <p:nvPr>
                <p:ph type="body" idx="1"/>
              </p:nvPr>
            </p:nvSpPr>
            <p:spPr/>
            <p:txBody>
              <a:bodyPr/>
              <a:lstStyle/>
              <a:p>
                <a:r>
                  <a:rPr lang="en-US" sz="2400" dirty="0"/>
                  <a:t>Each pair of possible </a:t>
                </a:r>
                <a:r>
                  <a:rPr lang="he-IL" sz="2400" i="0">
                    <a:latin typeface="Cambria Math" panose="02040503050406030204" pitchFamily="18" charset="0"/>
                  </a:rPr>
                  <a:t>𝛽_</a:t>
                </a:r>
                <a:r>
                  <a:rPr lang="en-US" sz="2400" b="0" i="0">
                    <a:latin typeface="Cambria Math" panose="02040503050406030204" pitchFamily="18" charset="0"/>
                  </a:rPr>
                  <a:t>0</a:t>
                </a:r>
                <a:r>
                  <a:rPr lang="he-IL" sz="2400" b="0" i="0">
                    <a:latin typeface="Cambria Math" panose="02040503050406030204" pitchFamily="18" charset="0"/>
                  </a:rPr>
                  <a:t> </a:t>
                </a:r>
                <a:r>
                  <a:rPr lang="he-IL" sz="2400" i="0">
                    <a:latin typeface="Cambria Math" panose="02040503050406030204" pitchFamily="18" charset="0"/>
                  </a:rPr>
                  <a:t> </a:t>
                </a:r>
                <a:r>
                  <a:rPr lang="en-US" sz="2400" b="0" i="0">
                    <a:latin typeface="Cambria Math" panose="02040503050406030204" pitchFamily="18" charset="0"/>
                  </a:rPr>
                  <a:t>,</a:t>
                </a:r>
                <a:r>
                  <a:rPr lang="he-IL" i="0">
                    <a:latin typeface="Cambria Math" panose="02040503050406030204" pitchFamily="18" charset="0"/>
                  </a:rPr>
                  <a:t>𝛽_1</a:t>
                </a:r>
                <a:r>
                  <a:rPr lang="en-US" sz="2400" dirty="0"/>
                  <a:t> creates a possible line:</a:t>
                </a:r>
                <a:r>
                  <a:rPr lang="en-US" sz="1200" i="1" baseline="0" dirty="0"/>
                  <a:t> </a:t>
                </a:r>
                <a:r>
                  <a:rPr lang="he-IL" i="0">
                    <a:latin typeface="Cambria Math" panose="02040503050406030204" pitchFamily="18" charset="0"/>
                  </a:rPr>
                  <a:t>𝜇=𝛽_0+𝛽_1 𝑥</a:t>
                </a:r>
                <a:endParaRPr lang="he-IL" sz="2400" dirty="0"/>
              </a:p>
            </p:txBody>
          </p:sp>
        </mc:Fallback>
      </mc:AlternateContent>
      <p:sp>
        <p:nvSpPr>
          <p:cNvPr id="4" name="Slide Number Placeholder 3">
            <a:extLst>
              <a:ext uri="{FF2B5EF4-FFF2-40B4-BE49-F238E27FC236}">
                <a16:creationId xmlns:a16="http://schemas.microsoft.com/office/drawing/2014/main" id="{C4280EDE-664D-EEA5-C317-B85011B3E338}"/>
              </a:ext>
            </a:extLst>
          </p:cNvPr>
          <p:cNvSpPr>
            <a:spLocks noGrp="1"/>
          </p:cNvSpPr>
          <p:nvPr>
            <p:ph type="sldNum" sz="quarter" idx="5"/>
          </p:nvPr>
        </p:nvSpPr>
        <p:spPr/>
        <p:txBody>
          <a:bodyPr/>
          <a:lstStyle/>
          <a:p>
            <a:fld id="{FA96E01F-8DBD-4634-ACB5-33D503B64F6E}" type="slidenum">
              <a:rPr lang="LID4096" smtClean="0"/>
              <a:t>27</a:t>
            </a:fld>
            <a:endParaRPr lang="LID4096"/>
          </a:p>
        </p:txBody>
      </p:sp>
    </p:spTree>
    <p:extLst>
      <p:ext uri="{BB962C8B-B14F-4D97-AF65-F5344CB8AC3E}">
        <p14:creationId xmlns:p14="http://schemas.microsoft.com/office/powerpoint/2010/main" val="4268578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51712-F1EE-9B6B-A947-717F07C2A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5E17C-6311-5350-CDA0-FA53543D1A51}"/>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320BD03B-A004-5C51-3C4F-0AC81F88F01C}"/>
              </a:ext>
            </a:extLst>
          </p:cNvPr>
          <p:cNvSpPr>
            <a:spLocks noGrp="1"/>
          </p:cNvSpPr>
          <p:nvPr>
            <p:ph type="body" idx="1"/>
          </p:nvPr>
        </p:nvSpPr>
        <p:spPr/>
        <p:txBody>
          <a:bodyPr/>
          <a:lstStyle/>
          <a:p>
            <a:pPr lvl="1">
              <a:lnSpc>
                <a:spcPct val="150000"/>
              </a:lnSpc>
            </a:pPr>
            <a:endParaRPr lang="en-US" dirty="0"/>
          </a:p>
        </p:txBody>
      </p:sp>
      <p:sp>
        <p:nvSpPr>
          <p:cNvPr id="4" name="Slide Number Placeholder 3">
            <a:extLst>
              <a:ext uri="{FF2B5EF4-FFF2-40B4-BE49-F238E27FC236}">
                <a16:creationId xmlns:a16="http://schemas.microsoft.com/office/drawing/2014/main" id="{A52E8177-C12A-152F-2936-B98DACC57A0F}"/>
              </a:ext>
            </a:extLst>
          </p:cNvPr>
          <p:cNvSpPr>
            <a:spLocks noGrp="1"/>
          </p:cNvSpPr>
          <p:nvPr>
            <p:ph type="sldNum" sz="quarter" idx="5"/>
          </p:nvPr>
        </p:nvSpPr>
        <p:spPr/>
        <p:txBody>
          <a:bodyPr/>
          <a:lstStyle/>
          <a:p>
            <a:fld id="{FA96E01F-8DBD-4634-ACB5-33D503B64F6E}" type="slidenum">
              <a:rPr lang="LID4096" smtClean="0"/>
              <a:t>28</a:t>
            </a:fld>
            <a:endParaRPr lang="LID4096"/>
          </a:p>
        </p:txBody>
      </p:sp>
    </p:spTree>
    <p:extLst>
      <p:ext uri="{BB962C8B-B14F-4D97-AF65-F5344CB8AC3E}">
        <p14:creationId xmlns:p14="http://schemas.microsoft.com/office/powerpoint/2010/main" val="1843055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52CCE-8739-0E9A-82C1-49EA3959C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162FF4-CD13-28A6-01A5-20AE96CFDED8}"/>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893D8FC-F2BE-AEC4-C342-8F1FADF26AB3}"/>
              </a:ext>
            </a:extLst>
          </p:cNvPr>
          <p:cNvSpPr>
            <a:spLocks noGrp="1"/>
          </p:cNvSpPr>
          <p:nvPr>
            <p:ph type="body" idx="1"/>
          </p:nvPr>
        </p:nvSpPr>
        <p:spPr/>
        <p:txBody>
          <a:bodyPr/>
          <a:lstStyle/>
          <a:p>
            <a:pPr lvl="1">
              <a:lnSpc>
                <a:spcPct val="150000"/>
              </a:lnSpc>
            </a:pPr>
            <a:endParaRPr lang="en-US" dirty="0"/>
          </a:p>
        </p:txBody>
      </p:sp>
      <p:sp>
        <p:nvSpPr>
          <p:cNvPr id="4" name="Slide Number Placeholder 3">
            <a:extLst>
              <a:ext uri="{FF2B5EF4-FFF2-40B4-BE49-F238E27FC236}">
                <a16:creationId xmlns:a16="http://schemas.microsoft.com/office/drawing/2014/main" id="{24F230E9-7767-8CB9-0A76-1681588779F1}"/>
              </a:ext>
            </a:extLst>
          </p:cNvPr>
          <p:cNvSpPr>
            <a:spLocks noGrp="1"/>
          </p:cNvSpPr>
          <p:nvPr>
            <p:ph type="sldNum" sz="quarter" idx="5"/>
          </p:nvPr>
        </p:nvSpPr>
        <p:spPr/>
        <p:txBody>
          <a:bodyPr/>
          <a:lstStyle/>
          <a:p>
            <a:fld id="{FA96E01F-8DBD-4634-ACB5-33D503B64F6E}" type="slidenum">
              <a:rPr lang="LID4096" smtClean="0"/>
              <a:t>29</a:t>
            </a:fld>
            <a:endParaRPr lang="LID4096"/>
          </a:p>
        </p:txBody>
      </p:sp>
    </p:spTree>
    <p:extLst>
      <p:ext uri="{BB962C8B-B14F-4D97-AF65-F5344CB8AC3E}">
        <p14:creationId xmlns:p14="http://schemas.microsoft.com/office/powerpoint/2010/main" val="58666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10194-6DE6-790D-DA0E-E8C52A3F9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43C22-7DCA-41ED-6826-79AAD1A14AD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80D987C-0B04-E334-E585-4BC8C7FA63CC}"/>
              </a:ext>
            </a:extLst>
          </p:cNvPr>
          <p:cNvSpPr>
            <a:spLocks noGrp="1"/>
          </p:cNvSpPr>
          <p:nvPr>
            <p:ph type="body" idx="1"/>
          </p:nvPr>
        </p:nvSpPr>
        <p:spPr/>
        <p:txBody>
          <a:bodyPr/>
          <a:lstStyle/>
          <a:p>
            <a:pPr lvl="1">
              <a:lnSpc>
                <a:spcPct val="150000"/>
              </a:lnSpc>
            </a:pPr>
            <a:endParaRPr lang="en-US" dirty="0"/>
          </a:p>
        </p:txBody>
      </p:sp>
      <p:sp>
        <p:nvSpPr>
          <p:cNvPr id="4" name="Slide Number Placeholder 3">
            <a:extLst>
              <a:ext uri="{FF2B5EF4-FFF2-40B4-BE49-F238E27FC236}">
                <a16:creationId xmlns:a16="http://schemas.microsoft.com/office/drawing/2014/main" id="{D0ED4C8D-53CA-3D5E-D193-61928E32654C}"/>
              </a:ext>
            </a:extLst>
          </p:cNvPr>
          <p:cNvSpPr>
            <a:spLocks noGrp="1"/>
          </p:cNvSpPr>
          <p:nvPr>
            <p:ph type="sldNum" sz="quarter" idx="5"/>
          </p:nvPr>
        </p:nvSpPr>
        <p:spPr/>
        <p:txBody>
          <a:bodyPr/>
          <a:lstStyle/>
          <a:p>
            <a:fld id="{FA96E01F-8DBD-4634-ACB5-33D503B64F6E}" type="slidenum">
              <a:rPr lang="LID4096" smtClean="0"/>
              <a:t>30</a:t>
            </a:fld>
            <a:endParaRPr lang="LID4096"/>
          </a:p>
        </p:txBody>
      </p:sp>
    </p:spTree>
    <p:extLst>
      <p:ext uri="{BB962C8B-B14F-4D97-AF65-F5344CB8AC3E}">
        <p14:creationId xmlns:p14="http://schemas.microsoft.com/office/powerpoint/2010/main" val="39998715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90EFC-61F3-17F0-309D-86EEA516F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BCD72-7380-D74F-D641-D9022E1DA078}"/>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A15403EE-C9AF-025C-6FCB-BB903DD74879}"/>
              </a:ext>
            </a:extLst>
          </p:cNvPr>
          <p:cNvSpPr>
            <a:spLocks noGrp="1"/>
          </p:cNvSpPr>
          <p:nvPr>
            <p:ph type="body" idx="1"/>
          </p:nvPr>
        </p:nvSpPr>
        <p:spPr/>
        <p:txBody>
          <a:bodyPr/>
          <a:lstStyle/>
          <a:p>
            <a:pPr>
              <a:lnSpc>
                <a:spcPct val="100000"/>
              </a:lnSpc>
              <a:buFont typeface="Wingdings" panose="05000000000000000000" pitchFamily="2" charset="2"/>
              <a:buChar char="§"/>
            </a:pPr>
            <a:r>
              <a:rPr lang="en-GB" dirty="0"/>
              <a:t>What percentage of posterior predictive values are less than actual data values? </a:t>
            </a:r>
          </a:p>
          <a:p>
            <a:pPr lvl="1">
              <a:lnSpc>
                <a:spcPct val="100000"/>
              </a:lnSpc>
              <a:buFont typeface="Wingdings" panose="05000000000000000000" pitchFamily="2" charset="2"/>
              <a:buChar char="§"/>
            </a:pPr>
            <a:r>
              <a:rPr lang="en-GB" dirty="0"/>
              <a:t>We expect that it should be around half.</a:t>
            </a:r>
          </a:p>
          <a:p>
            <a:pPr>
              <a:lnSpc>
                <a:spcPct val="100000"/>
              </a:lnSpc>
              <a:buFont typeface="Wingdings" panose="05000000000000000000" pitchFamily="2" charset="2"/>
              <a:buChar char="§"/>
            </a:pPr>
            <a:r>
              <a:rPr lang="en-GB" dirty="0"/>
              <a:t>We get a distribution over posterior predictive sets.</a:t>
            </a:r>
          </a:p>
          <a:p>
            <a:pPr>
              <a:lnSpc>
                <a:spcPct val="100000"/>
              </a:lnSpc>
              <a:buFont typeface="Wingdings" panose="05000000000000000000" pitchFamily="2" charset="2"/>
              <a:buChar char="§"/>
            </a:pPr>
            <a:r>
              <a:rPr lang="en-GB" dirty="0"/>
              <a:t>Instead of comparing value by value, we can compare for chosen statistics, such as the mean and the standard deviation.</a:t>
            </a:r>
          </a:p>
          <a:p>
            <a:pPr lvl="1">
              <a:lnSpc>
                <a:spcPct val="100000"/>
              </a:lnSpc>
              <a:buFont typeface="Wingdings" panose="05000000000000000000" pitchFamily="2" charset="2"/>
              <a:buChar char="§"/>
            </a:pPr>
            <a:r>
              <a:rPr lang="en-GB" dirty="0"/>
              <a:t>The dot is the value for our observed data.</a:t>
            </a:r>
          </a:p>
          <a:p>
            <a:pPr lvl="1">
              <a:lnSpc>
                <a:spcPct val="100000"/>
              </a:lnSpc>
              <a:buFont typeface="Wingdings" panose="05000000000000000000" pitchFamily="2" charset="2"/>
              <a:buChar char="§"/>
            </a:pPr>
            <a:r>
              <a:rPr lang="en-GB" dirty="0"/>
              <a:t>The distributions are those of the statistic for each generated dataset.</a:t>
            </a:r>
            <a:endParaRPr lang="en-US" dirty="0"/>
          </a:p>
          <a:p>
            <a:pPr lvl="1">
              <a:lnSpc>
                <a:spcPct val="150000"/>
              </a:lnSpc>
            </a:pPr>
            <a:endParaRPr lang="en-US" dirty="0"/>
          </a:p>
        </p:txBody>
      </p:sp>
      <p:sp>
        <p:nvSpPr>
          <p:cNvPr id="4" name="Slide Number Placeholder 3">
            <a:extLst>
              <a:ext uri="{FF2B5EF4-FFF2-40B4-BE49-F238E27FC236}">
                <a16:creationId xmlns:a16="http://schemas.microsoft.com/office/drawing/2014/main" id="{5FAC624B-1D68-3EBF-5C39-CE99D9C15A27}"/>
              </a:ext>
            </a:extLst>
          </p:cNvPr>
          <p:cNvSpPr>
            <a:spLocks noGrp="1"/>
          </p:cNvSpPr>
          <p:nvPr>
            <p:ph type="sldNum" sz="quarter" idx="5"/>
          </p:nvPr>
        </p:nvSpPr>
        <p:spPr/>
        <p:txBody>
          <a:bodyPr/>
          <a:lstStyle/>
          <a:p>
            <a:fld id="{FA96E01F-8DBD-4634-ACB5-33D503B64F6E}" type="slidenum">
              <a:rPr lang="LID4096" smtClean="0"/>
              <a:t>31</a:t>
            </a:fld>
            <a:endParaRPr lang="LID4096"/>
          </a:p>
        </p:txBody>
      </p:sp>
    </p:spTree>
    <p:extLst>
      <p:ext uri="{BB962C8B-B14F-4D97-AF65-F5344CB8AC3E}">
        <p14:creationId xmlns:p14="http://schemas.microsoft.com/office/powerpoint/2010/main" val="8920193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32DF5-B87C-C159-7A5C-F735E337E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41240-7CEF-4C9E-48B6-7844673C2BAD}"/>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0B7BDB2D-05DD-2FF9-5698-F76D4F5F7911}"/>
              </a:ext>
            </a:extLst>
          </p:cNvPr>
          <p:cNvSpPr>
            <a:spLocks noGrp="1"/>
          </p:cNvSpPr>
          <p:nvPr>
            <p:ph type="body" idx="1"/>
          </p:nvPr>
        </p:nvSpPr>
        <p:spPr/>
        <p:txBody>
          <a:bodyPr/>
          <a:lstStyle/>
          <a:p>
            <a:pPr lvl="1">
              <a:lnSpc>
                <a:spcPct val="150000"/>
              </a:lnSpc>
            </a:pPr>
            <a:endParaRPr lang="en-US" dirty="0"/>
          </a:p>
        </p:txBody>
      </p:sp>
      <p:sp>
        <p:nvSpPr>
          <p:cNvPr id="4" name="Slide Number Placeholder 3">
            <a:extLst>
              <a:ext uri="{FF2B5EF4-FFF2-40B4-BE49-F238E27FC236}">
                <a16:creationId xmlns:a16="http://schemas.microsoft.com/office/drawing/2014/main" id="{FD882AD0-5271-8023-498D-E6CE62AF0D98}"/>
              </a:ext>
            </a:extLst>
          </p:cNvPr>
          <p:cNvSpPr>
            <a:spLocks noGrp="1"/>
          </p:cNvSpPr>
          <p:nvPr>
            <p:ph type="sldNum" sz="quarter" idx="5"/>
          </p:nvPr>
        </p:nvSpPr>
        <p:spPr/>
        <p:txBody>
          <a:bodyPr/>
          <a:lstStyle/>
          <a:p>
            <a:fld id="{FA96E01F-8DBD-4634-ACB5-33D503B64F6E}" type="slidenum">
              <a:rPr lang="LID4096" smtClean="0"/>
              <a:t>32</a:t>
            </a:fld>
            <a:endParaRPr lang="LID4096"/>
          </a:p>
        </p:txBody>
      </p:sp>
    </p:spTree>
    <p:extLst>
      <p:ext uri="{BB962C8B-B14F-4D97-AF65-F5344CB8AC3E}">
        <p14:creationId xmlns:p14="http://schemas.microsoft.com/office/powerpoint/2010/main" val="42102160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1715F-72EA-AD0D-195C-0C877514D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6A0A5-BF6E-E60E-1802-376270D376D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6F516EBB-B54E-EAFB-F723-AD46A9426B88}"/>
              </a:ext>
            </a:extLst>
          </p:cNvPr>
          <p:cNvSpPr>
            <a:spLocks noGrp="1"/>
          </p:cNvSpPr>
          <p:nvPr>
            <p:ph type="body" idx="1"/>
          </p:nvPr>
        </p:nvSpPr>
        <p:spPr/>
        <p:txBody>
          <a:bodyPr/>
          <a:lstStyle/>
          <a:p>
            <a:pPr lvl="1">
              <a:lnSpc>
                <a:spcPct val="150000"/>
              </a:lnSpc>
            </a:pPr>
            <a:endParaRPr lang="en-US" dirty="0"/>
          </a:p>
        </p:txBody>
      </p:sp>
      <p:sp>
        <p:nvSpPr>
          <p:cNvPr id="4" name="Slide Number Placeholder 3">
            <a:extLst>
              <a:ext uri="{FF2B5EF4-FFF2-40B4-BE49-F238E27FC236}">
                <a16:creationId xmlns:a16="http://schemas.microsoft.com/office/drawing/2014/main" id="{3D3FD232-3D08-C02D-0E8B-6177E6D792A0}"/>
              </a:ext>
            </a:extLst>
          </p:cNvPr>
          <p:cNvSpPr>
            <a:spLocks noGrp="1"/>
          </p:cNvSpPr>
          <p:nvPr>
            <p:ph type="sldNum" sz="quarter" idx="5"/>
          </p:nvPr>
        </p:nvSpPr>
        <p:spPr/>
        <p:txBody>
          <a:bodyPr/>
          <a:lstStyle/>
          <a:p>
            <a:fld id="{FA96E01F-8DBD-4634-ACB5-33D503B64F6E}" type="slidenum">
              <a:rPr lang="LID4096" smtClean="0"/>
              <a:t>33</a:t>
            </a:fld>
            <a:endParaRPr lang="LID4096"/>
          </a:p>
        </p:txBody>
      </p:sp>
    </p:spTree>
    <p:extLst>
      <p:ext uri="{BB962C8B-B14F-4D97-AF65-F5344CB8AC3E}">
        <p14:creationId xmlns:p14="http://schemas.microsoft.com/office/powerpoint/2010/main" val="3679787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D4D87-E4BF-2E5F-2A6B-6C84F16C79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A25A2-9A2B-709B-E463-18C8CC24788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4970524F-D6AB-CCC2-6B63-1C5825CE6F4C}"/>
              </a:ext>
            </a:extLst>
          </p:cNvPr>
          <p:cNvSpPr>
            <a:spLocks noGrp="1"/>
          </p:cNvSpPr>
          <p:nvPr>
            <p:ph type="body" idx="1"/>
          </p:nvPr>
        </p:nvSpPr>
        <p:spPr/>
        <p:txBody>
          <a:bodyPr/>
          <a:lstStyle/>
          <a:p>
            <a:pPr lvl="1">
              <a:lnSpc>
                <a:spcPct val="150000"/>
              </a:lnSpc>
            </a:pPr>
            <a:endParaRPr lang="en-US" dirty="0"/>
          </a:p>
        </p:txBody>
      </p:sp>
      <p:sp>
        <p:nvSpPr>
          <p:cNvPr id="4" name="Slide Number Placeholder 3">
            <a:extLst>
              <a:ext uri="{FF2B5EF4-FFF2-40B4-BE49-F238E27FC236}">
                <a16:creationId xmlns:a16="http://schemas.microsoft.com/office/drawing/2014/main" id="{EFC32FAB-C660-7AA6-E966-AA1D6DA7D27B}"/>
              </a:ext>
            </a:extLst>
          </p:cNvPr>
          <p:cNvSpPr>
            <a:spLocks noGrp="1"/>
          </p:cNvSpPr>
          <p:nvPr>
            <p:ph type="sldNum" sz="quarter" idx="5"/>
          </p:nvPr>
        </p:nvSpPr>
        <p:spPr/>
        <p:txBody>
          <a:bodyPr/>
          <a:lstStyle/>
          <a:p>
            <a:fld id="{FA96E01F-8DBD-4634-ACB5-33D503B64F6E}" type="slidenum">
              <a:rPr lang="LID4096" smtClean="0"/>
              <a:t>34</a:t>
            </a:fld>
            <a:endParaRPr lang="LID4096"/>
          </a:p>
        </p:txBody>
      </p:sp>
    </p:spTree>
    <p:extLst>
      <p:ext uri="{BB962C8B-B14F-4D97-AF65-F5344CB8AC3E}">
        <p14:creationId xmlns:p14="http://schemas.microsoft.com/office/powerpoint/2010/main" val="27135396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A846-5A63-DE74-5EE9-332CA3CB6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21927-4E27-096E-A303-CC8541A8D56E}"/>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79BDDFE2-CD89-4363-AECB-4869B6A9C26E}"/>
              </a:ext>
            </a:extLst>
          </p:cNvPr>
          <p:cNvSpPr>
            <a:spLocks noGrp="1"/>
          </p:cNvSpPr>
          <p:nvPr>
            <p:ph type="body" idx="1"/>
          </p:nvPr>
        </p:nvSpPr>
        <p:spPr/>
        <p:txBody>
          <a:bodyPr/>
          <a:lstStyle/>
          <a:p>
            <a:pPr marL="0" marR="0" lvl="1" indent="0" defTabSz="914400" eaLnBrk="1" fontAlgn="auto" latinLnBrk="0" hangingPunct="1">
              <a:lnSpc>
                <a:spcPct val="150000"/>
              </a:lnSpc>
              <a:spcBef>
                <a:spcPts val="0"/>
              </a:spcBef>
              <a:spcAft>
                <a:spcPts val="0"/>
              </a:spcAft>
              <a:buClrTx/>
              <a:buSzTx/>
              <a:buFontTx/>
              <a:buNone/>
              <a:tabLst/>
              <a:defRPr/>
            </a:pPr>
            <a:r>
              <a:rPr lang="en-US" sz="1800" dirty="0"/>
              <a:t>We use standardized log uranium in the model. </a:t>
            </a:r>
          </a:p>
          <a:p>
            <a:pPr marL="0" marR="0" lvl="1" indent="0" defTabSz="914400" eaLnBrk="1" fontAlgn="auto" latinLnBrk="0" hangingPunct="1">
              <a:lnSpc>
                <a:spcPct val="150000"/>
              </a:lnSpc>
              <a:spcBef>
                <a:spcPts val="0"/>
              </a:spcBef>
              <a:spcAft>
                <a:spcPts val="0"/>
              </a:spcAft>
              <a:buClrTx/>
              <a:buSzTx/>
              <a:buFontTx/>
              <a:buNone/>
              <a:tabLst/>
              <a:defRPr/>
            </a:pPr>
            <a:r>
              <a:rPr lang="en-US" sz="1800" dirty="0"/>
              <a:t>Standardization includes centering, so the intercept refers to the expected log radon for an average log uranium value. </a:t>
            </a:r>
          </a:p>
          <a:p>
            <a:pPr marL="0" marR="0" lvl="1" indent="0" defTabSz="914400" eaLnBrk="1" fontAlgn="auto" latinLnBrk="0" hangingPunct="1">
              <a:lnSpc>
                <a:spcPct val="150000"/>
              </a:lnSpc>
              <a:spcBef>
                <a:spcPts val="0"/>
              </a:spcBef>
              <a:spcAft>
                <a:spcPts val="0"/>
              </a:spcAft>
              <a:buClrTx/>
              <a:buSzTx/>
              <a:buFontTx/>
              <a:buNone/>
              <a:tabLst/>
              <a:defRPr/>
            </a:pPr>
            <a:r>
              <a:rPr lang="en-US" sz="1800" dirty="0"/>
              <a:t>It also puts the slope on a standard-deviation scale, which helps prior choice and can improve sampling geometry.</a:t>
            </a:r>
          </a:p>
          <a:p>
            <a:pPr lvl="1">
              <a:lnSpc>
                <a:spcPct val="150000"/>
              </a:lnSpc>
            </a:pPr>
            <a:endParaRPr lang="en-US" dirty="0"/>
          </a:p>
        </p:txBody>
      </p:sp>
      <p:sp>
        <p:nvSpPr>
          <p:cNvPr id="4" name="Slide Number Placeholder 3">
            <a:extLst>
              <a:ext uri="{FF2B5EF4-FFF2-40B4-BE49-F238E27FC236}">
                <a16:creationId xmlns:a16="http://schemas.microsoft.com/office/drawing/2014/main" id="{648A8612-4685-4DD4-DA3F-EA336D342DAE}"/>
              </a:ext>
            </a:extLst>
          </p:cNvPr>
          <p:cNvSpPr>
            <a:spLocks noGrp="1"/>
          </p:cNvSpPr>
          <p:nvPr>
            <p:ph type="sldNum" sz="quarter" idx="5"/>
          </p:nvPr>
        </p:nvSpPr>
        <p:spPr/>
        <p:txBody>
          <a:bodyPr/>
          <a:lstStyle/>
          <a:p>
            <a:fld id="{FA96E01F-8DBD-4634-ACB5-33D503B64F6E}" type="slidenum">
              <a:rPr lang="LID4096" smtClean="0"/>
              <a:t>36</a:t>
            </a:fld>
            <a:endParaRPr lang="LID4096"/>
          </a:p>
        </p:txBody>
      </p:sp>
    </p:spTree>
    <p:extLst>
      <p:ext uri="{BB962C8B-B14F-4D97-AF65-F5344CB8AC3E}">
        <p14:creationId xmlns:p14="http://schemas.microsoft.com/office/powerpoint/2010/main" val="17038854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5FC7F-5AD1-556C-6B44-5AF9DC3128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BAA44-4B86-AEE2-65B8-52B40BA4EBB3}"/>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D45735A-1648-698D-7127-0E163DFD39D8}"/>
              </a:ext>
            </a:extLst>
          </p:cNvPr>
          <p:cNvSpPr>
            <a:spLocks noGrp="1"/>
          </p:cNvSpPr>
          <p:nvPr>
            <p:ph type="body" idx="1"/>
          </p:nvPr>
        </p:nvSpPr>
        <p:spPr/>
        <p:txBody>
          <a:bodyPr/>
          <a:lstStyle/>
          <a:p>
            <a:pPr marL="0" marR="0" lvl="1" indent="0" defTabSz="914400" eaLnBrk="1" fontAlgn="auto" latinLnBrk="0" hangingPunct="1">
              <a:lnSpc>
                <a:spcPct val="150000"/>
              </a:lnSpc>
              <a:spcBef>
                <a:spcPts val="0"/>
              </a:spcBef>
              <a:spcAft>
                <a:spcPts val="0"/>
              </a:spcAft>
              <a:buClrTx/>
              <a:buSzTx/>
              <a:buFontTx/>
              <a:buNone/>
              <a:tabLst/>
              <a:defRPr/>
            </a:pPr>
            <a:r>
              <a:rPr lang="en-US" sz="1800" dirty="0" err="1"/>
              <a:t>Uppm</a:t>
            </a:r>
            <a:r>
              <a:rPr lang="en-US" sz="1800" dirty="0"/>
              <a:t>=County uranium level in parts per million</a:t>
            </a:r>
          </a:p>
          <a:p>
            <a:pPr marL="0" marR="0" lvl="1" indent="0" defTabSz="914400" eaLnBrk="1" fontAlgn="auto" latinLnBrk="0" hangingPunct="1">
              <a:lnSpc>
                <a:spcPct val="150000"/>
              </a:lnSpc>
              <a:spcBef>
                <a:spcPts val="0"/>
              </a:spcBef>
              <a:spcAft>
                <a:spcPts val="0"/>
              </a:spcAft>
              <a:buClrTx/>
              <a:buSzTx/>
              <a:buFontTx/>
              <a:buNone/>
              <a:tabLst/>
              <a:defRPr/>
            </a:pPr>
            <a:r>
              <a:rPr lang="en-US" sz="1800" dirty="0"/>
              <a:t>We use standardized log uranium in the model. </a:t>
            </a:r>
          </a:p>
          <a:p>
            <a:pPr marL="0" marR="0" lvl="1" indent="0" defTabSz="914400" eaLnBrk="1" fontAlgn="auto" latinLnBrk="0" hangingPunct="1">
              <a:lnSpc>
                <a:spcPct val="150000"/>
              </a:lnSpc>
              <a:spcBef>
                <a:spcPts val="0"/>
              </a:spcBef>
              <a:spcAft>
                <a:spcPts val="0"/>
              </a:spcAft>
              <a:buClrTx/>
              <a:buSzTx/>
              <a:buFontTx/>
              <a:buNone/>
              <a:tabLst/>
              <a:defRPr/>
            </a:pPr>
            <a:r>
              <a:rPr lang="en-US" sz="1800" dirty="0"/>
              <a:t>Standardization includes centering, so the intercept refers to the expected log radon for an average log uranium value. </a:t>
            </a:r>
          </a:p>
          <a:p>
            <a:pPr marL="0" marR="0" lvl="1" indent="0" defTabSz="914400" eaLnBrk="1" fontAlgn="auto" latinLnBrk="0" hangingPunct="1">
              <a:lnSpc>
                <a:spcPct val="150000"/>
              </a:lnSpc>
              <a:spcBef>
                <a:spcPts val="0"/>
              </a:spcBef>
              <a:spcAft>
                <a:spcPts val="0"/>
              </a:spcAft>
              <a:buClrTx/>
              <a:buSzTx/>
              <a:buFontTx/>
              <a:buNone/>
              <a:tabLst/>
              <a:defRPr/>
            </a:pPr>
            <a:r>
              <a:rPr lang="en-US" sz="1800" dirty="0"/>
              <a:t>It also puts the slope on a standard-deviation scale, which helps prior choice and can improve sampling geometry.</a:t>
            </a:r>
          </a:p>
        </p:txBody>
      </p:sp>
      <p:sp>
        <p:nvSpPr>
          <p:cNvPr id="4" name="Slide Number Placeholder 3">
            <a:extLst>
              <a:ext uri="{FF2B5EF4-FFF2-40B4-BE49-F238E27FC236}">
                <a16:creationId xmlns:a16="http://schemas.microsoft.com/office/drawing/2014/main" id="{3EB26F56-D2DF-DD00-D465-DE214B7BFEF3}"/>
              </a:ext>
            </a:extLst>
          </p:cNvPr>
          <p:cNvSpPr>
            <a:spLocks noGrp="1"/>
          </p:cNvSpPr>
          <p:nvPr>
            <p:ph type="sldNum" sz="quarter" idx="5"/>
          </p:nvPr>
        </p:nvSpPr>
        <p:spPr/>
        <p:txBody>
          <a:bodyPr/>
          <a:lstStyle/>
          <a:p>
            <a:fld id="{FA96E01F-8DBD-4634-ACB5-33D503B64F6E}" type="slidenum">
              <a:rPr lang="LID4096" smtClean="0"/>
              <a:t>37</a:t>
            </a:fld>
            <a:endParaRPr lang="LID4096"/>
          </a:p>
        </p:txBody>
      </p:sp>
    </p:spTree>
    <p:extLst>
      <p:ext uri="{BB962C8B-B14F-4D97-AF65-F5344CB8AC3E}">
        <p14:creationId xmlns:p14="http://schemas.microsoft.com/office/powerpoint/2010/main" val="8978771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7D44-8F50-E30C-4785-4E715EDCC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EB04A-C6E1-1405-6C97-180DEEEAA7C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F172F47-2532-491C-2964-DA112A2B6704}"/>
              </a:ext>
            </a:extLst>
          </p:cNvPr>
          <p:cNvSpPr>
            <a:spLocks noGrp="1"/>
          </p:cNvSpPr>
          <p:nvPr>
            <p:ph type="body" idx="1"/>
          </p:nvPr>
        </p:nvSpPr>
        <p:spPr/>
        <p:txBody>
          <a:bodyPr/>
          <a:lstStyle/>
          <a:p>
            <a:pPr lvl="1">
              <a:lnSpc>
                <a:spcPct val="150000"/>
              </a:lnSpc>
            </a:pPr>
            <a:endParaRPr lang="en-US" dirty="0"/>
          </a:p>
        </p:txBody>
      </p:sp>
      <p:sp>
        <p:nvSpPr>
          <p:cNvPr id="4" name="Slide Number Placeholder 3">
            <a:extLst>
              <a:ext uri="{FF2B5EF4-FFF2-40B4-BE49-F238E27FC236}">
                <a16:creationId xmlns:a16="http://schemas.microsoft.com/office/drawing/2014/main" id="{B3CE5018-973C-216B-735F-4CEEA6D61C1F}"/>
              </a:ext>
            </a:extLst>
          </p:cNvPr>
          <p:cNvSpPr>
            <a:spLocks noGrp="1"/>
          </p:cNvSpPr>
          <p:nvPr>
            <p:ph type="sldNum" sz="quarter" idx="5"/>
          </p:nvPr>
        </p:nvSpPr>
        <p:spPr/>
        <p:txBody>
          <a:bodyPr/>
          <a:lstStyle/>
          <a:p>
            <a:fld id="{FA96E01F-8DBD-4634-ACB5-33D503B64F6E}" type="slidenum">
              <a:rPr lang="LID4096" smtClean="0"/>
              <a:t>38</a:t>
            </a:fld>
            <a:endParaRPr lang="LID4096"/>
          </a:p>
        </p:txBody>
      </p:sp>
    </p:spTree>
    <p:extLst>
      <p:ext uri="{BB962C8B-B14F-4D97-AF65-F5344CB8AC3E}">
        <p14:creationId xmlns:p14="http://schemas.microsoft.com/office/powerpoint/2010/main" val="2080094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9E277-6180-8FDE-D6E8-575FFAB09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15152-EBFC-EF36-AB3E-A49F5641F5F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AD89B73-EB95-E4A6-0743-75273C73A4F1}"/>
              </a:ext>
            </a:extLst>
          </p:cNvPr>
          <p:cNvSpPr>
            <a:spLocks noGrp="1"/>
          </p:cNvSpPr>
          <p:nvPr>
            <p:ph type="body" idx="1"/>
          </p:nvPr>
        </p:nvSpPr>
        <p:spPr/>
        <p:txBody>
          <a:bodyPr/>
          <a:lstStyle/>
          <a:p>
            <a:pPr marL="0" marR="0" lvl="1" indent="0" defTabSz="914400" eaLnBrk="1" fontAlgn="auto" latinLnBrk="0" hangingPunct="1">
              <a:lnSpc>
                <a:spcPct val="150000"/>
              </a:lnSpc>
              <a:spcBef>
                <a:spcPts val="0"/>
              </a:spcBef>
              <a:spcAft>
                <a:spcPts val="0"/>
              </a:spcAft>
              <a:buClrTx/>
              <a:buSzTx/>
              <a:buFontTx/>
              <a:buNone/>
              <a:tabLst/>
              <a:defRPr/>
            </a:pPr>
            <a:r>
              <a:rPr lang="en-US" sz="1800" dirty="0"/>
              <a:t>We use standardized log uranium in the model. </a:t>
            </a:r>
          </a:p>
          <a:p>
            <a:pPr marL="0" marR="0" lvl="1" indent="0" defTabSz="914400" eaLnBrk="1" fontAlgn="auto" latinLnBrk="0" hangingPunct="1">
              <a:lnSpc>
                <a:spcPct val="150000"/>
              </a:lnSpc>
              <a:spcBef>
                <a:spcPts val="0"/>
              </a:spcBef>
              <a:spcAft>
                <a:spcPts val="0"/>
              </a:spcAft>
              <a:buClrTx/>
              <a:buSzTx/>
              <a:buFontTx/>
              <a:buNone/>
              <a:tabLst/>
              <a:defRPr/>
            </a:pPr>
            <a:r>
              <a:rPr lang="en-US" sz="1800" dirty="0"/>
              <a:t>Standardization includes centering, so the intercept refers to the expected log radon for an average log uranium value. </a:t>
            </a:r>
          </a:p>
          <a:p>
            <a:pPr marL="0" marR="0" lvl="1" indent="0" defTabSz="914400" eaLnBrk="1" fontAlgn="auto" latinLnBrk="0" hangingPunct="1">
              <a:lnSpc>
                <a:spcPct val="150000"/>
              </a:lnSpc>
              <a:spcBef>
                <a:spcPts val="0"/>
              </a:spcBef>
              <a:spcAft>
                <a:spcPts val="0"/>
              </a:spcAft>
              <a:buClrTx/>
              <a:buSzTx/>
              <a:buFontTx/>
              <a:buNone/>
              <a:tabLst/>
              <a:defRPr/>
            </a:pPr>
            <a:r>
              <a:rPr lang="en-US" sz="1800" dirty="0"/>
              <a:t>It also puts the slope on a standard-deviation scale, which helps prior choice and can improve sampling geometry.</a:t>
            </a:r>
          </a:p>
          <a:p>
            <a:pPr lvl="1">
              <a:lnSpc>
                <a:spcPct val="150000"/>
              </a:lnSpc>
            </a:pPr>
            <a:endParaRPr lang="en-US" dirty="0"/>
          </a:p>
        </p:txBody>
      </p:sp>
      <p:sp>
        <p:nvSpPr>
          <p:cNvPr id="4" name="Slide Number Placeholder 3">
            <a:extLst>
              <a:ext uri="{FF2B5EF4-FFF2-40B4-BE49-F238E27FC236}">
                <a16:creationId xmlns:a16="http://schemas.microsoft.com/office/drawing/2014/main" id="{E1F108DB-7D72-225F-434F-4D0F6B18B6AA}"/>
              </a:ext>
            </a:extLst>
          </p:cNvPr>
          <p:cNvSpPr>
            <a:spLocks noGrp="1"/>
          </p:cNvSpPr>
          <p:nvPr>
            <p:ph type="sldNum" sz="quarter" idx="5"/>
          </p:nvPr>
        </p:nvSpPr>
        <p:spPr/>
        <p:txBody>
          <a:bodyPr/>
          <a:lstStyle/>
          <a:p>
            <a:fld id="{FA96E01F-8DBD-4634-ACB5-33D503B64F6E}" type="slidenum">
              <a:rPr lang="LID4096" smtClean="0"/>
              <a:t>39</a:t>
            </a:fld>
            <a:endParaRPr lang="LID4096"/>
          </a:p>
        </p:txBody>
      </p:sp>
    </p:spTree>
    <p:extLst>
      <p:ext uri="{BB962C8B-B14F-4D97-AF65-F5344CB8AC3E}">
        <p14:creationId xmlns:p14="http://schemas.microsoft.com/office/powerpoint/2010/main" val="34912498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72FAF-0776-AB17-9987-3737B3D5B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7ADDA7-5D73-6816-C513-C110D9287A3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3B478816-7DB5-129A-AB4C-729A09C47222}"/>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C7357F8E-F5D7-3C92-F861-67C3CA0A1975}"/>
              </a:ext>
            </a:extLst>
          </p:cNvPr>
          <p:cNvSpPr>
            <a:spLocks noGrp="1"/>
          </p:cNvSpPr>
          <p:nvPr>
            <p:ph type="sldNum" sz="quarter" idx="5"/>
          </p:nvPr>
        </p:nvSpPr>
        <p:spPr/>
        <p:txBody>
          <a:bodyPr/>
          <a:lstStyle/>
          <a:p>
            <a:fld id="{FA96E01F-8DBD-4634-ACB5-33D503B64F6E}" type="slidenum">
              <a:rPr lang="LID4096" smtClean="0"/>
              <a:t>41</a:t>
            </a:fld>
            <a:endParaRPr lang="LID4096"/>
          </a:p>
        </p:txBody>
      </p:sp>
    </p:spTree>
    <p:extLst>
      <p:ext uri="{BB962C8B-B14F-4D97-AF65-F5344CB8AC3E}">
        <p14:creationId xmlns:p14="http://schemas.microsoft.com/office/powerpoint/2010/main" val="38531336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B2921-2655-410B-5EE3-CEC43585B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2EE1E-76DC-9E0C-A42C-D31DE8CFDC6A}"/>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1BD9E634-1E14-E5F4-CDC3-BE8F194477F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93D1D2D-C7FC-14C5-AF2A-FD15C221845B}"/>
              </a:ext>
            </a:extLst>
          </p:cNvPr>
          <p:cNvSpPr>
            <a:spLocks noGrp="1"/>
          </p:cNvSpPr>
          <p:nvPr>
            <p:ph type="sldNum" sz="quarter" idx="5"/>
          </p:nvPr>
        </p:nvSpPr>
        <p:spPr/>
        <p:txBody>
          <a:bodyPr/>
          <a:lstStyle/>
          <a:p>
            <a:fld id="{FA96E01F-8DBD-4634-ACB5-33D503B64F6E}" type="slidenum">
              <a:rPr lang="LID4096" smtClean="0"/>
              <a:t>42</a:t>
            </a:fld>
            <a:endParaRPr lang="LID4096"/>
          </a:p>
        </p:txBody>
      </p:sp>
    </p:spTree>
    <p:extLst>
      <p:ext uri="{BB962C8B-B14F-4D97-AF65-F5344CB8AC3E}">
        <p14:creationId xmlns:p14="http://schemas.microsoft.com/office/powerpoint/2010/main" val="32275579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7F55F-7A85-B253-6A91-DA2CD1A28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AF580-38DF-7617-B7AE-5DB1DD7C919C}"/>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8FF5467-552E-3BB9-EFAF-A543931EED71}"/>
              </a:ext>
            </a:extLst>
          </p:cNvPr>
          <p:cNvSpPr>
            <a:spLocks noGrp="1"/>
          </p:cNvSpPr>
          <p:nvPr>
            <p:ph type="body" idx="1"/>
          </p:nvPr>
        </p:nvSpPr>
        <p:spPr/>
        <p:txBody>
          <a:bodyPr/>
          <a:lstStyle/>
          <a:p>
            <a:r>
              <a:rPr lang="he-IL" dirty="0"/>
              <a:t>In </a:t>
            </a:r>
            <a:r>
              <a:rPr lang="he-IL" dirty="0" err="1"/>
              <a:t>multiple</a:t>
            </a:r>
            <a:r>
              <a:rPr lang="he-IL" dirty="0"/>
              <a:t> </a:t>
            </a:r>
            <a:r>
              <a:rPr lang="he-IL" dirty="0" err="1"/>
              <a:t>regression</a:t>
            </a:r>
            <a:r>
              <a:rPr lang="he-IL" dirty="0"/>
              <a:t>, </a:t>
            </a:r>
            <a:r>
              <a:rPr lang="he-IL" dirty="0" err="1"/>
              <a:t>each</a:t>
            </a:r>
            <a:r>
              <a:rPr lang="he-IL" dirty="0"/>
              <a:t> </a:t>
            </a:r>
            <a:r>
              <a:rPr lang="he-IL" dirty="0" err="1"/>
              <a:t>slope</a:t>
            </a:r>
            <a:r>
              <a:rPr lang="he-IL" dirty="0"/>
              <a:t> is </a:t>
            </a:r>
            <a:r>
              <a:rPr lang="he-IL" dirty="0" err="1"/>
              <a:t>interpreted</a:t>
            </a:r>
            <a:r>
              <a:rPr lang="he-IL" dirty="0"/>
              <a:t> </a:t>
            </a:r>
            <a:r>
              <a:rPr lang="he-IL" dirty="0" err="1"/>
              <a:t>conditionally</a:t>
            </a:r>
            <a:r>
              <a:rPr lang="he-IL" dirty="0"/>
              <a:t>: </a:t>
            </a:r>
            <a:r>
              <a:rPr lang="he-IL" dirty="0" err="1"/>
              <a:t>it</a:t>
            </a:r>
            <a:r>
              <a:rPr lang="he-IL" dirty="0"/>
              <a:t> </a:t>
            </a:r>
            <a:r>
              <a:rPr lang="he-IL" dirty="0" err="1"/>
              <a:t>describes</a:t>
            </a:r>
            <a:r>
              <a:rPr lang="he-IL" dirty="0"/>
              <a:t> the </a:t>
            </a:r>
            <a:r>
              <a:rPr lang="he-IL" dirty="0" err="1"/>
              <a:t>association</a:t>
            </a:r>
            <a:r>
              <a:rPr lang="he-IL" dirty="0"/>
              <a:t> with one </a:t>
            </a:r>
            <a:r>
              <a:rPr lang="he-IL" dirty="0" err="1"/>
              <a:t>predictor</a:t>
            </a:r>
            <a:r>
              <a:rPr lang="he-IL" dirty="0"/>
              <a:t> </a:t>
            </a:r>
            <a:r>
              <a:rPr lang="he-IL" dirty="0" err="1"/>
              <a:t>while</a:t>
            </a:r>
            <a:r>
              <a:rPr lang="he-IL" dirty="0"/>
              <a:t> </a:t>
            </a:r>
            <a:r>
              <a:rPr lang="he-IL" dirty="0" err="1"/>
              <a:t>holding</a:t>
            </a:r>
            <a:r>
              <a:rPr lang="he-IL" dirty="0"/>
              <a:t> the </a:t>
            </a:r>
            <a:r>
              <a:rPr lang="he-IL" dirty="0" err="1"/>
              <a:t>other</a:t>
            </a:r>
            <a:r>
              <a:rPr lang="he-IL" dirty="0"/>
              <a:t> </a:t>
            </a:r>
            <a:r>
              <a:rPr lang="he-IL" dirty="0" err="1"/>
              <a:t>predictors</a:t>
            </a:r>
            <a:r>
              <a:rPr lang="he-IL" dirty="0"/>
              <a:t> </a:t>
            </a:r>
            <a:r>
              <a:rPr lang="he-IL" dirty="0" err="1"/>
              <a:t>fixed</a:t>
            </a:r>
            <a:r>
              <a:rPr lang="he-IL" dirty="0"/>
              <a:t>.</a:t>
            </a:r>
            <a:endParaRPr lang="LID4096" dirty="0"/>
          </a:p>
        </p:txBody>
      </p:sp>
      <p:sp>
        <p:nvSpPr>
          <p:cNvPr id="4" name="Slide Number Placeholder 3">
            <a:extLst>
              <a:ext uri="{FF2B5EF4-FFF2-40B4-BE49-F238E27FC236}">
                <a16:creationId xmlns:a16="http://schemas.microsoft.com/office/drawing/2014/main" id="{3B4B54F8-F02D-3C4C-2F77-B7EFB24D6E2B}"/>
              </a:ext>
            </a:extLst>
          </p:cNvPr>
          <p:cNvSpPr>
            <a:spLocks noGrp="1"/>
          </p:cNvSpPr>
          <p:nvPr>
            <p:ph type="sldNum" sz="quarter" idx="5"/>
          </p:nvPr>
        </p:nvSpPr>
        <p:spPr/>
        <p:txBody>
          <a:bodyPr/>
          <a:lstStyle/>
          <a:p>
            <a:fld id="{FA96E01F-8DBD-4634-ACB5-33D503B64F6E}" type="slidenum">
              <a:rPr lang="LID4096" smtClean="0"/>
              <a:t>43</a:t>
            </a:fld>
            <a:endParaRPr lang="LID4096"/>
          </a:p>
        </p:txBody>
      </p:sp>
    </p:spTree>
    <p:extLst>
      <p:ext uri="{BB962C8B-B14F-4D97-AF65-F5344CB8AC3E}">
        <p14:creationId xmlns:p14="http://schemas.microsoft.com/office/powerpoint/2010/main" val="30653133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4D19A-83AA-785E-1ED2-EEF5FD4B6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D831E0-0149-65FB-699D-8085B0B2011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BB8612A-9E41-7FE6-520A-CF9BC91C6BAD}"/>
              </a:ext>
            </a:extLst>
          </p:cNvPr>
          <p:cNvSpPr>
            <a:spLocks noGrp="1"/>
          </p:cNvSpPr>
          <p:nvPr>
            <p:ph type="body" idx="1"/>
          </p:nvPr>
        </p:nvSpPr>
        <p:spPr/>
        <p:txBody>
          <a:bodyPr/>
          <a:lstStyle/>
          <a:p>
            <a:r>
              <a:rPr lang="en-US" dirty="0"/>
              <a:t>We’ll discuss categorial variables later in the tutorial</a:t>
            </a:r>
            <a:endParaRPr lang="LID4096" dirty="0"/>
          </a:p>
        </p:txBody>
      </p:sp>
      <p:sp>
        <p:nvSpPr>
          <p:cNvPr id="4" name="Slide Number Placeholder 3">
            <a:extLst>
              <a:ext uri="{FF2B5EF4-FFF2-40B4-BE49-F238E27FC236}">
                <a16:creationId xmlns:a16="http://schemas.microsoft.com/office/drawing/2014/main" id="{F5B286D8-A129-8189-30B7-E4A1AA31241D}"/>
              </a:ext>
            </a:extLst>
          </p:cNvPr>
          <p:cNvSpPr>
            <a:spLocks noGrp="1"/>
          </p:cNvSpPr>
          <p:nvPr>
            <p:ph type="sldNum" sz="quarter" idx="5"/>
          </p:nvPr>
        </p:nvSpPr>
        <p:spPr/>
        <p:txBody>
          <a:bodyPr/>
          <a:lstStyle/>
          <a:p>
            <a:fld id="{FA96E01F-8DBD-4634-ACB5-33D503B64F6E}" type="slidenum">
              <a:rPr lang="LID4096" smtClean="0"/>
              <a:t>44</a:t>
            </a:fld>
            <a:endParaRPr lang="LID4096"/>
          </a:p>
        </p:txBody>
      </p:sp>
    </p:spTree>
    <p:extLst>
      <p:ext uri="{BB962C8B-B14F-4D97-AF65-F5344CB8AC3E}">
        <p14:creationId xmlns:p14="http://schemas.microsoft.com/office/powerpoint/2010/main" val="26444755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27AEA-B475-19C2-B1EF-9DC599A63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C4512-A8E0-16A8-9274-59EA40B8134E}"/>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7EE394C-569F-EBF0-267E-B80D3DB0BE0A}"/>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BC565A00-9959-2E1A-B038-893791C32132}"/>
              </a:ext>
            </a:extLst>
          </p:cNvPr>
          <p:cNvSpPr>
            <a:spLocks noGrp="1"/>
          </p:cNvSpPr>
          <p:nvPr>
            <p:ph type="sldNum" sz="quarter" idx="5"/>
          </p:nvPr>
        </p:nvSpPr>
        <p:spPr/>
        <p:txBody>
          <a:bodyPr/>
          <a:lstStyle/>
          <a:p>
            <a:fld id="{FA96E01F-8DBD-4634-ACB5-33D503B64F6E}" type="slidenum">
              <a:rPr lang="LID4096" smtClean="0"/>
              <a:t>45</a:t>
            </a:fld>
            <a:endParaRPr lang="LID4096"/>
          </a:p>
        </p:txBody>
      </p:sp>
    </p:spTree>
    <p:extLst>
      <p:ext uri="{BB962C8B-B14F-4D97-AF65-F5344CB8AC3E}">
        <p14:creationId xmlns:p14="http://schemas.microsoft.com/office/powerpoint/2010/main" val="42090477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1F000-A9B0-F809-167D-3DEDF7989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4D565-1BEF-4208-46B2-BC5F4858CB0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D22B022-DFE6-7AAA-AC32-1842397D149C}"/>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DD5E436-F3C7-C4D1-2167-F8F4EC7EF1B8}"/>
              </a:ext>
            </a:extLst>
          </p:cNvPr>
          <p:cNvSpPr>
            <a:spLocks noGrp="1"/>
          </p:cNvSpPr>
          <p:nvPr>
            <p:ph type="sldNum" sz="quarter" idx="5"/>
          </p:nvPr>
        </p:nvSpPr>
        <p:spPr/>
        <p:txBody>
          <a:bodyPr/>
          <a:lstStyle/>
          <a:p>
            <a:fld id="{FA96E01F-8DBD-4634-ACB5-33D503B64F6E}" type="slidenum">
              <a:rPr lang="LID4096" smtClean="0"/>
              <a:t>47</a:t>
            </a:fld>
            <a:endParaRPr lang="LID4096"/>
          </a:p>
        </p:txBody>
      </p:sp>
    </p:spTree>
    <p:extLst>
      <p:ext uri="{BB962C8B-B14F-4D97-AF65-F5344CB8AC3E}">
        <p14:creationId xmlns:p14="http://schemas.microsoft.com/office/powerpoint/2010/main" val="2080014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76F31-C814-EE60-0C2C-CED37DF78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60483-853A-0D02-8686-54D28043634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40757E3-9342-8004-410E-DDCEA95D39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coding matters because the group coded as 0 becomes the reference group.</a:t>
            </a:r>
            <a:endParaRPr lang="he-IL" dirty="0"/>
          </a:p>
          <a:p>
            <a:endParaRPr lang="LID4096" dirty="0"/>
          </a:p>
        </p:txBody>
      </p:sp>
      <p:sp>
        <p:nvSpPr>
          <p:cNvPr id="4" name="Slide Number Placeholder 3">
            <a:extLst>
              <a:ext uri="{FF2B5EF4-FFF2-40B4-BE49-F238E27FC236}">
                <a16:creationId xmlns:a16="http://schemas.microsoft.com/office/drawing/2014/main" id="{D4151F19-F892-C140-BCE6-76A6B5FA9EB7}"/>
              </a:ext>
            </a:extLst>
          </p:cNvPr>
          <p:cNvSpPr>
            <a:spLocks noGrp="1"/>
          </p:cNvSpPr>
          <p:nvPr>
            <p:ph type="sldNum" sz="quarter" idx="5"/>
          </p:nvPr>
        </p:nvSpPr>
        <p:spPr/>
        <p:txBody>
          <a:bodyPr/>
          <a:lstStyle/>
          <a:p>
            <a:fld id="{FA96E01F-8DBD-4634-ACB5-33D503B64F6E}" type="slidenum">
              <a:rPr lang="LID4096" smtClean="0"/>
              <a:t>48</a:t>
            </a:fld>
            <a:endParaRPr lang="LID4096"/>
          </a:p>
        </p:txBody>
      </p:sp>
    </p:spTree>
    <p:extLst>
      <p:ext uri="{BB962C8B-B14F-4D97-AF65-F5344CB8AC3E}">
        <p14:creationId xmlns:p14="http://schemas.microsoft.com/office/powerpoint/2010/main" val="5594503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2E9F-FCD4-C66D-23B5-DB470DE29A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EDFEC-1D19-AD1C-48FF-29BC6A6FE358}"/>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BE865D5-ADF0-5EC6-2C81-45B22060CE5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07F7ECAE-13AC-BF1D-9F23-DC913A83E020}"/>
              </a:ext>
            </a:extLst>
          </p:cNvPr>
          <p:cNvSpPr>
            <a:spLocks noGrp="1"/>
          </p:cNvSpPr>
          <p:nvPr>
            <p:ph type="sldNum" sz="quarter" idx="5"/>
          </p:nvPr>
        </p:nvSpPr>
        <p:spPr/>
        <p:txBody>
          <a:bodyPr/>
          <a:lstStyle/>
          <a:p>
            <a:fld id="{FA96E01F-8DBD-4634-ACB5-33D503B64F6E}" type="slidenum">
              <a:rPr lang="LID4096" smtClean="0"/>
              <a:t>49</a:t>
            </a:fld>
            <a:endParaRPr lang="LID4096"/>
          </a:p>
        </p:txBody>
      </p:sp>
    </p:spTree>
    <p:extLst>
      <p:ext uri="{BB962C8B-B14F-4D97-AF65-F5344CB8AC3E}">
        <p14:creationId xmlns:p14="http://schemas.microsoft.com/office/powerpoint/2010/main" val="15572094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4847-2A0C-D422-F0DE-AB9CDE2DE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3B35ED-4985-D353-A2F7-02A6CCD967FC}"/>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5C432E3-5FD4-5B7E-3987-00260DCB24C3}"/>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7E1CABA-4649-7EC1-DB6D-D64D712B093E}"/>
              </a:ext>
            </a:extLst>
          </p:cNvPr>
          <p:cNvSpPr>
            <a:spLocks noGrp="1"/>
          </p:cNvSpPr>
          <p:nvPr>
            <p:ph type="sldNum" sz="quarter" idx="5"/>
          </p:nvPr>
        </p:nvSpPr>
        <p:spPr/>
        <p:txBody>
          <a:bodyPr/>
          <a:lstStyle/>
          <a:p>
            <a:fld id="{FA96E01F-8DBD-4634-ACB5-33D503B64F6E}" type="slidenum">
              <a:rPr lang="LID4096" smtClean="0"/>
              <a:t>50</a:t>
            </a:fld>
            <a:endParaRPr lang="LID4096"/>
          </a:p>
        </p:txBody>
      </p:sp>
    </p:spTree>
    <p:extLst>
      <p:ext uri="{BB962C8B-B14F-4D97-AF65-F5344CB8AC3E}">
        <p14:creationId xmlns:p14="http://schemas.microsoft.com/office/powerpoint/2010/main" val="21509226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8C12F-65BD-23C9-7469-17D9BC51E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26E8F3-CF66-C8B7-CA1D-242A47774C8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FBDA47B9-2BB8-3262-311E-E591516CD1D4}"/>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43A2C92F-F2FD-C4E6-EC58-71732B9F4C99}"/>
              </a:ext>
            </a:extLst>
          </p:cNvPr>
          <p:cNvSpPr>
            <a:spLocks noGrp="1"/>
          </p:cNvSpPr>
          <p:nvPr>
            <p:ph type="sldNum" sz="quarter" idx="5"/>
          </p:nvPr>
        </p:nvSpPr>
        <p:spPr/>
        <p:txBody>
          <a:bodyPr/>
          <a:lstStyle/>
          <a:p>
            <a:fld id="{FA96E01F-8DBD-4634-ACB5-33D503B64F6E}" type="slidenum">
              <a:rPr lang="LID4096" smtClean="0"/>
              <a:t>51</a:t>
            </a:fld>
            <a:endParaRPr lang="LID4096"/>
          </a:p>
        </p:txBody>
      </p:sp>
    </p:spTree>
    <p:extLst>
      <p:ext uri="{BB962C8B-B14F-4D97-AF65-F5344CB8AC3E}">
        <p14:creationId xmlns:p14="http://schemas.microsoft.com/office/powerpoint/2010/main" val="244048775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A545-9268-6DE1-7744-C45D2DD88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CD963-CE06-9A75-D96C-9EFFACE52B0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F433672-8BF8-B97E-3D63-FFDD6A133BB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DA952A3-B074-CD15-4C0C-B5C349F5E937}"/>
              </a:ext>
            </a:extLst>
          </p:cNvPr>
          <p:cNvSpPr>
            <a:spLocks noGrp="1"/>
          </p:cNvSpPr>
          <p:nvPr>
            <p:ph type="sldNum" sz="quarter" idx="5"/>
          </p:nvPr>
        </p:nvSpPr>
        <p:spPr/>
        <p:txBody>
          <a:bodyPr/>
          <a:lstStyle/>
          <a:p>
            <a:fld id="{FA96E01F-8DBD-4634-ACB5-33D503B64F6E}" type="slidenum">
              <a:rPr lang="LID4096" smtClean="0"/>
              <a:t>52</a:t>
            </a:fld>
            <a:endParaRPr lang="LID4096"/>
          </a:p>
        </p:txBody>
      </p:sp>
    </p:spTree>
    <p:extLst>
      <p:ext uri="{BB962C8B-B14F-4D97-AF65-F5344CB8AC3E}">
        <p14:creationId xmlns:p14="http://schemas.microsoft.com/office/powerpoint/2010/main" val="28152175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99952-8B35-CCA9-05A0-E1E786148E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F0A1A-C6B9-827B-6ADC-8A4062FAEDD3}"/>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677FFD64-A323-50ED-9CB8-53F14A5ADF5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1943F293-402C-8B94-B387-92E737EE3D47}"/>
              </a:ext>
            </a:extLst>
          </p:cNvPr>
          <p:cNvSpPr>
            <a:spLocks noGrp="1"/>
          </p:cNvSpPr>
          <p:nvPr>
            <p:ph type="sldNum" sz="quarter" idx="5"/>
          </p:nvPr>
        </p:nvSpPr>
        <p:spPr/>
        <p:txBody>
          <a:bodyPr/>
          <a:lstStyle/>
          <a:p>
            <a:fld id="{FA96E01F-8DBD-4634-ACB5-33D503B64F6E}" type="slidenum">
              <a:rPr lang="LID4096" smtClean="0"/>
              <a:t>53</a:t>
            </a:fld>
            <a:endParaRPr lang="LID4096"/>
          </a:p>
        </p:txBody>
      </p:sp>
    </p:spTree>
    <p:extLst>
      <p:ext uri="{BB962C8B-B14F-4D97-AF65-F5344CB8AC3E}">
        <p14:creationId xmlns:p14="http://schemas.microsoft.com/office/powerpoint/2010/main" val="16749866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BBFD5-22AF-8896-5A91-743A3FFE6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89A5D-E933-D277-0F43-E6C519CC290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5687A740-EA2C-A6B9-5F8F-776C73D1B55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9CE212A-1C66-5C66-0CB0-05B76E11C1CB}"/>
              </a:ext>
            </a:extLst>
          </p:cNvPr>
          <p:cNvSpPr>
            <a:spLocks noGrp="1"/>
          </p:cNvSpPr>
          <p:nvPr>
            <p:ph type="sldNum" sz="quarter" idx="5"/>
          </p:nvPr>
        </p:nvSpPr>
        <p:spPr/>
        <p:txBody>
          <a:bodyPr/>
          <a:lstStyle/>
          <a:p>
            <a:fld id="{FA96E01F-8DBD-4634-ACB5-33D503B64F6E}" type="slidenum">
              <a:rPr lang="LID4096" smtClean="0"/>
              <a:t>54</a:t>
            </a:fld>
            <a:endParaRPr lang="LID4096"/>
          </a:p>
        </p:txBody>
      </p:sp>
    </p:spTree>
    <p:extLst>
      <p:ext uri="{BB962C8B-B14F-4D97-AF65-F5344CB8AC3E}">
        <p14:creationId xmlns:p14="http://schemas.microsoft.com/office/powerpoint/2010/main" val="8932484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2B9E3-1FBF-E4EA-9DC5-47D7BFD60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A667A3-A67C-8488-5AD0-8A89308FB7DE}"/>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44722952-6D23-9B76-849A-8C879FF4F71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EA3EFA2-C28E-88F3-01BC-3D069AD396B6}"/>
              </a:ext>
            </a:extLst>
          </p:cNvPr>
          <p:cNvSpPr>
            <a:spLocks noGrp="1"/>
          </p:cNvSpPr>
          <p:nvPr>
            <p:ph type="sldNum" sz="quarter" idx="5"/>
          </p:nvPr>
        </p:nvSpPr>
        <p:spPr/>
        <p:txBody>
          <a:bodyPr/>
          <a:lstStyle/>
          <a:p>
            <a:fld id="{FA96E01F-8DBD-4634-ACB5-33D503B64F6E}" type="slidenum">
              <a:rPr lang="LID4096" smtClean="0"/>
              <a:t>55</a:t>
            </a:fld>
            <a:endParaRPr lang="LID4096"/>
          </a:p>
        </p:txBody>
      </p:sp>
    </p:spTree>
    <p:extLst>
      <p:ext uri="{BB962C8B-B14F-4D97-AF65-F5344CB8AC3E}">
        <p14:creationId xmlns:p14="http://schemas.microsoft.com/office/powerpoint/2010/main" val="17727490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2CD0B-1CFC-0506-81B2-A96A11D6C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756213-E1E5-CD52-88CF-FD03133F134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930E23F-14C0-43BC-2F30-E0E7B6DBB5C8}"/>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95068B8-E253-A83C-6A4C-C36A596787AE}"/>
              </a:ext>
            </a:extLst>
          </p:cNvPr>
          <p:cNvSpPr>
            <a:spLocks noGrp="1"/>
          </p:cNvSpPr>
          <p:nvPr>
            <p:ph type="sldNum" sz="quarter" idx="5"/>
          </p:nvPr>
        </p:nvSpPr>
        <p:spPr/>
        <p:txBody>
          <a:bodyPr/>
          <a:lstStyle/>
          <a:p>
            <a:fld id="{FA96E01F-8DBD-4634-ACB5-33D503B64F6E}" type="slidenum">
              <a:rPr lang="LID4096" smtClean="0"/>
              <a:t>56</a:t>
            </a:fld>
            <a:endParaRPr lang="LID4096"/>
          </a:p>
        </p:txBody>
      </p:sp>
    </p:spTree>
    <p:extLst>
      <p:ext uri="{BB962C8B-B14F-4D97-AF65-F5344CB8AC3E}">
        <p14:creationId xmlns:p14="http://schemas.microsoft.com/office/powerpoint/2010/main" val="353523145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8D596-5571-F0D3-F4BE-D43D03C3D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650D9-37CC-DC7C-84E5-B49BA640819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EF8DDEF-7FC2-F774-B068-EAF0CBD6687F}"/>
              </a:ext>
            </a:extLst>
          </p:cNvPr>
          <p:cNvSpPr>
            <a:spLocks noGrp="1"/>
          </p:cNvSpPr>
          <p:nvPr>
            <p:ph type="body" idx="1"/>
          </p:nvPr>
        </p:nvSpPr>
        <p:spPr/>
        <p:txBody>
          <a:bodyPr/>
          <a:lstStyle/>
          <a:p>
            <a:r>
              <a:rPr lang="he-IL" dirty="0"/>
              <a:t>The </a:t>
            </a:r>
            <a:r>
              <a:rPr lang="he-IL" dirty="0" err="1"/>
              <a:t>posterior</a:t>
            </a:r>
            <a:r>
              <a:rPr lang="he-IL" dirty="0"/>
              <a:t> </a:t>
            </a:r>
            <a:r>
              <a:rPr lang="he-IL" dirty="0" err="1"/>
              <a:t>predictive</a:t>
            </a:r>
            <a:r>
              <a:rPr lang="he-IL" dirty="0"/>
              <a:t> HDI is </a:t>
            </a:r>
            <a:r>
              <a:rPr lang="he-IL" dirty="0" err="1"/>
              <a:t>much</a:t>
            </a:r>
            <a:r>
              <a:rPr lang="he-IL" dirty="0"/>
              <a:t> </a:t>
            </a:r>
            <a:r>
              <a:rPr lang="he-IL" dirty="0" err="1"/>
              <a:t>wider</a:t>
            </a:r>
            <a:r>
              <a:rPr lang="he-IL" dirty="0"/>
              <a:t> </a:t>
            </a:r>
            <a:r>
              <a:rPr lang="he-IL" dirty="0" err="1"/>
              <a:t>because</a:t>
            </a:r>
            <a:r>
              <a:rPr lang="he-IL" dirty="0"/>
              <a:t> </a:t>
            </a:r>
            <a:r>
              <a:rPr lang="he-IL" dirty="0" err="1"/>
              <a:t>it</a:t>
            </a:r>
            <a:r>
              <a:rPr lang="he-IL" dirty="0"/>
              <a:t> </a:t>
            </a:r>
            <a:r>
              <a:rPr lang="he-IL" dirty="0" err="1"/>
              <a:t>describes</a:t>
            </a:r>
            <a:r>
              <a:rPr lang="he-IL" dirty="0"/>
              <a:t> </a:t>
            </a:r>
            <a:r>
              <a:rPr lang="he-IL" dirty="0" err="1"/>
              <a:t>possible</a:t>
            </a:r>
            <a:r>
              <a:rPr lang="he-IL" dirty="0"/>
              <a:t> </a:t>
            </a:r>
            <a:r>
              <a:rPr lang="he-IL" dirty="0" err="1"/>
              <a:t>new</a:t>
            </a:r>
            <a:r>
              <a:rPr lang="he-IL" dirty="0"/>
              <a:t> </a:t>
            </a:r>
            <a:r>
              <a:rPr lang="he-IL" dirty="0" err="1"/>
              <a:t>observations</a:t>
            </a:r>
            <a:r>
              <a:rPr lang="he-IL" dirty="0"/>
              <a:t>, </a:t>
            </a:r>
            <a:r>
              <a:rPr lang="he-IL" dirty="0" err="1"/>
              <a:t>so</a:t>
            </a:r>
            <a:r>
              <a:rPr lang="he-IL" dirty="0"/>
              <a:t> </a:t>
            </a:r>
            <a:r>
              <a:rPr lang="he-IL" dirty="0" err="1"/>
              <a:t>it</a:t>
            </a:r>
            <a:r>
              <a:rPr lang="he-IL" dirty="0"/>
              <a:t> </a:t>
            </a:r>
            <a:r>
              <a:rPr lang="he-IL" dirty="0" err="1"/>
              <a:t>includes</a:t>
            </a:r>
            <a:r>
              <a:rPr lang="he-IL" dirty="0"/>
              <a:t> </a:t>
            </a:r>
            <a:r>
              <a:rPr lang="he-IL" dirty="0" err="1"/>
              <a:t>both</a:t>
            </a:r>
            <a:r>
              <a:rPr lang="he-IL" dirty="0"/>
              <a:t> </a:t>
            </a:r>
            <a:r>
              <a:rPr lang="he-IL" dirty="0" err="1"/>
              <a:t>uncertainty</a:t>
            </a:r>
            <a:r>
              <a:rPr lang="he-IL" dirty="0"/>
              <a:t> </a:t>
            </a:r>
            <a:r>
              <a:rPr lang="he-IL" dirty="0" err="1"/>
              <a:t>in</a:t>
            </a:r>
            <a:r>
              <a:rPr lang="he-IL" dirty="0"/>
              <a:t> the </a:t>
            </a:r>
            <a:r>
              <a:rPr lang="he-IL" dirty="0" err="1"/>
              <a:t>mean</a:t>
            </a:r>
            <a:r>
              <a:rPr lang="he-IL" dirty="0"/>
              <a:t> and </a:t>
            </a:r>
            <a:r>
              <a:rPr lang="he-IL" dirty="0" err="1"/>
              <a:t>residual</a:t>
            </a:r>
            <a:r>
              <a:rPr lang="he-IL" dirty="0"/>
              <a:t> </a:t>
            </a:r>
            <a:r>
              <a:rPr lang="he-IL" dirty="0" err="1"/>
              <a:t>variation</a:t>
            </a:r>
            <a:r>
              <a:rPr lang="he-IL" dirty="0"/>
              <a:t> </a:t>
            </a:r>
            <a:r>
              <a:rPr lang="he-IL" dirty="0" err="1"/>
              <a:t>around</a:t>
            </a:r>
            <a:r>
              <a:rPr lang="he-IL" dirty="0"/>
              <a:t> the </a:t>
            </a:r>
            <a:r>
              <a:rPr lang="he-IL" dirty="0" err="1"/>
              <a:t>mean</a:t>
            </a:r>
            <a:r>
              <a:rPr lang="he-IL" dirty="0"/>
              <a:t>.</a:t>
            </a:r>
            <a:endParaRPr lang="LID4096" dirty="0"/>
          </a:p>
        </p:txBody>
      </p:sp>
      <p:sp>
        <p:nvSpPr>
          <p:cNvPr id="4" name="Slide Number Placeholder 3">
            <a:extLst>
              <a:ext uri="{FF2B5EF4-FFF2-40B4-BE49-F238E27FC236}">
                <a16:creationId xmlns:a16="http://schemas.microsoft.com/office/drawing/2014/main" id="{9DE4703C-D06A-5F95-A5BB-4A4C185FCC65}"/>
              </a:ext>
            </a:extLst>
          </p:cNvPr>
          <p:cNvSpPr>
            <a:spLocks noGrp="1"/>
          </p:cNvSpPr>
          <p:nvPr>
            <p:ph type="sldNum" sz="quarter" idx="5"/>
          </p:nvPr>
        </p:nvSpPr>
        <p:spPr/>
        <p:txBody>
          <a:bodyPr/>
          <a:lstStyle/>
          <a:p>
            <a:fld id="{FA96E01F-8DBD-4634-ACB5-33D503B64F6E}" type="slidenum">
              <a:rPr lang="LID4096" smtClean="0"/>
              <a:t>57</a:t>
            </a:fld>
            <a:endParaRPr lang="LID4096"/>
          </a:p>
        </p:txBody>
      </p:sp>
    </p:spTree>
    <p:extLst>
      <p:ext uri="{BB962C8B-B14F-4D97-AF65-F5344CB8AC3E}">
        <p14:creationId xmlns:p14="http://schemas.microsoft.com/office/powerpoint/2010/main" val="42574636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D7BC8-DAF6-D7FB-AAD6-4527B33EAF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B8A55-679E-4DFB-7AE1-B8C15992029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E3C4A32-079B-A652-A0F9-BE67BA679EA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732B94E-9C55-8FC2-6196-2FFE80D21115}"/>
              </a:ext>
            </a:extLst>
          </p:cNvPr>
          <p:cNvSpPr>
            <a:spLocks noGrp="1"/>
          </p:cNvSpPr>
          <p:nvPr>
            <p:ph type="sldNum" sz="quarter" idx="5"/>
          </p:nvPr>
        </p:nvSpPr>
        <p:spPr/>
        <p:txBody>
          <a:bodyPr/>
          <a:lstStyle/>
          <a:p>
            <a:fld id="{FA96E01F-8DBD-4634-ACB5-33D503B64F6E}" type="slidenum">
              <a:rPr lang="LID4096" smtClean="0"/>
              <a:t>58</a:t>
            </a:fld>
            <a:endParaRPr lang="LID4096"/>
          </a:p>
        </p:txBody>
      </p:sp>
    </p:spTree>
    <p:extLst>
      <p:ext uri="{BB962C8B-B14F-4D97-AF65-F5344CB8AC3E}">
        <p14:creationId xmlns:p14="http://schemas.microsoft.com/office/powerpoint/2010/main" val="41719092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DC496-B077-105C-CAF3-D2567574F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B29D09-27B7-21EC-8413-CDF54ED7C86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C285025-10F8-22D5-CA57-BC2F14A71903}"/>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C7C57D2B-0DB9-C47A-66FD-CDE2F00A0A4C}"/>
              </a:ext>
            </a:extLst>
          </p:cNvPr>
          <p:cNvSpPr>
            <a:spLocks noGrp="1"/>
          </p:cNvSpPr>
          <p:nvPr>
            <p:ph type="sldNum" sz="quarter" idx="5"/>
          </p:nvPr>
        </p:nvSpPr>
        <p:spPr/>
        <p:txBody>
          <a:bodyPr/>
          <a:lstStyle/>
          <a:p>
            <a:fld id="{FA96E01F-8DBD-4634-ACB5-33D503B64F6E}" type="slidenum">
              <a:rPr lang="LID4096" smtClean="0"/>
              <a:t>59</a:t>
            </a:fld>
            <a:endParaRPr lang="LID4096"/>
          </a:p>
        </p:txBody>
      </p:sp>
    </p:spTree>
    <p:extLst>
      <p:ext uri="{BB962C8B-B14F-4D97-AF65-F5344CB8AC3E}">
        <p14:creationId xmlns:p14="http://schemas.microsoft.com/office/powerpoint/2010/main" val="197991576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69D05-E06F-90BA-CB94-016063CBD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CE7728-D64A-2736-7F84-EA89E9BB514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C8A5BCD5-5BD5-988F-F9B7-A51570DE8AC7}"/>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0FE6B240-87B3-CC45-328E-8F1B2395423B}"/>
              </a:ext>
            </a:extLst>
          </p:cNvPr>
          <p:cNvSpPr>
            <a:spLocks noGrp="1"/>
          </p:cNvSpPr>
          <p:nvPr>
            <p:ph type="sldNum" sz="quarter" idx="5"/>
          </p:nvPr>
        </p:nvSpPr>
        <p:spPr/>
        <p:txBody>
          <a:bodyPr/>
          <a:lstStyle/>
          <a:p>
            <a:fld id="{FA96E01F-8DBD-4634-ACB5-33D503B64F6E}" type="slidenum">
              <a:rPr lang="LID4096" smtClean="0"/>
              <a:t>60</a:t>
            </a:fld>
            <a:endParaRPr lang="LID4096"/>
          </a:p>
        </p:txBody>
      </p:sp>
    </p:spTree>
    <p:extLst>
      <p:ext uri="{BB962C8B-B14F-4D97-AF65-F5344CB8AC3E}">
        <p14:creationId xmlns:p14="http://schemas.microsoft.com/office/powerpoint/2010/main" val="2649814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C5FB9-F436-5501-3E7C-7C8841021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4B3C0-7165-4AC8-C778-19ACBDABDA8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CDB55BB-BAC9-3724-6698-32EDE7E6CDD2}"/>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CF4F6025-73B4-D386-6D3F-9BBAE6F29A75}"/>
              </a:ext>
            </a:extLst>
          </p:cNvPr>
          <p:cNvSpPr>
            <a:spLocks noGrp="1"/>
          </p:cNvSpPr>
          <p:nvPr>
            <p:ph type="sldNum" sz="quarter" idx="5"/>
          </p:nvPr>
        </p:nvSpPr>
        <p:spPr/>
        <p:txBody>
          <a:bodyPr/>
          <a:lstStyle/>
          <a:p>
            <a:fld id="{FA96E01F-8DBD-4634-ACB5-33D503B64F6E}" type="slidenum">
              <a:rPr lang="LID4096" smtClean="0"/>
              <a:t>62</a:t>
            </a:fld>
            <a:endParaRPr lang="LID4096"/>
          </a:p>
        </p:txBody>
      </p:sp>
    </p:spTree>
    <p:extLst>
      <p:ext uri="{BB962C8B-B14F-4D97-AF65-F5344CB8AC3E}">
        <p14:creationId xmlns:p14="http://schemas.microsoft.com/office/powerpoint/2010/main" val="42266368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6D26E-28B0-94DF-BE19-595113D16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C50DCF-ACB7-39CD-2A1D-A64753EF081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978ADCA-68F7-9437-4129-A72BF4EB540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F17EB012-2AB2-3582-BEA3-843F952C96C7}"/>
              </a:ext>
            </a:extLst>
          </p:cNvPr>
          <p:cNvSpPr>
            <a:spLocks noGrp="1"/>
          </p:cNvSpPr>
          <p:nvPr>
            <p:ph type="sldNum" sz="quarter" idx="5"/>
          </p:nvPr>
        </p:nvSpPr>
        <p:spPr/>
        <p:txBody>
          <a:bodyPr/>
          <a:lstStyle/>
          <a:p>
            <a:fld id="{FA96E01F-8DBD-4634-ACB5-33D503B64F6E}" type="slidenum">
              <a:rPr lang="LID4096" smtClean="0"/>
              <a:t>63</a:t>
            </a:fld>
            <a:endParaRPr lang="LID4096"/>
          </a:p>
        </p:txBody>
      </p:sp>
    </p:spTree>
    <p:extLst>
      <p:ext uri="{BB962C8B-B14F-4D97-AF65-F5344CB8AC3E}">
        <p14:creationId xmlns:p14="http://schemas.microsoft.com/office/powerpoint/2010/main" val="17547585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6C55F-FFF1-AAD1-C4C4-7C67E870D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7910E0-DB53-8774-1CC4-3788CFA773A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28D32A3-4A35-D362-B9C4-775E3C8CF33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3AF6CF7-5E62-AC37-D486-260E55909A89}"/>
              </a:ext>
            </a:extLst>
          </p:cNvPr>
          <p:cNvSpPr>
            <a:spLocks noGrp="1"/>
          </p:cNvSpPr>
          <p:nvPr>
            <p:ph type="sldNum" sz="quarter" idx="5"/>
          </p:nvPr>
        </p:nvSpPr>
        <p:spPr/>
        <p:txBody>
          <a:bodyPr/>
          <a:lstStyle/>
          <a:p>
            <a:fld id="{FA96E01F-8DBD-4634-ACB5-33D503B64F6E}" type="slidenum">
              <a:rPr lang="LID4096" smtClean="0"/>
              <a:t>64</a:t>
            </a:fld>
            <a:endParaRPr lang="LID4096"/>
          </a:p>
        </p:txBody>
      </p:sp>
    </p:spTree>
    <p:extLst>
      <p:ext uri="{BB962C8B-B14F-4D97-AF65-F5344CB8AC3E}">
        <p14:creationId xmlns:p14="http://schemas.microsoft.com/office/powerpoint/2010/main" val="12581685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74DC3-3C75-8443-FA7D-2303274AE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610B9-41A5-A395-B95F-01C27C4A6939}"/>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08309EA-6311-C7DE-D508-61E940FF062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02864022-FC5B-1DF7-456F-1B3062AD8F37}"/>
              </a:ext>
            </a:extLst>
          </p:cNvPr>
          <p:cNvSpPr>
            <a:spLocks noGrp="1"/>
          </p:cNvSpPr>
          <p:nvPr>
            <p:ph type="sldNum" sz="quarter" idx="5"/>
          </p:nvPr>
        </p:nvSpPr>
        <p:spPr/>
        <p:txBody>
          <a:bodyPr/>
          <a:lstStyle/>
          <a:p>
            <a:fld id="{FA96E01F-8DBD-4634-ACB5-33D503B64F6E}" type="slidenum">
              <a:rPr lang="LID4096" smtClean="0"/>
              <a:t>65</a:t>
            </a:fld>
            <a:endParaRPr lang="LID4096"/>
          </a:p>
        </p:txBody>
      </p:sp>
    </p:spTree>
    <p:extLst>
      <p:ext uri="{BB962C8B-B14F-4D97-AF65-F5344CB8AC3E}">
        <p14:creationId xmlns:p14="http://schemas.microsoft.com/office/powerpoint/2010/main" val="32547976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EFA30-71A5-E998-91D5-1C68A7A49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0E06E-792F-FF55-9DC7-0786687D1F6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A2CA0F3-5404-2675-0E10-DD0DD94DE8B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282FDEB-86AA-8A70-D676-90631B7A3596}"/>
              </a:ext>
            </a:extLst>
          </p:cNvPr>
          <p:cNvSpPr>
            <a:spLocks noGrp="1"/>
          </p:cNvSpPr>
          <p:nvPr>
            <p:ph type="sldNum" sz="quarter" idx="5"/>
          </p:nvPr>
        </p:nvSpPr>
        <p:spPr/>
        <p:txBody>
          <a:bodyPr/>
          <a:lstStyle/>
          <a:p>
            <a:fld id="{FA96E01F-8DBD-4634-ACB5-33D503B64F6E}" type="slidenum">
              <a:rPr lang="LID4096" smtClean="0"/>
              <a:t>67</a:t>
            </a:fld>
            <a:endParaRPr lang="LID4096"/>
          </a:p>
        </p:txBody>
      </p:sp>
    </p:spTree>
    <p:extLst>
      <p:ext uri="{BB962C8B-B14F-4D97-AF65-F5344CB8AC3E}">
        <p14:creationId xmlns:p14="http://schemas.microsoft.com/office/powerpoint/2010/main" val="235439008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57804-53A8-4041-F3D4-CB121B029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E82465-B22B-E37C-943F-44F8E5F2EEF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DBAD2007-B450-40F8-0C98-3D5E68ED7371}"/>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08CF2BEC-973B-49A9-F7DB-93D65D5AA90A}"/>
              </a:ext>
            </a:extLst>
          </p:cNvPr>
          <p:cNvSpPr>
            <a:spLocks noGrp="1"/>
          </p:cNvSpPr>
          <p:nvPr>
            <p:ph type="sldNum" sz="quarter" idx="5"/>
          </p:nvPr>
        </p:nvSpPr>
        <p:spPr/>
        <p:txBody>
          <a:bodyPr/>
          <a:lstStyle/>
          <a:p>
            <a:fld id="{FA96E01F-8DBD-4634-ACB5-33D503B64F6E}" type="slidenum">
              <a:rPr lang="LID4096" smtClean="0"/>
              <a:t>68</a:t>
            </a:fld>
            <a:endParaRPr lang="LID4096"/>
          </a:p>
        </p:txBody>
      </p:sp>
    </p:spTree>
    <p:extLst>
      <p:ext uri="{BB962C8B-B14F-4D97-AF65-F5344CB8AC3E}">
        <p14:creationId xmlns:p14="http://schemas.microsoft.com/office/powerpoint/2010/main" val="35420049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DAA8D-DF36-969C-4E07-35C23252CD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2387F-0D9B-747C-C57F-B4996397966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25424579-9127-71BB-53B0-11621C17C194}"/>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16BC4ADC-2ABC-2354-0938-ED58388FBC99}"/>
              </a:ext>
            </a:extLst>
          </p:cNvPr>
          <p:cNvSpPr>
            <a:spLocks noGrp="1"/>
          </p:cNvSpPr>
          <p:nvPr>
            <p:ph type="sldNum" sz="quarter" idx="5"/>
          </p:nvPr>
        </p:nvSpPr>
        <p:spPr/>
        <p:txBody>
          <a:bodyPr/>
          <a:lstStyle/>
          <a:p>
            <a:fld id="{FA96E01F-8DBD-4634-ACB5-33D503B64F6E}" type="slidenum">
              <a:rPr lang="LID4096" smtClean="0"/>
              <a:t>69</a:t>
            </a:fld>
            <a:endParaRPr lang="LID4096"/>
          </a:p>
        </p:txBody>
      </p:sp>
    </p:spTree>
    <p:extLst>
      <p:ext uri="{BB962C8B-B14F-4D97-AF65-F5344CB8AC3E}">
        <p14:creationId xmlns:p14="http://schemas.microsoft.com/office/powerpoint/2010/main" val="5036140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A3133-B764-5BAB-3CE6-9AEA7FC7F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F7F21-F1BF-C5AE-6C09-B302023270C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321475C-7868-3DD3-E4CF-FFE108E35637}"/>
              </a:ext>
            </a:extLst>
          </p:cNvPr>
          <p:cNvSpPr>
            <a:spLocks noGrp="1"/>
          </p:cNvSpPr>
          <p:nvPr>
            <p:ph type="body" idx="1"/>
          </p:nvPr>
        </p:nvSpPr>
        <p:spPr/>
        <p:txBody>
          <a:bodyPr/>
          <a:lstStyle/>
          <a:p>
            <a:pPr algn="l"/>
            <a:endParaRPr lang="LID4096" dirty="0"/>
          </a:p>
        </p:txBody>
      </p:sp>
      <p:sp>
        <p:nvSpPr>
          <p:cNvPr id="4" name="Slide Number Placeholder 3">
            <a:extLst>
              <a:ext uri="{FF2B5EF4-FFF2-40B4-BE49-F238E27FC236}">
                <a16:creationId xmlns:a16="http://schemas.microsoft.com/office/drawing/2014/main" id="{510E2D6A-23DE-3CBA-1D96-1FE42F458B53}"/>
              </a:ext>
            </a:extLst>
          </p:cNvPr>
          <p:cNvSpPr>
            <a:spLocks noGrp="1"/>
          </p:cNvSpPr>
          <p:nvPr>
            <p:ph type="sldNum" sz="quarter" idx="5"/>
          </p:nvPr>
        </p:nvSpPr>
        <p:spPr/>
        <p:txBody>
          <a:bodyPr/>
          <a:lstStyle/>
          <a:p>
            <a:fld id="{FA96E01F-8DBD-4634-ACB5-33D503B64F6E}" type="slidenum">
              <a:rPr lang="LID4096" smtClean="0"/>
              <a:t>70</a:t>
            </a:fld>
            <a:endParaRPr lang="LID4096"/>
          </a:p>
        </p:txBody>
      </p:sp>
    </p:spTree>
    <p:extLst>
      <p:ext uri="{BB962C8B-B14F-4D97-AF65-F5344CB8AC3E}">
        <p14:creationId xmlns:p14="http://schemas.microsoft.com/office/powerpoint/2010/main" val="281252775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42F1F-2E9C-9F96-66BD-CC8BDD0A2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24FF9-1FD4-5499-6BA2-04B532DC5991}"/>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8B2C187-9B9B-282D-EE42-D9B9C6A009E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DB591B5-9CA8-61A7-8017-6BE77E9465D4}"/>
              </a:ext>
            </a:extLst>
          </p:cNvPr>
          <p:cNvSpPr>
            <a:spLocks noGrp="1"/>
          </p:cNvSpPr>
          <p:nvPr>
            <p:ph type="sldNum" sz="quarter" idx="5"/>
          </p:nvPr>
        </p:nvSpPr>
        <p:spPr/>
        <p:txBody>
          <a:bodyPr/>
          <a:lstStyle/>
          <a:p>
            <a:fld id="{FA96E01F-8DBD-4634-ACB5-33D503B64F6E}" type="slidenum">
              <a:rPr lang="LID4096" smtClean="0"/>
              <a:t>71</a:t>
            </a:fld>
            <a:endParaRPr lang="LID4096"/>
          </a:p>
        </p:txBody>
      </p:sp>
    </p:spTree>
    <p:extLst>
      <p:ext uri="{BB962C8B-B14F-4D97-AF65-F5344CB8AC3E}">
        <p14:creationId xmlns:p14="http://schemas.microsoft.com/office/powerpoint/2010/main" val="350371031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56A3C-3176-8BC1-B4AB-58F39580A6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1C6E54-428B-6745-6369-986FEB029EC7}"/>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FE7BBBB-F24F-08C1-416D-631ACF8A4869}"/>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80DBEFA9-E78E-17A3-72F5-0F8E6351A61F}"/>
              </a:ext>
            </a:extLst>
          </p:cNvPr>
          <p:cNvSpPr>
            <a:spLocks noGrp="1"/>
          </p:cNvSpPr>
          <p:nvPr>
            <p:ph type="sldNum" sz="quarter" idx="5"/>
          </p:nvPr>
        </p:nvSpPr>
        <p:spPr/>
        <p:txBody>
          <a:bodyPr/>
          <a:lstStyle/>
          <a:p>
            <a:fld id="{FA96E01F-8DBD-4634-ACB5-33D503B64F6E}" type="slidenum">
              <a:rPr lang="LID4096" smtClean="0"/>
              <a:t>72</a:t>
            </a:fld>
            <a:endParaRPr lang="LID4096"/>
          </a:p>
        </p:txBody>
      </p:sp>
    </p:spTree>
    <p:extLst>
      <p:ext uri="{BB962C8B-B14F-4D97-AF65-F5344CB8AC3E}">
        <p14:creationId xmlns:p14="http://schemas.microsoft.com/office/powerpoint/2010/main" val="401257143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C6F9-6F25-7565-6FD8-516A0713A3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5329C-63F0-2550-6551-B45D2A57D476}"/>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4F6B966-C502-8F59-CAF7-0B12677CBCD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usually keep the intercept in a regression model. Removing the intercept forces the fitted line to pass through zero, which is only appropriate when domain knowledge tells us that the expected outcome must be zero when all predictors are zero. In the radon model, this is not reasonable, because average uranium does not imply zero log radon.</a:t>
            </a:r>
            <a:endParaRPr lang="LID4096" dirty="0"/>
          </a:p>
        </p:txBody>
      </p:sp>
      <p:sp>
        <p:nvSpPr>
          <p:cNvPr id="4" name="Slide Number Placeholder 3">
            <a:extLst>
              <a:ext uri="{FF2B5EF4-FFF2-40B4-BE49-F238E27FC236}">
                <a16:creationId xmlns:a16="http://schemas.microsoft.com/office/drawing/2014/main" id="{82081801-F1DF-20D2-A174-FDA4BA8F6F0C}"/>
              </a:ext>
            </a:extLst>
          </p:cNvPr>
          <p:cNvSpPr>
            <a:spLocks noGrp="1"/>
          </p:cNvSpPr>
          <p:nvPr>
            <p:ph type="sldNum" sz="quarter" idx="5"/>
          </p:nvPr>
        </p:nvSpPr>
        <p:spPr/>
        <p:txBody>
          <a:bodyPr/>
          <a:lstStyle/>
          <a:p>
            <a:fld id="{FA96E01F-8DBD-4634-ACB5-33D503B64F6E}" type="slidenum">
              <a:rPr lang="LID4096" smtClean="0"/>
              <a:t>73</a:t>
            </a:fld>
            <a:endParaRPr lang="LID4096"/>
          </a:p>
        </p:txBody>
      </p:sp>
    </p:spTree>
    <p:extLst>
      <p:ext uri="{BB962C8B-B14F-4D97-AF65-F5344CB8AC3E}">
        <p14:creationId xmlns:p14="http://schemas.microsoft.com/office/powerpoint/2010/main" val="420586248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E6A46-EAF1-E1EB-C016-4CB4D6565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497F6-08F5-7DE8-4D22-2358BE9FCEE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B722245-3838-0BD8-A6CB-9725BCFC2C36}"/>
              </a:ext>
            </a:extLst>
          </p:cNvPr>
          <p:cNvSpPr>
            <a:spLocks noGrp="1"/>
          </p:cNvSpPr>
          <p:nvPr>
            <p:ph type="body" idx="1"/>
          </p:nvPr>
        </p:nvSpPr>
        <p:spPr/>
        <p:txBody>
          <a:bodyPr/>
          <a:lstStyle/>
          <a:p>
            <a:pPr>
              <a:lnSpc>
                <a:spcPct val="150000"/>
              </a:lnSpc>
            </a:pPr>
            <a:r>
              <a:rPr lang="en-GB" dirty="0"/>
              <a:t>Prior predictive</a:t>
            </a:r>
          </a:p>
          <a:p>
            <a:pPr lvl="1">
              <a:lnSpc>
                <a:spcPct val="150000"/>
              </a:lnSpc>
            </a:pPr>
            <a:r>
              <a:rPr lang="en-GB" dirty="0"/>
              <a:t>Reminder: Bambi defined those priors</a:t>
            </a:r>
          </a:p>
          <a:p>
            <a:endParaRPr lang="LID4096" dirty="0"/>
          </a:p>
        </p:txBody>
      </p:sp>
      <p:sp>
        <p:nvSpPr>
          <p:cNvPr id="4" name="Slide Number Placeholder 3">
            <a:extLst>
              <a:ext uri="{FF2B5EF4-FFF2-40B4-BE49-F238E27FC236}">
                <a16:creationId xmlns:a16="http://schemas.microsoft.com/office/drawing/2014/main" id="{03BB9BB0-9D71-CD72-D21E-9D9CEFF16BDB}"/>
              </a:ext>
            </a:extLst>
          </p:cNvPr>
          <p:cNvSpPr>
            <a:spLocks noGrp="1"/>
          </p:cNvSpPr>
          <p:nvPr>
            <p:ph type="sldNum" sz="quarter" idx="5"/>
          </p:nvPr>
        </p:nvSpPr>
        <p:spPr/>
        <p:txBody>
          <a:bodyPr/>
          <a:lstStyle/>
          <a:p>
            <a:fld id="{FA96E01F-8DBD-4634-ACB5-33D503B64F6E}" type="slidenum">
              <a:rPr lang="LID4096" smtClean="0"/>
              <a:t>74</a:t>
            </a:fld>
            <a:endParaRPr lang="LID4096"/>
          </a:p>
        </p:txBody>
      </p:sp>
    </p:spTree>
    <p:extLst>
      <p:ext uri="{BB962C8B-B14F-4D97-AF65-F5344CB8AC3E}">
        <p14:creationId xmlns:p14="http://schemas.microsoft.com/office/powerpoint/2010/main" val="39114340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C5CA5-0F2E-3B62-3EDD-823A64D96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F05C6-6391-7C40-227A-366F3B2C7ABE}"/>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8129D7D0-08AC-F5A9-5037-89F6206F824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B23EED17-543B-EFB2-DF99-CDEA5F6C1C4D}"/>
              </a:ext>
            </a:extLst>
          </p:cNvPr>
          <p:cNvSpPr>
            <a:spLocks noGrp="1"/>
          </p:cNvSpPr>
          <p:nvPr>
            <p:ph type="sldNum" sz="quarter" idx="5"/>
          </p:nvPr>
        </p:nvSpPr>
        <p:spPr/>
        <p:txBody>
          <a:bodyPr/>
          <a:lstStyle/>
          <a:p>
            <a:fld id="{FA96E01F-8DBD-4634-ACB5-33D503B64F6E}" type="slidenum">
              <a:rPr lang="LID4096" smtClean="0"/>
              <a:t>75</a:t>
            </a:fld>
            <a:endParaRPr lang="LID4096"/>
          </a:p>
        </p:txBody>
      </p:sp>
    </p:spTree>
    <p:extLst>
      <p:ext uri="{BB962C8B-B14F-4D97-AF65-F5344CB8AC3E}">
        <p14:creationId xmlns:p14="http://schemas.microsoft.com/office/powerpoint/2010/main" val="230295261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D88ED-6C0C-7749-180A-13763C8B3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32D6B8-4864-AC5F-0808-F814F7943BCD}"/>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D6B5B433-E31E-3E2A-42C9-BC31B3DC41E3}"/>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AEF47D9-0A58-84C9-E1F7-FC4B810BABF9}"/>
              </a:ext>
            </a:extLst>
          </p:cNvPr>
          <p:cNvSpPr>
            <a:spLocks noGrp="1"/>
          </p:cNvSpPr>
          <p:nvPr>
            <p:ph type="sldNum" sz="quarter" idx="5"/>
          </p:nvPr>
        </p:nvSpPr>
        <p:spPr/>
        <p:txBody>
          <a:bodyPr/>
          <a:lstStyle/>
          <a:p>
            <a:fld id="{FA96E01F-8DBD-4634-ACB5-33D503B64F6E}" type="slidenum">
              <a:rPr lang="LID4096" smtClean="0"/>
              <a:t>76</a:t>
            </a:fld>
            <a:endParaRPr lang="LID4096"/>
          </a:p>
        </p:txBody>
      </p:sp>
    </p:spTree>
    <p:extLst>
      <p:ext uri="{BB962C8B-B14F-4D97-AF65-F5344CB8AC3E}">
        <p14:creationId xmlns:p14="http://schemas.microsoft.com/office/powerpoint/2010/main" val="88803010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0A0F6-5C19-681F-E478-9AAE356CC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B8C3F-B33A-2F14-5B18-96A82657FBD9}"/>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5A4057B4-6EE7-214C-6E63-14B31062D82C}"/>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92363F8-4063-64C8-31E6-35608F1976FC}"/>
              </a:ext>
            </a:extLst>
          </p:cNvPr>
          <p:cNvSpPr>
            <a:spLocks noGrp="1"/>
          </p:cNvSpPr>
          <p:nvPr>
            <p:ph type="sldNum" sz="quarter" idx="5"/>
          </p:nvPr>
        </p:nvSpPr>
        <p:spPr/>
        <p:txBody>
          <a:bodyPr/>
          <a:lstStyle/>
          <a:p>
            <a:fld id="{FA96E01F-8DBD-4634-ACB5-33D503B64F6E}" type="slidenum">
              <a:rPr lang="LID4096" smtClean="0"/>
              <a:t>77</a:t>
            </a:fld>
            <a:endParaRPr lang="LID4096"/>
          </a:p>
        </p:txBody>
      </p:sp>
    </p:spTree>
    <p:extLst>
      <p:ext uri="{BB962C8B-B14F-4D97-AF65-F5344CB8AC3E}">
        <p14:creationId xmlns:p14="http://schemas.microsoft.com/office/powerpoint/2010/main" val="17622100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02A83-D39C-F890-05AD-F50DE862D1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9CDC7-CAAA-70B0-2CDF-F3D0E7209B5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9E839D5F-BAE3-37B2-491C-74B8AB7653C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7A6D0CF-56DF-FCB9-43D4-EFA0040678E7}"/>
              </a:ext>
            </a:extLst>
          </p:cNvPr>
          <p:cNvSpPr>
            <a:spLocks noGrp="1"/>
          </p:cNvSpPr>
          <p:nvPr>
            <p:ph type="sldNum" sz="quarter" idx="5"/>
          </p:nvPr>
        </p:nvSpPr>
        <p:spPr/>
        <p:txBody>
          <a:bodyPr/>
          <a:lstStyle/>
          <a:p>
            <a:fld id="{FA96E01F-8DBD-4634-ACB5-33D503B64F6E}" type="slidenum">
              <a:rPr lang="LID4096" smtClean="0"/>
              <a:t>78</a:t>
            </a:fld>
            <a:endParaRPr lang="LID4096"/>
          </a:p>
        </p:txBody>
      </p:sp>
    </p:spTree>
    <p:extLst>
      <p:ext uri="{BB962C8B-B14F-4D97-AF65-F5344CB8AC3E}">
        <p14:creationId xmlns:p14="http://schemas.microsoft.com/office/powerpoint/2010/main" val="28374383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B2FE4-0131-61F3-CACF-A26F4B8FEF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3513E-EF4C-0479-DEA0-9E713BD87290}"/>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D94D5C6D-20AF-0E40-5CE1-5E69687A828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F6D5F1E-22CB-93F0-1D7D-719AFB411FA4}"/>
              </a:ext>
            </a:extLst>
          </p:cNvPr>
          <p:cNvSpPr>
            <a:spLocks noGrp="1"/>
          </p:cNvSpPr>
          <p:nvPr>
            <p:ph type="sldNum" sz="quarter" idx="5"/>
          </p:nvPr>
        </p:nvSpPr>
        <p:spPr/>
        <p:txBody>
          <a:bodyPr/>
          <a:lstStyle/>
          <a:p>
            <a:fld id="{FA96E01F-8DBD-4634-ACB5-33D503B64F6E}" type="slidenum">
              <a:rPr lang="LID4096" smtClean="0"/>
              <a:t>79</a:t>
            </a:fld>
            <a:endParaRPr lang="LID4096"/>
          </a:p>
        </p:txBody>
      </p:sp>
    </p:spTree>
    <p:extLst>
      <p:ext uri="{BB962C8B-B14F-4D97-AF65-F5344CB8AC3E}">
        <p14:creationId xmlns:p14="http://schemas.microsoft.com/office/powerpoint/2010/main" val="33037260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E3332-DC0C-4119-E173-8ECADDA389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C95B9E-A9FC-CCFC-5BC8-71640E20252F}"/>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46A38CCF-2FE9-288F-C1F7-A66217193B22}"/>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CCF13A1-1D27-E382-18B8-87CF0D9C259B}"/>
              </a:ext>
            </a:extLst>
          </p:cNvPr>
          <p:cNvSpPr>
            <a:spLocks noGrp="1"/>
          </p:cNvSpPr>
          <p:nvPr>
            <p:ph type="sldNum" sz="quarter" idx="5"/>
          </p:nvPr>
        </p:nvSpPr>
        <p:spPr/>
        <p:txBody>
          <a:bodyPr/>
          <a:lstStyle/>
          <a:p>
            <a:fld id="{FA96E01F-8DBD-4634-ACB5-33D503B64F6E}" type="slidenum">
              <a:rPr lang="LID4096" smtClean="0"/>
              <a:t>80</a:t>
            </a:fld>
            <a:endParaRPr lang="LID4096"/>
          </a:p>
        </p:txBody>
      </p:sp>
    </p:spTree>
    <p:extLst>
      <p:ext uri="{BB962C8B-B14F-4D97-AF65-F5344CB8AC3E}">
        <p14:creationId xmlns:p14="http://schemas.microsoft.com/office/powerpoint/2010/main" val="145954031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E5B6F-14A0-78E4-485A-AF11242A6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D479C-06FE-36B2-C414-AC6CF468EAE8}"/>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30E45E74-234F-FE3F-E20C-9533F59F7DB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Reminder:</a:t>
            </a:r>
            <a:br>
              <a:rPr lang="en-GB" dirty="0"/>
            </a:br>
            <a:r>
              <a:rPr lang="en-GB" dirty="0"/>
              <a:t>Bambi defined those priors</a:t>
            </a:r>
          </a:p>
          <a:p>
            <a:endParaRPr lang="LID4096" dirty="0"/>
          </a:p>
        </p:txBody>
      </p:sp>
      <p:sp>
        <p:nvSpPr>
          <p:cNvPr id="4" name="Slide Number Placeholder 3">
            <a:extLst>
              <a:ext uri="{FF2B5EF4-FFF2-40B4-BE49-F238E27FC236}">
                <a16:creationId xmlns:a16="http://schemas.microsoft.com/office/drawing/2014/main" id="{D7A9A875-6F40-D95C-570C-84C1CAEA1504}"/>
              </a:ext>
            </a:extLst>
          </p:cNvPr>
          <p:cNvSpPr>
            <a:spLocks noGrp="1"/>
          </p:cNvSpPr>
          <p:nvPr>
            <p:ph type="sldNum" sz="quarter" idx="5"/>
          </p:nvPr>
        </p:nvSpPr>
        <p:spPr/>
        <p:txBody>
          <a:bodyPr/>
          <a:lstStyle/>
          <a:p>
            <a:fld id="{FA96E01F-8DBD-4634-ACB5-33D503B64F6E}" type="slidenum">
              <a:rPr lang="LID4096" smtClean="0"/>
              <a:t>81</a:t>
            </a:fld>
            <a:endParaRPr lang="LID4096"/>
          </a:p>
        </p:txBody>
      </p:sp>
    </p:spTree>
    <p:extLst>
      <p:ext uri="{BB962C8B-B14F-4D97-AF65-F5344CB8AC3E}">
        <p14:creationId xmlns:p14="http://schemas.microsoft.com/office/powerpoint/2010/main" val="6937817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F43B7-A2D4-5AED-C46D-DB9E236B8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D8DD98-934C-D165-43BA-E13F397824F4}"/>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B8667821-0001-33BC-DA3C-451EB481481C}"/>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514B3341-E826-0ED8-5EC0-D0FB55237D4D}"/>
              </a:ext>
            </a:extLst>
          </p:cNvPr>
          <p:cNvSpPr>
            <a:spLocks noGrp="1"/>
          </p:cNvSpPr>
          <p:nvPr>
            <p:ph type="sldNum" sz="quarter" idx="5"/>
          </p:nvPr>
        </p:nvSpPr>
        <p:spPr/>
        <p:txBody>
          <a:bodyPr/>
          <a:lstStyle/>
          <a:p>
            <a:fld id="{FA96E01F-8DBD-4634-ACB5-33D503B64F6E}" type="slidenum">
              <a:rPr lang="LID4096" smtClean="0"/>
              <a:t>82</a:t>
            </a:fld>
            <a:endParaRPr lang="LID4096"/>
          </a:p>
        </p:txBody>
      </p:sp>
    </p:spTree>
    <p:extLst>
      <p:ext uri="{BB962C8B-B14F-4D97-AF65-F5344CB8AC3E}">
        <p14:creationId xmlns:p14="http://schemas.microsoft.com/office/powerpoint/2010/main" val="40505673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31B21-55E7-5324-61EF-0BA4B04B3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25041-43A3-5C4F-732F-5B07C49E44C3}"/>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51E150D4-48A0-594C-3D91-8714BB60B784}"/>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BD5F9EB7-EB20-72C5-8CAF-6AB66562A675}"/>
              </a:ext>
            </a:extLst>
          </p:cNvPr>
          <p:cNvSpPr>
            <a:spLocks noGrp="1"/>
          </p:cNvSpPr>
          <p:nvPr>
            <p:ph type="sldNum" sz="quarter" idx="5"/>
          </p:nvPr>
        </p:nvSpPr>
        <p:spPr/>
        <p:txBody>
          <a:bodyPr/>
          <a:lstStyle/>
          <a:p>
            <a:fld id="{FA96E01F-8DBD-4634-ACB5-33D503B64F6E}" type="slidenum">
              <a:rPr lang="LID4096" smtClean="0"/>
              <a:t>83</a:t>
            </a:fld>
            <a:endParaRPr lang="LID4096"/>
          </a:p>
        </p:txBody>
      </p:sp>
    </p:spTree>
    <p:extLst>
      <p:ext uri="{BB962C8B-B14F-4D97-AF65-F5344CB8AC3E}">
        <p14:creationId xmlns:p14="http://schemas.microsoft.com/office/powerpoint/2010/main" val="314975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43DA6-D033-91C5-794A-8E8C278518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D3594-F6A7-B37B-B6A5-85DF1E58103B}"/>
              </a:ext>
            </a:extLst>
          </p:cNvPr>
          <p:cNvSpPr>
            <a:spLocks noGrp="1" noRot="1" noChangeAspect="1"/>
          </p:cNvSpPr>
          <p:nvPr>
            <p:ph type="sldImg"/>
          </p:nvPr>
        </p:nvSpPr>
        <p:spPr/>
        <p:txBody>
          <a:bodyPr/>
          <a:lstStyle/>
          <a:p>
            <a:endParaRPr lang="he-IL"/>
          </a:p>
        </p:txBody>
      </p:sp>
      <p:sp>
        <p:nvSpPr>
          <p:cNvPr id="3" name="Notes Placeholder 2">
            <a:extLst>
              <a:ext uri="{FF2B5EF4-FFF2-40B4-BE49-F238E27FC236}">
                <a16:creationId xmlns:a16="http://schemas.microsoft.com/office/drawing/2014/main" id="{EAE4CFD5-B9DE-652D-EE2B-D41343234F5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3F0C724-004E-5D16-E38D-CE433D6FC743}"/>
              </a:ext>
            </a:extLst>
          </p:cNvPr>
          <p:cNvSpPr>
            <a:spLocks noGrp="1"/>
          </p:cNvSpPr>
          <p:nvPr>
            <p:ph type="sldNum" sz="quarter" idx="5"/>
          </p:nvPr>
        </p:nvSpPr>
        <p:spPr/>
        <p:txBody>
          <a:bodyPr/>
          <a:lstStyle/>
          <a:p>
            <a:fld id="{FA96E01F-8DBD-4634-ACB5-33D503B64F6E}" type="slidenum">
              <a:rPr lang="LID4096" smtClean="0"/>
              <a:t>84</a:t>
            </a:fld>
            <a:endParaRPr lang="LID4096"/>
          </a:p>
        </p:txBody>
      </p:sp>
    </p:spTree>
    <p:extLst>
      <p:ext uri="{BB962C8B-B14F-4D97-AF65-F5344CB8AC3E}">
        <p14:creationId xmlns:p14="http://schemas.microsoft.com/office/powerpoint/2010/main" val="379568678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5853D6E6-3E79-4F23-BDAE-DFB603395E52}" type="slidenum">
              <a:rPr lang="he-IL" smtClean="0"/>
              <a:pPr/>
              <a:t>87</a:t>
            </a:fld>
            <a:endParaRPr lang="he-IL" dirty="0"/>
          </a:p>
        </p:txBody>
      </p:sp>
    </p:spTree>
    <p:extLst>
      <p:ext uri="{BB962C8B-B14F-4D97-AF65-F5344CB8AC3E}">
        <p14:creationId xmlns:p14="http://schemas.microsoft.com/office/powerpoint/2010/main" val="18807503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5853D6E6-3E79-4F23-BDAE-DFB603395E52}" type="slidenum">
              <a:rPr lang="he-IL" smtClean="0"/>
              <a:pPr/>
              <a:t>89</a:t>
            </a:fld>
            <a:endParaRPr lang="he-IL" dirty="0"/>
          </a:p>
        </p:txBody>
      </p:sp>
    </p:spTree>
    <p:extLst>
      <p:ext uri="{BB962C8B-B14F-4D97-AF65-F5344CB8AC3E}">
        <p14:creationId xmlns:p14="http://schemas.microsoft.com/office/powerpoint/2010/main" val="5155527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2CE0E-43E9-9E61-4AF5-EF7FC6B29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F1EE32-92B4-3A14-8E42-DE657B227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35E916-211D-2FAA-7A97-0AFA5E7DB486}"/>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A785D68C-E1C1-6CA4-B929-76931B7FE007}"/>
              </a:ext>
            </a:extLst>
          </p:cNvPr>
          <p:cNvSpPr>
            <a:spLocks noGrp="1"/>
          </p:cNvSpPr>
          <p:nvPr>
            <p:ph type="sldNum" sz="quarter" idx="5"/>
          </p:nvPr>
        </p:nvSpPr>
        <p:spPr/>
        <p:txBody>
          <a:bodyPr/>
          <a:lstStyle/>
          <a:p>
            <a:fld id="{5853D6E6-3E79-4F23-BDAE-DFB603395E52}" type="slidenum">
              <a:rPr lang="he-IL" smtClean="0"/>
              <a:pPr/>
              <a:t>90</a:t>
            </a:fld>
            <a:endParaRPr lang="he-IL" dirty="0"/>
          </a:p>
        </p:txBody>
      </p:sp>
    </p:spTree>
    <p:extLst>
      <p:ext uri="{BB962C8B-B14F-4D97-AF65-F5344CB8AC3E}">
        <p14:creationId xmlns:p14="http://schemas.microsoft.com/office/powerpoint/2010/main" val="58721593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EB552-C70A-EBD5-77C5-C5677B52F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D19B2-F548-91D2-863B-AB69164A71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4FFD8-0ADC-D57C-7D14-2191DB63515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a:t>
            </a:r>
            <a:r>
              <a:rPr lang="en-US" dirty="0" err="1"/>
              <a:t>distinction:OLS</a:t>
            </a:r>
            <a:r>
              <a:rPr lang="en-US" dirty="0"/>
              <a:t> gives estimates and tests. It does not give posterior distributions.</a:t>
            </a:r>
          </a:p>
          <a:p>
            <a:endParaRPr lang="he-IL" dirty="0"/>
          </a:p>
        </p:txBody>
      </p:sp>
      <p:sp>
        <p:nvSpPr>
          <p:cNvPr id="4" name="Slide Number Placeholder 3">
            <a:extLst>
              <a:ext uri="{FF2B5EF4-FFF2-40B4-BE49-F238E27FC236}">
                <a16:creationId xmlns:a16="http://schemas.microsoft.com/office/drawing/2014/main" id="{82A41DCC-E0CB-C8BC-20D4-6B287A59AE18}"/>
              </a:ext>
            </a:extLst>
          </p:cNvPr>
          <p:cNvSpPr>
            <a:spLocks noGrp="1"/>
          </p:cNvSpPr>
          <p:nvPr>
            <p:ph type="sldNum" sz="quarter" idx="5"/>
          </p:nvPr>
        </p:nvSpPr>
        <p:spPr/>
        <p:txBody>
          <a:bodyPr/>
          <a:lstStyle/>
          <a:p>
            <a:fld id="{5853D6E6-3E79-4F23-BDAE-DFB603395E52}" type="slidenum">
              <a:rPr lang="he-IL" smtClean="0"/>
              <a:pPr/>
              <a:t>91</a:t>
            </a:fld>
            <a:endParaRPr lang="he-IL" dirty="0"/>
          </a:p>
        </p:txBody>
      </p:sp>
    </p:spTree>
    <p:extLst>
      <p:ext uri="{BB962C8B-B14F-4D97-AF65-F5344CB8AC3E}">
        <p14:creationId xmlns:p14="http://schemas.microsoft.com/office/powerpoint/2010/main" val="51056101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2C80-62D3-BA51-CF87-A06B237EC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EA1DB-ABB7-1097-BE47-5B67561AE1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3D4343-48D9-7184-77C5-54B9482AFB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Key </a:t>
            </a:r>
            <a:r>
              <a:rPr lang="en-US" dirty="0" err="1"/>
              <a:t>distinction:OLS</a:t>
            </a:r>
            <a:r>
              <a:rPr lang="en-US" dirty="0"/>
              <a:t> gives estimates and tests. It does not give posterior distributions.</a:t>
            </a:r>
          </a:p>
          <a:p>
            <a:endParaRPr lang="he-IL" dirty="0"/>
          </a:p>
        </p:txBody>
      </p:sp>
      <p:sp>
        <p:nvSpPr>
          <p:cNvPr id="4" name="Slide Number Placeholder 3">
            <a:extLst>
              <a:ext uri="{FF2B5EF4-FFF2-40B4-BE49-F238E27FC236}">
                <a16:creationId xmlns:a16="http://schemas.microsoft.com/office/drawing/2014/main" id="{A28B4338-D6E7-0FC2-A1CE-B00976F576BB}"/>
              </a:ext>
            </a:extLst>
          </p:cNvPr>
          <p:cNvSpPr>
            <a:spLocks noGrp="1"/>
          </p:cNvSpPr>
          <p:nvPr>
            <p:ph type="sldNum" sz="quarter" idx="5"/>
          </p:nvPr>
        </p:nvSpPr>
        <p:spPr/>
        <p:txBody>
          <a:bodyPr/>
          <a:lstStyle/>
          <a:p>
            <a:fld id="{5853D6E6-3E79-4F23-BDAE-DFB603395E52}" type="slidenum">
              <a:rPr lang="he-IL" smtClean="0"/>
              <a:pPr/>
              <a:t>92</a:t>
            </a:fld>
            <a:endParaRPr lang="he-IL" dirty="0"/>
          </a:p>
        </p:txBody>
      </p:sp>
    </p:spTree>
    <p:extLst>
      <p:ext uri="{BB962C8B-B14F-4D97-AF65-F5344CB8AC3E}">
        <p14:creationId xmlns:p14="http://schemas.microsoft.com/office/powerpoint/2010/main" val="294127558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26CC0-DAD5-5C8C-4E09-3810DA5FA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C9351-BFC0-1A94-D34C-CCB7E6C564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C27EC6-3CB0-2BD8-B8F6-1132EB6F2370}"/>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4A114780-747D-50AD-2800-72C567E37D25}"/>
              </a:ext>
            </a:extLst>
          </p:cNvPr>
          <p:cNvSpPr>
            <a:spLocks noGrp="1"/>
          </p:cNvSpPr>
          <p:nvPr>
            <p:ph type="sldNum" sz="quarter" idx="5"/>
          </p:nvPr>
        </p:nvSpPr>
        <p:spPr/>
        <p:txBody>
          <a:bodyPr/>
          <a:lstStyle/>
          <a:p>
            <a:fld id="{5853D6E6-3E79-4F23-BDAE-DFB603395E52}" type="slidenum">
              <a:rPr lang="he-IL" smtClean="0"/>
              <a:pPr/>
              <a:t>93</a:t>
            </a:fld>
            <a:endParaRPr lang="he-IL" dirty="0"/>
          </a:p>
        </p:txBody>
      </p:sp>
    </p:spTree>
    <p:extLst>
      <p:ext uri="{BB962C8B-B14F-4D97-AF65-F5344CB8AC3E}">
        <p14:creationId xmlns:p14="http://schemas.microsoft.com/office/powerpoint/2010/main" val="290260087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BD629-E5BF-8EE8-2BCB-BCFAE1889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CF3B49-2B38-87F6-361C-33BD0AB65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4EC999-BCCB-0DAA-063E-58494E0EA2F7}"/>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827A330D-EDB1-FBDD-023A-87D4BE412AFE}"/>
              </a:ext>
            </a:extLst>
          </p:cNvPr>
          <p:cNvSpPr>
            <a:spLocks noGrp="1"/>
          </p:cNvSpPr>
          <p:nvPr>
            <p:ph type="sldNum" sz="quarter" idx="5"/>
          </p:nvPr>
        </p:nvSpPr>
        <p:spPr/>
        <p:txBody>
          <a:bodyPr/>
          <a:lstStyle/>
          <a:p>
            <a:fld id="{5853D6E6-3E79-4F23-BDAE-DFB603395E52}" type="slidenum">
              <a:rPr lang="he-IL" smtClean="0"/>
              <a:pPr/>
              <a:t>94</a:t>
            </a:fld>
            <a:endParaRPr lang="he-IL" dirty="0"/>
          </a:p>
        </p:txBody>
      </p:sp>
    </p:spTree>
    <p:extLst>
      <p:ext uri="{BB962C8B-B14F-4D97-AF65-F5344CB8AC3E}">
        <p14:creationId xmlns:p14="http://schemas.microsoft.com/office/powerpoint/2010/main" val="317758133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C46F-B5B7-2A82-4599-6708A1F454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16BD4-6059-C0F7-667A-80767208B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B73FE-5379-C1E2-B406-F4CF1A9E911A}"/>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1BA4000B-0237-0D2E-0143-2B0D04CBBE1E}"/>
              </a:ext>
            </a:extLst>
          </p:cNvPr>
          <p:cNvSpPr>
            <a:spLocks noGrp="1"/>
          </p:cNvSpPr>
          <p:nvPr>
            <p:ph type="sldNum" sz="quarter" idx="5"/>
          </p:nvPr>
        </p:nvSpPr>
        <p:spPr/>
        <p:txBody>
          <a:bodyPr/>
          <a:lstStyle/>
          <a:p>
            <a:fld id="{5853D6E6-3E79-4F23-BDAE-DFB603395E52}" type="slidenum">
              <a:rPr lang="he-IL" smtClean="0"/>
              <a:pPr/>
              <a:t>95</a:t>
            </a:fld>
            <a:endParaRPr lang="he-IL" dirty="0"/>
          </a:p>
        </p:txBody>
      </p:sp>
    </p:spTree>
    <p:extLst>
      <p:ext uri="{BB962C8B-B14F-4D97-AF65-F5344CB8AC3E}">
        <p14:creationId xmlns:p14="http://schemas.microsoft.com/office/powerpoint/2010/main" val="44175753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590E8-2DC8-3916-7498-D180E63006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1E835E-B737-A43C-DCCB-8A2271192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A50BD-EEBB-07F3-0FAF-0C83D96DFF57}"/>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301D672F-E8B7-0A00-B448-54CB90CEC264}"/>
              </a:ext>
            </a:extLst>
          </p:cNvPr>
          <p:cNvSpPr>
            <a:spLocks noGrp="1"/>
          </p:cNvSpPr>
          <p:nvPr>
            <p:ph type="sldNum" sz="quarter" idx="5"/>
          </p:nvPr>
        </p:nvSpPr>
        <p:spPr/>
        <p:txBody>
          <a:bodyPr/>
          <a:lstStyle/>
          <a:p>
            <a:fld id="{5853D6E6-3E79-4F23-BDAE-DFB603395E52}" type="slidenum">
              <a:rPr lang="he-IL" smtClean="0"/>
              <a:pPr/>
              <a:t>96</a:t>
            </a:fld>
            <a:endParaRPr lang="he-IL" dirty="0"/>
          </a:p>
        </p:txBody>
      </p:sp>
    </p:spTree>
    <p:extLst>
      <p:ext uri="{BB962C8B-B14F-4D97-AF65-F5344CB8AC3E}">
        <p14:creationId xmlns:p14="http://schemas.microsoft.com/office/powerpoint/2010/main" val="37733200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78B19-A56F-D291-3F16-0B96D6824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8C6438-45F2-84AD-2B44-750297F544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90807-2096-E1A7-A781-99C2FB4206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e-IL" b="1" dirty="0"/>
              <a:t>SS = </a:t>
            </a:r>
            <a:r>
              <a:rPr lang="he-IL" b="1" dirty="0" err="1"/>
              <a:t>Sum</a:t>
            </a:r>
            <a:r>
              <a:rPr lang="he-IL" b="1" dirty="0"/>
              <a:t> of </a:t>
            </a:r>
            <a:r>
              <a:rPr lang="he-IL" b="1" dirty="0" err="1"/>
              <a:t>Squares</a:t>
            </a:r>
            <a:br>
              <a:rPr lang="he-IL" dirty="0"/>
            </a:br>
            <a:r>
              <a:rPr lang="he-IL" b="1" dirty="0"/>
              <a:t>MS = </a:t>
            </a:r>
            <a:r>
              <a:rPr lang="he-IL" b="1" dirty="0" err="1"/>
              <a:t>Mean</a:t>
            </a:r>
            <a:r>
              <a:rPr lang="he-IL" b="1" dirty="0"/>
              <a:t> </a:t>
            </a:r>
            <a:r>
              <a:rPr lang="he-IL" b="1" dirty="0" err="1"/>
              <a:t>Square</a:t>
            </a:r>
            <a:endParaRPr lang="he-IL" dirty="0"/>
          </a:p>
        </p:txBody>
      </p:sp>
      <p:sp>
        <p:nvSpPr>
          <p:cNvPr id="4" name="Slide Number Placeholder 3">
            <a:extLst>
              <a:ext uri="{FF2B5EF4-FFF2-40B4-BE49-F238E27FC236}">
                <a16:creationId xmlns:a16="http://schemas.microsoft.com/office/drawing/2014/main" id="{A5254933-9529-151B-ABDF-8C460E29DFAC}"/>
              </a:ext>
            </a:extLst>
          </p:cNvPr>
          <p:cNvSpPr>
            <a:spLocks noGrp="1"/>
          </p:cNvSpPr>
          <p:nvPr>
            <p:ph type="sldNum" sz="quarter" idx="5"/>
          </p:nvPr>
        </p:nvSpPr>
        <p:spPr/>
        <p:txBody>
          <a:bodyPr/>
          <a:lstStyle/>
          <a:p>
            <a:fld id="{5853D6E6-3E79-4F23-BDAE-DFB603395E52}" type="slidenum">
              <a:rPr lang="he-IL" smtClean="0"/>
              <a:pPr/>
              <a:t>97</a:t>
            </a:fld>
            <a:endParaRPr lang="he-IL" dirty="0"/>
          </a:p>
        </p:txBody>
      </p:sp>
    </p:spTree>
    <p:extLst>
      <p:ext uri="{BB962C8B-B14F-4D97-AF65-F5344CB8AC3E}">
        <p14:creationId xmlns:p14="http://schemas.microsoft.com/office/powerpoint/2010/main" val="245796748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9C76A-4787-1C20-E02D-1F20D9DEC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80B3D-99EA-E158-0630-89AA20F74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F8BCC-249D-AF70-D2F5-FF3C27E9E351}"/>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D5A6DEF-A1E8-DC5F-CBB1-CB1FBF53467A}"/>
              </a:ext>
            </a:extLst>
          </p:cNvPr>
          <p:cNvSpPr>
            <a:spLocks noGrp="1"/>
          </p:cNvSpPr>
          <p:nvPr>
            <p:ph type="sldNum" sz="quarter" idx="5"/>
          </p:nvPr>
        </p:nvSpPr>
        <p:spPr/>
        <p:txBody>
          <a:bodyPr/>
          <a:lstStyle/>
          <a:p>
            <a:fld id="{5853D6E6-3E79-4F23-BDAE-DFB603395E52}" type="slidenum">
              <a:rPr lang="he-IL" smtClean="0"/>
              <a:pPr/>
              <a:t>98</a:t>
            </a:fld>
            <a:endParaRPr lang="he-IL" dirty="0"/>
          </a:p>
        </p:txBody>
      </p:sp>
    </p:spTree>
    <p:extLst>
      <p:ext uri="{BB962C8B-B14F-4D97-AF65-F5344CB8AC3E}">
        <p14:creationId xmlns:p14="http://schemas.microsoft.com/office/powerpoint/2010/main" val="337788205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7F444-D78B-627E-0AC9-50F9EB35BD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C36775-263E-67BE-3E83-19FCF5395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6D068-4B93-A8C0-BCC3-7A072ABAA184}"/>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7FA363A-8E1C-EEA3-E716-A63E0E867FC5}"/>
              </a:ext>
            </a:extLst>
          </p:cNvPr>
          <p:cNvSpPr>
            <a:spLocks noGrp="1"/>
          </p:cNvSpPr>
          <p:nvPr>
            <p:ph type="sldNum" sz="quarter" idx="5"/>
          </p:nvPr>
        </p:nvSpPr>
        <p:spPr/>
        <p:txBody>
          <a:bodyPr/>
          <a:lstStyle/>
          <a:p>
            <a:fld id="{5853D6E6-3E79-4F23-BDAE-DFB603395E52}" type="slidenum">
              <a:rPr lang="he-IL" smtClean="0"/>
              <a:pPr/>
              <a:t>100</a:t>
            </a:fld>
            <a:endParaRPr lang="he-IL" dirty="0"/>
          </a:p>
        </p:txBody>
      </p:sp>
    </p:spTree>
    <p:extLst>
      <p:ext uri="{BB962C8B-B14F-4D97-AF65-F5344CB8AC3E}">
        <p14:creationId xmlns:p14="http://schemas.microsoft.com/office/powerpoint/2010/main" val="110915166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AB900-2CFD-75A5-C856-670034DC6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A9BCE-7790-6C3E-8ABE-448944EEFD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D9F8-E1A5-E319-929F-315E4F30A859}"/>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DAC6B08D-1C7D-B9D6-2ADA-9B6F0622F08A}"/>
              </a:ext>
            </a:extLst>
          </p:cNvPr>
          <p:cNvSpPr>
            <a:spLocks noGrp="1"/>
          </p:cNvSpPr>
          <p:nvPr>
            <p:ph type="sldNum" sz="quarter" idx="5"/>
          </p:nvPr>
        </p:nvSpPr>
        <p:spPr/>
        <p:txBody>
          <a:bodyPr/>
          <a:lstStyle/>
          <a:p>
            <a:fld id="{5853D6E6-3E79-4F23-BDAE-DFB603395E52}" type="slidenum">
              <a:rPr lang="he-IL" smtClean="0"/>
              <a:pPr/>
              <a:t>101</a:t>
            </a:fld>
            <a:endParaRPr lang="he-IL" dirty="0"/>
          </a:p>
        </p:txBody>
      </p:sp>
    </p:spTree>
    <p:extLst>
      <p:ext uri="{BB962C8B-B14F-4D97-AF65-F5344CB8AC3E}">
        <p14:creationId xmlns:p14="http://schemas.microsoft.com/office/powerpoint/2010/main" val="20903732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26FFA-D579-67C2-B04A-C54C5A2627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22697-B821-29F3-516B-F2B0126ED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D2F6F-50A0-EC66-5E95-2BDB604522B6}"/>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8B5EF86E-A6D4-4AE4-8E08-647DA276B464}"/>
              </a:ext>
            </a:extLst>
          </p:cNvPr>
          <p:cNvSpPr>
            <a:spLocks noGrp="1"/>
          </p:cNvSpPr>
          <p:nvPr>
            <p:ph type="sldNum" sz="quarter" idx="5"/>
          </p:nvPr>
        </p:nvSpPr>
        <p:spPr/>
        <p:txBody>
          <a:bodyPr/>
          <a:lstStyle/>
          <a:p>
            <a:fld id="{5853D6E6-3E79-4F23-BDAE-DFB603395E52}" type="slidenum">
              <a:rPr lang="he-IL" smtClean="0"/>
              <a:pPr/>
              <a:t>102</a:t>
            </a:fld>
            <a:endParaRPr lang="he-IL" dirty="0"/>
          </a:p>
        </p:txBody>
      </p:sp>
    </p:spTree>
    <p:extLst>
      <p:ext uri="{BB962C8B-B14F-4D97-AF65-F5344CB8AC3E}">
        <p14:creationId xmlns:p14="http://schemas.microsoft.com/office/powerpoint/2010/main" val="2170635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78EA5-3E05-DB39-1E59-E149D7FACE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93520-FCD6-8B8C-62FB-F8A2CF3350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5B97C2-4C2D-24FD-A07A-E220ADB3EAEE}"/>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08AE49CA-1B74-6411-A68F-3940598DF15E}"/>
              </a:ext>
            </a:extLst>
          </p:cNvPr>
          <p:cNvSpPr>
            <a:spLocks noGrp="1"/>
          </p:cNvSpPr>
          <p:nvPr>
            <p:ph type="sldNum" sz="quarter" idx="5"/>
          </p:nvPr>
        </p:nvSpPr>
        <p:spPr/>
        <p:txBody>
          <a:bodyPr/>
          <a:lstStyle/>
          <a:p>
            <a:fld id="{5853D6E6-3E79-4F23-BDAE-DFB603395E52}" type="slidenum">
              <a:rPr lang="he-IL" smtClean="0"/>
              <a:pPr/>
              <a:t>103</a:t>
            </a:fld>
            <a:endParaRPr lang="he-IL" dirty="0"/>
          </a:p>
        </p:txBody>
      </p:sp>
    </p:spTree>
    <p:extLst>
      <p:ext uri="{BB962C8B-B14F-4D97-AF65-F5344CB8AC3E}">
        <p14:creationId xmlns:p14="http://schemas.microsoft.com/office/powerpoint/2010/main" val="369459460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3A8E-0B9E-7FEE-8FD1-B33C87EF4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D67EA-1F41-F333-9C27-0C6BBD1A6C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BE1DF-899D-2736-5BE3-B0E6E5724018}"/>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1D659EF1-0AC8-B842-608C-B46383838A1F}"/>
              </a:ext>
            </a:extLst>
          </p:cNvPr>
          <p:cNvSpPr>
            <a:spLocks noGrp="1"/>
          </p:cNvSpPr>
          <p:nvPr>
            <p:ph type="sldNum" sz="quarter" idx="5"/>
          </p:nvPr>
        </p:nvSpPr>
        <p:spPr/>
        <p:txBody>
          <a:bodyPr/>
          <a:lstStyle/>
          <a:p>
            <a:fld id="{5853D6E6-3E79-4F23-BDAE-DFB603395E52}" type="slidenum">
              <a:rPr lang="he-IL" smtClean="0"/>
              <a:pPr/>
              <a:t>104</a:t>
            </a:fld>
            <a:endParaRPr lang="he-IL" dirty="0"/>
          </a:p>
        </p:txBody>
      </p:sp>
    </p:spTree>
    <p:extLst>
      <p:ext uri="{BB962C8B-B14F-4D97-AF65-F5344CB8AC3E}">
        <p14:creationId xmlns:p14="http://schemas.microsoft.com/office/powerpoint/2010/main" val="798379050"/>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23A15-F11A-0BEF-69DA-9B02F9C920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86F07-4472-619D-8C41-762E69C11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A77B5-3593-59CA-A3E8-EE71C10AD134}"/>
              </a:ext>
            </a:extLst>
          </p:cNvPr>
          <p:cNvSpPr>
            <a:spLocks noGrp="1"/>
          </p:cNvSpPr>
          <p:nvPr>
            <p:ph type="body" idx="1"/>
          </p:nvPr>
        </p:nvSpPr>
        <p:spPr/>
        <p:txBody>
          <a:bodyPr/>
          <a:lstStyle/>
          <a:p>
            <a:endParaRPr lang="he-IL" dirty="0"/>
          </a:p>
        </p:txBody>
      </p:sp>
      <p:sp>
        <p:nvSpPr>
          <p:cNvPr id="4" name="Slide Number Placeholder 3">
            <a:extLst>
              <a:ext uri="{FF2B5EF4-FFF2-40B4-BE49-F238E27FC236}">
                <a16:creationId xmlns:a16="http://schemas.microsoft.com/office/drawing/2014/main" id="{9120F9D3-9745-B960-4860-AC38C6592214}"/>
              </a:ext>
            </a:extLst>
          </p:cNvPr>
          <p:cNvSpPr>
            <a:spLocks noGrp="1"/>
          </p:cNvSpPr>
          <p:nvPr>
            <p:ph type="sldNum" sz="quarter" idx="5"/>
          </p:nvPr>
        </p:nvSpPr>
        <p:spPr/>
        <p:txBody>
          <a:bodyPr/>
          <a:lstStyle/>
          <a:p>
            <a:fld id="{5853D6E6-3E79-4F23-BDAE-DFB603395E52}" type="slidenum">
              <a:rPr lang="he-IL" smtClean="0"/>
              <a:pPr/>
              <a:t>105</a:t>
            </a:fld>
            <a:endParaRPr lang="he-IL" dirty="0"/>
          </a:p>
        </p:txBody>
      </p:sp>
    </p:spTree>
    <p:extLst>
      <p:ext uri="{BB962C8B-B14F-4D97-AF65-F5344CB8AC3E}">
        <p14:creationId xmlns:p14="http://schemas.microsoft.com/office/powerpoint/2010/main" val="3702347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E9AA4-8DED-FA37-108C-05C30AC42D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63595E7E-B7A3-E618-7047-8984D92ED4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C0133D4D-9D0A-0BCF-BC14-F3D01EC9FF04}"/>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5" name="Footer Placeholder 4">
            <a:extLst>
              <a:ext uri="{FF2B5EF4-FFF2-40B4-BE49-F238E27FC236}">
                <a16:creationId xmlns:a16="http://schemas.microsoft.com/office/drawing/2014/main" id="{C223051C-88EC-78DE-E3D7-1465155B3BC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E84AF09-D0C8-6040-080B-53EE023E3AA8}"/>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3923465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35C8-10F8-E1BD-ABB5-2892F9E1537B}"/>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8E5178A6-E92A-54EC-B300-980C7882E2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81F5DEC7-022D-0AE1-5DB9-1D1E6C3556C2}"/>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5" name="Footer Placeholder 4">
            <a:extLst>
              <a:ext uri="{FF2B5EF4-FFF2-40B4-BE49-F238E27FC236}">
                <a16:creationId xmlns:a16="http://schemas.microsoft.com/office/drawing/2014/main" id="{5D4B1242-48C2-7A68-AAE8-A431FB3BA36D}"/>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904E1EA-7809-89E9-F7B2-CFC22E050A4A}"/>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3340034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6D650-A3EC-CFCF-0DC0-8E0EE8504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7A2FB912-A7B5-A7CC-8E0D-74401B9691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5D0239-EF62-E557-A6F8-DA2B1BBDB432}"/>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5" name="Footer Placeholder 4">
            <a:extLst>
              <a:ext uri="{FF2B5EF4-FFF2-40B4-BE49-F238E27FC236}">
                <a16:creationId xmlns:a16="http://schemas.microsoft.com/office/drawing/2014/main" id="{69AB9DFE-81D8-1883-9297-036752CB664B}"/>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0FAB3C1-D618-CB4D-17A7-F96C129C62E4}"/>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184030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64D5D-342A-DF7B-18FF-CFD8390C28FA}"/>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B3FC98C6-157A-10BB-61E5-C8CE6035E4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A53D0E71-63A5-A2D3-DAD2-96918C545D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3750E066-BC6E-6DB7-A944-57F4771FC275}"/>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6" name="Footer Placeholder 5">
            <a:extLst>
              <a:ext uri="{FF2B5EF4-FFF2-40B4-BE49-F238E27FC236}">
                <a16:creationId xmlns:a16="http://schemas.microsoft.com/office/drawing/2014/main" id="{CAF2896E-CB31-A9F3-1727-5346E87FA6D2}"/>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5B8A54E8-1398-5A1E-D351-EF5BBFAE4CF9}"/>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1773864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38CFF-48F3-5885-AF53-0B6223972E5F}"/>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BCBC7F8-5F33-DF4F-3CB9-917BECF766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F51B73-5BD7-C736-5B13-19EA3822B2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87A63F2A-2E48-6304-C275-6C7D6E6CBC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A4004C-B15E-84E0-EB97-EA224AA6C5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380FEEED-789A-D36C-EA29-EFF57BFE1E67}"/>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8" name="Footer Placeholder 7">
            <a:extLst>
              <a:ext uri="{FF2B5EF4-FFF2-40B4-BE49-F238E27FC236}">
                <a16:creationId xmlns:a16="http://schemas.microsoft.com/office/drawing/2014/main" id="{F20233F7-7DE0-1DA7-4A4A-79CE823EFB98}"/>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49E7A7A8-3F74-6F5D-201B-5EC95B2F220F}"/>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2342057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0AA1-7BAC-E9BE-D762-1F9D66BD7895}"/>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4BC517DC-0FA1-03DC-3919-B6B4CD04306B}"/>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4" name="Footer Placeholder 3">
            <a:extLst>
              <a:ext uri="{FF2B5EF4-FFF2-40B4-BE49-F238E27FC236}">
                <a16:creationId xmlns:a16="http://schemas.microsoft.com/office/drawing/2014/main" id="{CECD65D6-5898-0EF9-5F61-960695819226}"/>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3363442C-4AC1-AA35-D2D4-B68D2EB93746}"/>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3526679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C8D132-BD60-DC16-4510-81EF1C32B462}"/>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3" name="Footer Placeholder 2">
            <a:extLst>
              <a:ext uri="{FF2B5EF4-FFF2-40B4-BE49-F238E27FC236}">
                <a16:creationId xmlns:a16="http://schemas.microsoft.com/office/drawing/2014/main" id="{858CD639-320A-A5D4-9DA0-1E3D32624A32}"/>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42D4C2AA-4825-76B5-553A-5979068E6A8C}"/>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696223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A46CC-E85E-26A8-74D8-E6CB9FB6D2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5C1D869A-8D29-D9DF-740F-6846F84DA9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9E643755-0DC0-3249-81C7-190C373CA2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AB5DDE-8BF1-C07B-C54C-C615A7CEA556}"/>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6" name="Footer Placeholder 5">
            <a:extLst>
              <a:ext uri="{FF2B5EF4-FFF2-40B4-BE49-F238E27FC236}">
                <a16:creationId xmlns:a16="http://schemas.microsoft.com/office/drawing/2014/main" id="{6DA2EAC3-FBC3-0FB8-8AE0-9F15A51CA97E}"/>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BF9AEAB7-190C-A4C4-A12F-16A3698F2A55}"/>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201685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B239F-E396-BD31-CFB3-66A19CFD803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C53AC218-3683-E37C-6329-3427E16512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08D4E6BF-7F4E-B50B-F270-DE81A6A08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A908A-17A7-0E1A-44BB-A25AD20646D0}"/>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6" name="Footer Placeholder 5">
            <a:extLst>
              <a:ext uri="{FF2B5EF4-FFF2-40B4-BE49-F238E27FC236}">
                <a16:creationId xmlns:a16="http://schemas.microsoft.com/office/drawing/2014/main" id="{D3E5B6AA-30E7-6680-C52B-A09D5B493ABA}"/>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498CBC2F-0FC0-F2D1-9E28-DCA9C990BE5B}"/>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2193966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4AD6C-4019-F4AB-3B90-A05D767ECE3D}"/>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F82CCE49-CF7E-E1E4-25EB-1410DE9853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9EF4B9B3-0ABB-BB7A-C2FB-FE09F02468FC}"/>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5" name="Footer Placeholder 4">
            <a:extLst>
              <a:ext uri="{FF2B5EF4-FFF2-40B4-BE49-F238E27FC236}">
                <a16:creationId xmlns:a16="http://schemas.microsoft.com/office/drawing/2014/main" id="{363ECFBA-4F7F-B458-466A-CC3FADAD43BE}"/>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6E4405BD-9154-A270-54ED-4E8DA4F3C8FC}"/>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4150213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9A98C0-B0C2-2D8A-DE60-41BB8CE06E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B93728E9-C32E-A846-C471-DF6C146E431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5DFE2388-45A9-B604-6566-BCFBCB32762C}"/>
              </a:ext>
            </a:extLst>
          </p:cNvPr>
          <p:cNvSpPr>
            <a:spLocks noGrp="1"/>
          </p:cNvSpPr>
          <p:nvPr>
            <p:ph type="dt" sz="half" idx="10"/>
          </p:nvPr>
        </p:nvSpPr>
        <p:spPr/>
        <p:txBody>
          <a:bodyPr/>
          <a:lstStyle/>
          <a:p>
            <a:fld id="{8D77C2CB-5D2B-4120-9F79-A939E1B95DA8}" type="datetimeFigureOut">
              <a:rPr lang="he-IL" smtClean="0"/>
              <a:t>כ"ד/סיון/תשפ"ו</a:t>
            </a:fld>
            <a:endParaRPr lang="he-IL"/>
          </a:p>
        </p:txBody>
      </p:sp>
      <p:sp>
        <p:nvSpPr>
          <p:cNvPr id="5" name="Footer Placeholder 4">
            <a:extLst>
              <a:ext uri="{FF2B5EF4-FFF2-40B4-BE49-F238E27FC236}">
                <a16:creationId xmlns:a16="http://schemas.microsoft.com/office/drawing/2014/main" id="{DE3F4E03-8FA2-6F6E-723B-A403886DF16E}"/>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028FE49-5E32-DF54-5A38-EB6484643B93}"/>
              </a:ext>
            </a:extLst>
          </p:cNvPr>
          <p:cNvSpPr>
            <a:spLocks noGrp="1"/>
          </p:cNvSpPr>
          <p:nvPr>
            <p:ph type="sldNum" sz="quarter" idx="12"/>
          </p:nvPr>
        </p:nvSpPr>
        <p:spPr/>
        <p:txBody>
          <a:bodyPr/>
          <a:lstStyle/>
          <a:p>
            <a:fld id="{B0C5DE7A-792B-413A-8DF6-2F007F025494}" type="slidenum">
              <a:rPr lang="he-IL" smtClean="0"/>
              <a:t>‹#›</a:t>
            </a:fld>
            <a:endParaRPr lang="he-IL"/>
          </a:p>
        </p:txBody>
      </p:sp>
    </p:spTree>
    <p:extLst>
      <p:ext uri="{BB962C8B-B14F-4D97-AF65-F5344CB8AC3E}">
        <p14:creationId xmlns:p14="http://schemas.microsoft.com/office/powerpoint/2010/main" val="2647195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11B0CA-3D6A-F019-B06E-96FFB71226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he-IL" dirty="0"/>
          </a:p>
        </p:txBody>
      </p:sp>
      <p:sp>
        <p:nvSpPr>
          <p:cNvPr id="3" name="Text Placeholder 2">
            <a:extLst>
              <a:ext uri="{FF2B5EF4-FFF2-40B4-BE49-F238E27FC236}">
                <a16:creationId xmlns:a16="http://schemas.microsoft.com/office/drawing/2014/main" id="{49DDD7B4-E7F1-DAEF-E6DD-C119448FD0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
        <p:nvSpPr>
          <p:cNvPr id="4" name="Date Placeholder 3">
            <a:extLst>
              <a:ext uri="{FF2B5EF4-FFF2-40B4-BE49-F238E27FC236}">
                <a16:creationId xmlns:a16="http://schemas.microsoft.com/office/drawing/2014/main" id="{5EF9565E-03FA-AD0B-EAB4-727F9C1716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David" panose="020E0502060401010101" pitchFamily="34" charset="-79"/>
              </a:defRPr>
            </a:lvl1pPr>
          </a:lstStyle>
          <a:p>
            <a:fld id="{8D77C2CB-5D2B-4120-9F79-A939E1B95DA8}" type="datetimeFigureOut">
              <a:rPr lang="he-IL" smtClean="0"/>
              <a:pPr/>
              <a:t>כ"ד/סיון/תשפ"ו</a:t>
            </a:fld>
            <a:endParaRPr lang="he-IL" dirty="0"/>
          </a:p>
        </p:txBody>
      </p:sp>
      <p:sp>
        <p:nvSpPr>
          <p:cNvPr id="5" name="Footer Placeholder 4">
            <a:extLst>
              <a:ext uri="{FF2B5EF4-FFF2-40B4-BE49-F238E27FC236}">
                <a16:creationId xmlns:a16="http://schemas.microsoft.com/office/drawing/2014/main" id="{FE3D34BA-193F-4537-437A-4F5F208FB6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David" panose="020E0502060401010101" pitchFamily="34" charset="-79"/>
              </a:defRPr>
            </a:lvl1pPr>
          </a:lstStyle>
          <a:p>
            <a:endParaRPr lang="he-IL" dirty="0"/>
          </a:p>
        </p:txBody>
      </p:sp>
      <p:sp>
        <p:nvSpPr>
          <p:cNvPr id="6" name="Slide Number Placeholder 5">
            <a:extLst>
              <a:ext uri="{FF2B5EF4-FFF2-40B4-BE49-F238E27FC236}">
                <a16:creationId xmlns:a16="http://schemas.microsoft.com/office/drawing/2014/main" id="{D9FDEB0D-54E1-5185-0939-57F44857BE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David" panose="020E0502060401010101" pitchFamily="34" charset="-79"/>
              </a:defRPr>
            </a:lvl1pPr>
          </a:lstStyle>
          <a:p>
            <a:fld id="{B0C5DE7A-792B-413A-8DF6-2F007F025494}" type="slidenum">
              <a:rPr lang="he-IL" smtClean="0"/>
              <a:pPr/>
              <a:t>‹#›</a:t>
            </a:fld>
            <a:endParaRPr lang="he-IL" dirty="0"/>
          </a:p>
        </p:txBody>
      </p:sp>
    </p:spTree>
    <p:extLst>
      <p:ext uri="{BB962C8B-B14F-4D97-AF65-F5344CB8AC3E}">
        <p14:creationId xmlns:p14="http://schemas.microsoft.com/office/powerpoint/2010/main" val="39210828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10.png"/><Relationship Id="rId4" Type="http://schemas.openxmlformats.org/officeDocument/2006/relationships/image" Target="../media/image510.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70.png"/></Relationships>
</file>

<file path=ppt/slides/_rels/slide63.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90.png"/></Relationships>
</file>

<file path=ppt/slides/_rels/slide64.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6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hyperlink" Target="https://bambinos.github.io/bambi/"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19.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7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65.png"/></Relationships>
</file>

<file path=ppt/slides/_rels/slide7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7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7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8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8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0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5.png"/><Relationship Id="rId4" Type="http://schemas.openxmlformats.org/officeDocument/2006/relationships/image" Target="../media/image92.png"/></Relationships>
</file>

<file path=ppt/slides/_rels/slide9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2.png"/></Relationships>
</file>

<file path=ppt/slides/_rels/slide9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9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0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0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10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0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0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10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39AA4-DC6F-AC25-85E9-23B70AA841D1}"/>
              </a:ext>
            </a:extLst>
          </p:cNvPr>
          <p:cNvSpPr>
            <a:spLocks noGrp="1"/>
          </p:cNvSpPr>
          <p:nvPr>
            <p:ph type="ctrTitle"/>
          </p:nvPr>
        </p:nvSpPr>
        <p:spPr>
          <a:xfrm>
            <a:off x="1524000" y="1415332"/>
            <a:ext cx="9144000" cy="1267695"/>
          </a:xfrm>
        </p:spPr>
        <p:txBody>
          <a:bodyPr/>
          <a:lstStyle/>
          <a:p>
            <a:r>
              <a:rPr lang="en-US" dirty="0"/>
              <a:t>Tutorial </a:t>
            </a:r>
            <a:r>
              <a:rPr lang="he-IL" dirty="0"/>
              <a:t>7</a:t>
            </a:r>
            <a:endParaRPr lang="LID4096" dirty="0"/>
          </a:p>
        </p:txBody>
      </p:sp>
      <p:sp>
        <p:nvSpPr>
          <p:cNvPr id="3" name="Subtitle 2">
            <a:extLst>
              <a:ext uri="{FF2B5EF4-FFF2-40B4-BE49-F238E27FC236}">
                <a16:creationId xmlns:a16="http://schemas.microsoft.com/office/drawing/2014/main" id="{06ABFF89-9CAA-78A3-9827-25C0441AF86F}"/>
              </a:ext>
            </a:extLst>
          </p:cNvPr>
          <p:cNvSpPr>
            <a:spLocks noGrp="1"/>
          </p:cNvSpPr>
          <p:nvPr>
            <p:ph type="subTitle" idx="1"/>
          </p:nvPr>
        </p:nvSpPr>
        <p:spPr/>
        <p:txBody>
          <a:bodyPr/>
          <a:lstStyle/>
          <a:p>
            <a:r>
              <a:rPr lang="en-US" dirty="0"/>
              <a:t>Statistical Computation and Analysis</a:t>
            </a:r>
          </a:p>
          <a:p>
            <a:r>
              <a:rPr lang="en-US" dirty="0"/>
              <a:t>Spring 2026</a:t>
            </a:r>
            <a:endParaRPr lang="LID4096" dirty="0"/>
          </a:p>
        </p:txBody>
      </p:sp>
      <p:sp>
        <p:nvSpPr>
          <p:cNvPr id="4" name="מציין מיקום של מספר שקופית 3">
            <a:extLst>
              <a:ext uri="{FF2B5EF4-FFF2-40B4-BE49-F238E27FC236}">
                <a16:creationId xmlns:a16="http://schemas.microsoft.com/office/drawing/2014/main" id="{5A626382-5653-EECD-4173-5FECADC55935}"/>
              </a:ext>
            </a:extLst>
          </p:cNvPr>
          <p:cNvSpPr>
            <a:spLocks noGrp="1"/>
          </p:cNvSpPr>
          <p:nvPr>
            <p:ph type="sldNum" sz="quarter" idx="12"/>
          </p:nvPr>
        </p:nvSpPr>
        <p:spPr/>
        <p:txBody>
          <a:bodyPr/>
          <a:lstStyle/>
          <a:p>
            <a:fld id="{B6796F57-8306-40D4-9229-37A3D19F0B5F}" type="slidenum">
              <a:rPr lang="LID4096" smtClean="0"/>
              <a:t>1</a:t>
            </a:fld>
            <a:endParaRPr lang="LID4096" dirty="0"/>
          </a:p>
        </p:txBody>
      </p:sp>
    </p:spTree>
    <p:extLst>
      <p:ext uri="{BB962C8B-B14F-4D97-AF65-F5344CB8AC3E}">
        <p14:creationId xmlns:p14="http://schemas.microsoft.com/office/powerpoint/2010/main" val="163377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61A04-C626-C5E4-A3C2-591358CD94C4}"/>
              </a:ext>
            </a:extLst>
          </p:cNvPr>
          <p:cNvSpPr>
            <a:spLocks noGrp="1"/>
          </p:cNvSpPr>
          <p:nvPr>
            <p:ph type="title"/>
          </p:nvPr>
        </p:nvSpPr>
        <p:spPr>
          <a:xfrm>
            <a:off x="838200" y="20997"/>
            <a:ext cx="10515600" cy="1325563"/>
          </a:xfrm>
        </p:spPr>
        <p:txBody>
          <a:bodyPr/>
          <a:lstStyle/>
          <a:p>
            <a:pPr algn="l" rtl="0"/>
            <a:r>
              <a:rPr lang="en-US" dirty="0"/>
              <a:t>Tutorial Outline</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20153A-0E02-CB25-A797-F3303E23640F}"/>
                  </a:ext>
                </a:extLst>
              </p:cNvPr>
              <p:cNvSpPr>
                <a:spLocks noGrp="1"/>
              </p:cNvSpPr>
              <p:nvPr>
                <p:ph idx="1"/>
              </p:nvPr>
            </p:nvSpPr>
            <p:spPr>
              <a:xfrm>
                <a:off x="838200" y="1115568"/>
                <a:ext cx="10515600" cy="5477255"/>
              </a:xfrm>
            </p:spPr>
            <p:txBody>
              <a:bodyPr>
                <a:normAutofit/>
              </a:bodyPr>
              <a:lstStyle/>
              <a:p>
                <a:r>
                  <a:rPr lang="en-US" sz="2400" dirty="0"/>
                  <a:t>Dependent </a:t>
                </a:r>
                <a:r>
                  <a:rPr lang="he-IL" sz="2400" dirty="0"/>
                  <a:t>&amp;</a:t>
                </a:r>
                <a:r>
                  <a:rPr lang="en-US" sz="2400" dirty="0"/>
                  <a:t> Independent variables</a:t>
                </a:r>
                <a:endParaRPr lang="he-IL" sz="2400" dirty="0"/>
              </a:p>
              <a:p>
                <a:r>
                  <a:rPr lang="en-US" sz="2400" dirty="0"/>
                  <a:t>Centering, normalization, standardization</a:t>
                </a:r>
                <a:endParaRPr lang="he-IL" sz="2400" dirty="0"/>
              </a:p>
              <a:p>
                <a:r>
                  <a:rPr lang="en-US" sz="2400" dirty="0"/>
                  <a:t>Simple Bayesian Regression - </a:t>
                </a:r>
                <a:r>
                  <a:rPr lang="en-US" sz="2400" dirty="0" err="1"/>
                  <a:t>PyMC</a:t>
                </a:r>
                <a:endParaRPr lang="en-US" sz="2400" dirty="0"/>
              </a:p>
              <a:p>
                <a:r>
                  <a:rPr lang="en-US" sz="2400" dirty="0"/>
                  <a:t>Bayesian </a:t>
                </a:r>
                <a14:m>
                  <m:oMath xmlns:m="http://schemas.openxmlformats.org/officeDocument/2006/math">
                    <m:sSup>
                      <m:sSupPr>
                        <m:ctrlPr>
                          <a:rPr lang="he-IL" sz="2400" i="1" dirty="0">
                            <a:latin typeface="Cambria Math" panose="02040503050406030204" pitchFamily="18" charset="0"/>
                          </a:rPr>
                        </m:ctrlPr>
                      </m:sSupPr>
                      <m:e>
                        <m:r>
                          <a:rPr lang="en-US" sz="2400" i="1" dirty="0" smtClean="0">
                            <a:latin typeface="Cambria Math" panose="02040503050406030204" pitchFamily="18" charset="0"/>
                          </a:rPr>
                          <m:t>𝑅</m:t>
                        </m:r>
                      </m:e>
                      <m:sup>
                        <m:r>
                          <a:rPr lang="en-US" sz="2400" i="1" dirty="0">
                            <a:latin typeface="Cambria Math" panose="02040503050406030204" pitchFamily="18" charset="0"/>
                          </a:rPr>
                          <m:t>2</m:t>
                        </m:r>
                      </m:sup>
                    </m:sSup>
                  </m:oMath>
                </a14:m>
                <a:endParaRPr lang="he-IL" sz="2400" dirty="0"/>
              </a:p>
              <a:p>
                <a:r>
                  <a:rPr lang="en-US" sz="2400" dirty="0"/>
                  <a:t>Multiple regression - </a:t>
                </a:r>
                <a:r>
                  <a:rPr lang="en-US" sz="2400" dirty="0" err="1"/>
                  <a:t>PyMC</a:t>
                </a:r>
                <a:endParaRPr lang="he-IL" sz="2400" dirty="0"/>
              </a:p>
              <a:p>
                <a:r>
                  <a:rPr lang="en-US" sz="2400" dirty="0"/>
                  <a:t>Bambi:</a:t>
                </a:r>
                <a:endParaRPr lang="he-IL" sz="2400" dirty="0"/>
              </a:p>
              <a:p>
                <a:pPr lvl="1"/>
                <a:r>
                  <a:rPr lang="en-US" sz="2000" dirty="0"/>
                  <a:t>Simple &amp; Multiple Regression</a:t>
                </a:r>
                <a:endParaRPr lang="he-IL" sz="2000" dirty="0"/>
              </a:p>
              <a:p>
                <a:r>
                  <a:rPr lang="en-US" sz="2400" dirty="0"/>
                  <a:t>Frequentist OLS with </a:t>
                </a:r>
                <a:r>
                  <a:rPr lang="en-US" sz="2400" dirty="0" err="1"/>
                  <a:t>statsmodels</a:t>
                </a:r>
                <a:endParaRPr lang="he-IL" sz="2400" dirty="0"/>
              </a:p>
              <a:p>
                <a:r>
                  <a:rPr lang="en-US" sz="2400" dirty="0"/>
                  <a:t>Simple OLS vs multiple OLS</a:t>
                </a:r>
                <a:endParaRPr lang="he-IL" sz="2400" dirty="0"/>
              </a:p>
              <a:p>
                <a14:m>
                  <m:oMath xmlns:m="http://schemas.openxmlformats.org/officeDocument/2006/math">
                    <m:sSup>
                      <m:sSupPr>
                        <m:ctrlPr>
                          <a:rPr lang="he-IL" sz="2400" i="1" dirty="0">
                            <a:latin typeface="Cambria Math" panose="02040503050406030204" pitchFamily="18" charset="0"/>
                          </a:rPr>
                        </m:ctrlPr>
                      </m:sSupPr>
                      <m:e>
                        <m:r>
                          <a:rPr lang="en-US" sz="2400" i="1" dirty="0" smtClean="0">
                            <a:latin typeface="Cambria Math" panose="02040503050406030204" pitchFamily="18" charset="0"/>
                          </a:rPr>
                          <m:t>𝑅</m:t>
                        </m:r>
                      </m:e>
                      <m:sup>
                        <m:r>
                          <a:rPr lang="en-US" sz="2400" i="1" dirty="0">
                            <a:latin typeface="Cambria Math" panose="02040503050406030204" pitchFamily="18" charset="0"/>
                          </a:rPr>
                          <m:t>2</m:t>
                        </m:r>
                      </m:sup>
                    </m:sSup>
                  </m:oMath>
                </a14:m>
                <a:r>
                  <a:rPr lang="en-US" sz="2400" dirty="0"/>
                  <a:t>, adjusted </a:t>
                </a:r>
                <a14:m>
                  <m:oMath xmlns:m="http://schemas.openxmlformats.org/officeDocument/2006/math">
                    <m:sSup>
                      <m:sSupPr>
                        <m:ctrlPr>
                          <a:rPr lang="he-IL" sz="2400" i="1" dirty="0">
                            <a:latin typeface="Cambria Math" panose="02040503050406030204" pitchFamily="18" charset="0"/>
                          </a:rPr>
                        </m:ctrlPr>
                      </m:sSupPr>
                      <m:e>
                        <m:r>
                          <a:rPr lang="en-US" sz="2400" i="1" dirty="0">
                            <a:latin typeface="Cambria Math" panose="02040503050406030204" pitchFamily="18" charset="0"/>
                          </a:rPr>
                          <m:t>𝑅</m:t>
                        </m:r>
                      </m:e>
                      <m:sup>
                        <m:r>
                          <a:rPr lang="en-US" sz="2400" i="1" dirty="0">
                            <a:latin typeface="Cambria Math" panose="02040503050406030204" pitchFamily="18" charset="0"/>
                          </a:rPr>
                          <m:t>2</m:t>
                        </m:r>
                      </m:sup>
                    </m:sSup>
                  </m:oMath>
                </a14:m>
                <a:r>
                  <a:rPr lang="en-US" sz="2400" dirty="0"/>
                  <a:t>, and F-test</a:t>
                </a:r>
                <a:endParaRPr lang="he-IL" sz="2400" dirty="0"/>
              </a:p>
              <a:p>
                <a:r>
                  <a:rPr lang="en-US" sz="2400" dirty="0"/>
                  <a:t>Bayesian vs frequentist interpretation</a:t>
                </a:r>
                <a:endParaRPr lang="he-IL" sz="2400" dirty="0"/>
              </a:p>
            </p:txBody>
          </p:sp>
        </mc:Choice>
        <mc:Fallback xmlns="">
          <p:sp>
            <p:nvSpPr>
              <p:cNvPr id="3" name="Content Placeholder 2">
                <a:extLst>
                  <a:ext uri="{FF2B5EF4-FFF2-40B4-BE49-F238E27FC236}">
                    <a16:creationId xmlns:a16="http://schemas.microsoft.com/office/drawing/2014/main" id="{7220153A-0E02-CB25-A797-F3303E23640F}"/>
                  </a:ext>
                </a:extLst>
              </p:cNvPr>
              <p:cNvSpPr>
                <a:spLocks noGrp="1" noRot="1" noChangeAspect="1" noMove="1" noResize="1" noEditPoints="1" noAdjustHandles="1" noChangeArrowheads="1" noChangeShapeType="1" noTextEdit="1"/>
              </p:cNvSpPr>
              <p:nvPr>
                <p:ph idx="1"/>
              </p:nvPr>
            </p:nvSpPr>
            <p:spPr>
              <a:xfrm>
                <a:off x="838200" y="1115568"/>
                <a:ext cx="10515600" cy="5477255"/>
              </a:xfrm>
              <a:blipFill>
                <a:blip r:embed="rId2"/>
                <a:stretch>
                  <a:fillRect l="-812" t="-1670"/>
                </a:stretch>
              </a:blipFill>
            </p:spPr>
            <p:txBody>
              <a:bodyPr/>
              <a:lstStyle/>
              <a:p>
                <a:r>
                  <a:rPr lang="he-IL">
                    <a:noFill/>
                  </a:rPr>
                  <a:t> </a:t>
                </a:r>
              </a:p>
            </p:txBody>
          </p:sp>
        </mc:Fallback>
      </mc:AlternateContent>
      <p:sp>
        <p:nvSpPr>
          <p:cNvPr id="4" name="מציין מיקום של מספר שקופית 3">
            <a:extLst>
              <a:ext uri="{FF2B5EF4-FFF2-40B4-BE49-F238E27FC236}">
                <a16:creationId xmlns:a16="http://schemas.microsoft.com/office/drawing/2014/main" id="{49FB8A29-817C-0AE9-3536-E610EF5AEFA9}"/>
              </a:ext>
            </a:extLst>
          </p:cNvPr>
          <p:cNvSpPr>
            <a:spLocks noGrp="1"/>
          </p:cNvSpPr>
          <p:nvPr>
            <p:ph type="sldNum" sz="quarter" idx="12"/>
          </p:nvPr>
        </p:nvSpPr>
        <p:spPr/>
        <p:txBody>
          <a:bodyPr/>
          <a:lstStyle/>
          <a:p>
            <a:fld id="{B6796F57-8306-40D4-9229-37A3D19F0B5F}" type="slidenum">
              <a:rPr lang="LID4096" smtClean="0"/>
              <a:t>2</a:t>
            </a:fld>
            <a:endParaRPr lang="LID4096"/>
          </a:p>
        </p:txBody>
      </p:sp>
    </p:spTree>
    <p:extLst>
      <p:ext uri="{BB962C8B-B14F-4D97-AF65-F5344CB8AC3E}">
        <p14:creationId xmlns:p14="http://schemas.microsoft.com/office/powerpoint/2010/main" val="2932639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745A7-7D2D-FCB4-7BD8-36EDAE6EE47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C9C31E6-37B6-3368-504B-EE425263740E}"/>
              </a:ext>
            </a:extLst>
          </p:cNvPr>
          <p:cNvSpPr>
            <a:spLocks noGrp="1"/>
          </p:cNvSpPr>
          <p:nvPr>
            <p:ph type="title"/>
          </p:nvPr>
        </p:nvSpPr>
        <p:spPr>
          <a:xfrm>
            <a:off x="838200" y="2435085"/>
            <a:ext cx="10515600" cy="1325563"/>
          </a:xfrm>
        </p:spPr>
        <p:txBody>
          <a:bodyPr/>
          <a:lstStyle/>
          <a:p>
            <a:pPr algn="ctr"/>
            <a:r>
              <a:rPr lang="en-US" dirty="0"/>
              <a:t>Variables Types &amp; Transformations </a:t>
            </a:r>
          </a:p>
        </p:txBody>
      </p:sp>
    </p:spTree>
    <p:extLst>
      <p:ext uri="{BB962C8B-B14F-4D97-AF65-F5344CB8AC3E}">
        <p14:creationId xmlns:p14="http://schemas.microsoft.com/office/powerpoint/2010/main" val="1037897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B904C-66A3-20F3-46E6-1305B5E8A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5EC67-C4EA-3FFE-EFE3-CD20F24E8775}"/>
              </a:ext>
            </a:extLst>
          </p:cNvPr>
          <p:cNvSpPr>
            <a:spLocks noGrp="1"/>
          </p:cNvSpPr>
          <p:nvPr>
            <p:ph type="title"/>
          </p:nvPr>
        </p:nvSpPr>
        <p:spPr>
          <a:xfrm>
            <a:off x="838200" y="20997"/>
            <a:ext cx="10515600" cy="1325563"/>
          </a:xfrm>
        </p:spPr>
        <p:txBody>
          <a:bodyPr/>
          <a:lstStyle/>
          <a:p>
            <a:r>
              <a:rPr lang="en-US" dirty="0"/>
              <a:t>Dependent </a:t>
            </a:r>
            <a:r>
              <a:rPr lang="he-IL" dirty="0"/>
              <a:t>&amp;</a:t>
            </a:r>
            <a:r>
              <a:rPr lang="en-US" dirty="0"/>
              <a:t> Independent variables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7F225B-D563-6D26-60D9-76E5465242C1}"/>
                  </a:ext>
                </a:extLst>
              </p:cNvPr>
              <p:cNvSpPr>
                <a:spLocks noGrp="1"/>
              </p:cNvSpPr>
              <p:nvPr>
                <p:ph idx="1"/>
              </p:nvPr>
            </p:nvSpPr>
            <p:spPr>
              <a:xfrm>
                <a:off x="838200" y="1346560"/>
                <a:ext cx="10515600" cy="5378705"/>
              </a:xfrm>
            </p:spPr>
            <p:txBody>
              <a:bodyPr>
                <a:normAutofit/>
              </a:bodyPr>
              <a:lstStyle/>
              <a:p>
                <a:pPr>
                  <a:lnSpc>
                    <a:spcPct val="150000"/>
                  </a:lnSpc>
                </a:pPr>
                <a:r>
                  <a:rPr lang="en-US" dirty="0"/>
                  <a:t>Dependent variables</a:t>
                </a:r>
              </a:p>
              <a:p>
                <a:pPr lvl="1">
                  <a:lnSpc>
                    <a:spcPct val="150000"/>
                  </a:lnSpc>
                </a:pPr>
                <a:r>
                  <a:rPr lang="en-US" dirty="0"/>
                  <a:t>The dependent variable is the outcome we want to explain, model, or predict.</a:t>
                </a:r>
                <a:endParaRPr lang="he-IL" dirty="0"/>
              </a:p>
              <a:p>
                <a:pPr lvl="1">
                  <a:lnSpc>
                    <a:spcPct val="150000"/>
                  </a:lnSpc>
                </a:pPr>
                <a:r>
                  <a:rPr lang="en-US" dirty="0"/>
                  <a:t>In regression, this is usually written as:</a:t>
                </a:r>
                <a:r>
                  <a:rPr lang="he-IL" dirty="0"/>
                  <a:t> </a:t>
                </a:r>
                <a14:m>
                  <m:oMath xmlns:m="http://schemas.openxmlformats.org/officeDocument/2006/math">
                    <m:r>
                      <a:rPr lang="en-US" i="1" dirty="0" smtClean="0">
                        <a:latin typeface="Cambria Math" panose="02040503050406030204" pitchFamily="18" charset="0"/>
                      </a:rPr>
                      <m:t>𝑦</m:t>
                    </m:r>
                  </m:oMath>
                </a14:m>
                <a:endParaRPr lang="en-US" dirty="0"/>
              </a:p>
              <a:p>
                <a:pPr>
                  <a:lnSpc>
                    <a:spcPct val="150000"/>
                  </a:lnSpc>
                </a:pPr>
                <a:r>
                  <a:rPr lang="en-US" dirty="0"/>
                  <a:t>Independent variables</a:t>
                </a:r>
                <a:endParaRPr lang="he-IL" dirty="0"/>
              </a:p>
              <a:p>
                <a:pPr lvl="1">
                  <a:lnSpc>
                    <a:spcPct val="150000"/>
                  </a:lnSpc>
                </a:pPr>
                <a:r>
                  <a:rPr lang="en-US" dirty="0"/>
                  <a:t>The independent variables are the predictors used to explain variation in the dependent variable.</a:t>
                </a:r>
                <a:endParaRPr lang="he-IL" dirty="0"/>
              </a:p>
              <a:p>
                <a:pPr lvl="1">
                  <a:lnSpc>
                    <a:spcPct val="150000"/>
                  </a:lnSpc>
                </a:pPr>
                <a:r>
                  <a:rPr lang="en-US" dirty="0"/>
                  <a:t>In regression, they are usually written as:</a:t>
                </a:r>
                <a:endParaRPr lang="he-IL" dirty="0"/>
              </a:p>
              <a:p>
                <a:pPr marL="457200" lvl="1" indent="0">
                  <a:lnSpc>
                    <a:spcPct val="150000"/>
                  </a:lnSpc>
                  <a:buNone/>
                </a:pPr>
                <a14:m>
                  <m:oMathPara xmlns:m="http://schemas.openxmlformats.org/officeDocument/2006/math">
                    <m:oMathParaPr>
                      <m:jc m:val="centerGroup"/>
                    </m:oMathParaPr>
                    <m:oMath xmlns:m="http://schemas.openxmlformats.org/officeDocument/2006/math">
                      <m:sSub>
                        <m:sSubPr>
                          <m:ctrlPr>
                            <a:rPr lang="he-IL" b="0" i="1" dirty="0" smtClean="0">
                              <a:latin typeface="Cambria Math" panose="02040503050406030204" pitchFamily="18" charset="0"/>
                            </a:rPr>
                          </m:ctrlPr>
                        </m:sSubPr>
                        <m:e>
                          <m:r>
                            <a:rPr lang="en-US" i="1" dirty="0" smtClean="0">
                              <a:latin typeface="Cambria Math" panose="02040503050406030204" pitchFamily="18" charset="0"/>
                            </a:rPr>
                            <m:t>𝑥</m:t>
                          </m:r>
                        </m:e>
                        <m:sub>
                          <m:r>
                            <a:rPr lang="he-IL" i="1" dirty="0" smtClean="0">
                              <a:latin typeface="Cambria Math" panose="02040503050406030204" pitchFamily="18" charset="0"/>
                            </a:rPr>
                            <m:t>1</m:t>
                          </m:r>
                        </m:sub>
                      </m:sSub>
                      <m:r>
                        <a:rPr lang="en-US" i="1" dirty="0" smtClean="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err="1" smtClean="0">
                              <a:latin typeface="Cambria Math" panose="02040503050406030204" pitchFamily="18" charset="0"/>
                            </a:rPr>
                            <m:t>𝑥</m:t>
                          </m:r>
                        </m:e>
                        <m:sub>
                          <m:r>
                            <a:rPr lang="en-US" i="1" dirty="0" err="1" smtClean="0">
                              <a:latin typeface="Cambria Math" panose="02040503050406030204" pitchFamily="18" charset="0"/>
                            </a:rPr>
                            <m:t>𝑘</m:t>
                          </m:r>
                        </m:sub>
                      </m:sSub>
                      <m:r>
                        <a:rPr lang="en-US" i="1" dirty="0" smtClean="0">
                          <a:latin typeface="Cambria Math" panose="02040503050406030204" pitchFamily="18" charset="0"/>
                        </a:rPr>
                        <m:t>	</m:t>
                      </m:r>
                      <m:r>
                        <a:rPr lang="en-US" i="1" dirty="0" smtClean="0">
                          <a:latin typeface="Cambria Math" panose="02040503050406030204" pitchFamily="18" charset="0"/>
                        </a:rPr>
                        <m:t>​</m:t>
                      </m:r>
                    </m:oMath>
                  </m:oMathPara>
                </a14:m>
                <a:endParaRPr lang="he-IL" dirty="0"/>
              </a:p>
            </p:txBody>
          </p:sp>
        </mc:Choice>
        <mc:Fallback xmlns="">
          <p:sp>
            <p:nvSpPr>
              <p:cNvPr id="3" name="Content Placeholder 2">
                <a:extLst>
                  <a:ext uri="{FF2B5EF4-FFF2-40B4-BE49-F238E27FC236}">
                    <a16:creationId xmlns:a16="http://schemas.microsoft.com/office/drawing/2014/main" id="{297F225B-D563-6D26-60D9-76E5465242C1}"/>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043"/>
                </a:stretch>
              </a:blipFill>
            </p:spPr>
            <p:txBody>
              <a:bodyPr/>
              <a:lstStyle/>
              <a:p>
                <a:r>
                  <a:rPr lang="he-IL">
                    <a:noFill/>
                  </a:rPr>
                  <a:t> </a:t>
                </a:r>
              </a:p>
            </p:txBody>
          </p:sp>
        </mc:Fallback>
      </mc:AlternateContent>
    </p:spTree>
    <p:extLst>
      <p:ext uri="{BB962C8B-B14F-4D97-AF65-F5344CB8AC3E}">
        <p14:creationId xmlns:p14="http://schemas.microsoft.com/office/powerpoint/2010/main" val="904394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AF176-00AA-034E-7B43-03012FD9B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90DD9-1E5C-C5DF-9654-BE01202E8833}"/>
              </a:ext>
            </a:extLst>
          </p:cNvPr>
          <p:cNvSpPr>
            <a:spLocks noGrp="1"/>
          </p:cNvSpPr>
          <p:nvPr>
            <p:ph type="title"/>
          </p:nvPr>
        </p:nvSpPr>
        <p:spPr>
          <a:xfrm>
            <a:off x="838200" y="20997"/>
            <a:ext cx="10515600" cy="1325563"/>
          </a:xfrm>
        </p:spPr>
        <p:txBody>
          <a:bodyPr/>
          <a:lstStyle/>
          <a:p>
            <a:r>
              <a:rPr lang="en-US" dirty="0"/>
              <a:t>Dependent </a:t>
            </a:r>
            <a:r>
              <a:rPr lang="he-IL" dirty="0"/>
              <a:t>&amp;</a:t>
            </a:r>
            <a:r>
              <a:rPr lang="en-US" dirty="0"/>
              <a:t> Independent variables</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27CA40-4FC3-8BCC-7A59-6C96B1AFC160}"/>
                  </a:ext>
                </a:extLst>
              </p:cNvPr>
              <p:cNvSpPr>
                <a:spLocks noGrp="1"/>
              </p:cNvSpPr>
              <p:nvPr>
                <p:ph idx="1"/>
              </p:nvPr>
            </p:nvSpPr>
            <p:spPr>
              <a:xfrm>
                <a:off x="838200" y="1346560"/>
                <a:ext cx="10515600" cy="5378705"/>
              </a:xfrm>
            </p:spPr>
            <p:txBody>
              <a:bodyPr>
                <a:normAutofit/>
              </a:bodyPr>
              <a:lstStyle/>
              <a:p>
                <a:pPr>
                  <a:lnSpc>
                    <a:spcPct val="150000"/>
                  </a:lnSpc>
                </a:pPr>
                <a:r>
                  <a:rPr lang="en-US" dirty="0"/>
                  <a:t>Independent variables</a:t>
                </a:r>
                <a:endParaRPr lang="he-IL" dirty="0"/>
              </a:p>
              <a:p>
                <a:pPr lvl="1">
                  <a:lnSpc>
                    <a:spcPct val="150000"/>
                  </a:lnSpc>
                </a:pPr>
                <a:r>
                  <a:rPr lang="en-US" dirty="0"/>
                  <a:t>In previous lectures, we talked about random variables.</a:t>
                </a:r>
              </a:p>
              <a:p>
                <a:pPr lvl="1">
                  <a:lnSpc>
                    <a:spcPct val="150000"/>
                  </a:lnSpc>
                </a:pPr>
                <a:r>
                  <a:rPr lang="en-US" dirty="0"/>
                  <a:t>In regression, the predictor x is often treated differently.</a:t>
                </a:r>
              </a:p>
              <a:p>
                <a:pPr lvl="2">
                  <a:lnSpc>
                    <a:spcPct val="150000"/>
                  </a:lnSpc>
                </a:pPr>
                <a:r>
                  <a:rPr lang="en-US" dirty="0"/>
                  <a:t>In the regression equation: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𝜇</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0</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oMath>
                </a14:m>
                <a:endParaRPr lang="en-US" i="1" dirty="0">
                  <a:latin typeface="Cambria Math" panose="02040503050406030204" pitchFamily="18" charset="0"/>
                </a:endParaRPr>
              </a:p>
              <a:p>
                <a:pPr lvl="2">
                  <a:lnSpc>
                    <a:spcPct val="150000"/>
                  </a:lnSpc>
                </a:pPr>
                <a14:m>
                  <m:oMath xmlns:m="http://schemas.openxmlformats.org/officeDocument/2006/math">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𝑖</m:t>
                        </m:r>
                      </m:sub>
                    </m:sSub>
                  </m:oMath>
                </a14:m>
                <a:r>
                  <a:rPr lang="en-US" dirty="0"/>
                  <a:t>​ is treated as observed input.</a:t>
                </a:r>
              </a:p>
              <a:p>
                <a:pPr lvl="2">
                  <a:lnSpc>
                    <a:spcPct val="150000"/>
                  </a:lnSpc>
                </a:pPr>
                <a:r>
                  <a:rPr lang="en-US" dirty="0"/>
                  <a:t>The model does not try to explain where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𝑖</m:t>
                        </m:r>
                      </m:sub>
                    </m:sSub>
                  </m:oMath>
                </a14:m>
                <a:r>
                  <a:rPr lang="en-US" dirty="0"/>
                  <a:t> came from.</a:t>
                </a:r>
              </a:p>
              <a:p>
                <a:pPr lvl="1">
                  <a:lnSpc>
                    <a:spcPct val="150000"/>
                  </a:lnSpc>
                </a:pPr>
                <a:r>
                  <a:rPr lang="en-US" dirty="0"/>
                  <a:t>The model explains:</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𝑖</m:t>
                        </m:r>
                      </m:sub>
                    </m:sSub>
                    <m:r>
                      <a:rPr lang="en-US" b="0" i="0" dirty="0" smtClean="0">
                        <a:latin typeface="Cambria Math" panose="02040503050406030204" pitchFamily="18" charset="0"/>
                      </a:rPr>
                      <m:t> </m:t>
                    </m:r>
                  </m:oMath>
                </a14:m>
                <a:r>
                  <a:rPr lang="en-US" dirty="0"/>
                  <a:t> not: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𝑖</m:t>
                        </m:r>
                      </m:sub>
                    </m:sSub>
                    <m:r>
                      <a:rPr lang="en-US" i="1" dirty="0">
                        <a:latin typeface="Cambria Math" panose="02040503050406030204" pitchFamily="18" charset="0"/>
                      </a:rPr>
                      <m:t> </m:t>
                    </m:r>
                  </m:oMath>
                </a14:m>
                <a:r>
                  <a:rPr lang="en-US" dirty="0"/>
                  <a:t>	​</a:t>
                </a:r>
              </a:p>
              <a:p>
                <a:pPr marL="914400" lvl="2" indent="0">
                  <a:lnSpc>
                    <a:spcPct val="150000"/>
                  </a:lnSpc>
                  <a:buNone/>
                </a:pPr>
                <a:r>
                  <a:rPr lang="en-US" dirty="0"/>
                  <a:t>=&gt; The model does not require the independent variable to be normally distributed.</a:t>
                </a:r>
                <a:endParaRPr lang="he-IL" dirty="0"/>
              </a:p>
            </p:txBody>
          </p:sp>
        </mc:Choice>
        <mc:Fallback xmlns="">
          <p:sp>
            <p:nvSpPr>
              <p:cNvPr id="3" name="Content Placeholder 2">
                <a:extLst>
                  <a:ext uri="{FF2B5EF4-FFF2-40B4-BE49-F238E27FC236}">
                    <a16:creationId xmlns:a16="http://schemas.microsoft.com/office/drawing/2014/main" id="{1427CA40-4FC3-8BCC-7A59-6C96B1AFC160}"/>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043"/>
                </a:stretch>
              </a:blipFill>
            </p:spPr>
            <p:txBody>
              <a:bodyPr/>
              <a:lstStyle/>
              <a:p>
                <a:r>
                  <a:rPr lang="he-IL">
                    <a:noFill/>
                  </a:rPr>
                  <a:t> </a:t>
                </a:r>
              </a:p>
            </p:txBody>
          </p:sp>
        </mc:Fallback>
      </mc:AlternateContent>
    </p:spTree>
    <p:extLst>
      <p:ext uri="{BB962C8B-B14F-4D97-AF65-F5344CB8AC3E}">
        <p14:creationId xmlns:p14="http://schemas.microsoft.com/office/powerpoint/2010/main" val="2773623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C20B-3454-6B51-2B63-865D07CA20AC}"/>
              </a:ext>
            </a:extLst>
          </p:cNvPr>
          <p:cNvSpPr>
            <a:spLocks noGrp="1"/>
          </p:cNvSpPr>
          <p:nvPr>
            <p:ph type="title"/>
          </p:nvPr>
        </p:nvSpPr>
        <p:spPr/>
        <p:txBody>
          <a:bodyPr/>
          <a:lstStyle/>
          <a:p>
            <a:pPr>
              <a:lnSpc>
                <a:spcPct val="150000"/>
              </a:lnSpc>
            </a:pPr>
            <a:r>
              <a:rPr lang="en-US" dirty="0"/>
              <a:t>Three Common Transformations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A6C300-425A-24CD-F23C-530DB82F90FE}"/>
                  </a:ext>
                </a:extLst>
              </p:cNvPr>
              <p:cNvSpPr>
                <a:spLocks noGrp="1"/>
              </p:cNvSpPr>
              <p:nvPr>
                <p:ph idx="1"/>
              </p:nvPr>
            </p:nvSpPr>
            <p:spPr>
              <a:xfrm>
                <a:off x="838200" y="1772356"/>
                <a:ext cx="10515600" cy="4404607"/>
              </a:xfrm>
            </p:spPr>
            <p:txBody>
              <a:bodyPr>
                <a:normAutofit fontScale="85000" lnSpcReduction="10000"/>
              </a:bodyPr>
              <a:lstStyle/>
              <a:p>
                <a:pPr marL="0" indent="0">
                  <a:lnSpc>
                    <a:spcPct val="150000"/>
                  </a:lnSpc>
                  <a:buNone/>
                </a:pPr>
                <a:r>
                  <a:rPr lang="en-US" dirty="0"/>
                  <a:t>1. </a:t>
                </a:r>
                <a:r>
                  <a:rPr lang="en-US" b="1" dirty="0"/>
                  <a:t>Centering</a:t>
                </a:r>
                <a:r>
                  <a:rPr lang="en-US" dirty="0"/>
                  <a:t> - moves the mean of a variable to 0.</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𝑐</m:t>
                          </m:r>
                        </m:sub>
                      </m:sSub>
                      <m:r>
                        <a:rPr lang="en-US" sz="2400" i="1" dirty="0">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rPr>
                            <m:t>𝑥</m:t>
                          </m:r>
                        </m:e>
                      </m:acc>
                    </m:oMath>
                  </m:oMathPara>
                </a14:m>
                <a:endParaRPr lang="en-US" sz="3800" dirty="0"/>
              </a:p>
              <a:p>
                <a:pPr marL="0" indent="0">
                  <a:lnSpc>
                    <a:spcPct val="150000"/>
                  </a:lnSpc>
                  <a:buNone/>
                </a:pPr>
                <a:r>
                  <a:rPr lang="en-US" dirty="0"/>
                  <a:t>2. </a:t>
                </a:r>
                <a:r>
                  <a:rPr lang="en-US" b="1" dirty="0"/>
                  <a:t>Normalization</a:t>
                </a:r>
                <a:r>
                  <a:rPr lang="en-US" dirty="0"/>
                  <a:t> - puts values on a fixed scale, usually from 0 to 1.</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r>
                            <a:rPr lang="en-US" sz="2200" i="1" dirty="0" smtClean="0">
                              <a:latin typeface="Cambria Math" panose="02040503050406030204" pitchFamily="18" charset="0"/>
                            </a:rPr>
                            <m:t>𝑥</m:t>
                          </m:r>
                        </m:e>
                        <m:sub>
                          <m:r>
                            <a:rPr lang="en-US" sz="2200" i="1" dirty="0" smtClean="0">
                              <a:latin typeface="Cambria Math" panose="02040503050406030204" pitchFamily="18" charset="0"/>
                            </a:rPr>
                            <m:t>𝑛𝑜𝑟𝑚</m:t>
                          </m:r>
                        </m:sub>
                      </m:sSub>
                      <m:r>
                        <a:rPr lang="en-US" sz="2200" i="1" dirty="0" smtClean="0">
                          <a:latin typeface="Cambria Math" panose="02040503050406030204" pitchFamily="18" charset="0"/>
                        </a:rPr>
                        <m:t>​=</m:t>
                      </m:r>
                      <m:f>
                        <m:fPr>
                          <m:ctrlPr>
                            <a:rPr lang="en-US" sz="2200" i="1" dirty="0" smtClean="0">
                              <a:latin typeface="Cambria Math" panose="02040503050406030204" pitchFamily="18" charset="0"/>
                            </a:rPr>
                          </m:ctrlPr>
                        </m:fPr>
                        <m:num>
                          <m:r>
                            <a:rPr lang="en-US" sz="2200" i="1" dirty="0">
                              <a:latin typeface="Cambria Math" panose="02040503050406030204" pitchFamily="18" charset="0"/>
                            </a:rPr>
                            <m:t>𝑥</m:t>
                          </m:r>
                          <m:r>
                            <a:rPr lang="en-US" sz="2200" i="1" dirty="0">
                              <a:latin typeface="Cambria Math" panose="02040503050406030204" pitchFamily="18" charset="0"/>
                            </a:rPr>
                            <m:t>−</m:t>
                          </m:r>
                          <m:r>
                            <m:rPr>
                              <m:sty m:val="p"/>
                            </m:rPr>
                            <a:rPr lang="en-US" sz="2200" i="1" dirty="0">
                              <a:latin typeface="Cambria Math" panose="02040503050406030204" pitchFamily="18" charset="0"/>
                            </a:rPr>
                            <m:t>min</m:t>
                          </m:r>
                          <m:r>
                            <a:rPr lang="en-US" sz="2200" i="1" dirty="0">
                              <a:latin typeface="Cambria Math" panose="02040503050406030204" pitchFamily="18" charset="0"/>
                            </a:rPr>
                            <m:t>⁡(</m:t>
                          </m:r>
                          <m:r>
                            <a:rPr lang="en-US" sz="2200" i="1" dirty="0">
                              <a:latin typeface="Cambria Math" panose="02040503050406030204" pitchFamily="18" charset="0"/>
                            </a:rPr>
                            <m:t>𝑥</m:t>
                          </m:r>
                          <m:r>
                            <a:rPr lang="en-US" sz="2200" i="1" dirty="0">
                              <a:latin typeface="Cambria Math" panose="02040503050406030204" pitchFamily="18" charset="0"/>
                            </a:rPr>
                            <m:t>)​</m:t>
                          </m:r>
                          <m:r>
                            <m:rPr>
                              <m:nor/>
                            </m:rPr>
                            <a:rPr lang="en-US" sz="2200" dirty="0"/>
                            <m:t> </m:t>
                          </m:r>
                        </m:num>
                        <m:den>
                          <m:r>
                            <m:rPr>
                              <m:sty m:val="p"/>
                            </m:rPr>
                            <a:rPr lang="en-US" sz="2200" i="1" dirty="0">
                              <a:latin typeface="Cambria Math" panose="02040503050406030204" pitchFamily="18" charset="0"/>
                            </a:rPr>
                            <m:t>max</m:t>
                          </m:r>
                          <m:r>
                            <a:rPr lang="en-US" sz="2200" i="1" dirty="0">
                              <a:latin typeface="Cambria Math" panose="02040503050406030204" pitchFamily="18" charset="0"/>
                            </a:rPr>
                            <m:t>⁡(</m:t>
                          </m:r>
                          <m:r>
                            <a:rPr lang="en-US" sz="2200" i="1" dirty="0">
                              <a:latin typeface="Cambria Math" panose="02040503050406030204" pitchFamily="18" charset="0"/>
                            </a:rPr>
                            <m:t>𝑥</m:t>
                          </m:r>
                          <m:r>
                            <a:rPr lang="en-US" sz="2200" i="1" dirty="0">
                              <a:latin typeface="Cambria Math" panose="02040503050406030204" pitchFamily="18" charset="0"/>
                            </a:rPr>
                            <m:t>)−</m:t>
                          </m:r>
                          <m:r>
                            <m:rPr>
                              <m:sty m:val="p"/>
                            </m:rPr>
                            <a:rPr lang="en-US" sz="2200" i="1" dirty="0">
                              <a:latin typeface="Cambria Math" panose="02040503050406030204" pitchFamily="18" charset="0"/>
                            </a:rPr>
                            <m:t>min</m:t>
                          </m:r>
                          <m:r>
                            <a:rPr lang="en-US" sz="2200" i="1" dirty="0">
                              <a:latin typeface="Cambria Math" panose="02040503050406030204" pitchFamily="18" charset="0"/>
                            </a:rPr>
                            <m:t>⁡(</m:t>
                          </m:r>
                          <m:r>
                            <a:rPr lang="en-US" sz="2200" i="1" dirty="0">
                              <a:latin typeface="Cambria Math" panose="02040503050406030204" pitchFamily="18" charset="0"/>
                            </a:rPr>
                            <m:t>𝑥</m:t>
                          </m:r>
                          <m:r>
                            <a:rPr lang="en-US" sz="2200" i="1" dirty="0">
                              <a:latin typeface="Cambria Math" panose="02040503050406030204" pitchFamily="18" charset="0"/>
                            </a:rPr>
                            <m:t>)</m:t>
                          </m:r>
                          <m:r>
                            <m:rPr>
                              <m:nor/>
                            </m:rPr>
                            <a:rPr lang="en-US" sz="2200" dirty="0"/>
                            <m:t> </m:t>
                          </m:r>
                        </m:den>
                      </m:f>
                    </m:oMath>
                  </m:oMathPara>
                </a14:m>
                <a:endParaRPr lang="he-IL" sz="3500" dirty="0"/>
              </a:p>
              <a:p>
                <a:pPr marL="0" indent="0">
                  <a:lnSpc>
                    <a:spcPct val="150000"/>
                  </a:lnSpc>
                  <a:buNone/>
                </a:pPr>
                <a:r>
                  <a:rPr lang="en-US" dirty="0"/>
                  <a:t>3. </a:t>
                </a:r>
                <a:r>
                  <a:rPr lang="en-US" b="1" dirty="0"/>
                  <a:t>Standardization</a:t>
                </a:r>
                <a:r>
                  <a:rPr lang="he-IL" dirty="0"/>
                  <a:t> – </a:t>
                </a:r>
                <a:r>
                  <a:rPr lang="en-US" dirty="0"/>
                  <a:t>Creates a variable with </a:t>
                </a:r>
                <a14:m>
                  <m:oMath xmlns:m="http://schemas.openxmlformats.org/officeDocument/2006/math">
                    <m:r>
                      <a:rPr lang="en-US" i="1" dirty="0" smtClean="0">
                        <a:latin typeface="Cambria Math" panose="02040503050406030204" pitchFamily="18" charset="0"/>
                      </a:rPr>
                      <m:t>𝑚𝑒𝑎𝑛</m:t>
                    </m:r>
                    <m:r>
                      <a:rPr lang="en-US" b="0" i="1" dirty="0" smtClean="0">
                        <a:latin typeface="Cambria Math" panose="02040503050406030204" pitchFamily="18" charset="0"/>
                      </a:rPr>
                      <m:t>=</m:t>
                    </m:r>
                    <m:r>
                      <a:rPr lang="en-US" i="1" dirty="0" smtClean="0">
                        <a:latin typeface="Cambria Math" panose="02040503050406030204" pitchFamily="18" charset="0"/>
                      </a:rPr>
                      <m:t>0</m:t>
                    </m:r>
                  </m:oMath>
                </a14:m>
                <a:r>
                  <a:rPr lang="en-US" dirty="0"/>
                  <a:t> and </a:t>
                </a:r>
                <a14:m>
                  <m:oMath xmlns:m="http://schemas.openxmlformats.org/officeDocument/2006/math">
                    <m:r>
                      <a:rPr lang="en-US" i="1" dirty="0" smtClean="0">
                        <a:latin typeface="Cambria Math" panose="02040503050406030204" pitchFamily="18" charset="0"/>
                      </a:rPr>
                      <m:t>𝑠𝑑</m:t>
                    </m:r>
                    <m:r>
                      <a:rPr lang="en-US" i="1" dirty="0" smtClean="0">
                        <a:latin typeface="Cambria Math" panose="02040503050406030204" pitchFamily="18" charset="0"/>
                      </a:rPr>
                      <m:t>=</m:t>
                    </m:r>
                    <m:r>
                      <a:rPr lang="en-US" i="1" dirty="0" smtClean="0">
                        <a:latin typeface="Cambria Math" panose="02040503050406030204" pitchFamily="18" charset="0"/>
                      </a:rPr>
                      <m:t>1</m:t>
                    </m:r>
                  </m:oMath>
                </a14:m>
                <a:r>
                  <a:rPr lang="en-US" dirty="0"/>
                  <a:t>.</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𝑥</m:t>
                          </m:r>
                        </m:e>
                        <m:sub>
                          <m:r>
                            <a:rPr lang="en-US" i="1" dirty="0">
                              <a:latin typeface="Cambria Math" panose="02040503050406030204" pitchFamily="18" charset="0"/>
                            </a:rPr>
                            <m:t>𝑧</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𝑥</m:t>
                          </m:r>
                          <m:r>
                            <a:rPr lang="en-US" i="1" dirty="0">
                              <a:latin typeface="Cambria Math" panose="02040503050406030204" pitchFamily="18" charset="0"/>
                            </a:rPr>
                            <m:t>−</m:t>
                          </m:r>
                          <m:acc>
                            <m:accPr>
                              <m:chr m:val="̅"/>
                              <m:ctrlPr>
                                <a:rPr lang="en-US" i="1" dirty="0">
                                  <a:latin typeface="Cambria Math" panose="02040503050406030204" pitchFamily="18" charset="0"/>
                                </a:rPr>
                              </m:ctrlPr>
                            </m:accPr>
                            <m:e>
                              <m:r>
                                <a:rPr lang="en-US" i="1" dirty="0">
                                  <a:latin typeface="Cambria Math" panose="02040503050406030204" pitchFamily="18" charset="0"/>
                                </a:rPr>
                                <m:t>𝑥</m:t>
                              </m:r>
                            </m:e>
                          </m:acc>
                        </m:num>
                        <m:den>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𝑥</m:t>
                              </m:r>
                            </m:sub>
                          </m:sSub>
                        </m:den>
                      </m:f>
                    </m:oMath>
                  </m:oMathPara>
                </a14:m>
                <a:endParaRPr lang="en-US" dirty="0"/>
              </a:p>
            </p:txBody>
          </p:sp>
        </mc:Choice>
        <mc:Fallback xmlns="">
          <p:sp>
            <p:nvSpPr>
              <p:cNvPr id="3" name="Content Placeholder 2">
                <a:extLst>
                  <a:ext uri="{FF2B5EF4-FFF2-40B4-BE49-F238E27FC236}">
                    <a16:creationId xmlns:a16="http://schemas.microsoft.com/office/drawing/2014/main" id="{A3A6C300-425A-24CD-F23C-530DB82F90FE}"/>
                  </a:ext>
                </a:extLst>
              </p:cNvPr>
              <p:cNvSpPr>
                <a:spLocks noGrp="1" noRot="1" noChangeAspect="1" noMove="1" noResize="1" noEditPoints="1" noAdjustHandles="1" noChangeArrowheads="1" noChangeShapeType="1" noTextEdit="1"/>
              </p:cNvSpPr>
              <p:nvPr>
                <p:ph idx="1"/>
              </p:nvPr>
            </p:nvSpPr>
            <p:spPr>
              <a:xfrm>
                <a:off x="838200" y="1772356"/>
                <a:ext cx="10515600" cy="4404607"/>
              </a:xfrm>
              <a:blipFill>
                <a:blip r:embed="rId2"/>
                <a:stretch>
                  <a:fillRect l="-928"/>
                </a:stretch>
              </a:blipFill>
            </p:spPr>
            <p:txBody>
              <a:bodyPr/>
              <a:lstStyle/>
              <a:p>
                <a:r>
                  <a:rPr lang="he-IL">
                    <a:noFill/>
                  </a:rPr>
                  <a:t> </a:t>
                </a:r>
              </a:p>
            </p:txBody>
          </p:sp>
        </mc:Fallback>
      </mc:AlternateContent>
    </p:spTree>
    <p:extLst>
      <p:ext uri="{BB962C8B-B14F-4D97-AF65-F5344CB8AC3E}">
        <p14:creationId xmlns:p14="http://schemas.microsoft.com/office/powerpoint/2010/main" val="3528885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A134D-2BC5-5B3F-7B03-2C9B59112C5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F7EFF59-ABC3-2B92-72AB-A7ABB4A6AD54}"/>
              </a:ext>
            </a:extLst>
          </p:cNvPr>
          <p:cNvSpPr>
            <a:spLocks noGrp="1"/>
          </p:cNvSpPr>
          <p:nvPr>
            <p:ph type="title"/>
          </p:nvPr>
        </p:nvSpPr>
        <p:spPr>
          <a:xfrm>
            <a:off x="838200" y="2435085"/>
            <a:ext cx="10515600" cy="1325563"/>
          </a:xfrm>
        </p:spPr>
        <p:txBody>
          <a:bodyPr/>
          <a:lstStyle/>
          <a:p>
            <a:pPr algn="ctr"/>
            <a:r>
              <a:rPr lang="en-US" dirty="0"/>
              <a:t>Simple Linear Regression</a:t>
            </a:r>
          </a:p>
        </p:txBody>
      </p:sp>
    </p:spTree>
    <p:extLst>
      <p:ext uri="{BB962C8B-B14F-4D97-AF65-F5344CB8AC3E}">
        <p14:creationId xmlns:p14="http://schemas.microsoft.com/office/powerpoint/2010/main" val="2711643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864D3-9112-9986-61B8-ED4311A14D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8751A-3A39-A789-63CD-4F37ABACEDC1}"/>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81E488CC-6902-0E88-6827-4C2FE9FBCAF4}"/>
              </a:ext>
            </a:extLst>
          </p:cNvPr>
          <p:cNvSpPr>
            <a:spLocks noGrp="1"/>
          </p:cNvSpPr>
          <p:nvPr>
            <p:ph idx="1"/>
          </p:nvPr>
        </p:nvSpPr>
        <p:spPr>
          <a:xfrm>
            <a:off x="838200" y="1346560"/>
            <a:ext cx="10515600" cy="5378705"/>
          </a:xfrm>
        </p:spPr>
        <p:txBody>
          <a:bodyPr>
            <a:normAutofit/>
          </a:bodyPr>
          <a:lstStyle/>
          <a:p>
            <a:pPr>
              <a:lnSpc>
                <a:spcPct val="150000"/>
              </a:lnSpc>
            </a:pPr>
            <a:r>
              <a:rPr lang="en-GB" dirty="0"/>
              <a:t> We have learned about normal models. </a:t>
            </a:r>
            <a:endParaRPr lang="en-US" dirty="0"/>
          </a:p>
        </p:txBody>
      </p:sp>
      <p:pic>
        <p:nvPicPr>
          <p:cNvPr id="4" name="Picture 3" descr="A diagram of normal distribution&#10;&#10;AI-generated content may be incorrect.">
            <a:extLst>
              <a:ext uri="{FF2B5EF4-FFF2-40B4-BE49-F238E27FC236}">
                <a16:creationId xmlns:a16="http://schemas.microsoft.com/office/drawing/2014/main" id="{4EFDD42E-5450-C420-8C4F-E9977155C712}"/>
              </a:ext>
            </a:extLst>
          </p:cNvPr>
          <p:cNvPicPr>
            <a:picLocks noChangeAspect="1"/>
          </p:cNvPicPr>
          <p:nvPr/>
        </p:nvPicPr>
        <p:blipFill>
          <a:blip r:embed="rId3">
            <a:extLst>
              <a:ext uri="{28A0092B-C50C-407E-A947-70E740481C1C}">
                <a14:useLocalDpi xmlns:a14="http://schemas.microsoft.com/office/drawing/2010/main" val="0"/>
              </a:ext>
            </a:extLst>
          </a:blip>
          <a:srcRect l="25006" t="23968" r="28220" b="9207"/>
          <a:stretch/>
        </p:blipFill>
        <p:spPr>
          <a:xfrm>
            <a:off x="2873828" y="2219508"/>
            <a:ext cx="4278086" cy="458288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45A9301-A119-307F-DBCD-E2B8DD642FBE}"/>
                  </a:ext>
                </a:extLst>
              </p:cNvPr>
              <p:cNvSpPr txBox="1"/>
              <p:nvPr/>
            </p:nvSpPr>
            <p:spPr>
              <a:xfrm>
                <a:off x="7692863" y="2398328"/>
                <a:ext cx="2514600" cy="16258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𝜇</m:t>
                          </m:r>
                          <m:r>
                            <a:rPr lang="en-GB" sz="2400" b="0" i="1" smtClean="0">
                              <a:latin typeface="Cambria Math" panose="02040503050406030204" pitchFamily="18" charset="0"/>
                            </a:rPr>
                            <m:t>, </m:t>
                          </m:r>
                          <m:r>
                            <a:rPr lang="en-GB" sz="2400" b="0" i="1" smtClean="0">
                              <a:latin typeface="Cambria Math" panose="02040503050406030204" pitchFamily="18" charset="0"/>
                            </a:rPr>
                            <m:t>𝜎</m:t>
                          </m:r>
                        </m:e>
                      </m:d>
                    </m:oMath>
                  </m:oMathPara>
                </a14:m>
                <a:endParaRPr lang="en-GB" sz="2400" b="0" dirty="0">
                  <a:latin typeface="David" panose="020E0502060401010101" pitchFamily="34" charset="-79"/>
                </a:endParaRPr>
              </a:p>
              <a:p>
                <a:endParaRPr lang="en-GB" sz="2400" b="0" dirty="0">
                  <a:latin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𝜇</m:t>
                      </m:r>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𝜇</m:t>
                              </m:r>
                            </m:sub>
                          </m:sSub>
                          <m:r>
                            <a:rPr lang="en-GB" sz="2400" b="0" i="1" smtClean="0">
                              <a:latin typeface="Cambria Math" panose="02040503050406030204" pitchFamily="18" charset="0"/>
                            </a:rPr>
                            <m:t>, </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𝜎</m:t>
                              </m:r>
                            </m:e>
                            <m:sub>
                              <m:r>
                                <a:rPr lang="en-GB" sz="2400" b="0" i="1" smtClean="0">
                                  <a:latin typeface="Cambria Math" panose="02040503050406030204" pitchFamily="18" charset="0"/>
                                </a:rPr>
                                <m:t>𝜇</m:t>
                              </m:r>
                            </m:sub>
                          </m:sSub>
                        </m:e>
                      </m:d>
                    </m:oMath>
                  </m:oMathPara>
                </a14:m>
                <a:endParaRPr lang="en-GB" sz="2400" b="0" dirty="0">
                  <a:latin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𝜎</m:t>
                      </m:r>
                      <m:r>
                        <a:rPr lang="en-GB" sz="2400" b="0" i="1" smtClean="0">
                          <a:latin typeface="Cambria Math" panose="02040503050406030204" pitchFamily="18" charset="0"/>
                        </a:rPr>
                        <m:t>~</m:t>
                      </m:r>
                      <m:r>
                        <a:rPr lang="en-GB" sz="2400" b="0" i="1" smtClean="0">
                          <a:latin typeface="Cambria Math" panose="02040503050406030204" pitchFamily="18" charset="0"/>
                        </a:rPr>
                        <m:t>𝐻𝑎𝑙𝑓𝑁𝑜𝑟𝑚</m:t>
                      </m:r>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𝜎</m:t>
                          </m:r>
                        </m:e>
                        <m:sub>
                          <m:r>
                            <a:rPr lang="en-GB" sz="2400" b="0" i="1" smtClean="0">
                              <a:latin typeface="Cambria Math" panose="02040503050406030204" pitchFamily="18" charset="0"/>
                            </a:rPr>
                            <m:t>𝜎</m:t>
                          </m:r>
                        </m:sub>
                      </m:sSub>
                      <m:r>
                        <a:rPr lang="en-GB" sz="2400" b="0" i="1" smtClean="0">
                          <a:latin typeface="Cambria Math" panose="02040503050406030204" pitchFamily="18" charset="0"/>
                        </a:rPr>
                        <m:t>)</m:t>
                      </m:r>
                    </m:oMath>
                  </m:oMathPara>
                </a14:m>
                <a:endParaRPr lang="en-GB" sz="2400" dirty="0">
                  <a:latin typeface="David" panose="020E0502060401010101" pitchFamily="34" charset="-79"/>
                </a:endParaRPr>
              </a:p>
            </p:txBody>
          </p:sp>
        </mc:Choice>
        <mc:Fallback xmlns="">
          <p:sp>
            <p:nvSpPr>
              <p:cNvPr id="5" name="TextBox 4">
                <a:extLst>
                  <a:ext uri="{FF2B5EF4-FFF2-40B4-BE49-F238E27FC236}">
                    <a16:creationId xmlns:a16="http://schemas.microsoft.com/office/drawing/2014/main" id="{945A9301-A119-307F-DBCD-E2B8DD642FBE}"/>
                  </a:ext>
                </a:extLst>
              </p:cNvPr>
              <p:cNvSpPr txBox="1">
                <a:spLocks noRot="1" noChangeAspect="1" noMove="1" noResize="1" noEditPoints="1" noAdjustHandles="1" noChangeArrowheads="1" noChangeShapeType="1" noTextEdit="1"/>
              </p:cNvSpPr>
              <p:nvPr/>
            </p:nvSpPr>
            <p:spPr>
              <a:xfrm>
                <a:off x="7692863" y="2398328"/>
                <a:ext cx="2514600" cy="1625830"/>
              </a:xfrm>
              <a:prstGeom prst="rect">
                <a:avLst/>
              </a:prstGeom>
              <a:blipFill>
                <a:blip r:embed="rId4"/>
                <a:stretch>
                  <a:fillRect r="-6068" b="-3745"/>
                </a:stretch>
              </a:blipFill>
            </p:spPr>
            <p:txBody>
              <a:bodyPr/>
              <a:lstStyle/>
              <a:p>
                <a:r>
                  <a:rPr lang="he-IL">
                    <a:noFill/>
                  </a:rPr>
                  <a:t> </a:t>
                </a:r>
              </a:p>
            </p:txBody>
          </p:sp>
        </mc:Fallback>
      </mc:AlternateContent>
    </p:spTree>
    <p:extLst>
      <p:ext uri="{BB962C8B-B14F-4D97-AF65-F5344CB8AC3E}">
        <p14:creationId xmlns:p14="http://schemas.microsoft.com/office/powerpoint/2010/main" val="269296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D7F45-37DF-3F19-665A-D48E2E45A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6B1AE0-828E-B729-43F1-9A1106899094}"/>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F55331C4-7D3C-9E81-39F1-393CE3D53805}"/>
              </a:ext>
            </a:extLst>
          </p:cNvPr>
          <p:cNvSpPr>
            <a:spLocks noGrp="1"/>
          </p:cNvSpPr>
          <p:nvPr>
            <p:ph idx="1"/>
          </p:nvPr>
        </p:nvSpPr>
        <p:spPr>
          <a:xfrm>
            <a:off x="838200" y="1346560"/>
            <a:ext cx="10515600" cy="5378705"/>
          </a:xfrm>
        </p:spPr>
        <p:txBody>
          <a:bodyPr>
            <a:normAutofit/>
          </a:bodyPr>
          <a:lstStyle/>
          <a:p>
            <a:pPr>
              <a:lnSpc>
                <a:spcPct val="150000"/>
              </a:lnSpc>
            </a:pPr>
            <a:r>
              <a:rPr lang="en-GB" dirty="0"/>
              <a:t>Now we’ll look at a case in which the mean depends on another variable.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B8FBA0C-95D0-26DA-A791-12CA50883528}"/>
                  </a:ext>
                </a:extLst>
              </p:cNvPr>
              <p:cNvSpPr txBox="1"/>
              <p:nvPr/>
            </p:nvSpPr>
            <p:spPr>
              <a:xfrm>
                <a:off x="2633235" y="2722207"/>
                <a:ext cx="2514600" cy="3416320"/>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 </m:t>
                          </m:r>
                          <m:r>
                            <a:rPr lang="en-GB" sz="2400" b="0" i="1" smtClean="0">
                              <a:latin typeface="Cambria Math" panose="02040503050406030204" pitchFamily="18" charset="0"/>
                            </a:rPr>
                            <m:t>𝜎</m:t>
                          </m:r>
                        </m:e>
                      </m:d>
                    </m:oMath>
                  </m:oMathPara>
                </a14:m>
                <a:endParaRPr lang="en-US" sz="2400"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1</m:t>
                          </m:r>
                        </m:sub>
                      </m:sSub>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𝑖</m:t>
                          </m:r>
                        </m:sub>
                      </m:sSub>
                    </m:oMath>
                  </m:oMathPara>
                </a14:m>
                <a:endParaRPr lang="en-GB" sz="2400" b="0" dirty="0">
                  <a:latin typeface="David" panose="020E0502060401010101" pitchFamily="34" charset="-79"/>
                </a:endParaRPr>
              </a:p>
              <a:p>
                <a:pPr>
                  <a:lnSpc>
                    <a:spcPct val="150000"/>
                  </a:lnSpc>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𝜎</m:t>
                      </m:r>
                      <m:r>
                        <a:rPr lang="en-GB" sz="2400" i="1">
                          <a:latin typeface="Cambria Math" panose="02040503050406030204" pitchFamily="18" charset="0"/>
                        </a:rPr>
                        <m:t>~</m:t>
                      </m:r>
                      <m:r>
                        <a:rPr lang="en-GB" sz="2400" i="1">
                          <a:latin typeface="Cambria Math" panose="02040503050406030204" pitchFamily="18" charset="0"/>
                        </a:rPr>
                        <m:t>𝐻𝑎𝑙𝑓𝑁𝑜𝑟𝑚</m:t>
                      </m:r>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𝜎</m:t>
                          </m:r>
                        </m:e>
                        <m:sub>
                          <m:r>
                            <a:rPr lang="en-GB" sz="2400" i="1">
                              <a:latin typeface="Cambria Math" panose="02040503050406030204" pitchFamily="18" charset="0"/>
                            </a:rPr>
                            <m:t>𝜎</m:t>
                          </m:r>
                        </m:sub>
                      </m:sSub>
                      <m:r>
                        <a:rPr lang="en-GB" sz="2400" i="1">
                          <a:latin typeface="Cambria Math" panose="02040503050406030204" pitchFamily="18" charset="0"/>
                        </a:rPr>
                        <m:t>)</m:t>
                      </m:r>
                    </m:oMath>
                  </m:oMathPara>
                </a14:m>
                <a:endParaRPr lang="en-GB" sz="2400" b="0" dirty="0">
                  <a:latin typeface="David" panose="020E0502060401010101" pitchFamily="34" charset="-79"/>
                </a:endParaRPr>
              </a:p>
              <a:p>
                <a:pPr>
                  <a:lnSpc>
                    <a:spcPct val="150000"/>
                  </a:lnSpc>
                </a:pPr>
                <a:endParaRPr lang="en-GB" sz="2400" b="0" dirty="0">
                  <a:latin typeface="David" panose="020E0502060401010101" pitchFamily="34" charset="-79"/>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m:t>
                      </m:r>
                      <m:r>
                        <a:rPr lang="en-US" sz="2400" b="0" i="1" smtClean="0">
                          <a:latin typeface="Cambria Math" panose="02040503050406030204" pitchFamily="18" charset="0"/>
                        </a:rPr>
                        <m:t>𝑁𝑜𝑟𝑚𝑎𝑙</m:t>
                      </m:r>
                      <m:r>
                        <a:rPr lang="en-GB" sz="2400" b="0" i="1" smtClean="0">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𝜇</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GB" sz="2400" i="1">
                              <a:latin typeface="Cambria Math" panose="02040503050406030204" pitchFamily="18" charset="0"/>
                            </a:rPr>
                            <m:t>𝜎</m:t>
                          </m:r>
                        </m:e>
                        <m:sub>
                          <m:r>
                            <a:rPr lang="en-US" sz="2400" b="0" i="1" smtClean="0">
                              <a:latin typeface="Cambria Math" panose="02040503050406030204" pitchFamily="18" charset="0"/>
                            </a:rPr>
                            <m:t>0</m:t>
                          </m:r>
                        </m:sub>
                      </m:sSub>
                      <m:r>
                        <a:rPr lang="en-GB" sz="2400" b="0" i="1" smtClean="0">
                          <a:latin typeface="Cambria Math" panose="02040503050406030204" pitchFamily="18" charset="0"/>
                        </a:rPr>
                        <m:t>)</m:t>
                      </m:r>
                    </m:oMath>
                  </m:oMathPara>
                </a14:m>
                <a:endParaRPr lang="en-GB" sz="2400" b="0" dirty="0">
                  <a:latin typeface="David" panose="020E0502060401010101" pitchFamily="34" charset="-79"/>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𝛽</m:t>
                          </m:r>
                        </m:e>
                        <m:sub>
                          <m:r>
                            <a:rPr lang="en-GB" sz="2400" b="0" i="1" smtClean="0">
                              <a:latin typeface="Cambria Math" panose="02040503050406030204" pitchFamily="18" charset="0"/>
                            </a:rPr>
                            <m:t>1</m:t>
                          </m:r>
                        </m:sub>
                      </m:sSub>
                      <m:r>
                        <a:rPr lang="en-GB" sz="2400" i="1">
                          <a:latin typeface="Cambria Math" panose="02040503050406030204" pitchFamily="18" charset="0"/>
                        </a:rPr>
                        <m:t>~</m:t>
                      </m:r>
                      <m:r>
                        <a:rPr lang="en-US" sz="2400" i="1" smtClean="0">
                          <a:latin typeface="Cambria Math" panose="02040503050406030204" pitchFamily="18" charset="0"/>
                        </a:rPr>
                        <m:t>𝑁</m:t>
                      </m:r>
                      <m:r>
                        <a:rPr lang="en-US" sz="2400" b="0" i="1" smtClean="0">
                          <a:latin typeface="Cambria Math" panose="02040503050406030204" pitchFamily="18" charset="0"/>
                        </a:rPr>
                        <m:t>𝑜𝑟𝑚𝑎𝑙</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r>
                                <a:rPr lang="en-GB" sz="2400" i="1">
                                  <a:latin typeface="Cambria Math" panose="02040503050406030204" pitchFamily="18" charset="0"/>
                                </a:rPr>
                                <m:t>𝜇</m:t>
                              </m:r>
                            </m:e>
                            <m:sub>
                              <m:r>
                                <a:rPr lang="en-US" sz="2400" b="0" i="1" smtClean="0">
                                  <a:latin typeface="Cambria Math" panose="02040503050406030204" pitchFamily="18" charset="0"/>
                                </a:rPr>
                                <m:t>1</m:t>
                              </m:r>
                            </m:sub>
                          </m:sSub>
                          <m:r>
                            <a:rPr lang="en-GB" sz="2400" i="1">
                              <a:latin typeface="Cambria Math" panose="02040503050406030204" pitchFamily="18" charset="0"/>
                            </a:rPr>
                            <m:t>, </m:t>
                          </m:r>
                          <m:sSub>
                            <m:sSubPr>
                              <m:ctrlPr>
                                <a:rPr lang="en-US" sz="2400" b="0" i="1" smtClean="0">
                                  <a:latin typeface="Cambria Math" panose="02040503050406030204" pitchFamily="18" charset="0"/>
                                </a:rPr>
                              </m:ctrlPr>
                            </m:sSubPr>
                            <m:e>
                              <m:r>
                                <a:rPr lang="en-GB" sz="2400" i="1">
                                  <a:latin typeface="Cambria Math" panose="02040503050406030204" pitchFamily="18" charset="0"/>
                                </a:rPr>
                                <m:t>𝜎</m:t>
                              </m:r>
                            </m:e>
                            <m:sub>
                              <m:r>
                                <a:rPr lang="en-US" sz="2400" b="0" i="1" smtClean="0">
                                  <a:latin typeface="Cambria Math" panose="02040503050406030204" pitchFamily="18" charset="0"/>
                                </a:rPr>
                                <m:t>1</m:t>
                              </m:r>
                            </m:sub>
                          </m:sSub>
                        </m:e>
                      </m:d>
                    </m:oMath>
                  </m:oMathPara>
                </a14:m>
                <a:endParaRPr lang="en-US" sz="2400" i="1" dirty="0">
                  <a:latin typeface="Cambria Math" panose="02040503050406030204" pitchFamily="18" charset="0"/>
                </a:endParaRPr>
              </a:p>
            </p:txBody>
          </p:sp>
        </mc:Choice>
        <mc:Fallback xmlns="">
          <p:sp>
            <p:nvSpPr>
              <p:cNvPr id="6" name="TextBox 5">
                <a:extLst>
                  <a:ext uri="{FF2B5EF4-FFF2-40B4-BE49-F238E27FC236}">
                    <a16:creationId xmlns:a16="http://schemas.microsoft.com/office/drawing/2014/main" id="{CB8FBA0C-95D0-26DA-A791-12CA50883528}"/>
                  </a:ext>
                </a:extLst>
              </p:cNvPr>
              <p:cNvSpPr txBox="1">
                <a:spLocks noRot="1" noChangeAspect="1" noMove="1" noResize="1" noEditPoints="1" noAdjustHandles="1" noChangeArrowheads="1" noChangeShapeType="1" noTextEdit="1"/>
              </p:cNvSpPr>
              <p:nvPr/>
            </p:nvSpPr>
            <p:spPr>
              <a:xfrm>
                <a:off x="2633235" y="2722207"/>
                <a:ext cx="2514600" cy="3416320"/>
              </a:xfrm>
              <a:prstGeom prst="rect">
                <a:avLst/>
              </a:prstGeom>
              <a:blipFill>
                <a:blip r:embed="rId3"/>
                <a:stretch>
                  <a:fillRect r="-4612"/>
                </a:stretch>
              </a:blipFill>
            </p:spPr>
            <p:txBody>
              <a:bodyPr/>
              <a:lstStyle/>
              <a:p>
                <a:r>
                  <a:rPr lang="he-IL">
                    <a:noFill/>
                  </a:rPr>
                  <a:t> </a:t>
                </a:r>
              </a:p>
            </p:txBody>
          </p:sp>
        </mc:Fallback>
      </mc:AlternateContent>
      <p:pic>
        <p:nvPicPr>
          <p:cNvPr id="8" name="Picture 7">
            <a:extLst>
              <a:ext uri="{FF2B5EF4-FFF2-40B4-BE49-F238E27FC236}">
                <a16:creationId xmlns:a16="http://schemas.microsoft.com/office/drawing/2014/main" id="{F642103E-0C63-2509-7BC7-72284AD42AC5}"/>
              </a:ext>
            </a:extLst>
          </p:cNvPr>
          <p:cNvPicPr>
            <a:picLocks noChangeAspect="1"/>
          </p:cNvPicPr>
          <p:nvPr/>
        </p:nvPicPr>
        <p:blipFill>
          <a:blip r:embed="rId4"/>
          <a:stretch>
            <a:fillRect/>
          </a:stretch>
        </p:blipFill>
        <p:spPr>
          <a:xfrm>
            <a:off x="6577579" y="2135470"/>
            <a:ext cx="5210766" cy="4589795"/>
          </a:xfrm>
          <a:prstGeom prst="rect">
            <a:avLst/>
          </a:prstGeom>
        </p:spPr>
      </p:pic>
    </p:spTree>
    <p:extLst>
      <p:ext uri="{BB962C8B-B14F-4D97-AF65-F5344CB8AC3E}">
        <p14:creationId xmlns:p14="http://schemas.microsoft.com/office/powerpoint/2010/main" val="419773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1E838-92FB-5847-A6E5-67EDF0555E93}"/>
            </a:ext>
          </a:extLst>
        </p:cNvPr>
        <p:cNvGrpSpPr/>
        <p:nvPr/>
      </p:nvGrpSpPr>
      <p:grpSpPr>
        <a:xfrm>
          <a:off x="0" y="0"/>
          <a:ext cx="0" cy="0"/>
          <a:chOff x="0" y="0"/>
          <a:chExt cx="0" cy="0"/>
        </a:xfrm>
      </p:grpSpPr>
      <p:sp>
        <p:nvSpPr>
          <p:cNvPr id="10" name="Rectangle: Rounded Corners 9">
            <a:extLst>
              <a:ext uri="{FF2B5EF4-FFF2-40B4-BE49-F238E27FC236}">
                <a16:creationId xmlns:a16="http://schemas.microsoft.com/office/drawing/2014/main" id="{528B06B1-7B91-E41D-6851-12BC8B559328}"/>
              </a:ext>
            </a:extLst>
          </p:cNvPr>
          <p:cNvSpPr/>
          <p:nvPr/>
        </p:nvSpPr>
        <p:spPr>
          <a:xfrm>
            <a:off x="111967" y="1754155"/>
            <a:ext cx="5495731" cy="4971110"/>
          </a:xfrm>
          <a:prstGeom prst="roundRect">
            <a:avLst>
              <a:gd name="adj" fmla="val 2446"/>
            </a:avLst>
          </a:prstGeom>
          <a:solidFill>
            <a:srgbClr val="FFC000">
              <a:alpha val="25098"/>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
        <p:nvSpPr>
          <p:cNvPr id="9" name="Rectangle: Rounded Corners 8">
            <a:extLst>
              <a:ext uri="{FF2B5EF4-FFF2-40B4-BE49-F238E27FC236}">
                <a16:creationId xmlns:a16="http://schemas.microsoft.com/office/drawing/2014/main" id="{6E0BE6AF-1C44-173E-CB87-5773012DC6A7}"/>
              </a:ext>
            </a:extLst>
          </p:cNvPr>
          <p:cNvSpPr/>
          <p:nvPr/>
        </p:nvSpPr>
        <p:spPr>
          <a:xfrm>
            <a:off x="5887616" y="1754155"/>
            <a:ext cx="6067079" cy="4971109"/>
          </a:xfrm>
          <a:prstGeom prst="roundRect">
            <a:avLst>
              <a:gd name="adj" fmla="val 2446"/>
            </a:avLst>
          </a:prstGeom>
          <a:solidFill>
            <a:srgbClr val="F2CFEE">
              <a:alpha val="25098"/>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
        <p:nvSpPr>
          <p:cNvPr id="2" name="Title 1">
            <a:extLst>
              <a:ext uri="{FF2B5EF4-FFF2-40B4-BE49-F238E27FC236}">
                <a16:creationId xmlns:a16="http://schemas.microsoft.com/office/drawing/2014/main" id="{8AC222D1-7F1F-A5D8-3C92-A42A2860C6CB}"/>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4B6BF077-1BF3-870F-B179-78859EA1CB19}"/>
              </a:ext>
            </a:extLst>
          </p:cNvPr>
          <p:cNvSpPr>
            <a:spLocks noGrp="1"/>
          </p:cNvSpPr>
          <p:nvPr>
            <p:ph idx="1"/>
          </p:nvPr>
        </p:nvSpPr>
        <p:spPr>
          <a:xfrm>
            <a:off x="838199" y="966557"/>
            <a:ext cx="10937033" cy="5378705"/>
          </a:xfrm>
        </p:spPr>
        <p:txBody>
          <a:bodyPr>
            <a:normAutofit/>
          </a:bodyPr>
          <a:lstStyle/>
          <a:p>
            <a:pPr marL="0" indent="0">
              <a:lnSpc>
                <a:spcPct val="150000"/>
              </a:lnSpc>
              <a:buNone/>
            </a:pPr>
            <a:endParaRPr lang="en-GB" dirty="0"/>
          </a:p>
          <a:p>
            <a:pPr marL="0" indent="0">
              <a:lnSpc>
                <a:spcPct val="150000"/>
              </a:lnSpc>
              <a:buNone/>
            </a:pPr>
            <a:r>
              <a:rPr lang="en-GB" dirty="0"/>
              <a:t>Normal Models                                            Simple Linear Regression Model</a:t>
            </a:r>
            <a:endParaRPr lang="en-US" dirty="0"/>
          </a:p>
        </p:txBody>
      </p:sp>
      <p:pic>
        <p:nvPicPr>
          <p:cNvPr id="4" name="Picture 3" descr="A diagram of normal distribution&#10;&#10;AI-generated content may be incorrect.">
            <a:extLst>
              <a:ext uri="{FF2B5EF4-FFF2-40B4-BE49-F238E27FC236}">
                <a16:creationId xmlns:a16="http://schemas.microsoft.com/office/drawing/2014/main" id="{90F6F6C8-0938-05E2-800E-5E2F416C6396}"/>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25006" t="23968" r="28220" b="9207"/>
          <a:stretch/>
        </p:blipFill>
        <p:spPr>
          <a:xfrm>
            <a:off x="1647584" y="2670099"/>
            <a:ext cx="3763195" cy="4031311"/>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AC2573-53EE-2274-6C40-959463981A0E}"/>
                  </a:ext>
                </a:extLst>
              </p:cNvPr>
              <p:cNvSpPr txBox="1"/>
              <p:nvPr/>
            </p:nvSpPr>
            <p:spPr>
              <a:xfrm>
                <a:off x="237305" y="4914051"/>
                <a:ext cx="2514600" cy="125649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r>
                            <a:rPr lang="en-GB" sz="2400" b="0" i="1" smtClean="0">
                              <a:latin typeface="Cambria Math" panose="02040503050406030204" pitchFamily="18" charset="0"/>
                            </a:rPr>
                            <m:t>𝜇</m:t>
                          </m:r>
                          <m:r>
                            <a:rPr lang="en-GB" sz="2400" b="0" i="1" smtClean="0">
                              <a:latin typeface="Cambria Math" panose="02040503050406030204" pitchFamily="18" charset="0"/>
                            </a:rPr>
                            <m:t>, </m:t>
                          </m:r>
                          <m:r>
                            <a:rPr lang="en-GB" sz="2400" b="0" i="1" smtClean="0">
                              <a:latin typeface="Cambria Math" panose="02040503050406030204" pitchFamily="18" charset="0"/>
                            </a:rPr>
                            <m:t>𝜎</m:t>
                          </m:r>
                        </m:e>
                      </m:d>
                    </m:oMath>
                  </m:oMathPara>
                </a14:m>
                <a:endParaRPr lang="en-GB" sz="2400" b="0" dirty="0">
                  <a:latin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𝜇</m:t>
                      </m:r>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𝜇</m:t>
                              </m:r>
                            </m:sub>
                          </m:sSub>
                          <m:r>
                            <a:rPr lang="en-GB" sz="2400" b="0" i="1" smtClean="0">
                              <a:latin typeface="Cambria Math" panose="02040503050406030204" pitchFamily="18" charset="0"/>
                            </a:rPr>
                            <m:t>, </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𝜎</m:t>
                              </m:r>
                            </m:e>
                            <m:sub>
                              <m:r>
                                <a:rPr lang="en-GB" sz="2400" b="0" i="1" smtClean="0">
                                  <a:latin typeface="Cambria Math" panose="02040503050406030204" pitchFamily="18" charset="0"/>
                                </a:rPr>
                                <m:t>𝜇</m:t>
                              </m:r>
                            </m:sub>
                          </m:sSub>
                        </m:e>
                      </m:d>
                    </m:oMath>
                  </m:oMathPara>
                </a14:m>
                <a:endParaRPr lang="en-GB" sz="2400" b="0" dirty="0">
                  <a:latin typeface="David" panose="020E0502060401010101" pitchFamily="34" charset="-79"/>
                </a:endParaRPr>
              </a:p>
              <a:p>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𝜎</m:t>
                      </m:r>
                      <m:r>
                        <a:rPr lang="en-GB" sz="2400" b="0" i="1" smtClean="0">
                          <a:latin typeface="Cambria Math" panose="02040503050406030204" pitchFamily="18" charset="0"/>
                        </a:rPr>
                        <m:t>~</m:t>
                      </m:r>
                      <m:r>
                        <a:rPr lang="en-GB" sz="2400" b="0" i="1" smtClean="0">
                          <a:latin typeface="Cambria Math" panose="02040503050406030204" pitchFamily="18" charset="0"/>
                        </a:rPr>
                        <m:t>𝐻𝑎𝑙𝑓𝑁𝑜𝑟𝑚</m:t>
                      </m:r>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𝜎</m:t>
                          </m:r>
                        </m:e>
                        <m:sub>
                          <m:r>
                            <a:rPr lang="en-GB" sz="2400" b="0" i="1" smtClean="0">
                              <a:latin typeface="Cambria Math" panose="02040503050406030204" pitchFamily="18" charset="0"/>
                            </a:rPr>
                            <m:t>𝜎</m:t>
                          </m:r>
                        </m:sub>
                      </m:sSub>
                      <m:r>
                        <a:rPr lang="en-GB" sz="2400" b="0" i="1" smtClean="0">
                          <a:latin typeface="Cambria Math" panose="02040503050406030204" pitchFamily="18" charset="0"/>
                        </a:rPr>
                        <m:t>)</m:t>
                      </m:r>
                    </m:oMath>
                  </m:oMathPara>
                </a14:m>
                <a:endParaRPr lang="en-GB" sz="2400" dirty="0">
                  <a:latin typeface="David" panose="020E0502060401010101" pitchFamily="34" charset="-79"/>
                </a:endParaRPr>
              </a:p>
            </p:txBody>
          </p:sp>
        </mc:Choice>
        <mc:Fallback xmlns="">
          <p:sp>
            <p:nvSpPr>
              <p:cNvPr id="5" name="TextBox 4">
                <a:extLst>
                  <a:ext uri="{FF2B5EF4-FFF2-40B4-BE49-F238E27FC236}">
                    <a16:creationId xmlns:a16="http://schemas.microsoft.com/office/drawing/2014/main" id="{8AAC2573-53EE-2274-6C40-959463981A0E}"/>
                  </a:ext>
                </a:extLst>
              </p:cNvPr>
              <p:cNvSpPr txBox="1">
                <a:spLocks noRot="1" noChangeAspect="1" noMove="1" noResize="1" noEditPoints="1" noAdjustHandles="1" noChangeArrowheads="1" noChangeShapeType="1" noTextEdit="1"/>
              </p:cNvSpPr>
              <p:nvPr/>
            </p:nvSpPr>
            <p:spPr>
              <a:xfrm>
                <a:off x="237305" y="4914051"/>
                <a:ext cx="2514600" cy="1256498"/>
              </a:xfrm>
              <a:prstGeom prst="rect">
                <a:avLst/>
              </a:prstGeom>
              <a:blipFill>
                <a:blip r:embed="rId4"/>
                <a:stretch>
                  <a:fillRect r="-6068" b="-5340"/>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728190B-A16A-B06F-1144-568F16B88E1C}"/>
                  </a:ext>
                </a:extLst>
              </p:cNvPr>
              <p:cNvSpPr txBox="1"/>
              <p:nvPr/>
            </p:nvSpPr>
            <p:spPr>
              <a:xfrm>
                <a:off x="6039429" y="3839088"/>
                <a:ext cx="2514600" cy="2862322"/>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 </m:t>
                          </m:r>
                          <m:r>
                            <a:rPr lang="en-GB" sz="2400" b="0" i="1" smtClean="0">
                              <a:latin typeface="Cambria Math" panose="02040503050406030204" pitchFamily="18" charset="0"/>
                            </a:rPr>
                            <m:t>𝜎</m:t>
                          </m:r>
                        </m:e>
                      </m:d>
                    </m:oMath>
                  </m:oMathPara>
                </a14:m>
                <a:endParaRPr lang="en-US" sz="2400"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1</m:t>
                          </m:r>
                        </m:sub>
                      </m:sSub>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𝑖</m:t>
                          </m:r>
                        </m:sub>
                      </m:sSub>
                    </m:oMath>
                  </m:oMathPara>
                </a14:m>
                <a:endParaRPr lang="en-GB" sz="2400" b="0" dirty="0">
                  <a:latin typeface="David" panose="020E0502060401010101" pitchFamily="34" charset="-79"/>
                </a:endParaRPr>
              </a:p>
              <a:p>
                <a:pPr>
                  <a:lnSpc>
                    <a:spcPct val="150000"/>
                  </a:lnSpc>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rPr>
                        <m:t>𝜎</m:t>
                      </m:r>
                      <m:r>
                        <a:rPr lang="en-GB" sz="2400" i="1">
                          <a:latin typeface="Cambria Math" panose="02040503050406030204" pitchFamily="18" charset="0"/>
                        </a:rPr>
                        <m:t>~</m:t>
                      </m:r>
                      <m:r>
                        <a:rPr lang="en-GB" sz="2400" i="1">
                          <a:latin typeface="Cambria Math" panose="02040503050406030204" pitchFamily="18" charset="0"/>
                        </a:rPr>
                        <m:t>𝐻𝑎𝑙𝑓𝑁𝑜𝑟𝑚</m:t>
                      </m:r>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𝜎</m:t>
                          </m:r>
                        </m:e>
                        <m:sub>
                          <m:r>
                            <a:rPr lang="en-GB" sz="2400" i="1">
                              <a:latin typeface="Cambria Math" panose="02040503050406030204" pitchFamily="18" charset="0"/>
                            </a:rPr>
                            <m:t>𝜎</m:t>
                          </m:r>
                        </m:sub>
                      </m:sSub>
                      <m:r>
                        <a:rPr lang="en-GB" sz="2400" i="1">
                          <a:latin typeface="Cambria Math" panose="02040503050406030204" pitchFamily="18" charset="0"/>
                        </a:rPr>
                        <m:t>)</m:t>
                      </m:r>
                    </m:oMath>
                  </m:oMathPara>
                </a14:m>
                <a:endParaRPr lang="en-GB" sz="2400" b="0" dirty="0">
                  <a:latin typeface="David" panose="020E0502060401010101" pitchFamily="34" charset="-79"/>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m:t>
                      </m:r>
                      <m:r>
                        <a:rPr lang="en-US" sz="2400" b="0" i="1" smtClean="0">
                          <a:latin typeface="Cambria Math" panose="02040503050406030204" pitchFamily="18" charset="0"/>
                        </a:rPr>
                        <m:t>𝑁𝑜𝑟𝑚𝑎𝑙</m:t>
                      </m:r>
                      <m:r>
                        <a:rPr lang="en-GB" sz="2400" b="0" i="1" smtClean="0">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𝜇</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GB" sz="2400" i="1">
                              <a:latin typeface="Cambria Math" panose="02040503050406030204" pitchFamily="18" charset="0"/>
                            </a:rPr>
                            <m:t>𝜎</m:t>
                          </m:r>
                        </m:e>
                        <m:sub>
                          <m:r>
                            <a:rPr lang="en-US" sz="2400" b="0" i="1" smtClean="0">
                              <a:latin typeface="Cambria Math" panose="02040503050406030204" pitchFamily="18" charset="0"/>
                            </a:rPr>
                            <m:t>0</m:t>
                          </m:r>
                        </m:sub>
                      </m:sSub>
                      <m:r>
                        <a:rPr lang="en-GB" sz="2400" b="0" i="1" smtClean="0">
                          <a:latin typeface="Cambria Math" panose="02040503050406030204" pitchFamily="18" charset="0"/>
                        </a:rPr>
                        <m:t>)</m:t>
                      </m:r>
                    </m:oMath>
                  </m:oMathPara>
                </a14:m>
                <a:endParaRPr lang="en-GB" sz="2400" b="0" dirty="0">
                  <a:latin typeface="David" panose="020E0502060401010101" pitchFamily="34" charset="-79"/>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𝛽</m:t>
                          </m:r>
                        </m:e>
                        <m:sub>
                          <m:r>
                            <a:rPr lang="en-GB" sz="2400" b="0" i="1" smtClean="0">
                              <a:latin typeface="Cambria Math" panose="02040503050406030204" pitchFamily="18" charset="0"/>
                            </a:rPr>
                            <m:t>1</m:t>
                          </m:r>
                        </m:sub>
                      </m:sSub>
                      <m:r>
                        <a:rPr lang="en-GB" sz="2400" i="1">
                          <a:latin typeface="Cambria Math" panose="02040503050406030204" pitchFamily="18" charset="0"/>
                        </a:rPr>
                        <m:t>~</m:t>
                      </m:r>
                      <m:r>
                        <a:rPr lang="en-US" sz="2400" i="1" smtClean="0">
                          <a:latin typeface="Cambria Math" panose="02040503050406030204" pitchFamily="18" charset="0"/>
                        </a:rPr>
                        <m:t>𝑁</m:t>
                      </m:r>
                      <m:r>
                        <a:rPr lang="en-US" sz="2400" b="0" i="1" smtClean="0">
                          <a:latin typeface="Cambria Math" panose="02040503050406030204" pitchFamily="18" charset="0"/>
                        </a:rPr>
                        <m:t>𝑜𝑟𝑚𝑎𝑙</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r>
                                <a:rPr lang="en-GB" sz="2400" i="1">
                                  <a:latin typeface="Cambria Math" panose="02040503050406030204" pitchFamily="18" charset="0"/>
                                </a:rPr>
                                <m:t>𝜇</m:t>
                              </m:r>
                            </m:e>
                            <m:sub>
                              <m:r>
                                <a:rPr lang="en-US" sz="2400" b="0" i="1" smtClean="0">
                                  <a:latin typeface="Cambria Math" panose="02040503050406030204" pitchFamily="18" charset="0"/>
                                </a:rPr>
                                <m:t>1</m:t>
                              </m:r>
                            </m:sub>
                          </m:sSub>
                          <m:r>
                            <a:rPr lang="en-GB" sz="2400" i="1">
                              <a:latin typeface="Cambria Math" panose="02040503050406030204" pitchFamily="18" charset="0"/>
                            </a:rPr>
                            <m:t>, </m:t>
                          </m:r>
                          <m:sSub>
                            <m:sSubPr>
                              <m:ctrlPr>
                                <a:rPr lang="en-US" sz="2400" b="0" i="1" smtClean="0">
                                  <a:latin typeface="Cambria Math" panose="02040503050406030204" pitchFamily="18" charset="0"/>
                                </a:rPr>
                              </m:ctrlPr>
                            </m:sSubPr>
                            <m:e>
                              <m:r>
                                <a:rPr lang="en-GB" sz="2400" i="1">
                                  <a:latin typeface="Cambria Math" panose="02040503050406030204" pitchFamily="18" charset="0"/>
                                </a:rPr>
                                <m:t>𝜎</m:t>
                              </m:r>
                            </m:e>
                            <m:sub>
                              <m:r>
                                <a:rPr lang="en-US" sz="2400" b="0" i="1" smtClean="0">
                                  <a:latin typeface="Cambria Math" panose="02040503050406030204" pitchFamily="18" charset="0"/>
                                </a:rPr>
                                <m:t>1</m:t>
                              </m:r>
                            </m:sub>
                          </m:sSub>
                        </m:e>
                      </m:d>
                    </m:oMath>
                  </m:oMathPara>
                </a14:m>
                <a:endParaRPr lang="en-US" sz="2400" i="1" dirty="0">
                  <a:latin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7728190B-A16A-B06F-1144-568F16B88E1C}"/>
                  </a:ext>
                </a:extLst>
              </p:cNvPr>
              <p:cNvSpPr txBox="1">
                <a:spLocks noRot="1" noChangeAspect="1" noMove="1" noResize="1" noEditPoints="1" noAdjustHandles="1" noChangeArrowheads="1" noChangeShapeType="1" noTextEdit="1"/>
              </p:cNvSpPr>
              <p:nvPr/>
            </p:nvSpPr>
            <p:spPr>
              <a:xfrm>
                <a:off x="6039429" y="3839088"/>
                <a:ext cx="2514600" cy="2862322"/>
              </a:xfrm>
              <a:prstGeom prst="rect">
                <a:avLst/>
              </a:prstGeom>
              <a:blipFill>
                <a:blip r:embed="rId6"/>
                <a:stretch>
                  <a:fillRect r="-4612"/>
                </a:stretch>
              </a:blipFill>
            </p:spPr>
            <p:txBody>
              <a:bodyPr/>
              <a:lstStyle/>
              <a:p>
                <a:r>
                  <a:rPr lang="he-IL">
                    <a:noFill/>
                  </a:rPr>
                  <a:t> </a:t>
                </a:r>
              </a:p>
            </p:txBody>
          </p:sp>
        </mc:Fallback>
      </mc:AlternateContent>
      <p:pic>
        <p:nvPicPr>
          <p:cNvPr id="6" name="Picture 5">
            <a:extLst>
              <a:ext uri="{FF2B5EF4-FFF2-40B4-BE49-F238E27FC236}">
                <a16:creationId xmlns:a16="http://schemas.microsoft.com/office/drawing/2014/main" id="{BAAAFD63-9EB8-802D-8CBE-BC0459070688}"/>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7564444" y="2396159"/>
            <a:ext cx="4605704" cy="4056839"/>
          </a:xfrm>
          <a:prstGeom prst="rect">
            <a:avLst/>
          </a:prstGeom>
        </p:spPr>
      </p:pic>
    </p:spTree>
    <p:extLst>
      <p:ext uri="{BB962C8B-B14F-4D97-AF65-F5344CB8AC3E}">
        <p14:creationId xmlns:p14="http://schemas.microsoft.com/office/powerpoint/2010/main" val="368020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4763D-80E5-8D29-B3A9-D512F12B6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4E28C-52F1-191E-7645-D2A7356A1FA9}"/>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493C1D-B300-0C6F-8384-08CFD8CD2A9E}"/>
                  </a:ext>
                </a:extLst>
              </p:cNvPr>
              <p:cNvSpPr>
                <a:spLocks noGrp="1"/>
              </p:cNvSpPr>
              <p:nvPr>
                <p:ph idx="1"/>
              </p:nvPr>
            </p:nvSpPr>
            <p:spPr>
              <a:xfrm>
                <a:off x="838200" y="1346560"/>
                <a:ext cx="10515600" cy="5378705"/>
              </a:xfrm>
            </p:spPr>
            <p:txBody>
              <a:bodyPr>
                <a:normAutofit/>
              </a:bodyPr>
              <a:lstStyle/>
              <a:p>
                <a:pPr>
                  <a:lnSpc>
                    <a:spcPct val="150000"/>
                  </a:lnSpc>
                </a:pPr>
                <a:r>
                  <a:rPr lang="en-GB" dirty="0"/>
                  <a:t>The main idea - extend the normal model by adding a predictor variable, x, to the estimation of the mean, </a:t>
                </a:r>
                <a14:m>
                  <m:oMath xmlns:m="http://schemas.openxmlformats.org/officeDocument/2006/math">
                    <m:r>
                      <a:rPr lang="en-GB" b="0" i="1" smtClean="0">
                        <a:latin typeface="Cambria Math" panose="02040503050406030204" pitchFamily="18" charset="0"/>
                      </a:rPr>
                      <m:t>𝜇</m:t>
                    </m:r>
                    <m:r>
                      <a:rPr lang="en-GB" b="0" i="0" smtClean="0">
                        <a:latin typeface="Cambria Math" panose="02040503050406030204" pitchFamily="18" charset="0"/>
                      </a:rPr>
                      <m:t>.</m:t>
                    </m:r>
                  </m:oMath>
                </a14:m>
                <a:endParaRPr lang="en-US" dirty="0"/>
              </a:p>
              <a:p>
                <a:pPr>
                  <a:lnSpc>
                    <a:spcPct val="150000"/>
                  </a:lnSpc>
                </a:pPr>
                <a:r>
                  <a:rPr lang="en-US" dirty="0"/>
                  <a:t>Creates a </a:t>
                </a:r>
                <a:r>
                  <a:rPr lang="en-US" b="1" dirty="0"/>
                  <a:t>linear</a:t>
                </a:r>
                <a:r>
                  <a:rPr lang="en-US" dirty="0"/>
                  <a:t> relationship between x and y.</a:t>
                </a:r>
              </a:p>
              <a:p>
                <a:pPr>
                  <a:lnSpc>
                    <a:spcPct val="150000"/>
                  </a:lnSpc>
                </a:pPr>
                <a:r>
                  <a:rPr lang="en-US" dirty="0"/>
                  <a:t>The relationship is </a:t>
                </a:r>
                <a:r>
                  <a:rPr lang="en-US" b="1" dirty="0"/>
                  <a:t>not deterministic </a:t>
                </a:r>
                <a:r>
                  <a:rPr lang="en-US" dirty="0"/>
                  <a:t>because of the noise term </a:t>
                </a:r>
                <a14:m>
                  <m:oMath xmlns:m="http://schemas.openxmlformats.org/officeDocument/2006/math">
                    <m:r>
                      <a:rPr lang="en-GB" b="0" i="1" smtClean="0">
                        <a:latin typeface="Cambria Math" panose="02040503050406030204" pitchFamily="18" charset="0"/>
                      </a:rPr>
                      <m:t>𝜎</m:t>
                    </m:r>
                  </m:oMath>
                </a14:m>
                <a:r>
                  <a:rPr lang="en-US" b="1" dirty="0"/>
                  <a:t>.</a:t>
                </a:r>
              </a:p>
            </p:txBody>
          </p:sp>
        </mc:Choice>
        <mc:Fallback xmlns="">
          <p:sp>
            <p:nvSpPr>
              <p:cNvPr id="3" name="Content Placeholder 2">
                <a:extLst>
                  <a:ext uri="{FF2B5EF4-FFF2-40B4-BE49-F238E27FC236}">
                    <a16:creationId xmlns:a16="http://schemas.microsoft.com/office/drawing/2014/main" id="{B2493C1D-B300-0C6F-8384-08CFD8CD2A9E}"/>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043"/>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6770076-ED1A-46E8-A3FD-3D9BC25E983E}"/>
                  </a:ext>
                </a:extLst>
              </p:cNvPr>
              <p:cNvSpPr txBox="1"/>
              <p:nvPr/>
            </p:nvSpPr>
            <p:spPr>
              <a:xfrm>
                <a:off x="7807569" y="312550"/>
                <a:ext cx="4009471" cy="923330"/>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𝑦</m:t>
                          </m:r>
                        </m:e>
                        <m:sub>
                          <m:r>
                            <a:rPr lang="en-GB" sz="1800" b="0" i="1" smtClean="0">
                              <a:latin typeface="Cambria Math" panose="02040503050406030204" pitchFamily="18" charset="0"/>
                            </a:rPr>
                            <m:t>𝑖</m:t>
                          </m:r>
                        </m:sub>
                      </m:sSub>
                      <m:r>
                        <a:rPr lang="en-GB" sz="1800" b="0" i="1" smtClean="0">
                          <a:latin typeface="Cambria Math" panose="02040503050406030204" pitchFamily="18" charset="0"/>
                        </a:rPr>
                        <m:t>~</m:t>
                      </m:r>
                      <m:r>
                        <a:rPr lang="en-GB" sz="1800" b="0" i="1" smtClean="0">
                          <a:latin typeface="Cambria Math" panose="02040503050406030204" pitchFamily="18" charset="0"/>
                        </a:rPr>
                        <m:t>𝑁</m:t>
                      </m:r>
                      <m:d>
                        <m:dPr>
                          <m:ctrlPr>
                            <a:rPr lang="en-GB" sz="1800" b="0" i="1" smtClean="0">
                              <a:latin typeface="Cambria Math" panose="02040503050406030204" pitchFamily="18" charset="0"/>
                            </a:rPr>
                          </m:ctrlPr>
                        </m:dPr>
                        <m:e>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𝜇</m:t>
                              </m:r>
                            </m:e>
                            <m:sub>
                              <m:r>
                                <a:rPr lang="en-GB" sz="1800" b="0" i="1" smtClean="0">
                                  <a:latin typeface="Cambria Math" panose="02040503050406030204" pitchFamily="18" charset="0"/>
                                </a:rPr>
                                <m:t>𝑖</m:t>
                              </m:r>
                            </m:sub>
                          </m:sSub>
                          <m:r>
                            <a:rPr lang="en-GB" sz="1800" b="0" i="1" smtClean="0">
                              <a:latin typeface="Cambria Math" panose="02040503050406030204" pitchFamily="18" charset="0"/>
                            </a:rPr>
                            <m:t>, </m:t>
                          </m:r>
                          <m:r>
                            <a:rPr lang="en-GB" sz="1800" b="0" i="1" smtClean="0">
                              <a:latin typeface="Cambria Math" panose="02040503050406030204" pitchFamily="18" charset="0"/>
                            </a:rPr>
                            <m:t>𝜎</m:t>
                          </m:r>
                        </m:e>
                      </m:d>
                    </m:oMath>
                  </m:oMathPara>
                </a14:m>
                <a:endParaRPr lang="en-US" sz="1800"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𝜇</m:t>
                          </m:r>
                        </m:e>
                        <m:sub>
                          <m:r>
                            <a:rPr lang="en-GB" sz="1800" b="0" i="1" smtClean="0">
                              <a:latin typeface="Cambria Math" panose="02040503050406030204" pitchFamily="18" charset="0"/>
                            </a:rPr>
                            <m:t>𝑖</m:t>
                          </m:r>
                        </m:sub>
                      </m:sSub>
                      <m:r>
                        <a:rPr lang="en-GB" sz="1800" b="0" i="1" smtClean="0">
                          <a:latin typeface="Cambria Math" panose="02040503050406030204" pitchFamily="18" charset="0"/>
                        </a:rPr>
                        <m:t>=</m:t>
                      </m:r>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𝛽</m:t>
                          </m:r>
                        </m:e>
                        <m:sub>
                          <m:r>
                            <a:rPr lang="en-GB" sz="1800" b="0" i="1" smtClean="0">
                              <a:latin typeface="Cambria Math" panose="02040503050406030204" pitchFamily="18" charset="0"/>
                            </a:rPr>
                            <m:t>0</m:t>
                          </m:r>
                        </m:sub>
                      </m:sSub>
                      <m:r>
                        <a:rPr lang="en-GB" sz="1800" b="0" i="1" smtClean="0">
                          <a:latin typeface="Cambria Math" panose="02040503050406030204" pitchFamily="18" charset="0"/>
                        </a:rPr>
                        <m:t>+</m:t>
                      </m:r>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𝛽</m:t>
                          </m:r>
                        </m:e>
                        <m:sub>
                          <m:r>
                            <a:rPr lang="en-GB" sz="1800" b="0" i="1" smtClean="0">
                              <a:latin typeface="Cambria Math" panose="02040503050406030204" pitchFamily="18" charset="0"/>
                            </a:rPr>
                            <m:t>1</m:t>
                          </m:r>
                        </m:sub>
                      </m:sSub>
                      <m:sSub>
                        <m:sSubPr>
                          <m:ctrlPr>
                            <a:rPr lang="en-GB" sz="1800" b="0" i="1" smtClean="0">
                              <a:latin typeface="Cambria Math" panose="02040503050406030204" pitchFamily="18" charset="0"/>
                            </a:rPr>
                          </m:ctrlPr>
                        </m:sSubPr>
                        <m:e>
                          <m:r>
                            <a:rPr lang="en-GB" sz="1800" b="0" i="1" smtClean="0">
                              <a:latin typeface="Cambria Math" panose="02040503050406030204" pitchFamily="18" charset="0"/>
                            </a:rPr>
                            <m:t>𝑥</m:t>
                          </m:r>
                        </m:e>
                        <m:sub>
                          <m:r>
                            <a:rPr lang="en-GB" sz="1800" b="0" i="1" smtClean="0">
                              <a:latin typeface="Cambria Math" panose="02040503050406030204" pitchFamily="18" charset="0"/>
                            </a:rPr>
                            <m:t>𝑖</m:t>
                          </m:r>
                        </m:sub>
                      </m:sSub>
                    </m:oMath>
                  </m:oMathPara>
                </a14:m>
                <a:endParaRPr lang="he-IL" dirty="0">
                  <a:latin typeface="David" panose="020E0502060401010101" pitchFamily="34" charset="-79"/>
                </a:endParaRPr>
              </a:p>
            </p:txBody>
          </p:sp>
        </mc:Choice>
        <mc:Fallback xmlns="">
          <p:sp>
            <p:nvSpPr>
              <p:cNvPr id="5" name="TextBox 4">
                <a:extLst>
                  <a:ext uri="{FF2B5EF4-FFF2-40B4-BE49-F238E27FC236}">
                    <a16:creationId xmlns:a16="http://schemas.microsoft.com/office/drawing/2014/main" id="{C6770076-ED1A-46E8-A3FD-3D9BC25E983E}"/>
                  </a:ext>
                </a:extLst>
              </p:cNvPr>
              <p:cNvSpPr txBox="1">
                <a:spLocks noRot="1" noChangeAspect="1" noMove="1" noResize="1" noEditPoints="1" noAdjustHandles="1" noChangeArrowheads="1" noChangeShapeType="1" noTextEdit="1"/>
              </p:cNvSpPr>
              <p:nvPr/>
            </p:nvSpPr>
            <p:spPr>
              <a:xfrm>
                <a:off x="7807569" y="312550"/>
                <a:ext cx="4009471" cy="923330"/>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588153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E4467-8436-4245-F830-9CA534665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A0F65F-5B11-8049-D9E4-BFC93C43E6E3}"/>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7F43DAC-EE32-1616-523D-B2E146C25BFB}"/>
                  </a:ext>
                </a:extLst>
              </p:cNvPr>
              <p:cNvSpPr>
                <a:spLocks noGrp="1"/>
              </p:cNvSpPr>
              <p:nvPr>
                <p:ph idx="1"/>
              </p:nvPr>
            </p:nvSpPr>
            <p:spPr>
              <a:xfrm>
                <a:off x="838200" y="1346560"/>
                <a:ext cx="10515600" cy="4699677"/>
              </a:xfrm>
            </p:spPr>
            <p:txBody>
              <a:bodyPr>
                <a:normAutofit/>
              </a:bodyPr>
              <a:lstStyle/>
              <a:p>
                <a:pPr>
                  <a:lnSpc>
                    <a:spcPct val="150000"/>
                  </a:lnSpc>
                </a:pPr>
                <a:r>
                  <a:rPr lang="en-GB" dirty="0"/>
                  <a:t>The main idea - extend the normal model by adding a predictor variable, x, to the estimation of the mean, </a:t>
                </a:r>
                <a14:m>
                  <m:oMath xmlns:m="http://schemas.openxmlformats.org/officeDocument/2006/math">
                    <m:r>
                      <a:rPr lang="en-GB" b="0" i="1" smtClean="0">
                        <a:latin typeface="Cambria Math" panose="02040503050406030204" pitchFamily="18" charset="0"/>
                      </a:rPr>
                      <m:t>𝜇</m:t>
                    </m:r>
                    <m:r>
                      <a:rPr lang="en-GB" b="0" i="0" smtClean="0">
                        <a:latin typeface="Cambria Math" panose="02040503050406030204" pitchFamily="18" charset="0"/>
                      </a:rPr>
                      <m:t>.</m:t>
                    </m:r>
                  </m:oMath>
                </a14:m>
                <a:endParaRPr lang="en-US" dirty="0"/>
              </a:p>
              <a:p>
                <a:pPr>
                  <a:lnSpc>
                    <a:spcPct val="150000"/>
                  </a:lnSpc>
                </a:pPr>
                <a:r>
                  <a:rPr lang="en-US" dirty="0"/>
                  <a:t>Creates a </a:t>
                </a:r>
                <a:r>
                  <a:rPr lang="en-US" b="1" dirty="0"/>
                  <a:t>linear</a:t>
                </a:r>
                <a:r>
                  <a:rPr lang="en-US" dirty="0"/>
                  <a:t> relationship between x and y.</a:t>
                </a:r>
              </a:p>
              <a:p>
                <a:pPr>
                  <a:lnSpc>
                    <a:spcPct val="150000"/>
                  </a:lnSpc>
                </a:pPr>
                <a:r>
                  <a:rPr lang="en-US" dirty="0"/>
                  <a:t>The relationship is </a:t>
                </a:r>
                <a:r>
                  <a:rPr lang="en-US" b="1" dirty="0"/>
                  <a:t>not deterministic </a:t>
                </a:r>
                <a:r>
                  <a:rPr lang="en-US" dirty="0"/>
                  <a:t>because of the noise term </a:t>
                </a:r>
                <a14:m>
                  <m:oMath xmlns:m="http://schemas.openxmlformats.org/officeDocument/2006/math">
                    <m:r>
                      <a:rPr lang="en-GB" b="0" i="1" smtClean="0">
                        <a:latin typeface="Cambria Math" panose="02040503050406030204" pitchFamily="18" charset="0"/>
                      </a:rPr>
                      <m:t>𝜎</m:t>
                    </m:r>
                  </m:oMath>
                </a14:m>
                <a:r>
                  <a:rPr lang="en-US" b="1" dirty="0"/>
                  <a:t>.</a:t>
                </a:r>
              </a:p>
              <a:p>
                <a:pPr>
                  <a:lnSpc>
                    <a:spcPct val="150000"/>
                  </a:lnSpc>
                </a:pPr>
                <a:r>
                  <a:rPr lang="en-US" dirty="0"/>
                  <a:t>The </a:t>
                </a:r>
                <a:r>
                  <a:rPr lang="en-US" b="1" dirty="0"/>
                  <a:t>intercept</a:t>
                </a:r>
                <a:r>
                  <a:rPr lang="en-US" dirty="0"/>
                  <a:t> (</a:t>
                </a:r>
                <a14:m>
                  <m:oMath xmlns:m="http://schemas.openxmlformats.org/officeDocument/2006/math">
                    <m:sSub>
                      <m:sSubPr>
                        <m:ctrlPr>
                          <a:rPr lang="en-US" i="1" dirty="0" smtClean="0">
                            <a:latin typeface="Cambria Math" panose="02040503050406030204" pitchFamily="18" charset="0"/>
                          </a:rPr>
                        </m:ctrlPr>
                      </m:sSubPr>
                      <m:e>
                        <m:r>
                          <m:rPr>
                            <m:sty m:val="p"/>
                          </m:rPr>
                          <a:rPr lang="el-GR" i="1" dirty="0" smtClean="0">
                            <a:latin typeface="Cambria Math" panose="02040503050406030204" pitchFamily="18" charset="0"/>
                            <a:ea typeface="Cambria Math" panose="02040503050406030204" pitchFamily="18" charset="0"/>
                          </a:rPr>
                          <m:t>β</m:t>
                        </m:r>
                      </m:e>
                      <m:sub>
                        <m:r>
                          <a:rPr lang="en-US" i="1" dirty="0" smtClean="0">
                            <a:latin typeface="Cambria Math" panose="02040503050406030204" pitchFamily="18" charset="0"/>
                          </a:rPr>
                          <m:t>0</m:t>
                        </m:r>
                      </m:sub>
                    </m:sSub>
                  </m:oMath>
                </a14:m>
                <a:r>
                  <a:rPr lang="en-US" dirty="0"/>
                  <a:t>) tells us the value of y when x=0.</a:t>
                </a:r>
              </a:p>
              <a:p>
                <a:pPr>
                  <a:lnSpc>
                    <a:spcPct val="150000"/>
                  </a:lnSpc>
                </a:pPr>
                <a:r>
                  <a:rPr lang="en-US" dirty="0"/>
                  <a:t>The </a:t>
                </a:r>
                <a:r>
                  <a:rPr lang="en-US" b="1" dirty="0"/>
                  <a:t>slope</a:t>
                </a:r>
                <a:r>
                  <a:rPr lang="en-US" dirty="0"/>
                  <a:t> (</a:t>
                </a:r>
                <a14:m>
                  <m:oMath xmlns:m="http://schemas.openxmlformats.org/officeDocument/2006/math">
                    <m:sSub>
                      <m:sSubPr>
                        <m:ctrlPr>
                          <a:rPr lang="en-US" b="0" i="1" dirty="0" smtClean="0">
                            <a:latin typeface="Cambria Math" panose="02040503050406030204" pitchFamily="18" charset="0"/>
                            <a:ea typeface="Cambria Math" panose="02040503050406030204" pitchFamily="18" charset="0"/>
                          </a:rPr>
                        </m:ctrlPr>
                      </m:sSubPr>
                      <m:e>
                        <m:r>
                          <m:rPr>
                            <m:sty m:val="p"/>
                          </m:rPr>
                          <a:rPr lang="el-GR" i="1" dirty="0">
                            <a:latin typeface="Cambria Math" panose="02040503050406030204" pitchFamily="18" charset="0"/>
                            <a:ea typeface="Cambria Math" panose="02040503050406030204" pitchFamily="18" charset="0"/>
                          </a:rPr>
                          <m:t>β</m:t>
                        </m:r>
                      </m:e>
                      <m:sub>
                        <m:r>
                          <a:rPr lang="en-US" b="0" i="1" dirty="0" smtClean="0">
                            <a:latin typeface="Cambria Math" panose="02040503050406030204" pitchFamily="18" charset="0"/>
                            <a:ea typeface="Cambria Math" panose="02040503050406030204" pitchFamily="18" charset="0"/>
                          </a:rPr>
                          <m:t>1</m:t>
                        </m:r>
                      </m:sub>
                    </m:sSub>
                  </m:oMath>
                </a14:m>
                <a:r>
                  <a:rPr lang="en-US" dirty="0"/>
                  <a:t>) tells us the change in y per unit change in x.</a:t>
                </a:r>
              </a:p>
            </p:txBody>
          </p:sp>
        </mc:Choice>
        <mc:Fallback xmlns="">
          <p:sp>
            <p:nvSpPr>
              <p:cNvPr id="3" name="Content Placeholder 2">
                <a:extLst>
                  <a:ext uri="{FF2B5EF4-FFF2-40B4-BE49-F238E27FC236}">
                    <a16:creationId xmlns:a16="http://schemas.microsoft.com/office/drawing/2014/main" id="{37F43DAC-EE32-1616-523D-B2E146C25BFB}"/>
                  </a:ext>
                </a:extLst>
              </p:cNvPr>
              <p:cNvSpPr>
                <a:spLocks noGrp="1" noRot="1" noChangeAspect="1" noMove="1" noResize="1" noEditPoints="1" noAdjustHandles="1" noChangeArrowheads="1" noChangeShapeType="1" noTextEdit="1"/>
              </p:cNvSpPr>
              <p:nvPr>
                <p:ph idx="1"/>
              </p:nvPr>
            </p:nvSpPr>
            <p:spPr>
              <a:xfrm>
                <a:off x="838200" y="1346560"/>
                <a:ext cx="10515600" cy="4699677"/>
              </a:xfrm>
              <a:blipFill>
                <a:blip r:embed="rId3"/>
                <a:stretch>
                  <a:fillRect l="-1043"/>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9FAAEAA-57B0-CD3F-0FE7-DC85C8739548}"/>
                  </a:ext>
                </a:extLst>
              </p:cNvPr>
              <p:cNvSpPr txBox="1"/>
              <p:nvPr/>
            </p:nvSpPr>
            <p:spPr>
              <a:xfrm>
                <a:off x="7755467" y="222112"/>
                <a:ext cx="4292685" cy="1200329"/>
              </a:xfrm>
              <a:prstGeom prst="rect">
                <a:avLst/>
              </a:prstGeom>
              <a:noFill/>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𝑦</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r>
                        <a:rPr lang="en-GB" sz="2400" b="0" i="1" smtClean="0">
                          <a:latin typeface="Cambria Math" panose="02040503050406030204" pitchFamily="18" charset="0"/>
                        </a:rPr>
                        <m:t>𝑁</m:t>
                      </m:r>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 </m:t>
                          </m:r>
                          <m:r>
                            <a:rPr lang="en-GB" sz="2400" b="0" i="1" smtClean="0">
                              <a:latin typeface="Cambria Math" panose="02040503050406030204" pitchFamily="18" charset="0"/>
                            </a:rPr>
                            <m:t>𝜎</m:t>
                          </m:r>
                        </m:e>
                      </m:d>
                    </m:oMath>
                  </m:oMathPara>
                </a14:m>
                <a:endParaRPr lang="en-US" sz="2400"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𝛽</m:t>
                          </m:r>
                        </m:e>
                        <m:sub>
                          <m:r>
                            <a:rPr lang="en-GB" sz="2400" b="0" i="1" smtClean="0">
                              <a:latin typeface="Cambria Math" panose="02040503050406030204" pitchFamily="18" charset="0"/>
                            </a:rPr>
                            <m:t>1</m:t>
                          </m:r>
                        </m:sub>
                      </m:sSub>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𝑥</m:t>
                          </m:r>
                        </m:e>
                        <m:sub>
                          <m:r>
                            <a:rPr lang="en-GB" sz="2400" b="0" i="1" smtClean="0">
                              <a:latin typeface="Cambria Math" panose="02040503050406030204" pitchFamily="18" charset="0"/>
                            </a:rPr>
                            <m:t>𝑖</m:t>
                          </m:r>
                        </m:sub>
                      </m:sSub>
                    </m:oMath>
                  </m:oMathPara>
                </a14:m>
                <a:endParaRPr lang="he-IL" sz="2400" dirty="0">
                  <a:latin typeface="David" panose="020E0502060401010101" pitchFamily="34" charset="-79"/>
                </a:endParaRPr>
              </a:p>
            </p:txBody>
          </p:sp>
        </mc:Choice>
        <mc:Fallback xmlns="">
          <p:sp>
            <p:nvSpPr>
              <p:cNvPr id="4" name="TextBox 3">
                <a:extLst>
                  <a:ext uri="{FF2B5EF4-FFF2-40B4-BE49-F238E27FC236}">
                    <a16:creationId xmlns:a16="http://schemas.microsoft.com/office/drawing/2014/main" id="{29FAAEAA-57B0-CD3F-0FE7-DC85C8739548}"/>
                  </a:ext>
                </a:extLst>
              </p:cNvPr>
              <p:cNvSpPr txBox="1">
                <a:spLocks noRot="1" noChangeAspect="1" noMove="1" noResize="1" noEditPoints="1" noAdjustHandles="1" noChangeArrowheads="1" noChangeShapeType="1" noTextEdit="1"/>
              </p:cNvSpPr>
              <p:nvPr/>
            </p:nvSpPr>
            <p:spPr>
              <a:xfrm>
                <a:off x="7755467" y="222112"/>
                <a:ext cx="4292685" cy="1200329"/>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11980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36EAD-0DBB-9AF1-ADDE-74E76AB027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7FD08-DAB4-A013-F1FC-4E6BB6BFD7CF}"/>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19069E2B-0DB2-FB39-CB40-73DD7D519D1A}"/>
              </a:ext>
            </a:extLst>
          </p:cNvPr>
          <p:cNvSpPr>
            <a:spLocks noGrp="1"/>
          </p:cNvSpPr>
          <p:nvPr>
            <p:ph idx="1"/>
          </p:nvPr>
        </p:nvSpPr>
        <p:spPr>
          <a:xfrm>
            <a:off x="838200" y="1346560"/>
            <a:ext cx="10515600" cy="5378705"/>
          </a:xfrm>
        </p:spPr>
        <p:txBody>
          <a:bodyPr>
            <a:normAutofit/>
          </a:bodyPr>
          <a:lstStyle/>
          <a:p>
            <a:pPr>
              <a:lnSpc>
                <a:spcPct val="150000"/>
              </a:lnSpc>
            </a:pPr>
            <a:r>
              <a:rPr lang="en-GB" b="1" dirty="0"/>
              <a:t>Raw Dataset</a:t>
            </a:r>
          </a:p>
          <a:p>
            <a:pPr>
              <a:lnSpc>
                <a:spcPct val="150000"/>
              </a:lnSpc>
            </a:pPr>
            <a:endParaRPr lang="en-GB" dirty="0"/>
          </a:p>
          <a:p>
            <a:pPr>
              <a:lnSpc>
                <a:spcPct val="150000"/>
              </a:lnSpc>
            </a:pPr>
            <a:endParaRPr lang="en-GB" dirty="0"/>
          </a:p>
          <a:p>
            <a:pPr>
              <a:lnSpc>
                <a:spcPct val="150000"/>
              </a:lnSpc>
            </a:pPr>
            <a:endParaRPr lang="en-GB" sz="2400" dirty="0"/>
          </a:p>
          <a:p>
            <a:pPr>
              <a:lnSpc>
                <a:spcPct val="150000"/>
              </a:lnSpc>
            </a:pPr>
            <a:r>
              <a:rPr lang="en-GB" sz="2400" dirty="0"/>
              <a:t>Main variables:</a:t>
            </a:r>
          </a:p>
          <a:p>
            <a:pPr lvl="1">
              <a:lnSpc>
                <a:spcPct val="100000"/>
              </a:lnSpc>
            </a:pPr>
            <a:r>
              <a:rPr lang="en-US" sz="2000" dirty="0" err="1"/>
              <a:t>log_radon</a:t>
            </a:r>
            <a:r>
              <a:rPr lang="en-US" sz="2000" dirty="0"/>
              <a:t> — log radon level, our dependent variable.</a:t>
            </a:r>
          </a:p>
          <a:p>
            <a:pPr lvl="1">
              <a:lnSpc>
                <a:spcPct val="100000"/>
              </a:lnSpc>
            </a:pPr>
            <a:r>
              <a:rPr lang="en-US" sz="2000" dirty="0" err="1"/>
              <a:t>Uppm</a:t>
            </a:r>
            <a:r>
              <a:rPr lang="en-US" sz="2000" dirty="0"/>
              <a:t> — county uranium level in ppm.</a:t>
            </a:r>
          </a:p>
          <a:p>
            <a:pPr lvl="1">
              <a:lnSpc>
                <a:spcPct val="100000"/>
              </a:lnSpc>
            </a:pPr>
            <a:r>
              <a:rPr lang="en-US" sz="2000" dirty="0"/>
              <a:t>basement — whether the house has a basement (Y / N).</a:t>
            </a:r>
          </a:p>
          <a:p>
            <a:pPr lvl="1">
              <a:lnSpc>
                <a:spcPct val="100000"/>
              </a:lnSpc>
            </a:pPr>
            <a:r>
              <a:rPr lang="en-US" sz="2000" dirty="0"/>
              <a:t>county — county name.</a:t>
            </a:r>
          </a:p>
          <a:p>
            <a:pPr>
              <a:lnSpc>
                <a:spcPct val="150000"/>
              </a:lnSpc>
            </a:pPr>
            <a:endParaRPr lang="en-GB" dirty="0"/>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7" name="Picture 6">
            <a:extLst>
              <a:ext uri="{FF2B5EF4-FFF2-40B4-BE49-F238E27FC236}">
                <a16:creationId xmlns:a16="http://schemas.microsoft.com/office/drawing/2014/main" id="{670625B6-FB56-47B0-F36E-2B694FCEDE1D}"/>
              </a:ext>
            </a:extLst>
          </p:cNvPr>
          <p:cNvPicPr>
            <a:picLocks noChangeAspect="1"/>
          </p:cNvPicPr>
          <p:nvPr/>
        </p:nvPicPr>
        <p:blipFill>
          <a:blip r:embed="rId3"/>
          <a:stretch>
            <a:fillRect/>
          </a:stretch>
        </p:blipFill>
        <p:spPr>
          <a:xfrm>
            <a:off x="1109105" y="2138651"/>
            <a:ext cx="9973790" cy="2019810"/>
          </a:xfrm>
          <a:prstGeom prst="rect">
            <a:avLst/>
          </a:prstGeom>
        </p:spPr>
      </p:pic>
    </p:spTree>
    <p:extLst>
      <p:ext uri="{BB962C8B-B14F-4D97-AF65-F5344CB8AC3E}">
        <p14:creationId xmlns:p14="http://schemas.microsoft.com/office/powerpoint/2010/main" val="3367770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37ED0-F6E0-2EF8-8714-F6FC44627C4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641C117-66E8-11E6-E8F4-6F290EC58550}"/>
              </a:ext>
            </a:extLst>
          </p:cNvPr>
          <p:cNvSpPr>
            <a:spLocks noGrp="1"/>
          </p:cNvSpPr>
          <p:nvPr>
            <p:ph type="title"/>
          </p:nvPr>
        </p:nvSpPr>
        <p:spPr>
          <a:xfrm>
            <a:off x="838200" y="2435085"/>
            <a:ext cx="10515600" cy="1325563"/>
          </a:xfrm>
        </p:spPr>
        <p:txBody>
          <a:bodyPr/>
          <a:lstStyle/>
          <a:p>
            <a:pPr algn="ctr"/>
            <a:r>
              <a:rPr lang="en-US" dirty="0"/>
              <a:t>Variables Transformation for Linear Regression</a:t>
            </a:r>
          </a:p>
        </p:txBody>
      </p:sp>
    </p:spTree>
    <p:extLst>
      <p:ext uri="{BB962C8B-B14F-4D97-AF65-F5344CB8AC3E}">
        <p14:creationId xmlns:p14="http://schemas.microsoft.com/office/powerpoint/2010/main" val="3350507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6D317-F30F-B65F-7055-E6A695C4D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C9862-4907-6DC3-6E8A-50ECDEE8B9CF}"/>
              </a:ext>
            </a:extLst>
          </p:cNvPr>
          <p:cNvSpPr>
            <a:spLocks noGrp="1"/>
          </p:cNvSpPr>
          <p:nvPr>
            <p:ph type="title"/>
          </p:nvPr>
        </p:nvSpPr>
        <p:spPr/>
        <p:txBody>
          <a:bodyPr/>
          <a:lstStyle/>
          <a:p>
            <a:r>
              <a:rPr lang="en-US" dirty="0"/>
              <a:t>Centering, Normalization, &amp; Standardization</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0AD18C-280B-353B-3491-AFCD1331C3AD}"/>
                  </a:ext>
                </a:extLst>
              </p:cNvPr>
              <p:cNvSpPr>
                <a:spLocks noGrp="1"/>
              </p:cNvSpPr>
              <p:nvPr>
                <p:ph idx="1"/>
              </p:nvPr>
            </p:nvSpPr>
            <p:spPr/>
            <p:txBody>
              <a:bodyPr>
                <a:normAutofit/>
              </a:bodyPr>
              <a:lstStyle/>
              <a:p>
                <a:r>
                  <a:rPr lang="en-US" b="1" dirty="0"/>
                  <a:t>Centering </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𝑐</m:t>
                          </m:r>
                        </m:sub>
                      </m:sSub>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𝑥</m:t>
                          </m:r>
                        </m:e>
                      </m:acc>
                    </m:oMath>
                  </m:oMathPara>
                </a14:m>
                <a:endParaRPr lang="en-US" b="1" dirty="0"/>
              </a:p>
              <a:p>
                <a:r>
                  <a:rPr lang="en-US" dirty="0"/>
                  <a:t>Centering moves the mean of a variable to 0.</a:t>
                </a:r>
              </a:p>
              <a:p>
                <a:r>
                  <a:rPr lang="en-US" dirty="0"/>
                  <a:t>If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b="0" i="1" dirty="0" smtClean="0">
                            <a:latin typeface="Cambria Math" panose="02040503050406030204" pitchFamily="18" charset="0"/>
                          </a:rPr>
                          <m:t>𝑐</m:t>
                        </m:r>
                      </m:sub>
                    </m:sSub>
                    <m:r>
                      <a:rPr lang="en-US" i="1" dirty="0" smtClean="0">
                        <a:latin typeface="Cambria Math" panose="02040503050406030204" pitchFamily="18" charset="0"/>
                      </a:rPr>
                      <m:t>=</m:t>
                    </m:r>
                    <m:r>
                      <a:rPr lang="en-US" i="1" dirty="0" smtClean="0">
                        <a:latin typeface="Cambria Math" panose="02040503050406030204" pitchFamily="18" charset="0"/>
                      </a:rPr>
                      <m:t>0</m:t>
                    </m:r>
                  </m:oMath>
                </a14:m>
                <a:r>
                  <a:rPr lang="en-US" dirty="0"/>
                  <a:t>, then 𝑥 is at its average value.</a:t>
                </a:r>
              </a:p>
              <a:p>
                <a:r>
                  <a:rPr lang="en-US" dirty="0"/>
                  <a:t>This can improve the interpretation of the intercept:</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0</m:t>
                          </m:r>
                        </m:sub>
                      </m:sSub>
                      <m:r>
                        <a:rPr lang="en-US" i="1" dirty="0" smtClean="0">
                          <a:latin typeface="Cambria Math" panose="02040503050406030204" pitchFamily="18" charset="0"/>
                        </a:rPr>
                        <m:t>="</m:t>
                      </m:r>
                      <m:r>
                        <m:rPr>
                          <m:sty m:val="p"/>
                        </m:rPr>
                        <a:rPr lang="en-US" i="1" dirty="0" smtClean="0">
                          <a:latin typeface="Cambria Math" panose="02040503050406030204" pitchFamily="18" charset="0"/>
                        </a:rPr>
                        <m:t>expected</m:t>
                      </m:r>
                      <m:r>
                        <a:rPr lang="en-US" i="1" dirty="0" smtClean="0">
                          <a:latin typeface="Cambria Math" panose="02040503050406030204" pitchFamily="18" charset="0"/>
                        </a:rPr>
                        <m:t> </m:t>
                      </m:r>
                      <m:r>
                        <a:rPr lang="en-US" i="1" dirty="0" smtClean="0">
                          <a:latin typeface="Cambria Math" panose="02040503050406030204" pitchFamily="18" charset="0"/>
                        </a:rPr>
                        <m:t>𝑦</m:t>
                      </m:r>
                      <m:r>
                        <a:rPr lang="en-US" i="1" dirty="0" smtClean="0">
                          <a:latin typeface="Cambria Math" panose="02040503050406030204" pitchFamily="18" charset="0"/>
                        </a:rPr>
                        <m:t> </m:t>
                      </m:r>
                      <m:r>
                        <m:rPr>
                          <m:sty m:val="p"/>
                        </m:rPr>
                        <a:rPr lang="en-US" i="1" dirty="0" smtClean="0">
                          <a:latin typeface="Cambria Math" panose="02040503050406030204" pitchFamily="18" charset="0"/>
                        </a:rPr>
                        <m:t>when</m:t>
                      </m:r>
                      <m:r>
                        <a:rPr lang="en-US" i="1" dirty="0" smtClean="0">
                          <a:latin typeface="Cambria Math" panose="02040503050406030204" pitchFamily="18" charset="0"/>
                        </a:rPr>
                        <m:t> </m:t>
                      </m:r>
                      <m:r>
                        <a:rPr lang="en-US" i="1" dirty="0" smtClean="0">
                          <a:latin typeface="Cambria Math" panose="02040503050406030204" pitchFamily="18" charset="0"/>
                        </a:rPr>
                        <m:t>𝑥</m:t>
                      </m:r>
                      <m:r>
                        <a:rPr lang="en-US" i="1" dirty="0" smtClean="0">
                          <a:latin typeface="Cambria Math" panose="02040503050406030204" pitchFamily="18" charset="0"/>
                        </a:rPr>
                        <m:t> </m:t>
                      </m:r>
                      <m:r>
                        <m:rPr>
                          <m:sty m:val="p"/>
                        </m:rPr>
                        <a:rPr lang="en-US" i="1" dirty="0" smtClean="0">
                          <a:latin typeface="Cambria Math" panose="02040503050406030204" pitchFamily="18" charset="0"/>
                        </a:rPr>
                        <m:t>is</m:t>
                      </m:r>
                      <m:r>
                        <a:rPr lang="en-US" i="1" dirty="0" smtClean="0">
                          <a:latin typeface="Cambria Math" panose="02040503050406030204" pitchFamily="18" charset="0"/>
                        </a:rPr>
                        <m:t> </m:t>
                      </m:r>
                      <m:r>
                        <m:rPr>
                          <m:sty m:val="p"/>
                        </m:rPr>
                        <a:rPr lang="en-US" i="1" dirty="0" smtClean="0">
                          <a:latin typeface="Cambria Math" panose="02040503050406030204" pitchFamily="18" charset="0"/>
                        </a:rPr>
                        <m:t>average</m:t>
                      </m:r>
                      <m:r>
                        <a:rPr lang="en-US" i="1" dirty="0" smtClean="0">
                          <a:latin typeface="Cambria Math" panose="02040503050406030204" pitchFamily="18" charset="0"/>
                        </a:rPr>
                        <m:t>"</m:t>
                      </m:r>
                    </m:oMath>
                  </m:oMathPara>
                </a14:m>
                <a:endParaRPr lang="en-US" dirty="0"/>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B90AD18C-280B-353B-3491-AFCD1331C3A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he-IL">
                    <a:noFill/>
                  </a:rPr>
                  <a:t> </a:t>
                </a:r>
              </a:p>
            </p:txBody>
          </p:sp>
        </mc:Fallback>
      </mc:AlternateContent>
    </p:spTree>
    <p:extLst>
      <p:ext uri="{BB962C8B-B14F-4D97-AF65-F5344CB8AC3E}">
        <p14:creationId xmlns:p14="http://schemas.microsoft.com/office/powerpoint/2010/main" val="1631119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0893F-4B61-3C6C-F783-BC49AE372C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BFF715-5C69-0C04-8C0A-F606C097904E}"/>
              </a:ext>
            </a:extLst>
          </p:cNvPr>
          <p:cNvSpPr>
            <a:spLocks noGrp="1"/>
          </p:cNvSpPr>
          <p:nvPr>
            <p:ph type="title"/>
          </p:nvPr>
        </p:nvSpPr>
        <p:spPr/>
        <p:txBody>
          <a:bodyPr/>
          <a:lstStyle/>
          <a:p>
            <a:r>
              <a:rPr lang="en-US" dirty="0"/>
              <a:t>Centering, Normalization, &amp; Standardization</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0CA65AD-42DA-7F38-18E5-4841DDE1210F}"/>
                  </a:ext>
                </a:extLst>
              </p:cNvPr>
              <p:cNvSpPr>
                <a:spLocks noGrp="1"/>
              </p:cNvSpPr>
              <p:nvPr>
                <p:ph idx="1"/>
              </p:nvPr>
            </p:nvSpPr>
            <p:spPr/>
            <p:txBody>
              <a:bodyPr>
                <a:normAutofit/>
              </a:bodyPr>
              <a:lstStyle/>
              <a:p>
                <a:r>
                  <a:rPr lang="en-US" b="1" dirty="0"/>
                  <a:t>Normalization</a:t>
                </a:r>
                <a:r>
                  <a:rPr lang="en-US" dirty="0"/>
                  <a:t> </a:t>
                </a:r>
              </a:p>
              <a:p>
                <a:r>
                  <a:rPr lang="en-US" dirty="0"/>
                  <a:t>puts values on a fixed scale, usually from 0 to 1.</a:t>
                </a:r>
                <a:br>
                  <a:rPr lang="en-US" dirty="0"/>
                </a:b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𝑥</m:t>
                        </m:r>
                      </m:e>
                      <m:sub>
                        <m:r>
                          <a:rPr lang="en-US" sz="2400" i="1" dirty="0">
                            <a:latin typeface="Cambria Math" panose="02040503050406030204" pitchFamily="18" charset="0"/>
                          </a:rPr>
                          <m:t>𝑛𝑜𝑟𝑚</m:t>
                        </m:r>
                      </m:sub>
                    </m:sSub>
                    <m:r>
                      <a:rPr lang="en-US" sz="2400" i="1" dirty="0">
                        <a:latin typeface="Cambria Math" panose="02040503050406030204" pitchFamily="18" charset="0"/>
                      </a:rPr>
                      <m:t>​=</m:t>
                    </m:r>
                    <m:f>
                      <m:fPr>
                        <m:ctrlPr>
                          <a:rPr lang="en-US" sz="2400" i="1" dirty="0">
                            <a:latin typeface="Cambria Math" panose="02040503050406030204" pitchFamily="18" charset="0"/>
                          </a:rPr>
                        </m:ctrlPr>
                      </m:fPr>
                      <m:num>
                        <m:r>
                          <a:rPr lang="en-US" sz="2400" i="1" dirty="0">
                            <a:latin typeface="Cambria Math" panose="02040503050406030204" pitchFamily="18" charset="0"/>
                          </a:rPr>
                          <m:t>𝑥</m:t>
                        </m:r>
                        <m:r>
                          <a:rPr lang="en-US" sz="2400" i="1" dirty="0">
                            <a:latin typeface="Cambria Math" panose="02040503050406030204" pitchFamily="18" charset="0"/>
                          </a:rPr>
                          <m:t>−</m:t>
                        </m:r>
                        <m:r>
                          <m:rPr>
                            <m:sty m:val="p"/>
                          </m:rPr>
                          <a:rPr lang="en-US" sz="2400" i="1" dirty="0">
                            <a:latin typeface="Cambria Math" panose="02040503050406030204" pitchFamily="18" charset="0"/>
                          </a:rPr>
                          <m:t>min</m:t>
                        </m:r>
                        <m:r>
                          <a:rPr lang="en-US" sz="2400" i="1" dirty="0">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m:rPr>
                            <m:nor/>
                          </m:rPr>
                          <a:rPr lang="en-US" sz="2400" dirty="0"/>
                          <m:t> </m:t>
                        </m:r>
                      </m:num>
                      <m:den>
                        <m:r>
                          <m:rPr>
                            <m:sty m:val="p"/>
                          </m:rPr>
                          <a:rPr lang="en-US" sz="2400" i="1" dirty="0">
                            <a:latin typeface="Cambria Math" panose="02040503050406030204" pitchFamily="18" charset="0"/>
                          </a:rPr>
                          <m:t>max</m:t>
                        </m:r>
                        <m:r>
                          <a:rPr lang="en-US" sz="2400" i="1" dirty="0">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m:rPr>
                            <m:sty m:val="p"/>
                          </m:rPr>
                          <a:rPr lang="en-US" sz="2400" i="1" dirty="0">
                            <a:latin typeface="Cambria Math" panose="02040503050406030204" pitchFamily="18" charset="0"/>
                          </a:rPr>
                          <m:t>min</m:t>
                        </m:r>
                        <m:r>
                          <a:rPr lang="en-US" sz="2400" i="1" dirty="0">
                            <a:latin typeface="Cambria Math" panose="02040503050406030204" pitchFamily="18" charset="0"/>
                          </a:rPr>
                          <m:t>⁡(</m:t>
                        </m:r>
                        <m:r>
                          <a:rPr lang="en-US" sz="2400" i="1" dirty="0">
                            <a:latin typeface="Cambria Math" panose="02040503050406030204" pitchFamily="18" charset="0"/>
                          </a:rPr>
                          <m:t>𝑥</m:t>
                        </m:r>
                        <m:r>
                          <a:rPr lang="en-US" sz="2400" i="1" dirty="0">
                            <a:latin typeface="Cambria Math" panose="02040503050406030204" pitchFamily="18" charset="0"/>
                          </a:rPr>
                          <m:t>)</m:t>
                        </m:r>
                        <m:r>
                          <m:rPr>
                            <m:nor/>
                          </m:rPr>
                          <a:rPr lang="en-US" sz="2400" dirty="0"/>
                          <m:t> </m:t>
                        </m:r>
                      </m:den>
                    </m:f>
                  </m:oMath>
                </a14:m>
                <a:endParaRPr lang="en-US" dirty="0"/>
              </a:p>
              <a:p>
                <a:endParaRPr lang="en-US" dirty="0"/>
              </a:p>
              <a:p>
                <a:r>
                  <a:rPr lang="en-US" dirty="0"/>
                  <a:t>This is useful when a bounded scale is convenient. </a:t>
                </a:r>
              </a:p>
              <a:p>
                <a:r>
                  <a:rPr lang="en-US" dirty="0"/>
                  <a:t>In regression, the slope is then interpreted as the expected change in 𝑦 when 𝑥 changes from its minimum to its maximum observed value.</a:t>
                </a:r>
              </a:p>
            </p:txBody>
          </p:sp>
        </mc:Choice>
        <mc:Fallback xmlns="">
          <p:sp>
            <p:nvSpPr>
              <p:cNvPr id="3" name="Content Placeholder 2">
                <a:extLst>
                  <a:ext uri="{FF2B5EF4-FFF2-40B4-BE49-F238E27FC236}">
                    <a16:creationId xmlns:a16="http://schemas.microsoft.com/office/drawing/2014/main" id="{40CA65AD-42DA-7F38-18E5-4841DDE1210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he-IL">
                    <a:noFill/>
                  </a:rPr>
                  <a:t> </a:t>
                </a:r>
              </a:p>
            </p:txBody>
          </p:sp>
        </mc:Fallback>
      </mc:AlternateContent>
    </p:spTree>
    <p:extLst>
      <p:ext uri="{BB962C8B-B14F-4D97-AF65-F5344CB8AC3E}">
        <p14:creationId xmlns:p14="http://schemas.microsoft.com/office/powerpoint/2010/main" val="1417642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9E23-959B-B1B0-A977-3252A59A9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F447E-75CA-C4DF-43B4-B8A124EDCFA8}"/>
              </a:ext>
            </a:extLst>
          </p:cNvPr>
          <p:cNvSpPr>
            <a:spLocks noGrp="1"/>
          </p:cNvSpPr>
          <p:nvPr>
            <p:ph type="title"/>
          </p:nvPr>
        </p:nvSpPr>
        <p:spPr/>
        <p:txBody>
          <a:bodyPr/>
          <a:lstStyle/>
          <a:p>
            <a:r>
              <a:rPr lang="en-US" dirty="0"/>
              <a:t>Centering, Normalization, &amp; Standardization</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DF686B-8E1B-40CA-8942-46182E5780B4}"/>
                  </a:ext>
                </a:extLst>
              </p:cNvPr>
              <p:cNvSpPr>
                <a:spLocks noGrp="1"/>
              </p:cNvSpPr>
              <p:nvPr>
                <p:ph idx="1"/>
              </p:nvPr>
            </p:nvSpPr>
            <p:spPr/>
            <p:txBody>
              <a:bodyPr>
                <a:normAutofit fontScale="92500" lnSpcReduction="10000"/>
              </a:bodyPr>
              <a:lstStyle/>
              <a:p>
                <a:r>
                  <a:rPr lang="en-US" b="1" dirty="0"/>
                  <a:t>Standardization</a:t>
                </a:r>
              </a:p>
              <a:p>
                <a:pPr marL="0" indent="0">
                  <a:buNone/>
                </a:pPr>
                <a14:m>
                  <m:oMathPara xmlns:m="http://schemas.openxmlformats.org/officeDocument/2006/math">
                    <m:oMathParaPr>
                      <m:jc m:val="centerGroup"/>
                    </m:oMathParaPr>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𝑧</m:t>
                          </m:r>
                        </m:sub>
                      </m:sSub>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smtClean="0">
                              <a:latin typeface="Cambria Math" panose="02040503050406030204" pitchFamily="18" charset="0"/>
                            </a:rPr>
                            <m:t>𝑥</m:t>
                          </m:r>
                          <m:r>
                            <a:rPr lang="en-US"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𝑥</m:t>
                              </m:r>
                            </m:e>
                          </m:acc>
                        </m:num>
                        <m:den>
                          <m:sSub>
                            <m:sSubPr>
                              <m:ctrlPr>
                                <a:rPr lang="en-US" i="1" dirty="0">
                                  <a:latin typeface="Cambria Math" panose="02040503050406030204" pitchFamily="18" charset="0"/>
                                </a:rPr>
                              </m:ctrlPr>
                            </m:sSubPr>
                            <m:e>
                              <m:r>
                                <a:rPr lang="en-US" i="1" dirty="0">
                                  <a:latin typeface="Cambria Math" panose="02040503050406030204" pitchFamily="18" charset="0"/>
                                </a:rPr>
                                <m:t>𝑠</m:t>
                              </m:r>
                            </m:e>
                            <m:sub>
                              <m:r>
                                <a:rPr lang="en-US" i="1" dirty="0">
                                  <a:latin typeface="Cambria Math" panose="02040503050406030204" pitchFamily="18" charset="0"/>
                                </a:rPr>
                                <m:t>𝑥</m:t>
                              </m:r>
                            </m:sub>
                          </m:sSub>
                        </m:den>
                      </m:f>
                    </m:oMath>
                  </m:oMathPara>
                </a14:m>
                <a:endParaRPr lang="en-US" b="1" dirty="0"/>
              </a:p>
              <a:p>
                <a:r>
                  <a:rPr lang="en-US" dirty="0"/>
                  <a:t>creates a variable with:</a:t>
                </a:r>
              </a:p>
              <a:p>
                <a:pPr lvl="1"/>
                <a:r>
                  <a:rPr lang="en-US" dirty="0"/>
                  <a:t>𝑚𝑒𝑎𝑛=0</a:t>
                </a:r>
              </a:p>
              <a:p>
                <a:pPr lvl="1"/>
                <a:r>
                  <a:rPr lang="en-US" dirty="0"/>
                  <a:t>𝑠𝑑=1</a:t>
                </a:r>
              </a:p>
              <a:p>
                <a:r>
                  <a:rPr lang="en-US" dirty="0"/>
                  <a:t>In regression, standardization makes the slope easier to compare across variables:</a:t>
                </a:r>
              </a:p>
              <a:p>
                <a:pPr marL="0" indent="0">
                  <a:buNone/>
                </a:pPr>
                <a14:m>
                  <m:oMathPara xmlns:m="http://schemas.openxmlformats.org/officeDocument/2006/math">
                    <m:oMathParaPr>
                      <m:jc m:val="centerGroup"/>
                    </m:oMathParaPr>
                    <m:oMath xmlns:m="http://schemas.openxmlformats.org/officeDocument/2006/math">
                      <m:sSub>
                        <m:sSubPr>
                          <m:ctrlPr>
                            <a:rPr lang="en-US" sz="2600" i="1" dirty="0" smtClean="0">
                              <a:latin typeface="Cambria Math" panose="02040503050406030204" pitchFamily="18" charset="0"/>
                            </a:rPr>
                          </m:ctrlPr>
                        </m:sSubPr>
                        <m:e>
                          <m:r>
                            <a:rPr lang="en-US" sz="2600" i="1" dirty="0" smtClean="0">
                              <a:latin typeface="Cambria Math" panose="02040503050406030204" pitchFamily="18" charset="0"/>
                            </a:rPr>
                            <m:t>𝛽</m:t>
                          </m:r>
                        </m:e>
                        <m:sub>
                          <m:r>
                            <a:rPr lang="en-US" sz="2600" i="1" dirty="0" smtClean="0">
                              <a:latin typeface="Cambria Math" panose="02040503050406030204" pitchFamily="18" charset="0"/>
                            </a:rPr>
                            <m:t>𝑧</m:t>
                          </m:r>
                        </m:sub>
                      </m:sSub>
                      <m:r>
                        <a:rPr lang="en-US" sz="2600" i="1" dirty="0" smtClean="0">
                          <a:latin typeface="Cambria Math" panose="02040503050406030204" pitchFamily="18" charset="0"/>
                        </a:rPr>
                        <m:t>	</m:t>
                      </m:r>
                      <m:r>
                        <a:rPr lang="en-US" sz="2600" i="1" dirty="0" smtClean="0">
                          <a:latin typeface="Cambria Math" panose="02040503050406030204" pitchFamily="18" charset="0"/>
                        </a:rPr>
                        <m:t>​=</m:t>
                      </m:r>
                      <m:r>
                        <a:rPr lang="en-US" sz="2600" i="1" dirty="0" smtClean="0">
                          <a:latin typeface="Cambria Math" panose="02040503050406030204" pitchFamily="18" charset="0"/>
                        </a:rPr>
                        <m:t>𝑒𝑥𝑝𝑒𝑐𝑡𝑒𝑑</m:t>
                      </m:r>
                      <m:r>
                        <a:rPr lang="en-US" sz="2600" i="1" dirty="0" smtClean="0">
                          <a:latin typeface="Cambria Math" panose="02040503050406030204" pitchFamily="18" charset="0"/>
                        </a:rPr>
                        <m:t> </m:t>
                      </m:r>
                      <m:r>
                        <a:rPr lang="en-US" sz="2600" i="1" dirty="0" smtClean="0">
                          <a:latin typeface="Cambria Math" panose="02040503050406030204" pitchFamily="18" charset="0"/>
                        </a:rPr>
                        <m:t>𝑐</m:t>
                      </m:r>
                      <m:r>
                        <a:rPr lang="en-US" sz="2600" i="1" dirty="0" smtClean="0">
                          <a:latin typeface="Cambria Math" panose="02040503050406030204" pitchFamily="18" charset="0"/>
                        </a:rPr>
                        <m:t>h</m:t>
                      </m:r>
                      <m:r>
                        <a:rPr lang="en-US" sz="2600" i="1" dirty="0" smtClean="0">
                          <a:latin typeface="Cambria Math" panose="02040503050406030204" pitchFamily="18" charset="0"/>
                        </a:rPr>
                        <m:t>𝑎𝑛𝑔𝑒</m:t>
                      </m:r>
                      <m:r>
                        <a:rPr lang="en-US" sz="2600" i="1" dirty="0" smtClean="0">
                          <a:latin typeface="Cambria Math" panose="02040503050406030204" pitchFamily="18" charset="0"/>
                        </a:rPr>
                        <m:t> </m:t>
                      </m:r>
                      <m:r>
                        <a:rPr lang="en-US" sz="2600" i="1" dirty="0" smtClean="0">
                          <a:latin typeface="Cambria Math" panose="02040503050406030204" pitchFamily="18" charset="0"/>
                        </a:rPr>
                        <m:t>𝑖𝑛</m:t>
                      </m:r>
                      <m:r>
                        <a:rPr lang="en-US" sz="2600" i="1" dirty="0" smtClean="0">
                          <a:latin typeface="Cambria Math" panose="02040503050406030204" pitchFamily="18" charset="0"/>
                        </a:rPr>
                        <m:t> </m:t>
                      </m:r>
                      <m:r>
                        <a:rPr lang="en-US" sz="2600" i="1" dirty="0" smtClean="0">
                          <a:latin typeface="Cambria Math" panose="02040503050406030204" pitchFamily="18" charset="0"/>
                        </a:rPr>
                        <m:t>𝑦</m:t>
                      </m:r>
                      <m:r>
                        <a:rPr lang="en-US" sz="2600" i="1" dirty="0" smtClean="0">
                          <a:latin typeface="Cambria Math" panose="02040503050406030204" pitchFamily="18" charset="0"/>
                        </a:rPr>
                        <m:t> </m:t>
                      </m:r>
                      <m:r>
                        <a:rPr lang="en-US" sz="2600" i="1" dirty="0" smtClean="0">
                          <a:latin typeface="Cambria Math" panose="02040503050406030204" pitchFamily="18" charset="0"/>
                        </a:rPr>
                        <m:t>𝑓𝑜𝑟</m:t>
                      </m:r>
                      <m:r>
                        <a:rPr lang="en-US" sz="2600" i="1" dirty="0" smtClean="0">
                          <a:latin typeface="Cambria Math" panose="02040503050406030204" pitchFamily="18" charset="0"/>
                        </a:rPr>
                        <m:t> </m:t>
                      </m:r>
                      <m:r>
                        <a:rPr lang="en-US" sz="2600" i="1" dirty="0" smtClean="0">
                          <a:latin typeface="Cambria Math" panose="02040503050406030204" pitchFamily="18" charset="0"/>
                        </a:rPr>
                        <m:t>𝑎</m:t>
                      </m:r>
                      <m:r>
                        <a:rPr lang="en-US" sz="2600" i="1" dirty="0" smtClean="0">
                          <a:latin typeface="Cambria Math" panose="02040503050406030204" pitchFamily="18" charset="0"/>
                        </a:rPr>
                        <m:t> </m:t>
                      </m:r>
                      <m:r>
                        <a:rPr lang="en-US" sz="2600" i="1" dirty="0" smtClean="0">
                          <a:latin typeface="Cambria Math" panose="02040503050406030204" pitchFamily="18" charset="0"/>
                        </a:rPr>
                        <m:t>𝑜𝑛𝑒</m:t>
                      </m:r>
                      <m:r>
                        <a:rPr lang="en-US" sz="2600" b="0" i="1" dirty="0" smtClean="0">
                          <a:latin typeface="Cambria Math" panose="02040503050406030204" pitchFamily="18" charset="0"/>
                        </a:rPr>
                        <m:t> </m:t>
                      </m:r>
                      <m:r>
                        <a:rPr lang="en-US" sz="2600" i="1" dirty="0" smtClean="0">
                          <a:latin typeface="Cambria Math" panose="02040503050406030204" pitchFamily="18" charset="0"/>
                        </a:rPr>
                        <m:t>𝑠𝑡𝑎𝑛𝑑𝑎𝑟</m:t>
                      </m:r>
                      <m:r>
                        <a:rPr lang="en-US" sz="2600" b="0" i="1" dirty="0" smtClean="0">
                          <a:latin typeface="Cambria Math" panose="02040503050406030204" pitchFamily="18" charset="0"/>
                        </a:rPr>
                        <m:t>𝑑</m:t>
                      </m:r>
                      <m:r>
                        <a:rPr lang="en-US" sz="2600" b="0" i="1" dirty="0" smtClean="0">
                          <a:latin typeface="Cambria Math" panose="02040503050406030204" pitchFamily="18" charset="0"/>
                        </a:rPr>
                        <m:t> </m:t>
                      </m:r>
                      <m:r>
                        <a:rPr lang="en-US" sz="2600" i="1" dirty="0" smtClean="0">
                          <a:latin typeface="Cambria Math" panose="02040503050406030204" pitchFamily="18" charset="0"/>
                        </a:rPr>
                        <m:t>𝑑𝑒𝑣𝑖𝑎𝑡𝑖𝑜𝑛</m:t>
                      </m:r>
                      <m:r>
                        <a:rPr lang="en-US" sz="2600" i="1" dirty="0" smtClean="0">
                          <a:latin typeface="Cambria Math" panose="02040503050406030204" pitchFamily="18" charset="0"/>
                        </a:rPr>
                        <m:t> </m:t>
                      </m:r>
                      <m:r>
                        <a:rPr lang="en-US" sz="2600" i="1" dirty="0" smtClean="0">
                          <a:latin typeface="Cambria Math" panose="02040503050406030204" pitchFamily="18" charset="0"/>
                        </a:rPr>
                        <m:t>𝑖𝑛𝑐𝑟𝑒𝑎𝑠𝑒</m:t>
                      </m:r>
                      <m:r>
                        <a:rPr lang="en-US" sz="2600" i="1" dirty="0" smtClean="0">
                          <a:latin typeface="Cambria Math" panose="02040503050406030204" pitchFamily="18" charset="0"/>
                        </a:rPr>
                        <m:t> </m:t>
                      </m:r>
                      <m:r>
                        <a:rPr lang="en-US" sz="2600" i="1" dirty="0" smtClean="0">
                          <a:latin typeface="Cambria Math" panose="02040503050406030204" pitchFamily="18" charset="0"/>
                        </a:rPr>
                        <m:t>𝑖𝑛</m:t>
                      </m:r>
                      <m:r>
                        <a:rPr lang="en-US" sz="2600" i="1" dirty="0" smtClean="0">
                          <a:latin typeface="Cambria Math" panose="02040503050406030204" pitchFamily="18" charset="0"/>
                        </a:rPr>
                        <m:t> </m:t>
                      </m:r>
                      <m:r>
                        <a:rPr lang="en-US" sz="2600" i="1" dirty="0" smtClean="0">
                          <a:latin typeface="Cambria Math" panose="02040503050406030204" pitchFamily="18" charset="0"/>
                        </a:rPr>
                        <m:t>𝑥</m:t>
                      </m:r>
                    </m:oMath>
                  </m:oMathPara>
                </a14:m>
                <a:endParaRPr lang="en-US" dirty="0"/>
              </a:p>
              <a:p>
                <a:r>
                  <a:rPr lang="en-US" dirty="0"/>
                  <a:t>Standardization can also make prior choice easier, because the slope is now expressed on a standardized effect-size scale.</a:t>
                </a:r>
                <a:endParaRPr lang="he-IL" dirty="0"/>
              </a:p>
            </p:txBody>
          </p:sp>
        </mc:Choice>
        <mc:Fallback xmlns="">
          <p:sp>
            <p:nvSpPr>
              <p:cNvPr id="3" name="Content Placeholder 2">
                <a:extLst>
                  <a:ext uri="{FF2B5EF4-FFF2-40B4-BE49-F238E27FC236}">
                    <a16:creationId xmlns:a16="http://schemas.microsoft.com/office/drawing/2014/main" id="{C0DF686B-8E1B-40CA-8942-46182E5780B4}"/>
                  </a:ext>
                </a:extLst>
              </p:cNvPr>
              <p:cNvSpPr>
                <a:spLocks noGrp="1" noRot="1" noChangeAspect="1" noMove="1" noResize="1" noEditPoints="1" noAdjustHandles="1" noChangeArrowheads="1" noChangeShapeType="1" noTextEdit="1"/>
              </p:cNvSpPr>
              <p:nvPr>
                <p:ph idx="1"/>
              </p:nvPr>
            </p:nvSpPr>
            <p:spPr>
              <a:blipFill>
                <a:blip r:embed="rId2"/>
                <a:stretch>
                  <a:fillRect l="-928" t="-2661"/>
                </a:stretch>
              </a:blipFill>
            </p:spPr>
            <p:txBody>
              <a:bodyPr/>
              <a:lstStyle/>
              <a:p>
                <a:r>
                  <a:rPr lang="he-IL">
                    <a:noFill/>
                  </a:rPr>
                  <a:t> </a:t>
                </a:r>
              </a:p>
            </p:txBody>
          </p:sp>
        </mc:Fallback>
      </mc:AlternateContent>
    </p:spTree>
    <p:extLst>
      <p:ext uri="{BB962C8B-B14F-4D97-AF65-F5344CB8AC3E}">
        <p14:creationId xmlns:p14="http://schemas.microsoft.com/office/powerpoint/2010/main" val="3537712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0CD90-DEB4-0CE4-AF15-82125C5B8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14A08-8E5F-EF06-6D73-404AD600FE49}"/>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722FCC0F-E8BA-3B86-609D-3B2B741C9ACF}"/>
              </a:ext>
            </a:extLst>
          </p:cNvPr>
          <p:cNvSpPr>
            <a:spLocks noGrp="1"/>
          </p:cNvSpPr>
          <p:nvPr>
            <p:ph idx="1"/>
          </p:nvPr>
        </p:nvSpPr>
        <p:spPr>
          <a:xfrm>
            <a:off x="838200" y="1346560"/>
            <a:ext cx="10515600" cy="5378705"/>
          </a:xfrm>
        </p:spPr>
        <p:txBody>
          <a:bodyPr>
            <a:normAutofit lnSpcReduction="10000"/>
          </a:bodyPr>
          <a:lstStyle/>
          <a:p>
            <a:pPr>
              <a:lnSpc>
                <a:spcPct val="150000"/>
              </a:lnSpc>
            </a:pPr>
            <a:r>
              <a:rPr lang="en-US" b="1" dirty="0"/>
              <a:t>Clean\transformed data variables for the model:</a:t>
            </a:r>
          </a:p>
          <a:p>
            <a:pPr>
              <a:lnSpc>
                <a:spcPct val="150000"/>
              </a:lnSpc>
            </a:pPr>
            <a:r>
              <a:rPr lang="en-US" sz="2600" dirty="0"/>
              <a:t>We keep rows with known basement status and the variables needed for the regression models.</a:t>
            </a:r>
          </a:p>
          <a:p>
            <a:pPr>
              <a:lnSpc>
                <a:spcPct val="150000"/>
              </a:lnSpc>
            </a:pPr>
            <a:r>
              <a:rPr lang="en-US" sz="2600" dirty="0"/>
              <a:t>We create:</a:t>
            </a:r>
          </a:p>
          <a:p>
            <a:pPr lvl="1">
              <a:lnSpc>
                <a:spcPct val="150000"/>
              </a:lnSpc>
            </a:pPr>
            <a:r>
              <a:rPr lang="en-US" sz="2200" dirty="0"/>
              <a:t>y = </a:t>
            </a:r>
            <a:r>
              <a:rPr lang="en-US" sz="2200" dirty="0" err="1"/>
              <a:t>log_radon</a:t>
            </a:r>
            <a:r>
              <a:rPr lang="en-US" sz="2200" dirty="0"/>
              <a:t>, </a:t>
            </a:r>
            <a:r>
              <a:rPr lang="en-US" sz="2200" b="1" dirty="0"/>
              <a:t>log-transformed </a:t>
            </a:r>
            <a:r>
              <a:rPr lang="en-US" sz="2200" dirty="0"/>
              <a:t>radon level</a:t>
            </a:r>
          </a:p>
          <a:p>
            <a:pPr lvl="1">
              <a:lnSpc>
                <a:spcPct val="150000"/>
              </a:lnSpc>
            </a:pPr>
            <a:r>
              <a:rPr lang="en-US" sz="2200" dirty="0" err="1"/>
              <a:t>log_uranium</a:t>
            </a:r>
            <a:r>
              <a:rPr lang="en-US" sz="2200" dirty="0"/>
              <a:t> = </a:t>
            </a:r>
            <a:r>
              <a:rPr lang="en-US" sz="2200" b="1" dirty="0"/>
              <a:t>log-transformed</a:t>
            </a:r>
            <a:r>
              <a:rPr lang="en-US" sz="2200" dirty="0"/>
              <a:t> uranium level</a:t>
            </a:r>
          </a:p>
          <a:p>
            <a:pPr lvl="1">
              <a:lnSpc>
                <a:spcPct val="150000"/>
              </a:lnSpc>
            </a:pPr>
            <a:r>
              <a:rPr lang="en-US" sz="2200" dirty="0" err="1"/>
              <a:t>uranium_c</a:t>
            </a:r>
            <a:r>
              <a:rPr lang="en-US" sz="2200" dirty="0"/>
              <a:t> = </a:t>
            </a:r>
            <a:r>
              <a:rPr lang="en-US" sz="2200" b="1" dirty="0"/>
              <a:t>centered</a:t>
            </a:r>
            <a:r>
              <a:rPr lang="en-US" sz="2200" dirty="0"/>
              <a:t> log uranium</a:t>
            </a:r>
          </a:p>
          <a:p>
            <a:pPr lvl="1">
              <a:lnSpc>
                <a:spcPct val="150000"/>
              </a:lnSpc>
            </a:pPr>
            <a:r>
              <a:rPr lang="en-US" sz="2200" dirty="0" err="1"/>
              <a:t>uranium_z</a:t>
            </a:r>
            <a:r>
              <a:rPr lang="en-US" sz="2200" dirty="0"/>
              <a:t> = </a:t>
            </a:r>
            <a:r>
              <a:rPr lang="en-US" sz="2200" b="1" dirty="0"/>
              <a:t>standardized</a:t>
            </a:r>
            <a:r>
              <a:rPr lang="en-US" sz="2200" dirty="0"/>
              <a:t> log uranium</a:t>
            </a:r>
          </a:p>
          <a:p>
            <a:pPr lvl="1">
              <a:lnSpc>
                <a:spcPct val="150000"/>
              </a:lnSpc>
            </a:pPr>
            <a:r>
              <a:rPr lang="en-US" sz="2200" dirty="0" err="1"/>
              <a:t>basement_num</a:t>
            </a:r>
            <a:r>
              <a:rPr lang="en-US" sz="2200" dirty="0"/>
              <a:t> = </a:t>
            </a:r>
            <a:r>
              <a:rPr lang="en-US" sz="2200" b="1" dirty="0"/>
              <a:t>categorial variable</a:t>
            </a:r>
            <a:r>
              <a:rPr lang="en-US" sz="2200" dirty="0"/>
              <a:t>: 1 for basement, 0 for no basement</a:t>
            </a:r>
          </a:p>
          <a:p>
            <a:pPr>
              <a:lnSpc>
                <a:spcPct val="150000"/>
              </a:lnSpc>
            </a:pPr>
            <a:endParaRPr lang="he-IL" dirty="0"/>
          </a:p>
        </p:txBody>
      </p:sp>
    </p:spTree>
    <p:extLst>
      <p:ext uri="{BB962C8B-B14F-4D97-AF65-F5344CB8AC3E}">
        <p14:creationId xmlns:p14="http://schemas.microsoft.com/office/powerpoint/2010/main" val="142851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4118D-F1B2-1F29-AE53-27859B0C3A6F}"/>
              </a:ext>
            </a:extLst>
          </p:cNvPr>
          <p:cNvSpPr>
            <a:spLocks noGrp="1"/>
          </p:cNvSpPr>
          <p:nvPr>
            <p:ph type="title"/>
          </p:nvPr>
        </p:nvSpPr>
        <p:spPr/>
        <p:txBody>
          <a:bodyPr/>
          <a:lstStyle/>
          <a:p>
            <a:r>
              <a:rPr lang="en-US" dirty="0"/>
              <a:t>Simple Linear Regression</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955F46-9C04-34C0-B0D7-E606E395AE32}"/>
                  </a:ext>
                </a:extLst>
              </p:cNvPr>
              <p:cNvSpPr>
                <a:spLocks noGrp="1"/>
              </p:cNvSpPr>
              <p:nvPr>
                <p:ph idx="1"/>
              </p:nvPr>
            </p:nvSpPr>
            <p:spPr/>
            <p:txBody>
              <a:bodyPr>
                <a:normAutofit fontScale="85000" lnSpcReduction="20000"/>
              </a:bodyPr>
              <a:lstStyle/>
              <a:p>
                <a:r>
                  <a:rPr lang="en-US" b="1" dirty="0"/>
                  <a:t>Why use </a:t>
                </a:r>
                <a:r>
                  <a:rPr lang="en-US" b="1" dirty="0" err="1"/>
                  <a:t>log_radon</a:t>
                </a:r>
                <a:r>
                  <a:rPr lang="en-US" b="1" dirty="0"/>
                  <a:t>? </a:t>
                </a:r>
              </a:p>
              <a:p>
                <a:r>
                  <a:rPr lang="en-US" dirty="0"/>
                  <a:t>Radon itself:</a:t>
                </a:r>
              </a:p>
              <a:p>
                <a:pPr lvl="1"/>
                <a:r>
                  <a:rPr lang="en-US" dirty="0"/>
                  <a:t>is always positive </a:t>
                </a:r>
              </a:p>
              <a:p>
                <a:pPr lvl="1"/>
                <a:r>
                  <a:rPr lang="en-US" dirty="0"/>
                  <a:t>can contain a few houses or areas with very high values; </a:t>
                </a:r>
              </a:p>
              <a:p>
                <a:pPr lvl="1"/>
                <a:r>
                  <a:rPr lang="en-US" dirty="0"/>
                  <a:t>often has larger variability when the mean is larger; </a:t>
                </a:r>
              </a:p>
              <a:p>
                <a:pPr lvl="1"/>
                <a:r>
                  <a:rPr lang="en-US" dirty="0"/>
                  <a:t>may be poorly represented by a Normal model, because a Normal likelihood can generate negative radon values, which are not physically meaningful. </a:t>
                </a:r>
              </a:p>
              <a:p>
                <a:r>
                  <a:rPr lang="en-US" dirty="0" err="1"/>
                  <a:t>log_radon</a:t>
                </a:r>
                <a:r>
                  <a:rPr lang="en-US" dirty="0"/>
                  <a:t>:</a:t>
                </a:r>
              </a:p>
              <a:p>
                <a:pPr lvl="1"/>
                <a:r>
                  <a:rPr lang="en-US" dirty="0"/>
                  <a:t>represents the same measurement, but on a different scale </a:t>
                </a:r>
              </a:p>
              <a:p>
                <a:pPr lvl="1"/>
                <a:r>
                  <a:rPr lang="en-US" dirty="0"/>
                  <a:t>reduces the influence of very large values </a:t>
                </a:r>
              </a:p>
              <a:p>
                <a:pPr lvl="1"/>
                <a:r>
                  <a:rPr lang="en-US" dirty="0"/>
                  <a:t>turns multiplicative differences into additive differences. </a:t>
                </a:r>
              </a:p>
              <a:p>
                <a:pPr lvl="2"/>
                <a:r>
                  <a:rPr lang="en-US" dirty="0"/>
                  <a:t>For example, the change from 1 to 2 is similar to the change from 10 to 20 because both are a doubling </a:t>
                </a:r>
              </a:p>
              <a:p>
                <a:pPr lvl="1"/>
                <a:r>
                  <a:rPr lang="en-US" dirty="0"/>
                  <a:t>is usually more appropriate for a Normal regression model, where we assume something like: </a:t>
                </a:r>
              </a:p>
              <a:p>
                <a:pPr marL="0" indent="0">
                  <a:buNone/>
                </a:pPr>
                <a14:m>
                  <m:oMathPara xmlns:m="http://schemas.openxmlformats.org/officeDocument/2006/math">
                    <m:oMathParaPr>
                      <m:jc m:val="centerGroup"/>
                    </m:oMathParaPr>
                    <m:oMath xmlns:m="http://schemas.openxmlformats.org/officeDocument/2006/math">
                      <m:r>
                        <m:rPr>
                          <m:sty m:val="p"/>
                        </m:rPr>
                        <a:rPr lang="en-US" i="1" dirty="0" smtClean="0">
                          <a:latin typeface="Cambria Math" panose="02040503050406030204" pitchFamily="18" charset="0"/>
                        </a:rPr>
                        <m:t>log</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m:rPr>
                              <m:sty m:val="p"/>
                            </m:rPr>
                            <a:rPr lang="en-US" i="0" dirty="0" smtClean="0">
                              <a:latin typeface="Cambria Math" panose="02040503050406030204" pitchFamily="18" charset="0"/>
                            </a:rPr>
                            <m:t>radon</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r>
                        <m:rPr>
                          <m:sty m:val="p"/>
                        </m:rPr>
                        <a:rPr lang="en-US" i="1" dirty="0" smtClean="0">
                          <a:latin typeface="Cambria Math" panose="02040503050406030204" pitchFamily="18" charset="0"/>
                        </a:rPr>
                        <m:t>Normal</m:t>
                      </m:r>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𝜇</m:t>
                          </m:r>
                        </m:e>
                        <m:sub>
                          <m:r>
                            <a:rPr lang="en-US" i="1" dirty="0" smtClean="0">
                              <a:latin typeface="Cambria Math" panose="02040503050406030204" pitchFamily="18" charset="0"/>
                            </a:rPr>
                            <m:t>𝑖</m:t>
                          </m:r>
                        </m:sub>
                      </m:sSub>
                      <m:r>
                        <a:rPr lang="en-US" i="1" dirty="0" smtClean="0">
                          <a:latin typeface="Cambria Math" panose="02040503050406030204" pitchFamily="18" charset="0"/>
                        </a:rPr>
                        <m:t>,</m:t>
                      </m:r>
                      <m:r>
                        <a:rPr lang="en-US" i="1" dirty="0" smtClean="0">
                          <a:latin typeface="Cambria Math" panose="02040503050406030204" pitchFamily="18" charset="0"/>
                        </a:rPr>
                        <m:t>𝜎</m:t>
                      </m:r>
                      <m:r>
                        <a:rPr lang="en-US" i="1" dirty="0" smtClean="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B2955F46-9C04-34C0-B0D7-E606E395AE32}"/>
                  </a:ext>
                </a:extLst>
              </p:cNvPr>
              <p:cNvSpPr>
                <a:spLocks noGrp="1" noRot="1" noChangeAspect="1" noMove="1" noResize="1" noEditPoints="1" noAdjustHandles="1" noChangeArrowheads="1" noChangeShapeType="1" noTextEdit="1"/>
              </p:cNvSpPr>
              <p:nvPr>
                <p:ph idx="1"/>
              </p:nvPr>
            </p:nvSpPr>
            <p:spPr>
              <a:blipFill>
                <a:blip r:embed="rId3"/>
                <a:stretch>
                  <a:fillRect l="-812" t="-3081"/>
                </a:stretch>
              </a:blipFill>
            </p:spPr>
            <p:txBody>
              <a:bodyPr/>
              <a:lstStyle/>
              <a:p>
                <a:r>
                  <a:rPr lang="he-IL">
                    <a:noFill/>
                  </a:rPr>
                  <a:t> </a:t>
                </a:r>
              </a:p>
            </p:txBody>
          </p:sp>
        </mc:Fallback>
      </mc:AlternateContent>
    </p:spTree>
    <p:extLst>
      <p:ext uri="{BB962C8B-B14F-4D97-AF65-F5344CB8AC3E}">
        <p14:creationId xmlns:p14="http://schemas.microsoft.com/office/powerpoint/2010/main" val="248550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1FD1B-622C-0ADE-4578-E5F29353A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AEF3B-4FE7-47CB-6908-EBAC021116E6}"/>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7F5BE4ED-55E8-9B1A-CEB7-DE19427C2658}"/>
              </a:ext>
            </a:extLst>
          </p:cNvPr>
          <p:cNvSpPr>
            <a:spLocks noGrp="1"/>
          </p:cNvSpPr>
          <p:nvPr>
            <p:ph idx="1"/>
          </p:nvPr>
        </p:nvSpPr>
        <p:spPr>
          <a:xfrm>
            <a:off x="838200" y="1346560"/>
            <a:ext cx="10515600" cy="5378705"/>
          </a:xfrm>
        </p:spPr>
        <p:txBody>
          <a:bodyPr>
            <a:normAutofit/>
          </a:bodyPr>
          <a:lstStyle/>
          <a:p>
            <a:pPr>
              <a:lnSpc>
                <a:spcPct val="150000"/>
              </a:lnSpc>
            </a:pPr>
            <a:r>
              <a:rPr lang="en-US" b="1" dirty="0"/>
              <a:t>Clean variables:</a:t>
            </a:r>
          </a:p>
          <a:p>
            <a:pPr>
              <a:lnSpc>
                <a:spcPct val="150000"/>
              </a:lnSpc>
            </a:pPr>
            <a:endParaRPr lang="en-US" b="1"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a:lnSpc>
                <a:spcPct val="150000"/>
              </a:lnSpc>
            </a:pPr>
            <a:endParaRPr lang="he-IL" dirty="0"/>
          </a:p>
        </p:txBody>
      </p:sp>
      <p:pic>
        <p:nvPicPr>
          <p:cNvPr id="5" name="Picture 4">
            <a:extLst>
              <a:ext uri="{FF2B5EF4-FFF2-40B4-BE49-F238E27FC236}">
                <a16:creationId xmlns:a16="http://schemas.microsoft.com/office/drawing/2014/main" id="{C69D493F-2878-F82E-4ADE-EBB36372FABB}"/>
              </a:ext>
            </a:extLst>
          </p:cNvPr>
          <p:cNvPicPr>
            <a:picLocks noChangeAspect="1"/>
          </p:cNvPicPr>
          <p:nvPr/>
        </p:nvPicPr>
        <p:blipFill>
          <a:blip r:embed="rId3"/>
          <a:stretch>
            <a:fillRect/>
          </a:stretch>
        </p:blipFill>
        <p:spPr>
          <a:xfrm>
            <a:off x="2053306" y="2672123"/>
            <a:ext cx="8306959" cy="2676899"/>
          </a:xfrm>
          <a:prstGeom prst="rect">
            <a:avLst/>
          </a:prstGeom>
        </p:spPr>
      </p:pic>
    </p:spTree>
    <p:extLst>
      <p:ext uri="{BB962C8B-B14F-4D97-AF65-F5344CB8AC3E}">
        <p14:creationId xmlns:p14="http://schemas.microsoft.com/office/powerpoint/2010/main" val="29689365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1CE6C-EEAE-4951-C28D-FD5A74F82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225F85-9C52-6571-02F4-15BA220854D0}"/>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AC3984E8-73EC-46A0-A6DC-A812A5F3752B}"/>
              </a:ext>
            </a:extLst>
          </p:cNvPr>
          <p:cNvSpPr>
            <a:spLocks noGrp="1"/>
          </p:cNvSpPr>
          <p:nvPr>
            <p:ph idx="1"/>
          </p:nvPr>
        </p:nvSpPr>
        <p:spPr>
          <a:xfrm>
            <a:off x="838200" y="1346560"/>
            <a:ext cx="10515600" cy="5378705"/>
          </a:xfrm>
        </p:spPr>
        <p:txBody>
          <a:bodyPr>
            <a:normAutofit/>
          </a:bodyPr>
          <a:lstStyle/>
          <a:p>
            <a:pPr>
              <a:lnSpc>
                <a:spcPct val="150000"/>
              </a:lnSpc>
            </a:pPr>
            <a:r>
              <a:rPr lang="en-US" b="1" dirty="0"/>
              <a:t>Visualization</a:t>
            </a:r>
          </a:p>
          <a:p>
            <a:pPr>
              <a:lnSpc>
                <a:spcPct val="150000"/>
              </a:lnSpc>
            </a:pPr>
            <a:endParaRPr lang="en-US" b="1"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a:lnSpc>
                <a:spcPct val="150000"/>
              </a:lnSpc>
            </a:pPr>
            <a:endParaRPr lang="he-IL" dirty="0"/>
          </a:p>
        </p:txBody>
      </p:sp>
      <p:pic>
        <p:nvPicPr>
          <p:cNvPr id="1028" name="Picture 4">
            <a:extLst>
              <a:ext uri="{FF2B5EF4-FFF2-40B4-BE49-F238E27FC236}">
                <a16:creationId xmlns:a16="http://schemas.microsoft.com/office/drawing/2014/main" id="{71A4CF52-0ABE-0752-A9A7-57EFEBED3FA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2912"/>
          <a:stretch>
            <a:fillRect/>
          </a:stretch>
        </p:blipFill>
        <p:spPr bwMode="auto">
          <a:xfrm>
            <a:off x="2503170" y="2503375"/>
            <a:ext cx="7415382" cy="285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71598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0E763-72E5-B8E3-C22E-72C1028EEC51}"/>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6833CBA-FE14-F8D5-79D9-53EAC67D6CDE}"/>
              </a:ext>
            </a:extLst>
          </p:cNvPr>
          <p:cNvSpPr/>
          <p:nvPr/>
        </p:nvSpPr>
        <p:spPr>
          <a:xfrm>
            <a:off x="8984901" y="895004"/>
            <a:ext cx="2720591" cy="1200329"/>
          </a:xfrm>
          <a:prstGeom prst="rect">
            <a:avLst/>
          </a:prstGeom>
          <a:solidFill>
            <a:srgbClr val="FFFF99">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4" name="Rectangle 3">
            <a:extLst>
              <a:ext uri="{FF2B5EF4-FFF2-40B4-BE49-F238E27FC236}">
                <a16:creationId xmlns:a16="http://schemas.microsoft.com/office/drawing/2014/main" id="{0D890A8D-A48D-72CF-96C6-452414E7BB60}"/>
              </a:ext>
            </a:extLst>
          </p:cNvPr>
          <p:cNvSpPr/>
          <p:nvPr/>
        </p:nvSpPr>
        <p:spPr>
          <a:xfrm>
            <a:off x="4210755" y="1941688"/>
            <a:ext cx="3725333" cy="451555"/>
          </a:xfrm>
          <a:prstGeom prst="rect">
            <a:avLst/>
          </a:prstGeom>
          <a:solidFill>
            <a:srgbClr val="FFFF99">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a:extLst>
              <a:ext uri="{FF2B5EF4-FFF2-40B4-BE49-F238E27FC236}">
                <a16:creationId xmlns:a16="http://schemas.microsoft.com/office/drawing/2014/main" id="{89CCBA28-82B5-E70B-08EE-DFF5711A28A9}"/>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4506A8-175E-3C31-6559-956C987B15D1}"/>
                  </a:ext>
                </a:extLst>
              </p:cNvPr>
              <p:cNvSpPr>
                <a:spLocks noGrp="1"/>
              </p:cNvSpPr>
              <p:nvPr>
                <p:ph idx="1"/>
              </p:nvPr>
            </p:nvSpPr>
            <p:spPr>
              <a:xfrm>
                <a:off x="838200" y="1346560"/>
                <a:ext cx="10515600" cy="5378705"/>
              </a:xfrm>
            </p:spPr>
            <p:txBody>
              <a:bodyPr>
                <a:normAutofit lnSpcReduction="10000"/>
              </a:bodyPr>
              <a:lstStyle/>
              <a:p>
                <a:pPr>
                  <a:lnSpc>
                    <a:spcPct val="150000"/>
                  </a:lnSpc>
                </a:pPr>
                <a:r>
                  <a:rPr lang="en-US" b="1" dirty="0"/>
                  <a:t>Our first model </a:t>
                </a:r>
              </a:p>
              <a:p>
                <a:pPr marL="0" indent="0">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𝑙𝑜𝑔</m:t>
                      </m:r>
                      <m:r>
                        <m:rPr>
                          <m:lit/>
                        </m:rPr>
                        <a:rPr lang="he-IL">
                          <a:latin typeface="Cambria Math" panose="02040503050406030204" pitchFamily="18" charset="0"/>
                        </a:rPr>
                        <m:t>_</m:t>
                      </m:r>
                      <m:r>
                        <a:rPr lang="he-IL" i="1">
                          <a:latin typeface="Cambria Math" panose="02040503050406030204" pitchFamily="18" charset="0"/>
                        </a:rPr>
                        <m:t>𝑟𝑎𝑑𝑜𝑛</m:t>
                      </m:r>
                      <m:r>
                        <a:rPr lang="he-IL">
                          <a:latin typeface="Cambria Math" panose="02040503050406030204" pitchFamily="18" charset="0"/>
                        </a:rPr>
                        <m:t>∼</m:t>
                      </m:r>
                      <m:r>
                        <a:rPr lang="he-IL" i="1">
                          <a:latin typeface="Cambria Math" panose="02040503050406030204" pitchFamily="18" charset="0"/>
                        </a:rPr>
                        <m:t>𝑢𝑟𝑎𝑛𝑖𝑢</m:t>
                      </m:r>
                      <m:sSub>
                        <m:sSubPr>
                          <m:ctrlPr>
                            <a:rPr lang="he-IL" i="1">
                              <a:latin typeface="Cambria Math" panose="02040503050406030204" pitchFamily="18" charset="0"/>
                            </a:rPr>
                          </m:ctrlPr>
                        </m:sSubPr>
                        <m:e>
                          <m:r>
                            <a:rPr lang="he-IL" i="1">
                              <a:latin typeface="Cambria Math" panose="02040503050406030204" pitchFamily="18" charset="0"/>
                            </a:rPr>
                            <m:t>𝑚</m:t>
                          </m:r>
                        </m:e>
                        <m:sub>
                          <m:r>
                            <a:rPr lang="he-IL" i="1">
                              <a:latin typeface="Cambria Math" panose="02040503050406030204" pitchFamily="18" charset="0"/>
                            </a:rPr>
                            <m:t>𝑧</m:t>
                          </m:r>
                        </m:sub>
                      </m:sSub>
                    </m:oMath>
                  </m:oMathPara>
                </a14:m>
                <a:endParaRPr lang="en-US" dirty="0"/>
              </a:p>
              <a:p>
                <a:pPr marL="0" indent="0">
                  <a:buNone/>
                </a:pPr>
                <a:endParaRPr lang="en-US" b="1" dirty="0"/>
              </a:p>
              <a:p>
                <a:pPr marL="0" indent="0">
                  <a:buNone/>
                </a:pPr>
                <a14:m>
                  <m:oMathPara xmlns:m="http://schemas.openxmlformats.org/officeDocument/2006/math">
                    <m:oMathParaPr>
                      <m:jc m:val="centerGroup"/>
                    </m:oMathParaPr>
                    <m:oMath xmlns:m="http://schemas.openxmlformats.org/officeDocument/2006/math">
                      <m:r>
                        <m:rPr>
                          <m:sty m:val="p"/>
                        </m:rPr>
                        <a:rPr lang="he-IL" i="0">
                          <a:latin typeface="Cambria Math" panose="02040503050406030204" pitchFamily="18" charset="0"/>
                        </a:rPr>
                        <m:t>log</m:t>
                      </m:r>
                      <m:r>
                        <a:rPr lang="en-US" b="0" i="1" smtClean="0">
                          <a:latin typeface="Cambria Math" panose="02040503050406030204" pitchFamily="18" charset="0"/>
                        </a:rPr>
                        <m:t>⁡_</m:t>
                      </m:r>
                      <m:r>
                        <a:rPr lang="he-IL" i="1">
                          <a:latin typeface="Cambria Math" panose="02040503050406030204" pitchFamily="18" charset="0"/>
                        </a:rPr>
                        <m:t>𝑟𝑎𝑑𝑜</m:t>
                      </m:r>
                      <m:sSub>
                        <m:sSubPr>
                          <m:ctrlPr>
                            <a:rPr lang="en-US" b="0" i="1" smtClean="0">
                              <a:latin typeface="Cambria Math" panose="02040503050406030204" pitchFamily="18" charset="0"/>
                            </a:rPr>
                          </m:ctrlPr>
                        </m:sSubPr>
                        <m:e>
                          <m:r>
                            <a:rPr lang="he-IL" i="1">
                              <a:latin typeface="Cambria Math" panose="02040503050406030204" pitchFamily="18" charset="0"/>
                            </a:rPr>
                            <m:t>𝑛</m:t>
                          </m:r>
                        </m:e>
                        <m:sub>
                          <m:r>
                            <a:rPr lang="en-US" b="0" i="1" smtClean="0">
                              <a:latin typeface="Cambria Math" panose="02040503050406030204" pitchFamily="18" charset="0"/>
                            </a:rPr>
                            <m:t>𝑖</m:t>
                          </m:r>
                        </m:sub>
                      </m:sSub>
                      <m:r>
                        <a:rPr lang="he-IL" i="1" dirty="0">
                          <a:latin typeface="Cambria Math" panose="02040503050406030204" pitchFamily="18" charset="0"/>
                        </a:rPr>
                        <m:t>∼</m:t>
                      </m:r>
                      <m:r>
                        <a:rPr lang="he-IL" i="1" dirty="0" err="1">
                          <a:latin typeface="Cambria Math" panose="02040503050406030204" pitchFamily="18" charset="0"/>
                        </a:rPr>
                        <m:t>𝑁𝑜𝑟𝑚𝑎𝑙</m:t>
                      </m:r>
                      <m:r>
                        <a:rPr lang="he-IL" i="1" dirty="0">
                          <a:latin typeface="Cambria Math" panose="02040503050406030204" pitchFamily="18" charset="0"/>
                        </a:rPr>
                        <m:t>(</m:t>
                      </m:r>
                      <m:sSub>
                        <m:sSubPr>
                          <m:ctrlPr>
                            <a:rPr lang="en-US" i="1" dirty="0">
                              <a:latin typeface="Cambria Math" panose="02040503050406030204" pitchFamily="18" charset="0"/>
                            </a:rPr>
                          </m:ctrlPr>
                        </m:sSubPr>
                        <m:e>
                          <m:r>
                            <a:rPr lang="he-IL" i="1" dirty="0" err="1">
                              <a:latin typeface="Cambria Math" panose="02040503050406030204" pitchFamily="18" charset="0"/>
                            </a:rPr>
                            <m:t>𝜇</m:t>
                          </m:r>
                        </m:e>
                        <m:sub>
                          <m:r>
                            <a:rPr lang="he-IL" i="1" dirty="0" err="1">
                              <a:latin typeface="Cambria Math" panose="02040503050406030204" pitchFamily="18" charset="0"/>
                            </a:rPr>
                            <m:t>𝑖</m:t>
                          </m:r>
                        </m:sub>
                      </m:sSub>
                      <m:r>
                        <a:rPr lang="he-IL" i="1" dirty="0">
                          <a:latin typeface="Cambria Math" panose="02040503050406030204" pitchFamily="18" charset="0"/>
                        </a:rPr>
                        <m:t>​,</m:t>
                      </m:r>
                      <m:r>
                        <a:rPr lang="he-IL" i="1" dirty="0">
                          <a:latin typeface="Cambria Math" panose="02040503050406030204" pitchFamily="18" charset="0"/>
                        </a:rPr>
                        <m:t>𝜎</m:t>
                      </m:r>
                      <m:r>
                        <a:rPr lang="he-IL" i="1" dirty="0">
                          <a:latin typeface="Cambria Math" panose="02040503050406030204" pitchFamily="18" charset="0"/>
                        </a:rPr>
                        <m:t>)</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𝜇</m:t>
                          </m:r>
                        </m:e>
                        <m:sub>
                          <m:r>
                            <a:rPr lang="he-IL" i="1">
                              <a:latin typeface="Cambria Math" panose="02040503050406030204" pitchFamily="18" charset="0"/>
                            </a:rPr>
                            <m:t>𝑖</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a:latin typeface="Cambria Math" panose="02040503050406030204" pitchFamily="18" charset="0"/>
                            </a:rPr>
                            <m:t>0</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i="1">
                              <a:latin typeface="Cambria Math" panose="02040503050406030204" pitchFamily="18" charset="0"/>
                            </a:rPr>
                            <m:t>𝑢𝑟𝑎𝑛𝑖𝑢𝑚</m:t>
                          </m:r>
                        </m:sub>
                      </m:sSub>
                      <m:r>
                        <a:rPr lang="he-IL" i="1">
                          <a:latin typeface="Cambria Math" panose="02040503050406030204" pitchFamily="18" charset="0"/>
                        </a:rPr>
                        <m:t>𝑢𝑟𝑎𝑛𝑖𝑢</m:t>
                      </m:r>
                      <m:sSub>
                        <m:sSubPr>
                          <m:ctrlPr>
                            <a:rPr lang="he-IL" i="1">
                              <a:latin typeface="Cambria Math" panose="02040503050406030204" pitchFamily="18" charset="0"/>
                            </a:rPr>
                          </m:ctrlPr>
                        </m:sSubPr>
                        <m:e>
                          <m:r>
                            <a:rPr lang="he-IL" i="1">
                              <a:latin typeface="Cambria Math" panose="02040503050406030204" pitchFamily="18" charset="0"/>
                            </a:rPr>
                            <m:t>𝑚</m:t>
                          </m:r>
                        </m:e>
                        <m:sub>
                          <m:r>
                            <a:rPr lang="he-IL" i="1">
                              <a:latin typeface="Cambria Math" panose="02040503050406030204" pitchFamily="18" charset="0"/>
                            </a:rPr>
                            <m:t>𝑧</m:t>
                          </m:r>
                          <m:r>
                            <a:rPr lang="he-IL">
                              <a:latin typeface="Cambria Math" panose="02040503050406030204" pitchFamily="18" charset="0"/>
                            </a:rPr>
                            <m:t>,</m:t>
                          </m:r>
                          <m:r>
                            <a:rPr lang="he-IL" i="1">
                              <a:latin typeface="Cambria Math" panose="02040503050406030204" pitchFamily="18" charset="0"/>
                            </a:rPr>
                            <m:t>𝑖</m:t>
                          </m:r>
                        </m:sub>
                      </m:sSub>
                    </m:oMath>
                  </m:oMathPara>
                </a14:m>
                <a:endParaRPr lang="en-US" b="1" dirty="0"/>
              </a:p>
              <a:p>
                <a:pPr>
                  <a:lnSpc>
                    <a:spcPct val="150000"/>
                  </a:lnSpc>
                </a:pPr>
                <a:r>
                  <a:rPr lang="en-US" dirty="0"/>
                  <a:t>Note: </a:t>
                </a:r>
              </a:p>
              <a:p>
                <a:pPr lvl="1">
                  <a:lnSpc>
                    <a:spcPct val="150000"/>
                  </a:lnSpc>
                </a:pPr>
                <a:r>
                  <a:rPr lang="en-US" dirty="0"/>
                  <a:t>Because </a:t>
                </a:r>
                <a14:m>
                  <m:oMath xmlns:m="http://schemas.openxmlformats.org/officeDocument/2006/math">
                    <m:r>
                      <a:rPr lang="en-US" i="1" dirty="0" smtClean="0">
                        <a:latin typeface="Cambria Math" panose="02040503050406030204" pitchFamily="18" charset="0"/>
                      </a:rPr>
                      <m:t>𝑢𝑟𝑎𝑛𝑖𝑢</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𝑚</m:t>
                        </m:r>
                      </m:e>
                      <m:sub>
                        <m:r>
                          <a:rPr lang="en-US" i="1" dirty="0" smtClean="0">
                            <a:latin typeface="Cambria Math" panose="02040503050406030204" pitchFamily="18" charset="0"/>
                          </a:rPr>
                          <m:t>𝑧</m:t>
                        </m:r>
                      </m:sub>
                    </m:sSub>
                  </m:oMath>
                </a14:m>
                <a:r>
                  <a:rPr lang="en-US" dirty="0"/>
                  <a:t> is standardized, a one-unit change means one standard deviation in </a:t>
                </a:r>
                <a14:m>
                  <m:oMath xmlns:m="http://schemas.openxmlformats.org/officeDocument/2006/math">
                    <m:r>
                      <m:rPr>
                        <m:sty m:val="p"/>
                      </m:rPr>
                      <a:rPr lang="en-US" i="1" dirty="0" smtClean="0">
                        <a:latin typeface="Cambria Math" panose="02040503050406030204" pitchFamily="18" charset="0"/>
                      </a:rPr>
                      <m:t>log</m:t>
                    </m:r>
                    <m:r>
                      <a:rPr lang="en-US" i="1" dirty="0" smtClean="0">
                        <a:latin typeface="Cambria Math" panose="02040503050406030204" pitchFamily="18" charset="0"/>
                      </a:rPr>
                      <m:t>⁡_</m:t>
                    </m:r>
                    <m:r>
                      <a:rPr lang="en-US" i="1" dirty="0" smtClean="0">
                        <a:latin typeface="Cambria Math" panose="02040503050406030204" pitchFamily="18" charset="0"/>
                      </a:rPr>
                      <m:t>𝑢𝑟𝑎𝑛𝑖𝑢𝑚</m:t>
                    </m:r>
                  </m:oMath>
                </a14:m>
                <a:r>
                  <a:rPr lang="en-US" dirty="0"/>
                  <a:t>. </a:t>
                </a:r>
              </a:p>
              <a:p>
                <a:pPr lvl="1">
                  <a:lnSpc>
                    <a:spcPct val="150000"/>
                  </a:lnSpc>
                </a:pPr>
                <a:r>
                  <a:rPr lang="en-US" dirty="0"/>
                  <a:t>A slope prior such as  Normal(0,1) is therefore written on a standardized effect-size scale.</a:t>
                </a:r>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a:lnSpc>
                    <a:spcPct val="150000"/>
                  </a:lnSpc>
                </a:pPr>
                <a:endParaRPr lang="he-IL" dirty="0"/>
              </a:p>
            </p:txBody>
          </p:sp>
        </mc:Choice>
        <mc:Fallback xmlns="">
          <p:sp>
            <p:nvSpPr>
              <p:cNvPr id="3" name="Content Placeholder 2">
                <a:extLst>
                  <a:ext uri="{FF2B5EF4-FFF2-40B4-BE49-F238E27FC236}">
                    <a16:creationId xmlns:a16="http://schemas.microsoft.com/office/drawing/2014/main" id="{034506A8-175E-3C31-6559-956C987B15D1}"/>
                  </a:ext>
                </a:extLst>
              </p:cNvPr>
              <p:cNvSpPr>
                <a:spLocks noGrp="1" noRot="1" noChangeAspect="1" noMove="1" noResize="1" noEditPoints="1" noAdjustHandles="1" noChangeArrowheads="1" noChangeShapeType="1" noTextEdit="1"/>
              </p:cNvSpPr>
              <p:nvPr>
                <p:ph idx="1"/>
              </p:nvPr>
            </p:nvSpPr>
            <p:spPr>
              <a:xfrm>
                <a:off x="838200" y="1346560"/>
                <a:ext cx="10515600" cy="5378705"/>
              </a:xfrm>
              <a:blipFill>
                <a:blip r:embed="rId3"/>
                <a:stretch>
                  <a:fillRect l="-1043"/>
                </a:stretch>
              </a:blipFill>
            </p:spPr>
            <p:txBody>
              <a:bodyPr/>
              <a:lstStyle/>
              <a:p>
                <a:r>
                  <a:rPr lang="he-IL">
                    <a:noFill/>
                  </a:rPr>
                  <a:t> </a:t>
                </a:r>
              </a:p>
            </p:txBody>
          </p:sp>
        </mc:Fallback>
      </mc:AlternateContent>
      <p:sp>
        <p:nvSpPr>
          <p:cNvPr id="6" name="TextBox 5">
            <a:extLst>
              <a:ext uri="{FF2B5EF4-FFF2-40B4-BE49-F238E27FC236}">
                <a16:creationId xmlns:a16="http://schemas.microsoft.com/office/drawing/2014/main" id="{FA9D121B-2F37-EA2C-81D4-4560C985A445}"/>
              </a:ext>
            </a:extLst>
          </p:cNvPr>
          <p:cNvSpPr txBox="1"/>
          <p:nvPr/>
        </p:nvSpPr>
        <p:spPr>
          <a:xfrm>
            <a:off x="8984901" y="895004"/>
            <a:ext cx="2720591" cy="1200329"/>
          </a:xfrm>
          <a:prstGeom prst="rect">
            <a:avLst/>
          </a:prstGeom>
          <a:noFill/>
        </p:spPr>
        <p:txBody>
          <a:bodyPr wrap="square">
            <a:spAutoFit/>
          </a:bodyPr>
          <a:lstStyle/>
          <a:p>
            <a:r>
              <a:rPr lang="en-US" dirty="0">
                <a:latin typeface="David" panose="020E0502060401010101" pitchFamily="34" charset="-79"/>
                <a:cs typeface="David" panose="020E0502060401010101" pitchFamily="34" charset="-79"/>
              </a:rPr>
              <a:t>Statistical model notation:</a:t>
            </a:r>
          </a:p>
          <a:p>
            <a:r>
              <a:rPr lang="en-US" dirty="0" err="1">
                <a:latin typeface="David" panose="020E0502060401010101" pitchFamily="34" charset="-79"/>
                <a:cs typeface="David" panose="020E0502060401010101" pitchFamily="34" charset="-79"/>
              </a:rPr>
              <a:t>log_radon</a:t>
            </a:r>
            <a:r>
              <a:rPr lang="en-US" dirty="0">
                <a:latin typeface="David" panose="020E0502060401010101" pitchFamily="34" charset="-79"/>
                <a:cs typeface="David" panose="020E0502060401010101" pitchFamily="34" charset="-79"/>
              </a:rPr>
              <a:t> is modeled as a linear function of standardized log uranium</a:t>
            </a:r>
          </a:p>
        </p:txBody>
      </p:sp>
      <p:cxnSp>
        <p:nvCxnSpPr>
          <p:cNvPr id="9" name="Straight Arrow Connector 8">
            <a:extLst>
              <a:ext uri="{FF2B5EF4-FFF2-40B4-BE49-F238E27FC236}">
                <a16:creationId xmlns:a16="http://schemas.microsoft.com/office/drawing/2014/main" id="{B6BF5737-D23E-0598-502D-C99AB8BE243C}"/>
              </a:ext>
            </a:extLst>
          </p:cNvPr>
          <p:cNvCxnSpPr>
            <a:stCxn id="6" idx="1"/>
          </p:cNvCxnSpPr>
          <p:nvPr/>
        </p:nvCxnSpPr>
        <p:spPr>
          <a:xfrm flipH="1">
            <a:off x="8078875" y="1495169"/>
            <a:ext cx="906026" cy="456628"/>
          </a:xfrm>
          <a:prstGeom prst="straightConnector1">
            <a:avLst/>
          </a:prstGeom>
          <a:ln>
            <a:solidFill>
              <a:srgbClr val="FFFF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748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3DEEE-54AF-9FFB-DFC2-E09716F633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84245-35D6-DC92-B238-0A0E1708E3CF}"/>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480D4B4D-AB60-DBA0-4E90-3ACBC8FE4371}"/>
              </a:ext>
            </a:extLst>
          </p:cNvPr>
          <p:cNvSpPr>
            <a:spLocks noGrp="1"/>
          </p:cNvSpPr>
          <p:nvPr>
            <p:ph idx="1"/>
          </p:nvPr>
        </p:nvSpPr>
        <p:spPr>
          <a:xfrm>
            <a:off x="838200" y="1346560"/>
            <a:ext cx="10515600" cy="5378705"/>
          </a:xfrm>
        </p:spPr>
        <p:txBody>
          <a:bodyPr>
            <a:normAutofit/>
          </a:bodyPr>
          <a:lstStyle/>
          <a:p>
            <a:pPr>
              <a:lnSpc>
                <a:spcPct val="150000"/>
              </a:lnSpc>
            </a:pPr>
            <a:r>
              <a:rPr lang="en-US" b="1" dirty="0"/>
              <a:t>Visualization –  </a:t>
            </a:r>
            <a:r>
              <a:rPr lang="en-US" dirty="0"/>
              <a:t>Are radon levels related to county uranium levels?</a:t>
            </a:r>
          </a:p>
          <a:p>
            <a:pPr>
              <a:lnSpc>
                <a:spcPct val="150000"/>
              </a:lnSpc>
            </a:pPr>
            <a:endParaRPr lang="en-US" b="1" dirty="0"/>
          </a:p>
          <a:p>
            <a:pPr>
              <a:lnSpc>
                <a:spcPct val="150000"/>
              </a:lnSpc>
            </a:pPr>
            <a:endParaRPr lang="en-US" b="1"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a:lnSpc>
                <a:spcPct val="150000"/>
              </a:lnSpc>
            </a:pPr>
            <a:endParaRPr lang="he-IL" dirty="0"/>
          </a:p>
        </p:txBody>
      </p:sp>
      <p:pic>
        <p:nvPicPr>
          <p:cNvPr id="4" name="Picture 2">
            <a:extLst>
              <a:ext uri="{FF2B5EF4-FFF2-40B4-BE49-F238E27FC236}">
                <a16:creationId xmlns:a16="http://schemas.microsoft.com/office/drawing/2014/main" id="{E2DB6A06-3B07-B8DA-DCFE-B1038C9D25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9629" y="2156178"/>
            <a:ext cx="6653066" cy="419363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9CCF769-4C58-45E1-2AF1-1AD13028B6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41266" y="2156178"/>
            <a:ext cx="7020181" cy="4425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8763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12E2-3212-1B78-B275-EFD4B49C0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E1580F-03D0-81E2-8280-D95EB9A61513}"/>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C7090483-1991-D167-D97E-F684858FFFB5}"/>
              </a:ext>
            </a:extLst>
          </p:cNvPr>
          <p:cNvSpPr>
            <a:spLocks noGrp="1"/>
          </p:cNvSpPr>
          <p:nvPr>
            <p:ph idx="1"/>
          </p:nvPr>
        </p:nvSpPr>
        <p:spPr>
          <a:xfrm>
            <a:off x="838200" y="1346560"/>
            <a:ext cx="10515600" cy="5378705"/>
          </a:xfrm>
        </p:spPr>
        <p:txBody>
          <a:bodyPr>
            <a:normAutofit/>
          </a:bodyPr>
          <a:lstStyle/>
          <a:p>
            <a:pPr>
              <a:lnSpc>
                <a:spcPct val="150000"/>
              </a:lnSpc>
            </a:pPr>
            <a:r>
              <a:rPr lang="en-GB" dirty="0" err="1"/>
              <a:t>PyMC</a:t>
            </a:r>
            <a:endParaRPr lang="en-GB" dirty="0"/>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7" name="Picture 6">
            <a:extLst>
              <a:ext uri="{FF2B5EF4-FFF2-40B4-BE49-F238E27FC236}">
                <a16:creationId xmlns:a16="http://schemas.microsoft.com/office/drawing/2014/main" id="{90714467-BE3B-4DEF-15DB-F927E29C0064}"/>
              </a:ext>
            </a:extLst>
          </p:cNvPr>
          <p:cNvPicPr>
            <a:picLocks noChangeAspect="1"/>
          </p:cNvPicPr>
          <p:nvPr/>
        </p:nvPicPr>
        <p:blipFill>
          <a:blip r:embed="rId3"/>
          <a:stretch>
            <a:fillRect/>
          </a:stretch>
        </p:blipFill>
        <p:spPr>
          <a:xfrm>
            <a:off x="1541927" y="2388638"/>
            <a:ext cx="9243899" cy="3443806"/>
          </a:xfrm>
          <a:prstGeom prst="rect">
            <a:avLst/>
          </a:prstGeom>
        </p:spPr>
      </p:pic>
    </p:spTree>
    <p:extLst>
      <p:ext uri="{BB962C8B-B14F-4D97-AF65-F5344CB8AC3E}">
        <p14:creationId xmlns:p14="http://schemas.microsoft.com/office/powerpoint/2010/main" val="19445214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43651-E21B-57B8-9027-604DB02F38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68793-B492-D2A2-E25D-A927487F784B}"/>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8EF6EE41-9651-AD77-1612-FA4542AA44B4}"/>
              </a:ext>
            </a:extLst>
          </p:cNvPr>
          <p:cNvSpPr>
            <a:spLocks noGrp="1"/>
          </p:cNvSpPr>
          <p:nvPr>
            <p:ph idx="1"/>
          </p:nvPr>
        </p:nvSpPr>
        <p:spPr>
          <a:xfrm>
            <a:off x="838200" y="1346560"/>
            <a:ext cx="10515600" cy="5378705"/>
          </a:xfrm>
        </p:spPr>
        <p:txBody>
          <a:bodyPr>
            <a:normAutofit/>
          </a:bodyPr>
          <a:lstStyle/>
          <a:p>
            <a:r>
              <a:rPr lang="he-IL" dirty="0" err="1"/>
              <a:t>pm.model_to_graphviz</a:t>
            </a:r>
            <a:r>
              <a:rPr lang="he-IL" dirty="0"/>
              <a:t>(</a:t>
            </a:r>
            <a:r>
              <a:rPr lang="he-IL" dirty="0" err="1"/>
              <a:t>simple_model</a:t>
            </a:r>
            <a:r>
              <a:rPr lang="he-IL" dirty="0"/>
              <a:t>)</a:t>
            </a:r>
          </a:p>
          <a:p>
            <a:pPr marL="0" indent="0">
              <a:lnSpc>
                <a:spcPct val="150000"/>
              </a:lnSpc>
              <a:buNone/>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5" name="Picture 4">
            <a:extLst>
              <a:ext uri="{FF2B5EF4-FFF2-40B4-BE49-F238E27FC236}">
                <a16:creationId xmlns:a16="http://schemas.microsoft.com/office/drawing/2014/main" id="{1E6F2146-B894-33C0-5212-C85302B951D6}"/>
              </a:ext>
            </a:extLst>
          </p:cNvPr>
          <p:cNvPicPr>
            <a:picLocks noChangeAspect="1"/>
          </p:cNvPicPr>
          <p:nvPr/>
        </p:nvPicPr>
        <p:blipFill>
          <a:blip r:embed="rId3"/>
          <a:stretch>
            <a:fillRect/>
          </a:stretch>
        </p:blipFill>
        <p:spPr>
          <a:xfrm>
            <a:off x="3164111" y="2059495"/>
            <a:ext cx="6602885" cy="4224664"/>
          </a:xfrm>
          <a:prstGeom prst="rect">
            <a:avLst/>
          </a:prstGeom>
        </p:spPr>
      </p:pic>
    </p:spTree>
    <p:extLst>
      <p:ext uri="{BB962C8B-B14F-4D97-AF65-F5344CB8AC3E}">
        <p14:creationId xmlns:p14="http://schemas.microsoft.com/office/powerpoint/2010/main" val="301263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3C7C1-D00E-BE65-0C19-F109E5DBC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1C775-45EA-234C-B47B-8517895D868C}"/>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989031E1-7478-1010-C79E-D5CF5891B793}"/>
              </a:ext>
            </a:extLst>
          </p:cNvPr>
          <p:cNvSpPr>
            <a:spLocks noGrp="1"/>
          </p:cNvSpPr>
          <p:nvPr>
            <p:ph idx="1"/>
          </p:nvPr>
        </p:nvSpPr>
        <p:spPr>
          <a:xfrm>
            <a:off x="838200" y="1346560"/>
            <a:ext cx="10515600" cy="5378705"/>
          </a:xfrm>
        </p:spPr>
        <p:txBody>
          <a:bodyPr>
            <a:normAutofit/>
          </a:bodyPr>
          <a:lstStyle/>
          <a:p>
            <a:pPr>
              <a:lnSpc>
                <a:spcPct val="150000"/>
              </a:lnSpc>
            </a:pPr>
            <a:r>
              <a:rPr lang="en-GB" dirty="0"/>
              <a:t>Prior Predictive</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4098" name="Picture 2">
            <a:extLst>
              <a:ext uri="{FF2B5EF4-FFF2-40B4-BE49-F238E27FC236}">
                <a16:creationId xmlns:a16="http://schemas.microsoft.com/office/drawing/2014/main" id="{06D91887-D836-208D-D36D-56B582675B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0545" y="2489369"/>
            <a:ext cx="6836490" cy="430925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4E40EB8-F861-1B4C-4174-D9EC64A5D45E}"/>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767862" y="2055694"/>
            <a:ext cx="7630590" cy="1028844"/>
          </a:xfrm>
          <a:prstGeom prst="rect">
            <a:avLst/>
          </a:prstGeom>
        </p:spPr>
      </p:pic>
    </p:spTree>
    <p:extLst>
      <p:ext uri="{BB962C8B-B14F-4D97-AF65-F5344CB8AC3E}">
        <p14:creationId xmlns:p14="http://schemas.microsoft.com/office/powerpoint/2010/main" val="41016283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E74D1-4D33-5485-3FA0-0BF9EF95AE06}"/>
            </a:ext>
          </a:extLst>
        </p:cNvPr>
        <p:cNvGrpSpPr/>
        <p:nvPr/>
      </p:nvGrpSpPr>
      <p:grpSpPr>
        <a:xfrm>
          <a:off x="0" y="0"/>
          <a:ext cx="0" cy="0"/>
          <a:chOff x="0" y="0"/>
          <a:chExt cx="0" cy="0"/>
        </a:xfrm>
      </p:grpSpPr>
      <p:pic>
        <p:nvPicPr>
          <p:cNvPr id="5122" name="Picture 2">
            <a:extLst>
              <a:ext uri="{FF2B5EF4-FFF2-40B4-BE49-F238E27FC236}">
                <a16:creationId xmlns:a16="http://schemas.microsoft.com/office/drawing/2014/main" id="{CFD08285-9987-586B-D88F-C81283D34F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1333" y="1685191"/>
            <a:ext cx="7639703" cy="481554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FA10EA2-278B-F7CF-9AE2-AD13B1F07A72}"/>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F389BD8C-D385-0B72-3F4F-BE6BC169C015}"/>
              </a:ext>
            </a:extLst>
          </p:cNvPr>
          <p:cNvSpPr>
            <a:spLocks noGrp="1"/>
          </p:cNvSpPr>
          <p:nvPr>
            <p:ph idx="1"/>
          </p:nvPr>
        </p:nvSpPr>
        <p:spPr>
          <a:xfrm>
            <a:off x="490585" y="1223634"/>
            <a:ext cx="3923371" cy="5378705"/>
          </a:xfrm>
        </p:spPr>
        <p:txBody>
          <a:bodyPr>
            <a:normAutofit/>
          </a:bodyPr>
          <a:lstStyle/>
          <a:p>
            <a:pPr>
              <a:lnSpc>
                <a:spcPct val="150000"/>
              </a:lnSpc>
            </a:pPr>
            <a:r>
              <a:rPr lang="en-GB" sz="2400" dirty="0"/>
              <a:t>Prior Predictive</a:t>
            </a:r>
            <a:endParaRPr lang="he-IL" sz="2400" dirty="0"/>
          </a:p>
          <a:p>
            <a:pPr>
              <a:lnSpc>
                <a:spcPct val="150000"/>
              </a:lnSpc>
            </a:pPr>
            <a:r>
              <a:rPr lang="en-GB" sz="2400" dirty="0"/>
              <a:t>P</a:t>
            </a:r>
            <a:r>
              <a:rPr lang="en-US" sz="2400" dirty="0" err="1"/>
              <a:t>ossible</a:t>
            </a:r>
            <a:r>
              <a:rPr lang="en-US" sz="2400" dirty="0"/>
              <a:t> regression lines calculated from the prior predictive samples.</a:t>
            </a:r>
          </a:p>
          <a:p>
            <a:pPr>
              <a:lnSpc>
                <a:spcPct val="150000"/>
              </a:lnSpc>
            </a:pPr>
            <a:endParaRPr lang="en-GB" sz="2400" dirty="0"/>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spTree>
    <p:extLst>
      <p:ext uri="{BB962C8B-B14F-4D97-AF65-F5344CB8AC3E}">
        <p14:creationId xmlns:p14="http://schemas.microsoft.com/office/powerpoint/2010/main" val="3274711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C39B2-C127-B154-21A6-507024727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ADD08-E93E-7352-CD65-6F7493D770B3}"/>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6CF34233-CAD8-F22F-B71A-80B0A91C61D4}"/>
              </a:ext>
            </a:extLst>
          </p:cNvPr>
          <p:cNvSpPr>
            <a:spLocks noGrp="1"/>
          </p:cNvSpPr>
          <p:nvPr>
            <p:ph idx="1"/>
          </p:nvPr>
        </p:nvSpPr>
        <p:spPr>
          <a:xfrm>
            <a:off x="490585" y="1223634"/>
            <a:ext cx="10515600" cy="5378705"/>
          </a:xfrm>
        </p:spPr>
        <p:txBody>
          <a:bodyPr>
            <a:normAutofit/>
          </a:bodyPr>
          <a:lstStyle/>
          <a:p>
            <a:pPr>
              <a:lnSpc>
                <a:spcPct val="150000"/>
              </a:lnSpc>
            </a:pPr>
            <a:r>
              <a:rPr lang="en-GB" sz="2400" dirty="0"/>
              <a:t>Sampling diagnostics</a:t>
            </a:r>
          </a:p>
          <a:p>
            <a:pPr lvl="1">
              <a:lnSpc>
                <a:spcPct val="150000"/>
              </a:lnSpc>
            </a:pPr>
            <a:r>
              <a:rPr lang="en-GB" sz="2000" dirty="0"/>
              <a:t>Summary</a:t>
            </a:r>
          </a:p>
          <a:p>
            <a:pPr lvl="1">
              <a:lnSpc>
                <a:spcPct val="150000"/>
              </a:lnSpc>
            </a:pPr>
            <a:r>
              <a:rPr lang="en-GB" sz="2000" dirty="0"/>
              <a:t>Trace plot</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5" name="Picture 4">
            <a:extLst>
              <a:ext uri="{FF2B5EF4-FFF2-40B4-BE49-F238E27FC236}">
                <a16:creationId xmlns:a16="http://schemas.microsoft.com/office/drawing/2014/main" id="{119092DE-B474-06F8-F3CD-7943FD84B50A}"/>
              </a:ext>
            </a:extLst>
          </p:cNvPr>
          <p:cNvPicPr>
            <a:picLocks noChangeAspect="1"/>
          </p:cNvPicPr>
          <p:nvPr/>
        </p:nvPicPr>
        <p:blipFill>
          <a:blip r:embed="rId3"/>
          <a:stretch>
            <a:fillRect/>
          </a:stretch>
        </p:blipFill>
        <p:spPr>
          <a:xfrm>
            <a:off x="4241134" y="1346560"/>
            <a:ext cx="5046758" cy="1426072"/>
          </a:xfrm>
          <a:prstGeom prst="rect">
            <a:avLst/>
          </a:prstGeom>
        </p:spPr>
      </p:pic>
      <p:pic>
        <p:nvPicPr>
          <p:cNvPr id="6148" name="Picture 4">
            <a:extLst>
              <a:ext uri="{FF2B5EF4-FFF2-40B4-BE49-F238E27FC236}">
                <a16:creationId xmlns:a16="http://schemas.microsoft.com/office/drawing/2014/main" id="{951FE707-813D-0A44-7E02-6B391CE097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5250" y="3125108"/>
            <a:ext cx="7361499" cy="3635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969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1A17E-FE80-2542-B1D9-F9F9810F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6198C1-4206-1877-464C-2B9BF0BBDA11}"/>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185188CB-EB7D-5019-FFB0-ED2CF4DE8776}"/>
              </a:ext>
            </a:extLst>
          </p:cNvPr>
          <p:cNvSpPr>
            <a:spLocks noGrp="1"/>
          </p:cNvSpPr>
          <p:nvPr>
            <p:ph idx="1"/>
          </p:nvPr>
        </p:nvSpPr>
        <p:spPr>
          <a:xfrm>
            <a:off x="490585" y="1223634"/>
            <a:ext cx="10515600" cy="5378705"/>
          </a:xfrm>
        </p:spPr>
        <p:txBody>
          <a:bodyPr>
            <a:normAutofit/>
          </a:bodyPr>
          <a:lstStyle/>
          <a:p>
            <a:pPr>
              <a:lnSpc>
                <a:spcPct val="150000"/>
              </a:lnSpc>
            </a:pPr>
            <a:r>
              <a:rPr lang="en-GB" sz="2400" dirty="0"/>
              <a:t>Sampling diagnostics</a:t>
            </a:r>
          </a:p>
          <a:p>
            <a:pPr lvl="1">
              <a:lnSpc>
                <a:spcPct val="150000"/>
              </a:lnSpc>
            </a:pPr>
            <a:r>
              <a:rPr lang="en-GB" sz="2000" dirty="0"/>
              <a:t>Pair plot	</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8194" name="Picture 2">
            <a:extLst>
              <a:ext uri="{FF2B5EF4-FFF2-40B4-BE49-F238E27FC236}">
                <a16:creationId xmlns:a16="http://schemas.microsoft.com/office/drawing/2014/main" id="{E3F636E9-B922-8192-E0DD-771E0F83B8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1669" y="2013995"/>
            <a:ext cx="6834678" cy="4424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180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9DC33-1893-3F24-07AE-B00BE80D5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EACA2-ED06-2C1D-369D-61645B948E97}"/>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ABC3FB7C-7A49-2D64-8E31-5FD2DCE91545}"/>
              </a:ext>
            </a:extLst>
          </p:cNvPr>
          <p:cNvSpPr>
            <a:spLocks noGrp="1"/>
          </p:cNvSpPr>
          <p:nvPr>
            <p:ph idx="1"/>
          </p:nvPr>
        </p:nvSpPr>
        <p:spPr>
          <a:xfrm>
            <a:off x="490585" y="1223634"/>
            <a:ext cx="10515600" cy="5378705"/>
          </a:xfrm>
        </p:spPr>
        <p:txBody>
          <a:bodyPr>
            <a:normAutofit/>
          </a:bodyPr>
          <a:lstStyle/>
          <a:p>
            <a:pPr>
              <a:lnSpc>
                <a:spcPct val="150000"/>
              </a:lnSpc>
            </a:pPr>
            <a:r>
              <a:rPr lang="en-GB" sz="2400" dirty="0"/>
              <a:t>Posterior Predictive</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7172" name="Picture 4">
            <a:extLst>
              <a:ext uri="{FF2B5EF4-FFF2-40B4-BE49-F238E27FC236}">
                <a16:creationId xmlns:a16="http://schemas.microsoft.com/office/drawing/2014/main" id="{C0984B0B-F21B-26E5-F273-009949C246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1467" y="2046626"/>
            <a:ext cx="7227485" cy="4555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436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5D28E-4911-2056-B9D9-E14A6E6BC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107612-7947-52A5-969D-B019AE1CC5EF}"/>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EA5C1BF4-8470-6FA2-C919-063E0786B711}"/>
              </a:ext>
            </a:extLst>
          </p:cNvPr>
          <p:cNvSpPr>
            <a:spLocks noGrp="1"/>
          </p:cNvSpPr>
          <p:nvPr>
            <p:ph idx="1"/>
          </p:nvPr>
        </p:nvSpPr>
        <p:spPr>
          <a:xfrm>
            <a:off x="490585" y="1223634"/>
            <a:ext cx="10515600" cy="5378705"/>
          </a:xfrm>
        </p:spPr>
        <p:txBody>
          <a:bodyPr>
            <a:normAutofit/>
          </a:bodyPr>
          <a:lstStyle/>
          <a:p>
            <a:pPr>
              <a:lnSpc>
                <a:spcPct val="150000"/>
              </a:lnSpc>
            </a:pPr>
            <a:r>
              <a:rPr lang="en-GB" sz="2400" dirty="0"/>
              <a:t>Bayesian p-value</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10242" name="Picture 2">
            <a:extLst>
              <a:ext uri="{FF2B5EF4-FFF2-40B4-BE49-F238E27FC236}">
                <a16:creationId xmlns:a16="http://schemas.microsoft.com/office/drawing/2014/main" id="{D439F70E-3866-7A7E-0EDE-743A8AAB15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1409" y="2549197"/>
            <a:ext cx="5731409" cy="3612689"/>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A8AF4C51-87FC-84AF-B077-220EB1D427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182" y="2549197"/>
            <a:ext cx="5726818" cy="3609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58364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DE474-BF4D-EE63-435A-6A8F1B88E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889E2B-4E11-5E0F-D9B7-757486704D6C}"/>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04A3D9-0128-A8F6-B7C8-74F62B07C536}"/>
                  </a:ext>
                </a:extLst>
              </p:cNvPr>
              <p:cNvSpPr>
                <a:spLocks noGrp="1"/>
              </p:cNvSpPr>
              <p:nvPr>
                <p:ph idx="1"/>
              </p:nvPr>
            </p:nvSpPr>
            <p:spPr>
              <a:xfrm>
                <a:off x="490585" y="1223634"/>
                <a:ext cx="10515600" cy="5378705"/>
              </a:xfrm>
            </p:spPr>
            <p:txBody>
              <a:bodyPr>
                <a:normAutofit/>
              </a:bodyPr>
              <a:lstStyle/>
              <a:p>
                <a:pPr>
                  <a:lnSpc>
                    <a:spcPct val="150000"/>
                  </a:lnSpc>
                </a:pPr>
                <a:r>
                  <a:rPr lang="en-GB" sz="2400" b="1" dirty="0"/>
                  <a:t>Posterior</a:t>
                </a:r>
              </a:p>
              <a:p>
                <a:pPr>
                  <a:lnSpc>
                    <a:spcPct val="150000"/>
                  </a:lnSpc>
                </a:pPr>
                <a:r>
                  <a:rPr lang="en-US" sz="2000" dirty="0"/>
                  <a:t>The slope </a:t>
                </a:r>
                <a14:m>
                  <m:oMath xmlns:m="http://schemas.openxmlformats.org/officeDocument/2006/math">
                    <m:sSub>
                      <m:sSubPr>
                        <m:ctrlPr>
                          <a:rPr lang="en-US" sz="2000" i="1" dirty="0" smtClean="0">
                            <a:latin typeface="Cambria Math" panose="02040503050406030204" pitchFamily="18" charset="0"/>
                            <a:ea typeface="Cambria Math" panose="02040503050406030204" pitchFamily="18" charset="0"/>
                          </a:rPr>
                        </m:ctrlPr>
                      </m:sSubPr>
                      <m:e>
                        <m:r>
                          <a:rPr lang="en-US" sz="2000" i="1" dirty="0" smtClean="0">
                            <a:latin typeface="Cambria Math" panose="02040503050406030204" pitchFamily="18" charset="0"/>
                            <a:ea typeface="Cambria Math" panose="02040503050406030204" pitchFamily="18" charset="0"/>
                          </a:rPr>
                          <m:t>𝛽</m:t>
                        </m:r>
                      </m:e>
                      <m:sub>
                        <m:r>
                          <a:rPr lang="en-US" sz="2000" i="1" dirty="0" smtClean="0">
                            <a:latin typeface="Cambria Math" panose="02040503050406030204" pitchFamily="18" charset="0"/>
                          </a:rPr>
                          <m:t>𝑢𝑟𝑎𝑛𝑖𝑢𝑚</m:t>
                        </m:r>
                      </m:sub>
                    </m:sSub>
                    <m:r>
                      <a:rPr lang="en-US" sz="2000" i="1" dirty="0" smtClean="0">
                        <a:latin typeface="Cambria Math" panose="02040503050406030204" pitchFamily="18" charset="0"/>
                      </a:rPr>
                      <m:t> </m:t>
                    </m:r>
                  </m:oMath>
                </a14:m>
                <a:r>
                  <a:rPr lang="en-US" sz="2000" dirty="0"/>
                  <a:t>is the expected change in</a:t>
                </a:r>
                <a14:m>
                  <m:oMath xmlns:m="http://schemas.openxmlformats.org/officeDocument/2006/math">
                    <m:r>
                      <a:rPr lang="en-US" sz="2000" i="1" dirty="0" smtClean="0">
                        <a:latin typeface="Cambria Math" panose="02040503050406030204" pitchFamily="18" charset="0"/>
                      </a:rPr>
                      <m:t> </m:t>
                    </m:r>
                    <m:r>
                      <m:rPr>
                        <m:sty m:val="p"/>
                      </m:rPr>
                      <a:rPr lang="en-US" sz="2000" i="1" dirty="0" err="1" smtClean="0">
                        <a:latin typeface="Cambria Math" panose="02040503050406030204" pitchFamily="18" charset="0"/>
                      </a:rPr>
                      <m:t>log</m:t>
                    </m:r>
                    <m:r>
                      <a:rPr lang="en-US" sz="2000" i="1" dirty="0" err="1" smtClean="0">
                        <a:latin typeface="Cambria Math" panose="02040503050406030204" pitchFamily="18" charset="0"/>
                      </a:rPr>
                      <m:t>⁡_</m:t>
                    </m:r>
                    <m:r>
                      <a:rPr lang="en-US" sz="2000" i="1" dirty="0" err="1" smtClean="0">
                        <a:latin typeface="Cambria Math" panose="02040503050406030204" pitchFamily="18" charset="0"/>
                      </a:rPr>
                      <m:t>𝑟𝑎𝑑𝑜𝑛</m:t>
                    </m:r>
                    <m:r>
                      <a:rPr lang="en-US" sz="2000" i="1" dirty="0" smtClean="0">
                        <a:latin typeface="Cambria Math" panose="02040503050406030204" pitchFamily="18" charset="0"/>
                      </a:rPr>
                      <m:t> </m:t>
                    </m:r>
                  </m:oMath>
                </a14:m>
                <a:r>
                  <a:rPr lang="en-US" sz="2000" dirty="0"/>
                  <a:t>for a one-standard-deviation increase in log uranium. </a:t>
                </a:r>
              </a:p>
              <a:p>
                <a:pPr>
                  <a:lnSpc>
                    <a:spcPct val="150000"/>
                  </a:lnSpc>
                </a:pPr>
                <a:r>
                  <a:rPr lang="en-US" sz="2000" dirty="0"/>
                  <a:t>Remember- in Bayesian regression, the slope is a posterior distribution, not one number.</a:t>
                </a:r>
              </a:p>
            </p:txBody>
          </p:sp>
        </mc:Choice>
        <mc:Fallback xmlns="">
          <p:sp>
            <p:nvSpPr>
              <p:cNvPr id="3" name="Content Placeholder 2">
                <a:extLst>
                  <a:ext uri="{FF2B5EF4-FFF2-40B4-BE49-F238E27FC236}">
                    <a16:creationId xmlns:a16="http://schemas.microsoft.com/office/drawing/2014/main" id="{D104A3D9-0128-A8F6-B7C8-74F62B07C536}"/>
                  </a:ext>
                </a:extLst>
              </p:cNvPr>
              <p:cNvSpPr>
                <a:spLocks noGrp="1" noRot="1" noChangeAspect="1" noMove="1" noResize="1" noEditPoints="1" noAdjustHandles="1" noChangeArrowheads="1" noChangeShapeType="1" noTextEdit="1"/>
              </p:cNvSpPr>
              <p:nvPr>
                <p:ph idx="1"/>
              </p:nvPr>
            </p:nvSpPr>
            <p:spPr>
              <a:xfrm>
                <a:off x="490585" y="1223634"/>
                <a:ext cx="10515600" cy="5378705"/>
              </a:xfrm>
              <a:blipFill>
                <a:blip r:embed="rId3"/>
                <a:stretch>
                  <a:fillRect l="-754"/>
                </a:stretch>
              </a:blipFill>
            </p:spPr>
            <p:txBody>
              <a:bodyPr/>
              <a:lstStyle/>
              <a:p>
                <a:r>
                  <a:rPr lang="he-IL">
                    <a:noFill/>
                  </a:rPr>
                  <a:t> </a:t>
                </a:r>
              </a:p>
            </p:txBody>
          </p:sp>
        </mc:Fallback>
      </mc:AlternateContent>
      <p:pic>
        <p:nvPicPr>
          <p:cNvPr id="11266" name="Picture 2">
            <a:extLst>
              <a:ext uri="{FF2B5EF4-FFF2-40B4-BE49-F238E27FC236}">
                <a16:creationId xmlns:a16="http://schemas.microsoft.com/office/drawing/2014/main" id="{665C82A1-D521-A64F-CDEA-15403507C8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619" y="4029389"/>
            <a:ext cx="11358796" cy="231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2627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65C1-B818-5A1A-0678-CA68434A2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E6878-6BB3-A5B8-DB26-71E2A78CF6BD}"/>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25154D-60C4-00CA-8A7C-28512B7B2C29}"/>
                  </a:ext>
                </a:extLst>
              </p:cNvPr>
              <p:cNvSpPr>
                <a:spLocks noGrp="1"/>
              </p:cNvSpPr>
              <p:nvPr>
                <p:ph idx="1"/>
              </p:nvPr>
            </p:nvSpPr>
            <p:spPr>
              <a:xfrm>
                <a:off x="490585" y="1223634"/>
                <a:ext cx="10515600" cy="5378705"/>
              </a:xfrm>
            </p:spPr>
            <p:txBody>
              <a:bodyPr>
                <a:normAutofit/>
              </a:bodyPr>
              <a:lstStyle/>
              <a:p>
                <a:pPr>
                  <a:lnSpc>
                    <a:spcPct val="150000"/>
                  </a:lnSpc>
                </a:pPr>
                <a:r>
                  <a:rPr lang="en-GB" sz="2400" b="1" dirty="0"/>
                  <a:t>Posterior</a:t>
                </a:r>
              </a:p>
              <a:p>
                <a:pPr>
                  <a:lnSpc>
                    <a:spcPct val="150000"/>
                  </a:lnSpc>
                </a:pPr>
                <a:r>
                  <a:rPr lang="en-US" sz="2000" dirty="0"/>
                  <a:t>The slope </a:t>
                </a:r>
                <a14:m>
                  <m:oMath xmlns:m="http://schemas.openxmlformats.org/officeDocument/2006/math">
                    <m:sSub>
                      <m:sSubPr>
                        <m:ctrlPr>
                          <a:rPr lang="en-US" sz="2000" i="1" dirty="0" smtClean="0">
                            <a:latin typeface="Cambria Math" panose="02040503050406030204" pitchFamily="18" charset="0"/>
                            <a:ea typeface="Cambria Math" panose="02040503050406030204" pitchFamily="18" charset="0"/>
                          </a:rPr>
                        </m:ctrlPr>
                      </m:sSubPr>
                      <m:e>
                        <m:r>
                          <a:rPr lang="en-US" sz="2000" i="1" dirty="0" smtClean="0">
                            <a:latin typeface="Cambria Math" panose="02040503050406030204" pitchFamily="18" charset="0"/>
                            <a:ea typeface="Cambria Math" panose="02040503050406030204" pitchFamily="18" charset="0"/>
                          </a:rPr>
                          <m:t>𝛽</m:t>
                        </m:r>
                      </m:e>
                      <m:sub>
                        <m:r>
                          <a:rPr lang="en-US" sz="2000" i="1" dirty="0" smtClean="0">
                            <a:latin typeface="Cambria Math" panose="02040503050406030204" pitchFamily="18" charset="0"/>
                          </a:rPr>
                          <m:t>𝑢𝑟𝑎𝑛𝑖𝑢𝑚</m:t>
                        </m:r>
                      </m:sub>
                    </m:sSub>
                    <m:r>
                      <a:rPr lang="en-US" sz="2000" i="1" dirty="0" smtClean="0">
                        <a:latin typeface="Cambria Math" panose="02040503050406030204" pitchFamily="18" charset="0"/>
                      </a:rPr>
                      <m:t> </m:t>
                    </m:r>
                  </m:oMath>
                </a14:m>
                <a:r>
                  <a:rPr lang="en-US" sz="2000" dirty="0"/>
                  <a:t>is the expected change in</a:t>
                </a:r>
                <a14:m>
                  <m:oMath xmlns:m="http://schemas.openxmlformats.org/officeDocument/2006/math">
                    <m:r>
                      <a:rPr lang="en-US" sz="2000" i="1" dirty="0" smtClean="0">
                        <a:latin typeface="Cambria Math" panose="02040503050406030204" pitchFamily="18" charset="0"/>
                      </a:rPr>
                      <m:t> </m:t>
                    </m:r>
                    <m:r>
                      <m:rPr>
                        <m:sty m:val="p"/>
                      </m:rPr>
                      <a:rPr lang="en-US" sz="2000" i="1" dirty="0" err="1" smtClean="0">
                        <a:latin typeface="Cambria Math" panose="02040503050406030204" pitchFamily="18" charset="0"/>
                      </a:rPr>
                      <m:t>log</m:t>
                    </m:r>
                    <m:r>
                      <a:rPr lang="en-US" sz="2000" i="1" dirty="0" err="1" smtClean="0">
                        <a:latin typeface="Cambria Math" panose="02040503050406030204" pitchFamily="18" charset="0"/>
                      </a:rPr>
                      <m:t>⁡_</m:t>
                    </m:r>
                    <m:r>
                      <a:rPr lang="en-US" sz="2000" i="1" dirty="0" err="1" smtClean="0">
                        <a:latin typeface="Cambria Math" panose="02040503050406030204" pitchFamily="18" charset="0"/>
                      </a:rPr>
                      <m:t>𝑟𝑎𝑑𝑜𝑛</m:t>
                    </m:r>
                    <m:r>
                      <a:rPr lang="en-US" sz="2000" i="1" dirty="0" smtClean="0">
                        <a:latin typeface="Cambria Math" panose="02040503050406030204" pitchFamily="18" charset="0"/>
                      </a:rPr>
                      <m:t> </m:t>
                    </m:r>
                  </m:oMath>
                </a14:m>
                <a:r>
                  <a:rPr lang="en-US" sz="2000" dirty="0"/>
                  <a:t>for a one-standard-deviation increase in log uranium. </a:t>
                </a:r>
              </a:p>
              <a:p>
                <a:pPr>
                  <a:lnSpc>
                    <a:spcPct val="150000"/>
                  </a:lnSpc>
                </a:pPr>
                <a:r>
                  <a:rPr lang="en-US" sz="2000" dirty="0"/>
                  <a:t>Remember- in Bayesian regression, the slope is a posterior distribution, not one number.</a:t>
                </a:r>
              </a:p>
            </p:txBody>
          </p:sp>
        </mc:Choice>
        <mc:Fallback xmlns="">
          <p:sp>
            <p:nvSpPr>
              <p:cNvPr id="3" name="Content Placeholder 2">
                <a:extLst>
                  <a:ext uri="{FF2B5EF4-FFF2-40B4-BE49-F238E27FC236}">
                    <a16:creationId xmlns:a16="http://schemas.microsoft.com/office/drawing/2014/main" id="{4B25154D-60C4-00CA-8A7C-28512B7B2C29}"/>
                  </a:ext>
                </a:extLst>
              </p:cNvPr>
              <p:cNvSpPr>
                <a:spLocks noGrp="1" noRot="1" noChangeAspect="1" noMove="1" noResize="1" noEditPoints="1" noAdjustHandles="1" noChangeArrowheads="1" noChangeShapeType="1" noTextEdit="1"/>
              </p:cNvSpPr>
              <p:nvPr>
                <p:ph idx="1"/>
              </p:nvPr>
            </p:nvSpPr>
            <p:spPr>
              <a:xfrm>
                <a:off x="490585" y="1223634"/>
                <a:ext cx="10515600" cy="5378705"/>
              </a:xfrm>
              <a:blipFill>
                <a:blip r:embed="rId3"/>
                <a:stretch>
                  <a:fillRect l="-754"/>
                </a:stretch>
              </a:blipFill>
            </p:spPr>
            <p:txBody>
              <a:bodyPr/>
              <a:lstStyle/>
              <a:p>
                <a:r>
                  <a:rPr lang="he-IL">
                    <a:noFill/>
                  </a:rPr>
                  <a:t> </a:t>
                </a:r>
              </a:p>
            </p:txBody>
          </p:sp>
        </mc:Fallback>
      </mc:AlternateContent>
      <p:pic>
        <p:nvPicPr>
          <p:cNvPr id="5" name="Picture 4">
            <a:extLst>
              <a:ext uri="{FF2B5EF4-FFF2-40B4-BE49-F238E27FC236}">
                <a16:creationId xmlns:a16="http://schemas.microsoft.com/office/drawing/2014/main" id="{C717C99B-A590-6F29-DB41-704401C820D7}"/>
              </a:ext>
            </a:extLst>
          </p:cNvPr>
          <p:cNvPicPr>
            <a:picLocks noChangeAspect="1"/>
          </p:cNvPicPr>
          <p:nvPr/>
        </p:nvPicPr>
        <p:blipFill>
          <a:blip r:embed="rId4"/>
          <a:stretch>
            <a:fillRect/>
          </a:stretch>
        </p:blipFill>
        <p:spPr>
          <a:xfrm>
            <a:off x="2892279" y="3853056"/>
            <a:ext cx="5464245" cy="1995085"/>
          </a:xfrm>
          <a:prstGeom prst="rect">
            <a:avLst/>
          </a:prstGeom>
        </p:spPr>
      </p:pic>
    </p:spTree>
    <p:extLst>
      <p:ext uri="{BB962C8B-B14F-4D97-AF65-F5344CB8AC3E}">
        <p14:creationId xmlns:p14="http://schemas.microsoft.com/office/powerpoint/2010/main" val="3312515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2CC2C-F083-72EF-CDDB-4D1B92319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9C95C-12F7-08C5-26B0-39F35277ECBA}"/>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1DC1713B-C3B9-9525-38C0-0FEA32876429}"/>
              </a:ext>
            </a:extLst>
          </p:cNvPr>
          <p:cNvSpPr>
            <a:spLocks noGrp="1"/>
          </p:cNvSpPr>
          <p:nvPr>
            <p:ph idx="1"/>
          </p:nvPr>
        </p:nvSpPr>
        <p:spPr>
          <a:xfrm>
            <a:off x="490585" y="1223634"/>
            <a:ext cx="10515600" cy="5378705"/>
          </a:xfrm>
        </p:spPr>
        <p:txBody>
          <a:bodyPr>
            <a:normAutofit/>
          </a:bodyPr>
          <a:lstStyle/>
          <a:p>
            <a:pPr>
              <a:lnSpc>
                <a:spcPct val="150000"/>
              </a:lnSpc>
            </a:pPr>
            <a:r>
              <a:rPr lang="en-GB" sz="2400" dirty="0"/>
              <a:t>Posterior Predictive</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7170" name="Picture 2">
            <a:extLst>
              <a:ext uri="{FF2B5EF4-FFF2-40B4-BE49-F238E27FC236}">
                <a16:creationId xmlns:a16="http://schemas.microsoft.com/office/drawing/2014/main" id="{A1EBA01E-E4A2-EBD2-006A-35A5BFEEBD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1220" y="1984884"/>
            <a:ext cx="7325436" cy="4617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74427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9277D-77E5-6D39-4B85-17C2FEBDB66C}"/>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712BA66-5EA8-4549-E23E-0D801A149CA1}"/>
              </a:ext>
            </a:extLst>
          </p:cNvPr>
          <p:cNvSpPr>
            <a:spLocks noGrp="1"/>
          </p:cNvSpPr>
          <p:nvPr>
            <p:ph type="title"/>
          </p:nvPr>
        </p:nvSpPr>
        <p:spPr>
          <a:xfrm>
            <a:off x="838200" y="2435085"/>
            <a:ext cx="10515600" cy="1325563"/>
          </a:xfrm>
        </p:spPr>
        <p:txBody>
          <a:bodyPr/>
          <a:lstStyle/>
          <a:p>
            <a:pPr algn="ctr"/>
            <a:r>
              <a:rPr lang="en-US" dirty="0"/>
              <a:t>Why center and standardize log uranium?</a:t>
            </a:r>
          </a:p>
        </p:txBody>
      </p:sp>
    </p:spTree>
    <p:extLst>
      <p:ext uri="{BB962C8B-B14F-4D97-AF65-F5344CB8AC3E}">
        <p14:creationId xmlns:p14="http://schemas.microsoft.com/office/powerpoint/2010/main" val="357906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44BC1-7E75-BF7A-9D2D-619D531538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CB09-C062-A3FF-692D-965AFECE152E}"/>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2C8DC63E-1A49-4297-FE99-94136A107738}"/>
              </a:ext>
            </a:extLst>
          </p:cNvPr>
          <p:cNvSpPr>
            <a:spLocks noGrp="1"/>
          </p:cNvSpPr>
          <p:nvPr>
            <p:ph idx="1"/>
          </p:nvPr>
        </p:nvSpPr>
        <p:spPr>
          <a:xfrm>
            <a:off x="490585" y="1107887"/>
            <a:ext cx="10515600" cy="5378705"/>
          </a:xfrm>
        </p:spPr>
        <p:txBody>
          <a:bodyPr>
            <a:normAutofit/>
          </a:bodyPr>
          <a:lstStyle/>
          <a:p>
            <a:pPr>
              <a:lnSpc>
                <a:spcPct val="150000"/>
              </a:lnSpc>
            </a:pPr>
            <a:r>
              <a:rPr lang="en-US" b="1" dirty="0"/>
              <a:t>Why </a:t>
            </a:r>
            <a:r>
              <a:rPr lang="en-US" b="1" dirty="0">
                <a:cs typeface="David" panose="020E0502060401010101" pitchFamily="34" charset="-79"/>
              </a:rPr>
              <a:t>centering</a:t>
            </a:r>
            <a:r>
              <a:rPr lang="he-IL" b="1" dirty="0">
                <a:cs typeface="David" panose="020E0502060401010101" pitchFamily="34" charset="-79"/>
              </a:rPr>
              <a:t> &amp; </a:t>
            </a:r>
            <a:r>
              <a:rPr lang="en-US" b="1" dirty="0">
                <a:cs typeface="David" panose="020E0502060401010101" pitchFamily="34" charset="-79"/>
              </a:rPr>
              <a:t>standardize </a:t>
            </a:r>
            <a:r>
              <a:rPr lang="en-US" b="1" dirty="0" err="1"/>
              <a:t>log_uranium</a:t>
            </a:r>
            <a:r>
              <a:rPr lang="en-US" b="1" dirty="0"/>
              <a:t> matter?</a:t>
            </a:r>
          </a:p>
          <a:p>
            <a:pPr>
              <a:lnSpc>
                <a:spcPct val="150000"/>
              </a:lnSpc>
            </a:pPr>
            <a:r>
              <a:rPr lang="en-US" sz="2000" dirty="0"/>
              <a:t>Fit a similar simple model using the uncentered </a:t>
            </a:r>
            <a:r>
              <a:rPr lang="en-US" sz="2000" dirty="0" err="1"/>
              <a:t>log_uranium</a:t>
            </a:r>
            <a:r>
              <a:rPr lang="en-US" sz="2000" dirty="0"/>
              <a:t> predictor. </a:t>
            </a:r>
          </a:p>
          <a:p>
            <a:pPr>
              <a:lnSpc>
                <a:spcPct val="150000"/>
              </a:lnSpc>
            </a:pPr>
            <a:r>
              <a:rPr lang="en-US" sz="2000" dirty="0"/>
              <a:t>The intercept now refers to </a:t>
            </a:r>
            <a:r>
              <a:rPr lang="en-US" sz="2000" dirty="0" err="1"/>
              <a:t>log_uranium</a:t>
            </a:r>
            <a:r>
              <a:rPr lang="en-US" sz="2000" dirty="0"/>
              <a:t> = 0, not to the center of the data. </a:t>
            </a:r>
          </a:p>
        </p:txBody>
      </p:sp>
      <p:pic>
        <p:nvPicPr>
          <p:cNvPr id="6" name="Picture 5">
            <a:extLst>
              <a:ext uri="{FF2B5EF4-FFF2-40B4-BE49-F238E27FC236}">
                <a16:creationId xmlns:a16="http://schemas.microsoft.com/office/drawing/2014/main" id="{A3F4DAA9-BE47-1AC5-29C6-A2BF9FBA799B}"/>
              </a:ext>
            </a:extLst>
          </p:cNvPr>
          <p:cNvPicPr>
            <a:picLocks noChangeAspect="1"/>
          </p:cNvPicPr>
          <p:nvPr/>
        </p:nvPicPr>
        <p:blipFill>
          <a:blip r:embed="rId3"/>
          <a:stretch>
            <a:fillRect/>
          </a:stretch>
        </p:blipFill>
        <p:spPr>
          <a:xfrm>
            <a:off x="1795828" y="3429000"/>
            <a:ext cx="8420854" cy="2910014"/>
          </a:xfrm>
          <a:prstGeom prst="rect">
            <a:avLst/>
          </a:prstGeom>
        </p:spPr>
      </p:pic>
      <p:sp>
        <p:nvSpPr>
          <p:cNvPr id="7" name="Rectangle 6">
            <a:extLst>
              <a:ext uri="{FF2B5EF4-FFF2-40B4-BE49-F238E27FC236}">
                <a16:creationId xmlns:a16="http://schemas.microsoft.com/office/drawing/2014/main" id="{FDF2F668-08F0-C6E4-5AAF-756243FF5195}"/>
              </a:ext>
            </a:extLst>
          </p:cNvPr>
          <p:cNvSpPr/>
          <p:nvPr/>
        </p:nvSpPr>
        <p:spPr>
          <a:xfrm>
            <a:off x="5305531" y="5215095"/>
            <a:ext cx="3426488" cy="242305"/>
          </a:xfrm>
          <a:prstGeom prst="rect">
            <a:avLst/>
          </a:prstGeom>
          <a:solidFill>
            <a:srgbClr val="FFFF99">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Tree>
    <p:extLst>
      <p:ext uri="{BB962C8B-B14F-4D97-AF65-F5344CB8AC3E}">
        <p14:creationId xmlns:p14="http://schemas.microsoft.com/office/powerpoint/2010/main" val="41214004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029BE-A0B5-3F52-D873-E85D12F0E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73E22-32E2-154A-97D9-AD1DF7E33253}"/>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031003-1C68-22FB-5C0C-414741E8C71C}"/>
                  </a:ext>
                </a:extLst>
              </p:cNvPr>
              <p:cNvSpPr>
                <a:spLocks noGrp="1"/>
              </p:cNvSpPr>
              <p:nvPr>
                <p:ph idx="1"/>
              </p:nvPr>
            </p:nvSpPr>
            <p:spPr>
              <a:xfrm>
                <a:off x="490585" y="1223634"/>
                <a:ext cx="10515600" cy="5378705"/>
              </a:xfrm>
            </p:spPr>
            <p:txBody>
              <a:bodyPr>
                <a:normAutofit/>
              </a:bodyPr>
              <a:lstStyle/>
              <a:p>
                <a:pPr>
                  <a:lnSpc>
                    <a:spcPct val="150000"/>
                  </a:lnSpc>
                </a:pPr>
                <a:r>
                  <a:rPr lang="en-US" b="1" dirty="0"/>
                  <a:t>Why </a:t>
                </a:r>
                <a:r>
                  <a:rPr lang="en-US" b="1" dirty="0">
                    <a:cs typeface="David" panose="020E0502060401010101" pitchFamily="34" charset="-79"/>
                  </a:rPr>
                  <a:t>centering</a:t>
                </a:r>
                <a:r>
                  <a:rPr lang="he-IL" b="1" dirty="0">
                    <a:cs typeface="David" panose="020E0502060401010101" pitchFamily="34" charset="-79"/>
                  </a:rPr>
                  <a:t> &amp; </a:t>
                </a:r>
                <a:r>
                  <a:rPr lang="en-US" b="1" dirty="0">
                    <a:cs typeface="David" panose="020E0502060401010101" pitchFamily="34" charset="-79"/>
                  </a:rPr>
                  <a:t>standardize</a:t>
                </a:r>
                <a:r>
                  <a:rPr lang="en-US" b="1" dirty="0"/>
                  <a:t> </a:t>
                </a:r>
                <a:r>
                  <a:rPr lang="en-US" b="1" dirty="0" err="1"/>
                  <a:t>log_uranium</a:t>
                </a:r>
                <a:r>
                  <a:rPr lang="en-US" b="1" dirty="0"/>
                  <a:t> matter?</a:t>
                </a:r>
              </a:p>
              <a:p>
                <a:pPr>
                  <a:lnSpc>
                    <a:spcPct val="150000"/>
                  </a:lnSpc>
                </a:pPr>
                <a:r>
                  <a:rPr lang="en-US" b="1" dirty="0"/>
                  <a:t>Sampling geometry</a:t>
                </a:r>
              </a:p>
              <a:p>
                <a:pPr>
                  <a:lnSpc>
                    <a:spcPct val="150000"/>
                  </a:lnSpc>
                </a:pPr>
                <a:r>
                  <a:rPr lang="en-US" dirty="0"/>
                  <a:t>With standardized uranium: </a:t>
                </a:r>
                <a:br>
                  <a:rPr lang="en-US" dirty="0"/>
                </a:br>
                <a14:m>
                  <m:oMath xmlns:m="http://schemas.openxmlformats.org/officeDocument/2006/math">
                    <m:r>
                      <a:rPr lang="en-US" i="1" dirty="0" smtClean="0">
                        <a:latin typeface="Cambria Math" panose="02040503050406030204" pitchFamily="18" charset="0"/>
                      </a:rPr>
                      <m:t>𝑢𝑟𝑎𝑛𝑖𝑢</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𝑚</m:t>
                        </m:r>
                      </m:e>
                      <m:sub>
                        <m:r>
                          <a:rPr lang="en-US" i="1" dirty="0" smtClean="0">
                            <a:latin typeface="Cambria Math" panose="02040503050406030204" pitchFamily="18" charset="0"/>
                          </a:rPr>
                          <m:t>𝑧</m:t>
                        </m:r>
                      </m:sub>
                    </m:sSub>
                    <m:r>
                      <a:rPr lang="en-US" i="1" dirty="0" smtClean="0">
                        <a:latin typeface="Cambria Math" panose="02040503050406030204" pitchFamily="18" charset="0"/>
                      </a:rPr>
                      <m:t>=</m:t>
                    </m:r>
                    <m:r>
                      <a:rPr lang="en-US" i="1" dirty="0" smtClean="0">
                        <a:latin typeface="Cambria Math" panose="02040503050406030204" pitchFamily="18" charset="0"/>
                      </a:rPr>
                      <m:t>0</m:t>
                    </m:r>
                    <m:r>
                      <a:rPr lang="en-US" i="1" dirty="0" smtClean="0">
                        <a:latin typeface="Cambria Math" panose="02040503050406030204" pitchFamily="18" charset="0"/>
                      </a:rPr>
                      <m:t> </m:t>
                    </m:r>
                  </m:oMath>
                </a14:m>
                <a:r>
                  <a:rPr lang="en-US" dirty="0"/>
                  <a:t>means average uranium. </a:t>
                </a:r>
              </a:p>
              <a:p>
                <a:pPr>
                  <a:lnSpc>
                    <a:spcPct val="150000"/>
                  </a:lnSpc>
                </a:pPr>
                <a:r>
                  <a:rPr lang="en-US" dirty="0"/>
                  <a:t>With uncentered </a:t>
                </a:r>
                <a:r>
                  <a:rPr lang="en-US" dirty="0" err="1"/>
                  <a:t>log_uranium</a:t>
                </a:r>
                <a:r>
                  <a:rPr lang="en-US" dirty="0"/>
                  <a:t>:</a:t>
                </a:r>
                <a:br>
                  <a:rPr lang="en-US" dirty="0"/>
                </a:br>
                <a14:m>
                  <m:oMath xmlns:m="http://schemas.openxmlformats.org/officeDocument/2006/math">
                    <m:r>
                      <m:rPr>
                        <m:sty m:val="p"/>
                      </m:rPr>
                      <a:rPr lang="en-US" i="1" dirty="0" smtClean="0">
                        <a:latin typeface="Cambria Math" panose="02040503050406030204" pitchFamily="18" charset="0"/>
                      </a:rPr>
                      <m:t>log</m:t>
                    </m:r>
                    <m:r>
                      <a:rPr lang="en-US" i="1" dirty="0" smtClean="0">
                        <a:latin typeface="Cambria Math" panose="02040503050406030204" pitchFamily="18" charset="0"/>
                      </a:rPr>
                      <m:t>⁡_</m:t>
                    </m:r>
                    <m:r>
                      <a:rPr lang="en-US" i="1" dirty="0" smtClean="0">
                        <a:latin typeface="Cambria Math" panose="02040503050406030204" pitchFamily="18" charset="0"/>
                      </a:rPr>
                      <m:t>𝑢𝑟𝑎𝑛𝑖𝑢𝑚</m:t>
                    </m:r>
                    <m:r>
                      <a:rPr lang="en-US" i="1" dirty="0" smtClean="0">
                        <a:latin typeface="Cambria Math" panose="02040503050406030204" pitchFamily="18" charset="0"/>
                      </a:rPr>
                      <m:t>=</m:t>
                    </m:r>
                    <m:r>
                      <a:rPr lang="en-US" i="1" dirty="0" smtClean="0">
                        <a:latin typeface="Cambria Math" panose="02040503050406030204" pitchFamily="18" charset="0"/>
                      </a:rPr>
                      <m:t>0</m:t>
                    </m:r>
                    <m:r>
                      <a:rPr lang="en-US" i="1" dirty="0" smtClean="0">
                        <a:latin typeface="Cambria Math" panose="02040503050406030204" pitchFamily="18" charset="0"/>
                      </a:rPr>
                      <m:t> </m:t>
                    </m:r>
                  </m:oMath>
                </a14:m>
                <a:r>
                  <a:rPr lang="en-US" dirty="0"/>
                  <a:t>means: </a:t>
                </a:r>
                <a:r>
                  <a:rPr lang="en-US" dirty="0" err="1"/>
                  <a:t>Uppm</a:t>
                </a:r>
                <a:r>
                  <a:rPr lang="en-US" dirty="0"/>
                  <a:t>=1 This may not be the center of the data, so the intercept is less natural.</a:t>
                </a:r>
              </a:p>
            </p:txBody>
          </p:sp>
        </mc:Choice>
        <mc:Fallback xmlns="">
          <p:sp>
            <p:nvSpPr>
              <p:cNvPr id="3" name="Content Placeholder 2">
                <a:extLst>
                  <a:ext uri="{FF2B5EF4-FFF2-40B4-BE49-F238E27FC236}">
                    <a16:creationId xmlns:a16="http://schemas.microsoft.com/office/drawing/2014/main" id="{D6031003-1C68-22FB-5C0C-414741E8C71C}"/>
                  </a:ext>
                </a:extLst>
              </p:cNvPr>
              <p:cNvSpPr>
                <a:spLocks noGrp="1" noRot="1" noChangeAspect="1" noMove="1" noResize="1" noEditPoints="1" noAdjustHandles="1" noChangeArrowheads="1" noChangeShapeType="1" noTextEdit="1"/>
              </p:cNvSpPr>
              <p:nvPr>
                <p:ph idx="1"/>
              </p:nvPr>
            </p:nvSpPr>
            <p:spPr>
              <a:xfrm>
                <a:off x="490585" y="1223634"/>
                <a:ext cx="10515600" cy="5378705"/>
              </a:xfrm>
              <a:blipFill>
                <a:blip r:embed="rId3"/>
                <a:stretch>
                  <a:fillRect l="-1043"/>
                </a:stretch>
              </a:blipFill>
            </p:spPr>
            <p:txBody>
              <a:bodyPr/>
              <a:lstStyle/>
              <a:p>
                <a:r>
                  <a:rPr lang="he-IL">
                    <a:noFill/>
                  </a:rPr>
                  <a:t> </a:t>
                </a:r>
              </a:p>
            </p:txBody>
          </p:sp>
        </mc:Fallback>
      </mc:AlternateContent>
    </p:spTree>
    <p:extLst>
      <p:ext uri="{BB962C8B-B14F-4D97-AF65-F5344CB8AC3E}">
        <p14:creationId xmlns:p14="http://schemas.microsoft.com/office/powerpoint/2010/main" val="1337752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5CA94-3379-7BD5-FF0D-FD38FA1AC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9F342-EF22-98A1-8E39-E5C3604991B3}"/>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F875D3F0-1A5D-0E18-15CE-03106805740E}"/>
              </a:ext>
            </a:extLst>
          </p:cNvPr>
          <p:cNvSpPr>
            <a:spLocks noGrp="1"/>
          </p:cNvSpPr>
          <p:nvPr>
            <p:ph idx="1"/>
          </p:nvPr>
        </p:nvSpPr>
        <p:spPr>
          <a:xfrm>
            <a:off x="490585" y="1223634"/>
            <a:ext cx="10515600" cy="5378705"/>
          </a:xfrm>
        </p:spPr>
        <p:txBody>
          <a:bodyPr>
            <a:normAutofit/>
          </a:bodyPr>
          <a:lstStyle/>
          <a:p>
            <a:pPr>
              <a:lnSpc>
                <a:spcPct val="150000"/>
              </a:lnSpc>
            </a:pPr>
            <a:r>
              <a:rPr lang="en-GB" sz="2400" dirty="0"/>
              <a:t>Sampling diagnostics</a:t>
            </a:r>
          </a:p>
          <a:p>
            <a:pPr lvl="1">
              <a:lnSpc>
                <a:spcPct val="150000"/>
              </a:lnSpc>
            </a:pPr>
            <a:r>
              <a:rPr lang="en-GB" sz="2000" dirty="0"/>
              <a:t>Pair plot	</a:t>
            </a:r>
          </a:p>
          <a:p>
            <a:pPr>
              <a:lnSpc>
                <a:spcPct val="150000"/>
              </a:lnSpc>
              <a:buFont typeface="Wingdings" panose="05000000000000000000" pitchFamily="2" charset="2"/>
              <a:buChar char="§"/>
            </a:pPr>
            <a:endParaRPr lang="en-GB" dirty="0"/>
          </a:p>
          <a:p>
            <a:pPr>
              <a:lnSpc>
                <a:spcPct val="150000"/>
              </a:lnSpc>
              <a:buFont typeface="Wingdings" panose="05000000000000000000" pitchFamily="2" charset="2"/>
              <a:buChar char="§"/>
            </a:pPr>
            <a:endParaRPr lang="en-GB" dirty="0"/>
          </a:p>
          <a:p>
            <a:pPr marL="0" indent="0">
              <a:lnSpc>
                <a:spcPct val="150000"/>
              </a:lnSpc>
              <a:buNone/>
            </a:pPr>
            <a:endParaRPr lang="en-GB" dirty="0"/>
          </a:p>
          <a:p>
            <a:pPr marL="0" indent="0">
              <a:lnSpc>
                <a:spcPct val="150000"/>
              </a:lnSpc>
              <a:buNone/>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US" dirty="0"/>
          </a:p>
        </p:txBody>
      </p:sp>
      <p:pic>
        <p:nvPicPr>
          <p:cNvPr id="8194" name="Picture 2">
            <a:extLst>
              <a:ext uri="{FF2B5EF4-FFF2-40B4-BE49-F238E27FC236}">
                <a16:creationId xmlns:a16="http://schemas.microsoft.com/office/drawing/2014/main" id="{6DED2366-6A9C-2BE6-9F69-BECD6F9EE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793443"/>
            <a:ext cx="5459967" cy="3534746"/>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a:extLst>
              <a:ext uri="{FF2B5EF4-FFF2-40B4-BE49-F238E27FC236}">
                <a16:creationId xmlns:a16="http://schemas.microsoft.com/office/drawing/2014/main" id="{6CAD1B42-C35B-041F-89CA-CCA3D7FC46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419" y="2793443"/>
            <a:ext cx="5459966" cy="353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6819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D8E9-E087-2639-A75E-DFEF188A6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EC241-7186-1E72-2E4E-07A8C4BD30D0}"/>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F0A915E2-0DDD-B742-7442-4A0B3D483453}"/>
              </a:ext>
            </a:extLst>
          </p:cNvPr>
          <p:cNvSpPr>
            <a:spLocks noGrp="1"/>
          </p:cNvSpPr>
          <p:nvPr>
            <p:ph idx="1"/>
          </p:nvPr>
        </p:nvSpPr>
        <p:spPr>
          <a:xfrm>
            <a:off x="490585" y="1223634"/>
            <a:ext cx="10515600" cy="5378705"/>
          </a:xfrm>
        </p:spPr>
        <p:txBody>
          <a:bodyPr>
            <a:normAutofit/>
          </a:bodyPr>
          <a:lstStyle/>
          <a:p>
            <a:pPr>
              <a:lnSpc>
                <a:spcPct val="150000"/>
              </a:lnSpc>
            </a:pPr>
            <a:r>
              <a:rPr lang="en-US" dirty="0"/>
              <a:t>Uncentered predictors can create stronger posterior correlation between the intercept and slope. </a:t>
            </a:r>
          </a:p>
          <a:p>
            <a:pPr>
              <a:lnSpc>
                <a:spcPct val="150000"/>
              </a:lnSpc>
            </a:pPr>
            <a:r>
              <a:rPr lang="en-US" dirty="0"/>
              <a:t>This can make sampling less efficient, especially in more complex models.</a:t>
            </a:r>
          </a:p>
          <a:p>
            <a:pPr>
              <a:lnSpc>
                <a:spcPct val="150000"/>
              </a:lnSpc>
            </a:pPr>
            <a:r>
              <a:rPr lang="en-US" dirty="0"/>
              <a:t>Centering and standardization affect interpretation, prior choice, and sometimes sampling geometry.</a:t>
            </a:r>
          </a:p>
        </p:txBody>
      </p:sp>
    </p:spTree>
    <p:extLst>
      <p:ext uri="{BB962C8B-B14F-4D97-AF65-F5344CB8AC3E}">
        <p14:creationId xmlns:p14="http://schemas.microsoft.com/office/powerpoint/2010/main" val="21530921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9D06-8683-DE10-2D35-A48DF448261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FD6FC0B-341F-8F54-ADCC-0E775D0E305F}"/>
              </a:ext>
            </a:extLst>
          </p:cNvPr>
          <p:cNvSpPr>
            <a:spLocks noGrp="1"/>
          </p:cNvSpPr>
          <p:nvPr>
            <p:ph type="title"/>
          </p:nvPr>
        </p:nvSpPr>
        <p:spPr>
          <a:xfrm>
            <a:off x="838200" y="2435085"/>
            <a:ext cx="10515600" cy="1325563"/>
          </a:xfrm>
        </p:spPr>
        <p:txBody>
          <a:bodyPr/>
          <a:lstStyle/>
          <a:p>
            <a:pPr algn="ctr"/>
            <a:r>
              <a:rPr lang="en-US" dirty="0"/>
              <a:t>Multiple Regression</a:t>
            </a:r>
          </a:p>
        </p:txBody>
      </p:sp>
    </p:spTree>
    <p:extLst>
      <p:ext uri="{BB962C8B-B14F-4D97-AF65-F5344CB8AC3E}">
        <p14:creationId xmlns:p14="http://schemas.microsoft.com/office/powerpoint/2010/main" val="37149632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24737-5252-CB4F-E0E1-8C4151B12D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19BBC8-9548-92F3-C9B6-FB719C2ED21C}"/>
              </a:ext>
            </a:extLst>
          </p:cNvPr>
          <p:cNvSpPr>
            <a:spLocks noGrp="1"/>
          </p:cNvSpPr>
          <p:nvPr>
            <p:ph type="title"/>
          </p:nvPr>
        </p:nvSpPr>
        <p:spPr>
          <a:xfrm>
            <a:off x="838200" y="20997"/>
            <a:ext cx="10515600" cy="1325563"/>
          </a:xfrm>
        </p:spPr>
        <p:txBody>
          <a:bodyPr/>
          <a:lstStyle/>
          <a:p>
            <a:r>
              <a:rPr lang="en-US" dirty="0"/>
              <a:t>Multiple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AA6124-C94D-D5C4-9B87-1720D0EEA272}"/>
                  </a:ext>
                </a:extLst>
              </p:cNvPr>
              <p:cNvSpPr>
                <a:spLocks noGrp="1"/>
              </p:cNvSpPr>
              <p:nvPr>
                <p:ph idx="1"/>
              </p:nvPr>
            </p:nvSpPr>
            <p:spPr>
              <a:xfrm>
                <a:off x="838200" y="1346560"/>
                <a:ext cx="10789508" cy="5378705"/>
              </a:xfrm>
            </p:spPr>
            <p:txBody>
              <a:bodyPr>
                <a:normAutofit/>
              </a:bodyPr>
              <a:lstStyle/>
              <a:p>
                <a:pPr>
                  <a:lnSpc>
                    <a:spcPct val="150000"/>
                  </a:lnSpc>
                </a:pPr>
                <a:r>
                  <a:rPr lang="en-GB" dirty="0"/>
                  <a:t> </a:t>
                </a:r>
                <a:r>
                  <a:rPr lang="en-US" dirty="0"/>
                  <a:t>Multiple regression includes more than one predictor</a:t>
                </a:r>
                <a:r>
                  <a:rPr lang="en-GB" dirty="0"/>
                  <a:t> (independent variable).</a:t>
                </a:r>
              </a:p>
              <a:p>
                <a:pPr lvl="1">
                  <a:lnSpc>
                    <a:spcPct val="150000"/>
                  </a:lnSpc>
                </a:pPr>
                <a:r>
                  <a:rPr lang="en-GB" dirty="0"/>
                  <a:t>For example, height as a function of both weight and age. </a:t>
                </a:r>
              </a:p>
              <a:p>
                <a:pPr lvl="1">
                  <a:lnSpc>
                    <a:spcPct val="150000"/>
                  </a:lnSpc>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𝜇</m:t>
                        </m:r>
                      </m:e>
                      <m:sub>
                        <m:r>
                          <a:rPr lang="en-US" b="0" i="1" smtClean="0">
                            <a:latin typeface="Cambria Math" panose="02040503050406030204" pitchFamily="18" charset="0"/>
                          </a:rPr>
                          <m:t>h</m:t>
                        </m:r>
                        <m:r>
                          <a:rPr lang="en-US" b="0" i="1" smtClean="0">
                            <a:latin typeface="Cambria Math" panose="02040503050406030204" pitchFamily="18" charset="0"/>
                          </a:rPr>
                          <m:t>𝑒𝑖𝑔</m:t>
                        </m:r>
                        <m:r>
                          <a:rPr lang="en-US" b="0" i="1" smtClean="0">
                            <a:latin typeface="Cambria Math" panose="02040503050406030204" pitchFamily="18" charset="0"/>
                          </a:rPr>
                          <m:t>h</m:t>
                        </m:r>
                        <m:r>
                          <a:rPr lang="en-US" b="0" i="1" smtClean="0">
                            <a:latin typeface="Cambria Math" panose="02040503050406030204" pitchFamily="18" charset="0"/>
                          </a:rPr>
                          <m:t>𝑡</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US" b="0" i="1" smtClean="0">
                            <a:latin typeface="Cambria Math" panose="02040503050406030204" pitchFamily="18" charset="0"/>
                          </a:rPr>
                          <m:t>𝑤𝑒𝑖𝑔</m:t>
                        </m:r>
                        <m:r>
                          <a:rPr lang="en-US" b="0" i="1" smtClean="0">
                            <a:latin typeface="Cambria Math" panose="02040503050406030204" pitchFamily="18" charset="0"/>
                          </a:rPr>
                          <m:t>h</m:t>
                        </m:r>
                        <m:r>
                          <a:rPr lang="en-US" b="0" i="1" smtClean="0">
                            <a:latin typeface="Cambria Math" panose="02040503050406030204" pitchFamily="18" charset="0"/>
                          </a:rPr>
                          <m:t>𝑡</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US" b="0" i="1" smtClean="0">
                            <a:latin typeface="Cambria Math" panose="02040503050406030204" pitchFamily="18" charset="0"/>
                          </a:rPr>
                          <m:t>𝑤𝑒𝑖𝑔</m:t>
                        </m:r>
                        <m:r>
                          <a:rPr lang="en-US" b="0" i="1" smtClean="0">
                            <a:latin typeface="Cambria Math" panose="02040503050406030204" pitchFamily="18" charset="0"/>
                          </a:rPr>
                          <m:t>h</m:t>
                        </m:r>
                        <m:r>
                          <a:rPr lang="en-US" b="0" i="1" smtClean="0">
                            <a:latin typeface="Cambria Math" panose="02040503050406030204" pitchFamily="18" charset="0"/>
                          </a:rPr>
                          <m:t>𝑡</m:t>
                        </m:r>
                      </m:sub>
                    </m:sSub>
                    <m:r>
                      <a:rPr lang="en-GB" b="0" i="1" smtClean="0">
                        <a:latin typeface="Cambria Math" panose="02040503050406030204" pitchFamily="18" charset="0"/>
                      </a:rPr>
                      <m:t>+</m:t>
                    </m:r>
                  </m:oMath>
                </a14:m>
                <a:r>
                  <a:rPr lang="en-GB" dirty="0"/>
                  <a:t>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US" b="0" i="1" smtClean="0">
                            <a:latin typeface="Cambria Math" panose="02040503050406030204" pitchFamily="18" charset="0"/>
                          </a:rPr>
                          <m:t>𝑎𝑔𝑒</m:t>
                        </m:r>
                      </m:sub>
                    </m:sSub>
                    <m:sSub>
                      <m:sSubPr>
                        <m:ctrlPr>
                          <a:rPr lang="en-GB" i="1">
                            <a:latin typeface="Cambria Math" panose="02040503050406030204" pitchFamily="18" charset="0"/>
                          </a:rPr>
                        </m:ctrlPr>
                      </m:sSubPr>
                      <m:e>
                        <m:r>
                          <a:rPr lang="en-GB" i="1">
                            <a:latin typeface="Cambria Math" panose="02040503050406030204" pitchFamily="18" charset="0"/>
                          </a:rPr>
                          <m:t>𝑥</m:t>
                        </m:r>
                      </m:e>
                      <m:sub>
                        <m:r>
                          <a:rPr lang="en-US" b="0" i="1" smtClean="0">
                            <a:latin typeface="Cambria Math" panose="02040503050406030204" pitchFamily="18" charset="0"/>
                          </a:rPr>
                          <m:t>𝑎𝑔𝑒</m:t>
                        </m:r>
                      </m:sub>
                    </m:sSub>
                  </m:oMath>
                </a14:m>
                <a:endParaRPr lang="en-GB" dirty="0"/>
              </a:p>
              <a:p>
                <a:pPr lvl="1">
                  <a:lnSpc>
                    <a:spcPct val="150000"/>
                  </a:lnSpc>
                </a:pPr>
                <a:endParaRPr lang="en-GB" dirty="0"/>
              </a:p>
            </p:txBody>
          </p:sp>
        </mc:Choice>
        <mc:Fallback xmlns="">
          <p:sp>
            <p:nvSpPr>
              <p:cNvPr id="3" name="Content Placeholder 2">
                <a:extLst>
                  <a:ext uri="{FF2B5EF4-FFF2-40B4-BE49-F238E27FC236}">
                    <a16:creationId xmlns:a16="http://schemas.microsoft.com/office/drawing/2014/main" id="{9DAA6124-C94D-D5C4-9B87-1720D0EEA272}"/>
                  </a:ext>
                </a:extLst>
              </p:cNvPr>
              <p:cNvSpPr>
                <a:spLocks noGrp="1" noRot="1" noChangeAspect="1" noMove="1" noResize="1" noEditPoints="1" noAdjustHandles="1" noChangeArrowheads="1" noChangeShapeType="1" noTextEdit="1"/>
              </p:cNvSpPr>
              <p:nvPr>
                <p:ph idx="1"/>
              </p:nvPr>
            </p:nvSpPr>
            <p:spPr>
              <a:xfrm>
                <a:off x="838200" y="1346560"/>
                <a:ext cx="10789508" cy="5378705"/>
              </a:xfrm>
              <a:blipFill>
                <a:blip r:embed="rId3"/>
                <a:stretch>
                  <a:fillRect l="-1018" r="-961"/>
                </a:stretch>
              </a:blipFill>
            </p:spPr>
            <p:txBody>
              <a:bodyPr/>
              <a:lstStyle/>
              <a:p>
                <a:r>
                  <a:rPr lang="he-IL">
                    <a:noFill/>
                  </a:rPr>
                  <a:t> </a:t>
                </a:r>
              </a:p>
            </p:txBody>
          </p:sp>
        </mc:Fallback>
      </mc:AlternateContent>
    </p:spTree>
    <p:extLst>
      <p:ext uri="{BB962C8B-B14F-4D97-AF65-F5344CB8AC3E}">
        <p14:creationId xmlns:p14="http://schemas.microsoft.com/office/powerpoint/2010/main" val="17259125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D7659-E1C0-945D-9E32-5E81002601D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2698A53-AA6D-C4E1-9C1B-185F92652116}"/>
              </a:ext>
            </a:extLst>
          </p:cNvPr>
          <p:cNvSpPr/>
          <p:nvPr/>
        </p:nvSpPr>
        <p:spPr>
          <a:xfrm>
            <a:off x="4492977" y="1456265"/>
            <a:ext cx="3725333" cy="451555"/>
          </a:xfrm>
          <a:prstGeom prst="rect">
            <a:avLst/>
          </a:prstGeom>
          <a:solidFill>
            <a:srgbClr val="FFFF99">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p>
        </p:txBody>
      </p:sp>
      <p:sp>
        <p:nvSpPr>
          <p:cNvPr id="5" name="Rectangle 4">
            <a:extLst>
              <a:ext uri="{FF2B5EF4-FFF2-40B4-BE49-F238E27FC236}">
                <a16:creationId xmlns:a16="http://schemas.microsoft.com/office/drawing/2014/main" id="{7A024B83-9BE1-59BB-7F82-12E9B65078EB}"/>
              </a:ext>
            </a:extLst>
          </p:cNvPr>
          <p:cNvSpPr/>
          <p:nvPr/>
        </p:nvSpPr>
        <p:spPr>
          <a:xfrm>
            <a:off x="3324577" y="4227687"/>
            <a:ext cx="5717823" cy="451555"/>
          </a:xfrm>
          <a:prstGeom prst="rect">
            <a:avLst/>
          </a:prstGeom>
          <a:solidFill>
            <a:srgbClr val="FFFF99">
              <a:alpha val="2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itle 1">
            <a:extLst>
              <a:ext uri="{FF2B5EF4-FFF2-40B4-BE49-F238E27FC236}">
                <a16:creationId xmlns:a16="http://schemas.microsoft.com/office/drawing/2014/main" id="{54335092-118E-5211-462F-66A8FBCFB8BF}"/>
              </a:ext>
            </a:extLst>
          </p:cNvPr>
          <p:cNvSpPr>
            <a:spLocks noGrp="1"/>
          </p:cNvSpPr>
          <p:nvPr>
            <p:ph type="title"/>
          </p:nvPr>
        </p:nvSpPr>
        <p:spPr>
          <a:xfrm>
            <a:off x="838200" y="20997"/>
            <a:ext cx="10515600" cy="1325563"/>
          </a:xfrm>
        </p:spPr>
        <p:txBody>
          <a:bodyPr/>
          <a:lstStyle/>
          <a:p>
            <a:r>
              <a:rPr lang="en-US" dirty="0"/>
              <a:t>Multiple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DCC3D2-95BB-59C7-023C-2A46BA2017D7}"/>
                  </a:ext>
                </a:extLst>
              </p:cNvPr>
              <p:cNvSpPr>
                <a:spLocks noGrp="1"/>
              </p:cNvSpPr>
              <p:nvPr>
                <p:ph idx="1"/>
              </p:nvPr>
            </p:nvSpPr>
            <p:spPr>
              <a:xfrm>
                <a:off x="838200" y="1124139"/>
                <a:ext cx="10789508" cy="5378705"/>
              </a:xfrm>
            </p:spPr>
            <p:txBody>
              <a:bodyPr>
                <a:normAutofit/>
              </a:bodyPr>
              <a:lstStyle/>
              <a:p>
                <a:r>
                  <a:rPr lang="he-IL" dirty="0"/>
                  <a:t>The simple model was:</a:t>
                </a:r>
                <a:endParaRPr lang="en-US" dirty="0"/>
              </a:p>
              <a:p>
                <a:pPr marL="0" indent="0">
                  <a:buNone/>
                </a:pPr>
                <a14:m>
                  <m:oMathPara xmlns:m="http://schemas.openxmlformats.org/officeDocument/2006/math">
                    <m:oMathParaPr>
                      <m:jc m:val="centerGroup"/>
                    </m:oMathParaPr>
                    <m:oMath xmlns:m="http://schemas.openxmlformats.org/officeDocument/2006/math">
                      <m:r>
                        <a:rPr lang="he-IL" i="1" smtClean="0">
                          <a:latin typeface="Cambria Math" panose="02040503050406030204" pitchFamily="18" charset="0"/>
                        </a:rPr>
                        <m:t>𝑙𝑜𝑔</m:t>
                      </m:r>
                      <m:r>
                        <m:rPr>
                          <m:lit/>
                        </m:rPr>
                        <a:rPr lang="he-IL">
                          <a:latin typeface="Cambria Math" panose="02040503050406030204" pitchFamily="18" charset="0"/>
                        </a:rPr>
                        <m:t>_</m:t>
                      </m:r>
                      <m:r>
                        <a:rPr lang="he-IL" i="1">
                          <a:latin typeface="Cambria Math" panose="02040503050406030204" pitchFamily="18" charset="0"/>
                        </a:rPr>
                        <m:t>𝑟𝑎𝑑𝑜𝑛</m:t>
                      </m:r>
                      <m:r>
                        <a:rPr lang="he-IL">
                          <a:latin typeface="Cambria Math" panose="02040503050406030204" pitchFamily="18" charset="0"/>
                        </a:rPr>
                        <m:t>∼</m:t>
                      </m:r>
                      <m:r>
                        <a:rPr lang="he-IL" i="1">
                          <a:latin typeface="Cambria Math" panose="02040503050406030204" pitchFamily="18" charset="0"/>
                        </a:rPr>
                        <m:t>𝑢𝑟𝑎𝑛𝑖𝑢</m:t>
                      </m:r>
                      <m:sSub>
                        <m:sSubPr>
                          <m:ctrlPr>
                            <a:rPr lang="he-IL" i="1">
                              <a:latin typeface="Cambria Math" panose="02040503050406030204" pitchFamily="18" charset="0"/>
                            </a:rPr>
                          </m:ctrlPr>
                        </m:sSubPr>
                        <m:e>
                          <m:r>
                            <a:rPr lang="he-IL" i="1">
                              <a:latin typeface="Cambria Math" panose="02040503050406030204" pitchFamily="18" charset="0"/>
                            </a:rPr>
                            <m:t>𝑚</m:t>
                          </m:r>
                        </m:e>
                        <m:sub>
                          <m:r>
                            <a:rPr lang="he-IL" i="1">
                              <a:latin typeface="Cambria Math" panose="02040503050406030204" pitchFamily="18" charset="0"/>
                            </a:rPr>
                            <m:t>𝑧</m:t>
                          </m:r>
                        </m:sub>
                      </m:sSub>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m:rPr>
                          <m:sty m:val="p"/>
                        </m:rPr>
                        <a:rPr lang="en-US" i="0" dirty="0">
                          <a:latin typeface="Cambria Math" panose="02040503050406030204" pitchFamily="18" charset="0"/>
                        </a:rPr>
                        <m:t>log</m:t>
                      </m:r>
                      <m:r>
                        <a:rPr lang="en-US" b="0" i="1" dirty="0" smtClean="0">
                          <a:latin typeface="Cambria Math" panose="02040503050406030204" pitchFamily="18" charset="0"/>
                        </a:rPr>
                        <m:t>⁡_</m:t>
                      </m:r>
                      <m:r>
                        <a:rPr lang="en-US" i="1" dirty="0">
                          <a:latin typeface="Cambria Math" panose="02040503050406030204" pitchFamily="18" charset="0"/>
                        </a:rPr>
                        <m:t>𝑟𝑎𝑑𝑜</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𝑛</m:t>
                          </m:r>
                        </m:e>
                        <m:sub>
                          <m:r>
                            <a:rPr lang="en-US" b="0" i="1" dirty="0" smtClean="0">
                              <a:latin typeface="Cambria Math" panose="02040503050406030204" pitchFamily="18" charset="0"/>
                            </a:rPr>
                            <m:t>𝑖</m:t>
                          </m:r>
                        </m:sub>
                      </m:sSub>
                      <m:r>
                        <a:rPr lang="en-US" i="1" dirty="0">
                          <a:latin typeface="Cambria Math" panose="02040503050406030204" pitchFamily="18" charset="0"/>
                        </a:rPr>
                        <m:t> </m:t>
                      </m:r>
                      <m:r>
                        <a:rPr lang="he-IL" i="1" dirty="0">
                          <a:latin typeface="Cambria Math" panose="02040503050406030204" pitchFamily="18" charset="0"/>
                        </a:rPr>
                        <m:t>∼</m:t>
                      </m:r>
                      <m:r>
                        <a:rPr lang="he-IL" i="1" dirty="0" err="1">
                          <a:latin typeface="Cambria Math" panose="02040503050406030204" pitchFamily="18" charset="0"/>
                        </a:rPr>
                        <m:t>𝑁𝑜𝑟𝑚𝑎𝑙</m:t>
                      </m:r>
                      <m:r>
                        <a:rPr lang="he-IL" i="1" dirty="0">
                          <a:latin typeface="Cambria Math" panose="02040503050406030204" pitchFamily="18" charset="0"/>
                        </a:rPr>
                        <m:t>(</m:t>
                      </m:r>
                      <m:sSub>
                        <m:sSubPr>
                          <m:ctrlPr>
                            <a:rPr lang="en-US" i="1" dirty="0">
                              <a:latin typeface="Cambria Math" panose="02040503050406030204" pitchFamily="18" charset="0"/>
                            </a:rPr>
                          </m:ctrlPr>
                        </m:sSubPr>
                        <m:e>
                          <m:r>
                            <a:rPr lang="he-IL" i="1" dirty="0" err="1">
                              <a:latin typeface="Cambria Math" panose="02040503050406030204" pitchFamily="18" charset="0"/>
                            </a:rPr>
                            <m:t>𝜇</m:t>
                          </m:r>
                        </m:e>
                        <m:sub>
                          <m:r>
                            <a:rPr lang="he-IL" i="1" dirty="0" err="1">
                              <a:latin typeface="Cambria Math" panose="02040503050406030204" pitchFamily="18" charset="0"/>
                            </a:rPr>
                            <m:t>𝑖</m:t>
                          </m:r>
                        </m:sub>
                      </m:sSub>
                      <m:r>
                        <a:rPr lang="he-IL" i="1" dirty="0">
                          <a:latin typeface="Cambria Math" panose="02040503050406030204" pitchFamily="18" charset="0"/>
                        </a:rPr>
                        <m:t>​,</m:t>
                      </m:r>
                      <m:r>
                        <a:rPr lang="he-IL" i="1" dirty="0">
                          <a:latin typeface="Cambria Math" panose="02040503050406030204" pitchFamily="18" charset="0"/>
                        </a:rPr>
                        <m:t>𝜎</m:t>
                      </m:r>
                      <m:r>
                        <a:rPr lang="he-IL" i="1" dirty="0">
                          <a:latin typeface="Cambria Math" panose="02040503050406030204" pitchFamily="18" charset="0"/>
                        </a:rPr>
                        <m:t>)</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𝜇</m:t>
                          </m:r>
                        </m:e>
                        <m:sub>
                          <m:r>
                            <a:rPr lang="he-IL" i="1">
                              <a:latin typeface="Cambria Math" panose="02040503050406030204" pitchFamily="18" charset="0"/>
                            </a:rPr>
                            <m:t>𝑖</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a:latin typeface="Cambria Math" panose="02040503050406030204" pitchFamily="18" charset="0"/>
                            </a:rPr>
                            <m:t>0</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i="1">
                              <a:latin typeface="Cambria Math" panose="02040503050406030204" pitchFamily="18" charset="0"/>
                            </a:rPr>
                            <m:t>𝑢𝑟𝑎𝑛𝑖𝑢𝑚</m:t>
                          </m:r>
                        </m:sub>
                      </m:sSub>
                      <m:r>
                        <a:rPr lang="he-IL" i="1">
                          <a:latin typeface="Cambria Math" panose="02040503050406030204" pitchFamily="18" charset="0"/>
                        </a:rPr>
                        <m:t>𝑢𝑟𝑎𝑛𝑖𝑢</m:t>
                      </m:r>
                      <m:sSub>
                        <m:sSubPr>
                          <m:ctrlPr>
                            <a:rPr lang="he-IL" i="1">
                              <a:latin typeface="Cambria Math" panose="02040503050406030204" pitchFamily="18" charset="0"/>
                            </a:rPr>
                          </m:ctrlPr>
                        </m:sSubPr>
                        <m:e>
                          <m:r>
                            <a:rPr lang="he-IL" i="1">
                              <a:latin typeface="Cambria Math" panose="02040503050406030204" pitchFamily="18" charset="0"/>
                            </a:rPr>
                            <m:t>𝑚</m:t>
                          </m:r>
                        </m:e>
                        <m:sub>
                          <m:r>
                            <a:rPr lang="he-IL" i="1">
                              <a:latin typeface="Cambria Math" panose="02040503050406030204" pitchFamily="18" charset="0"/>
                            </a:rPr>
                            <m:t>𝑧</m:t>
                          </m:r>
                          <m:r>
                            <a:rPr lang="he-IL">
                              <a:latin typeface="Cambria Math" panose="02040503050406030204" pitchFamily="18" charset="0"/>
                            </a:rPr>
                            <m:t>,</m:t>
                          </m:r>
                          <m:r>
                            <a:rPr lang="he-IL" i="1">
                              <a:latin typeface="Cambria Math" panose="02040503050406030204" pitchFamily="18" charset="0"/>
                            </a:rPr>
                            <m:t>𝑖</m:t>
                          </m:r>
                        </m:sub>
                      </m:sSub>
                    </m:oMath>
                  </m:oMathPara>
                </a14:m>
                <a:endParaRPr lang="he-IL" dirty="0"/>
              </a:p>
              <a:p>
                <a:endParaRPr lang="en-US" dirty="0"/>
              </a:p>
              <a:p>
                <a:r>
                  <a:rPr lang="he-IL" dirty="0"/>
                  <a:t>The multiple model is:</a:t>
                </a:r>
              </a:p>
              <a:p>
                <a:pPr marL="0" indent="0">
                  <a:buNone/>
                </a:pPr>
                <a14:m>
                  <m:oMathPara xmlns:m="http://schemas.openxmlformats.org/officeDocument/2006/math">
                    <m:oMathParaPr>
                      <m:jc m:val="centerGroup"/>
                    </m:oMathParaPr>
                    <m:oMath xmlns:m="http://schemas.openxmlformats.org/officeDocument/2006/math">
                      <m:r>
                        <a:rPr lang="he-IL" i="1">
                          <a:latin typeface="Cambria Math" panose="02040503050406030204" pitchFamily="18" charset="0"/>
                        </a:rPr>
                        <m:t>𝑙𝑜𝑔</m:t>
                      </m:r>
                      <m:r>
                        <m:rPr>
                          <m:lit/>
                        </m:rPr>
                        <a:rPr lang="he-IL">
                          <a:latin typeface="Cambria Math" panose="02040503050406030204" pitchFamily="18" charset="0"/>
                        </a:rPr>
                        <m:t>_</m:t>
                      </m:r>
                      <m:r>
                        <a:rPr lang="he-IL" i="1">
                          <a:latin typeface="Cambria Math" panose="02040503050406030204" pitchFamily="18" charset="0"/>
                        </a:rPr>
                        <m:t>𝑟𝑎𝑑𝑜𝑛</m:t>
                      </m:r>
                      <m:r>
                        <a:rPr lang="he-IL">
                          <a:latin typeface="Cambria Math" panose="02040503050406030204" pitchFamily="18" charset="0"/>
                        </a:rPr>
                        <m:t>∼</m:t>
                      </m:r>
                      <m:r>
                        <a:rPr lang="he-IL" i="1">
                          <a:latin typeface="Cambria Math" panose="02040503050406030204" pitchFamily="18" charset="0"/>
                        </a:rPr>
                        <m:t>𝑢𝑟𝑎𝑛𝑖𝑢</m:t>
                      </m:r>
                      <m:sSub>
                        <m:sSubPr>
                          <m:ctrlPr>
                            <a:rPr lang="he-IL" i="1">
                              <a:latin typeface="Cambria Math" panose="02040503050406030204" pitchFamily="18" charset="0"/>
                            </a:rPr>
                          </m:ctrlPr>
                        </m:sSubPr>
                        <m:e>
                          <m:r>
                            <a:rPr lang="he-IL" i="1">
                              <a:latin typeface="Cambria Math" panose="02040503050406030204" pitchFamily="18" charset="0"/>
                            </a:rPr>
                            <m:t>𝑚</m:t>
                          </m:r>
                        </m:e>
                        <m:sub>
                          <m:r>
                            <a:rPr lang="he-IL" i="1">
                              <a:latin typeface="Cambria Math" panose="02040503050406030204" pitchFamily="18" charset="0"/>
                            </a:rPr>
                            <m:t>𝑧</m:t>
                          </m:r>
                        </m:sub>
                      </m:sSub>
                      <m:r>
                        <a:rPr lang="he-IL">
                          <a:latin typeface="Cambria Math" panose="02040503050406030204" pitchFamily="18" charset="0"/>
                        </a:rPr>
                        <m:t>+</m:t>
                      </m:r>
                      <m:r>
                        <a:rPr lang="he-IL" i="1">
                          <a:latin typeface="Cambria Math" panose="02040503050406030204" pitchFamily="18" charset="0"/>
                        </a:rPr>
                        <m:t>𝑏𝑎𝑠𝑒𝑚𝑒𝑛𝑡</m:t>
                      </m:r>
                    </m:oMath>
                  </m:oMathPara>
                </a14:m>
                <a:br>
                  <a:rPr lang="en-US" dirty="0"/>
                </a:br>
                <a:endParaRPr lang="en-US" dirty="0"/>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m:rPr>
                          <m:sty m:val="p"/>
                        </m:rPr>
                        <a:rPr lang="he-IL" i="1" dirty="0">
                          <a:latin typeface="Cambria Math" panose="02040503050406030204" pitchFamily="18" charset="0"/>
                        </a:rPr>
                        <m:t>log</m:t>
                      </m:r>
                      <m:r>
                        <a:rPr lang="en-US" i="1" dirty="0">
                          <a:latin typeface="Cambria Math" panose="02040503050406030204" pitchFamily="18" charset="0"/>
                        </a:rPr>
                        <m:t>_</m:t>
                      </m:r>
                      <m:r>
                        <a:rPr lang="he-IL" i="1" dirty="0">
                          <a:latin typeface="Cambria Math" panose="02040503050406030204" pitchFamily="18" charset="0"/>
                        </a:rPr>
                        <m:t>𝑟𝑎𝑑𝑜</m:t>
                      </m:r>
                      <m:sSub>
                        <m:sSubPr>
                          <m:ctrlPr>
                            <a:rPr lang="en-US" i="1" dirty="0">
                              <a:latin typeface="Cambria Math" panose="02040503050406030204" pitchFamily="18" charset="0"/>
                            </a:rPr>
                          </m:ctrlPr>
                        </m:sSubPr>
                        <m:e>
                          <m:r>
                            <a:rPr lang="he-IL" i="1" dirty="0">
                              <a:latin typeface="Cambria Math" panose="02040503050406030204" pitchFamily="18" charset="0"/>
                            </a:rPr>
                            <m:t>𝑛</m:t>
                          </m:r>
                        </m:e>
                        <m:sub>
                          <m:r>
                            <a:rPr lang="he-IL" i="1" dirty="0">
                              <a:latin typeface="Cambria Math" panose="02040503050406030204" pitchFamily="18" charset="0"/>
                            </a:rPr>
                            <m:t>𝑖</m:t>
                          </m:r>
                        </m:sub>
                      </m:sSub>
                      <m:r>
                        <a:rPr lang="he-IL" i="1" dirty="0">
                          <a:latin typeface="Cambria Math" panose="02040503050406030204" pitchFamily="18" charset="0"/>
                        </a:rPr>
                        <m:t>​∼</m:t>
                      </m:r>
                      <m:r>
                        <a:rPr lang="he-IL" i="1" dirty="0" err="1">
                          <a:latin typeface="Cambria Math" panose="02040503050406030204" pitchFamily="18" charset="0"/>
                        </a:rPr>
                        <m:t>𝑁𝑜𝑟𝑚𝑎𝑙</m:t>
                      </m:r>
                      <m:r>
                        <a:rPr lang="he-IL" i="1" dirty="0">
                          <a:latin typeface="Cambria Math" panose="02040503050406030204" pitchFamily="18" charset="0"/>
                        </a:rPr>
                        <m:t>(</m:t>
                      </m:r>
                      <m:sSub>
                        <m:sSubPr>
                          <m:ctrlPr>
                            <a:rPr lang="en-US" i="1" dirty="0">
                              <a:latin typeface="Cambria Math" panose="02040503050406030204" pitchFamily="18" charset="0"/>
                            </a:rPr>
                          </m:ctrlPr>
                        </m:sSubPr>
                        <m:e>
                          <m:r>
                            <a:rPr lang="he-IL" i="1" dirty="0" err="1">
                              <a:latin typeface="Cambria Math" panose="02040503050406030204" pitchFamily="18" charset="0"/>
                            </a:rPr>
                            <m:t>𝜇</m:t>
                          </m:r>
                        </m:e>
                        <m:sub>
                          <m:r>
                            <a:rPr lang="he-IL" i="1" dirty="0" err="1">
                              <a:latin typeface="Cambria Math" panose="02040503050406030204" pitchFamily="18" charset="0"/>
                            </a:rPr>
                            <m:t>𝑖</m:t>
                          </m:r>
                        </m:sub>
                      </m:sSub>
                      <m:r>
                        <a:rPr lang="he-IL" i="1" dirty="0">
                          <a:latin typeface="Cambria Math" panose="02040503050406030204" pitchFamily="18" charset="0"/>
                        </a:rPr>
                        <m:t>​,</m:t>
                      </m:r>
                      <m:r>
                        <a:rPr lang="he-IL" i="1" dirty="0">
                          <a:latin typeface="Cambria Math" panose="02040503050406030204" pitchFamily="18" charset="0"/>
                        </a:rPr>
                        <m:t>𝜎</m:t>
                      </m:r>
                      <m:r>
                        <a:rPr lang="he-IL" i="1" dirty="0">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𝜇</m:t>
                          </m:r>
                        </m:e>
                        <m:sub>
                          <m:r>
                            <a:rPr lang="he-IL" i="1">
                              <a:latin typeface="Cambria Math" panose="02040503050406030204" pitchFamily="18" charset="0"/>
                            </a:rPr>
                            <m:t>𝑖</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a:latin typeface="Cambria Math" panose="02040503050406030204" pitchFamily="18" charset="0"/>
                            </a:rPr>
                            <m:t>0</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i="1">
                              <a:latin typeface="Cambria Math" panose="02040503050406030204" pitchFamily="18" charset="0"/>
                            </a:rPr>
                            <m:t>𝑢𝑟𝑎𝑛𝑖𝑢𝑚</m:t>
                          </m:r>
                        </m:sub>
                      </m:sSub>
                      <m:r>
                        <a:rPr lang="he-IL" i="1">
                          <a:latin typeface="Cambria Math" panose="02040503050406030204" pitchFamily="18" charset="0"/>
                        </a:rPr>
                        <m:t>𝑢𝑟𝑎𝑛𝑖𝑢</m:t>
                      </m:r>
                      <m:sSub>
                        <m:sSubPr>
                          <m:ctrlPr>
                            <a:rPr lang="he-IL" i="1">
                              <a:latin typeface="Cambria Math" panose="02040503050406030204" pitchFamily="18" charset="0"/>
                            </a:rPr>
                          </m:ctrlPr>
                        </m:sSubPr>
                        <m:e>
                          <m:r>
                            <a:rPr lang="he-IL" i="1">
                              <a:latin typeface="Cambria Math" panose="02040503050406030204" pitchFamily="18" charset="0"/>
                            </a:rPr>
                            <m:t>𝑚</m:t>
                          </m:r>
                        </m:e>
                        <m:sub>
                          <m:r>
                            <a:rPr lang="he-IL" i="1">
                              <a:latin typeface="Cambria Math" panose="02040503050406030204" pitchFamily="18" charset="0"/>
                            </a:rPr>
                            <m:t>𝑧</m:t>
                          </m:r>
                          <m:r>
                            <a:rPr lang="he-IL">
                              <a:latin typeface="Cambria Math" panose="02040503050406030204" pitchFamily="18" charset="0"/>
                            </a:rPr>
                            <m:t>,</m:t>
                          </m:r>
                          <m:r>
                            <a:rPr lang="he-IL" i="1">
                              <a:latin typeface="Cambria Math" panose="02040503050406030204" pitchFamily="18" charset="0"/>
                            </a:rPr>
                            <m:t>𝑖</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i="1">
                              <a:latin typeface="Cambria Math" panose="02040503050406030204" pitchFamily="18" charset="0"/>
                            </a:rPr>
                            <m:t>𝑏𝑎𝑠𝑒𝑚𝑒𝑛𝑡</m:t>
                          </m:r>
                        </m:sub>
                      </m:sSub>
                      <m:r>
                        <a:rPr lang="he-IL" i="1">
                          <a:latin typeface="Cambria Math" panose="02040503050406030204" pitchFamily="18" charset="0"/>
                        </a:rPr>
                        <m:t>𝑏𝑎𝑠𝑒𝑚𝑒𝑛</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a:rPr lang="en-US" b="0" i="1" smtClean="0">
                              <a:latin typeface="Cambria Math" panose="02040503050406030204" pitchFamily="18" charset="0"/>
                            </a:rPr>
                            <m:t>𝑖</m:t>
                          </m:r>
                        </m:sub>
                      </m:sSub>
                    </m:oMath>
                  </m:oMathPara>
                </a14:m>
                <a:endParaRPr lang="en-US" b="0" i="1" dirty="0">
                  <a:latin typeface="Cambria Math" panose="02040503050406030204" pitchFamily="18" charset="0"/>
                </a:endParaRPr>
              </a:p>
              <a:p>
                <a:pPr marL="0" indent="0">
                  <a:buNone/>
                </a:pPr>
                <a:endParaRPr lang="he-IL" dirty="0"/>
              </a:p>
              <a:p>
                <a:pPr algn="just">
                  <a:lnSpc>
                    <a:spcPct val="150000"/>
                  </a:lnSpc>
                </a:pPr>
                <a:endParaRPr lang="en-GB" dirty="0"/>
              </a:p>
              <a:p>
                <a:pPr algn="just">
                  <a:lnSpc>
                    <a:spcPct val="150000"/>
                  </a:lnSpc>
                  <a:buFont typeface="Wingdings" panose="05000000000000000000" pitchFamily="2" charset="2"/>
                  <a:buChar char="§"/>
                </a:pPr>
                <a:endParaRPr lang="en-GB" dirty="0"/>
              </a:p>
            </p:txBody>
          </p:sp>
        </mc:Choice>
        <mc:Fallback xmlns="">
          <p:sp>
            <p:nvSpPr>
              <p:cNvPr id="3" name="Content Placeholder 2">
                <a:extLst>
                  <a:ext uri="{FF2B5EF4-FFF2-40B4-BE49-F238E27FC236}">
                    <a16:creationId xmlns:a16="http://schemas.microsoft.com/office/drawing/2014/main" id="{04DCC3D2-95BB-59C7-023C-2A46BA2017D7}"/>
                  </a:ext>
                </a:extLst>
              </p:cNvPr>
              <p:cNvSpPr>
                <a:spLocks noGrp="1" noRot="1" noChangeAspect="1" noMove="1" noResize="1" noEditPoints="1" noAdjustHandles="1" noChangeArrowheads="1" noChangeShapeType="1" noTextEdit="1"/>
              </p:cNvSpPr>
              <p:nvPr>
                <p:ph idx="1"/>
              </p:nvPr>
            </p:nvSpPr>
            <p:spPr>
              <a:xfrm>
                <a:off x="838200" y="1124139"/>
                <a:ext cx="10789508" cy="5378705"/>
              </a:xfrm>
              <a:blipFill>
                <a:blip r:embed="rId3"/>
                <a:stretch>
                  <a:fillRect l="-1018" t="-2265"/>
                </a:stretch>
              </a:blipFill>
            </p:spPr>
            <p:txBody>
              <a:bodyPr/>
              <a:lstStyle/>
              <a:p>
                <a:r>
                  <a:rPr lang="he-IL">
                    <a:noFill/>
                  </a:rPr>
                  <a:t> </a:t>
                </a:r>
              </a:p>
            </p:txBody>
          </p:sp>
        </mc:Fallback>
      </mc:AlternateContent>
    </p:spTree>
    <p:extLst>
      <p:ext uri="{BB962C8B-B14F-4D97-AF65-F5344CB8AC3E}">
        <p14:creationId xmlns:p14="http://schemas.microsoft.com/office/powerpoint/2010/main" val="18820236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A3EB8-BA9D-388D-3881-8FA2793EA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6DBB7-EE70-8C0A-A824-F394B675B522}"/>
              </a:ext>
            </a:extLst>
          </p:cNvPr>
          <p:cNvSpPr>
            <a:spLocks noGrp="1"/>
          </p:cNvSpPr>
          <p:nvPr>
            <p:ph type="title"/>
          </p:nvPr>
        </p:nvSpPr>
        <p:spPr>
          <a:xfrm>
            <a:off x="838200" y="20997"/>
            <a:ext cx="10515600" cy="1325563"/>
          </a:xfrm>
        </p:spPr>
        <p:txBody>
          <a:bodyPr/>
          <a:lstStyle/>
          <a:p>
            <a:r>
              <a:rPr lang="en-US" dirty="0"/>
              <a:t>Multiple Regression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07AD750-1D9C-C902-E091-1A1D723D9F6E}"/>
                  </a:ext>
                </a:extLst>
              </p:cNvPr>
              <p:cNvSpPr>
                <a:spLocks noGrp="1"/>
              </p:cNvSpPr>
              <p:nvPr>
                <p:ph idx="1"/>
              </p:nvPr>
            </p:nvSpPr>
            <p:spPr>
              <a:xfrm>
                <a:off x="838200" y="1124139"/>
                <a:ext cx="10789508" cy="5378705"/>
              </a:xfrm>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r>
                        <m:rPr>
                          <m:sty m:val="p"/>
                        </m:rPr>
                        <a:rPr lang="he-IL" i="1" dirty="0">
                          <a:latin typeface="Cambria Math" panose="02040503050406030204" pitchFamily="18" charset="0"/>
                        </a:rPr>
                        <m:t>log</m:t>
                      </m:r>
                      <m:r>
                        <a:rPr lang="en-US" i="1" dirty="0">
                          <a:latin typeface="Cambria Math" panose="02040503050406030204" pitchFamily="18" charset="0"/>
                        </a:rPr>
                        <m:t>_</m:t>
                      </m:r>
                      <m:r>
                        <a:rPr lang="he-IL" i="1" dirty="0">
                          <a:latin typeface="Cambria Math" panose="02040503050406030204" pitchFamily="18" charset="0"/>
                        </a:rPr>
                        <m:t>𝑟𝑎𝑑𝑜</m:t>
                      </m:r>
                      <m:sSub>
                        <m:sSubPr>
                          <m:ctrlPr>
                            <a:rPr lang="en-US" i="1" dirty="0">
                              <a:latin typeface="Cambria Math" panose="02040503050406030204" pitchFamily="18" charset="0"/>
                            </a:rPr>
                          </m:ctrlPr>
                        </m:sSubPr>
                        <m:e>
                          <m:r>
                            <a:rPr lang="he-IL" i="1" dirty="0">
                              <a:latin typeface="Cambria Math" panose="02040503050406030204" pitchFamily="18" charset="0"/>
                            </a:rPr>
                            <m:t>𝑛</m:t>
                          </m:r>
                        </m:e>
                        <m:sub>
                          <m:r>
                            <a:rPr lang="he-IL" i="1" dirty="0">
                              <a:latin typeface="Cambria Math" panose="02040503050406030204" pitchFamily="18" charset="0"/>
                            </a:rPr>
                            <m:t>𝑖</m:t>
                          </m:r>
                        </m:sub>
                      </m:sSub>
                      <m:r>
                        <a:rPr lang="he-IL" i="1" dirty="0">
                          <a:latin typeface="Cambria Math" panose="02040503050406030204" pitchFamily="18" charset="0"/>
                        </a:rPr>
                        <m:t>​∼</m:t>
                      </m:r>
                      <m:r>
                        <a:rPr lang="he-IL" i="1" dirty="0" err="1">
                          <a:latin typeface="Cambria Math" panose="02040503050406030204" pitchFamily="18" charset="0"/>
                        </a:rPr>
                        <m:t>𝑁𝑜𝑟𝑚𝑎𝑙</m:t>
                      </m:r>
                      <m:r>
                        <a:rPr lang="he-IL" i="1" dirty="0">
                          <a:latin typeface="Cambria Math" panose="02040503050406030204" pitchFamily="18" charset="0"/>
                        </a:rPr>
                        <m:t>(</m:t>
                      </m:r>
                      <m:sSub>
                        <m:sSubPr>
                          <m:ctrlPr>
                            <a:rPr lang="en-US" i="1" dirty="0">
                              <a:latin typeface="Cambria Math" panose="02040503050406030204" pitchFamily="18" charset="0"/>
                            </a:rPr>
                          </m:ctrlPr>
                        </m:sSubPr>
                        <m:e>
                          <m:r>
                            <a:rPr lang="he-IL" i="1" dirty="0" err="1">
                              <a:latin typeface="Cambria Math" panose="02040503050406030204" pitchFamily="18" charset="0"/>
                            </a:rPr>
                            <m:t>𝜇</m:t>
                          </m:r>
                        </m:e>
                        <m:sub>
                          <m:r>
                            <a:rPr lang="he-IL" i="1" dirty="0" err="1">
                              <a:latin typeface="Cambria Math" panose="02040503050406030204" pitchFamily="18" charset="0"/>
                            </a:rPr>
                            <m:t>𝑖</m:t>
                          </m:r>
                        </m:sub>
                      </m:sSub>
                      <m:r>
                        <a:rPr lang="he-IL" i="1" dirty="0">
                          <a:latin typeface="Cambria Math" panose="02040503050406030204" pitchFamily="18" charset="0"/>
                        </a:rPr>
                        <m:t>​,</m:t>
                      </m:r>
                      <m:r>
                        <a:rPr lang="he-IL" i="1" dirty="0">
                          <a:latin typeface="Cambria Math" panose="02040503050406030204" pitchFamily="18" charset="0"/>
                        </a:rPr>
                        <m:t>𝜎</m:t>
                      </m:r>
                      <m:r>
                        <a:rPr lang="he-IL" i="1" dirty="0">
                          <a:latin typeface="Cambria Math" panose="02040503050406030204" pitchFamily="18" charset="0"/>
                        </a:rPr>
                        <m:t>) </m:t>
                      </m:r>
                    </m:oMath>
                  </m:oMathPara>
                </a14:m>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he-IL" i="1">
                              <a:latin typeface="Cambria Math" panose="02040503050406030204" pitchFamily="18" charset="0"/>
                            </a:rPr>
                          </m:ctrlPr>
                        </m:sSubPr>
                        <m:e>
                          <m:r>
                            <a:rPr lang="he-IL" i="1">
                              <a:latin typeface="Cambria Math" panose="02040503050406030204" pitchFamily="18" charset="0"/>
                            </a:rPr>
                            <m:t>𝜇</m:t>
                          </m:r>
                        </m:e>
                        <m:sub>
                          <m:r>
                            <a:rPr lang="he-IL" i="1">
                              <a:latin typeface="Cambria Math" panose="02040503050406030204" pitchFamily="18" charset="0"/>
                            </a:rPr>
                            <m:t>𝑖</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a:latin typeface="Cambria Math" panose="02040503050406030204" pitchFamily="18" charset="0"/>
                            </a:rPr>
                            <m:t>0</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i="1">
                              <a:latin typeface="Cambria Math" panose="02040503050406030204" pitchFamily="18" charset="0"/>
                            </a:rPr>
                            <m:t>𝑢𝑟𝑎𝑛𝑖𝑢𝑚</m:t>
                          </m:r>
                        </m:sub>
                      </m:sSub>
                      <m:r>
                        <a:rPr lang="he-IL" i="1">
                          <a:latin typeface="Cambria Math" panose="02040503050406030204" pitchFamily="18" charset="0"/>
                        </a:rPr>
                        <m:t>𝑢𝑟𝑎𝑛𝑖𝑢</m:t>
                      </m:r>
                      <m:sSub>
                        <m:sSubPr>
                          <m:ctrlPr>
                            <a:rPr lang="he-IL" i="1">
                              <a:latin typeface="Cambria Math" panose="02040503050406030204" pitchFamily="18" charset="0"/>
                            </a:rPr>
                          </m:ctrlPr>
                        </m:sSubPr>
                        <m:e>
                          <m:r>
                            <a:rPr lang="he-IL" i="1">
                              <a:latin typeface="Cambria Math" panose="02040503050406030204" pitchFamily="18" charset="0"/>
                            </a:rPr>
                            <m:t>𝑚</m:t>
                          </m:r>
                        </m:e>
                        <m:sub>
                          <m:r>
                            <a:rPr lang="he-IL" i="1">
                              <a:latin typeface="Cambria Math" panose="02040503050406030204" pitchFamily="18" charset="0"/>
                            </a:rPr>
                            <m:t>𝑧</m:t>
                          </m:r>
                          <m:r>
                            <a:rPr lang="he-IL">
                              <a:latin typeface="Cambria Math" panose="02040503050406030204" pitchFamily="18" charset="0"/>
                            </a:rPr>
                            <m:t>,</m:t>
                          </m:r>
                          <m:r>
                            <a:rPr lang="he-IL" i="1">
                              <a:latin typeface="Cambria Math" panose="02040503050406030204" pitchFamily="18" charset="0"/>
                            </a:rPr>
                            <m:t>𝑖</m:t>
                          </m:r>
                        </m:sub>
                      </m:sSub>
                      <m:r>
                        <a:rPr lang="he-IL">
                          <a:latin typeface="Cambria Math" panose="02040503050406030204" pitchFamily="18" charset="0"/>
                        </a:rPr>
                        <m:t>+</m:t>
                      </m:r>
                      <m:sSub>
                        <m:sSubPr>
                          <m:ctrlPr>
                            <a:rPr lang="he-IL" i="1">
                              <a:latin typeface="Cambria Math" panose="02040503050406030204" pitchFamily="18" charset="0"/>
                            </a:rPr>
                          </m:ctrlPr>
                        </m:sSubPr>
                        <m:e>
                          <m:r>
                            <a:rPr lang="he-IL" i="1">
                              <a:latin typeface="Cambria Math" panose="02040503050406030204" pitchFamily="18" charset="0"/>
                            </a:rPr>
                            <m:t>𝛽</m:t>
                          </m:r>
                        </m:e>
                        <m:sub>
                          <m:r>
                            <a:rPr lang="he-IL" i="1">
                              <a:latin typeface="Cambria Math" panose="02040503050406030204" pitchFamily="18" charset="0"/>
                            </a:rPr>
                            <m:t>𝑏𝑎𝑠𝑒𝑚𝑒𝑛𝑡</m:t>
                          </m:r>
                        </m:sub>
                      </m:sSub>
                      <m:r>
                        <a:rPr lang="he-IL" i="1">
                          <a:latin typeface="Cambria Math" panose="02040503050406030204" pitchFamily="18" charset="0"/>
                        </a:rPr>
                        <m:t>𝑏𝑎𝑠𝑒𝑚𝑒</m:t>
                      </m:r>
                      <m:sSub>
                        <m:sSubPr>
                          <m:ctrlPr>
                            <a:rPr lang="en-US" b="0" i="1" smtClean="0">
                              <a:latin typeface="Cambria Math" panose="02040503050406030204" pitchFamily="18" charset="0"/>
                            </a:rPr>
                          </m:ctrlPr>
                        </m:sSubPr>
                        <m:e>
                          <m:r>
                            <a:rPr lang="he-IL" i="1">
                              <a:latin typeface="Cambria Math" panose="02040503050406030204" pitchFamily="18" charset="0"/>
                            </a:rPr>
                            <m:t>𝑛</m:t>
                          </m:r>
                        </m:e>
                        <m:sub>
                          <m:r>
                            <a:rPr lang="en-US" b="0" i="1" smtClean="0">
                              <a:latin typeface="Cambria Math" panose="02040503050406030204" pitchFamily="18" charset="0"/>
                            </a:rPr>
                            <m:t>𝑖</m:t>
                          </m:r>
                        </m:sub>
                      </m:sSub>
                    </m:oMath>
                  </m:oMathPara>
                </a14:m>
                <a:endParaRPr lang="en-US" b="0" i="1" dirty="0">
                  <a:latin typeface="Cambria Math" panose="02040503050406030204" pitchFamily="18" charset="0"/>
                </a:endParaRPr>
              </a:p>
              <a:p>
                <a:pPr marL="0" indent="0">
                  <a:buNone/>
                </a:pPr>
                <a:endParaRPr lang="he-IL" dirty="0"/>
              </a:p>
              <a:p>
                <a:pPr algn="just">
                  <a:lnSpc>
                    <a:spcPct val="150000"/>
                  </a:lnSpc>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0</m:t>
                        </m:r>
                      </m:sub>
                    </m:sSub>
                    <m:r>
                      <a:rPr lang="en-US" i="1" dirty="0" smtClean="0">
                        <a:latin typeface="Cambria Math" panose="02040503050406030204" pitchFamily="18" charset="0"/>
                      </a:rPr>
                      <m:t> </m:t>
                    </m:r>
                  </m:oMath>
                </a14:m>
                <a:r>
                  <a:rPr lang="en-US" dirty="0"/>
                  <a:t>is the expected </a:t>
                </a:r>
                <a:r>
                  <a:rPr lang="en-US" dirty="0" err="1"/>
                  <a:t>log_radon</a:t>
                </a:r>
                <a:r>
                  <a:rPr lang="en-US" dirty="0"/>
                  <a:t> value when for a home without a basement, when uranium is at its average level.</a:t>
                </a:r>
              </a:p>
              <a:p>
                <a:pPr algn="just">
                  <a:lnSpc>
                    <a:spcPct val="150000"/>
                  </a:lnSpc>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𝑢𝑟𝑎𝑛𝑖𝑢𝑚</m:t>
                        </m:r>
                      </m:sub>
                    </m:sSub>
                    <m:r>
                      <a:rPr lang="en-US" i="1" dirty="0" smtClean="0">
                        <a:latin typeface="Cambria Math" panose="02040503050406030204" pitchFamily="18" charset="0"/>
                      </a:rPr>
                      <m:t> </m:t>
                    </m:r>
                  </m:oMath>
                </a14:m>
                <a:r>
                  <a:rPr lang="en-US" dirty="0"/>
                  <a:t>​is the expected change in </a:t>
                </a:r>
                <a:r>
                  <a:rPr lang="en-US" dirty="0" err="1"/>
                  <a:t>log_radon</a:t>
                </a:r>
                <a:r>
                  <a:rPr lang="en-US" dirty="0"/>
                  <a:t> for a one-standard-deviation increase in log uranium, holding basement status fixed.</a:t>
                </a:r>
              </a:p>
              <a:p>
                <a:pPr algn="just">
                  <a:lnSpc>
                    <a:spcPct val="150000"/>
                  </a:lnSpc>
                </a:pP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i="1" dirty="0" smtClean="0">
                            <a:latin typeface="Cambria Math" panose="02040503050406030204" pitchFamily="18" charset="0"/>
                          </a:rPr>
                          <m:t>𝑏𝑎𝑠𝑒𝑚𝑒𝑛𝑡</m:t>
                        </m:r>
                      </m:sub>
                    </m:sSub>
                    <m:r>
                      <a:rPr lang="en-US" i="1" dirty="0" smtClean="0">
                        <a:latin typeface="Cambria Math" panose="02040503050406030204" pitchFamily="18" charset="0"/>
                      </a:rPr>
                      <m:t> </m:t>
                    </m:r>
                  </m:oMath>
                </a14:m>
                <a:r>
                  <a:rPr lang="en-US" dirty="0"/>
                  <a:t>is the expected difference in </a:t>
                </a:r>
                <a:r>
                  <a:rPr lang="en-US" dirty="0" err="1"/>
                  <a:t>log_radon</a:t>
                </a:r>
                <a:r>
                  <a:rPr lang="en-US" dirty="0"/>
                  <a:t> between homes with and without a basement, holding uranium fixed.</a:t>
                </a:r>
              </a:p>
              <a:p>
                <a:pPr algn="just">
                  <a:lnSpc>
                    <a:spcPct val="150000"/>
                  </a:lnSpc>
                </a:pPr>
                <a:endParaRPr lang="en-US" dirty="0"/>
              </a:p>
              <a:p>
                <a:pPr algn="just">
                  <a:lnSpc>
                    <a:spcPct val="150000"/>
                  </a:lnSpc>
                </a:pPr>
                <a:endParaRPr lang="en-US" dirty="0"/>
              </a:p>
              <a:p>
                <a:pPr algn="just">
                  <a:lnSpc>
                    <a:spcPct val="150000"/>
                  </a:lnSpc>
                  <a:buFont typeface="Wingdings" panose="05000000000000000000" pitchFamily="2" charset="2"/>
                  <a:buChar char="§"/>
                </a:pPr>
                <a:endParaRPr lang="en-GB" dirty="0"/>
              </a:p>
            </p:txBody>
          </p:sp>
        </mc:Choice>
        <mc:Fallback xmlns="">
          <p:sp>
            <p:nvSpPr>
              <p:cNvPr id="3" name="Content Placeholder 2">
                <a:extLst>
                  <a:ext uri="{FF2B5EF4-FFF2-40B4-BE49-F238E27FC236}">
                    <a16:creationId xmlns:a16="http://schemas.microsoft.com/office/drawing/2014/main" id="{307AD750-1D9C-C902-E091-1A1D723D9F6E}"/>
                  </a:ext>
                </a:extLst>
              </p:cNvPr>
              <p:cNvSpPr>
                <a:spLocks noGrp="1" noRot="1" noChangeAspect="1" noMove="1" noResize="1" noEditPoints="1" noAdjustHandles="1" noChangeArrowheads="1" noChangeShapeType="1" noTextEdit="1"/>
              </p:cNvSpPr>
              <p:nvPr>
                <p:ph idx="1"/>
              </p:nvPr>
            </p:nvSpPr>
            <p:spPr>
              <a:xfrm>
                <a:off x="838200" y="1124139"/>
                <a:ext cx="10789508" cy="5378705"/>
              </a:xfrm>
              <a:blipFill>
                <a:blip r:embed="rId3"/>
                <a:stretch>
                  <a:fillRect r="-1187" b="-906"/>
                </a:stretch>
              </a:blipFill>
            </p:spPr>
            <p:txBody>
              <a:bodyPr/>
              <a:lstStyle/>
              <a:p>
                <a:r>
                  <a:rPr lang="he-IL">
                    <a:noFill/>
                  </a:rPr>
                  <a:t> </a:t>
                </a:r>
              </a:p>
            </p:txBody>
          </p:sp>
        </mc:Fallback>
      </mc:AlternateContent>
    </p:spTree>
    <p:extLst>
      <p:ext uri="{BB962C8B-B14F-4D97-AF65-F5344CB8AC3E}">
        <p14:creationId xmlns:p14="http://schemas.microsoft.com/office/powerpoint/2010/main" val="1393682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AF555-B04C-CFBF-9B13-2DAF21727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F7282E-4E7C-A6C1-1DAB-0D4C71D2ED5C}"/>
              </a:ext>
            </a:extLst>
          </p:cNvPr>
          <p:cNvSpPr>
            <a:spLocks noGrp="1"/>
          </p:cNvSpPr>
          <p:nvPr>
            <p:ph type="title"/>
          </p:nvPr>
        </p:nvSpPr>
        <p:spPr>
          <a:xfrm>
            <a:off x="838200" y="20997"/>
            <a:ext cx="10515600" cy="1325563"/>
          </a:xfrm>
        </p:spPr>
        <p:txBody>
          <a:bodyPr/>
          <a:lstStyle/>
          <a:p>
            <a:r>
              <a:rPr lang="en-US" dirty="0"/>
              <a:t>Simple Linear Regression</a:t>
            </a:r>
            <a:endParaRPr lang="LID4096" dirty="0"/>
          </a:p>
        </p:txBody>
      </p:sp>
      <p:sp>
        <p:nvSpPr>
          <p:cNvPr id="3" name="Content Placeholder 2">
            <a:extLst>
              <a:ext uri="{FF2B5EF4-FFF2-40B4-BE49-F238E27FC236}">
                <a16:creationId xmlns:a16="http://schemas.microsoft.com/office/drawing/2014/main" id="{736DA6DE-EAC7-3720-70DA-44FB99AD6395}"/>
              </a:ext>
            </a:extLst>
          </p:cNvPr>
          <p:cNvSpPr>
            <a:spLocks noGrp="1"/>
          </p:cNvSpPr>
          <p:nvPr>
            <p:ph idx="1"/>
          </p:nvPr>
        </p:nvSpPr>
        <p:spPr>
          <a:xfrm>
            <a:off x="838200" y="1346560"/>
            <a:ext cx="10515600" cy="5378705"/>
          </a:xfrm>
        </p:spPr>
        <p:txBody>
          <a:bodyPr>
            <a:normAutofit/>
          </a:bodyPr>
          <a:lstStyle/>
          <a:p>
            <a:pPr>
              <a:lnSpc>
                <a:spcPct val="150000"/>
              </a:lnSpc>
            </a:pPr>
            <a:r>
              <a:rPr lang="en-US" b="1" dirty="0"/>
              <a:t>Visualization</a:t>
            </a:r>
          </a:p>
          <a:p>
            <a:pPr>
              <a:lnSpc>
                <a:spcPct val="150000"/>
              </a:lnSpc>
            </a:pPr>
            <a:endParaRPr lang="en-US" b="1"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marL="0" indent="0">
              <a:lnSpc>
                <a:spcPct val="150000"/>
              </a:lnSpc>
              <a:buNone/>
            </a:pPr>
            <a:endParaRPr lang="en-US" sz="2600" dirty="0"/>
          </a:p>
          <a:p>
            <a:pPr>
              <a:lnSpc>
                <a:spcPct val="150000"/>
              </a:lnSpc>
            </a:pPr>
            <a:endParaRPr lang="he-IL" dirty="0"/>
          </a:p>
        </p:txBody>
      </p:sp>
      <p:pic>
        <p:nvPicPr>
          <p:cNvPr id="1026" name="Picture 2">
            <a:extLst>
              <a:ext uri="{FF2B5EF4-FFF2-40B4-BE49-F238E27FC236}">
                <a16:creationId xmlns:a16="http://schemas.microsoft.com/office/drawing/2014/main" id="{D3B5FBDF-C45E-3D73-FBD2-5A41340F69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452512"/>
            <a:ext cx="10786863" cy="279082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F091140E-9B1D-8C56-B1D2-7FB23E4BD6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103" y="2342011"/>
            <a:ext cx="11213960" cy="29013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0CD622CC-5618-9E34-BBE4-7F5F4625A3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489" y="2342011"/>
            <a:ext cx="11053187" cy="285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10336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191B8-33E4-18A5-1FD6-2BCFB13D54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DF633-5B98-D303-2870-0B131257DFEC}"/>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5A54433F-4F50-03D5-C4F5-D6C41219D002}"/>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Data</a:t>
            </a:r>
          </a:p>
          <a:p>
            <a:pPr algn="just">
              <a:lnSpc>
                <a:spcPct val="150000"/>
              </a:lnSpc>
              <a:buFont typeface="Wingdings" panose="05000000000000000000" pitchFamily="2" charset="2"/>
              <a:buChar char="§"/>
            </a:pPr>
            <a:endParaRPr lang="en-GB" dirty="0"/>
          </a:p>
        </p:txBody>
      </p:sp>
      <p:pic>
        <p:nvPicPr>
          <p:cNvPr id="1026" name="Picture 2">
            <a:extLst>
              <a:ext uri="{FF2B5EF4-FFF2-40B4-BE49-F238E27FC236}">
                <a16:creationId xmlns:a16="http://schemas.microsoft.com/office/drawing/2014/main" id="{9580C7DC-2D7C-827B-1450-52D1D9249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5823" y="1346560"/>
            <a:ext cx="7959908" cy="5017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0567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A28E8-92A2-E308-3619-29944A5A817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9C45097-F349-B83C-7B2E-F545E7BA997F}"/>
              </a:ext>
            </a:extLst>
          </p:cNvPr>
          <p:cNvSpPr>
            <a:spLocks noGrp="1"/>
          </p:cNvSpPr>
          <p:nvPr>
            <p:ph type="title"/>
          </p:nvPr>
        </p:nvSpPr>
        <p:spPr>
          <a:xfrm>
            <a:off x="838200" y="2435085"/>
            <a:ext cx="10515600" cy="1325563"/>
          </a:xfrm>
        </p:spPr>
        <p:txBody>
          <a:bodyPr/>
          <a:lstStyle/>
          <a:p>
            <a:pPr algn="ctr"/>
            <a:r>
              <a:rPr lang="en-US" dirty="0"/>
              <a:t>Categorical Variables</a:t>
            </a:r>
          </a:p>
        </p:txBody>
      </p:sp>
    </p:spTree>
    <p:extLst>
      <p:ext uri="{BB962C8B-B14F-4D97-AF65-F5344CB8AC3E}">
        <p14:creationId xmlns:p14="http://schemas.microsoft.com/office/powerpoint/2010/main" val="20610229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4FA79-F7AA-43E0-7D0F-FD46F0F7D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7E9BD5-2ACD-4225-BFBF-EFFC53B1B6D9}"/>
              </a:ext>
            </a:extLst>
          </p:cNvPr>
          <p:cNvSpPr>
            <a:spLocks noGrp="1"/>
          </p:cNvSpPr>
          <p:nvPr>
            <p:ph type="title"/>
          </p:nvPr>
        </p:nvSpPr>
        <p:spPr>
          <a:xfrm>
            <a:off x="838200" y="20997"/>
            <a:ext cx="10515600" cy="1325563"/>
          </a:xfrm>
        </p:spPr>
        <p:txBody>
          <a:bodyPr/>
          <a:lstStyle/>
          <a:p>
            <a:r>
              <a:rPr lang="en-US" dirty="0"/>
              <a:t>Categorical variables</a:t>
            </a:r>
          </a:p>
        </p:txBody>
      </p:sp>
      <p:sp>
        <p:nvSpPr>
          <p:cNvPr id="3" name="Content Placeholder 2">
            <a:extLst>
              <a:ext uri="{FF2B5EF4-FFF2-40B4-BE49-F238E27FC236}">
                <a16:creationId xmlns:a16="http://schemas.microsoft.com/office/drawing/2014/main" id="{8476B9FD-94C3-7E53-2C40-DEA6D26032C2}"/>
              </a:ext>
            </a:extLst>
          </p:cNvPr>
          <p:cNvSpPr>
            <a:spLocks noGrp="1"/>
          </p:cNvSpPr>
          <p:nvPr>
            <p:ph idx="1"/>
          </p:nvPr>
        </p:nvSpPr>
        <p:spPr>
          <a:xfrm>
            <a:off x="838200" y="1346560"/>
            <a:ext cx="10789508" cy="5378705"/>
          </a:xfrm>
        </p:spPr>
        <p:txBody>
          <a:bodyPr>
            <a:normAutofit/>
          </a:bodyPr>
          <a:lstStyle/>
          <a:p>
            <a:pPr>
              <a:lnSpc>
                <a:spcPct val="110000"/>
              </a:lnSpc>
            </a:pPr>
            <a:r>
              <a:rPr lang="en-US" dirty="0"/>
              <a:t>A categorical variable is a variable whose values are groups or labels, not numbers on a continuous scale.</a:t>
            </a:r>
            <a:endParaRPr lang="he-IL" dirty="0"/>
          </a:p>
          <a:p>
            <a:pPr>
              <a:lnSpc>
                <a:spcPct val="110000"/>
              </a:lnSpc>
            </a:pPr>
            <a:r>
              <a:rPr lang="en-US" dirty="0"/>
              <a:t>Examples:</a:t>
            </a:r>
            <a:endParaRPr lang="he-IL" dirty="0"/>
          </a:p>
          <a:p>
            <a:pPr lvl="1">
              <a:lnSpc>
                <a:spcPct val="110000"/>
              </a:lnSpc>
            </a:pPr>
            <a:r>
              <a:rPr lang="en-US" dirty="0"/>
              <a:t>treatment group: control / treatment</a:t>
            </a:r>
            <a:endParaRPr lang="he-IL" dirty="0"/>
          </a:p>
          <a:p>
            <a:pPr lvl="1">
              <a:lnSpc>
                <a:spcPct val="110000"/>
              </a:lnSpc>
            </a:pPr>
            <a:r>
              <a:rPr lang="en-US" dirty="0"/>
              <a:t>sex: female / male / other</a:t>
            </a:r>
            <a:endParaRPr lang="he-IL" dirty="0"/>
          </a:p>
          <a:p>
            <a:pPr lvl="1">
              <a:lnSpc>
                <a:spcPct val="110000"/>
              </a:lnSpc>
            </a:pPr>
            <a:r>
              <a:rPr lang="en-US" dirty="0"/>
              <a:t>housing type: apartment / house </a:t>
            </a:r>
            <a:endParaRPr lang="he-IL" dirty="0"/>
          </a:p>
          <a:p>
            <a:pPr lvl="1">
              <a:lnSpc>
                <a:spcPct val="110000"/>
              </a:lnSpc>
            </a:pPr>
            <a:r>
              <a:rPr lang="en-US" dirty="0"/>
              <a:t>basement: no / yes</a:t>
            </a:r>
          </a:p>
          <a:p>
            <a:pPr marL="457200" lvl="1" indent="0">
              <a:lnSpc>
                <a:spcPct val="110000"/>
              </a:lnSpc>
              <a:buNone/>
            </a:pPr>
            <a:endParaRPr lang="en-US" dirty="0"/>
          </a:p>
        </p:txBody>
      </p:sp>
    </p:spTree>
    <p:extLst>
      <p:ext uri="{BB962C8B-B14F-4D97-AF65-F5344CB8AC3E}">
        <p14:creationId xmlns:p14="http://schemas.microsoft.com/office/powerpoint/2010/main" val="34030347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308A0-6109-A7ED-2552-FCBDB86EE7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CFA27-0D62-5314-6D9A-264BA5286BD2}"/>
              </a:ext>
            </a:extLst>
          </p:cNvPr>
          <p:cNvSpPr>
            <a:spLocks noGrp="1"/>
          </p:cNvSpPr>
          <p:nvPr>
            <p:ph type="title"/>
          </p:nvPr>
        </p:nvSpPr>
        <p:spPr>
          <a:xfrm>
            <a:off x="838200" y="20997"/>
            <a:ext cx="10515600" cy="1325563"/>
          </a:xfrm>
        </p:spPr>
        <p:txBody>
          <a:bodyPr/>
          <a:lstStyle/>
          <a:p>
            <a:r>
              <a:rPr lang="en-US" dirty="0"/>
              <a:t>Categorical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48AE27-7001-3F4B-514C-E940B56178DE}"/>
                  </a:ext>
                </a:extLst>
              </p:cNvPr>
              <p:cNvSpPr>
                <a:spLocks noGrp="1"/>
              </p:cNvSpPr>
              <p:nvPr>
                <p:ph idx="1"/>
              </p:nvPr>
            </p:nvSpPr>
            <p:spPr>
              <a:xfrm>
                <a:off x="838200" y="1346560"/>
                <a:ext cx="10789508" cy="5378705"/>
              </a:xfrm>
            </p:spPr>
            <p:txBody>
              <a:bodyPr>
                <a:normAutofit lnSpcReduction="10000"/>
              </a:bodyPr>
              <a:lstStyle/>
              <a:p>
                <a:r>
                  <a:rPr lang="en-US" dirty="0"/>
                  <a:t>Categorical variables must be converted into numbers before they enter the model.</a:t>
                </a:r>
                <a:endParaRPr lang="he-IL" dirty="0"/>
              </a:p>
              <a:p>
                <a:r>
                  <a:rPr lang="en-US" dirty="0"/>
                  <a:t>For a binary categorical variable, we usually create an indicator variable:</a:t>
                </a:r>
                <a:endParaRPr lang="he-IL"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 </m:t>
                      </m:r>
                      <m:d>
                        <m:dPr>
                          <m:begChr m:val="{"/>
                          <m:endChr m:val=""/>
                          <m:ctrlPr>
                            <a:rPr lang="he-IL" b="0" i="1" smtClean="0">
                              <a:latin typeface="Cambria Math" panose="02040503050406030204" pitchFamily="18" charset="0"/>
                            </a:rPr>
                          </m:ctrlPr>
                        </m:dPr>
                        <m:e>
                          <m:eqArr>
                            <m:eqArrPr>
                              <m:ctrlPr>
                                <a:rPr lang="he-IL" b="0" i="1" smtClean="0">
                                  <a:latin typeface="Cambria Math" panose="02040503050406030204" pitchFamily="18" charset="0"/>
                                </a:rPr>
                              </m:ctrlPr>
                            </m:eqArrPr>
                            <m:e>
                              <m:r>
                                <a:rPr lang="en-US" b="0" i="1" smtClean="0">
                                  <a:latin typeface="Cambria Math" panose="02040503050406030204" pitchFamily="18" charset="0"/>
                                </a:rPr>
                                <m:t>0</m:t>
                              </m:r>
                              <m:r>
                                <a:rPr lang="en-US" b="0" i="1" smtClean="0">
                                  <a:latin typeface="Cambria Math" panose="02040503050406030204" pitchFamily="18" charset="0"/>
                                </a:rPr>
                                <m:t> </m:t>
                              </m:r>
                              <m:r>
                                <a:rPr lang="en-US" b="0" i="1" smtClean="0">
                                  <a:latin typeface="Cambria Math" panose="02040503050406030204" pitchFamily="18" charset="0"/>
                                </a:rPr>
                                <m:t>𝑟𝑒𝑓𝑟𝑒𝑛𝑐𝑒</m:t>
                              </m:r>
                              <m:r>
                                <a:rPr lang="en-US" b="0" i="1" smtClean="0">
                                  <a:latin typeface="Cambria Math" panose="02040503050406030204" pitchFamily="18" charset="0"/>
                                </a:rPr>
                                <m:t> </m:t>
                              </m:r>
                              <m:r>
                                <a:rPr lang="en-US" b="0" i="1" smtClean="0">
                                  <a:latin typeface="Cambria Math" panose="02040503050406030204" pitchFamily="18" charset="0"/>
                                </a:rPr>
                                <m:t>𝑔𝑟𝑜𝑢𝑝</m:t>
                              </m:r>
                            </m:e>
                            <m:e>
                              <m:r>
                                <a:rPr lang="en-US" b="0" i="1" smtClean="0">
                                  <a:latin typeface="Cambria Math" panose="02040503050406030204" pitchFamily="18" charset="0"/>
                                </a:rPr>
                                <m:t>1</m:t>
                              </m:r>
                              <m:r>
                                <a:rPr lang="en-US" b="0" i="1" smtClean="0">
                                  <a:latin typeface="Cambria Math" panose="02040503050406030204" pitchFamily="18" charset="0"/>
                                </a:rPr>
                                <m:t> </m:t>
                              </m:r>
                              <m:r>
                                <a:rPr lang="en-US" b="0" i="1" smtClean="0">
                                  <a:latin typeface="Cambria Math" panose="02040503050406030204" pitchFamily="18" charset="0"/>
                                </a:rPr>
                                <m:t>𝑐𝑜𝑚𝑝𝑎𝑟𝑖𝑠𝑜𝑛</m:t>
                              </m:r>
                              <m:r>
                                <a:rPr lang="en-US" b="0" i="1" smtClean="0">
                                  <a:latin typeface="Cambria Math" panose="02040503050406030204" pitchFamily="18" charset="0"/>
                                </a:rPr>
                                <m:t> </m:t>
                              </m:r>
                              <m:r>
                                <a:rPr lang="en-US" b="0" i="1" smtClean="0">
                                  <a:latin typeface="Cambria Math" panose="02040503050406030204" pitchFamily="18" charset="0"/>
                                </a:rPr>
                                <m:t>𝑔𝑟𝑜𝑢𝑝</m:t>
                              </m:r>
                            </m:e>
                          </m:eqArr>
                        </m:e>
                      </m:d>
                    </m:oMath>
                  </m:oMathPara>
                </a14:m>
                <a:endParaRPr lang="he-IL" dirty="0"/>
              </a:p>
              <a:p>
                <a:r>
                  <a:rPr lang="en-US" dirty="0"/>
                  <a:t>A simple regression model with one binary predictor is:</a:t>
                </a:r>
                <a:endParaRPr lang="he-IL" dirty="0"/>
              </a:p>
              <a:p>
                <a14:m>
                  <m:oMath xmlns:m="http://schemas.openxmlformats.org/officeDocument/2006/math">
                    <m:sSub>
                      <m:sSubPr>
                        <m:ctrlPr>
                          <a:rPr lang="nn-NO" i="1" dirty="0">
                            <a:latin typeface="Cambria Math" panose="02040503050406030204" pitchFamily="18" charset="0"/>
                          </a:rPr>
                        </m:ctrlPr>
                      </m:sSubPr>
                      <m:e>
                        <m:r>
                          <a:rPr lang="nn-NO" i="1" dirty="0">
                            <a:latin typeface="Cambria Math" panose="02040503050406030204" pitchFamily="18" charset="0"/>
                          </a:rPr>
                          <m:t>𝜇</m:t>
                        </m:r>
                      </m:e>
                      <m:sub>
                        <m:r>
                          <a:rPr lang="nn-NO" i="1" dirty="0">
                            <a:latin typeface="Cambria Math" panose="02040503050406030204" pitchFamily="18" charset="0"/>
                          </a:rPr>
                          <m:t>𝑖</m:t>
                        </m:r>
                      </m:sub>
                    </m:sSub>
                    <m:r>
                      <a:rPr lang="nn-NO" i="1" dirty="0">
                        <a:latin typeface="Cambria Math" panose="02040503050406030204" pitchFamily="18" charset="0"/>
                      </a:rPr>
                      <m:t>=</m:t>
                    </m:r>
                    <m:sSub>
                      <m:sSubPr>
                        <m:ctrlPr>
                          <a:rPr lang="nn-NO" i="1" dirty="0">
                            <a:latin typeface="Cambria Math" panose="02040503050406030204" pitchFamily="18" charset="0"/>
                          </a:rPr>
                        </m:ctrlPr>
                      </m:sSubPr>
                      <m:e>
                        <m:r>
                          <a:rPr lang="nn-NO" i="1" dirty="0">
                            <a:latin typeface="Cambria Math" panose="02040503050406030204" pitchFamily="18" charset="0"/>
                          </a:rPr>
                          <m:t>𝛽</m:t>
                        </m:r>
                      </m:e>
                      <m:sub>
                        <m:r>
                          <a:rPr lang="nn-NO" i="1" dirty="0">
                            <a:latin typeface="Cambria Math" panose="02040503050406030204" pitchFamily="18" charset="0"/>
                          </a:rPr>
                          <m:t>0</m:t>
                        </m:r>
                      </m:sub>
                    </m:sSub>
                    <m:r>
                      <a:rPr lang="nn-NO" i="1" dirty="0">
                        <a:latin typeface="Cambria Math" panose="02040503050406030204" pitchFamily="18" charset="0"/>
                      </a:rPr>
                      <m:t>+</m:t>
                    </m:r>
                    <m:sSub>
                      <m:sSubPr>
                        <m:ctrlPr>
                          <a:rPr lang="nn-NO" i="1" dirty="0">
                            <a:latin typeface="Cambria Math" panose="02040503050406030204" pitchFamily="18" charset="0"/>
                          </a:rPr>
                        </m:ctrlPr>
                      </m:sSubPr>
                      <m:e>
                        <m:r>
                          <a:rPr lang="nn-NO" i="1" dirty="0">
                            <a:latin typeface="Cambria Math" panose="02040503050406030204" pitchFamily="18" charset="0"/>
                          </a:rPr>
                          <m:t>𝛽</m:t>
                        </m:r>
                      </m:e>
                      <m:sub>
                        <m:r>
                          <a:rPr lang="nn-NO" i="1" dirty="0">
                            <a:latin typeface="Cambria Math" panose="02040503050406030204" pitchFamily="18" charset="0"/>
                          </a:rPr>
                          <m:t>1</m:t>
                        </m:r>
                      </m:sub>
                    </m:sSub>
                    <m:sSub>
                      <m:sSubPr>
                        <m:ctrlPr>
                          <a:rPr lang="nn-NO" i="1" dirty="0">
                            <a:latin typeface="Cambria Math" panose="02040503050406030204" pitchFamily="18" charset="0"/>
                          </a:rPr>
                        </m:ctrlPr>
                      </m:sSubPr>
                      <m:e>
                        <m:r>
                          <a:rPr lang="nn-NO" i="1" dirty="0">
                            <a:latin typeface="Cambria Math" panose="02040503050406030204" pitchFamily="18" charset="0"/>
                          </a:rPr>
                          <m:t>𝑥</m:t>
                        </m:r>
                      </m:e>
                      <m:sub>
                        <m:r>
                          <a:rPr lang="nn-NO" i="1" dirty="0">
                            <a:latin typeface="Cambria Math" panose="02040503050406030204" pitchFamily="18" charset="0"/>
                          </a:rPr>
                          <m:t>𝑖</m:t>
                        </m:r>
                      </m:sub>
                    </m:sSub>
                  </m:oMath>
                </a14:m>
                <a:endParaRPr lang="en-US" i="1" dirty="0">
                  <a:latin typeface="Cambria Math" panose="02040503050406030204" pitchFamily="18" charset="0"/>
                </a:endParaRPr>
              </a:p>
              <a:p>
                <a:pPr lvl="1"/>
                <a14:m>
                  <m:oMath xmlns:m="http://schemas.openxmlformats.org/officeDocument/2006/math">
                    <m:sSub>
                      <m:sSubPr>
                        <m:ctrlPr>
                          <a:rPr lang="nn-NO" i="1" dirty="0">
                            <a:latin typeface="Cambria Math" panose="02040503050406030204" pitchFamily="18" charset="0"/>
                          </a:rPr>
                        </m:ctrlPr>
                      </m:sSubPr>
                      <m:e>
                        <m:r>
                          <a:rPr lang="nn-NO" i="1" dirty="0">
                            <a:latin typeface="Cambria Math" panose="02040503050406030204" pitchFamily="18" charset="0"/>
                          </a:rPr>
                          <m:t>𝑥</m:t>
                        </m:r>
                      </m:e>
                      <m:sub>
                        <m:r>
                          <a:rPr lang="nn-NO" i="1" dirty="0">
                            <a:latin typeface="Cambria Math" panose="02040503050406030204" pitchFamily="18" charset="0"/>
                          </a:rPr>
                          <m:t>𝑖</m:t>
                        </m:r>
                      </m:sub>
                    </m:sSub>
                    <m:r>
                      <a:rPr lang="nn-NO" i="1" dirty="0">
                        <a:latin typeface="Cambria Math" panose="02040503050406030204" pitchFamily="18" charset="0"/>
                      </a:rPr>
                      <m:t>=</m:t>
                    </m:r>
                    <m:r>
                      <a:rPr lang="nn-NO" i="1" dirty="0">
                        <a:latin typeface="Cambria Math" panose="02040503050406030204" pitchFamily="18" charset="0"/>
                      </a:rPr>
                      <m:t>0</m:t>
                    </m:r>
                    <m:r>
                      <a:rPr lang="en-US" b="0" i="1" dirty="0" smtClean="0">
                        <a:latin typeface="Cambria Math" panose="02040503050406030204" pitchFamily="18" charset="0"/>
                      </a:rPr>
                      <m:t>  </m:t>
                    </m:r>
                    <m:r>
                      <a:rPr lang="nn-NO"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rPr>
                      <m:t>    </m:t>
                    </m:r>
                    <m:sSub>
                      <m:sSubPr>
                        <m:ctrlPr>
                          <a:rPr lang="nn-NO" i="1" dirty="0">
                            <a:latin typeface="Cambria Math" panose="02040503050406030204" pitchFamily="18" charset="0"/>
                          </a:rPr>
                        </m:ctrlPr>
                      </m:sSubPr>
                      <m:e>
                        <m:r>
                          <a:rPr lang="nn-NO" i="1" dirty="0">
                            <a:latin typeface="Cambria Math" panose="02040503050406030204" pitchFamily="18" charset="0"/>
                          </a:rPr>
                          <m:t>𝜇</m:t>
                        </m:r>
                      </m:e>
                      <m:sub>
                        <m:r>
                          <a:rPr lang="nn-NO" i="1" dirty="0">
                            <a:latin typeface="Cambria Math" panose="02040503050406030204" pitchFamily="18" charset="0"/>
                          </a:rPr>
                          <m:t>𝑖</m:t>
                        </m:r>
                      </m:sub>
                    </m:sSub>
                    <m:r>
                      <a:rPr lang="nn-NO" i="1" dirty="0">
                        <a:latin typeface="Cambria Math" panose="02040503050406030204" pitchFamily="18" charset="0"/>
                      </a:rPr>
                      <m:t>=</m:t>
                    </m:r>
                    <m:sSub>
                      <m:sSubPr>
                        <m:ctrlPr>
                          <a:rPr lang="nn-NO" i="1" dirty="0">
                            <a:latin typeface="Cambria Math" panose="02040503050406030204" pitchFamily="18" charset="0"/>
                          </a:rPr>
                        </m:ctrlPr>
                      </m:sSubPr>
                      <m:e>
                        <m:r>
                          <a:rPr lang="nn-NO" i="1" dirty="0">
                            <a:latin typeface="Cambria Math" panose="02040503050406030204" pitchFamily="18" charset="0"/>
                          </a:rPr>
                          <m:t>𝛽</m:t>
                        </m:r>
                      </m:e>
                      <m:sub>
                        <m:r>
                          <a:rPr lang="nn-NO" i="1" dirty="0">
                            <a:latin typeface="Cambria Math" panose="02040503050406030204" pitchFamily="18" charset="0"/>
                          </a:rPr>
                          <m:t>0</m:t>
                        </m:r>
                      </m:sub>
                    </m:sSub>
                  </m:oMath>
                </a14:m>
                <a:endParaRPr lang="en-US" i="1" dirty="0">
                  <a:latin typeface="Cambria Math" panose="02040503050406030204" pitchFamily="18" charset="0"/>
                </a:endParaRPr>
              </a:p>
              <a:p>
                <a:pPr lvl="1"/>
                <a14:m>
                  <m:oMath xmlns:m="http://schemas.openxmlformats.org/officeDocument/2006/math">
                    <m:sSub>
                      <m:sSubPr>
                        <m:ctrlPr>
                          <a:rPr lang="nn-NO" i="1" dirty="0">
                            <a:latin typeface="Cambria Math" panose="02040503050406030204" pitchFamily="18" charset="0"/>
                          </a:rPr>
                        </m:ctrlPr>
                      </m:sSubPr>
                      <m:e>
                        <m:r>
                          <a:rPr lang="nn-NO" i="1" dirty="0">
                            <a:latin typeface="Cambria Math" panose="02040503050406030204" pitchFamily="18" charset="0"/>
                          </a:rPr>
                          <m:t>𝑥</m:t>
                        </m:r>
                      </m:e>
                      <m:sub>
                        <m:r>
                          <a:rPr lang="nn-NO" i="1" dirty="0">
                            <a:latin typeface="Cambria Math" panose="02040503050406030204" pitchFamily="18" charset="0"/>
                          </a:rPr>
                          <m:t>𝑖</m:t>
                        </m:r>
                      </m:sub>
                    </m:sSub>
                    <m:r>
                      <a:rPr lang="nn-NO" i="1" dirty="0">
                        <a:latin typeface="Cambria Math" panose="02040503050406030204" pitchFamily="18" charset="0"/>
                      </a:rPr>
                      <m:t>=</m:t>
                    </m:r>
                    <m:r>
                      <a:rPr lang="nn-NO" i="1" dirty="0">
                        <a:latin typeface="Cambria Math" panose="02040503050406030204" pitchFamily="18" charset="0"/>
                      </a:rPr>
                      <m:t>1</m:t>
                    </m:r>
                    <m:r>
                      <a:rPr lang="en-US" b="0" i="1" dirty="0" smtClean="0">
                        <a:latin typeface="Cambria Math" panose="02040503050406030204" pitchFamily="18" charset="0"/>
                      </a:rPr>
                      <m:t>  </m:t>
                    </m:r>
                    <m:r>
                      <a:rPr lang="nn-NO"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rPr>
                      <m:t>    </m:t>
                    </m:r>
                    <m:sSub>
                      <m:sSubPr>
                        <m:ctrlPr>
                          <a:rPr lang="nn-NO" i="1" dirty="0">
                            <a:latin typeface="Cambria Math" panose="02040503050406030204" pitchFamily="18" charset="0"/>
                          </a:rPr>
                        </m:ctrlPr>
                      </m:sSubPr>
                      <m:e>
                        <m:r>
                          <a:rPr lang="nn-NO" i="1" dirty="0">
                            <a:latin typeface="Cambria Math" panose="02040503050406030204" pitchFamily="18" charset="0"/>
                          </a:rPr>
                          <m:t>𝜇</m:t>
                        </m:r>
                      </m:e>
                      <m:sub>
                        <m:r>
                          <a:rPr lang="nn-NO" i="1" dirty="0">
                            <a:latin typeface="Cambria Math" panose="02040503050406030204" pitchFamily="18" charset="0"/>
                          </a:rPr>
                          <m:t>𝑖</m:t>
                        </m:r>
                      </m:sub>
                    </m:sSub>
                    <m:r>
                      <a:rPr lang="nn-NO" i="1" dirty="0">
                        <a:latin typeface="Cambria Math" panose="02040503050406030204" pitchFamily="18" charset="0"/>
                      </a:rPr>
                      <m:t>=</m:t>
                    </m:r>
                    <m:sSub>
                      <m:sSubPr>
                        <m:ctrlPr>
                          <a:rPr lang="nn-NO" i="1" dirty="0">
                            <a:latin typeface="Cambria Math" panose="02040503050406030204" pitchFamily="18" charset="0"/>
                          </a:rPr>
                        </m:ctrlPr>
                      </m:sSubPr>
                      <m:e>
                        <m:r>
                          <a:rPr lang="nn-NO" i="1" dirty="0">
                            <a:latin typeface="Cambria Math" panose="02040503050406030204" pitchFamily="18" charset="0"/>
                          </a:rPr>
                          <m:t>𝛽</m:t>
                        </m:r>
                      </m:e>
                      <m:sub>
                        <m:r>
                          <a:rPr lang="nn-NO" i="1" dirty="0">
                            <a:latin typeface="Cambria Math" panose="02040503050406030204" pitchFamily="18" charset="0"/>
                          </a:rPr>
                          <m:t>0</m:t>
                        </m:r>
                      </m:sub>
                    </m:sSub>
                    <m:r>
                      <a:rPr lang="nn-NO" i="1" dirty="0">
                        <a:latin typeface="Cambria Math" panose="02040503050406030204" pitchFamily="18" charset="0"/>
                      </a:rPr>
                      <m:t>+</m:t>
                    </m:r>
                    <m:sSub>
                      <m:sSubPr>
                        <m:ctrlPr>
                          <a:rPr lang="nn-NO" i="1" dirty="0">
                            <a:latin typeface="Cambria Math" panose="02040503050406030204" pitchFamily="18" charset="0"/>
                          </a:rPr>
                        </m:ctrlPr>
                      </m:sSubPr>
                      <m:e>
                        <m:r>
                          <a:rPr lang="nn-NO" i="1" dirty="0">
                            <a:latin typeface="Cambria Math" panose="02040503050406030204" pitchFamily="18" charset="0"/>
                          </a:rPr>
                          <m:t>𝛽</m:t>
                        </m:r>
                      </m:e>
                      <m:sub>
                        <m:r>
                          <a:rPr lang="nn-NO" i="1" dirty="0">
                            <a:latin typeface="Cambria Math" panose="02040503050406030204" pitchFamily="18" charset="0"/>
                          </a:rPr>
                          <m:t>1</m:t>
                        </m:r>
                      </m:sub>
                    </m:sSub>
                  </m:oMath>
                </a14:m>
                <a:endParaRPr lang="en-US" dirty="0"/>
              </a:p>
              <a:p>
                <a14:m>
                  <m:oMath xmlns:m="http://schemas.openxmlformats.org/officeDocument/2006/math">
                    <m:sSub>
                      <m:sSubPr>
                        <m:ctrlPr>
                          <a:rPr lang="he-IL" i="1" dirty="0">
                            <a:latin typeface="Cambria Math" panose="02040503050406030204" pitchFamily="18" charset="0"/>
                            <a:ea typeface="Cambria Math" panose="02040503050406030204" pitchFamily="18" charset="0"/>
                          </a:rPr>
                        </m:ctrlPr>
                      </m:sSubPr>
                      <m:e>
                        <m:r>
                          <a:rPr lang="he-IL" i="1" dirty="0">
                            <a:latin typeface="Cambria Math" panose="02040503050406030204" pitchFamily="18" charset="0"/>
                            <a:ea typeface="Cambria Math" panose="02040503050406030204" pitchFamily="18" charset="0"/>
                          </a:rPr>
                          <m:t>𝛽</m:t>
                        </m:r>
                      </m:e>
                      <m:sub>
                        <m:r>
                          <a:rPr lang="en-US" b="0" i="1" dirty="0" smtClean="0">
                            <a:latin typeface="Cambria Math" panose="02040503050406030204" pitchFamily="18" charset="0"/>
                            <a:ea typeface="Cambria Math" panose="02040503050406030204" pitchFamily="18" charset="0"/>
                          </a:rPr>
                          <m:t>0</m:t>
                        </m:r>
                      </m:sub>
                    </m:sSub>
                    <m:r>
                      <a:rPr lang="he-IL" i="1" dirty="0">
                        <a:latin typeface="Cambria Math" panose="02040503050406030204" pitchFamily="18" charset="0"/>
                        <a:ea typeface="Cambria Math" panose="02040503050406030204" pitchFamily="18" charset="0"/>
                      </a:rPr>
                      <m:t> </m:t>
                    </m:r>
                  </m:oMath>
                </a14:m>
                <a:r>
                  <a:rPr lang="en-US" dirty="0"/>
                  <a:t>is the expected value of </a:t>
                </a:r>
                <a14:m>
                  <m:oMath xmlns:m="http://schemas.openxmlformats.org/officeDocument/2006/math">
                    <m:r>
                      <a:rPr lang="en-US" i="1" dirty="0" smtClean="0">
                        <a:latin typeface="Cambria Math" panose="02040503050406030204" pitchFamily="18" charset="0"/>
                      </a:rPr>
                      <m:t>𝑦</m:t>
                    </m:r>
                  </m:oMath>
                </a14:m>
                <a:r>
                  <a:rPr lang="en-US" dirty="0"/>
                  <a:t> for the reference group.</a:t>
                </a:r>
                <a:endParaRPr lang="he-IL" dirty="0"/>
              </a:p>
              <a:p>
                <a14:m>
                  <m:oMath xmlns:m="http://schemas.openxmlformats.org/officeDocument/2006/math">
                    <m:sSub>
                      <m:sSubPr>
                        <m:ctrlPr>
                          <a:rPr lang="he-IL" i="1" dirty="0" smtClean="0">
                            <a:latin typeface="Cambria Math" panose="02040503050406030204" pitchFamily="18" charset="0"/>
                            <a:ea typeface="Cambria Math" panose="02040503050406030204" pitchFamily="18" charset="0"/>
                          </a:rPr>
                        </m:ctrlPr>
                      </m:sSubPr>
                      <m:e>
                        <m:r>
                          <a:rPr lang="he-IL" i="1" dirty="0" smtClean="0">
                            <a:latin typeface="Cambria Math" panose="02040503050406030204" pitchFamily="18" charset="0"/>
                            <a:ea typeface="Cambria Math" panose="02040503050406030204" pitchFamily="18" charset="0"/>
                          </a:rPr>
                          <m:t>𝛽</m:t>
                        </m:r>
                      </m:e>
                      <m:sub>
                        <m:r>
                          <a:rPr lang="he-IL" b="0" i="1" dirty="0" smtClean="0">
                            <a:latin typeface="Cambria Math" panose="02040503050406030204" pitchFamily="18" charset="0"/>
                            <a:ea typeface="Cambria Math" panose="02040503050406030204" pitchFamily="18" charset="0"/>
                          </a:rPr>
                          <m:t>1</m:t>
                        </m:r>
                      </m:sub>
                    </m:sSub>
                    <m:r>
                      <a:rPr lang="he-IL" b="0" i="1" dirty="0" smtClean="0">
                        <a:latin typeface="Cambria Math" panose="02040503050406030204" pitchFamily="18" charset="0"/>
                        <a:ea typeface="Cambria Math" panose="02040503050406030204" pitchFamily="18" charset="0"/>
                      </a:rPr>
                      <m:t> </m:t>
                    </m:r>
                  </m:oMath>
                </a14:m>
                <a:r>
                  <a:rPr lang="en-US" dirty="0"/>
                  <a:t>is the expected difference between the comparison group and the reference group.</a:t>
                </a:r>
                <a:endParaRPr lang="he-IL" dirty="0"/>
              </a:p>
            </p:txBody>
          </p:sp>
        </mc:Choice>
        <mc:Fallback xmlns="">
          <p:sp>
            <p:nvSpPr>
              <p:cNvPr id="3" name="Content Placeholder 2">
                <a:extLst>
                  <a:ext uri="{FF2B5EF4-FFF2-40B4-BE49-F238E27FC236}">
                    <a16:creationId xmlns:a16="http://schemas.microsoft.com/office/drawing/2014/main" id="{9C48AE27-7001-3F4B-514C-E940B56178DE}"/>
                  </a:ext>
                </a:extLst>
              </p:cNvPr>
              <p:cNvSpPr>
                <a:spLocks noGrp="1" noRot="1" noChangeAspect="1" noMove="1" noResize="1" noEditPoints="1" noAdjustHandles="1" noChangeArrowheads="1" noChangeShapeType="1" noTextEdit="1"/>
              </p:cNvSpPr>
              <p:nvPr>
                <p:ph idx="1"/>
              </p:nvPr>
            </p:nvSpPr>
            <p:spPr>
              <a:xfrm>
                <a:off x="838200" y="1346560"/>
                <a:ext cx="10789508" cy="5378705"/>
              </a:xfrm>
              <a:blipFill>
                <a:blip r:embed="rId3"/>
                <a:stretch>
                  <a:fillRect l="-1018" t="-2494" r="-452"/>
                </a:stretch>
              </a:blipFill>
            </p:spPr>
            <p:txBody>
              <a:bodyPr/>
              <a:lstStyle/>
              <a:p>
                <a:r>
                  <a:rPr lang="he-IL">
                    <a:noFill/>
                  </a:rPr>
                  <a:t> </a:t>
                </a:r>
              </a:p>
            </p:txBody>
          </p:sp>
        </mc:Fallback>
      </mc:AlternateContent>
    </p:spTree>
    <p:extLst>
      <p:ext uri="{BB962C8B-B14F-4D97-AF65-F5344CB8AC3E}">
        <p14:creationId xmlns:p14="http://schemas.microsoft.com/office/powerpoint/2010/main" val="3480380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3F19F-A88D-5A3F-DB1C-CB298CD60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6B83E-2CAB-5E43-595B-08A26E1B1492}"/>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F14DDE24-1552-102A-CFD1-53A02D7EE823}"/>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Model</a:t>
            </a:r>
          </a:p>
          <a:p>
            <a:pPr algn="just">
              <a:lnSpc>
                <a:spcPct val="150000"/>
              </a:lnSpc>
              <a:buFont typeface="Wingdings" panose="05000000000000000000" pitchFamily="2" charset="2"/>
              <a:buChar char="§"/>
            </a:pPr>
            <a:endParaRPr lang="en-GB" dirty="0"/>
          </a:p>
        </p:txBody>
      </p:sp>
      <p:pic>
        <p:nvPicPr>
          <p:cNvPr id="9" name="Picture 8">
            <a:extLst>
              <a:ext uri="{FF2B5EF4-FFF2-40B4-BE49-F238E27FC236}">
                <a16:creationId xmlns:a16="http://schemas.microsoft.com/office/drawing/2014/main" id="{F5377175-94C7-6DED-1880-B85DF5871B88}"/>
              </a:ext>
            </a:extLst>
          </p:cNvPr>
          <p:cNvPicPr>
            <a:picLocks noChangeAspect="1"/>
          </p:cNvPicPr>
          <p:nvPr/>
        </p:nvPicPr>
        <p:blipFill>
          <a:blip r:embed="rId3"/>
          <a:stretch>
            <a:fillRect/>
          </a:stretch>
        </p:blipFill>
        <p:spPr>
          <a:xfrm>
            <a:off x="277390" y="1949379"/>
            <a:ext cx="8171967" cy="4370523"/>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5BBD2E6-2DA1-5371-962C-5AA50E4DA97E}"/>
                  </a:ext>
                </a:extLst>
              </p:cNvPr>
              <p:cNvSpPr txBox="1"/>
              <p:nvPr/>
            </p:nvSpPr>
            <p:spPr>
              <a:xfrm>
                <a:off x="5814647" y="3429000"/>
                <a:ext cx="6218346" cy="2420791"/>
              </a:xfrm>
              <a:prstGeom prst="rect">
                <a:avLst/>
              </a:prstGeom>
              <a:noFill/>
            </p:spPr>
            <p:txBody>
              <a:bodyPr wrap="square">
                <a:spAutoFit/>
              </a:bodyPr>
              <a:lstStyle/>
              <a:p>
                <a:pPr marL="0" indent="0">
                  <a:lnSpc>
                    <a:spcPct val="150000"/>
                  </a:lnSpc>
                  <a:buNone/>
                </a:pPr>
                <a14:m>
                  <m:oMathPara xmlns:m="http://schemas.openxmlformats.org/officeDocument/2006/math">
                    <m:oMathParaPr>
                      <m:jc m:val="left"/>
                    </m:oMathParaPr>
                    <m:oMath xmlns:m="http://schemas.openxmlformats.org/officeDocument/2006/math">
                      <m:r>
                        <m:rPr>
                          <m:sty m:val="p"/>
                        </m:rPr>
                        <a:rPr lang="he-IL" sz="2000" i="1" dirty="0" smtClean="0">
                          <a:latin typeface="Cambria Math" panose="02040503050406030204" pitchFamily="18" charset="0"/>
                        </a:rPr>
                        <m:t>log</m:t>
                      </m:r>
                      <m:r>
                        <a:rPr lang="en-US" sz="2000" i="1" dirty="0">
                          <a:latin typeface="Cambria Math" panose="02040503050406030204" pitchFamily="18" charset="0"/>
                        </a:rPr>
                        <m:t>_</m:t>
                      </m:r>
                      <m:r>
                        <a:rPr lang="he-IL" sz="2000" i="1" dirty="0">
                          <a:latin typeface="Cambria Math" panose="02040503050406030204" pitchFamily="18" charset="0"/>
                        </a:rPr>
                        <m:t>𝑟𝑎𝑑𝑜</m:t>
                      </m:r>
                      <m:sSub>
                        <m:sSubPr>
                          <m:ctrlPr>
                            <a:rPr lang="en-US" sz="2000" i="1" dirty="0">
                              <a:latin typeface="Cambria Math" panose="02040503050406030204" pitchFamily="18" charset="0"/>
                            </a:rPr>
                          </m:ctrlPr>
                        </m:sSubPr>
                        <m:e>
                          <m:r>
                            <a:rPr lang="he-IL" sz="2000" i="1" dirty="0">
                              <a:latin typeface="Cambria Math" panose="02040503050406030204" pitchFamily="18" charset="0"/>
                            </a:rPr>
                            <m:t>𝑛</m:t>
                          </m:r>
                        </m:e>
                        <m:sub>
                          <m:r>
                            <a:rPr lang="he-IL" sz="2000" i="1" dirty="0">
                              <a:latin typeface="Cambria Math" panose="02040503050406030204" pitchFamily="18" charset="0"/>
                            </a:rPr>
                            <m:t>𝑖</m:t>
                          </m:r>
                        </m:sub>
                      </m:sSub>
                      <m:r>
                        <a:rPr lang="he-IL" sz="2000" i="1" dirty="0">
                          <a:latin typeface="Cambria Math" panose="02040503050406030204" pitchFamily="18" charset="0"/>
                        </a:rPr>
                        <m:t>​∼</m:t>
                      </m:r>
                      <m:r>
                        <a:rPr lang="he-IL" sz="2000" i="1" dirty="0" err="1">
                          <a:latin typeface="Cambria Math" panose="02040503050406030204" pitchFamily="18" charset="0"/>
                        </a:rPr>
                        <m:t>𝑁𝑜𝑟𝑚𝑎𝑙</m:t>
                      </m:r>
                      <m:r>
                        <a:rPr lang="he-IL" sz="2000" i="1" dirty="0">
                          <a:latin typeface="Cambria Math" panose="02040503050406030204" pitchFamily="18" charset="0"/>
                        </a:rPr>
                        <m:t>(</m:t>
                      </m:r>
                      <m:sSub>
                        <m:sSubPr>
                          <m:ctrlPr>
                            <a:rPr lang="en-US" sz="2000" i="1" dirty="0">
                              <a:latin typeface="Cambria Math" panose="02040503050406030204" pitchFamily="18" charset="0"/>
                            </a:rPr>
                          </m:ctrlPr>
                        </m:sSubPr>
                        <m:e>
                          <m:r>
                            <a:rPr lang="he-IL" sz="2000" i="1" dirty="0" err="1">
                              <a:latin typeface="Cambria Math" panose="02040503050406030204" pitchFamily="18" charset="0"/>
                            </a:rPr>
                            <m:t>𝜇</m:t>
                          </m:r>
                        </m:e>
                        <m:sub>
                          <m:r>
                            <a:rPr lang="he-IL" sz="2000" i="1" dirty="0" err="1">
                              <a:latin typeface="Cambria Math" panose="02040503050406030204" pitchFamily="18" charset="0"/>
                            </a:rPr>
                            <m:t>𝑖</m:t>
                          </m:r>
                        </m:sub>
                      </m:sSub>
                      <m:r>
                        <a:rPr lang="he-IL" sz="2000" i="1" dirty="0">
                          <a:latin typeface="Cambria Math" panose="02040503050406030204" pitchFamily="18" charset="0"/>
                        </a:rPr>
                        <m:t>​,</m:t>
                      </m:r>
                      <m:r>
                        <a:rPr lang="he-IL" sz="2000" i="1" dirty="0">
                          <a:latin typeface="Cambria Math" panose="02040503050406030204" pitchFamily="18" charset="0"/>
                        </a:rPr>
                        <m:t>𝜎</m:t>
                      </m:r>
                      <m:r>
                        <a:rPr lang="he-IL" sz="2000" i="1" dirty="0">
                          <a:latin typeface="Cambria Math" panose="02040503050406030204" pitchFamily="18" charset="0"/>
                        </a:rPr>
                        <m:t>) </m:t>
                      </m:r>
                    </m:oMath>
                  </m:oMathPara>
                </a14:m>
                <a:endParaRPr lang="en-US" sz="2000" i="1" dirty="0">
                  <a:latin typeface="Cambria Math" panose="020405030504060302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sSub>
                        <m:sSubPr>
                          <m:ctrlPr>
                            <a:rPr lang="he-IL" sz="2000" i="1">
                              <a:latin typeface="Cambria Math" panose="02040503050406030204" pitchFamily="18" charset="0"/>
                            </a:rPr>
                          </m:ctrlPr>
                        </m:sSubPr>
                        <m:e>
                          <m:r>
                            <a:rPr lang="he-IL" sz="2000" i="1">
                              <a:latin typeface="Cambria Math" panose="02040503050406030204" pitchFamily="18" charset="0"/>
                            </a:rPr>
                            <m:t>𝜇</m:t>
                          </m:r>
                        </m:e>
                        <m:sub>
                          <m:r>
                            <a:rPr lang="he-IL" sz="2000" i="1">
                              <a:latin typeface="Cambria Math" panose="02040503050406030204" pitchFamily="18" charset="0"/>
                            </a:rPr>
                            <m:t>𝑖</m:t>
                          </m:r>
                        </m:sub>
                      </m:sSub>
                      <m:r>
                        <a:rPr lang="he-IL" sz="2000">
                          <a:latin typeface="Cambria Math" panose="02040503050406030204" pitchFamily="18" charset="0"/>
                        </a:rPr>
                        <m:t>=</m:t>
                      </m:r>
                      <m:sSub>
                        <m:sSubPr>
                          <m:ctrlPr>
                            <a:rPr lang="he-IL" sz="2000" i="1">
                              <a:latin typeface="Cambria Math" panose="02040503050406030204" pitchFamily="18" charset="0"/>
                            </a:rPr>
                          </m:ctrlPr>
                        </m:sSubPr>
                        <m:e>
                          <m:r>
                            <a:rPr lang="he-IL" sz="2000" i="1">
                              <a:latin typeface="Cambria Math" panose="02040503050406030204" pitchFamily="18" charset="0"/>
                            </a:rPr>
                            <m:t>𝛽</m:t>
                          </m:r>
                        </m:e>
                        <m:sub>
                          <m:r>
                            <a:rPr lang="he-IL" sz="2000">
                              <a:latin typeface="Cambria Math" panose="02040503050406030204" pitchFamily="18" charset="0"/>
                            </a:rPr>
                            <m:t>0</m:t>
                          </m:r>
                        </m:sub>
                      </m:sSub>
                      <m:r>
                        <a:rPr lang="he-IL" sz="2000">
                          <a:latin typeface="Cambria Math" panose="02040503050406030204" pitchFamily="18" charset="0"/>
                        </a:rPr>
                        <m:t>+</m:t>
                      </m:r>
                      <m:sSub>
                        <m:sSubPr>
                          <m:ctrlPr>
                            <a:rPr lang="he-IL" sz="2000" i="1">
                              <a:latin typeface="Cambria Math" panose="02040503050406030204" pitchFamily="18" charset="0"/>
                            </a:rPr>
                          </m:ctrlPr>
                        </m:sSubPr>
                        <m:e>
                          <m:r>
                            <a:rPr lang="he-IL" sz="2000" i="1">
                              <a:latin typeface="Cambria Math" panose="02040503050406030204" pitchFamily="18" charset="0"/>
                            </a:rPr>
                            <m:t>𝛽</m:t>
                          </m:r>
                        </m:e>
                        <m:sub>
                          <m:r>
                            <a:rPr lang="he-IL" sz="2000" i="1">
                              <a:latin typeface="Cambria Math" panose="02040503050406030204" pitchFamily="18" charset="0"/>
                            </a:rPr>
                            <m:t>𝑢𝑟𝑎𝑛𝑖𝑢𝑚</m:t>
                          </m:r>
                        </m:sub>
                      </m:sSub>
                      <m:r>
                        <a:rPr lang="he-IL" sz="2000" i="1">
                          <a:latin typeface="Cambria Math" panose="02040503050406030204" pitchFamily="18" charset="0"/>
                        </a:rPr>
                        <m:t>𝑢𝑟𝑎𝑛𝑖𝑢</m:t>
                      </m:r>
                      <m:sSub>
                        <m:sSubPr>
                          <m:ctrlPr>
                            <a:rPr lang="he-IL" sz="2000" i="1">
                              <a:latin typeface="Cambria Math" panose="02040503050406030204" pitchFamily="18" charset="0"/>
                            </a:rPr>
                          </m:ctrlPr>
                        </m:sSubPr>
                        <m:e>
                          <m:r>
                            <a:rPr lang="he-IL" sz="2000" i="1">
                              <a:latin typeface="Cambria Math" panose="02040503050406030204" pitchFamily="18" charset="0"/>
                            </a:rPr>
                            <m:t>𝑚</m:t>
                          </m:r>
                        </m:e>
                        <m:sub>
                          <m:r>
                            <a:rPr lang="he-IL" sz="2000" i="1">
                              <a:latin typeface="Cambria Math" panose="02040503050406030204" pitchFamily="18" charset="0"/>
                            </a:rPr>
                            <m:t>𝑧</m:t>
                          </m:r>
                          <m:r>
                            <a:rPr lang="he-IL" sz="2000">
                              <a:latin typeface="Cambria Math" panose="02040503050406030204" pitchFamily="18" charset="0"/>
                            </a:rPr>
                            <m:t>,</m:t>
                          </m:r>
                          <m:r>
                            <a:rPr lang="he-IL" sz="2000" i="1">
                              <a:latin typeface="Cambria Math" panose="02040503050406030204" pitchFamily="18" charset="0"/>
                            </a:rPr>
                            <m:t>𝑖</m:t>
                          </m:r>
                        </m:sub>
                      </m:sSub>
                      <m:r>
                        <a:rPr lang="he-IL" sz="2000">
                          <a:latin typeface="Cambria Math" panose="02040503050406030204" pitchFamily="18" charset="0"/>
                        </a:rPr>
                        <m:t>+</m:t>
                      </m:r>
                      <m:sSub>
                        <m:sSubPr>
                          <m:ctrlPr>
                            <a:rPr lang="he-IL" sz="2000" i="1">
                              <a:latin typeface="Cambria Math" panose="02040503050406030204" pitchFamily="18" charset="0"/>
                            </a:rPr>
                          </m:ctrlPr>
                        </m:sSubPr>
                        <m:e>
                          <m:r>
                            <a:rPr lang="he-IL" sz="2000" i="1">
                              <a:latin typeface="Cambria Math" panose="02040503050406030204" pitchFamily="18" charset="0"/>
                            </a:rPr>
                            <m:t>𝛽</m:t>
                          </m:r>
                        </m:e>
                        <m:sub>
                          <m:r>
                            <a:rPr lang="he-IL" sz="2000" i="1">
                              <a:latin typeface="Cambria Math" panose="02040503050406030204" pitchFamily="18" charset="0"/>
                            </a:rPr>
                            <m:t>𝑏𝑎𝑠𝑒𝑚𝑒𝑛𝑡</m:t>
                          </m:r>
                        </m:sub>
                      </m:sSub>
                      <m:r>
                        <a:rPr lang="he-IL" sz="2000" i="1">
                          <a:latin typeface="Cambria Math" panose="02040503050406030204" pitchFamily="18" charset="0"/>
                        </a:rPr>
                        <m:t>𝑏𝑎𝑠𝑒𝑚𝑒𝑛</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𝑡</m:t>
                          </m:r>
                        </m:e>
                        <m:sub>
                          <m:r>
                            <a:rPr lang="en-US" sz="2000" b="0" i="1" smtClean="0">
                              <a:latin typeface="Cambria Math" panose="02040503050406030204" pitchFamily="18" charset="0"/>
                            </a:rPr>
                            <m:t>𝑖</m:t>
                          </m:r>
                        </m:sub>
                      </m:sSub>
                    </m:oMath>
                  </m:oMathPara>
                </a14:m>
                <a:endParaRPr lang="en-US" sz="2000" i="1" dirty="0">
                  <a:latin typeface="Cambria Math" panose="02040503050406030204" pitchFamily="18" charset="0"/>
                  <a:ea typeface="Cambria Math" panose="02040503050406030204" pitchFamily="18" charset="0"/>
                </a:endParaRPr>
              </a:p>
              <a:p>
                <a:pPr marL="0" indent="0">
                  <a:lnSpc>
                    <a:spcPct val="150000"/>
                  </a:lnSpc>
                  <a:buNone/>
                </a:pPr>
                <a14:m>
                  <m:oMath xmlns:m="http://schemas.openxmlformats.org/officeDocument/2006/math">
                    <m:r>
                      <a:rPr lang="en-US" sz="2000" i="1" smtClean="0">
                        <a:latin typeface="Cambria Math" panose="02040503050406030204" pitchFamily="18" charset="0"/>
                        <a:ea typeface="Cambria Math" panose="02040503050406030204" pitchFamily="18" charset="0"/>
                      </a:rPr>
                      <m:t>𝜎</m:t>
                    </m:r>
                    <m:r>
                      <a:rPr lang="en-US" sz="2000" b="0" i="1" smtClean="0">
                        <a:latin typeface="Cambria Math" panose="02040503050406030204" pitchFamily="18" charset="0"/>
                        <a:ea typeface="Cambria Math" panose="02040503050406030204" pitchFamily="18" charset="0"/>
                      </a:rPr>
                      <m:t> ~ </m:t>
                    </m:r>
                    <m:r>
                      <a:rPr lang="en-US" sz="2000" b="0" i="1" smtClean="0">
                        <a:latin typeface="Cambria Math" panose="02040503050406030204" pitchFamily="18" charset="0"/>
                        <a:ea typeface="Cambria Math" panose="02040503050406030204" pitchFamily="18" charset="0"/>
                      </a:rPr>
                      <m:t>𝐻𝑎𝑙𝑓𝑁𝑜𝑟𝑚𝑎𝑙</m:t>
                    </m:r>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𝜎</m:t>
                        </m:r>
                      </m:e>
                      <m:sub>
                        <m:r>
                          <m:rPr>
                            <m:sty m:val="p"/>
                          </m:rPr>
                          <a:rPr lang="en-US" sz="2000">
                            <a:latin typeface="Cambria Math" panose="02040503050406030204" pitchFamily="18" charset="0"/>
                            <a:ea typeface="Cambria Math" panose="02040503050406030204" pitchFamily="18" charset="0"/>
                          </a:rPr>
                          <m:t>σ</m:t>
                        </m:r>
                      </m:sub>
                    </m:sSub>
                  </m:oMath>
                </a14:m>
                <a:r>
                  <a:rPr lang="en-US" sz="2000" i="1" dirty="0">
                    <a:latin typeface="Cambria Math" panose="02040503050406030204" pitchFamily="18" charset="0"/>
                  </a:rPr>
                  <a:t>)</a:t>
                </a:r>
              </a:p>
              <a:p>
                <a:pPr>
                  <a:lnSpc>
                    <a:spcPct val="150000"/>
                  </a:lnSpc>
                </a:pPr>
                <a14:m>
                  <m:oMathPara xmlns:m="http://schemas.openxmlformats.org/officeDocument/2006/math">
                    <m:oMathParaPr>
                      <m:jc m:val="left"/>
                    </m:oMathParaPr>
                    <m:oMath xmlns:m="http://schemas.openxmlformats.org/officeDocument/2006/math">
                      <m:sSub>
                        <m:sSubPr>
                          <m:ctrlPr>
                            <a:rPr lang="he-IL" sz="2000" i="1">
                              <a:latin typeface="Cambria Math" panose="02040503050406030204" pitchFamily="18" charset="0"/>
                            </a:rPr>
                          </m:ctrlPr>
                        </m:sSubPr>
                        <m:e>
                          <m:r>
                            <a:rPr lang="he-IL" sz="2000" i="1">
                              <a:latin typeface="Cambria Math" panose="02040503050406030204" pitchFamily="18" charset="0"/>
                            </a:rPr>
                            <m:t>𝛽</m:t>
                          </m:r>
                        </m:e>
                        <m:sub>
                          <m:r>
                            <a:rPr lang="he-IL" sz="2000" i="1">
                              <a:latin typeface="Cambria Math" panose="02040503050406030204" pitchFamily="18" charset="0"/>
                            </a:rPr>
                            <m:t>𝑢𝑟𝑎𝑛𝑖𝑢𝑚</m:t>
                          </m:r>
                        </m:sub>
                      </m:sSub>
                      <m:r>
                        <a:rPr lang="en-GB" sz="2000" i="1">
                          <a:latin typeface="Cambria Math" panose="02040503050406030204" pitchFamily="18" charset="0"/>
                        </a:rPr>
                        <m:t>~</m:t>
                      </m:r>
                      <m:r>
                        <a:rPr lang="en-US" sz="2000" i="1">
                          <a:latin typeface="Cambria Math" panose="02040503050406030204" pitchFamily="18" charset="0"/>
                        </a:rPr>
                        <m:t>𝑁𝑜𝑟𝑚𝑎𝑙</m:t>
                      </m:r>
                      <m:r>
                        <a:rPr lang="en-GB" sz="2000" i="1">
                          <a:latin typeface="Cambria Math" panose="02040503050406030204" pitchFamily="18" charset="0"/>
                        </a:rPr>
                        <m:t>(</m:t>
                      </m:r>
                      <m:sSub>
                        <m:sSubPr>
                          <m:ctrlPr>
                            <a:rPr lang="en-GB" sz="2000" i="1" smtClean="0">
                              <a:latin typeface="Cambria Math" panose="02040503050406030204" pitchFamily="18" charset="0"/>
                            </a:rPr>
                          </m:ctrlPr>
                        </m:sSubPr>
                        <m:e>
                          <m:r>
                            <a:rPr lang="en-GB" sz="2000" i="1">
                              <a:latin typeface="Cambria Math" panose="02040503050406030204" pitchFamily="18" charset="0"/>
                            </a:rPr>
                            <m:t>𝜇</m:t>
                          </m:r>
                        </m:e>
                        <m:sub>
                          <m:r>
                            <a:rPr lang="he-IL" sz="2000" i="1">
                              <a:latin typeface="Cambria Math" panose="02040503050406030204" pitchFamily="18" charset="0"/>
                            </a:rPr>
                            <m:t>𝑢𝑟𝑎𝑛𝑖𝑢𝑚</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GB" sz="2000" i="1">
                              <a:latin typeface="Cambria Math" panose="02040503050406030204" pitchFamily="18" charset="0"/>
                            </a:rPr>
                            <m:t>𝜎</m:t>
                          </m:r>
                        </m:e>
                        <m:sub>
                          <m:r>
                            <a:rPr lang="he-IL" sz="2000" i="1">
                              <a:latin typeface="Cambria Math" panose="02040503050406030204" pitchFamily="18" charset="0"/>
                            </a:rPr>
                            <m:t>𝑢𝑟𝑎𝑛𝑖𝑢𝑚</m:t>
                          </m:r>
                        </m:sub>
                      </m:sSub>
                      <m:r>
                        <a:rPr lang="en-GB" sz="2000" i="1">
                          <a:latin typeface="Cambria Math" panose="02040503050406030204" pitchFamily="18" charset="0"/>
                        </a:rPr>
                        <m:t>)</m:t>
                      </m:r>
                    </m:oMath>
                  </m:oMathPara>
                </a14:m>
                <a:endParaRPr lang="en-GB" sz="2000" dirty="0">
                  <a:latin typeface="David" panose="020E0502060401010101" pitchFamily="34" charset="-79"/>
                </a:endParaRPr>
              </a:p>
              <a:p>
                <a:pPr>
                  <a:lnSpc>
                    <a:spcPct val="150000"/>
                  </a:lnSpc>
                </a:pPr>
                <a14:m>
                  <m:oMathPara xmlns:m="http://schemas.openxmlformats.org/officeDocument/2006/math">
                    <m:oMathParaPr>
                      <m:jc m:val="left"/>
                    </m:oMathParaPr>
                    <m:oMath xmlns:m="http://schemas.openxmlformats.org/officeDocument/2006/math">
                      <m:sSub>
                        <m:sSubPr>
                          <m:ctrlPr>
                            <a:rPr lang="he-IL" sz="2000" i="1">
                              <a:latin typeface="Cambria Math" panose="02040503050406030204" pitchFamily="18" charset="0"/>
                            </a:rPr>
                          </m:ctrlPr>
                        </m:sSubPr>
                        <m:e>
                          <m:r>
                            <a:rPr lang="he-IL" sz="2000" i="1">
                              <a:latin typeface="Cambria Math" panose="02040503050406030204" pitchFamily="18" charset="0"/>
                            </a:rPr>
                            <m:t>𝛽</m:t>
                          </m:r>
                        </m:e>
                        <m:sub>
                          <m:r>
                            <a:rPr lang="he-IL" sz="2000" i="1">
                              <a:latin typeface="Cambria Math" panose="02040503050406030204" pitchFamily="18" charset="0"/>
                            </a:rPr>
                            <m:t>𝑏𝑎𝑠𝑒𝑚𝑒𝑛𝑡</m:t>
                          </m:r>
                        </m:sub>
                      </m:sSub>
                      <m:r>
                        <a:rPr lang="en-GB" sz="2000" i="1">
                          <a:latin typeface="Cambria Math" panose="02040503050406030204" pitchFamily="18" charset="0"/>
                        </a:rPr>
                        <m:t>~</m:t>
                      </m:r>
                      <m:r>
                        <a:rPr lang="en-US" sz="2000" i="1">
                          <a:latin typeface="Cambria Math" panose="02040503050406030204" pitchFamily="18" charset="0"/>
                        </a:rPr>
                        <m:t>𝑁𝑜𝑟𝑚𝑎𝑙</m:t>
                      </m:r>
                      <m:d>
                        <m:dPr>
                          <m:ctrlPr>
                            <a:rPr lang="en-GB" sz="2000" i="1">
                              <a:latin typeface="Cambria Math" panose="02040503050406030204" pitchFamily="18" charset="0"/>
                            </a:rPr>
                          </m:ctrlPr>
                        </m:dPr>
                        <m:e>
                          <m:sSub>
                            <m:sSubPr>
                              <m:ctrlPr>
                                <a:rPr lang="en-GB" sz="2000" i="1">
                                  <a:latin typeface="Cambria Math" panose="02040503050406030204" pitchFamily="18" charset="0"/>
                                </a:rPr>
                              </m:ctrlPr>
                            </m:sSubPr>
                            <m:e>
                              <m:r>
                                <a:rPr lang="en-GB" sz="2000" i="1">
                                  <a:latin typeface="Cambria Math" panose="02040503050406030204" pitchFamily="18" charset="0"/>
                                </a:rPr>
                                <m:t>𝜇</m:t>
                              </m:r>
                            </m:e>
                            <m:sub>
                              <m:r>
                                <a:rPr lang="he-IL" sz="2000" i="1">
                                  <a:latin typeface="Cambria Math" panose="02040503050406030204" pitchFamily="18" charset="0"/>
                                </a:rPr>
                                <m:t>𝑏𝑎𝑠𝑒𝑚𝑒𝑛𝑡</m:t>
                              </m:r>
                            </m:sub>
                          </m:sSub>
                          <m:r>
                            <a:rPr lang="en-GB" sz="2000" i="1">
                              <a:latin typeface="Cambria Math" panose="02040503050406030204" pitchFamily="18" charset="0"/>
                            </a:rPr>
                            <m:t>, </m:t>
                          </m:r>
                          <m:sSub>
                            <m:sSubPr>
                              <m:ctrlPr>
                                <a:rPr lang="en-US" sz="2000" i="1">
                                  <a:latin typeface="Cambria Math" panose="02040503050406030204" pitchFamily="18" charset="0"/>
                                </a:rPr>
                              </m:ctrlPr>
                            </m:sSubPr>
                            <m:e>
                              <m:r>
                                <a:rPr lang="en-GB" sz="2000" i="1">
                                  <a:latin typeface="Cambria Math" panose="02040503050406030204" pitchFamily="18" charset="0"/>
                                </a:rPr>
                                <m:t>𝜎</m:t>
                              </m:r>
                            </m:e>
                            <m:sub>
                              <m:r>
                                <a:rPr lang="he-IL" sz="2000" i="1">
                                  <a:latin typeface="Cambria Math" panose="02040503050406030204" pitchFamily="18" charset="0"/>
                                </a:rPr>
                                <m:t>𝑏𝑎𝑠𝑒𝑚𝑒𝑛𝑡</m:t>
                              </m:r>
                            </m:sub>
                          </m:sSub>
                        </m:e>
                      </m:d>
                    </m:oMath>
                  </m:oMathPara>
                </a14:m>
                <a:endParaRPr lang="en-US" sz="2000" i="1" dirty="0">
                  <a:latin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55BBD2E6-2DA1-5371-962C-5AA50E4DA97E}"/>
                  </a:ext>
                </a:extLst>
              </p:cNvPr>
              <p:cNvSpPr txBox="1">
                <a:spLocks noRot="1" noChangeAspect="1" noMove="1" noResize="1" noEditPoints="1" noAdjustHandles="1" noChangeArrowheads="1" noChangeShapeType="1" noTextEdit="1"/>
              </p:cNvSpPr>
              <p:nvPr/>
            </p:nvSpPr>
            <p:spPr>
              <a:xfrm>
                <a:off x="5814647" y="3429000"/>
                <a:ext cx="6218346" cy="2420791"/>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32528868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F1BBE-4A20-F5DC-29D7-07B8454343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B2A89-E19A-6311-5F25-0212E6CB1FB9}"/>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2B2C69EC-8B73-8906-D2C4-DE8C58BC7306}"/>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Model</a:t>
            </a:r>
          </a:p>
          <a:p>
            <a:pPr algn="just">
              <a:lnSpc>
                <a:spcPct val="150000"/>
              </a:lnSpc>
              <a:buFont typeface="Wingdings" panose="05000000000000000000" pitchFamily="2" charset="2"/>
              <a:buChar char="§"/>
            </a:pPr>
            <a:endParaRPr lang="en-GB" dirty="0"/>
          </a:p>
        </p:txBody>
      </p:sp>
      <p:pic>
        <p:nvPicPr>
          <p:cNvPr id="5" name="Picture 4">
            <a:extLst>
              <a:ext uri="{FF2B5EF4-FFF2-40B4-BE49-F238E27FC236}">
                <a16:creationId xmlns:a16="http://schemas.microsoft.com/office/drawing/2014/main" id="{85C3EB9F-A778-811C-C21D-D6275C433A32}"/>
              </a:ext>
            </a:extLst>
          </p:cNvPr>
          <p:cNvPicPr>
            <a:picLocks noChangeAspect="1"/>
          </p:cNvPicPr>
          <p:nvPr/>
        </p:nvPicPr>
        <p:blipFill>
          <a:blip r:embed="rId3"/>
          <a:stretch>
            <a:fillRect/>
          </a:stretch>
        </p:blipFill>
        <p:spPr>
          <a:xfrm>
            <a:off x="838200" y="2070172"/>
            <a:ext cx="10659963" cy="3486637"/>
          </a:xfrm>
          <a:prstGeom prst="rect">
            <a:avLst/>
          </a:prstGeom>
        </p:spPr>
      </p:pic>
    </p:spTree>
    <p:extLst>
      <p:ext uri="{BB962C8B-B14F-4D97-AF65-F5344CB8AC3E}">
        <p14:creationId xmlns:p14="http://schemas.microsoft.com/office/powerpoint/2010/main" val="1812989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5BCD-83D8-403F-31F0-385BFDE262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4827B-31C1-DFDB-F611-AD18FE5923FB}"/>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188109FB-7BF7-FCAF-3460-A546FE7193BC}"/>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Prior predictive check</a:t>
            </a:r>
          </a:p>
          <a:p>
            <a:pPr algn="just">
              <a:lnSpc>
                <a:spcPct val="150000"/>
              </a:lnSpc>
              <a:buFont typeface="Wingdings" panose="05000000000000000000" pitchFamily="2" charset="2"/>
              <a:buChar char="§"/>
            </a:pPr>
            <a:endParaRPr lang="en-GB" dirty="0"/>
          </a:p>
        </p:txBody>
      </p:sp>
      <p:pic>
        <p:nvPicPr>
          <p:cNvPr id="3074" name="Picture 2">
            <a:extLst>
              <a:ext uri="{FF2B5EF4-FFF2-40B4-BE49-F238E27FC236}">
                <a16:creationId xmlns:a16="http://schemas.microsoft.com/office/drawing/2014/main" id="{72F881E7-682D-7156-3940-373A0B8CA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9299" y="1901778"/>
            <a:ext cx="7670503" cy="4834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5250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DD82C-A83E-FB43-663E-5EF2EFD904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7B42A-873E-C918-6F27-940C308196BC}"/>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5E7E86E5-0CF6-7258-1C3D-359A08BCF7D6}"/>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Prior predictive check</a:t>
            </a:r>
          </a:p>
          <a:p>
            <a:pPr algn="just">
              <a:lnSpc>
                <a:spcPct val="150000"/>
              </a:lnSpc>
              <a:buFont typeface="Wingdings" panose="05000000000000000000" pitchFamily="2" charset="2"/>
              <a:buChar char="§"/>
            </a:pPr>
            <a:endParaRPr lang="en-GB" dirty="0"/>
          </a:p>
        </p:txBody>
      </p:sp>
      <p:pic>
        <p:nvPicPr>
          <p:cNvPr id="1026" name="Picture 2">
            <a:extLst>
              <a:ext uri="{FF2B5EF4-FFF2-40B4-BE49-F238E27FC236}">
                <a16:creationId xmlns:a16="http://schemas.microsoft.com/office/drawing/2014/main" id="{4717E67F-DFC8-612B-16DE-1CA88812AD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0770" y="1834359"/>
            <a:ext cx="7406393" cy="4668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3248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919B6F-9126-6C3D-ACC8-1F3457DF1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441C0-5864-246F-B999-21D450FC84B6}"/>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373DFB36-F913-F20A-ACB1-A96C201223DC}"/>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Prior predictive check</a:t>
            </a:r>
            <a:r>
              <a:rPr lang="he-IL" dirty="0"/>
              <a:t> </a:t>
            </a:r>
            <a:r>
              <a:rPr lang="en-US" dirty="0"/>
              <a:t>– </a:t>
            </a:r>
            <a:endParaRPr lang="en-GB" dirty="0"/>
          </a:p>
          <a:p>
            <a:pPr algn="just">
              <a:lnSpc>
                <a:spcPct val="150000"/>
              </a:lnSpc>
              <a:buFont typeface="Wingdings" panose="05000000000000000000" pitchFamily="2" charset="2"/>
              <a:buChar char="§"/>
            </a:pPr>
            <a:endParaRPr lang="en-GB" dirty="0"/>
          </a:p>
        </p:txBody>
      </p:sp>
      <p:pic>
        <p:nvPicPr>
          <p:cNvPr id="2050" name="Picture 2">
            <a:extLst>
              <a:ext uri="{FF2B5EF4-FFF2-40B4-BE49-F238E27FC236}">
                <a16:creationId xmlns:a16="http://schemas.microsoft.com/office/drawing/2014/main" id="{876EB697-5303-0800-BAF1-C736A4ABBD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832" y="2352088"/>
            <a:ext cx="5733215" cy="361382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605B22F-BA39-D927-BC69-772E44AAC5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363376"/>
            <a:ext cx="5927041" cy="3736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2726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54F55-1CA1-95E1-5917-DBCDE1A808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B81AF-F787-7DA8-11B4-9008636613D2}"/>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3113BDCC-B5EB-5E17-5C3B-BDABEDE44B63}"/>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Sampling diagnostics</a:t>
            </a:r>
          </a:p>
          <a:p>
            <a:pPr algn="just">
              <a:lnSpc>
                <a:spcPct val="150000"/>
              </a:lnSpc>
              <a:buFont typeface="Wingdings" panose="05000000000000000000" pitchFamily="2" charset="2"/>
              <a:buChar char="§"/>
            </a:pPr>
            <a:endParaRPr lang="en-GB" dirty="0"/>
          </a:p>
        </p:txBody>
      </p:sp>
      <p:pic>
        <p:nvPicPr>
          <p:cNvPr id="4098" name="Picture 2">
            <a:extLst>
              <a:ext uri="{FF2B5EF4-FFF2-40B4-BE49-F238E27FC236}">
                <a16:creationId xmlns:a16="http://schemas.microsoft.com/office/drawing/2014/main" id="{64B87B2F-9E22-A5D1-05A0-D6A3E75FC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1574" y="1930461"/>
            <a:ext cx="7235337" cy="47969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DB53AF1-3D33-15AC-A3A0-A242ABB9351A}"/>
              </a:ext>
            </a:extLst>
          </p:cNvPr>
          <p:cNvPicPr>
            <a:picLocks noChangeAspect="1"/>
          </p:cNvPicPr>
          <p:nvPr/>
        </p:nvPicPr>
        <p:blipFill>
          <a:blip r:embed="rId4"/>
          <a:stretch>
            <a:fillRect/>
          </a:stretch>
        </p:blipFill>
        <p:spPr>
          <a:xfrm>
            <a:off x="511737" y="2766218"/>
            <a:ext cx="3880634" cy="1325563"/>
          </a:xfrm>
          <a:prstGeom prst="rect">
            <a:avLst/>
          </a:prstGeom>
        </p:spPr>
      </p:pic>
    </p:spTree>
    <p:extLst>
      <p:ext uri="{BB962C8B-B14F-4D97-AF65-F5344CB8AC3E}">
        <p14:creationId xmlns:p14="http://schemas.microsoft.com/office/powerpoint/2010/main" val="13052638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B6664-1B05-0909-34C9-4F040EFEB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32652D-14B7-5C00-B753-43E2420BA7C2}"/>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8D3A8E16-D90A-FCDD-A352-9474B58AA41A}"/>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Sampling diagnostics</a:t>
            </a:r>
          </a:p>
          <a:p>
            <a:pPr algn="just">
              <a:lnSpc>
                <a:spcPct val="150000"/>
              </a:lnSpc>
              <a:buFont typeface="Wingdings" panose="05000000000000000000" pitchFamily="2" charset="2"/>
              <a:buChar char="§"/>
            </a:pPr>
            <a:endParaRPr lang="en-GB" dirty="0"/>
          </a:p>
        </p:txBody>
      </p:sp>
      <p:pic>
        <p:nvPicPr>
          <p:cNvPr id="6146" name="Picture 2">
            <a:extLst>
              <a:ext uri="{FF2B5EF4-FFF2-40B4-BE49-F238E27FC236}">
                <a16:creationId xmlns:a16="http://schemas.microsoft.com/office/drawing/2014/main" id="{7D7085E4-2960-E4FB-4640-1C1358E354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2588" y="1953347"/>
            <a:ext cx="7027408" cy="4549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66502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630F-DA58-5A12-8DC3-4B26F18C2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168BB-BADA-F1A2-E184-63B7812073CB}"/>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BEDB6FC9-EC18-5732-C820-F7575A8D0B2C}"/>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Posterior predictive</a:t>
            </a:r>
          </a:p>
          <a:p>
            <a:pPr algn="just">
              <a:lnSpc>
                <a:spcPct val="150000"/>
              </a:lnSpc>
              <a:buFont typeface="Wingdings" panose="05000000000000000000" pitchFamily="2" charset="2"/>
              <a:buChar char="§"/>
            </a:pPr>
            <a:endParaRPr lang="en-GB" dirty="0"/>
          </a:p>
        </p:txBody>
      </p:sp>
      <p:pic>
        <p:nvPicPr>
          <p:cNvPr id="6148" name="Picture 4">
            <a:extLst>
              <a:ext uri="{FF2B5EF4-FFF2-40B4-BE49-F238E27FC236}">
                <a16:creationId xmlns:a16="http://schemas.microsoft.com/office/drawing/2014/main" id="{CC8CD566-8E96-AA03-CC33-0DD256327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976" y="1852394"/>
            <a:ext cx="7509729" cy="47336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43285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7E5CE1-7BB4-6CEB-120F-AC7052158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E6A77-9B1A-D1C2-B8AD-64F615A2DA3E}"/>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33D4C6BA-B050-52F8-3917-9BD403832B64}"/>
              </a:ext>
            </a:extLst>
          </p:cNvPr>
          <p:cNvSpPr>
            <a:spLocks noGrp="1"/>
          </p:cNvSpPr>
          <p:nvPr>
            <p:ph idx="1"/>
          </p:nvPr>
        </p:nvSpPr>
        <p:spPr>
          <a:xfrm>
            <a:off x="838201" y="1124139"/>
            <a:ext cx="3970866" cy="5378705"/>
          </a:xfrm>
        </p:spPr>
        <p:txBody>
          <a:bodyPr>
            <a:normAutofit/>
          </a:bodyPr>
          <a:lstStyle/>
          <a:p>
            <a:pPr>
              <a:lnSpc>
                <a:spcPct val="150000"/>
              </a:lnSpc>
            </a:pPr>
            <a:r>
              <a:rPr lang="en-US" dirty="0"/>
              <a:t>Posterior predictive  </a:t>
            </a:r>
          </a:p>
          <a:p>
            <a:pPr>
              <a:lnSpc>
                <a:spcPct val="150000"/>
              </a:lnSpc>
            </a:pPr>
            <a:r>
              <a:rPr lang="en-US" sz="2000" dirty="0"/>
              <a:t>The posterior predictive HDI describes possible new observations, so it includes both uncertainty in the mean and residual variation around the mean.</a:t>
            </a:r>
          </a:p>
        </p:txBody>
      </p:sp>
      <p:pic>
        <p:nvPicPr>
          <p:cNvPr id="4100" name="Picture 4">
            <a:extLst>
              <a:ext uri="{FF2B5EF4-FFF2-40B4-BE49-F238E27FC236}">
                <a16:creationId xmlns:a16="http://schemas.microsoft.com/office/drawing/2014/main" id="{EF7A8957-A901-2682-FF50-87190658CC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1147" y="2122310"/>
            <a:ext cx="7096602" cy="438053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EDC9FF3D-DB8B-7279-569D-0D7FD3830F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0005" y="2177296"/>
            <a:ext cx="7300139" cy="4506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73892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630C44-B74E-579B-C8F7-BC1B167284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532B5-0C63-8860-AC38-20C4405E5841}"/>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F78C438F-6483-B65B-E8EF-2561632555C6}"/>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Posterior</a:t>
            </a:r>
          </a:p>
          <a:p>
            <a:pPr lvl="1">
              <a:lnSpc>
                <a:spcPct val="150000"/>
              </a:lnSpc>
            </a:pPr>
            <a:r>
              <a:rPr lang="en-US" dirty="0"/>
              <a:t>In multiple regression with a binary categorical predictor, there are two conditional regression lines:</a:t>
            </a:r>
          </a:p>
          <a:p>
            <a:pPr lvl="1" algn="just">
              <a:lnSpc>
                <a:spcPct val="150000"/>
              </a:lnSpc>
            </a:pPr>
            <a:endParaRPr lang="en-GB" dirty="0"/>
          </a:p>
          <a:p>
            <a:pPr algn="just">
              <a:lnSpc>
                <a:spcPct val="150000"/>
              </a:lnSpc>
              <a:buFont typeface="Wingdings" panose="05000000000000000000" pitchFamily="2" charset="2"/>
              <a:buChar char="§"/>
            </a:pPr>
            <a:endParaRPr lang="en-GB" dirty="0"/>
          </a:p>
        </p:txBody>
      </p:sp>
      <p:pic>
        <p:nvPicPr>
          <p:cNvPr id="8194" name="Picture 2">
            <a:extLst>
              <a:ext uri="{FF2B5EF4-FFF2-40B4-BE49-F238E27FC236}">
                <a16:creationId xmlns:a16="http://schemas.microsoft.com/office/drawing/2014/main" id="{0459B1FB-B99C-3513-B239-2915838742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647" y="3049418"/>
            <a:ext cx="5640735" cy="3555534"/>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1235B819-2710-5578-ABE9-7645CC8B46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5303" y="2914555"/>
            <a:ext cx="5843971" cy="3683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2467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D213-18DA-B954-217D-42ACAA79E1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31F02E-218A-62A8-CF39-8F81A33F7937}"/>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17EAE593-B918-BD71-839D-C1E41E3C19A9}"/>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Posterior</a:t>
            </a:r>
          </a:p>
          <a:p>
            <a:pPr algn="just">
              <a:lnSpc>
                <a:spcPct val="150000"/>
              </a:lnSpc>
              <a:buFont typeface="Wingdings" panose="05000000000000000000" pitchFamily="2" charset="2"/>
              <a:buChar char="§"/>
            </a:pPr>
            <a:endParaRPr lang="en-GB" dirty="0"/>
          </a:p>
        </p:txBody>
      </p:sp>
      <p:pic>
        <p:nvPicPr>
          <p:cNvPr id="5" name="Picture 4">
            <a:extLst>
              <a:ext uri="{FF2B5EF4-FFF2-40B4-BE49-F238E27FC236}">
                <a16:creationId xmlns:a16="http://schemas.microsoft.com/office/drawing/2014/main" id="{6637C34B-D49E-0E9C-AC25-1E3F67F147A3}"/>
              </a:ext>
            </a:extLst>
          </p:cNvPr>
          <p:cNvPicPr>
            <a:picLocks noChangeAspect="1"/>
          </p:cNvPicPr>
          <p:nvPr/>
        </p:nvPicPr>
        <p:blipFill>
          <a:blip r:embed="rId3"/>
          <a:stretch>
            <a:fillRect/>
          </a:stretch>
        </p:blipFill>
        <p:spPr>
          <a:xfrm>
            <a:off x="559952" y="1986086"/>
            <a:ext cx="4239217" cy="1981477"/>
          </a:xfrm>
          <a:prstGeom prst="rect">
            <a:avLst/>
          </a:prstGeom>
        </p:spPr>
      </p:pic>
      <p:pic>
        <p:nvPicPr>
          <p:cNvPr id="5122" name="Picture 2">
            <a:extLst>
              <a:ext uri="{FF2B5EF4-FFF2-40B4-BE49-F238E27FC236}">
                <a16:creationId xmlns:a16="http://schemas.microsoft.com/office/drawing/2014/main" id="{034841DD-7B69-356B-2C73-09ADEB70D95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768"/>
          <a:stretch>
            <a:fillRect/>
          </a:stretch>
        </p:blipFill>
        <p:spPr bwMode="auto">
          <a:xfrm>
            <a:off x="3537316" y="4106694"/>
            <a:ext cx="8219739" cy="252573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EB6E9789-0B12-9679-0166-60858B86D0F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66607"/>
          <a:stretch>
            <a:fillRect/>
          </a:stretch>
        </p:blipFill>
        <p:spPr bwMode="auto">
          <a:xfrm>
            <a:off x="7033846" y="1133274"/>
            <a:ext cx="4319954" cy="2632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2357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65F8C-6BF0-5C79-7D11-DBC0D0C8E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E33F6-58D3-0731-92A2-DC96B1F4A75C}"/>
              </a:ext>
            </a:extLst>
          </p:cNvPr>
          <p:cNvSpPr>
            <a:spLocks noGrp="1"/>
          </p:cNvSpPr>
          <p:nvPr>
            <p:ph type="title"/>
          </p:nvPr>
        </p:nvSpPr>
        <p:spPr>
          <a:xfrm>
            <a:off x="838200" y="20997"/>
            <a:ext cx="10515600" cy="1325563"/>
          </a:xfrm>
        </p:spPr>
        <p:txBody>
          <a:bodyPr/>
          <a:lstStyle/>
          <a:p>
            <a:r>
              <a:rPr lang="en-US" dirty="0"/>
              <a:t>Multiple Regression</a:t>
            </a:r>
          </a:p>
        </p:txBody>
      </p:sp>
      <p:sp>
        <p:nvSpPr>
          <p:cNvPr id="3" name="Content Placeholder 2">
            <a:extLst>
              <a:ext uri="{FF2B5EF4-FFF2-40B4-BE49-F238E27FC236}">
                <a16:creationId xmlns:a16="http://schemas.microsoft.com/office/drawing/2014/main" id="{477C997B-FAD4-7FF4-31B1-1D861BD94DA5}"/>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Posterior</a:t>
            </a:r>
          </a:p>
          <a:p>
            <a:pPr lvl="1">
              <a:lnSpc>
                <a:spcPct val="150000"/>
              </a:lnSpc>
            </a:pPr>
            <a:r>
              <a:rPr lang="en-US" dirty="0"/>
              <a:t>In multiple regression with a binary categorical predictor, there are two conditional regression lines:</a:t>
            </a:r>
          </a:p>
          <a:p>
            <a:pPr lvl="1" algn="just">
              <a:lnSpc>
                <a:spcPct val="150000"/>
              </a:lnSpc>
            </a:pPr>
            <a:endParaRPr lang="en-GB" dirty="0"/>
          </a:p>
          <a:p>
            <a:pPr algn="just">
              <a:lnSpc>
                <a:spcPct val="150000"/>
              </a:lnSpc>
              <a:buFont typeface="Wingdings" panose="05000000000000000000" pitchFamily="2" charset="2"/>
              <a:buChar char="§"/>
            </a:pPr>
            <a:endParaRPr lang="en-GB" dirty="0"/>
          </a:p>
        </p:txBody>
      </p:sp>
      <p:pic>
        <p:nvPicPr>
          <p:cNvPr id="3074" name="Picture 2">
            <a:extLst>
              <a:ext uri="{FF2B5EF4-FFF2-40B4-BE49-F238E27FC236}">
                <a16:creationId xmlns:a16="http://schemas.microsoft.com/office/drawing/2014/main" id="{CE129969-6714-DF53-39EE-63F588E9DB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8205" y="2449702"/>
            <a:ext cx="6680907" cy="4211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62098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1C66BAC8-4E17-6A9A-1BBC-C608B7F3440C}"/>
                  </a:ext>
                </a:extLst>
              </p:cNvPr>
              <p:cNvSpPr>
                <a:spLocks noGrp="1"/>
              </p:cNvSpPr>
              <p:nvPr>
                <p:ph type="title"/>
              </p:nvPr>
            </p:nvSpPr>
            <p:spPr>
              <a:xfrm>
                <a:off x="838200" y="2435085"/>
                <a:ext cx="10515600" cy="1325563"/>
              </a:xfrm>
            </p:spPr>
            <p:txBody>
              <a:bodyPr/>
              <a:lstStyle/>
              <a:p>
                <a:pPr algn="ctr"/>
                <a:r>
                  <a:rPr lang="en-US" dirty="0"/>
                  <a:t>Bayesian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𝑅</m:t>
                        </m:r>
                      </m:e>
                      <m:sup>
                        <m:r>
                          <a:rPr lang="en-US" i="1" dirty="0" smtClean="0">
                            <a:latin typeface="Cambria Math" panose="02040503050406030204" pitchFamily="18" charset="0"/>
                          </a:rPr>
                          <m:t>2</m:t>
                        </m:r>
                      </m:sup>
                    </m:sSup>
                  </m:oMath>
                </a14:m>
                <a:r>
                  <a:rPr lang="en-US" dirty="0"/>
                  <a:t>  </a:t>
                </a:r>
              </a:p>
            </p:txBody>
          </p:sp>
        </mc:Choice>
        <mc:Fallback xmlns="">
          <p:sp>
            <p:nvSpPr>
              <p:cNvPr id="4" name="Title 1">
                <a:extLst>
                  <a:ext uri="{FF2B5EF4-FFF2-40B4-BE49-F238E27FC236}">
                    <a16:creationId xmlns:a16="http://schemas.microsoft.com/office/drawing/2014/main" id="{1C66BAC8-4E17-6A9A-1BBC-C608B7F3440C}"/>
                  </a:ext>
                </a:extLst>
              </p:cNvPr>
              <p:cNvSpPr>
                <a:spLocks noGrp="1" noRot="1" noChangeAspect="1" noMove="1" noResize="1" noEditPoints="1" noAdjustHandles="1" noChangeArrowheads="1" noChangeShapeType="1" noTextEdit="1"/>
              </p:cNvSpPr>
              <p:nvPr>
                <p:ph type="title"/>
              </p:nvPr>
            </p:nvSpPr>
            <p:spPr>
              <a:xfrm>
                <a:off x="838200" y="2435085"/>
                <a:ext cx="10515600" cy="1325563"/>
              </a:xfrm>
              <a:blipFill>
                <a:blip r:embed="rId2"/>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5840882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76240-A9BE-0ACD-D507-60A360F59AE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02D02300-F9FC-69EF-517F-24923038FFA6}"/>
                  </a:ext>
                </a:extLst>
              </p:cNvPr>
              <p:cNvSpPr>
                <a:spLocks noGrp="1"/>
              </p:cNvSpPr>
              <p:nvPr>
                <p:ph type="title"/>
              </p:nvPr>
            </p:nvSpPr>
            <p:spPr>
              <a:xfrm>
                <a:off x="838200" y="20997"/>
                <a:ext cx="10515600" cy="1325563"/>
              </a:xfrm>
            </p:spPr>
            <p:txBody>
              <a:bodyPr/>
              <a:lstStyle/>
              <a:p>
                <a:r>
                  <a:rPr lang="en-US" dirty="0"/>
                  <a:t>Bayesian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𝑅</m:t>
                        </m:r>
                      </m:e>
                      <m:sup>
                        <m:r>
                          <a:rPr lang="en-US" i="1" dirty="0" smtClean="0">
                            <a:latin typeface="Cambria Math" panose="02040503050406030204" pitchFamily="18" charset="0"/>
                          </a:rPr>
                          <m:t>2</m:t>
                        </m:r>
                      </m:sup>
                    </m:sSup>
                  </m:oMath>
                </a14:m>
                <a:r>
                  <a:rPr lang="en-US" dirty="0"/>
                  <a:t>  </a:t>
                </a:r>
              </a:p>
            </p:txBody>
          </p:sp>
        </mc:Choice>
        <mc:Fallback xmlns="">
          <p:sp>
            <p:nvSpPr>
              <p:cNvPr id="2" name="Title 1">
                <a:extLst>
                  <a:ext uri="{FF2B5EF4-FFF2-40B4-BE49-F238E27FC236}">
                    <a16:creationId xmlns:a16="http://schemas.microsoft.com/office/drawing/2014/main" id="{02D02300-F9FC-69EF-517F-24923038FFA6}"/>
                  </a:ext>
                </a:extLst>
              </p:cNvPr>
              <p:cNvSpPr>
                <a:spLocks noGrp="1" noRot="1" noChangeAspect="1" noMove="1" noResize="1" noEditPoints="1" noAdjustHandles="1" noChangeArrowheads="1" noChangeShapeType="1" noTextEdit="1"/>
              </p:cNvSpPr>
              <p:nvPr>
                <p:ph type="title"/>
              </p:nvPr>
            </p:nvSpPr>
            <p:spPr>
              <a:xfrm>
                <a:off x="838200" y="20997"/>
                <a:ext cx="10515600" cy="1325563"/>
              </a:xfrm>
              <a:blipFill>
                <a:blip r:embed="rId3"/>
                <a:stretch>
                  <a:fillRect l="-2377"/>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2C1148-4633-F15B-D072-ADD300823318}"/>
                  </a:ext>
                </a:extLst>
              </p:cNvPr>
              <p:cNvSpPr>
                <a:spLocks noGrp="1"/>
              </p:cNvSpPr>
              <p:nvPr>
                <p:ph idx="1"/>
              </p:nvPr>
            </p:nvSpPr>
            <p:spPr>
              <a:xfrm>
                <a:off x="838200" y="1124139"/>
                <a:ext cx="10789508" cy="5378705"/>
              </a:xfrm>
            </p:spPr>
            <p:txBody>
              <a:bodyPr>
                <a:normAutofit/>
              </a:bodyPr>
              <a:lstStyle/>
              <a:p>
                <a:pPr algn="just">
                  <a:lnSpc>
                    <a:spcPct val="150000"/>
                  </a:lnSpc>
                </a:pPr>
                <a:r>
                  <a:rPr lang="en-GB" dirty="0"/>
                  <a:t>Summarizes explained variance by the model</a:t>
                </a:r>
              </a:p>
              <a:p>
                <a:pPr marL="0" indent="0" algn="just">
                  <a:lnSpc>
                    <a:spcPct val="150000"/>
                  </a:lnSpc>
                  <a:buNone/>
                </a:pP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GB" i="1" dirty="0" smtClean="0">
                              <a:latin typeface="Cambria Math" panose="02040503050406030204" pitchFamily="18" charset="0"/>
                            </a:rPr>
                            <m:t>𝑅</m:t>
                          </m:r>
                        </m:e>
                        <m:sup>
                          <m:r>
                            <a:rPr lang="en-GB" i="1" dirty="0" smtClean="0">
                              <a:latin typeface="Cambria Math" panose="02040503050406030204" pitchFamily="18" charset="0"/>
                            </a:rPr>
                            <m:t>2</m:t>
                          </m:r>
                        </m:sup>
                      </m:sSup>
                      <m:r>
                        <a:rPr lang="en-GB"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GB" i="1" dirty="0" smtClean="0">
                              <a:latin typeface="Cambria Math" panose="02040503050406030204" pitchFamily="18" charset="0"/>
                            </a:rPr>
                            <m:t>𝑉𝑎𝑟</m:t>
                          </m:r>
                          <m:d>
                            <m:dPr>
                              <m:ctrlPr>
                                <a:rPr lang="en-GB"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l-GR" i="1" dirty="0" smtClean="0">
                                      <a:latin typeface="Cambria Math" panose="02040503050406030204" pitchFamily="18" charset="0"/>
                                    </a:rPr>
                                    <m:t>𝜇</m:t>
                                  </m:r>
                                </m:e>
                                <m:sub>
                                  <m:r>
                                    <a:rPr lang="en-GB" i="1" dirty="0" err="1" smtClean="0">
                                      <a:latin typeface="Cambria Math" panose="02040503050406030204" pitchFamily="18" charset="0"/>
                                    </a:rPr>
                                    <m:t>𝑖</m:t>
                                  </m:r>
                                </m:sub>
                              </m:sSub>
                            </m:e>
                          </m:d>
                        </m:num>
                        <m:den>
                          <m:r>
                            <a:rPr lang="en-GB" i="1" dirty="0">
                              <a:latin typeface="Cambria Math" panose="02040503050406030204" pitchFamily="18" charset="0"/>
                            </a:rPr>
                            <m:t>𝑉𝑎𝑟</m:t>
                          </m:r>
                          <m:r>
                            <a:rPr lang="en-GB" i="1" dirty="0">
                              <a:latin typeface="Cambria Math" panose="02040503050406030204" pitchFamily="18" charset="0"/>
                            </a:rPr>
                            <m:t>(</m:t>
                          </m:r>
                          <m:sSub>
                            <m:sSubPr>
                              <m:ctrlPr>
                                <a:rPr lang="en-US" i="1" dirty="0">
                                  <a:latin typeface="Cambria Math" panose="02040503050406030204" pitchFamily="18" charset="0"/>
                                </a:rPr>
                              </m:ctrlPr>
                            </m:sSubPr>
                            <m:e>
                              <m:r>
                                <a:rPr lang="el-GR" i="1" dirty="0">
                                  <a:latin typeface="Cambria Math" panose="02040503050406030204" pitchFamily="18" charset="0"/>
                                </a:rPr>
                                <m:t>𝜇</m:t>
                              </m:r>
                            </m:e>
                            <m:sub>
                              <m:r>
                                <a:rPr lang="en-GB" i="1" dirty="0" err="1">
                                  <a:latin typeface="Cambria Math" panose="02040503050406030204" pitchFamily="18" charset="0"/>
                                </a:rPr>
                                <m:t>𝑖</m:t>
                              </m:r>
                            </m:sub>
                          </m:sSub>
                          <m:r>
                            <a:rPr lang="en-GB" i="1" dirty="0">
                              <a:latin typeface="Cambria Math" panose="02040503050406030204" pitchFamily="18" charset="0"/>
                            </a:rPr>
                            <m:t>)+</m:t>
                          </m:r>
                          <m:sSup>
                            <m:sSupPr>
                              <m:ctrlPr>
                                <a:rPr lang="en-US" i="1" dirty="0">
                                  <a:latin typeface="Cambria Math" panose="02040503050406030204" pitchFamily="18" charset="0"/>
                                </a:rPr>
                              </m:ctrlPr>
                            </m:sSupPr>
                            <m:e>
                              <m:r>
                                <a:rPr lang="el-GR" i="1" dirty="0">
                                  <a:latin typeface="Cambria Math" panose="02040503050406030204" pitchFamily="18" charset="0"/>
                                </a:rPr>
                                <m:t>𝜎</m:t>
                              </m:r>
                            </m:e>
                            <m:sup>
                              <m:r>
                                <a:rPr lang="el-GR" i="1" dirty="0">
                                  <a:latin typeface="Cambria Math" panose="02040503050406030204" pitchFamily="18" charset="0"/>
                                </a:rPr>
                                <m:t>2</m:t>
                              </m:r>
                            </m:sup>
                          </m:sSup>
                        </m:den>
                      </m:f>
                    </m:oMath>
                  </m:oMathPara>
                </a14:m>
                <a:endParaRPr lang="en-GB" dirty="0"/>
              </a:p>
              <a:p>
                <a:pPr>
                  <a:lnSpc>
                    <a:spcPct val="100000"/>
                  </a:lnSpc>
                </a:pPr>
                <a:r>
                  <a:rPr lang="en-US" dirty="0"/>
                  <a:t>Higher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𝑅</m:t>
                        </m:r>
                      </m:e>
                      <m:sup>
                        <m:r>
                          <a:rPr lang="en-US" i="1" dirty="0">
                            <a:latin typeface="Cambria Math" panose="02040503050406030204" pitchFamily="18" charset="0"/>
                          </a:rPr>
                          <m:t>2</m:t>
                        </m:r>
                      </m:sup>
                    </m:sSup>
                  </m:oMath>
                </a14:m>
                <a:r>
                  <a:rPr lang="en-US" dirty="0"/>
                  <a:t> means more variance is explained by the fitted means.</a:t>
                </a:r>
              </a:p>
              <a:p>
                <a:pPr>
                  <a:lnSpc>
                    <a:spcPct val="100000"/>
                  </a:lnSpc>
                </a:pPr>
                <a:r>
                  <a:rPr lang="en-US" dirty="0"/>
                  <a:t>It does not prove the model is correct.</a:t>
                </a:r>
              </a:p>
              <a:p>
                <a:pPr>
                  <a:lnSpc>
                    <a:spcPct val="100000"/>
                  </a:lnSpc>
                </a:pPr>
                <a:r>
                  <a:rPr lang="en-US" dirty="0"/>
                  <a:t>It does not replace posterior predictive checks.</a:t>
                </a:r>
              </a:p>
              <a:p>
                <a:pPr>
                  <a:lnSpc>
                    <a:spcPct val="100000"/>
                  </a:lnSpc>
                </a:pPr>
                <a:r>
                  <a:rPr lang="en-US" dirty="0"/>
                  <a:t>It is useful for comparing simple and multiple regression summaries.</a:t>
                </a:r>
                <a:endParaRPr lang="en-GB" dirty="0"/>
              </a:p>
            </p:txBody>
          </p:sp>
        </mc:Choice>
        <mc:Fallback xmlns="">
          <p:sp>
            <p:nvSpPr>
              <p:cNvPr id="3" name="Content Placeholder 2">
                <a:extLst>
                  <a:ext uri="{FF2B5EF4-FFF2-40B4-BE49-F238E27FC236}">
                    <a16:creationId xmlns:a16="http://schemas.microsoft.com/office/drawing/2014/main" id="{732C1148-4633-F15B-D072-ADD300823318}"/>
                  </a:ext>
                </a:extLst>
              </p:cNvPr>
              <p:cNvSpPr>
                <a:spLocks noGrp="1" noRot="1" noChangeAspect="1" noMove="1" noResize="1" noEditPoints="1" noAdjustHandles="1" noChangeArrowheads="1" noChangeShapeType="1" noTextEdit="1"/>
              </p:cNvSpPr>
              <p:nvPr>
                <p:ph idx="1"/>
              </p:nvPr>
            </p:nvSpPr>
            <p:spPr>
              <a:xfrm>
                <a:off x="838200" y="1124139"/>
                <a:ext cx="10789508" cy="5378705"/>
              </a:xfrm>
              <a:blipFill>
                <a:blip r:embed="rId4"/>
                <a:stretch>
                  <a:fillRect l="-1018"/>
                </a:stretch>
              </a:blipFill>
            </p:spPr>
            <p:txBody>
              <a:bodyPr/>
              <a:lstStyle/>
              <a:p>
                <a:r>
                  <a:rPr lang="he-IL">
                    <a:noFill/>
                  </a:rPr>
                  <a:t> </a:t>
                </a:r>
              </a:p>
            </p:txBody>
          </p:sp>
        </mc:Fallback>
      </mc:AlternateContent>
    </p:spTree>
    <p:extLst>
      <p:ext uri="{BB962C8B-B14F-4D97-AF65-F5344CB8AC3E}">
        <p14:creationId xmlns:p14="http://schemas.microsoft.com/office/powerpoint/2010/main" val="38523219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B3EDA-1EAE-E76F-D330-A5A4DC68534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000B796-AE9F-69F9-FD4A-EF5256218DE1}"/>
                  </a:ext>
                </a:extLst>
              </p:cNvPr>
              <p:cNvSpPr>
                <a:spLocks noGrp="1"/>
              </p:cNvSpPr>
              <p:nvPr>
                <p:ph type="title"/>
              </p:nvPr>
            </p:nvSpPr>
            <p:spPr>
              <a:xfrm>
                <a:off x="838200" y="20997"/>
                <a:ext cx="10515600" cy="1325563"/>
              </a:xfrm>
            </p:spPr>
            <p:txBody>
              <a:bodyPr/>
              <a:lstStyle/>
              <a:p>
                <a:r>
                  <a:rPr lang="en-US" dirty="0"/>
                  <a:t>Bayesian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𝑅</m:t>
                        </m:r>
                      </m:e>
                      <m:sup>
                        <m:r>
                          <a:rPr lang="en-US" i="1" dirty="0" smtClean="0">
                            <a:latin typeface="Cambria Math" panose="02040503050406030204" pitchFamily="18" charset="0"/>
                          </a:rPr>
                          <m:t>2</m:t>
                        </m:r>
                      </m:sup>
                    </m:sSup>
                  </m:oMath>
                </a14:m>
                <a:r>
                  <a:rPr lang="en-US" dirty="0"/>
                  <a:t>  </a:t>
                </a:r>
              </a:p>
            </p:txBody>
          </p:sp>
        </mc:Choice>
        <mc:Fallback xmlns="">
          <p:sp>
            <p:nvSpPr>
              <p:cNvPr id="2" name="Title 1">
                <a:extLst>
                  <a:ext uri="{FF2B5EF4-FFF2-40B4-BE49-F238E27FC236}">
                    <a16:creationId xmlns:a16="http://schemas.microsoft.com/office/drawing/2014/main" id="{1000B796-AE9F-69F9-FD4A-EF5256218DE1}"/>
                  </a:ext>
                </a:extLst>
              </p:cNvPr>
              <p:cNvSpPr>
                <a:spLocks noGrp="1" noRot="1" noChangeAspect="1" noMove="1" noResize="1" noEditPoints="1" noAdjustHandles="1" noChangeArrowheads="1" noChangeShapeType="1" noTextEdit="1"/>
              </p:cNvSpPr>
              <p:nvPr>
                <p:ph type="title"/>
              </p:nvPr>
            </p:nvSpPr>
            <p:spPr>
              <a:xfrm>
                <a:off x="838200" y="20997"/>
                <a:ext cx="10515600" cy="1325563"/>
              </a:xfrm>
              <a:blipFill>
                <a:blip r:embed="rId3"/>
                <a:stretch>
                  <a:fillRect l="-2377"/>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DE0C19-7B0E-AE26-A853-5121B046C9A1}"/>
                  </a:ext>
                </a:extLst>
              </p:cNvPr>
              <p:cNvSpPr>
                <a:spLocks noGrp="1"/>
              </p:cNvSpPr>
              <p:nvPr>
                <p:ph idx="1"/>
              </p:nvPr>
            </p:nvSpPr>
            <p:spPr>
              <a:xfrm>
                <a:off x="838200" y="1124139"/>
                <a:ext cx="10789508" cy="5378705"/>
              </a:xfrm>
            </p:spPr>
            <p:txBody>
              <a:bodyPr>
                <a:normAutofit/>
              </a:bodyPr>
              <a:lstStyle/>
              <a:p>
                <a:pPr>
                  <a:lnSpc>
                    <a:spcPct val="150000"/>
                  </a:lnSpc>
                </a:pPr>
                <a:r>
                  <a:rPr lang="en-GB" dirty="0"/>
                  <a:t>In Bayesian regression, each posterior draw gives a different fitted mean vector  </a:t>
                </a:r>
                <a14:m>
                  <m:oMath xmlns:m="http://schemas.openxmlformats.org/officeDocument/2006/math">
                    <m:sSub>
                      <m:sSubPr>
                        <m:ctrlPr>
                          <a:rPr lang="en-US" i="1" dirty="0" smtClean="0">
                            <a:latin typeface="Cambria Math" panose="02040503050406030204" pitchFamily="18" charset="0"/>
                          </a:rPr>
                        </m:ctrlPr>
                      </m:sSubPr>
                      <m:e>
                        <m:r>
                          <a:rPr lang="el-GR" i="1" dirty="0" smtClean="0">
                            <a:latin typeface="Cambria Math" panose="02040503050406030204" pitchFamily="18" charset="0"/>
                          </a:rPr>
                          <m:t>𝜇</m:t>
                        </m:r>
                      </m:e>
                      <m:sub>
                        <m:r>
                          <a:rPr lang="en-GB" i="1" dirty="0" err="1" smtClean="0">
                            <a:latin typeface="Cambria Math" panose="02040503050406030204" pitchFamily="18" charset="0"/>
                          </a:rPr>
                          <m:t>𝑖</m:t>
                        </m:r>
                      </m:sub>
                    </m:sSub>
                    <m:r>
                      <a:rPr lang="en-GB" i="1" dirty="0" smtClean="0">
                        <a:latin typeface="Cambria Math" panose="02040503050406030204" pitchFamily="18" charset="0"/>
                      </a:rPr>
                      <m:t> </m:t>
                    </m:r>
                  </m:oMath>
                </a14:m>
                <a:r>
                  <a:rPr lang="en-GB" dirty="0"/>
                  <a:t>. </a:t>
                </a:r>
              </a:p>
              <a:p>
                <a:pPr>
                  <a:lnSpc>
                    <a:spcPct val="150000"/>
                  </a:lnSpc>
                </a:pPr>
                <a:r>
                  <a:rPr lang="en-GB" dirty="0"/>
                  <a:t>Therefore Bayesian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𝑅</m:t>
                        </m:r>
                      </m:e>
                      <m:sup>
                        <m:r>
                          <a:rPr lang="en-US" i="1" dirty="0">
                            <a:latin typeface="Cambria Math" panose="02040503050406030204" pitchFamily="18" charset="0"/>
                          </a:rPr>
                          <m:t>2</m:t>
                        </m:r>
                      </m:sup>
                    </m:sSup>
                  </m:oMath>
                </a14:m>
                <a:r>
                  <a:rPr lang="en-GB" dirty="0"/>
                  <a:t>  is a posterior distribution.</a:t>
                </a:r>
              </a:p>
              <a:p>
                <a:pPr algn="just">
                  <a:lnSpc>
                    <a:spcPct val="150000"/>
                  </a:lnSpc>
                  <a:buFont typeface="Wingdings" panose="05000000000000000000" pitchFamily="2" charset="2"/>
                  <a:buChar char="§"/>
                </a:pPr>
                <a:endParaRPr lang="en-GB" dirty="0"/>
              </a:p>
            </p:txBody>
          </p:sp>
        </mc:Choice>
        <mc:Fallback xmlns="">
          <p:sp>
            <p:nvSpPr>
              <p:cNvPr id="3" name="Content Placeholder 2">
                <a:extLst>
                  <a:ext uri="{FF2B5EF4-FFF2-40B4-BE49-F238E27FC236}">
                    <a16:creationId xmlns:a16="http://schemas.microsoft.com/office/drawing/2014/main" id="{02DE0C19-7B0E-AE26-A853-5121B046C9A1}"/>
                  </a:ext>
                </a:extLst>
              </p:cNvPr>
              <p:cNvSpPr>
                <a:spLocks noGrp="1" noRot="1" noChangeAspect="1" noMove="1" noResize="1" noEditPoints="1" noAdjustHandles="1" noChangeArrowheads="1" noChangeShapeType="1" noTextEdit="1"/>
              </p:cNvSpPr>
              <p:nvPr>
                <p:ph idx="1"/>
              </p:nvPr>
            </p:nvSpPr>
            <p:spPr>
              <a:xfrm>
                <a:off x="838200" y="1124139"/>
                <a:ext cx="10789508" cy="5378705"/>
              </a:xfrm>
              <a:blipFill>
                <a:blip r:embed="rId4"/>
                <a:stretch>
                  <a:fillRect l="-1018"/>
                </a:stretch>
              </a:blipFill>
            </p:spPr>
            <p:txBody>
              <a:bodyPr/>
              <a:lstStyle/>
              <a:p>
                <a:r>
                  <a:rPr lang="he-IL">
                    <a:noFill/>
                  </a:rPr>
                  <a:t> </a:t>
                </a:r>
              </a:p>
            </p:txBody>
          </p:sp>
        </mc:Fallback>
      </mc:AlternateContent>
    </p:spTree>
    <p:extLst>
      <p:ext uri="{BB962C8B-B14F-4D97-AF65-F5344CB8AC3E}">
        <p14:creationId xmlns:p14="http://schemas.microsoft.com/office/powerpoint/2010/main" val="15484071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597E33D-1E5E-B1CA-60B7-A6A26EE41D7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C0CEA0C-CEB5-DC66-0586-BA537AE9BAA3}"/>
                  </a:ext>
                </a:extLst>
              </p:cNvPr>
              <p:cNvSpPr>
                <a:spLocks noGrp="1"/>
              </p:cNvSpPr>
              <p:nvPr>
                <p:ph type="title"/>
              </p:nvPr>
            </p:nvSpPr>
            <p:spPr>
              <a:xfrm>
                <a:off x="838200" y="20997"/>
                <a:ext cx="10515600" cy="1325563"/>
              </a:xfrm>
            </p:spPr>
            <p:txBody>
              <a:bodyPr/>
              <a:lstStyle/>
              <a:p>
                <a:r>
                  <a:rPr lang="en-US" dirty="0"/>
                  <a:t>Bayesian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𝑅</m:t>
                        </m:r>
                      </m:e>
                      <m:sup>
                        <m:r>
                          <a:rPr lang="en-US" i="1" dirty="0" smtClean="0">
                            <a:latin typeface="Cambria Math" panose="02040503050406030204" pitchFamily="18" charset="0"/>
                          </a:rPr>
                          <m:t>2</m:t>
                        </m:r>
                      </m:sup>
                    </m:sSup>
                  </m:oMath>
                </a14:m>
                <a:r>
                  <a:rPr lang="en-US" dirty="0"/>
                  <a:t>  </a:t>
                </a:r>
              </a:p>
            </p:txBody>
          </p:sp>
        </mc:Choice>
        <mc:Fallback xmlns="">
          <p:sp>
            <p:nvSpPr>
              <p:cNvPr id="2" name="Title 1">
                <a:extLst>
                  <a:ext uri="{FF2B5EF4-FFF2-40B4-BE49-F238E27FC236}">
                    <a16:creationId xmlns:a16="http://schemas.microsoft.com/office/drawing/2014/main" id="{AC0CEA0C-CEB5-DC66-0586-BA537AE9BAA3}"/>
                  </a:ext>
                </a:extLst>
              </p:cNvPr>
              <p:cNvSpPr>
                <a:spLocks noGrp="1" noRot="1" noChangeAspect="1" noMove="1" noResize="1" noEditPoints="1" noAdjustHandles="1" noChangeArrowheads="1" noChangeShapeType="1" noTextEdit="1"/>
              </p:cNvSpPr>
              <p:nvPr>
                <p:ph type="title"/>
              </p:nvPr>
            </p:nvSpPr>
            <p:spPr>
              <a:xfrm>
                <a:off x="838200" y="20997"/>
                <a:ext cx="10515600" cy="1325563"/>
              </a:xfrm>
              <a:blipFill>
                <a:blip r:embed="rId3"/>
                <a:stretch>
                  <a:fillRect l="-2377"/>
                </a:stretch>
              </a:blipFill>
            </p:spPr>
            <p:txBody>
              <a:bodyPr/>
              <a:lstStyle/>
              <a:p>
                <a:r>
                  <a:rPr lang="he-IL">
                    <a:noFill/>
                  </a:rPr>
                  <a:t> </a:t>
                </a:r>
              </a:p>
            </p:txBody>
          </p:sp>
        </mc:Fallback>
      </mc:AlternateContent>
      <p:pic>
        <p:nvPicPr>
          <p:cNvPr id="7" name="Picture 6">
            <a:extLst>
              <a:ext uri="{FF2B5EF4-FFF2-40B4-BE49-F238E27FC236}">
                <a16:creationId xmlns:a16="http://schemas.microsoft.com/office/drawing/2014/main" id="{9151A991-154C-090C-85B0-A71AD1E794F6}"/>
              </a:ext>
            </a:extLst>
          </p:cNvPr>
          <p:cNvPicPr>
            <a:picLocks noChangeAspect="1"/>
          </p:cNvPicPr>
          <p:nvPr/>
        </p:nvPicPr>
        <p:blipFill>
          <a:blip r:embed="rId4"/>
          <a:stretch>
            <a:fillRect/>
          </a:stretch>
        </p:blipFill>
        <p:spPr>
          <a:xfrm>
            <a:off x="1207289" y="1727200"/>
            <a:ext cx="9777422" cy="4201868"/>
          </a:xfrm>
          <a:prstGeom prst="rect">
            <a:avLst/>
          </a:prstGeom>
        </p:spPr>
      </p:pic>
    </p:spTree>
    <p:extLst>
      <p:ext uri="{BB962C8B-B14F-4D97-AF65-F5344CB8AC3E}">
        <p14:creationId xmlns:p14="http://schemas.microsoft.com/office/powerpoint/2010/main" val="14466104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3E11A-FA52-4839-0449-DFFC8872706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955B855-171F-B6E2-4C5B-C133FB4A6514}"/>
                  </a:ext>
                </a:extLst>
              </p:cNvPr>
              <p:cNvSpPr>
                <a:spLocks noGrp="1"/>
              </p:cNvSpPr>
              <p:nvPr>
                <p:ph type="title"/>
              </p:nvPr>
            </p:nvSpPr>
            <p:spPr>
              <a:xfrm>
                <a:off x="838200" y="20997"/>
                <a:ext cx="10515600" cy="1325563"/>
              </a:xfrm>
            </p:spPr>
            <p:txBody>
              <a:bodyPr/>
              <a:lstStyle/>
              <a:p>
                <a:r>
                  <a:rPr lang="en-US" dirty="0"/>
                  <a:t>Bayesian  </a:t>
                </a:r>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𝑅</m:t>
                        </m:r>
                      </m:e>
                      <m:sup>
                        <m:r>
                          <a:rPr lang="en-US" i="1" dirty="0" smtClean="0">
                            <a:latin typeface="Cambria Math" panose="02040503050406030204" pitchFamily="18" charset="0"/>
                          </a:rPr>
                          <m:t>2</m:t>
                        </m:r>
                      </m:sup>
                    </m:sSup>
                  </m:oMath>
                </a14:m>
                <a:r>
                  <a:rPr lang="en-US" dirty="0"/>
                  <a:t>  </a:t>
                </a:r>
              </a:p>
            </p:txBody>
          </p:sp>
        </mc:Choice>
        <mc:Fallback xmlns="">
          <p:sp>
            <p:nvSpPr>
              <p:cNvPr id="2" name="Title 1">
                <a:extLst>
                  <a:ext uri="{FF2B5EF4-FFF2-40B4-BE49-F238E27FC236}">
                    <a16:creationId xmlns:a16="http://schemas.microsoft.com/office/drawing/2014/main" id="{8955B855-171F-B6E2-4C5B-C133FB4A6514}"/>
                  </a:ext>
                </a:extLst>
              </p:cNvPr>
              <p:cNvSpPr>
                <a:spLocks noGrp="1" noRot="1" noChangeAspect="1" noMove="1" noResize="1" noEditPoints="1" noAdjustHandles="1" noChangeArrowheads="1" noChangeShapeType="1" noTextEdit="1"/>
              </p:cNvSpPr>
              <p:nvPr>
                <p:ph type="title"/>
              </p:nvPr>
            </p:nvSpPr>
            <p:spPr>
              <a:xfrm>
                <a:off x="838200" y="20997"/>
                <a:ext cx="10515600" cy="1325563"/>
              </a:xfrm>
              <a:blipFill>
                <a:blip r:embed="rId3"/>
                <a:stretch>
                  <a:fillRect l="-2377"/>
                </a:stretch>
              </a:blipFill>
            </p:spPr>
            <p:txBody>
              <a:bodyPr/>
              <a:lstStyle/>
              <a:p>
                <a:r>
                  <a:rPr lang="he-IL">
                    <a:noFill/>
                  </a:rPr>
                  <a:t> </a:t>
                </a:r>
              </a:p>
            </p:txBody>
          </p:sp>
        </mc:Fallback>
      </mc:AlternateContent>
      <p:pic>
        <p:nvPicPr>
          <p:cNvPr id="5" name="Picture 4">
            <a:extLst>
              <a:ext uri="{FF2B5EF4-FFF2-40B4-BE49-F238E27FC236}">
                <a16:creationId xmlns:a16="http://schemas.microsoft.com/office/drawing/2014/main" id="{A1E48CA1-2A6C-E815-4099-DBE8B6BBB027}"/>
              </a:ext>
            </a:extLst>
          </p:cNvPr>
          <p:cNvPicPr>
            <a:picLocks noChangeAspect="1"/>
          </p:cNvPicPr>
          <p:nvPr/>
        </p:nvPicPr>
        <p:blipFill>
          <a:blip r:embed="rId4"/>
          <a:stretch>
            <a:fillRect/>
          </a:stretch>
        </p:blipFill>
        <p:spPr>
          <a:xfrm>
            <a:off x="602901" y="1517513"/>
            <a:ext cx="9061540" cy="684697"/>
          </a:xfrm>
          <a:prstGeom prst="rect">
            <a:avLst/>
          </a:prstGeom>
        </p:spPr>
      </p:pic>
      <p:pic>
        <p:nvPicPr>
          <p:cNvPr id="9218" name="Picture 2">
            <a:extLst>
              <a:ext uri="{FF2B5EF4-FFF2-40B4-BE49-F238E27FC236}">
                <a16:creationId xmlns:a16="http://schemas.microsoft.com/office/drawing/2014/main" id="{63475AA4-4391-4553-CC95-F9D66F17E5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3671" y="2510663"/>
            <a:ext cx="6806345" cy="429025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AB004FE-C2BB-CFD7-A110-A3F19B24980B}"/>
              </a:ext>
            </a:extLst>
          </p:cNvPr>
          <p:cNvPicPr>
            <a:picLocks noChangeAspect="1"/>
          </p:cNvPicPr>
          <p:nvPr/>
        </p:nvPicPr>
        <p:blipFill>
          <a:blip r:embed="rId6"/>
          <a:stretch>
            <a:fillRect/>
          </a:stretch>
        </p:blipFill>
        <p:spPr>
          <a:xfrm>
            <a:off x="602901" y="2413352"/>
            <a:ext cx="4578744" cy="1015648"/>
          </a:xfrm>
          <a:prstGeom prst="rect">
            <a:avLst/>
          </a:prstGeom>
        </p:spPr>
      </p:pic>
    </p:spTree>
    <p:extLst>
      <p:ext uri="{BB962C8B-B14F-4D97-AF65-F5344CB8AC3E}">
        <p14:creationId xmlns:p14="http://schemas.microsoft.com/office/powerpoint/2010/main" val="26781839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BCF36-5625-EB17-D0C3-0DAA378D6A6E}"/>
            </a:ext>
          </a:extLst>
        </p:cNvPr>
        <p:cNvGrpSpPr/>
        <p:nvPr/>
      </p:nvGrpSpPr>
      <p:grpSpPr>
        <a:xfrm>
          <a:off x="0" y="0"/>
          <a:ext cx="0" cy="0"/>
          <a:chOff x="0" y="0"/>
          <a:chExt cx="0" cy="0"/>
        </a:xfrm>
      </p:grpSpPr>
      <p:sp>
        <p:nvSpPr>
          <p:cNvPr id="4" name="תיבת טקסט 3">
            <a:extLst>
              <a:ext uri="{FF2B5EF4-FFF2-40B4-BE49-F238E27FC236}">
                <a16:creationId xmlns:a16="http://schemas.microsoft.com/office/drawing/2014/main" id="{3D11A59C-962D-26FB-B57E-841178042EBF}"/>
              </a:ext>
            </a:extLst>
          </p:cNvPr>
          <p:cNvSpPr txBox="1"/>
          <p:nvPr/>
        </p:nvSpPr>
        <p:spPr>
          <a:xfrm>
            <a:off x="3048838" y="5674763"/>
            <a:ext cx="6094324" cy="472502"/>
          </a:xfrm>
          <a:prstGeom prst="rect">
            <a:avLst/>
          </a:prstGeom>
          <a:noFill/>
        </p:spPr>
        <p:txBody>
          <a:bodyPr wrap="square">
            <a:spAutoFit/>
          </a:bodyPr>
          <a:lstStyle/>
          <a:p>
            <a:pPr algn="ctr">
              <a:lnSpc>
                <a:spcPct val="150000"/>
              </a:lnSpc>
            </a:pPr>
            <a:r>
              <a:rPr lang="en-GB" dirty="0">
                <a:latin typeface="David" panose="020E0502060401010101" pitchFamily="34" charset="-79"/>
                <a:hlinkClick r:id="rId2"/>
              </a:rPr>
              <a:t>https://bambinos.github.io/bambi/</a:t>
            </a:r>
            <a:endParaRPr lang="en-GB" dirty="0">
              <a:latin typeface="David" panose="020E0502060401010101" pitchFamily="34" charset="-79"/>
            </a:endParaRPr>
          </a:p>
        </p:txBody>
      </p:sp>
      <p:pic>
        <p:nvPicPr>
          <p:cNvPr id="6" name="Picture 5">
            <a:extLst>
              <a:ext uri="{FF2B5EF4-FFF2-40B4-BE49-F238E27FC236}">
                <a16:creationId xmlns:a16="http://schemas.microsoft.com/office/drawing/2014/main" id="{F8D75167-98AF-7050-94A5-45E5E3CC5808}"/>
              </a:ext>
            </a:extLst>
          </p:cNvPr>
          <p:cNvPicPr>
            <a:picLocks noChangeAspect="1"/>
          </p:cNvPicPr>
          <p:nvPr/>
        </p:nvPicPr>
        <p:blipFill>
          <a:blip r:embed="rId3"/>
          <a:stretch>
            <a:fillRect/>
          </a:stretch>
        </p:blipFill>
        <p:spPr>
          <a:xfrm>
            <a:off x="2446585" y="715352"/>
            <a:ext cx="7298829" cy="4683063"/>
          </a:xfrm>
          <a:prstGeom prst="rect">
            <a:avLst/>
          </a:prstGeom>
        </p:spPr>
      </p:pic>
    </p:spTree>
    <p:extLst>
      <p:ext uri="{BB962C8B-B14F-4D97-AF65-F5344CB8AC3E}">
        <p14:creationId xmlns:p14="http://schemas.microsoft.com/office/powerpoint/2010/main" val="36201845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EEE8B-7ECB-3C86-D745-2C1339FD2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F7AF01-F505-5338-7921-128CE8D8F9AB}"/>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A329AA03-214A-92DB-84E1-7DC455E78BA9}"/>
              </a:ext>
            </a:extLst>
          </p:cNvPr>
          <p:cNvSpPr>
            <a:spLocks noGrp="1"/>
          </p:cNvSpPr>
          <p:nvPr>
            <p:ph idx="1"/>
          </p:nvPr>
        </p:nvSpPr>
        <p:spPr>
          <a:xfrm>
            <a:off x="838200" y="1346560"/>
            <a:ext cx="10515600" cy="5378705"/>
          </a:xfrm>
        </p:spPr>
        <p:txBody>
          <a:bodyPr>
            <a:normAutofit/>
          </a:bodyPr>
          <a:lstStyle/>
          <a:p>
            <a:pPr>
              <a:lnSpc>
                <a:spcPct val="150000"/>
              </a:lnSpc>
              <a:buFont typeface="Wingdings" panose="05000000000000000000" pitchFamily="2" charset="2"/>
              <a:buChar char="§"/>
            </a:pPr>
            <a:r>
              <a:rPr lang="en-GB" dirty="0"/>
              <a:t>A high-level Bayesian model-building interface written on top of </a:t>
            </a:r>
            <a:r>
              <a:rPr lang="en-GB" dirty="0" err="1"/>
              <a:t>PyMC</a:t>
            </a:r>
            <a:r>
              <a:rPr lang="en-GB" dirty="0"/>
              <a:t>. </a:t>
            </a:r>
          </a:p>
          <a:p>
            <a:pPr>
              <a:lnSpc>
                <a:spcPct val="150000"/>
              </a:lnSpc>
              <a:buFont typeface="Wingdings" panose="05000000000000000000" pitchFamily="2" charset="2"/>
              <a:buChar char="§"/>
            </a:pPr>
            <a:r>
              <a:rPr lang="en-GB" dirty="0"/>
              <a:t>Designed to make it extremely easy to fit linear models.</a:t>
            </a:r>
          </a:p>
          <a:p>
            <a:pPr>
              <a:lnSpc>
                <a:spcPct val="150000"/>
              </a:lnSpc>
              <a:buFont typeface="Wingdings" panose="05000000000000000000" pitchFamily="2" charset="2"/>
              <a:buChar char="§"/>
            </a:pPr>
            <a:endParaRPr lang="en-GB" dirty="0"/>
          </a:p>
        </p:txBody>
      </p:sp>
    </p:spTree>
    <p:extLst>
      <p:ext uri="{BB962C8B-B14F-4D97-AF65-F5344CB8AC3E}">
        <p14:creationId xmlns:p14="http://schemas.microsoft.com/office/powerpoint/2010/main" val="36094571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E5D11-3FB7-BB8F-560B-ED633EE14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0C4F8-590C-1A14-094A-D787D15B3C8B}"/>
              </a:ext>
            </a:extLst>
          </p:cNvPr>
          <p:cNvSpPr>
            <a:spLocks noGrp="1"/>
          </p:cNvSpPr>
          <p:nvPr>
            <p:ph type="title"/>
          </p:nvPr>
        </p:nvSpPr>
        <p:spPr>
          <a:xfrm>
            <a:off x="838200" y="20997"/>
            <a:ext cx="10515600" cy="1325563"/>
          </a:xfrm>
        </p:spPr>
        <p:txBody>
          <a:bodyPr/>
          <a:lstStyle/>
          <a:p>
            <a:r>
              <a:rPr lang="en-US" dirty="0" err="1"/>
              <a:t>PyMC</a:t>
            </a:r>
            <a:r>
              <a:rPr lang="en-US" dirty="0"/>
              <a:t> vs. Bambi</a:t>
            </a:r>
          </a:p>
        </p:txBody>
      </p:sp>
      <p:sp>
        <p:nvSpPr>
          <p:cNvPr id="3" name="Content Placeholder 2">
            <a:extLst>
              <a:ext uri="{FF2B5EF4-FFF2-40B4-BE49-F238E27FC236}">
                <a16:creationId xmlns:a16="http://schemas.microsoft.com/office/drawing/2014/main" id="{3E96771A-4A61-F350-B09C-F31768D5AB9A}"/>
              </a:ext>
            </a:extLst>
          </p:cNvPr>
          <p:cNvSpPr>
            <a:spLocks noGrp="1"/>
          </p:cNvSpPr>
          <p:nvPr>
            <p:ph idx="1"/>
          </p:nvPr>
        </p:nvSpPr>
        <p:spPr>
          <a:xfrm>
            <a:off x="838200" y="1226518"/>
            <a:ext cx="10515600" cy="5194379"/>
          </a:xfrm>
        </p:spPr>
        <p:txBody>
          <a:bodyPr>
            <a:normAutofit fontScale="92500" lnSpcReduction="20000"/>
          </a:bodyPr>
          <a:lstStyle/>
          <a:p>
            <a:pPr>
              <a:lnSpc>
                <a:spcPct val="150000"/>
              </a:lnSpc>
            </a:pPr>
            <a:r>
              <a:rPr lang="en-GB" dirty="0"/>
              <a:t>Simple linear regression with </a:t>
            </a:r>
            <a:r>
              <a:rPr lang="en-GB" dirty="0" err="1"/>
              <a:t>PyMC</a:t>
            </a:r>
            <a:endParaRPr lang="en-GB" dirty="0"/>
          </a:p>
          <a:p>
            <a:pPr>
              <a:lnSpc>
                <a:spcPct val="150000"/>
              </a:lnSpc>
            </a:pPr>
            <a:endParaRPr lang="en-GB" dirty="0"/>
          </a:p>
          <a:p>
            <a:pPr>
              <a:lnSpc>
                <a:spcPct val="150000"/>
              </a:lnSpc>
            </a:pPr>
            <a:endParaRPr lang="en-GB" dirty="0"/>
          </a:p>
          <a:p>
            <a:pPr>
              <a:lnSpc>
                <a:spcPct val="150000"/>
              </a:lnSpc>
            </a:pPr>
            <a:endParaRPr lang="en-GB" dirty="0"/>
          </a:p>
          <a:p>
            <a:pPr>
              <a:lnSpc>
                <a:spcPct val="150000"/>
              </a:lnSpc>
            </a:pPr>
            <a:endParaRPr lang="en-GB" dirty="0"/>
          </a:p>
          <a:p>
            <a:pPr>
              <a:lnSpc>
                <a:spcPct val="150000"/>
              </a:lnSpc>
            </a:pPr>
            <a:r>
              <a:rPr lang="en-GB" dirty="0"/>
              <a:t>With Bambi:</a:t>
            </a:r>
          </a:p>
          <a:p>
            <a:pPr marL="0" indent="0">
              <a:lnSpc>
                <a:spcPct val="150000"/>
              </a:lnSpc>
              <a:buNone/>
            </a:pPr>
            <a:endParaRPr lang="en-GB" dirty="0"/>
          </a:p>
          <a:p>
            <a:pPr lvl="1">
              <a:lnSpc>
                <a:spcPct val="150000"/>
              </a:lnSpc>
            </a:pPr>
            <a:r>
              <a:rPr lang="en-GB" dirty="0"/>
              <a:t>The dependent variable is on the left and the independent on the right.</a:t>
            </a:r>
          </a:p>
        </p:txBody>
      </p:sp>
      <p:pic>
        <p:nvPicPr>
          <p:cNvPr id="4" name="Picture 3">
            <a:extLst>
              <a:ext uri="{FF2B5EF4-FFF2-40B4-BE49-F238E27FC236}">
                <a16:creationId xmlns:a16="http://schemas.microsoft.com/office/drawing/2014/main" id="{A887B548-1789-FE55-BA99-FD51C576EC02}"/>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692172" y="0"/>
            <a:ext cx="4369200" cy="3848519"/>
          </a:xfrm>
          <a:prstGeom prst="rect">
            <a:avLst/>
          </a:prstGeom>
        </p:spPr>
      </p:pic>
      <p:pic>
        <p:nvPicPr>
          <p:cNvPr id="5" name="Picture 4">
            <a:extLst>
              <a:ext uri="{FF2B5EF4-FFF2-40B4-BE49-F238E27FC236}">
                <a16:creationId xmlns:a16="http://schemas.microsoft.com/office/drawing/2014/main" id="{0C15A28C-65C9-17DD-DE17-B45FFD7D6FC4}"/>
              </a:ext>
            </a:extLst>
          </p:cNvPr>
          <p:cNvPicPr>
            <a:picLocks noChangeAspect="1"/>
          </p:cNvPicPr>
          <p:nvPr/>
        </p:nvPicPr>
        <p:blipFill>
          <a:blip r:embed="rId4"/>
          <a:srcRect b="21136"/>
          <a:stretch>
            <a:fillRect/>
          </a:stretch>
        </p:blipFill>
        <p:spPr>
          <a:xfrm>
            <a:off x="863641" y="1924259"/>
            <a:ext cx="8187349" cy="2405503"/>
          </a:xfrm>
          <a:prstGeom prst="rect">
            <a:avLst/>
          </a:prstGeom>
        </p:spPr>
      </p:pic>
      <p:pic>
        <p:nvPicPr>
          <p:cNvPr id="9" name="Picture 8">
            <a:extLst>
              <a:ext uri="{FF2B5EF4-FFF2-40B4-BE49-F238E27FC236}">
                <a16:creationId xmlns:a16="http://schemas.microsoft.com/office/drawing/2014/main" id="{2E7F0C2C-4829-6950-9643-B8A78D9B0B36}"/>
              </a:ext>
            </a:extLst>
          </p:cNvPr>
          <p:cNvPicPr>
            <a:picLocks noChangeAspect="1"/>
          </p:cNvPicPr>
          <p:nvPr/>
        </p:nvPicPr>
        <p:blipFill>
          <a:blip r:embed="rId5"/>
          <a:srcRect t="16703"/>
          <a:stretch>
            <a:fillRect/>
          </a:stretch>
        </p:blipFill>
        <p:spPr>
          <a:xfrm>
            <a:off x="863641" y="5225143"/>
            <a:ext cx="7725815" cy="310140"/>
          </a:xfrm>
          <a:prstGeom prst="rect">
            <a:avLst/>
          </a:prstGeom>
        </p:spPr>
      </p:pic>
    </p:spTree>
    <p:extLst>
      <p:ext uri="{BB962C8B-B14F-4D97-AF65-F5344CB8AC3E}">
        <p14:creationId xmlns:p14="http://schemas.microsoft.com/office/powerpoint/2010/main" val="1211906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5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5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2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9509D-B636-760F-9613-2A6EDA7FA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F2859-736D-1355-72A1-BF3D4F849360}"/>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79CC7AD0-6D00-33CE-31FD-7A9118DA4A9B}"/>
              </a:ext>
            </a:extLst>
          </p:cNvPr>
          <p:cNvSpPr>
            <a:spLocks noGrp="1"/>
          </p:cNvSpPr>
          <p:nvPr>
            <p:ph idx="1"/>
          </p:nvPr>
        </p:nvSpPr>
        <p:spPr>
          <a:xfrm>
            <a:off x="838200" y="1346560"/>
            <a:ext cx="10515600" cy="5378705"/>
          </a:xfrm>
        </p:spPr>
        <p:txBody>
          <a:bodyPr>
            <a:normAutofit/>
          </a:bodyPr>
          <a:lstStyle/>
          <a:p>
            <a:pPr>
              <a:lnSpc>
                <a:spcPct val="150000"/>
              </a:lnSpc>
            </a:pPr>
            <a:r>
              <a:rPr lang="en-GB" dirty="0"/>
              <a:t>What is </a:t>
            </a:r>
            <a:r>
              <a:rPr lang="en-GB" dirty="0" err="1"/>
              <a:t>bambi</a:t>
            </a:r>
            <a:r>
              <a:rPr lang="en-GB" dirty="0"/>
              <a:t> doing?</a:t>
            </a:r>
          </a:p>
          <a:p>
            <a:pPr marL="514350" indent="-514350">
              <a:lnSpc>
                <a:spcPct val="150000"/>
              </a:lnSpc>
              <a:buFont typeface="Arial" panose="020B0604020202020204" pitchFamily="34" charset="0"/>
              <a:buAutoNum type="arabicPeriod"/>
            </a:pPr>
            <a:r>
              <a:rPr lang="en-US" dirty="0"/>
              <a:t>Bambi always standardize the data before modeling</a:t>
            </a:r>
            <a:endParaRPr lang="en-GB" dirty="0"/>
          </a:p>
          <a:p>
            <a:pPr marL="514350" indent="-514350">
              <a:lnSpc>
                <a:spcPct val="150000"/>
              </a:lnSpc>
              <a:buAutoNum type="arabicPeriod"/>
            </a:pPr>
            <a:r>
              <a:rPr lang="en-GB" dirty="0"/>
              <a:t>Bambi assumes the likelihood is gaussian (can be changed).</a:t>
            </a:r>
          </a:p>
          <a:p>
            <a:pPr marL="514350" indent="-514350">
              <a:lnSpc>
                <a:spcPct val="150000"/>
              </a:lnSpc>
              <a:buAutoNum type="arabicPeriod"/>
            </a:pPr>
            <a:r>
              <a:rPr lang="en-GB" dirty="0"/>
              <a:t>We only specified how the dependent and independent variables are related.</a:t>
            </a:r>
          </a:p>
          <a:p>
            <a:pPr marL="514350" indent="-514350">
              <a:lnSpc>
                <a:spcPct val="150000"/>
              </a:lnSpc>
              <a:buAutoNum type="arabicPeriod"/>
            </a:pPr>
            <a:r>
              <a:rPr lang="en-GB" dirty="0"/>
              <a:t>Bambi automatically defines weakly informative priors.  </a:t>
            </a:r>
            <a:endParaRPr lang="en-US" dirty="0"/>
          </a:p>
          <a:p>
            <a:pPr>
              <a:lnSpc>
                <a:spcPct val="150000"/>
              </a:lnSpc>
              <a:buFont typeface="Wingdings" panose="05000000000000000000" pitchFamily="2" charset="2"/>
              <a:buChar char="§"/>
            </a:pPr>
            <a:endParaRPr lang="en-GB" dirty="0"/>
          </a:p>
        </p:txBody>
      </p:sp>
    </p:spTree>
    <p:extLst>
      <p:ext uri="{BB962C8B-B14F-4D97-AF65-F5344CB8AC3E}">
        <p14:creationId xmlns:p14="http://schemas.microsoft.com/office/powerpoint/2010/main" val="2865208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25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5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A5444-C4D7-2D66-B4AA-FA2B158E772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D7B6743-1267-262E-7296-D6A4BFA27B62}"/>
              </a:ext>
            </a:extLst>
          </p:cNvPr>
          <p:cNvPicPr>
            <a:picLocks noChangeAspect="1"/>
          </p:cNvPicPr>
          <p:nvPr/>
        </p:nvPicPr>
        <p:blipFill>
          <a:blip r:embed="rId3"/>
          <a:srcRect t="26152"/>
          <a:stretch>
            <a:fillRect/>
          </a:stretch>
        </p:blipFill>
        <p:spPr>
          <a:xfrm>
            <a:off x="515304" y="2461845"/>
            <a:ext cx="8979184" cy="3541059"/>
          </a:xfrm>
          <a:prstGeom prst="rect">
            <a:avLst/>
          </a:prstGeom>
        </p:spPr>
      </p:pic>
      <p:sp>
        <p:nvSpPr>
          <p:cNvPr id="2" name="Title 1">
            <a:extLst>
              <a:ext uri="{FF2B5EF4-FFF2-40B4-BE49-F238E27FC236}">
                <a16:creationId xmlns:a16="http://schemas.microsoft.com/office/drawing/2014/main" id="{11F7667D-5FD3-2356-A260-325F41F09566}"/>
              </a:ext>
            </a:extLst>
          </p:cNvPr>
          <p:cNvSpPr>
            <a:spLocks noGrp="1"/>
          </p:cNvSpPr>
          <p:nvPr>
            <p:ph type="title"/>
          </p:nvPr>
        </p:nvSpPr>
        <p:spPr>
          <a:xfrm>
            <a:off x="838200" y="20997"/>
            <a:ext cx="10515600" cy="1325563"/>
          </a:xfrm>
        </p:spPr>
        <p:txBody>
          <a:bodyPr/>
          <a:lstStyle/>
          <a:p>
            <a:r>
              <a:rPr lang="en-US" dirty="0"/>
              <a:t>Bambi</a:t>
            </a:r>
          </a:p>
        </p:txBody>
      </p:sp>
      <p:sp>
        <p:nvSpPr>
          <p:cNvPr id="6" name="TextBox 5">
            <a:extLst>
              <a:ext uri="{FF2B5EF4-FFF2-40B4-BE49-F238E27FC236}">
                <a16:creationId xmlns:a16="http://schemas.microsoft.com/office/drawing/2014/main" id="{B02D39F3-9689-0CBF-2B3F-9210C9C13B0E}"/>
              </a:ext>
            </a:extLst>
          </p:cNvPr>
          <p:cNvSpPr txBox="1"/>
          <p:nvPr/>
        </p:nvSpPr>
        <p:spPr>
          <a:xfrm>
            <a:off x="7606602" y="1525732"/>
            <a:ext cx="2561814" cy="923330"/>
          </a:xfrm>
          <a:prstGeom prst="rect">
            <a:avLst/>
          </a:prstGeom>
          <a:noFill/>
          <a:ln>
            <a:solidFill>
              <a:srgbClr val="C00000"/>
            </a:solidFill>
          </a:ln>
        </p:spPr>
        <p:txBody>
          <a:bodyPr wrap="square" rtlCol="0">
            <a:spAutoFit/>
          </a:bodyPr>
          <a:lstStyle/>
          <a:p>
            <a:r>
              <a:rPr lang="en-GB" dirty="0">
                <a:solidFill>
                  <a:srgbClr val="C00000"/>
                </a:solidFill>
                <a:latin typeface="David" panose="020E0502060401010101" pitchFamily="34" charset="-79"/>
              </a:rPr>
              <a:t>Relationship between dependent and independent variables</a:t>
            </a:r>
            <a:endParaRPr lang="LID4096" dirty="0">
              <a:solidFill>
                <a:srgbClr val="C00000"/>
              </a:solidFill>
              <a:latin typeface="David" panose="020E0502060401010101" pitchFamily="34" charset="-79"/>
            </a:endParaRPr>
          </a:p>
        </p:txBody>
      </p:sp>
      <p:sp>
        <p:nvSpPr>
          <p:cNvPr id="8" name="TextBox 7">
            <a:extLst>
              <a:ext uri="{FF2B5EF4-FFF2-40B4-BE49-F238E27FC236}">
                <a16:creationId xmlns:a16="http://schemas.microsoft.com/office/drawing/2014/main" id="{40F31071-9E30-421A-EEF9-B25CD3E79B58}"/>
              </a:ext>
            </a:extLst>
          </p:cNvPr>
          <p:cNvSpPr txBox="1"/>
          <p:nvPr/>
        </p:nvSpPr>
        <p:spPr>
          <a:xfrm>
            <a:off x="5801518" y="2772892"/>
            <a:ext cx="1379836" cy="369332"/>
          </a:xfrm>
          <a:prstGeom prst="rect">
            <a:avLst/>
          </a:prstGeom>
          <a:noFill/>
          <a:ln>
            <a:solidFill>
              <a:srgbClr val="002060"/>
            </a:solidFill>
          </a:ln>
        </p:spPr>
        <p:txBody>
          <a:bodyPr wrap="square" rtlCol="0">
            <a:spAutoFit/>
          </a:bodyPr>
          <a:lstStyle/>
          <a:p>
            <a:pPr algn="ctr"/>
            <a:r>
              <a:rPr lang="en-GB" dirty="0">
                <a:solidFill>
                  <a:srgbClr val="002060"/>
                </a:solidFill>
                <a:latin typeface="David" panose="020E0502060401010101" pitchFamily="34" charset="-79"/>
              </a:rPr>
              <a:t>Likelihood</a:t>
            </a:r>
            <a:endParaRPr lang="LID4096" dirty="0">
              <a:solidFill>
                <a:srgbClr val="002060"/>
              </a:solidFill>
              <a:latin typeface="David" panose="020E0502060401010101" pitchFamily="34" charset="-79"/>
            </a:endParaRPr>
          </a:p>
        </p:txBody>
      </p:sp>
      <p:sp>
        <p:nvSpPr>
          <p:cNvPr id="9" name="TextBox 8">
            <a:extLst>
              <a:ext uri="{FF2B5EF4-FFF2-40B4-BE49-F238E27FC236}">
                <a16:creationId xmlns:a16="http://schemas.microsoft.com/office/drawing/2014/main" id="{1B7194FD-0B94-0C6A-61EF-143A9A67273F}"/>
              </a:ext>
            </a:extLst>
          </p:cNvPr>
          <p:cNvSpPr txBox="1"/>
          <p:nvPr/>
        </p:nvSpPr>
        <p:spPr>
          <a:xfrm>
            <a:off x="8271232" y="3049891"/>
            <a:ext cx="3103503" cy="369332"/>
          </a:xfrm>
          <a:prstGeom prst="rect">
            <a:avLst/>
          </a:prstGeom>
          <a:noFill/>
          <a:ln>
            <a:solidFill>
              <a:schemeClr val="accent6">
                <a:lumMod val="75000"/>
              </a:schemeClr>
            </a:solidFill>
          </a:ln>
        </p:spPr>
        <p:txBody>
          <a:bodyPr wrap="square" rtlCol="0">
            <a:spAutoFit/>
          </a:bodyPr>
          <a:lstStyle/>
          <a:p>
            <a:pPr algn="ctr"/>
            <a:r>
              <a:rPr lang="en-GB" dirty="0">
                <a:solidFill>
                  <a:schemeClr val="accent6">
                    <a:lumMod val="75000"/>
                  </a:schemeClr>
                </a:solidFill>
                <a:latin typeface="David" panose="020E0502060401010101" pitchFamily="34" charset="-79"/>
              </a:rPr>
              <a:t>Corresponding link function</a:t>
            </a:r>
            <a:endParaRPr lang="LID4096" dirty="0">
              <a:solidFill>
                <a:schemeClr val="accent6">
                  <a:lumMod val="75000"/>
                </a:schemeClr>
              </a:solidFill>
              <a:latin typeface="David" panose="020E0502060401010101" pitchFamily="34" charset="-79"/>
            </a:endParaRPr>
          </a:p>
        </p:txBody>
      </p:sp>
      <p:sp>
        <p:nvSpPr>
          <p:cNvPr id="10" name="TextBox 9">
            <a:extLst>
              <a:ext uri="{FF2B5EF4-FFF2-40B4-BE49-F238E27FC236}">
                <a16:creationId xmlns:a16="http://schemas.microsoft.com/office/drawing/2014/main" id="{76C20E9B-A941-8B9A-D178-86C43E3EDB14}"/>
              </a:ext>
            </a:extLst>
          </p:cNvPr>
          <p:cNvSpPr txBox="1"/>
          <p:nvPr/>
        </p:nvSpPr>
        <p:spPr>
          <a:xfrm>
            <a:off x="4523196" y="3385836"/>
            <a:ext cx="1469422" cy="369332"/>
          </a:xfrm>
          <a:prstGeom prst="rect">
            <a:avLst/>
          </a:prstGeom>
          <a:noFill/>
          <a:ln>
            <a:solidFill>
              <a:schemeClr val="accent2">
                <a:lumMod val="50000"/>
              </a:schemeClr>
            </a:solidFill>
          </a:ln>
        </p:spPr>
        <p:txBody>
          <a:bodyPr wrap="square" rtlCol="0">
            <a:spAutoFit/>
          </a:bodyPr>
          <a:lstStyle/>
          <a:p>
            <a:pPr algn="ctr"/>
            <a:r>
              <a:rPr lang="en-GB" dirty="0">
                <a:solidFill>
                  <a:schemeClr val="accent2">
                    <a:lumMod val="50000"/>
                  </a:schemeClr>
                </a:solidFill>
                <a:latin typeface="David" panose="020E0502060401010101" pitchFamily="34" charset="-79"/>
              </a:rPr>
              <a:t>Dataset size</a:t>
            </a:r>
            <a:endParaRPr lang="LID4096" dirty="0">
              <a:solidFill>
                <a:schemeClr val="accent2">
                  <a:lumMod val="50000"/>
                </a:schemeClr>
              </a:solidFill>
              <a:latin typeface="David" panose="020E0502060401010101" pitchFamily="34" charset="-79"/>
            </a:endParaRPr>
          </a:p>
        </p:txBody>
      </p:sp>
      <p:sp>
        <p:nvSpPr>
          <p:cNvPr id="11" name="TextBox 10">
            <a:extLst>
              <a:ext uri="{FF2B5EF4-FFF2-40B4-BE49-F238E27FC236}">
                <a16:creationId xmlns:a16="http://schemas.microsoft.com/office/drawing/2014/main" id="{59C092CA-7FB1-5AE8-FB74-EF6F609758F5}"/>
              </a:ext>
            </a:extLst>
          </p:cNvPr>
          <p:cNvSpPr txBox="1"/>
          <p:nvPr/>
        </p:nvSpPr>
        <p:spPr>
          <a:xfrm>
            <a:off x="5633777" y="3906447"/>
            <a:ext cx="5416375" cy="369332"/>
          </a:xfrm>
          <a:prstGeom prst="rect">
            <a:avLst/>
          </a:prstGeom>
          <a:noFill/>
          <a:ln>
            <a:solidFill>
              <a:schemeClr val="accent5">
                <a:lumMod val="75000"/>
              </a:schemeClr>
            </a:solidFill>
          </a:ln>
        </p:spPr>
        <p:txBody>
          <a:bodyPr wrap="square" rtlCol="0">
            <a:spAutoFit/>
          </a:bodyPr>
          <a:lstStyle/>
          <a:p>
            <a:pPr algn="ctr"/>
            <a:r>
              <a:rPr lang="en-GB" dirty="0">
                <a:solidFill>
                  <a:schemeClr val="accent5">
                    <a:lumMod val="75000"/>
                  </a:schemeClr>
                </a:solidFill>
                <a:latin typeface="David" panose="020E0502060401010101" pitchFamily="34" charset="-79"/>
              </a:rPr>
              <a:t>Linearly modelling the parameter mu of the Gaussian</a:t>
            </a:r>
          </a:p>
        </p:txBody>
      </p:sp>
      <p:grpSp>
        <p:nvGrpSpPr>
          <p:cNvPr id="14" name="Group 13">
            <a:extLst>
              <a:ext uri="{FF2B5EF4-FFF2-40B4-BE49-F238E27FC236}">
                <a16:creationId xmlns:a16="http://schemas.microsoft.com/office/drawing/2014/main" id="{AFEA3E30-DD8A-A20D-2554-13C786C1A523}"/>
              </a:ext>
            </a:extLst>
          </p:cNvPr>
          <p:cNvGrpSpPr/>
          <p:nvPr/>
        </p:nvGrpSpPr>
        <p:grpSpPr>
          <a:xfrm>
            <a:off x="501604" y="4187263"/>
            <a:ext cx="581111" cy="2019813"/>
            <a:chOff x="382716" y="3735087"/>
            <a:chExt cx="581111" cy="2019813"/>
          </a:xfrm>
        </p:grpSpPr>
        <p:sp>
          <p:nvSpPr>
            <p:cNvPr id="12" name="Left Bracket 11">
              <a:extLst>
                <a:ext uri="{FF2B5EF4-FFF2-40B4-BE49-F238E27FC236}">
                  <a16:creationId xmlns:a16="http://schemas.microsoft.com/office/drawing/2014/main" id="{BD27F93F-F4E4-2F89-DFA6-B4E826A83A38}"/>
                </a:ext>
              </a:extLst>
            </p:cNvPr>
            <p:cNvSpPr/>
            <p:nvPr/>
          </p:nvSpPr>
          <p:spPr>
            <a:xfrm>
              <a:off x="838200" y="3830595"/>
              <a:ext cx="125627" cy="1828800"/>
            </a:xfrm>
            <a:prstGeom prst="leftBracket">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dirty="0">
                <a:latin typeface="David" panose="020E0502060401010101" pitchFamily="34" charset="-79"/>
              </a:endParaRPr>
            </a:p>
          </p:txBody>
        </p:sp>
        <p:sp>
          <p:nvSpPr>
            <p:cNvPr id="13" name="TextBox 12">
              <a:extLst>
                <a:ext uri="{FF2B5EF4-FFF2-40B4-BE49-F238E27FC236}">
                  <a16:creationId xmlns:a16="http://schemas.microsoft.com/office/drawing/2014/main" id="{DBB5D255-C03B-A46C-1231-99D10CF7C3CC}"/>
                </a:ext>
              </a:extLst>
            </p:cNvPr>
            <p:cNvSpPr txBox="1"/>
            <p:nvPr/>
          </p:nvSpPr>
          <p:spPr>
            <a:xfrm rot="16200000">
              <a:off x="-442525" y="4560328"/>
              <a:ext cx="2019813" cy="369332"/>
            </a:xfrm>
            <a:prstGeom prst="rect">
              <a:avLst/>
            </a:prstGeom>
            <a:noFill/>
            <a:ln>
              <a:solidFill>
                <a:srgbClr val="FFFFFF"/>
              </a:solidFill>
            </a:ln>
          </p:spPr>
          <p:txBody>
            <a:bodyPr wrap="square" rtlCol="0">
              <a:spAutoFit/>
            </a:bodyPr>
            <a:lstStyle/>
            <a:p>
              <a:pPr algn="ctr"/>
              <a:r>
                <a:rPr lang="en-GB" dirty="0">
                  <a:solidFill>
                    <a:schemeClr val="bg1">
                      <a:lumMod val="50000"/>
                    </a:schemeClr>
                  </a:solidFill>
                  <a:latin typeface="David" panose="020E0502060401010101" pitchFamily="34" charset="-79"/>
                </a:rPr>
                <a:t>Model Structure</a:t>
              </a:r>
              <a:endParaRPr lang="LID4096" dirty="0">
                <a:solidFill>
                  <a:schemeClr val="bg1">
                    <a:lumMod val="50000"/>
                  </a:schemeClr>
                </a:solidFill>
                <a:latin typeface="David" panose="020E0502060401010101" pitchFamily="34" charset="-79"/>
              </a:endParaRPr>
            </a:p>
          </p:txBody>
        </p:sp>
      </p:grpSp>
      <p:sp>
        <p:nvSpPr>
          <p:cNvPr id="15" name="TextBox 14">
            <a:extLst>
              <a:ext uri="{FF2B5EF4-FFF2-40B4-BE49-F238E27FC236}">
                <a16:creationId xmlns:a16="http://schemas.microsoft.com/office/drawing/2014/main" id="{18D68646-1B71-7580-321E-EC8B91AB561F}"/>
              </a:ext>
            </a:extLst>
          </p:cNvPr>
          <p:cNvSpPr txBox="1"/>
          <p:nvPr/>
        </p:nvSpPr>
        <p:spPr>
          <a:xfrm>
            <a:off x="8230010" y="4482015"/>
            <a:ext cx="2831349" cy="369332"/>
          </a:xfrm>
          <a:prstGeom prst="rect">
            <a:avLst/>
          </a:prstGeom>
          <a:noFill/>
          <a:ln>
            <a:solidFill>
              <a:schemeClr val="tx1"/>
            </a:solidFill>
          </a:ln>
        </p:spPr>
        <p:txBody>
          <a:bodyPr wrap="square" rtlCol="0">
            <a:spAutoFit/>
          </a:bodyPr>
          <a:lstStyle/>
          <a:p>
            <a:pPr algn="ctr"/>
            <a:r>
              <a:rPr lang="en-GB" dirty="0">
                <a:solidFill>
                  <a:schemeClr val="tx1">
                    <a:lumMod val="95000"/>
                    <a:lumOff val="5000"/>
                  </a:schemeClr>
                </a:solidFill>
                <a:latin typeface="David" panose="020E0502060401010101" pitchFamily="34" charset="-79"/>
              </a:rPr>
              <a:t>Common level effects </a:t>
            </a:r>
          </a:p>
        </p:txBody>
      </p:sp>
      <p:sp>
        <p:nvSpPr>
          <p:cNvPr id="16" name="TextBox 15">
            <a:extLst>
              <a:ext uri="{FF2B5EF4-FFF2-40B4-BE49-F238E27FC236}">
                <a16:creationId xmlns:a16="http://schemas.microsoft.com/office/drawing/2014/main" id="{42A0D3EB-7C9E-05C4-9803-999698C62FDA}"/>
              </a:ext>
            </a:extLst>
          </p:cNvPr>
          <p:cNvSpPr txBox="1"/>
          <p:nvPr/>
        </p:nvSpPr>
        <p:spPr>
          <a:xfrm>
            <a:off x="8384833" y="5457054"/>
            <a:ext cx="2558443" cy="646331"/>
          </a:xfrm>
          <a:prstGeom prst="rect">
            <a:avLst/>
          </a:prstGeom>
          <a:noFill/>
          <a:ln>
            <a:solidFill>
              <a:schemeClr val="accent1">
                <a:lumMod val="75000"/>
              </a:schemeClr>
            </a:solidFill>
          </a:ln>
        </p:spPr>
        <p:txBody>
          <a:bodyPr wrap="square" rtlCol="0">
            <a:spAutoFit/>
          </a:bodyPr>
          <a:lstStyle/>
          <a:p>
            <a:pPr algn="ctr"/>
            <a:r>
              <a:rPr lang="en-GB" dirty="0">
                <a:solidFill>
                  <a:schemeClr val="accent1">
                    <a:lumMod val="75000"/>
                  </a:schemeClr>
                </a:solidFill>
                <a:latin typeface="David" panose="020E0502060401010101" pitchFamily="34" charset="-79"/>
              </a:rPr>
              <a:t>Not linearly modeled parameters</a:t>
            </a:r>
          </a:p>
        </p:txBody>
      </p:sp>
      <p:sp>
        <p:nvSpPr>
          <p:cNvPr id="17" name="Left Bracket 16">
            <a:extLst>
              <a:ext uri="{FF2B5EF4-FFF2-40B4-BE49-F238E27FC236}">
                <a16:creationId xmlns:a16="http://schemas.microsoft.com/office/drawing/2014/main" id="{F5406897-10C5-409F-52F4-CB8B3B6BA7C4}"/>
              </a:ext>
            </a:extLst>
          </p:cNvPr>
          <p:cNvSpPr/>
          <p:nvPr/>
        </p:nvSpPr>
        <p:spPr>
          <a:xfrm rot="10800000">
            <a:off x="7997129" y="4480229"/>
            <a:ext cx="82444" cy="372904"/>
          </a:xfrm>
          <a:prstGeom prst="leftBracket">
            <a:avLst/>
          </a:prstGeom>
          <a:noFill/>
          <a:ln>
            <a:solidFill>
              <a:schemeClr val="tx1"/>
            </a:solidFill>
          </a:ln>
        </p:spPr>
        <p:txBody>
          <a:bodyPr wrap="square" rtlCol="0">
            <a:spAutoFit/>
          </a:bodyPr>
          <a:lstStyle/>
          <a:p>
            <a:pPr algn="ctr"/>
            <a:endParaRPr lang="LID4096" dirty="0">
              <a:solidFill>
                <a:schemeClr val="tx1">
                  <a:lumMod val="95000"/>
                  <a:lumOff val="5000"/>
                </a:schemeClr>
              </a:solidFill>
              <a:latin typeface="David" panose="020E0502060401010101" pitchFamily="34" charset="-79"/>
            </a:endParaRPr>
          </a:p>
        </p:txBody>
      </p:sp>
      <p:sp>
        <p:nvSpPr>
          <p:cNvPr id="18" name="Left Bracket 17">
            <a:extLst>
              <a:ext uri="{FF2B5EF4-FFF2-40B4-BE49-F238E27FC236}">
                <a16:creationId xmlns:a16="http://schemas.microsoft.com/office/drawing/2014/main" id="{79974361-56DA-AC7C-B61E-7EEC2DBEDC85}"/>
              </a:ext>
            </a:extLst>
          </p:cNvPr>
          <p:cNvSpPr/>
          <p:nvPr/>
        </p:nvSpPr>
        <p:spPr>
          <a:xfrm rot="10800000">
            <a:off x="8188788" y="5576489"/>
            <a:ext cx="82444" cy="372904"/>
          </a:xfrm>
          <a:prstGeom prst="leftBracket">
            <a:avLst/>
          </a:prstGeom>
          <a:noFill/>
          <a:ln>
            <a:solidFill>
              <a:schemeClr val="tx1"/>
            </a:solidFill>
          </a:ln>
        </p:spPr>
        <p:txBody>
          <a:bodyPr wrap="square" rtlCol="0">
            <a:spAutoFit/>
          </a:bodyPr>
          <a:lstStyle/>
          <a:p>
            <a:pPr algn="ctr"/>
            <a:endParaRPr lang="LID4096" dirty="0">
              <a:solidFill>
                <a:schemeClr val="tx1">
                  <a:lumMod val="95000"/>
                  <a:lumOff val="5000"/>
                </a:schemeClr>
              </a:solidFill>
              <a:latin typeface="David" panose="020E0502060401010101" pitchFamily="34" charset="-79"/>
            </a:endParaRPr>
          </a:p>
        </p:txBody>
      </p:sp>
      <p:cxnSp>
        <p:nvCxnSpPr>
          <p:cNvPr id="22" name="Straight Arrow Connector 21">
            <a:extLst>
              <a:ext uri="{FF2B5EF4-FFF2-40B4-BE49-F238E27FC236}">
                <a16:creationId xmlns:a16="http://schemas.microsoft.com/office/drawing/2014/main" id="{732560FB-5BAE-F6F8-124B-5B9635D2BC46}"/>
              </a:ext>
            </a:extLst>
          </p:cNvPr>
          <p:cNvCxnSpPr>
            <a:cxnSpLocks/>
            <a:stCxn id="11" idx="1"/>
          </p:cNvCxnSpPr>
          <p:nvPr/>
        </p:nvCxnSpPr>
        <p:spPr>
          <a:xfrm flipH="1">
            <a:off x="2529511" y="4091113"/>
            <a:ext cx="3104266"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5" name="Straight Arrow Connector 24">
            <a:extLst>
              <a:ext uri="{FF2B5EF4-FFF2-40B4-BE49-F238E27FC236}">
                <a16:creationId xmlns:a16="http://schemas.microsoft.com/office/drawing/2014/main" id="{8818EB79-C895-D5ED-EB32-9B1CA6EB1CDF}"/>
              </a:ext>
            </a:extLst>
          </p:cNvPr>
          <p:cNvCxnSpPr>
            <a:cxnSpLocks/>
            <a:stCxn id="10" idx="1"/>
          </p:cNvCxnSpPr>
          <p:nvPr/>
        </p:nvCxnSpPr>
        <p:spPr>
          <a:xfrm flipH="1">
            <a:off x="3145135" y="3570502"/>
            <a:ext cx="1378061" cy="0"/>
          </a:xfrm>
          <a:prstGeom prst="straightConnector1">
            <a:avLst/>
          </a:prstGeom>
          <a:ln>
            <a:solidFill>
              <a:schemeClr val="accent2">
                <a:lumMod val="50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27" name="Straight Arrow Connector 26">
            <a:extLst>
              <a:ext uri="{FF2B5EF4-FFF2-40B4-BE49-F238E27FC236}">
                <a16:creationId xmlns:a16="http://schemas.microsoft.com/office/drawing/2014/main" id="{96716DCA-1277-CAFE-1ECD-CBEEAD837961}"/>
              </a:ext>
            </a:extLst>
          </p:cNvPr>
          <p:cNvCxnSpPr>
            <a:cxnSpLocks/>
            <a:stCxn id="9" idx="1"/>
          </p:cNvCxnSpPr>
          <p:nvPr/>
        </p:nvCxnSpPr>
        <p:spPr>
          <a:xfrm flipH="1">
            <a:off x="4360986" y="3234557"/>
            <a:ext cx="3910246"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0" name="Straight Arrow Connector 29">
            <a:extLst>
              <a:ext uri="{FF2B5EF4-FFF2-40B4-BE49-F238E27FC236}">
                <a16:creationId xmlns:a16="http://schemas.microsoft.com/office/drawing/2014/main" id="{6DDEDB45-88AF-6B6F-5CA7-64A834D0A74C}"/>
              </a:ext>
            </a:extLst>
          </p:cNvPr>
          <p:cNvCxnSpPr>
            <a:cxnSpLocks/>
            <a:stCxn id="8" idx="1"/>
          </p:cNvCxnSpPr>
          <p:nvPr/>
        </p:nvCxnSpPr>
        <p:spPr>
          <a:xfrm flipH="1" flipV="1">
            <a:off x="3768133" y="2949249"/>
            <a:ext cx="2033385" cy="83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35A4659C-C9E2-7B8F-8173-91C25FDE8EC6}"/>
              </a:ext>
            </a:extLst>
          </p:cNvPr>
          <p:cNvCxnSpPr>
            <a:cxnSpLocks/>
            <a:stCxn id="6" idx="1"/>
          </p:cNvCxnSpPr>
          <p:nvPr/>
        </p:nvCxnSpPr>
        <p:spPr>
          <a:xfrm flipH="1">
            <a:off x="5416062" y="1987397"/>
            <a:ext cx="2190540" cy="675416"/>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41" name="Picture 40">
            <a:extLst>
              <a:ext uri="{FF2B5EF4-FFF2-40B4-BE49-F238E27FC236}">
                <a16:creationId xmlns:a16="http://schemas.microsoft.com/office/drawing/2014/main" id="{8B0EB60E-9120-22B5-77F7-F3E5054ED2FD}"/>
              </a:ext>
            </a:extLst>
          </p:cNvPr>
          <p:cNvPicPr>
            <a:picLocks noChangeAspect="1"/>
          </p:cNvPicPr>
          <p:nvPr/>
        </p:nvPicPr>
        <p:blipFill>
          <a:blip r:embed="rId4"/>
          <a:stretch>
            <a:fillRect/>
          </a:stretch>
        </p:blipFill>
        <p:spPr>
          <a:xfrm>
            <a:off x="657134" y="1225281"/>
            <a:ext cx="6354062" cy="771633"/>
          </a:xfrm>
          <a:prstGeom prst="rect">
            <a:avLst/>
          </a:prstGeom>
        </p:spPr>
      </p:pic>
    </p:spTree>
    <p:extLst>
      <p:ext uri="{BB962C8B-B14F-4D97-AF65-F5344CB8AC3E}">
        <p14:creationId xmlns:p14="http://schemas.microsoft.com/office/powerpoint/2010/main" val="38131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5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2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5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25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25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2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P spid="15" grpId="0" animBg="1"/>
      <p:bldP spid="1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34C84-CBB6-AB14-9E88-8825C3CC6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98300-E139-4C2C-2ED2-9B20F2605B9E}"/>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46012EA4-79AA-234F-59D3-36D5B6AC29EA}"/>
              </a:ext>
            </a:extLst>
          </p:cNvPr>
          <p:cNvSpPr>
            <a:spLocks noGrp="1"/>
          </p:cNvSpPr>
          <p:nvPr>
            <p:ph idx="1"/>
          </p:nvPr>
        </p:nvSpPr>
        <p:spPr>
          <a:xfrm>
            <a:off x="597040" y="1276222"/>
            <a:ext cx="9863294" cy="5378705"/>
          </a:xfrm>
        </p:spPr>
        <p:txBody>
          <a:bodyPr>
            <a:normAutofit/>
          </a:bodyPr>
          <a:lstStyle/>
          <a:p>
            <a:pPr>
              <a:lnSpc>
                <a:spcPct val="100000"/>
              </a:lnSpc>
            </a:pPr>
            <a:r>
              <a:rPr lang="en-GB" dirty="0"/>
              <a:t>If we would like to set our own priors:</a:t>
            </a:r>
          </a:p>
          <a:p>
            <a:pPr lvl="1">
              <a:lnSpc>
                <a:spcPct val="100000"/>
              </a:lnSpc>
            </a:pPr>
            <a:r>
              <a:rPr lang="en-GB" dirty="0"/>
              <a:t>For:</a:t>
            </a:r>
          </a:p>
          <a:p>
            <a:pPr lvl="2">
              <a:lnSpc>
                <a:spcPct val="100000"/>
              </a:lnSpc>
            </a:pPr>
            <a:r>
              <a:rPr lang="en-GB" dirty="0"/>
              <a:t>The coefficient of the independent variable (the slope)</a:t>
            </a:r>
          </a:p>
          <a:p>
            <a:pPr lvl="2">
              <a:lnSpc>
                <a:spcPct val="100000"/>
              </a:lnSpc>
            </a:pPr>
            <a:r>
              <a:rPr lang="en-GB" dirty="0"/>
              <a:t>The sigma (the auxiliary parameter)</a:t>
            </a:r>
          </a:p>
          <a:p>
            <a:pPr lvl="1">
              <a:lnSpc>
                <a:spcPct val="100000"/>
              </a:lnSpc>
            </a:pPr>
            <a:r>
              <a:rPr lang="en-GB" dirty="0"/>
              <a:t>Define a dictionary and pass it to the model</a:t>
            </a:r>
          </a:p>
          <a:p>
            <a:pPr>
              <a:lnSpc>
                <a:spcPct val="100000"/>
              </a:lnSpc>
            </a:pPr>
            <a:endParaRPr lang="en-GB" dirty="0"/>
          </a:p>
        </p:txBody>
      </p:sp>
    </p:spTree>
    <p:extLst>
      <p:ext uri="{BB962C8B-B14F-4D97-AF65-F5344CB8AC3E}">
        <p14:creationId xmlns:p14="http://schemas.microsoft.com/office/powerpoint/2010/main" val="215779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5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5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25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2FA7E-B97B-2C54-FAE6-959F69AD86A7}"/>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EFFE2B0-48EB-1FF0-22E7-3E25BA9956BB}"/>
              </a:ext>
            </a:extLst>
          </p:cNvPr>
          <p:cNvPicPr>
            <a:picLocks noChangeAspect="1"/>
          </p:cNvPicPr>
          <p:nvPr/>
        </p:nvPicPr>
        <p:blipFill>
          <a:blip r:embed="rId3"/>
          <a:srcRect t="6165"/>
          <a:stretch>
            <a:fillRect/>
          </a:stretch>
        </p:blipFill>
        <p:spPr>
          <a:xfrm>
            <a:off x="1651903" y="1414766"/>
            <a:ext cx="9069066" cy="4809169"/>
          </a:xfrm>
          <a:prstGeom prst="rect">
            <a:avLst/>
          </a:prstGeom>
        </p:spPr>
      </p:pic>
      <p:sp>
        <p:nvSpPr>
          <p:cNvPr id="2" name="Title 1">
            <a:extLst>
              <a:ext uri="{FF2B5EF4-FFF2-40B4-BE49-F238E27FC236}">
                <a16:creationId xmlns:a16="http://schemas.microsoft.com/office/drawing/2014/main" id="{6A81A51C-EF87-5158-C773-D3B9962B0380}"/>
              </a:ext>
            </a:extLst>
          </p:cNvPr>
          <p:cNvSpPr>
            <a:spLocks noGrp="1"/>
          </p:cNvSpPr>
          <p:nvPr>
            <p:ph type="title"/>
          </p:nvPr>
        </p:nvSpPr>
        <p:spPr>
          <a:xfrm>
            <a:off x="838200" y="20997"/>
            <a:ext cx="10515600" cy="1325563"/>
          </a:xfrm>
        </p:spPr>
        <p:txBody>
          <a:bodyPr/>
          <a:lstStyle/>
          <a:p>
            <a:r>
              <a:rPr lang="en-US" dirty="0"/>
              <a:t>Bambi</a:t>
            </a:r>
          </a:p>
        </p:txBody>
      </p:sp>
      <p:sp>
        <p:nvSpPr>
          <p:cNvPr id="4" name="מלבן 3">
            <a:extLst>
              <a:ext uri="{FF2B5EF4-FFF2-40B4-BE49-F238E27FC236}">
                <a16:creationId xmlns:a16="http://schemas.microsoft.com/office/drawing/2014/main" id="{5BCF450E-A97C-B119-0AF5-B65BC23530BC}"/>
              </a:ext>
            </a:extLst>
          </p:cNvPr>
          <p:cNvSpPr/>
          <p:nvPr/>
        </p:nvSpPr>
        <p:spPr>
          <a:xfrm>
            <a:off x="1651902" y="1414766"/>
            <a:ext cx="5864265" cy="1207854"/>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
        <p:nvSpPr>
          <p:cNvPr id="6" name="מלבן 5">
            <a:extLst>
              <a:ext uri="{FF2B5EF4-FFF2-40B4-BE49-F238E27FC236}">
                <a16:creationId xmlns:a16="http://schemas.microsoft.com/office/drawing/2014/main" id="{5C7F528C-B6CA-F463-4601-144E4917B957}"/>
              </a:ext>
            </a:extLst>
          </p:cNvPr>
          <p:cNvSpPr/>
          <p:nvPr/>
        </p:nvSpPr>
        <p:spPr>
          <a:xfrm>
            <a:off x="8901088" y="2948811"/>
            <a:ext cx="1709972" cy="39803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
        <p:nvSpPr>
          <p:cNvPr id="9" name="מלבן 5">
            <a:extLst>
              <a:ext uri="{FF2B5EF4-FFF2-40B4-BE49-F238E27FC236}">
                <a16:creationId xmlns:a16="http://schemas.microsoft.com/office/drawing/2014/main" id="{7CA34706-527E-B1A7-3B8A-1B60E6EEFE93}"/>
              </a:ext>
            </a:extLst>
          </p:cNvPr>
          <p:cNvSpPr/>
          <p:nvPr/>
        </p:nvSpPr>
        <p:spPr>
          <a:xfrm>
            <a:off x="2361285" y="4889817"/>
            <a:ext cx="4662513" cy="1430595"/>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Tree>
    <p:extLst>
      <p:ext uri="{BB962C8B-B14F-4D97-AF65-F5344CB8AC3E}">
        <p14:creationId xmlns:p14="http://schemas.microsoft.com/office/powerpoint/2010/main" val="25720575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BF487-7CDD-4BA1-157B-2F6788C0B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A1B7F-41F3-6C73-6F8C-F0169992A250}"/>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700A4630-38B0-590E-44A4-57FC7BE3E2C6}"/>
              </a:ext>
            </a:extLst>
          </p:cNvPr>
          <p:cNvSpPr>
            <a:spLocks noGrp="1"/>
          </p:cNvSpPr>
          <p:nvPr>
            <p:ph idx="1"/>
          </p:nvPr>
        </p:nvSpPr>
        <p:spPr>
          <a:xfrm>
            <a:off x="838200" y="1346560"/>
            <a:ext cx="10515600" cy="5378705"/>
          </a:xfrm>
        </p:spPr>
        <p:txBody>
          <a:bodyPr>
            <a:normAutofit/>
          </a:bodyPr>
          <a:lstStyle/>
          <a:p>
            <a:pPr>
              <a:lnSpc>
                <a:spcPct val="150000"/>
              </a:lnSpc>
            </a:pPr>
            <a:r>
              <a:rPr lang="en-GB" dirty="0"/>
              <a:t>If for some reason we don’t want an intercept</a:t>
            </a:r>
          </a:p>
          <a:p>
            <a:pPr>
              <a:lnSpc>
                <a:spcPct val="150000"/>
              </a:lnSpc>
            </a:pPr>
            <a:r>
              <a:rPr lang="en-GB" dirty="0"/>
              <a:t>We can also omit the intercept from the model in two ways:</a:t>
            </a:r>
          </a:p>
          <a:p>
            <a:pPr>
              <a:lnSpc>
                <a:spcPct val="150000"/>
              </a:lnSpc>
              <a:buFont typeface="Wingdings" panose="05000000000000000000" pitchFamily="2" charset="2"/>
              <a:buChar char="§"/>
            </a:pPr>
            <a:endParaRPr lang="en-GB" dirty="0"/>
          </a:p>
        </p:txBody>
      </p:sp>
      <p:sp>
        <p:nvSpPr>
          <p:cNvPr id="11" name="TextBox 10">
            <a:extLst>
              <a:ext uri="{FF2B5EF4-FFF2-40B4-BE49-F238E27FC236}">
                <a16:creationId xmlns:a16="http://schemas.microsoft.com/office/drawing/2014/main" id="{497BBE6A-7277-5039-C114-14E22BEE141D}"/>
              </a:ext>
            </a:extLst>
          </p:cNvPr>
          <p:cNvSpPr txBox="1"/>
          <p:nvPr/>
        </p:nvSpPr>
        <p:spPr>
          <a:xfrm>
            <a:off x="4769821" y="6221838"/>
            <a:ext cx="1756720" cy="369332"/>
          </a:xfrm>
          <a:prstGeom prst="rect">
            <a:avLst/>
          </a:prstGeom>
          <a:noFill/>
          <a:ln>
            <a:solidFill>
              <a:srgbClr val="FF0000"/>
            </a:solidFill>
          </a:ln>
        </p:spPr>
        <p:txBody>
          <a:bodyPr wrap="square" rtlCol="0">
            <a:spAutoFit/>
          </a:bodyPr>
          <a:lstStyle/>
          <a:p>
            <a:pPr algn="ctr"/>
            <a:r>
              <a:rPr lang="en-GB" dirty="0">
                <a:solidFill>
                  <a:srgbClr val="FF0000"/>
                </a:solidFill>
                <a:latin typeface="David" panose="020E0502060401010101" pitchFamily="34" charset="-79"/>
              </a:rPr>
              <a:t>No intercept</a:t>
            </a:r>
          </a:p>
        </p:txBody>
      </p:sp>
      <p:pic>
        <p:nvPicPr>
          <p:cNvPr id="6" name="Picture 5">
            <a:extLst>
              <a:ext uri="{FF2B5EF4-FFF2-40B4-BE49-F238E27FC236}">
                <a16:creationId xmlns:a16="http://schemas.microsoft.com/office/drawing/2014/main" id="{CB6A3139-9103-A1BB-730F-B361C2D5AD17}"/>
              </a:ext>
            </a:extLst>
          </p:cNvPr>
          <p:cNvPicPr>
            <a:picLocks noChangeAspect="1"/>
          </p:cNvPicPr>
          <p:nvPr/>
        </p:nvPicPr>
        <p:blipFill>
          <a:blip r:embed="rId3"/>
          <a:stretch>
            <a:fillRect/>
          </a:stretch>
        </p:blipFill>
        <p:spPr>
          <a:xfrm>
            <a:off x="443753" y="3050865"/>
            <a:ext cx="5372522" cy="2561932"/>
          </a:xfrm>
          <a:prstGeom prst="rect">
            <a:avLst/>
          </a:prstGeom>
        </p:spPr>
      </p:pic>
      <p:pic>
        <p:nvPicPr>
          <p:cNvPr id="13" name="Picture 12">
            <a:extLst>
              <a:ext uri="{FF2B5EF4-FFF2-40B4-BE49-F238E27FC236}">
                <a16:creationId xmlns:a16="http://schemas.microsoft.com/office/drawing/2014/main" id="{2708312B-5274-1F26-D90A-BFDA5AF0C50F}"/>
              </a:ext>
            </a:extLst>
          </p:cNvPr>
          <p:cNvPicPr>
            <a:picLocks noChangeAspect="1"/>
          </p:cNvPicPr>
          <p:nvPr/>
        </p:nvPicPr>
        <p:blipFill>
          <a:blip r:embed="rId4"/>
          <a:stretch>
            <a:fillRect/>
          </a:stretch>
        </p:blipFill>
        <p:spPr>
          <a:xfrm>
            <a:off x="5956573" y="3050865"/>
            <a:ext cx="5791674" cy="2762556"/>
          </a:xfrm>
          <a:prstGeom prst="rect">
            <a:avLst/>
          </a:prstGeom>
        </p:spPr>
      </p:pic>
      <p:cxnSp>
        <p:nvCxnSpPr>
          <p:cNvPr id="15" name="Straight Arrow Connector 14">
            <a:extLst>
              <a:ext uri="{FF2B5EF4-FFF2-40B4-BE49-F238E27FC236}">
                <a16:creationId xmlns:a16="http://schemas.microsoft.com/office/drawing/2014/main" id="{B60A2FED-6EB2-6BD9-A7C8-65A87E80D2CB}"/>
              </a:ext>
            </a:extLst>
          </p:cNvPr>
          <p:cNvCxnSpPr>
            <a:stCxn id="11" idx="0"/>
          </p:cNvCxnSpPr>
          <p:nvPr/>
        </p:nvCxnSpPr>
        <p:spPr>
          <a:xfrm flipH="1" flipV="1">
            <a:off x="2381459" y="5154804"/>
            <a:ext cx="3266722" cy="106703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79D7E0F-A7ED-3899-83B1-9262C8B32357}"/>
              </a:ext>
            </a:extLst>
          </p:cNvPr>
          <p:cNvCxnSpPr>
            <a:cxnSpLocks/>
            <a:stCxn id="11" idx="0"/>
          </p:cNvCxnSpPr>
          <p:nvPr/>
        </p:nvCxnSpPr>
        <p:spPr>
          <a:xfrm flipV="1">
            <a:off x="5648181" y="5330994"/>
            <a:ext cx="1466052" cy="89084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4405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D5B4E-73B4-E6B1-FD92-77B3027E9F1A}"/>
            </a:ext>
          </a:extLst>
        </p:cNvPr>
        <p:cNvGrpSpPr/>
        <p:nvPr/>
      </p:nvGrpSpPr>
      <p:grpSpPr>
        <a:xfrm>
          <a:off x="0" y="0"/>
          <a:ext cx="0" cy="0"/>
          <a:chOff x="0" y="0"/>
          <a:chExt cx="0" cy="0"/>
        </a:xfrm>
      </p:grpSpPr>
      <p:pic>
        <p:nvPicPr>
          <p:cNvPr id="13314" name="Picture 2">
            <a:extLst>
              <a:ext uri="{FF2B5EF4-FFF2-40B4-BE49-F238E27FC236}">
                <a16:creationId xmlns:a16="http://schemas.microsoft.com/office/drawing/2014/main" id="{30AC663C-4C06-A9C7-C700-0045767C95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8575" y="2972666"/>
            <a:ext cx="6068368" cy="382508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42A3D5C-6666-94B0-9E68-9BC953140109}"/>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F5AD8183-16AC-1DFD-03B8-DF279DE7F97C}"/>
              </a:ext>
            </a:extLst>
          </p:cNvPr>
          <p:cNvSpPr>
            <a:spLocks noGrp="1"/>
          </p:cNvSpPr>
          <p:nvPr>
            <p:ph idx="1"/>
          </p:nvPr>
        </p:nvSpPr>
        <p:spPr>
          <a:xfrm>
            <a:off x="838200" y="1346560"/>
            <a:ext cx="10515600" cy="5378705"/>
          </a:xfrm>
        </p:spPr>
        <p:txBody>
          <a:bodyPr>
            <a:normAutofit/>
          </a:bodyPr>
          <a:lstStyle/>
          <a:p>
            <a:pPr>
              <a:lnSpc>
                <a:spcPct val="150000"/>
              </a:lnSpc>
            </a:pPr>
            <a:r>
              <a:rPr lang="en-GB" dirty="0"/>
              <a:t>Let’s go back to our original model and look at the prior predictive check:</a:t>
            </a:r>
          </a:p>
          <a:p>
            <a:pPr marL="0" indent="0">
              <a:lnSpc>
                <a:spcPct val="150000"/>
              </a:lnSpc>
              <a:buNone/>
            </a:pPr>
            <a:endParaRPr lang="en-GB" dirty="0"/>
          </a:p>
        </p:txBody>
      </p:sp>
      <p:pic>
        <p:nvPicPr>
          <p:cNvPr id="4" name="Picture 3">
            <a:extLst>
              <a:ext uri="{FF2B5EF4-FFF2-40B4-BE49-F238E27FC236}">
                <a16:creationId xmlns:a16="http://schemas.microsoft.com/office/drawing/2014/main" id="{C0C1535B-6850-D2FA-D488-5ACBC82BEE38}"/>
              </a:ext>
            </a:extLst>
          </p:cNvPr>
          <p:cNvPicPr>
            <a:picLocks noChangeAspect="1"/>
          </p:cNvPicPr>
          <p:nvPr/>
        </p:nvPicPr>
        <p:blipFill>
          <a:blip r:embed="rId4"/>
          <a:srcRect t="16703"/>
          <a:stretch>
            <a:fillRect/>
          </a:stretch>
        </p:blipFill>
        <p:spPr>
          <a:xfrm>
            <a:off x="3506358" y="683778"/>
            <a:ext cx="7725815" cy="310140"/>
          </a:xfrm>
          <a:prstGeom prst="rect">
            <a:avLst/>
          </a:prstGeom>
        </p:spPr>
      </p:pic>
      <p:pic>
        <p:nvPicPr>
          <p:cNvPr id="7" name="Picture 6">
            <a:extLst>
              <a:ext uri="{FF2B5EF4-FFF2-40B4-BE49-F238E27FC236}">
                <a16:creationId xmlns:a16="http://schemas.microsoft.com/office/drawing/2014/main" id="{AA4E9276-E62B-7603-578D-D5E3B1F22436}"/>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718513" y="2655293"/>
            <a:ext cx="7459116" cy="1171739"/>
          </a:xfrm>
          <a:prstGeom prst="rect">
            <a:avLst/>
          </a:prstGeom>
        </p:spPr>
      </p:pic>
      <p:sp>
        <p:nvSpPr>
          <p:cNvPr id="8" name="מלבן 5">
            <a:extLst>
              <a:ext uri="{FF2B5EF4-FFF2-40B4-BE49-F238E27FC236}">
                <a16:creationId xmlns:a16="http://schemas.microsoft.com/office/drawing/2014/main" id="{1F62D05B-91A8-7B2B-2D97-B3CEF7CD3AB0}"/>
              </a:ext>
            </a:extLst>
          </p:cNvPr>
          <p:cNvSpPr/>
          <p:nvPr/>
        </p:nvSpPr>
        <p:spPr>
          <a:xfrm>
            <a:off x="2738099" y="2733833"/>
            <a:ext cx="5439530" cy="186312"/>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Tree>
    <p:extLst>
      <p:ext uri="{BB962C8B-B14F-4D97-AF65-F5344CB8AC3E}">
        <p14:creationId xmlns:p14="http://schemas.microsoft.com/office/powerpoint/2010/main" val="29205568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4D7DC-C94B-FD71-01A7-233894241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DBC934-E595-FA31-AE4B-2E481B08F301}"/>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94922BCC-2F35-C843-5DB7-FA82E91AEDB9}"/>
              </a:ext>
            </a:extLst>
          </p:cNvPr>
          <p:cNvSpPr>
            <a:spLocks noGrp="1"/>
          </p:cNvSpPr>
          <p:nvPr>
            <p:ph idx="1"/>
          </p:nvPr>
        </p:nvSpPr>
        <p:spPr>
          <a:xfrm>
            <a:off x="838200" y="1346560"/>
            <a:ext cx="10515600" cy="5378705"/>
          </a:xfrm>
        </p:spPr>
        <p:txBody>
          <a:bodyPr>
            <a:normAutofit/>
          </a:bodyPr>
          <a:lstStyle/>
          <a:p>
            <a:pPr>
              <a:lnSpc>
                <a:spcPct val="150000"/>
              </a:lnSpc>
            </a:pPr>
            <a:r>
              <a:rPr lang="en-GB" dirty="0"/>
              <a:t>Sample it:</a:t>
            </a:r>
          </a:p>
          <a:p>
            <a:pPr>
              <a:lnSpc>
                <a:spcPct val="150000"/>
              </a:lnSpc>
              <a:buFont typeface="Wingdings" panose="05000000000000000000" pitchFamily="2" charset="2"/>
              <a:buChar char="§"/>
            </a:pPr>
            <a:endParaRPr lang="en-GB" dirty="0"/>
          </a:p>
        </p:txBody>
      </p:sp>
      <p:pic>
        <p:nvPicPr>
          <p:cNvPr id="5" name="Picture 4">
            <a:extLst>
              <a:ext uri="{FF2B5EF4-FFF2-40B4-BE49-F238E27FC236}">
                <a16:creationId xmlns:a16="http://schemas.microsoft.com/office/drawing/2014/main" id="{D1393DFC-4E8B-C8D2-2703-C0C0F07EC643}"/>
              </a:ext>
            </a:extLst>
          </p:cNvPr>
          <p:cNvPicPr>
            <a:picLocks noChangeAspect="1"/>
          </p:cNvPicPr>
          <p:nvPr/>
        </p:nvPicPr>
        <p:blipFill>
          <a:blip r:embed="rId3"/>
          <a:stretch>
            <a:fillRect/>
          </a:stretch>
        </p:blipFill>
        <p:spPr>
          <a:xfrm>
            <a:off x="3077716" y="2891611"/>
            <a:ext cx="5788079" cy="2072275"/>
          </a:xfrm>
          <a:prstGeom prst="rect">
            <a:avLst/>
          </a:prstGeom>
        </p:spPr>
      </p:pic>
      <p:sp>
        <p:nvSpPr>
          <p:cNvPr id="7" name="מלבן 3">
            <a:extLst>
              <a:ext uri="{FF2B5EF4-FFF2-40B4-BE49-F238E27FC236}">
                <a16:creationId xmlns:a16="http://schemas.microsoft.com/office/drawing/2014/main" id="{CE65DCC5-27DB-1FE2-48B4-5274E9331520}"/>
              </a:ext>
            </a:extLst>
          </p:cNvPr>
          <p:cNvSpPr/>
          <p:nvPr/>
        </p:nvSpPr>
        <p:spPr>
          <a:xfrm>
            <a:off x="5556738" y="3165231"/>
            <a:ext cx="2853732" cy="37178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dirty="0">
              <a:latin typeface="David" panose="020E0502060401010101" pitchFamily="34" charset="-79"/>
            </a:endParaRPr>
          </a:p>
        </p:txBody>
      </p:sp>
    </p:spTree>
    <p:extLst>
      <p:ext uri="{BB962C8B-B14F-4D97-AF65-F5344CB8AC3E}">
        <p14:creationId xmlns:p14="http://schemas.microsoft.com/office/powerpoint/2010/main" val="18880420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A3592-6CC6-4019-519C-61E6D2D653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0E57A-B6BC-A90A-2B29-DF5A87FDC5CB}"/>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B7E65AC6-306E-CCEE-68E8-CC899F25FC08}"/>
              </a:ext>
            </a:extLst>
          </p:cNvPr>
          <p:cNvSpPr>
            <a:spLocks noGrp="1"/>
          </p:cNvSpPr>
          <p:nvPr>
            <p:ph idx="1"/>
          </p:nvPr>
        </p:nvSpPr>
        <p:spPr>
          <a:xfrm>
            <a:off x="838200" y="1346560"/>
            <a:ext cx="10515600" cy="5378705"/>
          </a:xfrm>
        </p:spPr>
        <p:txBody>
          <a:bodyPr>
            <a:normAutofit/>
          </a:bodyPr>
          <a:lstStyle/>
          <a:p>
            <a:r>
              <a:rPr lang="he-IL" dirty="0" err="1"/>
              <a:t>Diagnostics</a:t>
            </a:r>
            <a:r>
              <a:rPr lang="he-IL" dirty="0"/>
              <a:t> and plotting </a:t>
            </a:r>
            <a:r>
              <a:rPr lang="he-IL" dirty="0" err="1"/>
              <a:t>as</a:t>
            </a:r>
            <a:r>
              <a:rPr lang="he-IL" dirty="0"/>
              <a:t> usual</a:t>
            </a:r>
          </a:p>
          <a:p>
            <a:pPr marL="0" indent="0">
              <a:lnSpc>
                <a:spcPct val="150000"/>
              </a:lnSpc>
              <a:buNone/>
            </a:pPr>
            <a:endParaRPr lang="en-GB" dirty="0"/>
          </a:p>
        </p:txBody>
      </p:sp>
      <p:pic>
        <p:nvPicPr>
          <p:cNvPr id="6" name="Picture 5">
            <a:extLst>
              <a:ext uri="{FF2B5EF4-FFF2-40B4-BE49-F238E27FC236}">
                <a16:creationId xmlns:a16="http://schemas.microsoft.com/office/drawing/2014/main" id="{3519A13C-3EEC-A7CF-8B1B-98E9DE140C41}"/>
              </a:ext>
            </a:extLst>
          </p:cNvPr>
          <p:cNvPicPr>
            <a:picLocks noChangeAspect="1"/>
          </p:cNvPicPr>
          <p:nvPr/>
        </p:nvPicPr>
        <p:blipFill>
          <a:blip r:embed="rId3"/>
          <a:stretch>
            <a:fillRect/>
          </a:stretch>
        </p:blipFill>
        <p:spPr>
          <a:xfrm>
            <a:off x="2056836" y="2467755"/>
            <a:ext cx="8078327" cy="2324424"/>
          </a:xfrm>
          <a:prstGeom prst="rect">
            <a:avLst/>
          </a:prstGeom>
        </p:spPr>
      </p:pic>
    </p:spTree>
    <p:extLst>
      <p:ext uri="{BB962C8B-B14F-4D97-AF65-F5344CB8AC3E}">
        <p14:creationId xmlns:p14="http://schemas.microsoft.com/office/powerpoint/2010/main" val="5964171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7BB2A-8E50-00E9-5BB6-2869BF3DC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7ED28-ED42-DF1E-DDD4-666EE9B697BD}"/>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D34B7C8B-A2BB-6208-D358-8932227882A4}"/>
              </a:ext>
            </a:extLst>
          </p:cNvPr>
          <p:cNvSpPr>
            <a:spLocks noGrp="1"/>
          </p:cNvSpPr>
          <p:nvPr>
            <p:ph idx="1"/>
          </p:nvPr>
        </p:nvSpPr>
        <p:spPr>
          <a:xfrm>
            <a:off x="838200" y="1346560"/>
            <a:ext cx="10515600" cy="5378705"/>
          </a:xfrm>
        </p:spPr>
        <p:txBody>
          <a:bodyPr>
            <a:normAutofit/>
          </a:bodyPr>
          <a:lstStyle/>
          <a:p>
            <a:r>
              <a:rPr lang="he-IL" dirty="0" err="1"/>
              <a:t>Diagnostics</a:t>
            </a:r>
            <a:r>
              <a:rPr lang="he-IL" dirty="0"/>
              <a:t> and plotting </a:t>
            </a:r>
            <a:r>
              <a:rPr lang="he-IL" dirty="0" err="1"/>
              <a:t>as</a:t>
            </a:r>
            <a:r>
              <a:rPr lang="he-IL" dirty="0"/>
              <a:t> usual</a:t>
            </a:r>
          </a:p>
          <a:p>
            <a:pPr marL="0" indent="0">
              <a:lnSpc>
                <a:spcPct val="150000"/>
              </a:lnSpc>
              <a:buNone/>
            </a:pPr>
            <a:endParaRPr lang="en-GB" dirty="0"/>
          </a:p>
        </p:txBody>
      </p:sp>
      <p:pic>
        <p:nvPicPr>
          <p:cNvPr id="5" name="Picture 4">
            <a:extLst>
              <a:ext uri="{FF2B5EF4-FFF2-40B4-BE49-F238E27FC236}">
                <a16:creationId xmlns:a16="http://schemas.microsoft.com/office/drawing/2014/main" id="{B74100AC-7026-9339-ED62-954E243D9150}"/>
              </a:ext>
            </a:extLst>
          </p:cNvPr>
          <p:cNvPicPr>
            <a:picLocks noChangeAspect="1"/>
          </p:cNvPicPr>
          <p:nvPr/>
        </p:nvPicPr>
        <p:blipFill>
          <a:blip r:embed="rId3"/>
          <a:stretch>
            <a:fillRect/>
          </a:stretch>
        </p:blipFill>
        <p:spPr>
          <a:xfrm>
            <a:off x="1052198" y="1910017"/>
            <a:ext cx="9002381" cy="762106"/>
          </a:xfrm>
          <a:prstGeom prst="rect">
            <a:avLst/>
          </a:prstGeom>
        </p:spPr>
      </p:pic>
      <p:pic>
        <p:nvPicPr>
          <p:cNvPr id="11266" name="Picture 2">
            <a:extLst>
              <a:ext uri="{FF2B5EF4-FFF2-40B4-BE49-F238E27FC236}">
                <a16:creationId xmlns:a16="http://schemas.microsoft.com/office/drawing/2014/main" id="{9F4B0F7B-FA2F-255E-B180-C4C617867D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27880" y="2672123"/>
            <a:ext cx="7626699" cy="376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1695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4ABB4-C118-59CB-7294-03AC3FB3E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6E196-831E-D8EB-CDF7-78E2B5BCD692}"/>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3E4B87FD-F633-F4AB-F2A0-FE80926A709D}"/>
              </a:ext>
            </a:extLst>
          </p:cNvPr>
          <p:cNvSpPr>
            <a:spLocks noGrp="1"/>
          </p:cNvSpPr>
          <p:nvPr>
            <p:ph idx="1"/>
          </p:nvPr>
        </p:nvSpPr>
        <p:spPr>
          <a:xfrm>
            <a:off x="838200" y="1346560"/>
            <a:ext cx="10515600" cy="5378705"/>
          </a:xfrm>
        </p:spPr>
        <p:txBody>
          <a:bodyPr>
            <a:normAutofit/>
          </a:bodyPr>
          <a:lstStyle/>
          <a:p>
            <a:pPr>
              <a:lnSpc>
                <a:spcPct val="150000"/>
              </a:lnSpc>
            </a:pPr>
            <a:r>
              <a:rPr lang="en-GB" dirty="0"/>
              <a:t>Posterior predictive check:</a:t>
            </a:r>
          </a:p>
          <a:p>
            <a:pPr marL="0" indent="0">
              <a:lnSpc>
                <a:spcPct val="150000"/>
              </a:lnSpc>
              <a:buNone/>
            </a:pPr>
            <a:endParaRPr lang="en-GB" dirty="0"/>
          </a:p>
        </p:txBody>
      </p:sp>
      <p:pic>
        <p:nvPicPr>
          <p:cNvPr id="14338" name="Picture 2">
            <a:extLst>
              <a:ext uri="{FF2B5EF4-FFF2-40B4-BE49-F238E27FC236}">
                <a16:creationId xmlns:a16="http://schemas.microsoft.com/office/drawing/2014/main" id="{2A3AEB95-40AD-F3EA-0B36-E01A5CB0D8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932" y="2480737"/>
            <a:ext cx="6733800" cy="424452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5BC06A2-8485-CB94-A15D-05A6267B65F2}"/>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61331" y="2672123"/>
            <a:ext cx="4896533" cy="2953162"/>
          </a:xfrm>
          <a:prstGeom prst="rect">
            <a:avLst/>
          </a:prstGeom>
        </p:spPr>
      </p:pic>
    </p:spTree>
    <p:extLst>
      <p:ext uri="{BB962C8B-B14F-4D97-AF65-F5344CB8AC3E}">
        <p14:creationId xmlns:p14="http://schemas.microsoft.com/office/powerpoint/2010/main" val="37930717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DC7A3-CFD3-2584-354F-8A89B4CDA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CA498-6EF7-B21B-8A35-977AF772CE78}"/>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DD2EB660-80F4-FA9D-96B5-93297919A752}"/>
              </a:ext>
            </a:extLst>
          </p:cNvPr>
          <p:cNvSpPr>
            <a:spLocks noGrp="1"/>
          </p:cNvSpPr>
          <p:nvPr>
            <p:ph idx="1"/>
          </p:nvPr>
        </p:nvSpPr>
        <p:spPr>
          <a:xfrm>
            <a:off x="838200" y="1346560"/>
            <a:ext cx="10515600" cy="5378705"/>
          </a:xfrm>
        </p:spPr>
        <p:txBody>
          <a:bodyPr>
            <a:normAutofit/>
          </a:bodyPr>
          <a:lstStyle/>
          <a:p>
            <a:r>
              <a:rPr lang="en-US" dirty="0"/>
              <a:t>Posterior</a:t>
            </a:r>
            <a:endParaRPr lang="he-IL" dirty="0"/>
          </a:p>
          <a:p>
            <a:pPr marL="0" indent="0">
              <a:lnSpc>
                <a:spcPct val="150000"/>
              </a:lnSpc>
              <a:buNone/>
            </a:pPr>
            <a:endParaRPr lang="en-GB" dirty="0"/>
          </a:p>
        </p:txBody>
      </p:sp>
      <p:pic>
        <p:nvPicPr>
          <p:cNvPr id="6" name="Picture 5">
            <a:extLst>
              <a:ext uri="{FF2B5EF4-FFF2-40B4-BE49-F238E27FC236}">
                <a16:creationId xmlns:a16="http://schemas.microsoft.com/office/drawing/2014/main" id="{FFFB74D9-F237-7ABB-C5FE-39878AEFEA01}"/>
              </a:ext>
            </a:extLst>
          </p:cNvPr>
          <p:cNvPicPr>
            <a:picLocks noChangeAspect="1"/>
          </p:cNvPicPr>
          <p:nvPr/>
        </p:nvPicPr>
        <p:blipFill>
          <a:blip r:embed="rId3"/>
          <a:stretch>
            <a:fillRect/>
          </a:stretch>
        </p:blipFill>
        <p:spPr>
          <a:xfrm>
            <a:off x="838200" y="2092309"/>
            <a:ext cx="9678751" cy="724001"/>
          </a:xfrm>
          <a:prstGeom prst="rect">
            <a:avLst/>
          </a:prstGeom>
        </p:spPr>
      </p:pic>
      <p:pic>
        <p:nvPicPr>
          <p:cNvPr id="12290" name="Picture 2">
            <a:extLst>
              <a:ext uri="{FF2B5EF4-FFF2-40B4-BE49-F238E27FC236}">
                <a16:creationId xmlns:a16="http://schemas.microsoft.com/office/drawing/2014/main" id="{D0CF8954-AEB3-8C68-40D7-A3C9836170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429000"/>
            <a:ext cx="12192000" cy="248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3505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F99AD8-50F7-3D0C-E913-CC7B16B67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29234-82A4-D562-8BA0-8B9BA138DBB2}"/>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6748BE0D-195E-F345-8BE4-120689550B68}"/>
              </a:ext>
            </a:extLst>
          </p:cNvPr>
          <p:cNvSpPr>
            <a:spLocks noGrp="1"/>
          </p:cNvSpPr>
          <p:nvPr>
            <p:ph idx="1"/>
          </p:nvPr>
        </p:nvSpPr>
        <p:spPr>
          <a:xfrm>
            <a:off x="838200" y="1021632"/>
            <a:ext cx="10515600" cy="5703633"/>
          </a:xfrm>
        </p:spPr>
        <p:txBody>
          <a:bodyPr>
            <a:normAutofit/>
          </a:bodyPr>
          <a:lstStyle/>
          <a:p>
            <a:pPr>
              <a:lnSpc>
                <a:spcPct val="150000"/>
              </a:lnSpc>
            </a:pPr>
            <a:r>
              <a:rPr lang="en-GB" dirty="0"/>
              <a:t>Multiple regression in Bambi:</a:t>
            </a:r>
          </a:p>
          <a:p>
            <a:pPr>
              <a:lnSpc>
                <a:spcPct val="150000"/>
              </a:lnSpc>
              <a:buFont typeface="Wingdings" panose="05000000000000000000" pitchFamily="2" charset="2"/>
              <a:buChar char="§"/>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GB" dirty="0"/>
          </a:p>
        </p:txBody>
      </p:sp>
      <p:pic>
        <p:nvPicPr>
          <p:cNvPr id="5" name="Picture 4">
            <a:extLst>
              <a:ext uri="{FF2B5EF4-FFF2-40B4-BE49-F238E27FC236}">
                <a16:creationId xmlns:a16="http://schemas.microsoft.com/office/drawing/2014/main" id="{932C3084-C6A0-09F2-6E28-8A4213C639AC}"/>
              </a:ext>
            </a:extLst>
          </p:cNvPr>
          <p:cNvPicPr>
            <a:picLocks noChangeAspect="1"/>
          </p:cNvPicPr>
          <p:nvPr/>
        </p:nvPicPr>
        <p:blipFill>
          <a:blip r:embed="rId3"/>
          <a:stretch>
            <a:fillRect/>
          </a:stretch>
        </p:blipFill>
        <p:spPr>
          <a:xfrm>
            <a:off x="997884" y="1944962"/>
            <a:ext cx="10257942" cy="4331660"/>
          </a:xfrm>
          <a:prstGeom prst="rect">
            <a:avLst/>
          </a:prstGeom>
        </p:spPr>
      </p:pic>
      <p:sp>
        <p:nvSpPr>
          <p:cNvPr id="4" name="TextBox 3">
            <a:extLst>
              <a:ext uri="{FF2B5EF4-FFF2-40B4-BE49-F238E27FC236}">
                <a16:creationId xmlns:a16="http://schemas.microsoft.com/office/drawing/2014/main" id="{D4F2A1E3-1976-4D2C-7F92-702996E4E744}"/>
              </a:ext>
            </a:extLst>
          </p:cNvPr>
          <p:cNvSpPr txBox="1"/>
          <p:nvPr/>
        </p:nvSpPr>
        <p:spPr>
          <a:xfrm>
            <a:off x="9331049" y="1021632"/>
            <a:ext cx="2561814" cy="923330"/>
          </a:xfrm>
          <a:prstGeom prst="rect">
            <a:avLst/>
          </a:prstGeom>
          <a:noFill/>
          <a:ln>
            <a:solidFill>
              <a:srgbClr val="C00000"/>
            </a:solidFill>
          </a:ln>
        </p:spPr>
        <p:txBody>
          <a:bodyPr wrap="square" rtlCol="0">
            <a:spAutoFit/>
          </a:bodyPr>
          <a:lstStyle/>
          <a:p>
            <a:r>
              <a:rPr lang="en-GB" dirty="0">
                <a:solidFill>
                  <a:srgbClr val="C00000"/>
                </a:solidFill>
                <a:latin typeface="David" panose="020E0502060401010101" pitchFamily="34" charset="-79"/>
              </a:rPr>
              <a:t>Relationship between dependent and independent variables</a:t>
            </a:r>
            <a:endParaRPr lang="LID4096" dirty="0">
              <a:solidFill>
                <a:srgbClr val="C00000"/>
              </a:solidFill>
              <a:latin typeface="David" panose="020E0502060401010101" pitchFamily="34" charset="-79"/>
            </a:endParaRPr>
          </a:p>
        </p:txBody>
      </p:sp>
      <p:sp>
        <p:nvSpPr>
          <p:cNvPr id="6" name="TextBox 5">
            <a:extLst>
              <a:ext uri="{FF2B5EF4-FFF2-40B4-BE49-F238E27FC236}">
                <a16:creationId xmlns:a16="http://schemas.microsoft.com/office/drawing/2014/main" id="{C8E14204-2F87-9410-A859-FAB6A56ECDEF}"/>
              </a:ext>
            </a:extLst>
          </p:cNvPr>
          <p:cNvSpPr txBox="1"/>
          <p:nvPr/>
        </p:nvSpPr>
        <p:spPr>
          <a:xfrm>
            <a:off x="8765489" y="2920343"/>
            <a:ext cx="1379836" cy="369332"/>
          </a:xfrm>
          <a:prstGeom prst="rect">
            <a:avLst/>
          </a:prstGeom>
          <a:noFill/>
          <a:ln>
            <a:solidFill>
              <a:srgbClr val="002060"/>
            </a:solidFill>
          </a:ln>
        </p:spPr>
        <p:txBody>
          <a:bodyPr wrap="square" rtlCol="0">
            <a:spAutoFit/>
          </a:bodyPr>
          <a:lstStyle/>
          <a:p>
            <a:pPr algn="ctr"/>
            <a:r>
              <a:rPr lang="en-GB" dirty="0">
                <a:solidFill>
                  <a:srgbClr val="002060"/>
                </a:solidFill>
                <a:latin typeface="David" panose="020E0502060401010101" pitchFamily="34" charset="-79"/>
              </a:rPr>
              <a:t>Likelihood</a:t>
            </a:r>
            <a:endParaRPr lang="LID4096" dirty="0">
              <a:solidFill>
                <a:srgbClr val="002060"/>
              </a:solidFill>
              <a:latin typeface="David" panose="020E0502060401010101" pitchFamily="34" charset="-79"/>
            </a:endParaRPr>
          </a:p>
        </p:txBody>
      </p:sp>
      <p:sp>
        <p:nvSpPr>
          <p:cNvPr id="7" name="TextBox 6">
            <a:extLst>
              <a:ext uri="{FF2B5EF4-FFF2-40B4-BE49-F238E27FC236}">
                <a16:creationId xmlns:a16="http://schemas.microsoft.com/office/drawing/2014/main" id="{4D771506-CE3E-E37A-2193-76F6D96F1C79}"/>
              </a:ext>
            </a:extLst>
          </p:cNvPr>
          <p:cNvSpPr txBox="1"/>
          <p:nvPr/>
        </p:nvSpPr>
        <p:spPr>
          <a:xfrm>
            <a:off x="8565982" y="3465317"/>
            <a:ext cx="3103503" cy="369332"/>
          </a:xfrm>
          <a:prstGeom prst="rect">
            <a:avLst/>
          </a:prstGeom>
          <a:noFill/>
          <a:ln>
            <a:solidFill>
              <a:schemeClr val="accent6">
                <a:lumMod val="75000"/>
              </a:schemeClr>
            </a:solidFill>
          </a:ln>
        </p:spPr>
        <p:txBody>
          <a:bodyPr wrap="square" rtlCol="0">
            <a:spAutoFit/>
          </a:bodyPr>
          <a:lstStyle/>
          <a:p>
            <a:pPr algn="ctr"/>
            <a:r>
              <a:rPr lang="en-GB" dirty="0">
                <a:solidFill>
                  <a:schemeClr val="accent6">
                    <a:lumMod val="75000"/>
                  </a:schemeClr>
                </a:solidFill>
                <a:latin typeface="David" panose="020E0502060401010101" pitchFamily="34" charset="-79"/>
              </a:rPr>
              <a:t>Corresponding link function</a:t>
            </a:r>
            <a:endParaRPr lang="LID4096" dirty="0">
              <a:solidFill>
                <a:schemeClr val="accent6">
                  <a:lumMod val="75000"/>
                </a:schemeClr>
              </a:solidFill>
              <a:latin typeface="David" panose="020E0502060401010101" pitchFamily="34" charset="-79"/>
            </a:endParaRPr>
          </a:p>
        </p:txBody>
      </p:sp>
      <p:sp>
        <p:nvSpPr>
          <p:cNvPr id="8" name="TextBox 7">
            <a:extLst>
              <a:ext uri="{FF2B5EF4-FFF2-40B4-BE49-F238E27FC236}">
                <a16:creationId xmlns:a16="http://schemas.microsoft.com/office/drawing/2014/main" id="{C271EFCF-C838-DD67-6092-026AC2534DA3}"/>
              </a:ext>
            </a:extLst>
          </p:cNvPr>
          <p:cNvSpPr txBox="1"/>
          <p:nvPr/>
        </p:nvSpPr>
        <p:spPr>
          <a:xfrm>
            <a:off x="5209112" y="3803525"/>
            <a:ext cx="1469422" cy="369332"/>
          </a:xfrm>
          <a:prstGeom prst="rect">
            <a:avLst/>
          </a:prstGeom>
          <a:noFill/>
          <a:ln>
            <a:solidFill>
              <a:schemeClr val="accent2">
                <a:lumMod val="50000"/>
              </a:schemeClr>
            </a:solidFill>
          </a:ln>
        </p:spPr>
        <p:txBody>
          <a:bodyPr wrap="square" rtlCol="0">
            <a:spAutoFit/>
          </a:bodyPr>
          <a:lstStyle/>
          <a:p>
            <a:pPr algn="ctr"/>
            <a:r>
              <a:rPr lang="en-GB" dirty="0">
                <a:solidFill>
                  <a:schemeClr val="accent2">
                    <a:lumMod val="50000"/>
                  </a:schemeClr>
                </a:solidFill>
                <a:latin typeface="David" panose="020E0502060401010101" pitchFamily="34" charset="-79"/>
              </a:rPr>
              <a:t>Dataset size</a:t>
            </a:r>
            <a:endParaRPr lang="LID4096" dirty="0">
              <a:solidFill>
                <a:schemeClr val="accent2">
                  <a:lumMod val="50000"/>
                </a:schemeClr>
              </a:solidFill>
              <a:latin typeface="David" panose="020E0502060401010101" pitchFamily="34" charset="-79"/>
            </a:endParaRPr>
          </a:p>
        </p:txBody>
      </p:sp>
      <p:sp>
        <p:nvSpPr>
          <p:cNvPr id="9" name="TextBox 8">
            <a:extLst>
              <a:ext uri="{FF2B5EF4-FFF2-40B4-BE49-F238E27FC236}">
                <a16:creationId xmlns:a16="http://schemas.microsoft.com/office/drawing/2014/main" id="{FADBAEA0-8715-CADF-5677-12C8FEC4EB06}"/>
              </a:ext>
            </a:extLst>
          </p:cNvPr>
          <p:cNvSpPr txBox="1"/>
          <p:nvPr/>
        </p:nvSpPr>
        <p:spPr>
          <a:xfrm>
            <a:off x="6330900" y="4233865"/>
            <a:ext cx="5416375" cy="369332"/>
          </a:xfrm>
          <a:prstGeom prst="rect">
            <a:avLst/>
          </a:prstGeom>
          <a:noFill/>
          <a:ln>
            <a:solidFill>
              <a:schemeClr val="accent5">
                <a:lumMod val="75000"/>
              </a:schemeClr>
            </a:solidFill>
          </a:ln>
        </p:spPr>
        <p:txBody>
          <a:bodyPr wrap="square" rtlCol="0">
            <a:spAutoFit/>
          </a:bodyPr>
          <a:lstStyle/>
          <a:p>
            <a:pPr algn="ctr"/>
            <a:r>
              <a:rPr lang="en-GB" dirty="0">
                <a:solidFill>
                  <a:schemeClr val="accent5">
                    <a:lumMod val="75000"/>
                  </a:schemeClr>
                </a:solidFill>
                <a:latin typeface="David" panose="020E0502060401010101" pitchFamily="34" charset="-79"/>
              </a:rPr>
              <a:t>Linearly modelling the parameter mu of the Gaussian</a:t>
            </a:r>
          </a:p>
        </p:txBody>
      </p:sp>
      <p:grpSp>
        <p:nvGrpSpPr>
          <p:cNvPr id="10" name="Group 9">
            <a:extLst>
              <a:ext uri="{FF2B5EF4-FFF2-40B4-BE49-F238E27FC236}">
                <a16:creationId xmlns:a16="http://schemas.microsoft.com/office/drawing/2014/main" id="{C6AC45F7-2E79-A352-0B4D-7FD883B42843}"/>
              </a:ext>
            </a:extLst>
          </p:cNvPr>
          <p:cNvGrpSpPr/>
          <p:nvPr/>
        </p:nvGrpSpPr>
        <p:grpSpPr>
          <a:xfrm>
            <a:off x="1187520" y="4604952"/>
            <a:ext cx="581111" cy="2019813"/>
            <a:chOff x="382716" y="3735087"/>
            <a:chExt cx="581111" cy="2019813"/>
          </a:xfrm>
        </p:grpSpPr>
        <p:sp>
          <p:nvSpPr>
            <p:cNvPr id="11" name="Left Bracket 10">
              <a:extLst>
                <a:ext uri="{FF2B5EF4-FFF2-40B4-BE49-F238E27FC236}">
                  <a16:creationId xmlns:a16="http://schemas.microsoft.com/office/drawing/2014/main" id="{922479A2-2387-221C-B989-8AC065736FEA}"/>
                </a:ext>
              </a:extLst>
            </p:cNvPr>
            <p:cNvSpPr/>
            <p:nvPr/>
          </p:nvSpPr>
          <p:spPr>
            <a:xfrm>
              <a:off x="838200" y="3830595"/>
              <a:ext cx="125627" cy="1828800"/>
            </a:xfrm>
            <a:prstGeom prst="leftBracket">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LID4096" dirty="0">
                <a:latin typeface="David" panose="020E0502060401010101" pitchFamily="34" charset="-79"/>
              </a:endParaRPr>
            </a:p>
          </p:txBody>
        </p:sp>
        <p:sp>
          <p:nvSpPr>
            <p:cNvPr id="12" name="TextBox 11">
              <a:extLst>
                <a:ext uri="{FF2B5EF4-FFF2-40B4-BE49-F238E27FC236}">
                  <a16:creationId xmlns:a16="http://schemas.microsoft.com/office/drawing/2014/main" id="{A4F8C1AC-77DC-31D1-ACC3-812F9DD48996}"/>
                </a:ext>
              </a:extLst>
            </p:cNvPr>
            <p:cNvSpPr txBox="1"/>
            <p:nvPr/>
          </p:nvSpPr>
          <p:spPr>
            <a:xfrm rot="16200000">
              <a:off x="-442525" y="4560328"/>
              <a:ext cx="2019813" cy="369332"/>
            </a:xfrm>
            <a:prstGeom prst="rect">
              <a:avLst/>
            </a:prstGeom>
            <a:noFill/>
            <a:ln>
              <a:solidFill>
                <a:srgbClr val="FFFFFF"/>
              </a:solidFill>
            </a:ln>
          </p:spPr>
          <p:txBody>
            <a:bodyPr wrap="square" rtlCol="0">
              <a:spAutoFit/>
            </a:bodyPr>
            <a:lstStyle/>
            <a:p>
              <a:pPr algn="ctr"/>
              <a:r>
                <a:rPr lang="en-GB" dirty="0">
                  <a:solidFill>
                    <a:schemeClr val="bg1">
                      <a:lumMod val="50000"/>
                    </a:schemeClr>
                  </a:solidFill>
                  <a:latin typeface="David" panose="020E0502060401010101" pitchFamily="34" charset="-79"/>
                </a:rPr>
                <a:t>Model Structure</a:t>
              </a:r>
              <a:endParaRPr lang="LID4096" dirty="0">
                <a:solidFill>
                  <a:schemeClr val="bg1">
                    <a:lumMod val="50000"/>
                  </a:schemeClr>
                </a:solidFill>
                <a:latin typeface="David" panose="020E0502060401010101" pitchFamily="34" charset="-79"/>
              </a:endParaRPr>
            </a:p>
          </p:txBody>
        </p:sp>
      </p:grpSp>
      <p:sp>
        <p:nvSpPr>
          <p:cNvPr id="13" name="TextBox 12">
            <a:extLst>
              <a:ext uri="{FF2B5EF4-FFF2-40B4-BE49-F238E27FC236}">
                <a16:creationId xmlns:a16="http://schemas.microsoft.com/office/drawing/2014/main" id="{DCFB689F-7971-F7AE-8DDE-CDA410D7AD6B}"/>
              </a:ext>
            </a:extLst>
          </p:cNvPr>
          <p:cNvSpPr txBox="1"/>
          <p:nvPr/>
        </p:nvSpPr>
        <p:spPr>
          <a:xfrm>
            <a:off x="8117514" y="4885911"/>
            <a:ext cx="2831349" cy="369332"/>
          </a:xfrm>
          <a:prstGeom prst="rect">
            <a:avLst/>
          </a:prstGeom>
          <a:noFill/>
          <a:ln>
            <a:solidFill>
              <a:schemeClr val="tx1"/>
            </a:solidFill>
          </a:ln>
        </p:spPr>
        <p:txBody>
          <a:bodyPr wrap="square" rtlCol="0">
            <a:spAutoFit/>
          </a:bodyPr>
          <a:lstStyle/>
          <a:p>
            <a:pPr algn="ctr"/>
            <a:r>
              <a:rPr lang="en-GB" dirty="0">
                <a:solidFill>
                  <a:schemeClr val="tx1">
                    <a:lumMod val="95000"/>
                    <a:lumOff val="5000"/>
                  </a:schemeClr>
                </a:solidFill>
                <a:latin typeface="David" panose="020E0502060401010101" pitchFamily="34" charset="-79"/>
              </a:rPr>
              <a:t>Common level effects </a:t>
            </a:r>
          </a:p>
        </p:txBody>
      </p:sp>
      <p:sp>
        <p:nvSpPr>
          <p:cNvPr id="14" name="TextBox 13">
            <a:extLst>
              <a:ext uri="{FF2B5EF4-FFF2-40B4-BE49-F238E27FC236}">
                <a16:creationId xmlns:a16="http://schemas.microsoft.com/office/drawing/2014/main" id="{E3C9812B-6C0A-989D-2117-3E79B9A271CD}"/>
              </a:ext>
            </a:extLst>
          </p:cNvPr>
          <p:cNvSpPr txBox="1"/>
          <p:nvPr/>
        </p:nvSpPr>
        <p:spPr>
          <a:xfrm>
            <a:off x="7832203" y="5805933"/>
            <a:ext cx="2558443" cy="646331"/>
          </a:xfrm>
          <a:prstGeom prst="rect">
            <a:avLst/>
          </a:prstGeom>
          <a:noFill/>
          <a:ln>
            <a:solidFill>
              <a:schemeClr val="accent1">
                <a:lumMod val="75000"/>
              </a:schemeClr>
            </a:solidFill>
          </a:ln>
        </p:spPr>
        <p:txBody>
          <a:bodyPr wrap="square" rtlCol="0">
            <a:spAutoFit/>
          </a:bodyPr>
          <a:lstStyle/>
          <a:p>
            <a:pPr algn="ctr"/>
            <a:r>
              <a:rPr lang="en-GB" dirty="0">
                <a:solidFill>
                  <a:schemeClr val="accent1">
                    <a:lumMod val="75000"/>
                  </a:schemeClr>
                </a:solidFill>
                <a:latin typeface="David" panose="020E0502060401010101" pitchFamily="34" charset="-79"/>
              </a:rPr>
              <a:t>Not linearly modeled parameters</a:t>
            </a:r>
          </a:p>
        </p:txBody>
      </p:sp>
      <p:sp>
        <p:nvSpPr>
          <p:cNvPr id="15" name="Left Bracket 14">
            <a:extLst>
              <a:ext uri="{FF2B5EF4-FFF2-40B4-BE49-F238E27FC236}">
                <a16:creationId xmlns:a16="http://schemas.microsoft.com/office/drawing/2014/main" id="{CCFBEADF-C0A7-B899-5732-C5A5AF716DAB}"/>
              </a:ext>
            </a:extLst>
          </p:cNvPr>
          <p:cNvSpPr/>
          <p:nvPr/>
        </p:nvSpPr>
        <p:spPr>
          <a:xfrm rot="10800000">
            <a:off x="7832204" y="4717231"/>
            <a:ext cx="125626" cy="757879"/>
          </a:xfrm>
          <a:prstGeom prst="leftBracket">
            <a:avLst/>
          </a:prstGeom>
          <a:noFill/>
          <a:ln>
            <a:solidFill>
              <a:schemeClr val="tx1"/>
            </a:solidFill>
          </a:ln>
        </p:spPr>
        <p:txBody>
          <a:bodyPr wrap="square" rtlCol="0">
            <a:spAutoFit/>
          </a:bodyPr>
          <a:lstStyle/>
          <a:p>
            <a:pPr algn="ctr"/>
            <a:endParaRPr lang="LID4096" dirty="0">
              <a:solidFill>
                <a:schemeClr val="tx1">
                  <a:lumMod val="95000"/>
                  <a:lumOff val="5000"/>
                </a:schemeClr>
              </a:solidFill>
              <a:latin typeface="David" panose="020E0502060401010101" pitchFamily="34" charset="-79"/>
            </a:endParaRPr>
          </a:p>
        </p:txBody>
      </p:sp>
      <p:sp>
        <p:nvSpPr>
          <p:cNvPr id="16" name="Left Bracket 15">
            <a:extLst>
              <a:ext uri="{FF2B5EF4-FFF2-40B4-BE49-F238E27FC236}">
                <a16:creationId xmlns:a16="http://schemas.microsoft.com/office/drawing/2014/main" id="{14A3C457-F25D-70C1-8EFB-F11A3136B215}"/>
              </a:ext>
            </a:extLst>
          </p:cNvPr>
          <p:cNvSpPr/>
          <p:nvPr/>
        </p:nvSpPr>
        <p:spPr>
          <a:xfrm rot="10800000">
            <a:off x="7636158" y="5925368"/>
            <a:ext cx="82444" cy="372904"/>
          </a:xfrm>
          <a:prstGeom prst="leftBracket">
            <a:avLst/>
          </a:prstGeom>
          <a:noFill/>
          <a:ln>
            <a:solidFill>
              <a:schemeClr val="tx1"/>
            </a:solidFill>
          </a:ln>
        </p:spPr>
        <p:txBody>
          <a:bodyPr wrap="square" rtlCol="0">
            <a:spAutoFit/>
          </a:bodyPr>
          <a:lstStyle/>
          <a:p>
            <a:pPr algn="ctr"/>
            <a:endParaRPr lang="LID4096" dirty="0">
              <a:solidFill>
                <a:schemeClr val="tx1">
                  <a:lumMod val="95000"/>
                  <a:lumOff val="5000"/>
                </a:schemeClr>
              </a:solidFill>
              <a:latin typeface="David" panose="020E0502060401010101" pitchFamily="34" charset="-79"/>
            </a:endParaRPr>
          </a:p>
        </p:txBody>
      </p:sp>
      <p:cxnSp>
        <p:nvCxnSpPr>
          <p:cNvPr id="17" name="Straight Arrow Connector 16">
            <a:extLst>
              <a:ext uri="{FF2B5EF4-FFF2-40B4-BE49-F238E27FC236}">
                <a16:creationId xmlns:a16="http://schemas.microsoft.com/office/drawing/2014/main" id="{6C2D5567-6CDF-B223-3746-E2066882EC5C}"/>
              </a:ext>
            </a:extLst>
          </p:cNvPr>
          <p:cNvCxnSpPr>
            <a:cxnSpLocks/>
            <a:stCxn id="9" idx="1"/>
          </p:cNvCxnSpPr>
          <p:nvPr/>
        </p:nvCxnSpPr>
        <p:spPr>
          <a:xfrm flipH="1" flipV="1">
            <a:off x="2867378" y="4326399"/>
            <a:ext cx="3463522" cy="92132"/>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8" name="Straight Arrow Connector 17">
            <a:extLst>
              <a:ext uri="{FF2B5EF4-FFF2-40B4-BE49-F238E27FC236}">
                <a16:creationId xmlns:a16="http://schemas.microsoft.com/office/drawing/2014/main" id="{EA1850E8-6FCB-3ED7-D50A-A6355C953F50}"/>
              </a:ext>
            </a:extLst>
          </p:cNvPr>
          <p:cNvCxnSpPr>
            <a:cxnSpLocks/>
            <a:stCxn id="8" idx="1"/>
          </p:cNvCxnSpPr>
          <p:nvPr/>
        </p:nvCxnSpPr>
        <p:spPr>
          <a:xfrm flipH="1" flipV="1">
            <a:off x="3386667" y="3803525"/>
            <a:ext cx="1822445" cy="184666"/>
          </a:xfrm>
          <a:prstGeom prst="straightConnector1">
            <a:avLst/>
          </a:prstGeom>
          <a:ln>
            <a:solidFill>
              <a:schemeClr val="accent2">
                <a:lumMod val="50000"/>
              </a:schemeClr>
            </a:solidFill>
            <a:tailEnd type="triangle"/>
          </a:ln>
        </p:spPr>
        <p:style>
          <a:lnRef idx="2">
            <a:schemeClr val="accent2"/>
          </a:lnRef>
          <a:fillRef idx="0">
            <a:schemeClr val="accent2"/>
          </a:fillRef>
          <a:effectRef idx="1">
            <a:schemeClr val="accent2"/>
          </a:effectRef>
          <a:fontRef idx="minor">
            <a:schemeClr val="tx1"/>
          </a:fontRef>
        </p:style>
      </p:cxnSp>
      <p:cxnSp>
        <p:nvCxnSpPr>
          <p:cNvPr id="19" name="Straight Arrow Connector 18">
            <a:extLst>
              <a:ext uri="{FF2B5EF4-FFF2-40B4-BE49-F238E27FC236}">
                <a16:creationId xmlns:a16="http://schemas.microsoft.com/office/drawing/2014/main" id="{63741D92-F1ED-03F3-B8F4-B8771D490564}"/>
              </a:ext>
            </a:extLst>
          </p:cNvPr>
          <p:cNvCxnSpPr>
            <a:cxnSpLocks/>
            <a:stCxn id="7" idx="1"/>
          </p:cNvCxnSpPr>
          <p:nvPr/>
        </p:nvCxnSpPr>
        <p:spPr>
          <a:xfrm flipH="1" flipV="1">
            <a:off x="4470400" y="3587430"/>
            <a:ext cx="4095582" cy="62553"/>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20" name="Straight Arrow Connector 19">
            <a:extLst>
              <a:ext uri="{FF2B5EF4-FFF2-40B4-BE49-F238E27FC236}">
                <a16:creationId xmlns:a16="http://schemas.microsoft.com/office/drawing/2014/main" id="{1B9A233B-1B1A-D92C-7DF3-1F1D4AD3A92B}"/>
              </a:ext>
            </a:extLst>
          </p:cNvPr>
          <p:cNvCxnSpPr>
            <a:cxnSpLocks/>
            <a:stCxn id="6" idx="1"/>
          </p:cNvCxnSpPr>
          <p:nvPr/>
        </p:nvCxnSpPr>
        <p:spPr>
          <a:xfrm flipH="1">
            <a:off x="3962400" y="3105009"/>
            <a:ext cx="4803089" cy="2071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1ED4FC68-49B6-93C8-EE91-7B831D44AEEF}"/>
              </a:ext>
            </a:extLst>
          </p:cNvPr>
          <p:cNvCxnSpPr>
            <a:cxnSpLocks/>
            <a:stCxn id="4" idx="1"/>
          </p:cNvCxnSpPr>
          <p:nvPr/>
        </p:nvCxnSpPr>
        <p:spPr>
          <a:xfrm flipH="1">
            <a:off x="7281333" y="1483297"/>
            <a:ext cx="2049716" cy="153564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7219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5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5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25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25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5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2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3" grpId="0" animBg="1"/>
      <p:bldP spid="1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D25D4-003A-0E4E-93FE-653885770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C8CF1-2287-3127-9AFD-A45916AC6DCA}"/>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FCD8D38A-8A4A-D9F7-895C-0D43D100CAAA}"/>
              </a:ext>
            </a:extLst>
          </p:cNvPr>
          <p:cNvSpPr>
            <a:spLocks noGrp="1"/>
          </p:cNvSpPr>
          <p:nvPr>
            <p:ph idx="1"/>
          </p:nvPr>
        </p:nvSpPr>
        <p:spPr>
          <a:xfrm>
            <a:off x="838200" y="1346560"/>
            <a:ext cx="3894574" cy="5378705"/>
          </a:xfrm>
        </p:spPr>
        <p:txBody>
          <a:bodyPr>
            <a:normAutofit/>
          </a:bodyPr>
          <a:lstStyle/>
          <a:p>
            <a:pPr>
              <a:lnSpc>
                <a:spcPct val="150000"/>
              </a:lnSpc>
            </a:pPr>
            <a:r>
              <a:rPr lang="en-GB" dirty="0"/>
              <a:t>Prior predictive</a:t>
            </a:r>
          </a:p>
          <a:p>
            <a:pPr>
              <a:lnSpc>
                <a:spcPct val="150000"/>
              </a:lnSpc>
              <a:buFont typeface="Wingdings" panose="05000000000000000000" pitchFamily="2" charset="2"/>
              <a:buChar char="§"/>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GB" dirty="0"/>
          </a:p>
        </p:txBody>
      </p:sp>
      <p:pic>
        <p:nvPicPr>
          <p:cNvPr id="18434" name="Picture 2">
            <a:extLst>
              <a:ext uri="{FF2B5EF4-FFF2-40B4-BE49-F238E27FC236}">
                <a16:creationId xmlns:a16="http://schemas.microsoft.com/office/drawing/2014/main" id="{CD516B01-7E1B-94BE-C8B1-FDA674583B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8486" y="1959428"/>
            <a:ext cx="7162305" cy="4514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96508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E05DC-E68D-F23F-207A-0DE936B1F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D6A11-C74E-7908-989E-8E36B5D85DC3}"/>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2CDCA220-5EB6-99D1-13DA-C36FDC04F9E0}"/>
              </a:ext>
            </a:extLst>
          </p:cNvPr>
          <p:cNvSpPr>
            <a:spLocks noGrp="1"/>
          </p:cNvSpPr>
          <p:nvPr>
            <p:ph idx="1"/>
          </p:nvPr>
        </p:nvSpPr>
        <p:spPr>
          <a:xfrm>
            <a:off x="838200" y="1346560"/>
            <a:ext cx="10515600" cy="5378705"/>
          </a:xfrm>
        </p:spPr>
        <p:txBody>
          <a:bodyPr>
            <a:normAutofit/>
          </a:bodyPr>
          <a:lstStyle/>
          <a:p>
            <a:pPr>
              <a:lnSpc>
                <a:spcPct val="150000"/>
              </a:lnSpc>
            </a:pPr>
            <a:r>
              <a:rPr lang="en-GB" dirty="0"/>
              <a:t>Sampling &amp; diagnostics</a:t>
            </a:r>
          </a:p>
          <a:p>
            <a:pPr>
              <a:lnSpc>
                <a:spcPct val="150000"/>
              </a:lnSpc>
              <a:buFont typeface="Wingdings" panose="05000000000000000000" pitchFamily="2" charset="2"/>
              <a:buChar char="§"/>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GB" dirty="0"/>
          </a:p>
        </p:txBody>
      </p:sp>
      <p:pic>
        <p:nvPicPr>
          <p:cNvPr id="6" name="Picture 5">
            <a:extLst>
              <a:ext uri="{FF2B5EF4-FFF2-40B4-BE49-F238E27FC236}">
                <a16:creationId xmlns:a16="http://schemas.microsoft.com/office/drawing/2014/main" id="{0B5BDC80-1598-07E6-B219-4AB99805EBC2}"/>
              </a:ext>
            </a:extLst>
          </p:cNvPr>
          <p:cNvPicPr>
            <a:picLocks noChangeAspect="1"/>
          </p:cNvPicPr>
          <p:nvPr/>
        </p:nvPicPr>
        <p:blipFill>
          <a:blip r:embed="rId3"/>
          <a:stretch>
            <a:fillRect/>
          </a:stretch>
        </p:blipFill>
        <p:spPr>
          <a:xfrm>
            <a:off x="5712877" y="283753"/>
            <a:ext cx="4255090" cy="1132224"/>
          </a:xfrm>
          <a:prstGeom prst="rect">
            <a:avLst/>
          </a:prstGeom>
        </p:spPr>
      </p:pic>
      <p:pic>
        <p:nvPicPr>
          <p:cNvPr id="15362" name="Picture 2">
            <a:extLst>
              <a:ext uri="{FF2B5EF4-FFF2-40B4-BE49-F238E27FC236}">
                <a16:creationId xmlns:a16="http://schemas.microsoft.com/office/drawing/2014/main" id="{0A3EAFCF-7FBF-C450-C5B1-76CCB8D435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5232" y="1955332"/>
            <a:ext cx="6980953" cy="463109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76E5FC9-858C-0487-6259-0389854EEAB2}"/>
              </a:ext>
            </a:extLst>
          </p:cNvPr>
          <p:cNvPicPr>
            <a:picLocks noChangeAspect="1"/>
          </p:cNvPicPr>
          <p:nvPr/>
        </p:nvPicPr>
        <p:blipFill>
          <a:blip r:embed="rId5"/>
          <a:stretch>
            <a:fillRect/>
          </a:stretch>
        </p:blipFill>
        <p:spPr>
          <a:xfrm>
            <a:off x="515815" y="2766218"/>
            <a:ext cx="3874233" cy="1325564"/>
          </a:xfrm>
          <a:prstGeom prst="rect">
            <a:avLst/>
          </a:prstGeom>
        </p:spPr>
      </p:pic>
    </p:spTree>
    <p:extLst>
      <p:ext uri="{BB962C8B-B14F-4D97-AF65-F5344CB8AC3E}">
        <p14:creationId xmlns:p14="http://schemas.microsoft.com/office/powerpoint/2010/main" val="273038023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5D5C-FFB0-5315-C2B9-B0E49B4B03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4B250-9815-4EEC-113B-4075B0DEFBF1}"/>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CFE1D63D-88B4-B741-D7FC-5191A84BA273}"/>
              </a:ext>
            </a:extLst>
          </p:cNvPr>
          <p:cNvSpPr>
            <a:spLocks noGrp="1"/>
          </p:cNvSpPr>
          <p:nvPr>
            <p:ph idx="1"/>
          </p:nvPr>
        </p:nvSpPr>
        <p:spPr>
          <a:xfrm>
            <a:off x="838200" y="1346560"/>
            <a:ext cx="10515600" cy="5378705"/>
          </a:xfrm>
        </p:spPr>
        <p:txBody>
          <a:bodyPr>
            <a:normAutofit/>
          </a:bodyPr>
          <a:lstStyle/>
          <a:p>
            <a:pPr>
              <a:lnSpc>
                <a:spcPct val="150000"/>
              </a:lnSpc>
            </a:pPr>
            <a:r>
              <a:rPr lang="en-GB" dirty="0"/>
              <a:t>Posterior predictive</a:t>
            </a:r>
          </a:p>
          <a:p>
            <a:pPr>
              <a:lnSpc>
                <a:spcPct val="150000"/>
              </a:lnSpc>
              <a:buFont typeface="Wingdings" panose="05000000000000000000" pitchFamily="2" charset="2"/>
              <a:buChar char="§"/>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GB" dirty="0"/>
          </a:p>
        </p:txBody>
      </p:sp>
      <p:pic>
        <p:nvPicPr>
          <p:cNvPr id="17410" name="Picture 2">
            <a:extLst>
              <a:ext uri="{FF2B5EF4-FFF2-40B4-BE49-F238E27FC236}">
                <a16:creationId xmlns:a16="http://schemas.microsoft.com/office/drawing/2014/main" id="{6A4AFC8E-ACC1-3F3C-4E4E-1F4C0152B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667" y="1938875"/>
            <a:ext cx="7308762" cy="46069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37713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B3836-324B-35D0-E35A-D4161DEBF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DC1C8-6A58-8213-A365-29F49DB702FD}"/>
              </a:ext>
            </a:extLst>
          </p:cNvPr>
          <p:cNvSpPr>
            <a:spLocks noGrp="1"/>
          </p:cNvSpPr>
          <p:nvPr>
            <p:ph type="title"/>
          </p:nvPr>
        </p:nvSpPr>
        <p:spPr>
          <a:xfrm>
            <a:off x="838200" y="20997"/>
            <a:ext cx="10515600" cy="1325563"/>
          </a:xfrm>
        </p:spPr>
        <p:txBody>
          <a:bodyPr/>
          <a:lstStyle/>
          <a:p>
            <a:r>
              <a:rPr lang="en-US" dirty="0"/>
              <a:t>Bambi</a:t>
            </a:r>
          </a:p>
        </p:txBody>
      </p:sp>
      <p:sp>
        <p:nvSpPr>
          <p:cNvPr id="3" name="Content Placeholder 2">
            <a:extLst>
              <a:ext uri="{FF2B5EF4-FFF2-40B4-BE49-F238E27FC236}">
                <a16:creationId xmlns:a16="http://schemas.microsoft.com/office/drawing/2014/main" id="{C81F731E-9510-0819-F92F-8757B6D871D6}"/>
              </a:ext>
            </a:extLst>
          </p:cNvPr>
          <p:cNvSpPr>
            <a:spLocks noGrp="1"/>
          </p:cNvSpPr>
          <p:nvPr>
            <p:ph idx="1"/>
          </p:nvPr>
        </p:nvSpPr>
        <p:spPr>
          <a:xfrm>
            <a:off x="838200" y="1346560"/>
            <a:ext cx="10515600" cy="5378705"/>
          </a:xfrm>
        </p:spPr>
        <p:txBody>
          <a:bodyPr>
            <a:normAutofit/>
          </a:bodyPr>
          <a:lstStyle/>
          <a:p>
            <a:pPr>
              <a:lnSpc>
                <a:spcPct val="150000"/>
              </a:lnSpc>
            </a:pPr>
            <a:r>
              <a:rPr lang="en-GB" dirty="0"/>
              <a:t>Posterior</a:t>
            </a:r>
          </a:p>
          <a:p>
            <a:pPr>
              <a:lnSpc>
                <a:spcPct val="150000"/>
              </a:lnSpc>
              <a:buFont typeface="Wingdings" panose="05000000000000000000" pitchFamily="2" charset="2"/>
              <a:buChar char="§"/>
            </a:pPr>
            <a:endParaRPr lang="en-GB" dirty="0"/>
          </a:p>
          <a:p>
            <a:pPr marL="0" indent="0">
              <a:lnSpc>
                <a:spcPct val="150000"/>
              </a:lnSpc>
              <a:buNone/>
            </a:pPr>
            <a:endParaRPr lang="en-GB" dirty="0"/>
          </a:p>
          <a:p>
            <a:pPr>
              <a:lnSpc>
                <a:spcPct val="150000"/>
              </a:lnSpc>
              <a:buFont typeface="Wingdings" panose="05000000000000000000" pitchFamily="2" charset="2"/>
              <a:buChar char="§"/>
            </a:pPr>
            <a:endParaRPr lang="en-GB" dirty="0"/>
          </a:p>
        </p:txBody>
      </p:sp>
      <p:pic>
        <p:nvPicPr>
          <p:cNvPr id="5" name="Picture 4">
            <a:extLst>
              <a:ext uri="{FF2B5EF4-FFF2-40B4-BE49-F238E27FC236}">
                <a16:creationId xmlns:a16="http://schemas.microsoft.com/office/drawing/2014/main" id="{AE07D444-C432-0DB5-A7E4-AF2671CF7DC5}"/>
              </a:ext>
            </a:extLst>
          </p:cNvPr>
          <p:cNvPicPr>
            <a:picLocks noChangeAspect="1"/>
          </p:cNvPicPr>
          <p:nvPr/>
        </p:nvPicPr>
        <p:blipFill>
          <a:blip r:embed="rId3"/>
          <a:stretch>
            <a:fillRect/>
          </a:stretch>
        </p:blipFill>
        <p:spPr>
          <a:xfrm>
            <a:off x="433042" y="2625155"/>
            <a:ext cx="4191585" cy="1952898"/>
          </a:xfrm>
          <a:prstGeom prst="rect">
            <a:avLst/>
          </a:prstGeom>
        </p:spPr>
      </p:pic>
      <p:pic>
        <p:nvPicPr>
          <p:cNvPr id="16386" name="Picture 2">
            <a:extLst>
              <a:ext uri="{FF2B5EF4-FFF2-40B4-BE49-F238E27FC236}">
                <a16:creationId xmlns:a16="http://schemas.microsoft.com/office/drawing/2014/main" id="{13105C4C-07D8-E4A4-77C8-26741C1AE0F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9821"/>
          <a:stretch>
            <a:fillRect/>
          </a:stretch>
        </p:blipFill>
        <p:spPr bwMode="auto">
          <a:xfrm>
            <a:off x="4770743" y="4019120"/>
            <a:ext cx="7421257" cy="225504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a:extLst>
              <a:ext uri="{FF2B5EF4-FFF2-40B4-BE49-F238E27FC236}">
                <a16:creationId xmlns:a16="http://schemas.microsoft.com/office/drawing/2014/main" id="{549F9970-358D-46EE-BD9F-20215F2FBCA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9821"/>
          <a:stretch>
            <a:fillRect/>
          </a:stretch>
        </p:blipFill>
        <p:spPr bwMode="auto">
          <a:xfrm>
            <a:off x="4770743" y="1346560"/>
            <a:ext cx="7421257" cy="2255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651359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816FC-88FD-D980-C432-16B5C02B66F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9443C8B-0B4D-97B7-B7E6-E65A52AA6547}"/>
              </a:ext>
            </a:extLst>
          </p:cNvPr>
          <p:cNvSpPr>
            <a:spLocks noGrp="1"/>
          </p:cNvSpPr>
          <p:nvPr>
            <p:ph type="title"/>
          </p:nvPr>
        </p:nvSpPr>
        <p:spPr>
          <a:xfrm>
            <a:off x="838200" y="2435085"/>
            <a:ext cx="10515600" cy="1325563"/>
          </a:xfrm>
        </p:spPr>
        <p:txBody>
          <a:bodyPr/>
          <a:lstStyle/>
          <a:p>
            <a:pPr algn="ctr"/>
            <a:r>
              <a:rPr lang="he-IL" dirty="0"/>
              <a:t>Frequentist </a:t>
            </a:r>
            <a:r>
              <a:rPr lang="en-US" dirty="0"/>
              <a:t>Simple L</a:t>
            </a:r>
            <a:r>
              <a:rPr lang="he-IL" dirty="0" err="1"/>
              <a:t>inear</a:t>
            </a:r>
            <a:r>
              <a:rPr lang="he-IL" dirty="0"/>
              <a:t> </a:t>
            </a:r>
            <a:r>
              <a:rPr lang="en-US" dirty="0"/>
              <a:t>R</a:t>
            </a:r>
            <a:r>
              <a:rPr lang="he-IL" dirty="0" err="1"/>
              <a:t>egression</a:t>
            </a:r>
            <a:endParaRPr lang="he-IL" dirty="0"/>
          </a:p>
        </p:txBody>
      </p:sp>
    </p:spTree>
    <p:extLst>
      <p:ext uri="{BB962C8B-B14F-4D97-AF65-F5344CB8AC3E}">
        <p14:creationId xmlns:p14="http://schemas.microsoft.com/office/powerpoint/2010/main" val="23149992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44231-4C47-A93B-4689-B10023827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8885A-317A-4D0D-D835-89E0226D4B07}"/>
              </a:ext>
            </a:extLst>
          </p:cNvPr>
          <p:cNvSpPr>
            <a:spLocks noGrp="1"/>
          </p:cNvSpPr>
          <p:nvPr>
            <p:ph type="title"/>
          </p:nvPr>
        </p:nvSpPr>
        <p:spPr/>
        <p:txBody>
          <a:bodyPr/>
          <a:lstStyle/>
          <a:p>
            <a:r>
              <a:rPr lang="en-US" dirty="0"/>
              <a:t>Frequentist linear regression</a:t>
            </a:r>
            <a:br>
              <a:rPr lang="en-US" dirty="0"/>
            </a:br>
            <a:endParaRPr lang="he-IL" dirty="0"/>
          </a:p>
        </p:txBody>
      </p:sp>
      <p:sp>
        <p:nvSpPr>
          <p:cNvPr id="3" name="Content Placeholder 2">
            <a:extLst>
              <a:ext uri="{FF2B5EF4-FFF2-40B4-BE49-F238E27FC236}">
                <a16:creationId xmlns:a16="http://schemas.microsoft.com/office/drawing/2014/main" id="{2BD96225-8FBE-DD5E-4517-DD9118609B16}"/>
              </a:ext>
            </a:extLst>
          </p:cNvPr>
          <p:cNvSpPr>
            <a:spLocks noGrp="1"/>
          </p:cNvSpPr>
          <p:nvPr>
            <p:ph idx="1"/>
          </p:nvPr>
        </p:nvSpPr>
        <p:spPr/>
        <p:txBody>
          <a:bodyPr>
            <a:normAutofit/>
          </a:bodyPr>
          <a:lstStyle/>
          <a:p>
            <a:r>
              <a:rPr lang="en-US" dirty="0"/>
              <a:t>The frequentist model uses the same linear equation, but the interpretation changes:</a:t>
            </a:r>
          </a:p>
          <a:p>
            <a:pPr lvl="1"/>
            <a:r>
              <a:rPr lang="en-US" b="1" dirty="0"/>
              <a:t>Bayesian model:</a:t>
            </a:r>
            <a:r>
              <a:rPr lang="en-US" dirty="0"/>
              <a:t> posterior distributions over parameters.</a:t>
            </a:r>
          </a:p>
          <a:p>
            <a:pPr lvl="1"/>
            <a:r>
              <a:rPr lang="en-US" b="1" dirty="0"/>
              <a:t>Frequentist OLS: </a:t>
            </a:r>
            <a:r>
              <a:rPr lang="en-US" dirty="0"/>
              <a:t>point estimates, standard errors, confidence intervals, t-tests, and p-values.</a:t>
            </a:r>
          </a:p>
          <a:p>
            <a:pPr lvl="1"/>
            <a:endParaRPr lang="he-IL" dirty="0"/>
          </a:p>
        </p:txBody>
      </p:sp>
    </p:spTree>
    <p:extLst>
      <p:ext uri="{BB962C8B-B14F-4D97-AF65-F5344CB8AC3E}">
        <p14:creationId xmlns:p14="http://schemas.microsoft.com/office/powerpoint/2010/main" val="327950689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77211-5266-0437-1569-C5A86A1B55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AEE04-63F8-5CD1-7CC9-7C11E04A9954}"/>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CCBFA5-1B63-87C1-E173-A0B2B3E87590}"/>
                  </a:ext>
                </a:extLst>
              </p:cNvPr>
              <p:cNvSpPr>
                <a:spLocks noGrp="1"/>
              </p:cNvSpPr>
              <p:nvPr>
                <p:ph idx="1"/>
              </p:nvPr>
            </p:nvSpPr>
            <p:spPr>
              <a:xfrm>
                <a:off x="838200" y="1457011"/>
                <a:ext cx="10515600" cy="4719952"/>
              </a:xfrm>
            </p:spPr>
            <p:txBody>
              <a:bodyPr>
                <a:normAutofit fontScale="77500" lnSpcReduction="20000"/>
              </a:bodyPr>
              <a:lstStyle/>
              <a:p>
                <a:r>
                  <a:rPr lang="en-US" b="1" dirty="0"/>
                  <a:t>Bayesian notation:</a:t>
                </a:r>
              </a:p>
              <a:p>
                <a:pPr marL="0"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𝜇</m:t>
                      </m:r>
                      <m:r>
                        <a:rPr lang="en-US" i="1" dirty="0">
                          <a:latin typeface="Cambria Math" panose="02040503050406030204" pitchFamily="18" charset="0"/>
                        </a:rPr>
                        <m:t>=</m:t>
                      </m:r>
                      <m:r>
                        <a:rPr lang="en-US" i="1" dirty="0">
                          <a:latin typeface="Cambria Math" panose="02040503050406030204" pitchFamily="18" charset="0"/>
                        </a:rPr>
                        <m:t>𝑋</m:t>
                      </m:r>
                      <m:r>
                        <a:rPr lang="en-US" i="1" dirty="0">
                          <a:latin typeface="Cambria Math" panose="02040503050406030204" pitchFamily="18" charset="0"/>
                        </a:rPr>
                        <m:t>𝛽</m:t>
                      </m:r>
                    </m:oMath>
                  </m:oMathPara>
                </a14:m>
                <a:endParaRPr lang="he-IL" dirty="0"/>
              </a:p>
              <a:p>
                <a:pPr marL="0" indent="0">
                  <a:buNone/>
                </a:pPr>
                <a14:m>
                  <m:oMathPara xmlns:m="http://schemas.openxmlformats.org/officeDocument/2006/math">
                    <m:oMathParaPr>
                      <m:jc m:val="centerGroup"/>
                    </m:oMathParaPr>
                    <m:oMath xmlns:m="http://schemas.openxmlformats.org/officeDocument/2006/math">
                      <m:sSub>
                        <m:sSubPr>
                          <m:ctrlPr>
                            <a:rPr lang="he-IL" b="0" i="1" dirty="0" smtClean="0">
                              <a:latin typeface="Cambria Math" panose="02040503050406030204" pitchFamily="18" charset="0"/>
                            </a:rPr>
                          </m:ctrlPr>
                        </m:sSubPr>
                        <m:e>
                          <m:r>
                            <a:rPr lang="en-US" i="1" dirty="0">
                              <a:latin typeface="Cambria Math" panose="02040503050406030204" pitchFamily="18" charset="0"/>
                            </a:rPr>
                            <m:t>𝜇</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𝛽</m:t>
                          </m:r>
                        </m:e>
                        <m:sub>
                          <m:r>
                            <a:rPr lang="en-US" b="0" i="1" dirty="0" smtClean="0">
                              <a:latin typeface="Cambria Math" panose="02040503050406030204" pitchFamily="18" charset="0"/>
                            </a:rPr>
                            <m:t>0</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𝛽</m:t>
                          </m:r>
                        </m:e>
                        <m:sub>
                          <m:r>
                            <a:rPr lang="en-US" b="0" i="1" dirty="0" smtClean="0">
                              <a:latin typeface="Cambria Math" panose="02040503050406030204" pitchFamily="18" charset="0"/>
                            </a:rPr>
                            <m:t>1</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oMath>
                  </m:oMathPara>
                </a14:m>
                <a:endParaRPr lang="he-IL" dirty="0"/>
              </a:p>
              <a:p>
                <a:pPr marL="0" indent="0">
                  <a:buNone/>
                </a:pPr>
                <a:endParaRPr lang="en-US" dirty="0"/>
              </a:p>
              <a:p>
                <a:pPr lvl="1"/>
                <a14:m>
                  <m:oMath xmlns:m="http://schemas.openxmlformats.org/officeDocument/2006/math">
                    <m:r>
                      <m:rPr>
                        <m:nor/>
                      </m:rPr>
                      <a:rPr lang="en-US" dirty="0"/>
                      <m:t>𝛽</m:t>
                    </m:r>
                    <m:r>
                      <m:rPr>
                        <m:nor/>
                      </m:rPr>
                      <a:rPr lang="en-US" dirty="0"/>
                      <m:t> </m:t>
                    </m:r>
                    <m:r>
                      <m:rPr>
                        <m:nor/>
                      </m:rPr>
                      <a:rPr lang="en-US" dirty="0"/>
                      <m:t>is</m:t>
                    </m:r>
                    <m:r>
                      <m:rPr>
                        <m:nor/>
                      </m:rPr>
                      <a:rPr lang="en-US" dirty="0"/>
                      <m:t> </m:t>
                    </m:r>
                    <m:r>
                      <m:rPr>
                        <m:nor/>
                      </m:rPr>
                      <a:rPr lang="en-US" dirty="0"/>
                      <m:t>the</m:t>
                    </m:r>
                    <m:r>
                      <m:rPr>
                        <m:nor/>
                      </m:rPr>
                      <a:rPr lang="en-US" dirty="0"/>
                      <m:t> </m:t>
                    </m:r>
                    <m:r>
                      <m:rPr>
                        <m:nor/>
                      </m:rPr>
                      <a:rPr lang="en-US" dirty="0"/>
                      <m:t>unknown</m:t>
                    </m:r>
                    <m:r>
                      <m:rPr>
                        <m:nor/>
                      </m:rPr>
                      <a:rPr lang="en-US" dirty="0"/>
                      <m:t> </m:t>
                    </m:r>
                    <m:r>
                      <m:rPr>
                        <m:nor/>
                      </m:rPr>
                      <a:rPr lang="en-US" dirty="0"/>
                      <m:t>parameter</m:t>
                    </m:r>
                    <m:r>
                      <m:rPr>
                        <m:nor/>
                      </m:rPr>
                      <a:rPr lang="en-US" dirty="0"/>
                      <m:t> </m:t>
                    </m:r>
                    <m:r>
                      <m:rPr>
                        <m:nor/>
                      </m:rPr>
                      <a:rPr lang="en-US" dirty="0"/>
                      <m:t>vector</m:t>
                    </m:r>
                    <m:r>
                      <m:rPr>
                        <m:nor/>
                      </m:rPr>
                      <a:rPr lang="en-US" dirty="0"/>
                      <m:t>. </m:t>
                    </m:r>
                  </m:oMath>
                </a14:m>
                <a:endParaRPr lang="en-US" dirty="0"/>
              </a:p>
              <a:p>
                <a:r>
                  <a:rPr lang="en-US" b="1" dirty="0"/>
                  <a:t>Frequentist notation:</a:t>
                </a:r>
              </a:p>
              <a:p>
                <a:pPr marL="0" indent="0">
                  <a:buNone/>
                </a:pPr>
                <a14:m>
                  <m:oMathPara xmlns:m="http://schemas.openxmlformats.org/officeDocument/2006/math">
                    <m:oMathParaPr>
                      <m:jc m:val="centerGroup"/>
                    </m:oMathParaPr>
                    <m:oMath xmlns:m="http://schemas.openxmlformats.org/officeDocument/2006/math">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𝑦</m:t>
                          </m:r>
                        </m:e>
                      </m:acc>
                      <m:r>
                        <a:rPr lang="en-US" i="1" dirty="0" smtClean="0">
                          <a:latin typeface="Cambria Math" panose="02040503050406030204" pitchFamily="18" charset="0"/>
                        </a:rPr>
                        <m:t>=</m:t>
                      </m:r>
                      <m:r>
                        <a:rPr lang="en-US" i="1" dirty="0" smtClean="0">
                          <a:latin typeface="Cambria Math" panose="02040503050406030204" pitchFamily="18" charset="0"/>
                        </a:rPr>
                        <m:t>𝑋𝑏</m:t>
                      </m:r>
                    </m:oMath>
                    <m:oMath xmlns:m="http://schemas.openxmlformats.org/officeDocument/2006/math">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r>
                        <a:rPr lang="en-US" i="1" dirty="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a:latin typeface="Cambria Math" panose="02040503050406030204" pitchFamily="18" charset="0"/>
                            </a:rPr>
                            <m:t>𝑏</m:t>
                          </m:r>
                        </m:e>
                        <m:sub>
                          <m:r>
                            <a:rPr lang="he-IL" b="0" i="1" dirty="0" smtClean="0">
                              <a:latin typeface="Cambria Math" panose="02040503050406030204" pitchFamily="18" charset="0"/>
                            </a:rPr>
                            <m:t>0</m:t>
                          </m:r>
                        </m:sub>
                      </m:sSub>
                      <m:r>
                        <a:rPr lang="he-IL"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𝑏</m:t>
                          </m:r>
                        </m:e>
                        <m:sub>
                          <m:r>
                            <a:rPr lang="en-US" b="0" i="1" dirty="0" smtClean="0">
                              <a:latin typeface="Cambria Math" panose="02040503050406030204" pitchFamily="18" charset="0"/>
                            </a:rPr>
                            <m:t>1</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𝑏</m:t>
                          </m:r>
                        </m:e>
                        <m:sub>
                          <m:r>
                            <a:rPr lang="en-US" b="0" i="1" dirty="0" smtClean="0">
                              <a:latin typeface="Cambria Math" panose="02040503050406030204" pitchFamily="18" charset="0"/>
                            </a:rPr>
                            <m:t>2</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𝑏</m:t>
                          </m:r>
                        </m:e>
                        <m:sub>
                          <m:r>
                            <a:rPr lang="en-US" b="0" i="1" dirty="0" smtClean="0">
                              <a:latin typeface="Cambria Math" panose="02040503050406030204" pitchFamily="18" charset="0"/>
                            </a:rPr>
                            <m:t>𝑘</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𝑘</m:t>
                          </m:r>
                        </m:sub>
                      </m:sSub>
                    </m:oMath>
                  </m:oMathPara>
                </a14:m>
                <a:endParaRPr lang="en-US" dirty="0"/>
              </a:p>
              <a:p>
                <a:pPr marL="0" indent="0">
                  <a:buNone/>
                </a:pPr>
                <a:endParaRPr lang="en-US" dirty="0"/>
              </a:p>
              <a:p>
                <a:pPr lvl="1"/>
                <a:r>
                  <a:rPr lang="en-US" dirty="0"/>
                  <a:t>𝑏 is the estimator calculated from the data. </a:t>
                </a:r>
              </a:p>
              <a:p>
                <a:pPr lvl="1"/>
                <a:r>
                  <a:rPr lang="en-US" dirty="0"/>
                  <a:t>The fitted values are: </a:t>
                </a:r>
              </a:p>
              <a:p>
                <a:pPr marL="914400" lvl="2" indent="0">
                  <a:buNone/>
                </a:pP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𝑏</m:t>
                        </m:r>
                      </m:e>
                      <m:sub>
                        <m:r>
                          <a:rPr lang="he-IL" sz="2200" b="0" i="1" dirty="0" smtClean="0">
                            <a:latin typeface="Cambria Math" panose="02040503050406030204" pitchFamily="18" charset="0"/>
                          </a:rPr>
                          <m:t>0</m:t>
                        </m:r>
                      </m:sub>
                    </m:sSub>
                    <m:r>
                      <a:rPr lang="en-US" sz="2200" i="1" dirty="0">
                        <a:latin typeface="Cambria Math" panose="02040503050406030204" pitchFamily="18" charset="0"/>
                      </a:rPr>
                      <m:t> </m:t>
                    </m:r>
                  </m:oMath>
                </a14:m>
                <a:r>
                  <a:rPr lang="en-US" sz="2200" dirty="0"/>
                  <a:t>: estimated intercept. </a:t>
                </a:r>
              </a:p>
              <a:p>
                <a:pPr marL="914400" lvl="2" indent="0">
                  <a:buNone/>
                </a:pPr>
                <a14:m>
                  <m:oMath xmlns:m="http://schemas.openxmlformats.org/officeDocument/2006/math">
                    <m:sSub>
                      <m:sSubPr>
                        <m:ctrlPr>
                          <a:rPr lang="en-US" sz="2200" i="1" dirty="0">
                            <a:latin typeface="Cambria Math" panose="02040503050406030204" pitchFamily="18" charset="0"/>
                          </a:rPr>
                        </m:ctrlPr>
                      </m:sSubPr>
                      <m:e>
                        <m:r>
                          <a:rPr lang="en-US" sz="2200" i="1" dirty="0">
                            <a:latin typeface="Cambria Math" panose="02040503050406030204" pitchFamily="18" charset="0"/>
                          </a:rPr>
                          <m:t>𝑏</m:t>
                        </m:r>
                      </m:e>
                      <m:sub>
                        <m:r>
                          <a:rPr lang="en-US" sz="2200" i="1" dirty="0">
                            <a:latin typeface="Cambria Math" panose="02040503050406030204" pitchFamily="18" charset="0"/>
                          </a:rPr>
                          <m:t>1</m:t>
                        </m:r>
                      </m:sub>
                    </m:sSub>
                    <m:r>
                      <a:rPr lang="en-US" sz="2200" i="1" dirty="0">
                        <a:latin typeface="Cambria Math" panose="02040503050406030204" pitchFamily="18" charset="0"/>
                      </a:rPr>
                      <m:t> </m:t>
                    </m:r>
                  </m:oMath>
                </a14:m>
                <a:r>
                  <a:rPr lang="en-US" sz="2200" dirty="0"/>
                  <a:t>: estimated slope. </a:t>
                </a:r>
              </a:p>
              <a:p>
                <a:pPr lvl="1"/>
                <a:r>
                  <a:rPr lang="en-US" sz="2600" dirty="0"/>
                  <a:t>Interpretation of the slope:</a:t>
                </a:r>
              </a:p>
              <a:p>
                <a:pPr lvl="2"/>
                <a:r>
                  <a:rPr lang="en-US" sz="2200" dirty="0"/>
                  <a:t>estimated change in 𝑦</a:t>
                </a:r>
                <a:r>
                  <a:rPr lang="he-IL" sz="2200" dirty="0"/>
                  <a:t> </a:t>
                </a:r>
                <a:r>
                  <a:rPr lang="en-US" sz="2200" dirty="0"/>
                  <a:t>for a one-unit increase in 𝑥.</a:t>
                </a:r>
              </a:p>
              <a:p>
                <a:pPr lvl="1"/>
                <a:endParaRPr lang="he-IL" dirty="0"/>
              </a:p>
            </p:txBody>
          </p:sp>
        </mc:Choice>
        <mc:Fallback>
          <p:sp>
            <p:nvSpPr>
              <p:cNvPr id="3" name="Content Placeholder 2">
                <a:extLst>
                  <a:ext uri="{FF2B5EF4-FFF2-40B4-BE49-F238E27FC236}">
                    <a16:creationId xmlns:a16="http://schemas.microsoft.com/office/drawing/2014/main" id="{06CCBFA5-1B63-87C1-E173-A0B2B3E87590}"/>
                  </a:ext>
                </a:extLst>
              </p:cNvPr>
              <p:cNvSpPr>
                <a:spLocks noGrp="1" noRot="1" noChangeAspect="1" noMove="1" noResize="1" noEditPoints="1" noAdjustHandles="1" noChangeArrowheads="1" noChangeShapeType="1" noTextEdit="1"/>
              </p:cNvSpPr>
              <p:nvPr>
                <p:ph idx="1"/>
              </p:nvPr>
            </p:nvSpPr>
            <p:spPr>
              <a:xfrm>
                <a:off x="838200" y="1457011"/>
                <a:ext cx="10515600" cy="4719952"/>
              </a:xfrm>
              <a:blipFill>
                <a:blip r:embed="rId3"/>
                <a:stretch>
                  <a:fillRect l="-696" t="-2584"/>
                </a:stretch>
              </a:blipFill>
            </p:spPr>
            <p:txBody>
              <a:bodyPr/>
              <a:lstStyle/>
              <a:p>
                <a:r>
                  <a:rPr lang="he-IL">
                    <a:noFill/>
                  </a:rPr>
                  <a:t> </a:t>
                </a:r>
              </a:p>
            </p:txBody>
          </p:sp>
        </mc:Fallback>
      </mc:AlternateContent>
    </p:spTree>
    <p:extLst>
      <p:ext uri="{BB962C8B-B14F-4D97-AF65-F5344CB8AC3E}">
        <p14:creationId xmlns:p14="http://schemas.microsoft.com/office/powerpoint/2010/main" val="31454768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5F5B-AADA-A691-65E6-B9AA0C607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0C084-92B3-C200-5529-7119EDDA2F7F}"/>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0AAF059-1A47-C8CA-BDFB-3A1956BC509A}"/>
                  </a:ext>
                </a:extLst>
              </p:cNvPr>
              <p:cNvSpPr>
                <a:spLocks noGrp="1"/>
              </p:cNvSpPr>
              <p:nvPr>
                <p:ph idx="1"/>
              </p:nvPr>
            </p:nvSpPr>
            <p:spPr/>
            <p:txBody>
              <a:bodyPr>
                <a:normAutofit fontScale="85000" lnSpcReduction="20000"/>
              </a:bodyPr>
              <a:lstStyle/>
              <a:p>
                <a:r>
                  <a:rPr lang="en-US" b="1" dirty="0"/>
                  <a:t>Ordinary Least Squares (OLS)</a:t>
                </a:r>
              </a:p>
              <a:p>
                <a:r>
                  <a:rPr lang="en-US" dirty="0"/>
                  <a:t>OLS is the most common frequentist estimator for linear regression.</a:t>
                </a:r>
              </a:p>
              <a:p>
                <a:r>
                  <a:rPr lang="en-US" dirty="0"/>
                  <a:t>It chooses the regression line that makes the residuals as small as possible.</a:t>
                </a:r>
              </a:p>
              <a:p>
                <a:r>
                  <a:rPr lang="en-US" dirty="0"/>
                  <a:t>For each observation:</a:t>
                </a:r>
              </a:p>
              <a:p>
                <a:pPr marL="0" indent="0">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𝑟𝑒𝑠𝑖𝑑𝑢𝑎</m:t>
                      </m:r>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𝑙</m:t>
                          </m:r>
                        </m:e>
                        <m:sub>
                          <m:r>
                            <a:rPr lang="en-US" i="1" dirty="0"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smtClean="0">
                              <a:latin typeface="Cambria Math" panose="02040503050406030204" pitchFamily="18" charset="0"/>
                            </a:rPr>
                            <m:t>𝑦</m:t>
                          </m:r>
                        </m:e>
                        <m:sub>
                          <m:r>
                            <a:rPr lang="en-US" i="1" dirty="0" err="1"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𝑦</m:t>
                              </m:r>
                            </m:e>
                          </m:acc>
                        </m:e>
                        <m:sub>
                          <m:r>
                            <a:rPr lang="en-US" i="1" dirty="0" err="1"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m:t>
                      </m:r>
                    </m:oMath>
                  </m:oMathPara>
                </a14:m>
                <a:endParaRPr lang="en-US" i="1" dirty="0">
                  <a:latin typeface="Cambria Math" panose="02040503050406030204" pitchFamily="18" charset="0"/>
                </a:endParaRPr>
              </a:p>
              <a:p>
                <a:r>
                  <a:rPr lang="en-US" dirty="0"/>
                  <a:t>OLS minimize:</a:t>
                </a:r>
                <a:endParaRPr lang="en-US"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nary>
                        <m:naryPr>
                          <m:chr m:val="∑"/>
                          <m:supHide m:val="on"/>
                          <m:ctrlPr>
                            <a:rPr lang="en-US" i="1" dirty="0" smtClean="0">
                              <a:latin typeface="Cambria Math" panose="02040503050406030204" pitchFamily="18" charset="0"/>
                            </a:rPr>
                          </m:ctrlPr>
                        </m:naryPr>
                        <m:sub>
                          <m:r>
                            <m:rPr>
                              <m:brk m:alnAt="7"/>
                            </m:rPr>
                            <a:rPr lang="en-US" b="0" i="1" dirty="0" smtClean="0">
                              <a:latin typeface="Cambria Math" panose="02040503050406030204" pitchFamily="18" charset="0"/>
                            </a:rPr>
                            <m:t>𝑖</m:t>
                          </m:r>
                        </m:sub>
                        <m:sup/>
                        <m:e>
                          <m:sSup>
                            <m:sSupPr>
                              <m:ctrlPr>
                                <a:rPr lang="en-US" b="0" i="1" dirty="0" smtClean="0">
                                  <a:latin typeface="Cambria Math" panose="02040503050406030204" pitchFamily="18" charset="0"/>
                                </a:rPr>
                              </m:ctrlPr>
                            </m:sSupPr>
                            <m:e>
                              <m:d>
                                <m:dPr>
                                  <m:ctrlPr>
                                    <a:rPr lang="en-US" b="0" i="1" dirty="0" smtClean="0">
                                      <a:latin typeface="Cambria Math" panose="02040503050406030204" pitchFamily="18" charset="0"/>
                                    </a:rPr>
                                  </m:ctrlPr>
                                </m:dPr>
                                <m:e>
                                  <m:sSub>
                                    <m:sSubPr>
                                      <m:ctrlPr>
                                        <a:rPr lang="en-US" b="0" i="1" dirty="0" smtClean="0">
                                          <a:latin typeface="Cambria Math" panose="02040503050406030204" pitchFamily="18" charset="0"/>
                                        </a:rPr>
                                      </m:ctrlPr>
                                    </m:sSubPr>
                                    <m:e>
                                      <m:r>
                                        <a:rPr lang="en-US" i="1" dirty="0" err="1">
                                          <a:latin typeface="Cambria Math" panose="02040503050406030204" pitchFamily="18" charset="0"/>
                                        </a:rPr>
                                        <m:t>𝑦</m:t>
                                      </m:r>
                                    </m:e>
                                    <m:sub>
                                      <m:r>
                                        <a:rPr lang="en-US" i="1" dirty="0" err="1">
                                          <a:latin typeface="Cambria Math" panose="02040503050406030204" pitchFamily="18" charset="0"/>
                                        </a:rPr>
                                        <m:t>𝑖</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b>
                                      <m:r>
                                        <a:rPr lang="en-US" i="1" dirty="0" err="1">
                                          <a:latin typeface="Cambria Math" panose="02040503050406030204" pitchFamily="18" charset="0"/>
                                        </a:rPr>
                                        <m:t>𝑖</m:t>
                                      </m:r>
                                    </m:sub>
                                  </m:sSub>
                                  <m:r>
                                    <a:rPr lang="en-US" i="1" dirty="0">
                                      <a:latin typeface="Cambria Math" panose="02040503050406030204" pitchFamily="18" charset="0"/>
                                    </a:rPr>
                                    <m:t>​</m:t>
                                  </m:r>
                                </m:e>
                              </m:d>
                            </m:e>
                            <m:sup>
                              <m:r>
                                <a:rPr lang="en-US" i="1" dirty="0">
                                  <a:latin typeface="Cambria Math" panose="02040503050406030204" pitchFamily="18" charset="0"/>
                                </a:rPr>
                                <m:t>2</m:t>
                              </m:r>
                            </m:sup>
                          </m:sSup>
                          <m:r>
                            <m:rPr>
                              <m:nor/>
                            </m:rPr>
                            <a:rPr lang="en-US" dirty="0"/>
                            <m:t> </m:t>
                          </m:r>
                        </m:e>
                      </m:nary>
                      <m:r>
                        <a:rPr lang="en-US" i="1" dirty="0" smtClean="0">
                          <a:latin typeface="Cambria Math" panose="02040503050406030204" pitchFamily="18" charset="0"/>
                        </a:rPr>
                        <m:t>	</m:t>
                      </m:r>
                      <m:r>
                        <a:rPr lang="en-US" i="1" dirty="0" smtClean="0">
                          <a:latin typeface="Cambria Math" panose="02040503050406030204" pitchFamily="18" charset="0"/>
                        </a:rPr>
                        <m:t>​</m:t>
                      </m:r>
                    </m:oMath>
                  </m:oMathPara>
                </a14:m>
                <a:endParaRPr lang="en-US" dirty="0"/>
              </a:p>
              <a:p>
                <a:r>
                  <a:rPr lang="en-US" dirty="0"/>
                  <a:t>Meaning:</a:t>
                </a:r>
              </a:p>
              <a:p>
                <a:pPr lvl="1"/>
                <a:r>
                  <a:rPr lang="en-US" dirty="0"/>
                  <a:t>The model predicts </a:t>
                </a:r>
                <a14:m>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b>
                        <m:r>
                          <a:rPr lang="en-US" i="1" dirty="0" err="1">
                            <a:latin typeface="Cambria Math" panose="02040503050406030204" pitchFamily="18" charset="0"/>
                          </a:rPr>
                          <m:t>𝑖</m:t>
                        </m:r>
                      </m:sub>
                    </m:sSub>
                  </m:oMath>
                </a14:m>
                <a:r>
                  <a:rPr lang="en-US" dirty="0"/>
                  <a:t>.</a:t>
                </a:r>
              </a:p>
              <a:p>
                <a:pPr lvl="1"/>
                <a:r>
                  <a:rPr lang="en-US" dirty="0"/>
                  <a:t>The residual is the difference between the observed value and the predicted value.</a:t>
                </a:r>
              </a:p>
              <a:p>
                <a:pPr lvl="1"/>
                <a:r>
                  <a:rPr lang="en-US" dirty="0"/>
                  <a:t>OLS finds the line with the smallest sum of squared residuals.</a:t>
                </a:r>
                <a:endParaRPr lang="he-IL" dirty="0"/>
              </a:p>
            </p:txBody>
          </p:sp>
        </mc:Choice>
        <mc:Fallback xmlns="">
          <p:sp>
            <p:nvSpPr>
              <p:cNvPr id="3" name="Content Placeholder 2">
                <a:extLst>
                  <a:ext uri="{FF2B5EF4-FFF2-40B4-BE49-F238E27FC236}">
                    <a16:creationId xmlns:a16="http://schemas.microsoft.com/office/drawing/2014/main" id="{20AAF059-1A47-C8CA-BDFB-3A1956BC509A}"/>
                  </a:ext>
                </a:extLst>
              </p:cNvPr>
              <p:cNvSpPr>
                <a:spLocks noGrp="1" noRot="1" noChangeAspect="1" noMove="1" noResize="1" noEditPoints="1" noAdjustHandles="1" noChangeArrowheads="1" noChangeShapeType="1" noTextEdit="1"/>
              </p:cNvSpPr>
              <p:nvPr>
                <p:ph idx="1"/>
              </p:nvPr>
            </p:nvSpPr>
            <p:spPr>
              <a:blipFill>
                <a:blip r:embed="rId2"/>
                <a:stretch>
                  <a:fillRect l="-812" t="-3081"/>
                </a:stretch>
              </a:blipFill>
            </p:spPr>
            <p:txBody>
              <a:bodyPr/>
              <a:lstStyle/>
              <a:p>
                <a:r>
                  <a:rPr lang="he-IL">
                    <a:noFill/>
                  </a:rPr>
                  <a:t> </a:t>
                </a:r>
              </a:p>
            </p:txBody>
          </p:sp>
        </mc:Fallback>
      </mc:AlternateContent>
    </p:spTree>
    <p:extLst>
      <p:ext uri="{BB962C8B-B14F-4D97-AF65-F5344CB8AC3E}">
        <p14:creationId xmlns:p14="http://schemas.microsoft.com/office/powerpoint/2010/main" val="25063922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1AAF-BC8F-5D7D-4858-DADBFD5C7E67}"/>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1BF436-40EC-24CF-773D-5582B9526ED5}"/>
                  </a:ext>
                </a:extLst>
              </p:cNvPr>
              <p:cNvSpPr>
                <a:spLocks noGrp="1"/>
              </p:cNvSpPr>
              <p:nvPr>
                <p:ph idx="1"/>
              </p:nvPr>
            </p:nvSpPr>
            <p:spPr>
              <a:xfrm>
                <a:off x="838200" y="1690688"/>
                <a:ext cx="10515600" cy="4486275"/>
              </a:xfrm>
            </p:spPr>
            <p:txBody>
              <a:bodyPr>
                <a:normAutofit/>
              </a:bodyPr>
              <a:lstStyle/>
              <a:p>
                <a:r>
                  <a:rPr lang="en-US" dirty="0"/>
                  <a:t>We fit the same models using Ordinary Least Squares (OLS) with `</a:t>
                </a:r>
                <a:r>
                  <a:rPr lang="en-US" dirty="0" err="1"/>
                  <a:t>statsmodels</a:t>
                </a:r>
                <a:r>
                  <a:rPr lang="en-US" dirty="0"/>
                  <a:t>`.</a:t>
                </a:r>
              </a:p>
              <a:p>
                <a:r>
                  <a:rPr lang="en-US" dirty="0"/>
                  <a:t>After fitting, we will examine:</a:t>
                </a:r>
              </a:p>
              <a:p>
                <a:pPr lvl="1"/>
                <a:r>
                  <a:rPr lang="en-US" b="1" dirty="0"/>
                  <a:t>Estimate</a:t>
                </a:r>
                <a:r>
                  <a:rPr lang="en-US" dirty="0"/>
                  <a:t> - the estimated coefficient, such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0</m:t>
                        </m:r>
                      </m:sub>
                    </m:sSub>
                  </m:oMath>
                </a14:m>
                <a:r>
                  <a:rPr lang="en-US" dirty="0"/>
                  <a:t> 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1</m:t>
                        </m:r>
                      </m:sub>
                    </m:sSub>
                  </m:oMath>
                </a14:m>
                <a:r>
                  <a:rPr lang="en-US" dirty="0"/>
                  <a:t> 	​</a:t>
                </a:r>
              </a:p>
              <a:p>
                <a:pPr lvl="1"/>
                <a:r>
                  <a:rPr lang="en-US" b="1" dirty="0"/>
                  <a:t>Standard error </a:t>
                </a:r>
                <a:r>
                  <a:rPr lang="en-US" dirty="0"/>
                  <a:t>- uncertainty of the estimator across repeated samples</a:t>
                </a:r>
              </a:p>
              <a:p>
                <a:pPr lvl="1"/>
                <a:r>
                  <a:rPr lang="en-US" b="1" dirty="0"/>
                  <a:t>Confidence Interval </a:t>
                </a:r>
                <a:r>
                  <a:rPr lang="en-US" dirty="0"/>
                  <a:t>- frequentist interval based on the sampling distribution</a:t>
                </a:r>
              </a:p>
              <a:p>
                <a:pPr lvl="1"/>
                <a:r>
                  <a:rPr lang="en-US" b="1" dirty="0"/>
                  <a:t>t-test and p-value </a:t>
                </a:r>
                <a:r>
                  <a:rPr lang="en-US" dirty="0"/>
                  <a:t>- test whether one coefficient differs from 0</a:t>
                </a:r>
              </a:p>
              <a:p>
                <a:pPr lvl="1"/>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𝑹</m:t>
                        </m:r>
                      </m:e>
                      <m:sup>
                        <m:r>
                          <a:rPr lang="en-US" b="1" i="1" dirty="0" smtClean="0">
                            <a:latin typeface="Cambria Math" panose="02040503050406030204" pitchFamily="18" charset="0"/>
                          </a:rPr>
                          <m:t>𝟐</m:t>
                        </m:r>
                      </m:sup>
                    </m:sSup>
                    <m:r>
                      <a:rPr lang="en-US" b="1" i="1" dirty="0" smtClean="0">
                        <a:latin typeface="Cambria Math" panose="02040503050406030204" pitchFamily="18" charset="0"/>
                      </a:rPr>
                      <m:t> </m:t>
                    </m:r>
                  </m:oMath>
                </a14:m>
                <a:r>
                  <a:rPr lang="en-US" dirty="0"/>
                  <a:t>- proportion of variability explained by the model</a:t>
                </a:r>
              </a:p>
              <a:p>
                <a:pPr lvl="1"/>
                <a:r>
                  <a:rPr lang="en-US" b="1" dirty="0"/>
                  <a:t>F-test</a:t>
                </a:r>
                <a:r>
                  <a:rPr lang="en-US" dirty="0"/>
                  <a:t> - test whether the model as a whole explains more variability than a null model</a:t>
                </a:r>
              </a:p>
            </p:txBody>
          </p:sp>
        </mc:Choice>
        <mc:Fallback xmlns="">
          <p:sp>
            <p:nvSpPr>
              <p:cNvPr id="3" name="Content Placeholder 2">
                <a:extLst>
                  <a:ext uri="{FF2B5EF4-FFF2-40B4-BE49-F238E27FC236}">
                    <a16:creationId xmlns:a16="http://schemas.microsoft.com/office/drawing/2014/main" id="{011BF436-40EC-24CF-773D-5582B9526ED5}"/>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3"/>
                <a:stretch>
                  <a:fillRect l="-1043" t="-2174" r="-174"/>
                </a:stretch>
              </a:blipFill>
            </p:spPr>
            <p:txBody>
              <a:bodyPr/>
              <a:lstStyle/>
              <a:p>
                <a:r>
                  <a:rPr lang="he-IL">
                    <a:noFill/>
                  </a:rPr>
                  <a:t> </a:t>
                </a:r>
              </a:p>
            </p:txBody>
          </p:sp>
        </mc:Fallback>
      </mc:AlternateContent>
    </p:spTree>
    <p:extLst>
      <p:ext uri="{BB962C8B-B14F-4D97-AF65-F5344CB8AC3E}">
        <p14:creationId xmlns:p14="http://schemas.microsoft.com/office/powerpoint/2010/main" val="10822290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9F5A0-C053-2891-518B-7B6AF4B15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BEC82-C5BB-6834-505C-6B7F9A66D6AE}"/>
              </a:ext>
            </a:extLst>
          </p:cNvPr>
          <p:cNvSpPr>
            <a:spLocks noGrp="1"/>
          </p:cNvSpPr>
          <p:nvPr>
            <p:ph type="title"/>
          </p:nvPr>
        </p:nvSpPr>
        <p:spPr/>
        <p:txBody>
          <a:bodyPr/>
          <a:lstStyle/>
          <a:p>
            <a:r>
              <a:rPr lang="en-US" dirty="0"/>
              <a:t>Frequentist linear regression</a:t>
            </a:r>
            <a:br>
              <a:rPr lang="en-US" dirty="0"/>
            </a:br>
            <a:endParaRPr lang="he-IL" dirty="0"/>
          </a:p>
        </p:txBody>
      </p:sp>
      <p:sp>
        <p:nvSpPr>
          <p:cNvPr id="3" name="Content Placeholder 2">
            <a:extLst>
              <a:ext uri="{FF2B5EF4-FFF2-40B4-BE49-F238E27FC236}">
                <a16:creationId xmlns:a16="http://schemas.microsoft.com/office/drawing/2014/main" id="{E543B108-7DF1-17A8-D606-6421009A98E8}"/>
              </a:ext>
            </a:extLst>
          </p:cNvPr>
          <p:cNvSpPr>
            <a:spLocks noGrp="1"/>
          </p:cNvSpPr>
          <p:nvPr>
            <p:ph idx="1"/>
          </p:nvPr>
        </p:nvSpPr>
        <p:spPr>
          <a:xfrm>
            <a:off x="838200" y="1395243"/>
            <a:ext cx="10515600" cy="4486275"/>
          </a:xfrm>
        </p:spPr>
        <p:txBody>
          <a:bodyPr>
            <a:normAutofit/>
          </a:bodyPr>
          <a:lstStyle/>
          <a:p>
            <a:r>
              <a:rPr lang="en-US" dirty="0"/>
              <a:t>We fit the same models using Ordinary Least Squares (OLS) with `</a:t>
            </a:r>
            <a:r>
              <a:rPr lang="en-US" dirty="0" err="1"/>
              <a:t>statsmodels</a:t>
            </a:r>
            <a:r>
              <a:rPr lang="en-US" dirty="0"/>
              <a:t>`.</a:t>
            </a:r>
          </a:p>
          <a:p>
            <a:pPr marL="0" indent="0">
              <a:buNone/>
            </a:pPr>
            <a:endParaRPr lang="en-US" dirty="0"/>
          </a:p>
        </p:txBody>
      </p:sp>
      <p:pic>
        <p:nvPicPr>
          <p:cNvPr id="4" name="Picture 3">
            <a:extLst>
              <a:ext uri="{FF2B5EF4-FFF2-40B4-BE49-F238E27FC236}">
                <a16:creationId xmlns:a16="http://schemas.microsoft.com/office/drawing/2014/main" id="{FB7F7A7B-4E3D-DF78-F6FD-B756D5D57F8A}"/>
              </a:ext>
            </a:extLst>
          </p:cNvPr>
          <p:cNvPicPr>
            <a:picLocks noChangeAspect="1"/>
          </p:cNvPicPr>
          <p:nvPr/>
        </p:nvPicPr>
        <p:blipFill>
          <a:blip r:embed="rId3"/>
          <a:stretch>
            <a:fillRect/>
          </a:stretch>
        </p:blipFill>
        <p:spPr>
          <a:xfrm>
            <a:off x="1061155" y="2625317"/>
            <a:ext cx="8399780" cy="1607366"/>
          </a:xfrm>
          <a:prstGeom prst="rect">
            <a:avLst/>
          </a:prstGeom>
        </p:spPr>
      </p:pic>
    </p:spTree>
    <p:extLst>
      <p:ext uri="{BB962C8B-B14F-4D97-AF65-F5344CB8AC3E}">
        <p14:creationId xmlns:p14="http://schemas.microsoft.com/office/powerpoint/2010/main" val="148199021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CDE48-2A9A-0145-04F7-1BC6560F1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8FA8E5-3A7E-3F96-1C25-DCEB8A53DBD4}"/>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DAD9AB-5026-EB98-F705-93FD1E5033B8}"/>
                  </a:ext>
                </a:extLst>
              </p:cNvPr>
              <p:cNvSpPr>
                <a:spLocks noGrp="1"/>
              </p:cNvSpPr>
              <p:nvPr>
                <p:ph idx="1"/>
              </p:nvPr>
            </p:nvSpPr>
            <p:spPr>
              <a:xfrm>
                <a:off x="838200" y="1690688"/>
                <a:ext cx="10515600" cy="4486275"/>
              </a:xfrm>
            </p:spPr>
            <p:txBody>
              <a:bodyPr>
                <a:normAutofit/>
              </a:bodyPr>
              <a:lstStyle/>
              <a:p>
                <a:r>
                  <a:rPr lang="en-US" b="1" dirty="0"/>
                  <a:t>Estimate</a:t>
                </a:r>
                <a:r>
                  <a:rPr lang="en-US" dirty="0"/>
                  <a:t> - the estimated coefficient, such as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0</m:t>
                        </m:r>
                      </m:sub>
                    </m:sSub>
                  </m:oMath>
                </a14:m>
                <a:r>
                  <a:rPr lang="en-US" dirty="0"/>
                  <a:t> or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1</m:t>
                        </m:r>
                      </m:sub>
                    </m:sSub>
                  </m:oMath>
                </a14:m>
                <a:r>
                  <a:rPr lang="en-US" dirty="0"/>
                  <a:t> 	​</a:t>
                </a:r>
              </a:p>
              <a:p>
                <a:r>
                  <a:rPr lang="en-US" b="1" dirty="0"/>
                  <a:t>Standard error </a:t>
                </a:r>
                <a:r>
                  <a:rPr lang="en-US" dirty="0"/>
                  <a:t>- uncertainty of the estimator across repeated samples</a:t>
                </a:r>
              </a:p>
              <a:p>
                <a:r>
                  <a:rPr lang="en-US" b="1" dirty="0"/>
                  <a:t>Confidence Interval </a:t>
                </a:r>
                <a:r>
                  <a:rPr lang="en-US" dirty="0"/>
                  <a:t>- frequentist interval based on the sampling distribution</a:t>
                </a:r>
              </a:p>
              <a:p>
                <a:r>
                  <a:rPr lang="en-US" b="1" dirty="0"/>
                  <a:t>t-test and p-value </a:t>
                </a:r>
                <a:r>
                  <a:rPr lang="en-US" dirty="0"/>
                  <a:t>- test whether one coefficient differs from 0</a:t>
                </a:r>
              </a:p>
              <a:p>
                <a:endParaRPr lang="en-US" dirty="0"/>
              </a:p>
            </p:txBody>
          </p:sp>
        </mc:Choice>
        <mc:Fallback xmlns="">
          <p:sp>
            <p:nvSpPr>
              <p:cNvPr id="3" name="Content Placeholder 2">
                <a:extLst>
                  <a:ext uri="{FF2B5EF4-FFF2-40B4-BE49-F238E27FC236}">
                    <a16:creationId xmlns:a16="http://schemas.microsoft.com/office/drawing/2014/main" id="{16DAD9AB-5026-EB98-F705-93FD1E5033B8}"/>
                  </a:ext>
                </a:extLst>
              </p:cNvPr>
              <p:cNvSpPr>
                <a:spLocks noGrp="1" noRot="1" noChangeAspect="1" noMove="1" noResize="1" noEditPoints="1" noAdjustHandles="1" noChangeArrowheads="1" noChangeShapeType="1" noTextEdit="1"/>
              </p:cNvSpPr>
              <p:nvPr>
                <p:ph idx="1"/>
              </p:nvPr>
            </p:nvSpPr>
            <p:spPr>
              <a:xfrm>
                <a:off x="838200" y="1690688"/>
                <a:ext cx="10515600" cy="4486275"/>
              </a:xfrm>
              <a:blipFill>
                <a:blip r:embed="rId3"/>
                <a:stretch>
                  <a:fillRect l="-1043" t="-2717"/>
                </a:stretch>
              </a:blipFill>
            </p:spPr>
            <p:txBody>
              <a:bodyPr/>
              <a:lstStyle/>
              <a:p>
                <a:r>
                  <a:rPr lang="he-IL">
                    <a:noFill/>
                  </a:rPr>
                  <a:t> </a:t>
                </a:r>
              </a:p>
            </p:txBody>
          </p:sp>
        </mc:Fallback>
      </mc:AlternateContent>
    </p:spTree>
    <p:extLst>
      <p:ext uri="{BB962C8B-B14F-4D97-AF65-F5344CB8AC3E}">
        <p14:creationId xmlns:p14="http://schemas.microsoft.com/office/powerpoint/2010/main" val="40373766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76B3C-CD4B-96BA-7597-B1E01BF74E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C30738-6843-C989-61A1-78DFF5E6F7FC}"/>
              </a:ext>
            </a:extLst>
          </p:cNvPr>
          <p:cNvSpPr>
            <a:spLocks noGrp="1"/>
          </p:cNvSpPr>
          <p:nvPr>
            <p:ph type="title"/>
          </p:nvPr>
        </p:nvSpPr>
        <p:spPr/>
        <p:txBody>
          <a:bodyPr/>
          <a:lstStyle/>
          <a:p>
            <a:r>
              <a:rPr lang="en-US" dirty="0"/>
              <a:t>Frequentist linear regression</a:t>
            </a:r>
            <a:br>
              <a:rPr lang="en-US" dirty="0"/>
            </a:br>
            <a:endParaRPr lang="he-IL" dirty="0"/>
          </a:p>
        </p:txBody>
      </p:sp>
      <p:pic>
        <p:nvPicPr>
          <p:cNvPr id="5" name="Picture 4">
            <a:extLst>
              <a:ext uri="{FF2B5EF4-FFF2-40B4-BE49-F238E27FC236}">
                <a16:creationId xmlns:a16="http://schemas.microsoft.com/office/drawing/2014/main" id="{B8D79F09-28D2-8ED2-ABF1-E81BC0810B44}"/>
              </a:ext>
            </a:extLst>
          </p:cNvPr>
          <p:cNvPicPr>
            <a:picLocks noChangeAspect="1"/>
          </p:cNvPicPr>
          <p:nvPr/>
        </p:nvPicPr>
        <p:blipFill>
          <a:blip r:embed="rId3"/>
          <a:stretch>
            <a:fillRect/>
          </a:stretch>
        </p:blipFill>
        <p:spPr>
          <a:xfrm>
            <a:off x="838200" y="1300969"/>
            <a:ext cx="6173061" cy="1181265"/>
          </a:xfrm>
          <a:prstGeom prst="rect">
            <a:avLst/>
          </a:prstGeom>
        </p:spPr>
      </p:pic>
      <p:pic>
        <p:nvPicPr>
          <p:cNvPr id="7" name="Content Placeholder 6">
            <a:extLst>
              <a:ext uri="{FF2B5EF4-FFF2-40B4-BE49-F238E27FC236}">
                <a16:creationId xmlns:a16="http://schemas.microsoft.com/office/drawing/2014/main" id="{25DF1B31-D55A-1358-F7B8-72FD42BACC96}"/>
              </a:ext>
            </a:extLst>
          </p:cNvPr>
          <p:cNvPicPr>
            <a:picLocks noGrp="1" noChangeAspect="1"/>
          </p:cNvPicPr>
          <p:nvPr>
            <p:ph idx="1"/>
          </p:nvPr>
        </p:nvPicPr>
        <p:blipFill>
          <a:blip r:embed="rId4"/>
          <a:stretch>
            <a:fillRect/>
          </a:stretch>
        </p:blipFill>
        <p:spPr>
          <a:xfrm>
            <a:off x="4792581" y="2066126"/>
            <a:ext cx="7085354" cy="4619282"/>
          </a:xfrm>
          <a:prstGeom prst="rect">
            <a:avLst/>
          </a:prstGeom>
        </p:spPr>
      </p:pic>
      <p:sp>
        <p:nvSpPr>
          <p:cNvPr id="8" name="Rectangle 7">
            <a:extLst>
              <a:ext uri="{FF2B5EF4-FFF2-40B4-BE49-F238E27FC236}">
                <a16:creationId xmlns:a16="http://schemas.microsoft.com/office/drawing/2014/main" id="{0119ED5A-71B9-9AC2-D2A1-B792CC4A228B}"/>
              </a:ext>
            </a:extLst>
          </p:cNvPr>
          <p:cNvSpPr/>
          <p:nvPr/>
        </p:nvSpPr>
        <p:spPr>
          <a:xfrm>
            <a:off x="4792581" y="4692580"/>
            <a:ext cx="7085354" cy="864451"/>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Rectangle 8">
            <a:extLst>
              <a:ext uri="{FF2B5EF4-FFF2-40B4-BE49-F238E27FC236}">
                <a16:creationId xmlns:a16="http://schemas.microsoft.com/office/drawing/2014/main" id="{A3A38D88-B4A6-6252-4572-B4395E6BF93F}"/>
              </a:ext>
            </a:extLst>
          </p:cNvPr>
          <p:cNvSpPr/>
          <p:nvPr/>
        </p:nvSpPr>
        <p:spPr>
          <a:xfrm>
            <a:off x="4792581" y="2713055"/>
            <a:ext cx="3416922" cy="602901"/>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0A325B24-D63F-1522-CAF7-536559BA8FE7}"/>
                  </a:ext>
                </a:extLst>
              </p:cNvPr>
              <p:cNvSpPr txBox="1">
                <a:spLocks/>
              </p:cNvSpPr>
              <p:nvPr/>
            </p:nvSpPr>
            <p:spPr>
              <a:xfrm>
                <a:off x="586991" y="3014505"/>
                <a:ext cx="3954381" cy="31323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Estimate</a:t>
                </a:r>
                <a:r>
                  <a:rPr lang="en-US" sz="1600" dirty="0"/>
                  <a:t> - the estimated coefficient, such as </a:t>
                </a:r>
                <a14:m>
                  <m:oMath xmlns:m="http://schemas.openxmlformats.org/officeDocument/2006/math">
                    <m:sSub>
                      <m:sSubPr>
                        <m:ctrlPr>
                          <a:rPr lang="en-US" sz="1600" i="1" dirty="0" smtClean="0">
                            <a:latin typeface="Cambria Math" panose="02040503050406030204" pitchFamily="18" charset="0"/>
                          </a:rPr>
                        </m:ctrlPr>
                      </m:sSubPr>
                      <m:e>
                        <m:r>
                          <a:rPr lang="en-US" sz="1600" i="1" dirty="0" smtClean="0">
                            <a:latin typeface="Cambria Math" panose="02040503050406030204" pitchFamily="18" charset="0"/>
                          </a:rPr>
                          <m:t>𝑏</m:t>
                        </m:r>
                      </m:e>
                      <m:sub>
                        <m:r>
                          <a:rPr lang="en-US" sz="1600" i="1" dirty="0" smtClean="0">
                            <a:latin typeface="Cambria Math" panose="02040503050406030204" pitchFamily="18" charset="0"/>
                          </a:rPr>
                          <m:t>0</m:t>
                        </m:r>
                      </m:sub>
                    </m:sSub>
                  </m:oMath>
                </a14:m>
                <a:r>
                  <a:rPr lang="en-US" sz="1600" dirty="0"/>
                  <a:t> or </a:t>
                </a:r>
                <a14:m>
                  <m:oMath xmlns:m="http://schemas.openxmlformats.org/officeDocument/2006/math">
                    <m:sSub>
                      <m:sSubPr>
                        <m:ctrlPr>
                          <a:rPr lang="en-US" sz="1600" i="1" dirty="0" smtClean="0">
                            <a:latin typeface="Cambria Math" panose="02040503050406030204" pitchFamily="18" charset="0"/>
                          </a:rPr>
                        </m:ctrlPr>
                      </m:sSubPr>
                      <m:e>
                        <m:r>
                          <a:rPr lang="en-US" sz="1600" i="1" dirty="0" smtClean="0">
                            <a:latin typeface="Cambria Math" panose="02040503050406030204" pitchFamily="18" charset="0"/>
                          </a:rPr>
                          <m:t>𝑏</m:t>
                        </m:r>
                      </m:e>
                      <m:sub>
                        <m:r>
                          <a:rPr lang="en-US" sz="1600" i="1" dirty="0" smtClean="0">
                            <a:latin typeface="Cambria Math" panose="02040503050406030204" pitchFamily="18" charset="0"/>
                          </a:rPr>
                          <m:t>1</m:t>
                        </m:r>
                      </m:sub>
                    </m:sSub>
                  </m:oMath>
                </a14:m>
                <a:r>
                  <a:rPr lang="en-US" sz="1600" dirty="0"/>
                  <a:t> 	​</a:t>
                </a:r>
              </a:p>
              <a:p>
                <a:r>
                  <a:rPr lang="en-US" sz="1600" b="1" dirty="0"/>
                  <a:t>Standard error </a:t>
                </a:r>
                <a:r>
                  <a:rPr lang="en-US" sz="1600" dirty="0"/>
                  <a:t>- uncertainty of the estimator across repeated samples</a:t>
                </a:r>
              </a:p>
              <a:p>
                <a:r>
                  <a:rPr lang="en-US" sz="1600" b="1" dirty="0"/>
                  <a:t>Confidence Interval </a:t>
                </a:r>
                <a:r>
                  <a:rPr lang="en-US" sz="1600" dirty="0"/>
                  <a:t>- frequentist interval based on the sampling distribution</a:t>
                </a:r>
              </a:p>
              <a:p>
                <a:r>
                  <a:rPr lang="en-US" sz="1600" b="1" dirty="0"/>
                  <a:t>t-test and p-value </a:t>
                </a:r>
                <a:r>
                  <a:rPr lang="en-US" sz="1600" dirty="0"/>
                  <a:t>- test whether one coefficient differs from 0</a:t>
                </a:r>
              </a:p>
              <a:p>
                <a:endParaRPr lang="en-US" sz="1600" dirty="0"/>
              </a:p>
            </p:txBody>
          </p:sp>
        </mc:Choice>
        <mc:Fallback xmlns="">
          <p:sp>
            <p:nvSpPr>
              <p:cNvPr id="10" name="Content Placeholder 2">
                <a:extLst>
                  <a:ext uri="{FF2B5EF4-FFF2-40B4-BE49-F238E27FC236}">
                    <a16:creationId xmlns:a16="http://schemas.microsoft.com/office/drawing/2014/main" id="{0A325B24-D63F-1522-CAF7-536559BA8FE7}"/>
                  </a:ext>
                </a:extLst>
              </p:cNvPr>
              <p:cNvSpPr txBox="1">
                <a:spLocks noRot="1" noChangeAspect="1" noMove="1" noResize="1" noEditPoints="1" noAdjustHandles="1" noChangeArrowheads="1" noChangeShapeType="1" noTextEdit="1"/>
              </p:cNvSpPr>
              <p:nvPr/>
            </p:nvSpPr>
            <p:spPr>
              <a:xfrm>
                <a:off x="586991" y="3014505"/>
                <a:ext cx="3954381" cy="3132312"/>
              </a:xfrm>
              <a:prstGeom prst="rect">
                <a:avLst/>
              </a:prstGeom>
              <a:blipFill>
                <a:blip r:embed="rId5"/>
                <a:stretch>
                  <a:fillRect l="-616" t="-1170"/>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A800A57-E772-B085-83DE-F86587544F28}"/>
                  </a:ext>
                </a:extLst>
              </p:cNvPr>
              <p:cNvSpPr txBox="1"/>
              <p:nvPr/>
            </p:nvSpPr>
            <p:spPr>
              <a:xfrm>
                <a:off x="5661212" y="971417"/>
                <a:ext cx="6094206" cy="646331"/>
              </a:xfrm>
              <a:prstGeom prst="rect">
                <a:avLst/>
              </a:prstGeom>
              <a:noFill/>
            </p:spPr>
            <p:txBody>
              <a:bodyPr wrap="square">
                <a:spAutoFit/>
              </a:bodyPr>
              <a:lstStyle/>
              <a:p>
                <a:pPr marL="0" indent="0">
                  <a:buNone/>
                </a:pPr>
                <a:br>
                  <a:rPr lang="en-US"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r>
                        <a:rPr lang="en-US" i="1" dirty="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a:latin typeface="Cambria Math" panose="02040503050406030204" pitchFamily="18" charset="0"/>
                            </a:rPr>
                            <m:t>𝑏</m:t>
                          </m:r>
                        </m:e>
                        <m:sub>
                          <m:r>
                            <a:rPr lang="he-IL" b="0" i="1" dirty="0" smtClean="0">
                              <a:latin typeface="Cambria Math" panose="02040503050406030204" pitchFamily="18" charset="0"/>
                            </a:rPr>
                            <m:t>0</m:t>
                          </m:r>
                        </m:sub>
                      </m:sSub>
                      <m:r>
                        <a:rPr lang="he-IL"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𝑏</m:t>
                          </m:r>
                        </m:e>
                        <m:sub>
                          <m:r>
                            <a:rPr lang="en-US" b="0" i="1" dirty="0" smtClean="0">
                              <a:latin typeface="Cambria Math" panose="02040503050406030204" pitchFamily="18" charset="0"/>
                            </a:rPr>
                            <m:t>1</m:t>
                          </m:r>
                        </m:sub>
                      </m:s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oMath>
                  </m:oMathPara>
                </a14:m>
                <a:endParaRPr lang="en-US" dirty="0"/>
              </a:p>
            </p:txBody>
          </p:sp>
        </mc:Choice>
        <mc:Fallback xmlns="">
          <p:sp>
            <p:nvSpPr>
              <p:cNvPr id="4" name="TextBox 3">
                <a:extLst>
                  <a:ext uri="{FF2B5EF4-FFF2-40B4-BE49-F238E27FC236}">
                    <a16:creationId xmlns:a16="http://schemas.microsoft.com/office/drawing/2014/main" id="{2A800A57-E772-B085-83DE-F86587544F28}"/>
                  </a:ext>
                </a:extLst>
              </p:cNvPr>
              <p:cNvSpPr txBox="1">
                <a:spLocks noRot="1" noChangeAspect="1" noMove="1" noResize="1" noEditPoints="1" noAdjustHandles="1" noChangeArrowheads="1" noChangeShapeType="1" noTextEdit="1"/>
              </p:cNvSpPr>
              <p:nvPr/>
            </p:nvSpPr>
            <p:spPr>
              <a:xfrm>
                <a:off x="5661212" y="971417"/>
                <a:ext cx="6094206" cy="646331"/>
              </a:xfrm>
              <a:prstGeom prst="rect">
                <a:avLst/>
              </a:prstGeom>
              <a:blipFill>
                <a:blip r:embed="rId6"/>
                <a:stretch>
                  <a:fillRect b="-3774"/>
                </a:stretch>
              </a:blipFill>
            </p:spPr>
            <p:txBody>
              <a:bodyPr/>
              <a:lstStyle/>
              <a:p>
                <a:r>
                  <a:rPr lang="he-IL">
                    <a:noFill/>
                  </a:rPr>
                  <a:t> </a:t>
                </a:r>
              </a:p>
            </p:txBody>
          </p:sp>
        </mc:Fallback>
      </mc:AlternateContent>
    </p:spTree>
    <p:extLst>
      <p:ext uri="{BB962C8B-B14F-4D97-AF65-F5344CB8AC3E}">
        <p14:creationId xmlns:p14="http://schemas.microsoft.com/office/powerpoint/2010/main" val="38028456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CF38-DEB4-2F41-FD93-8B433B2CF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52636-E670-C608-44B0-2C5CDC55EBCA}"/>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5566E4-6B7D-68B7-A38C-38C315DCDF73}"/>
                  </a:ext>
                </a:extLst>
              </p:cNvPr>
              <p:cNvSpPr>
                <a:spLocks noGrp="1"/>
              </p:cNvSpPr>
              <p:nvPr>
                <p:ph idx="1"/>
              </p:nvPr>
            </p:nvSpPr>
            <p:spPr>
              <a:xfrm>
                <a:off x="838200" y="1690688"/>
                <a:ext cx="10515600" cy="4569435"/>
              </a:xfrm>
            </p:spPr>
            <p:txBody>
              <a:bodyPr>
                <a:normAutofit/>
              </a:bodyPr>
              <a:lstStyle/>
              <a:p>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𝑹</m:t>
                        </m:r>
                      </m:e>
                      <m:sup>
                        <m:r>
                          <a:rPr lang="en-US" b="1" i="1" dirty="0" smtClean="0">
                            <a:latin typeface="Cambria Math" panose="02040503050406030204" pitchFamily="18" charset="0"/>
                          </a:rPr>
                          <m:t>𝟐</m:t>
                        </m:r>
                      </m:sup>
                    </m:sSup>
                  </m:oMath>
                </a14:m>
                <a:endParaRPr lang="en-US" dirty="0"/>
              </a:p>
              <a:p>
                <a:r>
                  <a:rPr lang="en-US" dirty="0"/>
                  <a:t>linear regression, the model produces fitted values:</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𝑖</m:t>
                          </m:r>
                        </m:sub>
                      </m:sSub>
                    </m:oMath>
                  </m:oMathPara>
                </a14:m>
                <a:endParaRPr lang="en-US" dirty="0"/>
              </a:p>
              <a:p>
                <a:pPr lvl="1"/>
                <a:r>
                  <a:rPr lang="en-US" dirty="0"/>
                  <a:t>These are the values predicted by the regression model.</a:t>
                </a:r>
              </a:p>
              <a:p>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𝑅</m:t>
                        </m:r>
                      </m:e>
                      <m:sup>
                        <m:r>
                          <a:rPr lang="en-US" i="1" dirty="0">
                            <a:latin typeface="Cambria Math" panose="02040503050406030204" pitchFamily="18" charset="0"/>
                          </a:rPr>
                          <m:t>2</m:t>
                        </m:r>
                      </m:sup>
                    </m:sSup>
                  </m:oMath>
                </a14:m>
                <a:r>
                  <a:rPr lang="en-US" dirty="0"/>
                  <a:t> measures how much of the variability in y is explained by the fitted model:</a:t>
                </a:r>
              </a:p>
              <a:p>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𝑅</m:t>
                          </m:r>
                        </m:e>
                        <m:sup>
                          <m:r>
                            <a:rPr lang="en-US" i="1" dirty="0" smtClean="0">
                              <a:latin typeface="Cambria Math" panose="02040503050406030204" pitchFamily="18" charset="0"/>
                            </a:rPr>
                            <m:t>2</m:t>
                          </m:r>
                        </m:sup>
                      </m:sSup>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a:latin typeface="Cambria Math" panose="02040503050406030204" pitchFamily="18" charset="0"/>
                            </a:rPr>
                            <m:t>𝑣𝑎𝑟</m:t>
                          </m:r>
                          <m:r>
                            <a:rPr lang="en-US" i="1" dirty="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dirty="0">
                              <a:latin typeface="Cambria Math" panose="02040503050406030204" pitchFamily="18" charset="0"/>
                            </a:rPr>
                            <m:t>	</m:t>
                          </m:r>
                          <m:r>
                            <a:rPr lang="en-US" i="1" dirty="0">
                              <a:latin typeface="Cambria Math" panose="02040503050406030204" pitchFamily="18" charset="0"/>
                            </a:rPr>
                            <m:t>​)</m:t>
                          </m:r>
                        </m:num>
                        <m:den>
                          <m:r>
                            <a:rPr lang="en-US" i="1" dirty="0">
                              <a:latin typeface="Cambria Math" panose="02040503050406030204" pitchFamily="18" charset="0"/>
                            </a:rPr>
                            <m:t>𝑣𝑎𝑟</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m:t>
                          </m:r>
                        </m:den>
                      </m:f>
                      <m:r>
                        <a:rPr lang="en-US" i="1" dirty="0" smtClean="0">
                          <a:latin typeface="Cambria Math" panose="02040503050406030204" pitchFamily="18" charset="0"/>
                        </a:rPr>
                        <m:t>	</m:t>
                      </m:r>
                    </m:oMath>
                  </m:oMathPara>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F15566E4-6B7D-68B7-A38C-38C315DCDF73}"/>
                  </a:ext>
                </a:extLst>
              </p:cNvPr>
              <p:cNvSpPr>
                <a:spLocks noGrp="1" noRot="1" noChangeAspect="1" noMove="1" noResize="1" noEditPoints="1" noAdjustHandles="1" noChangeArrowheads="1" noChangeShapeType="1" noTextEdit="1"/>
              </p:cNvSpPr>
              <p:nvPr>
                <p:ph idx="1"/>
              </p:nvPr>
            </p:nvSpPr>
            <p:spPr>
              <a:xfrm>
                <a:off x="838200" y="1690688"/>
                <a:ext cx="10515600" cy="4569435"/>
              </a:xfrm>
              <a:blipFill>
                <a:blip r:embed="rId3"/>
                <a:stretch>
                  <a:fillRect l="-1043" r="-522"/>
                </a:stretch>
              </a:blipFill>
            </p:spPr>
            <p:txBody>
              <a:bodyPr/>
              <a:lstStyle/>
              <a:p>
                <a:r>
                  <a:rPr lang="he-IL">
                    <a:noFill/>
                  </a:rPr>
                  <a:t> </a:t>
                </a:r>
              </a:p>
            </p:txBody>
          </p:sp>
        </mc:Fallback>
      </mc:AlternateContent>
    </p:spTree>
    <p:extLst>
      <p:ext uri="{BB962C8B-B14F-4D97-AF65-F5344CB8AC3E}">
        <p14:creationId xmlns:p14="http://schemas.microsoft.com/office/powerpoint/2010/main" val="3101693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DC26D-7A05-96D1-B0BA-62D6486C1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4D435-2CC8-6281-84F7-A3F34134C6F1}"/>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3B42AA-48C0-19C9-1896-C4DFA63AC2C5}"/>
                  </a:ext>
                </a:extLst>
              </p:cNvPr>
              <p:cNvSpPr>
                <a:spLocks noGrp="1"/>
              </p:cNvSpPr>
              <p:nvPr>
                <p:ph idx="1"/>
              </p:nvPr>
            </p:nvSpPr>
            <p:spPr>
              <a:xfrm>
                <a:off x="838200" y="1690688"/>
                <a:ext cx="10515600" cy="456943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sSup>
                        <m:sSupPr>
                          <m:ctrlPr>
                            <a:rPr lang="en-US" b="0" i="1" dirty="0" smtClean="0">
                              <a:latin typeface="Cambria Math" panose="02040503050406030204" pitchFamily="18" charset="0"/>
                            </a:rPr>
                          </m:ctrlPr>
                        </m:sSupPr>
                        <m:e>
                          <m:r>
                            <a:rPr lang="en-US" i="1" dirty="0" smtClean="0">
                              <a:latin typeface="Cambria Math" panose="02040503050406030204" pitchFamily="18" charset="0"/>
                            </a:rPr>
                            <m:t>𝑅</m:t>
                          </m:r>
                        </m:e>
                        <m:sup>
                          <m:r>
                            <a:rPr lang="en-US" i="1" dirty="0" smtClean="0">
                              <a:latin typeface="Cambria Math" panose="02040503050406030204" pitchFamily="18" charset="0"/>
                            </a:rPr>
                            <m:t>2</m:t>
                          </m:r>
                        </m:sup>
                      </m:sSup>
                      <m:r>
                        <a:rPr lang="en-US" i="1" dirty="0" smtClean="0">
                          <a:latin typeface="Cambria Math" panose="02040503050406030204" pitchFamily="18" charset="0"/>
                        </a:rPr>
                        <m:t>=</m:t>
                      </m:r>
                      <m:f>
                        <m:fPr>
                          <m:ctrlPr>
                            <a:rPr lang="en-US" i="1" dirty="0" smtClean="0">
                              <a:latin typeface="Cambria Math" panose="02040503050406030204" pitchFamily="18" charset="0"/>
                            </a:rPr>
                          </m:ctrlPr>
                        </m:fPr>
                        <m:num>
                          <m:r>
                            <a:rPr lang="en-US" i="1" dirty="0">
                              <a:latin typeface="Cambria Math" panose="02040503050406030204" pitchFamily="18" charset="0"/>
                            </a:rPr>
                            <m:t>𝑣𝑎𝑟</m:t>
                          </m:r>
                          <m:r>
                            <a:rPr lang="en-US" i="1" dirty="0">
                              <a:latin typeface="Cambria Math" panose="02040503050406030204" pitchFamily="18" charset="0"/>
                            </a:rPr>
                            <m:t>(</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dirty="0">
                              <a:latin typeface="Cambria Math" panose="02040503050406030204" pitchFamily="18" charset="0"/>
                            </a:rPr>
                            <m:t>	</m:t>
                          </m:r>
                          <m:r>
                            <a:rPr lang="en-US" i="1" dirty="0">
                              <a:latin typeface="Cambria Math" panose="02040503050406030204" pitchFamily="18" charset="0"/>
                            </a:rPr>
                            <m:t>​)</m:t>
                          </m:r>
                        </m:num>
                        <m:den>
                          <m:r>
                            <a:rPr lang="en-US" i="1" dirty="0">
                              <a:latin typeface="Cambria Math" panose="02040503050406030204" pitchFamily="18" charset="0"/>
                            </a:rPr>
                            <m:t>𝑣𝑎𝑟</m:t>
                          </m:r>
                          <m:r>
                            <a:rPr lang="en-US" i="1" dirty="0">
                              <a:latin typeface="Cambria Math" panose="02040503050406030204" pitchFamily="18" charset="0"/>
                            </a:rPr>
                            <m:t>(</m:t>
                          </m:r>
                          <m:r>
                            <a:rPr lang="en-US" i="1" dirty="0">
                              <a:latin typeface="Cambria Math" panose="02040503050406030204" pitchFamily="18" charset="0"/>
                            </a:rPr>
                            <m:t>𝑦</m:t>
                          </m:r>
                          <m:r>
                            <a:rPr lang="en-US" i="1" dirty="0">
                              <a:latin typeface="Cambria Math" panose="02040503050406030204" pitchFamily="18" charset="0"/>
                            </a:rPr>
                            <m:t>)</m:t>
                          </m:r>
                        </m:den>
                      </m:f>
                      <m:r>
                        <a:rPr lang="en-US" i="1" dirty="0" smtClean="0">
                          <a:latin typeface="Cambria Math" panose="02040503050406030204" pitchFamily="18" charset="0"/>
                        </a:rPr>
                        <m:t>	</m:t>
                      </m:r>
                    </m:oMath>
                  </m:oMathPara>
                </a14:m>
                <a:endParaRPr lang="en-US" dirty="0"/>
              </a:p>
              <a:p>
                <a:r>
                  <a:rPr lang="en-US" dirty="0"/>
                  <a:t>​Interpretation:</a:t>
                </a:r>
              </a:p>
              <a:p>
                <a:pPr lvl="1"/>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𝑅</m:t>
                        </m:r>
                      </m:e>
                      <m:sup>
                        <m:r>
                          <a:rPr lang="en-US" i="1" dirty="0">
                            <a:latin typeface="Cambria Math" panose="02040503050406030204" pitchFamily="18" charset="0"/>
                          </a:rPr>
                          <m:t>2</m:t>
                        </m:r>
                      </m:sup>
                    </m:sSup>
                    <m:r>
                      <a:rPr lang="en-US" i="1" dirty="0">
                        <a:latin typeface="Cambria Math" panose="02040503050406030204" pitchFamily="18" charset="0"/>
                      </a:rPr>
                      <m:t> </m:t>
                    </m:r>
                  </m:oMath>
                </a14:m>
                <a:r>
                  <a:rPr lang="en-US" dirty="0"/>
                  <a:t>=0: the model explains none of the variability in y.</a:t>
                </a:r>
              </a:p>
              <a:p>
                <a:pPr lvl="1"/>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𝑅</m:t>
                        </m:r>
                      </m:e>
                      <m:sup>
                        <m:r>
                          <a:rPr lang="en-US" i="1" dirty="0">
                            <a:latin typeface="Cambria Math" panose="02040503050406030204" pitchFamily="18" charset="0"/>
                          </a:rPr>
                          <m:t>2</m:t>
                        </m:r>
                      </m:sup>
                    </m:sSup>
                    <m:r>
                      <a:rPr lang="en-US" i="1" dirty="0">
                        <a:latin typeface="Cambria Math" panose="02040503050406030204" pitchFamily="18" charset="0"/>
                      </a:rPr>
                      <m:t> </m:t>
                    </m:r>
                  </m:oMath>
                </a14:m>
                <a:r>
                  <a:rPr lang="en-US" dirty="0"/>
                  <a:t>=1: the model explains all variability in y.</a:t>
                </a:r>
              </a:p>
              <a:p>
                <a:pPr lvl="1"/>
                <a:r>
                  <a:rPr lang="en-US" dirty="0"/>
                  <a:t>Larger </a:t>
                </a:r>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𝑅</m:t>
                        </m:r>
                      </m:e>
                      <m:sup>
                        <m:r>
                          <a:rPr lang="en-US" i="1" dirty="0">
                            <a:latin typeface="Cambria Math" panose="02040503050406030204" pitchFamily="18" charset="0"/>
                          </a:rPr>
                          <m:t>2</m:t>
                        </m:r>
                      </m:sup>
                    </m:sSup>
                    <m:r>
                      <a:rPr lang="en-US" i="1" dirty="0">
                        <a:latin typeface="Cambria Math" panose="02040503050406030204" pitchFamily="18" charset="0"/>
                      </a:rPr>
                      <m:t> </m:t>
                    </m:r>
                  </m:oMath>
                </a14:m>
                <a:r>
                  <a:rPr lang="en-US" dirty="0"/>
                  <a:t>: the fitted values are closer to the observed values.</a:t>
                </a:r>
              </a:p>
              <a:p>
                <a:endParaRPr lang="en-US" i="1" dirty="0">
                  <a:latin typeface="Cambria Math" panose="02040503050406030204" pitchFamily="18" charset="0"/>
                </a:endParaRPr>
              </a:p>
              <a:p>
                <a14:m>
                  <m:oMath xmlns:m="http://schemas.openxmlformats.org/officeDocument/2006/math">
                    <m:sSup>
                      <m:sSupPr>
                        <m:ctrlPr>
                          <a:rPr lang="en-US" i="1" dirty="0">
                            <a:latin typeface="Cambria Math" panose="02040503050406030204" pitchFamily="18" charset="0"/>
                          </a:rPr>
                        </m:ctrlPr>
                      </m:sSupPr>
                      <m:e>
                        <m:r>
                          <a:rPr lang="en-US" i="1" dirty="0">
                            <a:latin typeface="Cambria Math" panose="02040503050406030204" pitchFamily="18" charset="0"/>
                          </a:rPr>
                          <m:t>𝑅</m:t>
                        </m:r>
                      </m:e>
                      <m:sup>
                        <m:r>
                          <a:rPr lang="en-US" i="1" dirty="0">
                            <a:latin typeface="Cambria Math" panose="02040503050406030204" pitchFamily="18" charset="0"/>
                          </a:rPr>
                          <m:t>2</m:t>
                        </m:r>
                      </m:sup>
                    </m:sSup>
                  </m:oMath>
                </a14:m>
                <a:r>
                  <a:rPr lang="en-US" dirty="0"/>
                  <a:t> is an effect-size measure for regression: variance explained over total variance.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FF3B42AA-48C0-19C9-1896-C4DFA63AC2C5}"/>
                  </a:ext>
                </a:extLst>
              </p:cNvPr>
              <p:cNvSpPr>
                <a:spLocks noGrp="1" noRot="1" noChangeAspect="1" noMove="1" noResize="1" noEditPoints="1" noAdjustHandles="1" noChangeArrowheads="1" noChangeShapeType="1" noTextEdit="1"/>
              </p:cNvSpPr>
              <p:nvPr>
                <p:ph idx="1"/>
              </p:nvPr>
            </p:nvSpPr>
            <p:spPr>
              <a:xfrm>
                <a:off x="838200" y="1690688"/>
                <a:ext cx="10515600" cy="4569435"/>
              </a:xfrm>
              <a:blipFill>
                <a:blip r:embed="rId3"/>
                <a:stretch>
                  <a:fillRect l="-1043"/>
                </a:stretch>
              </a:blipFill>
            </p:spPr>
            <p:txBody>
              <a:bodyPr/>
              <a:lstStyle/>
              <a:p>
                <a:r>
                  <a:rPr lang="he-IL">
                    <a:noFill/>
                  </a:rPr>
                  <a:t> </a:t>
                </a:r>
              </a:p>
            </p:txBody>
          </p:sp>
        </mc:Fallback>
      </mc:AlternateContent>
    </p:spTree>
    <p:extLst>
      <p:ext uri="{BB962C8B-B14F-4D97-AF65-F5344CB8AC3E}">
        <p14:creationId xmlns:p14="http://schemas.microsoft.com/office/powerpoint/2010/main" val="4019653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AD359-0728-A8DC-90A3-A6EB53E81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873583-1E06-E050-36E8-774FAC4795B0}"/>
              </a:ext>
            </a:extLst>
          </p:cNvPr>
          <p:cNvSpPr>
            <a:spLocks noGrp="1"/>
          </p:cNvSpPr>
          <p:nvPr>
            <p:ph type="title"/>
          </p:nvPr>
        </p:nvSpPr>
        <p:spPr/>
        <p:txBody>
          <a:bodyPr/>
          <a:lstStyle/>
          <a:p>
            <a:r>
              <a:rPr lang="en-US" dirty="0"/>
              <a:t>Frequentist linear regression</a:t>
            </a:r>
            <a:br>
              <a:rPr lang="en-US" dirty="0"/>
            </a:br>
            <a:endParaRPr lang="he-IL" dirty="0"/>
          </a:p>
        </p:txBody>
      </p:sp>
      <p:pic>
        <p:nvPicPr>
          <p:cNvPr id="5" name="Picture 4">
            <a:extLst>
              <a:ext uri="{FF2B5EF4-FFF2-40B4-BE49-F238E27FC236}">
                <a16:creationId xmlns:a16="http://schemas.microsoft.com/office/drawing/2014/main" id="{B3855224-7B26-1D31-A493-B80C27C6182E}"/>
              </a:ext>
            </a:extLst>
          </p:cNvPr>
          <p:cNvPicPr>
            <a:picLocks noChangeAspect="1"/>
          </p:cNvPicPr>
          <p:nvPr/>
        </p:nvPicPr>
        <p:blipFill>
          <a:blip r:embed="rId3"/>
          <a:stretch>
            <a:fillRect/>
          </a:stretch>
        </p:blipFill>
        <p:spPr>
          <a:xfrm>
            <a:off x="838200" y="1300969"/>
            <a:ext cx="6173061" cy="1181265"/>
          </a:xfrm>
          <a:prstGeom prst="rect">
            <a:avLst/>
          </a:prstGeom>
        </p:spPr>
      </p:pic>
      <p:pic>
        <p:nvPicPr>
          <p:cNvPr id="7" name="Content Placeholder 6">
            <a:extLst>
              <a:ext uri="{FF2B5EF4-FFF2-40B4-BE49-F238E27FC236}">
                <a16:creationId xmlns:a16="http://schemas.microsoft.com/office/drawing/2014/main" id="{44E311EE-77D9-67E1-E2B6-C470EC30CCAC}"/>
              </a:ext>
            </a:extLst>
          </p:cNvPr>
          <p:cNvPicPr>
            <a:picLocks noGrp="1" noChangeAspect="1"/>
          </p:cNvPicPr>
          <p:nvPr>
            <p:ph idx="1"/>
          </p:nvPr>
        </p:nvPicPr>
        <p:blipFill>
          <a:blip r:embed="rId4"/>
          <a:stretch>
            <a:fillRect/>
          </a:stretch>
        </p:blipFill>
        <p:spPr>
          <a:xfrm>
            <a:off x="4792581" y="2066126"/>
            <a:ext cx="7085354" cy="4619282"/>
          </a:xfrm>
          <a:prstGeom prst="rect">
            <a:avLst/>
          </a:prstGeom>
        </p:spPr>
      </p:pic>
      <p:sp>
        <p:nvSpPr>
          <p:cNvPr id="9" name="Rectangle 8">
            <a:extLst>
              <a:ext uri="{FF2B5EF4-FFF2-40B4-BE49-F238E27FC236}">
                <a16:creationId xmlns:a16="http://schemas.microsoft.com/office/drawing/2014/main" id="{852696E2-1A48-C5F9-DA4F-78ECA21BD70F}"/>
              </a:ext>
            </a:extLst>
          </p:cNvPr>
          <p:cNvSpPr/>
          <p:nvPr/>
        </p:nvSpPr>
        <p:spPr>
          <a:xfrm>
            <a:off x="8335258" y="2683056"/>
            <a:ext cx="3416922" cy="210869"/>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63C1F7D7-8418-8AC8-A804-0A87A9857B06}"/>
                  </a:ext>
                </a:extLst>
              </p:cNvPr>
              <p:cNvSpPr txBox="1">
                <a:spLocks/>
              </p:cNvSpPr>
              <p:nvPr/>
            </p:nvSpPr>
            <p:spPr>
              <a:xfrm>
                <a:off x="314065" y="2971060"/>
                <a:ext cx="3954381" cy="10751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sSup>
                      <m:sSupPr>
                        <m:ctrlPr>
                          <a:rPr lang="en-US" sz="2000" b="1" i="1" dirty="0">
                            <a:latin typeface="Cambria Math" panose="02040503050406030204" pitchFamily="18" charset="0"/>
                          </a:rPr>
                        </m:ctrlPr>
                      </m:sSupPr>
                      <m:e>
                        <m:r>
                          <a:rPr lang="en-US" sz="2000" b="1" i="1" dirty="0">
                            <a:latin typeface="Cambria Math" panose="02040503050406030204" pitchFamily="18" charset="0"/>
                          </a:rPr>
                          <m:t>𝑹</m:t>
                        </m:r>
                      </m:e>
                      <m:sup>
                        <m:r>
                          <a:rPr lang="en-US" sz="2000" b="1" i="1" dirty="0">
                            <a:latin typeface="Cambria Math" panose="02040503050406030204" pitchFamily="18" charset="0"/>
                          </a:rPr>
                          <m:t>𝟐</m:t>
                        </m:r>
                      </m:sup>
                    </m:sSup>
                    <m:r>
                      <a:rPr lang="en-US" sz="2000" b="1" i="1" dirty="0">
                        <a:latin typeface="Cambria Math" panose="02040503050406030204" pitchFamily="18" charset="0"/>
                      </a:rPr>
                      <m:t> </m:t>
                    </m:r>
                  </m:oMath>
                </a14:m>
                <a:r>
                  <a:rPr lang="en-US" sz="2000" dirty="0"/>
                  <a:t>- proportion of variability explained by the model</a:t>
                </a:r>
              </a:p>
              <a:p>
                <a:endParaRPr lang="en-US" sz="1100" dirty="0"/>
              </a:p>
            </p:txBody>
          </p:sp>
        </mc:Choice>
        <mc:Fallback xmlns="">
          <p:sp>
            <p:nvSpPr>
              <p:cNvPr id="10" name="Content Placeholder 2">
                <a:extLst>
                  <a:ext uri="{FF2B5EF4-FFF2-40B4-BE49-F238E27FC236}">
                    <a16:creationId xmlns:a16="http://schemas.microsoft.com/office/drawing/2014/main" id="{63C1F7D7-8418-8AC8-A804-0A87A9857B06}"/>
                  </a:ext>
                </a:extLst>
              </p:cNvPr>
              <p:cNvSpPr txBox="1">
                <a:spLocks noRot="1" noChangeAspect="1" noMove="1" noResize="1" noEditPoints="1" noAdjustHandles="1" noChangeArrowheads="1" noChangeShapeType="1" noTextEdit="1"/>
              </p:cNvSpPr>
              <p:nvPr/>
            </p:nvSpPr>
            <p:spPr>
              <a:xfrm>
                <a:off x="314065" y="2971060"/>
                <a:ext cx="3954381" cy="1075174"/>
              </a:xfrm>
              <a:prstGeom prst="rect">
                <a:avLst/>
              </a:prstGeom>
              <a:blipFill>
                <a:blip r:embed="rId5"/>
                <a:stretch>
                  <a:fillRect l="-1389" t="-4520"/>
                </a:stretch>
              </a:blipFill>
            </p:spPr>
            <p:txBody>
              <a:bodyPr/>
              <a:lstStyle/>
              <a:p>
                <a:r>
                  <a:rPr lang="he-IL">
                    <a:noFill/>
                  </a:rPr>
                  <a:t> </a:t>
                </a:r>
              </a:p>
            </p:txBody>
          </p:sp>
        </mc:Fallback>
      </mc:AlternateContent>
    </p:spTree>
    <p:extLst>
      <p:ext uri="{BB962C8B-B14F-4D97-AF65-F5344CB8AC3E}">
        <p14:creationId xmlns:p14="http://schemas.microsoft.com/office/powerpoint/2010/main" val="6957678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531D2-CD65-96ED-8E47-DED78A0B0C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E59AB-9C0A-D596-A8E3-E0ADF2E77869}"/>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4B97D4-AB4A-0D11-29A8-7E3459690066}"/>
                  </a:ext>
                </a:extLst>
              </p:cNvPr>
              <p:cNvSpPr>
                <a:spLocks noGrp="1"/>
              </p:cNvSpPr>
              <p:nvPr>
                <p:ph idx="1"/>
              </p:nvPr>
            </p:nvSpPr>
            <p:spPr>
              <a:xfrm>
                <a:off x="838200" y="1376624"/>
                <a:ext cx="10515600" cy="4800339"/>
              </a:xfrm>
            </p:spPr>
            <p:txBody>
              <a:bodyPr>
                <a:normAutofit fontScale="77500" lnSpcReduction="20000"/>
              </a:bodyPr>
              <a:lstStyle/>
              <a:p>
                <a:r>
                  <a:rPr lang="en-US" b="1" dirty="0"/>
                  <a:t>F test</a:t>
                </a:r>
                <a:endParaRPr lang="he-IL" b="1" dirty="0"/>
              </a:p>
              <a:p>
                <a:r>
                  <a:rPr lang="en-US" dirty="0"/>
                  <a:t>the F-test asks whether the model with the predictor explains more variability than a null model with no predictor.</a:t>
                </a:r>
                <a:endParaRPr lang="he-IL" dirty="0"/>
              </a:p>
              <a:p>
                <a:r>
                  <a:rPr lang="en-US" dirty="0"/>
                  <a:t>Null model:</a:t>
                </a:r>
                <a:endParaRPr lang="he-IL" dirty="0"/>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𝑦</m:t>
                              </m:r>
                            </m:e>
                          </m:acc>
                        </m:e>
                        <m:sub>
                          <m:r>
                            <a:rPr lang="en-US" b="0" i="1" dirty="0" smtClean="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 </m:t>
                      </m:r>
                      <m:sSub>
                        <m:sSubPr>
                          <m:ctrlPr>
                            <a:rPr lang="he-IL"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0</m:t>
                          </m:r>
                        </m:sub>
                      </m:sSub>
                      <m:r>
                        <a:rPr lang="en-US" i="1" dirty="0">
                          <a:latin typeface="Cambria Math" panose="02040503050406030204" pitchFamily="18" charset="0"/>
                        </a:rPr>
                        <m:t> </m:t>
                      </m:r>
                      <m:r>
                        <a:rPr lang="en-US" i="1" dirty="0" smtClean="0">
                          <a:latin typeface="Cambria Math" panose="02040503050406030204" pitchFamily="18" charset="0"/>
                        </a:rPr>
                        <m:t>	</m:t>
                      </m:r>
                      <m:r>
                        <a:rPr lang="en-US" i="1" dirty="0" smtClean="0">
                          <a:latin typeface="Cambria Math" panose="02040503050406030204" pitchFamily="18" charset="0"/>
                        </a:rPr>
                        <m:t>​</m:t>
                      </m:r>
                    </m:oMath>
                  </m:oMathPara>
                </a14:m>
                <a:endParaRPr lang="he-IL" dirty="0"/>
              </a:p>
              <a:p>
                <a:r>
                  <a:rPr lang="en-US" dirty="0"/>
                  <a:t>Full </a:t>
                </a:r>
                <a:r>
                  <a:rPr lang="en-US" dirty="0" err="1"/>
                  <a:t>model:</a:t>
                </a:r>
                <a:endParaRPr lang="he-IL" i="1" dirty="0">
                  <a:latin typeface="Cambria Math" panose="02040503050406030204" pitchFamily="18" charset="0"/>
                </a:endParaRPr>
              </a:p>
              <a:p>
                <a:pPr marL="0" indent="0" algn="ctr">
                  <a:buNone/>
                </a:pPr>
                <a14:m>
                  <m:oMath xmlns:m="http://schemas.openxmlformats.org/officeDocument/2006/math">
                    <m:sSub>
                      <m:sSubPr>
                        <m:ctrlPr>
                          <a:rPr lang="en-US" i="1" dirty="0">
                            <a:latin typeface="Cambria Math" panose="02040503050406030204" pitchFamily="18" charset="0"/>
                          </a:rPr>
                        </m:ctrlPr>
                      </m:sSubPr>
                      <m:e>
                        <m:acc>
                          <m:accPr>
                            <m:chr m:val="̂"/>
                            <m:ctrlPr>
                              <a:rPr lang="en-US" i="1" dirty="0">
                                <a:latin typeface="Cambria Math" panose="02040503050406030204" pitchFamily="18" charset="0"/>
                              </a:rPr>
                            </m:ctrlPr>
                          </m:accPr>
                          <m:e>
                            <m:r>
                              <a:rPr lang="en-US" i="1" dirty="0">
                                <a:latin typeface="Cambria Math" panose="02040503050406030204" pitchFamily="18" charset="0"/>
                              </a:rPr>
                              <m:t>𝑦</m:t>
                            </m:r>
                          </m:e>
                        </m:acc>
                      </m:e>
                      <m:sub>
                        <m:r>
                          <a:rPr lang="en-US" i="1" dirty="0">
                            <a:latin typeface="Cambria Math" panose="02040503050406030204" pitchFamily="18" charset="0"/>
                          </a:rPr>
                          <m:t>𝑖</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0</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smtClean="0">
                            <a:latin typeface="Cambria Math" panose="02040503050406030204" pitchFamily="18" charset="0"/>
                          </a:rPr>
                          <m:t>𝑥</m:t>
                        </m:r>
                      </m:e>
                      <m:sub>
                        <m:r>
                          <a:rPr lang="en-US" i="1" dirty="0" smtClean="0">
                            <a:latin typeface="Cambria Math" panose="02040503050406030204" pitchFamily="18" charset="0"/>
                          </a:rPr>
                          <m:t>𝑖</m:t>
                        </m:r>
                      </m:sub>
                    </m:sSub>
                  </m:oMath>
                </a14:m>
                <a:r>
                  <a:rPr lang="en-US" dirty="0"/>
                  <a:t>	​</a:t>
                </a:r>
                <a:endParaRPr lang="he-IL" dirty="0"/>
              </a:p>
              <a:p>
                <a:r>
                  <a:rPr lang="en-US" dirty="0"/>
                  <a:t>Hypotheses:</a:t>
                </a:r>
                <a:endParaRPr lang="he-IL" dirty="0"/>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0</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0</m:t>
                      </m:r>
                    </m:oMath>
                  </m:oMathPara>
                </a14:m>
                <a:endParaRPr lang="he-IL"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𝐻</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r>
                        <a:rPr lang="en-US" i="1" dirty="0" smtClean="0">
                          <a:latin typeface="Cambria Math" panose="02040503050406030204" pitchFamily="18" charset="0"/>
                        </a:rPr>
                        <m:t>​:</m:t>
                      </m:r>
                      <m:sSub>
                        <m:sSubPr>
                          <m:ctrlPr>
                            <a:rPr lang="he-IL" b="0" i="1" dirty="0" smtClean="0">
                              <a:latin typeface="Cambria Math" panose="02040503050406030204" pitchFamily="18" charset="0"/>
                            </a:rPr>
                          </m:ctrlPr>
                        </m:sSubPr>
                        <m:e>
                          <m:r>
                            <a:rPr lang="en-US" i="1" dirty="0" smtClean="0">
                              <a:latin typeface="Cambria Math" panose="02040503050406030204" pitchFamily="18" charset="0"/>
                            </a:rPr>
                            <m:t>𝑏</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0</m:t>
                      </m:r>
                    </m:oMath>
                  </m:oMathPara>
                </a14:m>
                <a:endParaRPr lang="he-IL" i="1" dirty="0">
                  <a:latin typeface="Cambria Math" panose="02040503050406030204" pitchFamily="18" charset="0"/>
                </a:endParaRPr>
              </a:p>
              <a:p>
                <a:r>
                  <a:rPr lang="en-US" dirty="0"/>
                  <a:t>Interpretation:</a:t>
                </a:r>
              </a:p>
              <a:p>
                <a:pPr lvl="1"/>
                <a:r>
                  <a:rPr lang="en-US" dirty="0"/>
                  <a:t>If </a:t>
                </a:r>
                <a14:m>
                  <m:oMath xmlns:m="http://schemas.openxmlformats.org/officeDocument/2006/math">
                    <m:sSub>
                      <m:sSubPr>
                        <m:ctrlPr>
                          <a:rPr lang="he-IL" i="1" dirty="0">
                            <a:latin typeface="Cambria Math" panose="02040503050406030204" pitchFamily="18" charset="0"/>
                          </a:rPr>
                        </m:ctrlPr>
                      </m:sSubPr>
                      <m:e>
                        <m:r>
                          <a:rPr lang="en-US" i="1" dirty="0">
                            <a:latin typeface="Cambria Math" panose="02040503050406030204" pitchFamily="18" charset="0"/>
                          </a:rPr>
                          <m:t>𝑏</m:t>
                        </m:r>
                      </m:e>
                      <m:sub>
                        <m:r>
                          <a:rPr lang="en-US" i="1" dirty="0">
                            <a:latin typeface="Cambria Math" panose="02040503050406030204" pitchFamily="18" charset="0"/>
                          </a:rPr>
                          <m:t>1</m:t>
                        </m:r>
                      </m:sub>
                    </m:sSub>
                    <m:r>
                      <a:rPr lang="en-US" i="1" dirty="0">
                        <a:latin typeface="Cambria Math" panose="02040503050406030204" pitchFamily="18" charset="0"/>
                      </a:rPr>
                      <m:t> </m:t>
                    </m:r>
                  </m:oMath>
                </a14:m>
                <a:r>
                  <a:rPr lang="en-US" dirty="0"/>
                  <a:t>​=0, the predictor does not improve the model beyond predicting the mean of y.</a:t>
                </a:r>
                <a:endParaRPr lang="he-IL" dirty="0"/>
              </a:p>
              <a:p>
                <a:pPr lvl="1"/>
                <a:r>
                  <a:rPr lang="en-US" dirty="0"/>
                  <a:t>A large F-statistic means the model explains more variability than expected under the null model.</a:t>
                </a:r>
              </a:p>
              <a:p>
                <a:pPr lvl="1"/>
                <a:r>
                  <a:rPr lang="en-US" dirty="0"/>
                  <a:t>A small p-value means the data are unlikely under the null model.</a:t>
                </a:r>
              </a:p>
            </p:txBody>
          </p:sp>
        </mc:Choice>
        <mc:Fallback xmlns="">
          <p:sp>
            <p:nvSpPr>
              <p:cNvPr id="3" name="Content Placeholder 2">
                <a:extLst>
                  <a:ext uri="{FF2B5EF4-FFF2-40B4-BE49-F238E27FC236}">
                    <a16:creationId xmlns:a16="http://schemas.microsoft.com/office/drawing/2014/main" id="{334B97D4-AB4A-0D11-29A8-7E3459690066}"/>
                  </a:ext>
                </a:extLst>
              </p:cNvPr>
              <p:cNvSpPr>
                <a:spLocks noGrp="1" noRot="1" noChangeAspect="1" noMove="1" noResize="1" noEditPoints="1" noAdjustHandles="1" noChangeArrowheads="1" noChangeShapeType="1" noTextEdit="1"/>
              </p:cNvSpPr>
              <p:nvPr>
                <p:ph idx="1"/>
              </p:nvPr>
            </p:nvSpPr>
            <p:spPr>
              <a:xfrm>
                <a:off x="838200" y="1376624"/>
                <a:ext cx="10515600" cy="4800339"/>
              </a:xfrm>
              <a:blipFill>
                <a:blip r:embed="rId3"/>
                <a:stretch>
                  <a:fillRect l="-696" t="-2541"/>
                </a:stretch>
              </a:blipFill>
            </p:spPr>
            <p:txBody>
              <a:bodyPr/>
              <a:lstStyle/>
              <a:p>
                <a:r>
                  <a:rPr lang="he-IL">
                    <a:noFill/>
                  </a:rPr>
                  <a:t> </a:t>
                </a:r>
              </a:p>
            </p:txBody>
          </p:sp>
        </mc:Fallback>
      </mc:AlternateContent>
    </p:spTree>
    <p:extLst>
      <p:ext uri="{BB962C8B-B14F-4D97-AF65-F5344CB8AC3E}">
        <p14:creationId xmlns:p14="http://schemas.microsoft.com/office/powerpoint/2010/main" val="348882934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21DB9-32A3-44D4-3CE8-0012C5D39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718BC-B026-6514-298D-6B8A56D21B70}"/>
              </a:ext>
            </a:extLst>
          </p:cNvPr>
          <p:cNvSpPr>
            <a:spLocks noGrp="1"/>
          </p:cNvSpPr>
          <p:nvPr>
            <p:ph type="title"/>
          </p:nvPr>
        </p:nvSpPr>
        <p:spPr/>
        <p:txBody>
          <a:bodyPr/>
          <a:lstStyle/>
          <a:p>
            <a:r>
              <a:rPr lang="en-US" dirty="0"/>
              <a:t>Frequentist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497A0E0-6905-00EA-FD2D-F689AFB28BE1}"/>
                  </a:ext>
                </a:extLst>
              </p:cNvPr>
              <p:cNvSpPr>
                <a:spLocks noGrp="1"/>
              </p:cNvSpPr>
              <p:nvPr>
                <p:ph idx="1"/>
              </p:nvPr>
            </p:nvSpPr>
            <p:spPr>
              <a:xfrm>
                <a:off x="838200" y="1376624"/>
                <a:ext cx="10515600" cy="4800339"/>
              </a:xfrm>
            </p:spPr>
            <p:txBody>
              <a:bodyPr>
                <a:normAutofit fontScale="92500" lnSpcReduction="20000"/>
              </a:bodyPr>
              <a:lstStyle/>
              <a:p>
                <a:r>
                  <a:rPr lang="en-US" b="1" dirty="0"/>
                  <a:t>F test</a:t>
                </a:r>
                <a:endParaRPr lang="he-IL" b="1" dirty="0"/>
              </a:p>
              <a:p>
                <a:r>
                  <a:rPr lang="en-US" dirty="0"/>
                  <a:t>Formula:</a:t>
                </a:r>
              </a:p>
              <a:p>
                <a:pPr marL="0" indent="0" algn="ctr">
                  <a:buNone/>
                </a:pPr>
                <a14:m>
                  <m:oMath xmlns:m="http://schemas.openxmlformats.org/officeDocument/2006/math">
                    <m:r>
                      <a:rPr lang="en-US" i="1" dirty="0" smtClean="0">
                        <a:latin typeface="Cambria Math" panose="02040503050406030204" pitchFamily="18" charset="0"/>
                      </a:rPr>
                      <m:t>𝐹</m:t>
                    </m:r>
                    <m:r>
                      <a:rPr lang="he-IL" i="1" dirty="0">
                        <a:latin typeface="Cambria Math" panose="02040503050406030204" pitchFamily="18" charset="0"/>
                      </a:rPr>
                      <m:t>= </m:t>
                    </m:r>
                    <m:f>
                      <m:fPr>
                        <m:ctrlPr>
                          <a:rPr lang="en-US" i="1" dirty="0">
                            <a:latin typeface="Cambria Math" panose="02040503050406030204" pitchFamily="18" charset="0"/>
                          </a:rPr>
                        </m:ctrlPr>
                      </m:fPr>
                      <m:num>
                        <m:r>
                          <a:rPr lang="he-IL" i="1" dirty="0">
                            <a:latin typeface="Cambria Math" panose="02040503050406030204" pitchFamily="18" charset="0"/>
                          </a:rPr>
                          <m:t>𝑣𝑎𝑟𝑖𝑎𝑛𝑐𝑒</m:t>
                        </m:r>
                        <m:r>
                          <a:rPr lang="en-US" i="1" dirty="0">
                            <a:latin typeface="Cambria Math" panose="02040503050406030204" pitchFamily="18" charset="0"/>
                          </a:rPr>
                          <m:t> </m:t>
                        </m:r>
                        <m:r>
                          <a:rPr lang="he-IL" i="1" dirty="0">
                            <a:latin typeface="Cambria Math" panose="02040503050406030204" pitchFamily="18" charset="0"/>
                          </a:rPr>
                          <m:t>𝑒𝑥𝑝𝑙𝑎𝑖𝑛𝑒𝑑</m:t>
                        </m:r>
                        <m:r>
                          <a:rPr lang="he-IL" i="1" dirty="0">
                            <a:latin typeface="Cambria Math" panose="02040503050406030204" pitchFamily="18" charset="0"/>
                          </a:rPr>
                          <m:t> </m:t>
                        </m:r>
                        <m:r>
                          <a:rPr lang="he-IL" i="1" dirty="0">
                            <a:latin typeface="Cambria Math" panose="02040503050406030204" pitchFamily="18" charset="0"/>
                          </a:rPr>
                          <m:t>𝑏𝑦</m:t>
                        </m:r>
                        <m:r>
                          <a:rPr lang="he-IL" i="1" dirty="0">
                            <a:latin typeface="Cambria Math" panose="02040503050406030204" pitchFamily="18" charset="0"/>
                          </a:rPr>
                          <m:t> </m:t>
                        </m:r>
                        <m:r>
                          <a:rPr lang="he-IL" i="1" dirty="0">
                            <a:latin typeface="Cambria Math" panose="02040503050406030204" pitchFamily="18" charset="0"/>
                          </a:rPr>
                          <m:t>𝑡</m:t>
                        </m:r>
                        <m:r>
                          <a:rPr lang="he-IL" i="1" dirty="0">
                            <a:latin typeface="Cambria Math" panose="02040503050406030204" pitchFamily="18" charset="0"/>
                          </a:rPr>
                          <m:t>h</m:t>
                        </m:r>
                        <m:r>
                          <a:rPr lang="he-IL" i="1" dirty="0">
                            <a:latin typeface="Cambria Math" panose="02040503050406030204" pitchFamily="18" charset="0"/>
                          </a:rPr>
                          <m:t>𝑒</m:t>
                        </m:r>
                        <m:r>
                          <a:rPr lang="he-IL" i="1" dirty="0">
                            <a:latin typeface="Cambria Math" panose="02040503050406030204" pitchFamily="18" charset="0"/>
                          </a:rPr>
                          <m:t> </m:t>
                        </m:r>
                        <m:r>
                          <a:rPr lang="he-IL" i="1" dirty="0">
                            <a:latin typeface="Cambria Math" panose="02040503050406030204" pitchFamily="18" charset="0"/>
                          </a:rPr>
                          <m:t>𝑚𝑜𝑑𝑒𝑙</m:t>
                        </m:r>
                      </m:num>
                      <m:den>
                        <m:r>
                          <m:rPr>
                            <m:sty m:val="p"/>
                          </m:rPr>
                          <a:rPr lang="he-IL" dirty="0">
                            <a:latin typeface="Cambria Math" panose="02040503050406030204" pitchFamily="18" charset="0"/>
                          </a:rPr>
                          <m:t>residual</m:t>
                        </m:r>
                        <m:r>
                          <a:rPr lang="he-IL" dirty="0">
                            <a:latin typeface="Cambria Math" panose="02040503050406030204" pitchFamily="18" charset="0"/>
                          </a:rPr>
                          <m:t> </m:t>
                        </m:r>
                        <m:r>
                          <m:rPr>
                            <m:sty m:val="p"/>
                          </m:rPr>
                          <a:rPr lang="he-IL" dirty="0">
                            <a:latin typeface="Cambria Math" panose="02040503050406030204" pitchFamily="18" charset="0"/>
                          </a:rPr>
                          <m:t>variance</m:t>
                        </m:r>
                      </m:den>
                    </m:f>
                    <m:r>
                      <a:rPr lang="he-IL" b="0" i="1" dirty="0" smtClean="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	</m:t>
                    </m:r>
                    <m:f>
                      <m:fPr>
                        <m:ctrlPr>
                          <a:rPr lang="en-US" b="0" i="1" dirty="0" smtClean="0">
                            <a:latin typeface="Cambria Math" panose="02040503050406030204" pitchFamily="18" charset="0"/>
                          </a:rPr>
                        </m:ctrlPr>
                      </m:fPr>
                      <m:num>
                        <m:r>
                          <a:rPr lang="en-US" i="1" dirty="0">
                            <a:latin typeface="Cambria Math" panose="02040503050406030204" pitchFamily="18" charset="0"/>
                          </a:rPr>
                          <m:t>𝑀</m:t>
                        </m:r>
                        <m:sSub>
                          <m:sSubPr>
                            <m:ctrlPr>
                              <a:rPr lang="he-IL" b="0" i="1" dirty="0" smtClean="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𝑟𝑒𝑔</m:t>
                            </m:r>
                          </m:sub>
                        </m:sSub>
                      </m:num>
                      <m:den>
                        <m:r>
                          <a:rPr lang="en-US" i="1" dirty="0">
                            <a:latin typeface="Cambria Math" panose="02040503050406030204" pitchFamily="18" charset="0"/>
                          </a:rPr>
                          <m:t>𝑀</m:t>
                        </m:r>
                        <m:sSub>
                          <m:sSubPr>
                            <m:ctrlPr>
                              <a:rPr lang="he-IL" b="0" i="1" dirty="0" smtClean="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𝑟𝑒𝑠</m:t>
                            </m:r>
                          </m:sub>
                        </m:sSub>
                      </m:den>
                    </m:f>
                    <m:r>
                      <a:rPr lang="en-US" i="1" dirty="0" smtClean="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	</m:t>
                    </m:r>
                    <m:f>
                      <m:fPr>
                        <m:ctrlPr>
                          <a:rPr lang="en-US" b="0" i="1" dirty="0" smtClean="0">
                            <a:latin typeface="Cambria Math" panose="02040503050406030204" pitchFamily="18" charset="0"/>
                          </a:rPr>
                        </m:ctrlPr>
                      </m:fPr>
                      <m:num>
                        <m:f>
                          <m:fPr>
                            <m:ctrlPr>
                              <a:rPr lang="en-US" b="0" i="1" dirty="0" smtClean="0">
                                <a:latin typeface="Cambria Math" panose="02040503050406030204" pitchFamily="18" charset="0"/>
                              </a:rPr>
                            </m:ctrlPr>
                          </m:fPr>
                          <m:num>
                            <m:r>
                              <a:rPr lang="en-US" i="1" dirty="0">
                                <a:latin typeface="Cambria Math" panose="02040503050406030204" pitchFamily="18" charset="0"/>
                              </a:rPr>
                              <m:t>𝑆</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𝑟𝑒𝑠</m:t>
                                </m:r>
                              </m:sub>
                            </m:sSub>
                          </m:num>
                          <m:den>
                            <m:r>
                              <a:rPr lang="en-US" i="1" dirty="0">
                                <a:latin typeface="Cambria Math" panose="02040503050406030204" pitchFamily="18" charset="0"/>
                              </a:rPr>
                              <m:t>𝑑</m:t>
                            </m:r>
                            <m:sSub>
                              <m:sSubPr>
                                <m:ctrlPr>
                                  <a:rPr lang="en-US" b="0" i="1" dirty="0" smtClean="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𝑟𝑒𝑠</m:t>
                                </m:r>
                              </m:sub>
                            </m:sSub>
                          </m:den>
                        </m:f>
                      </m:num>
                      <m:den>
                        <m:f>
                          <m:fPr>
                            <m:ctrlPr>
                              <a:rPr lang="en-US" b="0" i="1" dirty="0" smtClean="0">
                                <a:latin typeface="Cambria Math" panose="02040503050406030204" pitchFamily="18" charset="0"/>
                              </a:rPr>
                            </m:ctrlPr>
                          </m:fPr>
                          <m:num>
                            <m:r>
                              <a:rPr lang="en-US" i="1" dirty="0">
                                <a:latin typeface="Cambria Math" panose="02040503050406030204" pitchFamily="18" charset="0"/>
                              </a:rPr>
                              <m:t>𝑆</m:t>
                            </m:r>
                            <m:sSub>
                              <m:sSubPr>
                                <m:ctrlPr>
                                  <a:rPr lang="en-US" i="1" dirty="0">
                                    <a:latin typeface="Cambria Math" panose="02040503050406030204" pitchFamily="18" charset="0"/>
                                  </a:rPr>
                                </m:ctrlPr>
                              </m:sSubPr>
                              <m:e>
                                <m:r>
                                  <a:rPr lang="en-US" i="1" dirty="0">
                                    <a:latin typeface="Cambria Math" panose="02040503050406030204" pitchFamily="18" charset="0"/>
                                  </a:rPr>
                                  <m:t>𝑆</m:t>
                                </m:r>
                              </m:e>
                              <m:sub>
                                <m:r>
                                  <a:rPr lang="en-US" i="1" dirty="0">
                                    <a:latin typeface="Cambria Math" panose="02040503050406030204" pitchFamily="18" charset="0"/>
                                  </a:rPr>
                                  <m:t>𝑟𝑒𝑔</m:t>
                                </m:r>
                              </m:sub>
                            </m:sSub>
                          </m:num>
                          <m:den>
                            <m:r>
                              <a:rPr lang="en-US" i="1" dirty="0">
                                <a:latin typeface="Cambria Math" panose="02040503050406030204" pitchFamily="18" charset="0"/>
                              </a:rPr>
                              <m:t>𝑑</m:t>
                            </m:r>
                            <m:sSub>
                              <m:sSubPr>
                                <m:ctrlPr>
                                  <a:rPr lang="en-US" i="1" dirty="0">
                                    <a:latin typeface="Cambria Math" panose="02040503050406030204" pitchFamily="18" charset="0"/>
                                  </a:rPr>
                                </m:ctrlPr>
                              </m:sSubPr>
                              <m:e>
                                <m:r>
                                  <a:rPr lang="en-US" i="1" dirty="0">
                                    <a:latin typeface="Cambria Math" panose="02040503050406030204" pitchFamily="18" charset="0"/>
                                  </a:rPr>
                                  <m:t>𝑓</m:t>
                                </m:r>
                              </m:e>
                              <m:sub>
                                <m:r>
                                  <a:rPr lang="en-US" i="1" dirty="0">
                                    <a:latin typeface="Cambria Math" panose="02040503050406030204" pitchFamily="18" charset="0"/>
                                  </a:rPr>
                                  <m:t>𝑟𝑒𝑔</m:t>
                                </m:r>
                              </m:sub>
                            </m:sSub>
                          </m:den>
                        </m:f>
                      </m:den>
                    </m:f>
                    <m:r>
                      <a:rPr lang="en-US" i="1" dirty="0" smtClean="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	</m:t>
                    </m:r>
                    <m:r>
                      <a:rPr lang="en-US" i="1" dirty="0" smtClean="0">
                        <a:latin typeface="Cambria Math" panose="02040503050406030204" pitchFamily="18" charset="0"/>
                      </a:rPr>
                      <m:t>​</m:t>
                    </m:r>
                    <m:r>
                      <a:rPr lang="en-US" i="1" dirty="0" smtClean="0">
                        <a:latin typeface="Cambria Math" panose="02040503050406030204" pitchFamily="18" charset="0"/>
                      </a:rPr>
                      <m:t>	</m:t>
                    </m:r>
                    <m:r>
                      <a:rPr lang="en-US" i="1" dirty="0" smtClean="0">
                        <a:latin typeface="Cambria Math" panose="02040503050406030204" pitchFamily="18" charset="0"/>
                      </a:rPr>
                      <m:t>​</m:t>
                    </m:r>
                  </m:oMath>
                </a14:m>
                <a:r>
                  <a:rPr lang="en-US" dirty="0"/>
                  <a:t>	</a:t>
                </a:r>
              </a:p>
              <a:p>
                <a:pPr marL="0" indent="0">
                  <a:buNone/>
                </a:pPr>
                <a:r>
                  <a:rPr lang="en-US" dirty="0"/>
                  <a:t>For simple regression:</a:t>
                </a:r>
              </a:p>
              <a:p>
                <a:pPr marL="0" indent="0">
                  <a:buNone/>
                </a:pPr>
                <a14:m>
                  <m:oMathPara xmlns:m="http://schemas.openxmlformats.org/officeDocument/2006/math">
                    <m:oMathParaPr>
                      <m:jc m:val="centerGroup"/>
                    </m:oMathParaPr>
                    <m:oMath xmlns:m="http://schemas.openxmlformats.org/officeDocument/2006/math">
                      <m:r>
                        <a:rPr lang="en-US" sz="2600" i="1" dirty="0" smtClean="0">
                          <a:latin typeface="Cambria Math" panose="02040503050406030204" pitchFamily="18" charset="0"/>
                        </a:rPr>
                        <m:t>𝑑</m:t>
                      </m:r>
                      <m:sSub>
                        <m:sSubPr>
                          <m:ctrlPr>
                            <a:rPr lang="en-US" sz="2600" b="0" i="1" dirty="0" smtClean="0">
                              <a:latin typeface="Cambria Math" panose="02040503050406030204" pitchFamily="18" charset="0"/>
                            </a:rPr>
                          </m:ctrlPr>
                        </m:sSubPr>
                        <m:e>
                          <m:r>
                            <a:rPr lang="en-US" sz="2600" i="1" dirty="0" smtClean="0">
                              <a:latin typeface="Cambria Math" panose="02040503050406030204" pitchFamily="18" charset="0"/>
                            </a:rPr>
                            <m:t>𝑓</m:t>
                          </m:r>
                        </m:e>
                        <m:sub>
                          <m:r>
                            <a:rPr lang="en-US" sz="2600" i="1" dirty="0" smtClean="0">
                              <a:latin typeface="Cambria Math" panose="02040503050406030204" pitchFamily="18" charset="0"/>
                            </a:rPr>
                            <m:t>𝑟𝑒𝑔</m:t>
                          </m:r>
                        </m:sub>
                      </m:sSub>
                      <m:r>
                        <a:rPr lang="en-US" sz="2600" i="1" dirty="0" smtClean="0">
                          <a:latin typeface="Cambria Math" panose="02040503050406030204" pitchFamily="18" charset="0"/>
                        </a:rPr>
                        <m:t>	</m:t>
                      </m:r>
                      <m:r>
                        <a:rPr lang="en-US" sz="2600" i="1" dirty="0" smtClean="0">
                          <a:latin typeface="Cambria Math" panose="02040503050406030204" pitchFamily="18" charset="0"/>
                        </a:rPr>
                        <m:t>​=</m:t>
                      </m:r>
                      <m:r>
                        <a:rPr lang="en-US" sz="2600" i="1" dirty="0" smtClean="0">
                          <a:latin typeface="Cambria Math" panose="02040503050406030204" pitchFamily="18" charset="0"/>
                        </a:rPr>
                        <m:t>1</m:t>
                      </m:r>
                    </m:oMath>
                  </m:oMathPara>
                </a14:m>
                <a:endParaRPr lang="en-US" sz="2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2600" i="1" dirty="0" smtClean="0">
                          <a:latin typeface="Cambria Math" panose="02040503050406030204" pitchFamily="18" charset="0"/>
                        </a:rPr>
                        <m:t>𝑑</m:t>
                      </m:r>
                      <m:sSub>
                        <m:sSubPr>
                          <m:ctrlPr>
                            <a:rPr lang="en-US" sz="2600" b="0" i="1" dirty="0" smtClean="0">
                              <a:latin typeface="Cambria Math" panose="02040503050406030204" pitchFamily="18" charset="0"/>
                            </a:rPr>
                          </m:ctrlPr>
                        </m:sSubPr>
                        <m:e>
                          <m:r>
                            <a:rPr lang="en-US" sz="2600" i="1" dirty="0" smtClean="0">
                              <a:latin typeface="Cambria Math" panose="02040503050406030204" pitchFamily="18" charset="0"/>
                            </a:rPr>
                            <m:t>𝑓</m:t>
                          </m:r>
                        </m:e>
                        <m:sub>
                          <m:r>
                            <a:rPr lang="en-US" sz="2600" i="1" dirty="0" smtClean="0">
                              <a:latin typeface="Cambria Math" panose="02040503050406030204" pitchFamily="18" charset="0"/>
                            </a:rPr>
                            <m:t>𝑟𝑒𝑠</m:t>
                          </m:r>
                        </m:sub>
                      </m:sSub>
                      <m:r>
                        <a:rPr lang="en-US" sz="2600" i="1" dirty="0" smtClean="0">
                          <a:latin typeface="Cambria Math" panose="02040503050406030204" pitchFamily="18" charset="0"/>
                        </a:rPr>
                        <m:t>	</m:t>
                      </m:r>
                      <m:r>
                        <a:rPr lang="en-US" sz="2600" i="1" dirty="0" smtClean="0">
                          <a:latin typeface="Cambria Math" panose="02040503050406030204" pitchFamily="18" charset="0"/>
                        </a:rPr>
                        <m:t>​=</m:t>
                      </m:r>
                      <m:r>
                        <a:rPr lang="en-US" sz="2600" i="1" dirty="0" smtClean="0">
                          <a:latin typeface="Cambria Math" panose="02040503050406030204" pitchFamily="18" charset="0"/>
                        </a:rPr>
                        <m:t>𝑁</m:t>
                      </m:r>
                      <m:r>
                        <a:rPr lang="en-US" sz="2600" i="1" dirty="0" smtClean="0">
                          <a:latin typeface="Cambria Math" panose="02040503050406030204" pitchFamily="18" charset="0"/>
                        </a:rPr>
                        <m:t>−</m:t>
                      </m:r>
                      <m:r>
                        <a:rPr lang="en-US" sz="2600" i="1" dirty="0" smtClean="0">
                          <a:latin typeface="Cambria Math" panose="02040503050406030204" pitchFamily="18" charset="0"/>
                        </a:rPr>
                        <m:t>2</m:t>
                      </m:r>
                    </m:oMath>
                  </m:oMathPara>
                </a14:m>
                <a:endParaRPr lang="en-US" sz="2600" i="1" dirty="0">
                  <a:latin typeface="Cambria Math" panose="02040503050406030204" pitchFamily="18" charset="0"/>
                </a:endParaRPr>
              </a:p>
              <a:p>
                <a:endParaRPr lang="en-US" dirty="0"/>
              </a:p>
              <a:p>
                <a:r>
                  <a:rPr lang="en-US" dirty="0"/>
                  <a:t>We defines the F-statistic as the ratio between model variance and residual variance.</a:t>
                </a:r>
              </a:p>
              <a:p>
                <a:r>
                  <a:rPr lang="en-US" dirty="0"/>
                  <a:t>Under the null model these should be approximately equal, so F should be close to 1.</a:t>
                </a:r>
              </a:p>
            </p:txBody>
          </p:sp>
        </mc:Choice>
        <mc:Fallback xmlns="">
          <p:sp>
            <p:nvSpPr>
              <p:cNvPr id="3" name="Content Placeholder 2">
                <a:extLst>
                  <a:ext uri="{FF2B5EF4-FFF2-40B4-BE49-F238E27FC236}">
                    <a16:creationId xmlns:a16="http://schemas.microsoft.com/office/drawing/2014/main" id="{1497A0E0-6905-00EA-FD2D-F689AFB28BE1}"/>
                  </a:ext>
                </a:extLst>
              </p:cNvPr>
              <p:cNvSpPr>
                <a:spLocks noGrp="1" noRot="1" noChangeAspect="1" noMove="1" noResize="1" noEditPoints="1" noAdjustHandles="1" noChangeArrowheads="1" noChangeShapeType="1" noTextEdit="1"/>
              </p:cNvSpPr>
              <p:nvPr>
                <p:ph idx="1"/>
              </p:nvPr>
            </p:nvSpPr>
            <p:spPr>
              <a:xfrm>
                <a:off x="838200" y="1376624"/>
                <a:ext cx="10515600" cy="4800339"/>
              </a:xfrm>
              <a:blipFill>
                <a:blip r:embed="rId3"/>
                <a:stretch>
                  <a:fillRect l="-1043" t="-3050"/>
                </a:stretch>
              </a:blipFill>
            </p:spPr>
            <p:txBody>
              <a:bodyPr/>
              <a:lstStyle/>
              <a:p>
                <a:r>
                  <a:rPr lang="he-IL">
                    <a:noFill/>
                  </a:rPr>
                  <a:t> </a:t>
                </a:r>
              </a:p>
            </p:txBody>
          </p:sp>
        </mc:Fallback>
      </mc:AlternateContent>
      <p:sp>
        <p:nvSpPr>
          <p:cNvPr id="7" name="TextBox 6">
            <a:extLst>
              <a:ext uri="{FF2B5EF4-FFF2-40B4-BE49-F238E27FC236}">
                <a16:creationId xmlns:a16="http://schemas.microsoft.com/office/drawing/2014/main" id="{289317B0-8104-E77E-BB0B-6D3BD2E49969}"/>
              </a:ext>
            </a:extLst>
          </p:cNvPr>
          <p:cNvSpPr txBox="1"/>
          <p:nvPr/>
        </p:nvSpPr>
        <p:spPr>
          <a:xfrm>
            <a:off x="10154697" y="157817"/>
            <a:ext cx="2144485"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e-IL" sz="1400" dirty="0"/>
              <a:t>SS = </a:t>
            </a:r>
            <a:r>
              <a:rPr lang="he-IL" sz="1400" dirty="0" err="1"/>
              <a:t>Sum</a:t>
            </a:r>
            <a:r>
              <a:rPr lang="he-IL" sz="1400" dirty="0"/>
              <a:t> of </a:t>
            </a:r>
            <a:r>
              <a:rPr lang="he-IL" sz="1400" dirty="0" err="1"/>
              <a:t>Squares</a:t>
            </a:r>
            <a:br>
              <a:rPr lang="he-IL" sz="1400" dirty="0"/>
            </a:br>
            <a:r>
              <a:rPr lang="he-IL" sz="1400" dirty="0"/>
              <a:t>MS = </a:t>
            </a:r>
            <a:r>
              <a:rPr lang="he-IL" sz="1400" dirty="0" err="1"/>
              <a:t>Mean</a:t>
            </a:r>
            <a:r>
              <a:rPr lang="he-IL" sz="1400" dirty="0"/>
              <a:t> </a:t>
            </a:r>
            <a:r>
              <a:rPr lang="he-IL" sz="1400" dirty="0" err="1"/>
              <a:t>Square</a:t>
            </a:r>
            <a:endParaRPr lang="he-IL" sz="1400" dirty="0"/>
          </a:p>
        </p:txBody>
      </p:sp>
    </p:spTree>
    <p:extLst>
      <p:ext uri="{BB962C8B-B14F-4D97-AF65-F5344CB8AC3E}">
        <p14:creationId xmlns:p14="http://schemas.microsoft.com/office/powerpoint/2010/main" val="24138240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A41C0-4BFB-E371-7A4F-2FA9976DC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3A3BE-687E-ECA0-1768-B30CE3FC659E}"/>
              </a:ext>
            </a:extLst>
          </p:cNvPr>
          <p:cNvSpPr>
            <a:spLocks noGrp="1"/>
          </p:cNvSpPr>
          <p:nvPr>
            <p:ph type="title"/>
          </p:nvPr>
        </p:nvSpPr>
        <p:spPr/>
        <p:txBody>
          <a:bodyPr/>
          <a:lstStyle/>
          <a:p>
            <a:r>
              <a:rPr lang="en-US" dirty="0"/>
              <a:t>Frequentist linear regression</a:t>
            </a:r>
            <a:br>
              <a:rPr lang="en-US" dirty="0"/>
            </a:br>
            <a:endParaRPr lang="he-IL" dirty="0"/>
          </a:p>
        </p:txBody>
      </p:sp>
      <p:pic>
        <p:nvPicPr>
          <p:cNvPr id="5" name="Picture 4">
            <a:extLst>
              <a:ext uri="{FF2B5EF4-FFF2-40B4-BE49-F238E27FC236}">
                <a16:creationId xmlns:a16="http://schemas.microsoft.com/office/drawing/2014/main" id="{0E698CCF-5DE2-5E3F-C993-DD5AEDEB4260}"/>
              </a:ext>
            </a:extLst>
          </p:cNvPr>
          <p:cNvPicPr>
            <a:picLocks noChangeAspect="1"/>
          </p:cNvPicPr>
          <p:nvPr/>
        </p:nvPicPr>
        <p:blipFill>
          <a:blip r:embed="rId3"/>
          <a:stretch>
            <a:fillRect/>
          </a:stretch>
        </p:blipFill>
        <p:spPr>
          <a:xfrm>
            <a:off x="838200" y="1300969"/>
            <a:ext cx="6173061" cy="1181265"/>
          </a:xfrm>
          <a:prstGeom prst="rect">
            <a:avLst/>
          </a:prstGeom>
        </p:spPr>
      </p:pic>
      <p:pic>
        <p:nvPicPr>
          <p:cNvPr id="7" name="Content Placeholder 6">
            <a:extLst>
              <a:ext uri="{FF2B5EF4-FFF2-40B4-BE49-F238E27FC236}">
                <a16:creationId xmlns:a16="http://schemas.microsoft.com/office/drawing/2014/main" id="{6B14CD70-6714-CD79-6120-5D2207FD860A}"/>
              </a:ext>
            </a:extLst>
          </p:cNvPr>
          <p:cNvPicPr>
            <a:picLocks noGrp="1" noChangeAspect="1"/>
          </p:cNvPicPr>
          <p:nvPr>
            <p:ph idx="1"/>
          </p:nvPr>
        </p:nvPicPr>
        <p:blipFill>
          <a:blip r:embed="rId4"/>
          <a:stretch>
            <a:fillRect/>
          </a:stretch>
        </p:blipFill>
        <p:spPr>
          <a:xfrm>
            <a:off x="4792581" y="2066126"/>
            <a:ext cx="7085354" cy="4619282"/>
          </a:xfrm>
          <a:prstGeom prst="rect">
            <a:avLst/>
          </a:prstGeom>
        </p:spPr>
      </p:pic>
      <p:sp>
        <p:nvSpPr>
          <p:cNvPr id="9" name="Rectangle 8">
            <a:extLst>
              <a:ext uri="{FF2B5EF4-FFF2-40B4-BE49-F238E27FC236}">
                <a16:creationId xmlns:a16="http://schemas.microsoft.com/office/drawing/2014/main" id="{CD8C74FB-1F6A-7DA7-5CBF-3640C8E49AA4}"/>
              </a:ext>
            </a:extLst>
          </p:cNvPr>
          <p:cNvSpPr/>
          <p:nvPr/>
        </p:nvSpPr>
        <p:spPr>
          <a:xfrm>
            <a:off x="8335258" y="3083511"/>
            <a:ext cx="3416922" cy="441981"/>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Content Placeholder 2">
            <a:extLst>
              <a:ext uri="{FF2B5EF4-FFF2-40B4-BE49-F238E27FC236}">
                <a16:creationId xmlns:a16="http://schemas.microsoft.com/office/drawing/2014/main" id="{10F5778B-49DE-492B-6249-CD5FAD63433B}"/>
              </a:ext>
            </a:extLst>
          </p:cNvPr>
          <p:cNvSpPr txBox="1">
            <a:spLocks/>
          </p:cNvSpPr>
          <p:nvPr/>
        </p:nvSpPr>
        <p:spPr>
          <a:xfrm>
            <a:off x="314065" y="2971060"/>
            <a:ext cx="3954381" cy="10751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F-test</a:t>
            </a:r>
            <a:r>
              <a:rPr lang="en-US" sz="2000" dirty="0"/>
              <a:t> - test whether the model as a whole explains more variability than a null model</a:t>
            </a:r>
          </a:p>
          <a:p>
            <a:endParaRPr lang="en-US" sz="1100" dirty="0"/>
          </a:p>
        </p:txBody>
      </p:sp>
    </p:spTree>
    <p:extLst>
      <p:ext uri="{BB962C8B-B14F-4D97-AF65-F5344CB8AC3E}">
        <p14:creationId xmlns:p14="http://schemas.microsoft.com/office/powerpoint/2010/main" val="41388784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4D94A-3640-6EF9-338B-02A4BCC7622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180AE7E-04A3-4AD4-0036-0E87C26707E0}"/>
              </a:ext>
            </a:extLst>
          </p:cNvPr>
          <p:cNvSpPr>
            <a:spLocks noGrp="1"/>
          </p:cNvSpPr>
          <p:nvPr>
            <p:ph type="title"/>
          </p:nvPr>
        </p:nvSpPr>
        <p:spPr>
          <a:xfrm>
            <a:off x="838200" y="2435085"/>
            <a:ext cx="10515600" cy="1325563"/>
          </a:xfrm>
        </p:spPr>
        <p:txBody>
          <a:bodyPr/>
          <a:lstStyle/>
          <a:p>
            <a:pPr algn="ctr"/>
            <a:r>
              <a:rPr lang="he-IL" dirty="0"/>
              <a:t>Frequentist </a:t>
            </a:r>
            <a:r>
              <a:rPr lang="en-US" dirty="0"/>
              <a:t>Multiple L</a:t>
            </a:r>
            <a:r>
              <a:rPr lang="he-IL" dirty="0" err="1"/>
              <a:t>inear</a:t>
            </a:r>
            <a:r>
              <a:rPr lang="he-IL" dirty="0"/>
              <a:t> </a:t>
            </a:r>
            <a:r>
              <a:rPr lang="en-US" dirty="0"/>
              <a:t>R</a:t>
            </a:r>
            <a:r>
              <a:rPr lang="he-IL" dirty="0" err="1"/>
              <a:t>egression</a:t>
            </a:r>
            <a:endParaRPr lang="he-IL" dirty="0"/>
          </a:p>
        </p:txBody>
      </p:sp>
    </p:spTree>
    <p:extLst>
      <p:ext uri="{BB962C8B-B14F-4D97-AF65-F5344CB8AC3E}">
        <p14:creationId xmlns:p14="http://schemas.microsoft.com/office/powerpoint/2010/main" val="400356893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3CC6E-F99E-6DB6-1E5C-8EFD75BB7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094BE3-E5F8-70E3-36C9-261C07EFDFEF}"/>
              </a:ext>
            </a:extLst>
          </p:cNvPr>
          <p:cNvSpPr>
            <a:spLocks noGrp="1"/>
          </p:cNvSpPr>
          <p:nvPr>
            <p:ph type="title"/>
          </p:nvPr>
        </p:nvSpPr>
        <p:spPr/>
        <p:txBody>
          <a:bodyPr/>
          <a:lstStyle/>
          <a:p>
            <a:r>
              <a:rPr lang="en-US" dirty="0"/>
              <a:t>Frequentist Multiple linear regression</a:t>
            </a:r>
            <a:br>
              <a:rPr lang="en-US" dirty="0"/>
            </a:br>
            <a:endParaRPr lang="he-IL" dirty="0"/>
          </a:p>
        </p:txBody>
      </p:sp>
      <p:sp>
        <p:nvSpPr>
          <p:cNvPr id="3" name="Content Placeholder 2">
            <a:extLst>
              <a:ext uri="{FF2B5EF4-FFF2-40B4-BE49-F238E27FC236}">
                <a16:creationId xmlns:a16="http://schemas.microsoft.com/office/drawing/2014/main" id="{C7D60C06-66F8-FDA0-0F69-A2F1EBD8A403}"/>
              </a:ext>
            </a:extLst>
          </p:cNvPr>
          <p:cNvSpPr>
            <a:spLocks noGrp="1"/>
          </p:cNvSpPr>
          <p:nvPr>
            <p:ph idx="1"/>
          </p:nvPr>
        </p:nvSpPr>
        <p:spPr>
          <a:xfrm>
            <a:off x="838200" y="1328948"/>
            <a:ext cx="10515600" cy="4730209"/>
          </a:xfrm>
        </p:spPr>
        <p:txBody>
          <a:bodyPr>
            <a:normAutofit/>
          </a:bodyPr>
          <a:lstStyle/>
          <a:p>
            <a:r>
              <a:rPr lang="en-US" dirty="0"/>
              <a:t>Model</a:t>
            </a:r>
          </a:p>
        </p:txBody>
      </p:sp>
      <p:pic>
        <p:nvPicPr>
          <p:cNvPr id="7" name="Picture 6">
            <a:extLst>
              <a:ext uri="{FF2B5EF4-FFF2-40B4-BE49-F238E27FC236}">
                <a16:creationId xmlns:a16="http://schemas.microsoft.com/office/drawing/2014/main" id="{0C03612A-862B-BFDA-CC0D-0FF73C2F6118}"/>
              </a:ext>
            </a:extLst>
          </p:cNvPr>
          <p:cNvPicPr>
            <a:picLocks noChangeAspect="1"/>
          </p:cNvPicPr>
          <p:nvPr/>
        </p:nvPicPr>
        <p:blipFill>
          <a:blip r:embed="rId3"/>
          <a:stretch>
            <a:fillRect/>
          </a:stretch>
        </p:blipFill>
        <p:spPr>
          <a:xfrm>
            <a:off x="585590" y="1880576"/>
            <a:ext cx="7440063" cy="1247949"/>
          </a:xfrm>
          <a:prstGeom prst="rect">
            <a:avLst/>
          </a:prstGeom>
        </p:spPr>
      </p:pic>
      <p:pic>
        <p:nvPicPr>
          <p:cNvPr id="9" name="Picture 8">
            <a:extLst>
              <a:ext uri="{FF2B5EF4-FFF2-40B4-BE49-F238E27FC236}">
                <a16:creationId xmlns:a16="http://schemas.microsoft.com/office/drawing/2014/main" id="{D9432D66-230C-1100-8841-B045041E274F}"/>
              </a:ext>
            </a:extLst>
          </p:cNvPr>
          <p:cNvPicPr>
            <a:picLocks noChangeAspect="1"/>
          </p:cNvPicPr>
          <p:nvPr/>
        </p:nvPicPr>
        <p:blipFill>
          <a:blip r:embed="rId4"/>
          <a:stretch>
            <a:fillRect/>
          </a:stretch>
        </p:blipFill>
        <p:spPr>
          <a:xfrm>
            <a:off x="5456254" y="2497811"/>
            <a:ext cx="6560734" cy="4360189"/>
          </a:xfrm>
          <a:prstGeom prst="rect">
            <a:avLst/>
          </a:prstGeom>
        </p:spPr>
      </p:pic>
    </p:spTree>
    <p:extLst>
      <p:ext uri="{BB962C8B-B14F-4D97-AF65-F5344CB8AC3E}">
        <p14:creationId xmlns:p14="http://schemas.microsoft.com/office/powerpoint/2010/main" val="175968335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79111-176B-E43F-CB82-4060906AD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42A27A-5EA0-067A-E198-C24FC8453E1D}"/>
              </a:ext>
            </a:extLst>
          </p:cNvPr>
          <p:cNvSpPr>
            <a:spLocks noGrp="1"/>
          </p:cNvSpPr>
          <p:nvPr>
            <p:ph type="title"/>
          </p:nvPr>
        </p:nvSpPr>
        <p:spPr/>
        <p:txBody>
          <a:bodyPr/>
          <a:lstStyle/>
          <a:p>
            <a:r>
              <a:rPr lang="en-US" dirty="0"/>
              <a:t>Frequentist Multiple linear regression</a:t>
            </a:r>
            <a:br>
              <a:rPr lang="en-US" dirty="0"/>
            </a:br>
            <a:endParaRPr lang="he-IL" dirty="0"/>
          </a:p>
        </p:txBody>
      </p:sp>
      <p:sp>
        <p:nvSpPr>
          <p:cNvPr id="3" name="Content Placeholder 2">
            <a:extLst>
              <a:ext uri="{FF2B5EF4-FFF2-40B4-BE49-F238E27FC236}">
                <a16:creationId xmlns:a16="http://schemas.microsoft.com/office/drawing/2014/main" id="{934BF1BC-C8F3-5173-94A6-60F9AE7E8FCA}"/>
              </a:ext>
            </a:extLst>
          </p:cNvPr>
          <p:cNvSpPr>
            <a:spLocks noGrp="1"/>
          </p:cNvSpPr>
          <p:nvPr>
            <p:ph idx="1"/>
          </p:nvPr>
        </p:nvSpPr>
        <p:spPr>
          <a:xfrm>
            <a:off x="838200" y="1328948"/>
            <a:ext cx="10515600" cy="4730209"/>
          </a:xfrm>
        </p:spPr>
        <p:txBody>
          <a:bodyPr>
            <a:normAutofit/>
          </a:bodyPr>
          <a:lstStyle/>
          <a:p>
            <a:r>
              <a:rPr lang="en-US" dirty="0"/>
              <a:t>Model</a:t>
            </a:r>
          </a:p>
        </p:txBody>
      </p:sp>
      <p:pic>
        <p:nvPicPr>
          <p:cNvPr id="7" name="Picture 6">
            <a:extLst>
              <a:ext uri="{FF2B5EF4-FFF2-40B4-BE49-F238E27FC236}">
                <a16:creationId xmlns:a16="http://schemas.microsoft.com/office/drawing/2014/main" id="{CB9C5718-F318-54D6-6D45-BB0ADE2B2AB4}"/>
              </a:ext>
            </a:extLst>
          </p:cNvPr>
          <p:cNvPicPr>
            <a:picLocks noChangeAspect="1"/>
          </p:cNvPicPr>
          <p:nvPr/>
        </p:nvPicPr>
        <p:blipFill>
          <a:blip r:embed="rId3"/>
          <a:stretch>
            <a:fillRect/>
          </a:stretch>
        </p:blipFill>
        <p:spPr>
          <a:xfrm>
            <a:off x="585590" y="1880576"/>
            <a:ext cx="7440063" cy="1247949"/>
          </a:xfrm>
          <a:prstGeom prst="rect">
            <a:avLst/>
          </a:prstGeom>
        </p:spPr>
      </p:pic>
      <p:pic>
        <p:nvPicPr>
          <p:cNvPr id="9" name="Picture 8">
            <a:extLst>
              <a:ext uri="{FF2B5EF4-FFF2-40B4-BE49-F238E27FC236}">
                <a16:creationId xmlns:a16="http://schemas.microsoft.com/office/drawing/2014/main" id="{952DA8D1-098C-40E8-EF97-17077EC62CC8}"/>
              </a:ext>
            </a:extLst>
          </p:cNvPr>
          <p:cNvPicPr>
            <a:picLocks noChangeAspect="1"/>
          </p:cNvPicPr>
          <p:nvPr/>
        </p:nvPicPr>
        <p:blipFill>
          <a:blip r:embed="rId4"/>
          <a:stretch>
            <a:fillRect/>
          </a:stretch>
        </p:blipFill>
        <p:spPr>
          <a:xfrm>
            <a:off x="5456254" y="2497811"/>
            <a:ext cx="6560734" cy="4360189"/>
          </a:xfrm>
          <a:prstGeom prst="rect">
            <a:avLst/>
          </a:prstGeom>
        </p:spPr>
      </p:pic>
      <p:sp>
        <p:nvSpPr>
          <p:cNvPr id="10" name="Rectangle 9">
            <a:extLst>
              <a:ext uri="{FF2B5EF4-FFF2-40B4-BE49-F238E27FC236}">
                <a16:creationId xmlns:a16="http://schemas.microsoft.com/office/drawing/2014/main" id="{F88F5C3C-6D36-09D8-7445-4F4EA6810A99}"/>
              </a:ext>
            </a:extLst>
          </p:cNvPr>
          <p:cNvSpPr/>
          <p:nvPr/>
        </p:nvSpPr>
        <p:spPr>
          <a:xfrm>
            <a:off x="5561913" y="4831924"/>
            <a:ext cx="6345384" cy="935830"/>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Rectangle 10">
            <a:extLst>
              <a:ext uri="{FF2B5EF4-FFF2-40B4-BE49-F238E27FC236}">
                <a16:creationId xmlns:a16="http://schemas.microsoft.com/office/drawing/2014/main" id="{5CE0C42D-7976-19D5-B147-E95F9D8A9D99}"/>
              </a:ext>
            </a:extLst>
          </p:cNvPr>
          <p:cNvSpPr/>
          <p:nvPr/>
        </p:nvSpPr>
        <p:spPr>
          <a:xfrm>
            <a:off x="5456254" y="3088971"/>
            <a:ext cx="3084845" cy="340029"/>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Rectangle 11">
            <a:extLst>
              <a:ext uri="{FF2B5EF4-FFF2-40B4-BE49-F238E27FC236}">
                <a16:creationId xmlns:a16="http://schemas.microsoft.com/office/drawing/2014/main" id="{F2AB7E14-C938-9963-E0C2-F26E15B4F403}"/>
              </a:ext>
            </a:extLst>
          </p:cNvPr>
          <p:cNvSpPr/>
          <p:nvPr/>
        </p:nvSpPr>
        <p:spPr>
          <a:xfrm>
            <a:off x="5456253" y="3960447"/>
            <a:ext cx="3084845" cy="571002"/>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3" name="Rectangle 12">
            <a:extLst>
              <a:ext uri="{FF2B5EF4-FFF2-40B4-BE49-F238E27FC236}">
                <a16:creationId xmlns:a16="http://schemas.microsoft.com/office/drawing/2014/main" id="{3CB11206-0AB4-3B6F-6FE1-007B5EE9C97F}"/>
              </a:ext>
            </a:extLst>
          </p:cNvPr>
          <p:cNvSpPr/>
          <p:nvPr/>
        </p:nvSpPr>
        <p:spPr>
          <a:xfrm>
            <a:off x="8600549" y="3088972"/>
            <a:ext cx="3306748" cy="186791"/>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Rectangle 13">
            <a:extLst>
              <a:ext uri="{FF2B5EF4-FFF2-40B4-BE49-F238E27FC236}">
                <a16:creationId xmlns:a16="http://schemas.microsoft.com/office/drawing/2014/main" id="{027BE54C-B88D-D05E-3894-E4ACED5E3B64}"/>
              </a:ext>
            </a:extLst>
          </p:cNvPr>
          <p:cNvSpPr/>
          <p:nvPr/>
        </p:nvSpPr>
        <p:spPr>
          <a:xfrm>
            <a:off x="8600549" y="3478075"/>
            <a:ext cx="3306748" cy="388849"/>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14329635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85653-5121-F595-E49F-98DC99DF9B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B1054C-7AB2-7A9B-AAA0-E1323B8CE6C7}"/>
              </a:ext>
            </a:extLst>
          </p:cNvPr>
          <p:cNvSpPr>
            <a:spLocks noGrp="1"/>
          </p:cNvSpPr>
          <p:nvPr>
            <p:ph type="title"/>
          </p:nvPr>
        </p:nvSpPr>
        <p:spPr/>
        <p:txBody>
          <a:bodyPr/>
          <a:lstStyle/>
          <a:p>
            <a:r>
              <a:rPr lang="en-US" dirty="0"/>
              <a:t>Frequentist Multiple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31FE0E-2330-73D7-6685-22595571C897}"/>
                  </a:ext>
                </a:extLst>
              </p:cNvPr>
              <p:cNvSpPr>
                <a:spLocks noGrp="1"/>
              </p:cNvSpPr>
              <p:nvPr>
                <p:ph idx="1"/>
              </p:nvPr>
            </p:nvSpPr>
            <p:spPr>
              <a:xfrm>
                <a:off x="838200" y="1690688"/>
                <a:ext cx="10515600" cy="4730209"/>
              </a:xfrm>
            </p:spPr>
            <p:txBody>
              <a:bodyPr>
                <a:normAutofit fontScale="92500" lnSpcReduction="20000"/>
              </a:bodyPr>
              <a:lstStyle/>
              <a:p>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𝑨𝒅𝒋𝒖𝒔𝒕𝒆𝒅</m:t>
                        </m:r>
                        <m:r>
                          <a:rPr lang="en-US" b="1" i="1" dirty="0" smtClean="0">
                            <a:latin typeface="Cambria Math" panose="02040503050406030204" pitchFamily="18" charset="0"/>
                          </a:rPr>
                          <m:t> </m:t>
                        </m:r>
                        <m:r>
                          <a:rPr lang="en-US" b="1" i="1" dirty="0" smtClean="0">
                            <a:latin typeface="Cambria Math" panose="02040503050406030204" pitchFamily="18" charset="0"/>
                          </a:rPr>
                          <m:t>𝑹</m:t>
                        </m:r>
                      </m:e>
                      <m:sup>
                        <m:r>
                          <a:rPr lang="en-US" b="1" i="1" dirty="0" smtClean="0">
                            <a:latin typeface="Cambria Math" panose="02040503050406030204" pitchFamily="18" charset="0"/>
                          </a:rPr>
                          <m:t>𝟐</m:t>
                        </m:r>
                      </m:sup>
                    </m:sSup>
                    <m:r>
                      <a:rPr lang="en-US" b="1" i="1" dirty="0" smtClean="0">
                        <a:latin typeface="Cambria Math" panose="02040503050406030204" pitchFamily="18" charset="0"/>
                      </a:rPr>
                      <m:t> </m:t>
                    </m:r>
                  </m:oMath>
                </a14:m>
                <a:endParaRPr lang="en-US" dirty="0"/>
              </a:p>
              <a:p>
                <a:r>
                  <a:rPr lang="en-US" dirty="0"/>
                  <a:t>Penalizing unnecessary predictors</a:t>
                </a:r>
              </a:p>
              <a:p>
                <a:r>
                  <a:rPr lang="en-US" dirty="0"/>
                  <a:t>Adjusted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r>
                      <a:rPr lang="he-IL" i="1">
                        <a:latin typeface="Cambria Math" panose="02040503050406030204" pitchFamily="18" charset="0"/>
                      </a:rPr>
                      <m:t> </m:t>
                    </m:r>
                  </m:oMath>
                </a14:m>
                <a:r>
                  <a:rPr lang="en-US" dirty="0"/>
                  <a:t>modifies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oMath>
                </a14:m>
                <a:r>
                  <a:rPr lang="en-US" dirty="0"/>
                  <a:t> by accounting for:</a:t>
                </a:r>
              </a:p>
              <a:p>
                <a:pPr lvl="1"/>
                <a:r>
                  <a:rPr lang="en-US" dirty="0"/>
                  <a:t>the number of observations, N </a:t>
                </a:r>
              </a:p>
              <a:p>
                <a:pPr lvl="1"/>
                <a:r>
                  <a:rPr lang="en-US" dirty="0"/>
                  <a:t>the number of predictors (not including the intercept), k</a:t>
                </a:r>
              </a:p>
              <a:p>
                <a:r>
                  <a:rPr lang="en-US" dirty="0"/>
                  <a:t>A new predictor should improve the model enough to justify the added complexity.</a:t>
                </a:r>
              </a:p>
              <a:p>
                <a:r>
                  <a:rPr lang="en-US" dirty="0"/>
                  <a:t>Interpretation:</a:t>
                </a:r>
              </a:p>
              <a:p>
                <a:pPr lvl="1"/>
                <a:r>
                  <a:rPr lang="en-US" dirty="0"/>
                  <a:t>If a new predictor improves the model meaningfully, adjusted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oMath>
                </a14:m>
                <a:r>
                  <a:rPr lang="en-US" dirty="0"/>
                  <a:t> can increase.</a:t>
                </a:r>
              </a:p>
              <a:p>
                <a:pPr lvl="1"/>
                <a:r>
                  <a:rPr lang="en-US" dirty="0"/>
                  <a:t>If a new predictor adds little explanatory value, adjusted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oMath>
                </a14:m>
                <a:r>
                  <a:rPr lang="en-US" dirty="0"/>
                  <a:t> can stay similar or decrease.</a:t>
                </a:r>
              </a:p>
              <a:p>
                <a:pPr lvl="1"/>
                <a:r>
                  <a:rPr lang="en-US" dirty="0"/>
                  <a:t>This makes adjusted R2 more useful than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oMath>
                </a14:m>
                <a:r>
                  <a:rPr lang="en-US" dirty="0"/>
                  <a:t> when comparing models with different numbers of predictors.</a:t>
                </a:r>
              </a:p>
            </p:txBody>
          </p:sp>
        </mc:Choice>
        <mc:Fallback xmlns="">
          <p:sp>
            <p:nvSpPr>
              <p:cNvPr id="3" name="Content Placeholder 2">
                <a:extLst>
                  <a:ext uri="{FF2B5EF4-FFF2-40B4-BE49-F238E27FC236}">
                    <a16:creationId xmlns:a16="http://schemas.microsoft.com/office/drawing/2014/main" id="{D431FE0E-2330-73D7-6685-22595571C897}"/>
                  </a:ext>
                </a:extLst>
              </p:cNvPr>
              <p:cNvSpPr>
                <a:spLocks noGrp="1" noRot="1" noChangeAspect="1" noMove="1" noResize="1" noEditPoints="1" noAdjustHandles="1" noChangeArrowheads="1" noChangeShapeType="1" noTextEdit="1"/>
              </p:cNvSpPr>
              <p:nvPr>
                <p:ph idx="1"/>
              </p:nvPr>
            </p:nvSpPr>
            <p:spPr>
              <a:xfrm>
                <a:off x="838200" y="1690688"/>
                <a:ext cx="10515600" cy="4730209"/>
              </a:xfrm>
              <a:blipFill>
                <a:blip r:embed="rId3"/>
                <a:stretch>
                  <a:fillRect l="-928"/>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CCE04C6-6CB6-1DD9-CE30-863EEE9825A3}"/>
                  </a:ext>
                </a:extLst>
              </p:cNvPr>
              <p:cNvSpPr txBox="1"/>
              <p:nvPr/>
            </p:nvSpPr>
            <p:spPr>
              <a:xfrm>
                <a:off x="7749791" y="1055899"/>
                <a:ext cx="3926393" cy="6347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he-IL" b="0" i="1" dirty="0" smtClean="0">
                              <a:latin typeface="Cambria Math" panose="02040503050406030204" pitchFamily="18" charset="0"/>
                            </a:rPr>
                          </m:ctrlPr>
                        </m:sSubSupPr>
                        <m:e>
                          <m:r>
                            <a:rPr lang="he-IL" i="1" dirty="0" smtClean="0">
                              <a:latin typeface="Cambria Math" panose="02040503050406030204" pitchFamily="18" charset="0"/>
                            </a:rPr>
                            <m:t>𝑅</m:t>
                          </m:r>
                        </m:e>
                        <m:sub>
                          <m:r>
                            <a:rPr lang="he-IL" i="1" dirty="0" smtClean="0">
                              <a:latin typeface="Cambria Math" panose="02040503050406030204" pitchFamily="18" charset="0"/>
                            </a:rPr>
                            <m:t>𝑎𝑑𝑗</m:t>
                          </m:r>
                        </m:sub>
                        <m:sup>
                          <m:r>
                            <a:rPr lang="he-IL" i="1" dirty="0" smtClean="0">
                              <a:latin typeface="Cambria Math" panose="02040503050406030204" pitchFamily="18" charset="0"/>
                            </a:rPr>
                            <m:t>2</m:t>
                          </m:r>
                        </m:sup>
                      </m:sSubSup>
                      <m:r>
                        <a:rPr lang="he-IL" i="1" dirty="0" smtClean="0">
                          <a:latin typeface="Cambria Math" panose="02040503050406030204" pitchFamily="18" charset="0"/>
                        </a:rPr>
                        <m:t>​=</m:t>
                      </m:r>
                      <m:r>
                        <a:rPr lang="he-IL" i="1" dirty="0" smtClean="0">
                          <a:latin typeface="Cambria Math" panose="02040503050406030204" pitchFamily="18" charset="0"/>
                        </a:rPr>
                        <m:t>1</m:t>
                      </m:r>
                      <m:r>
                        <a:rPr lang="he-IL" i="1" dirty="0" smtClean="0">
                          <a:latin typeface="Cambria Math" panose="02040503050406030204" pitchFamily="18" charset="0"/>
                        </a:rPr>
                        <m:t>−(</m:t>
                      </m:r>
                      <m:r>
                        <a:rPr lang="he-IL" i="1" dirty="0" smtClean="0">
                          <a:latin typeface="Cambria Math" panose="02040503050406030204" pitchFamily="18" charset="0"/>
                        </a:rPr>
                        <m:t>1</m:t>
                      </m:r>
                      <m:r>
                        <a:rPr lang="he-IL" i="1" dirty="0" smtClean="0">
                          <a:latin typeface="Cambria Math" panose="02040503050406030204" pitchFamily="18" charset="0"/>
                        </a:rPr>
                        <m:t>−</m:t>
                      </m:r>
                      <m:sSup>
                        <m:sSupPr>
                          <m:ctrlPr>
                            <a:rPr lang="he-IL" b="0" i="1" dirty="0" smtClean="0">
                              <a:latin typeface="Cambria Math" panose="02040503050406030204" pitchFamily="18" charset="0"/>
                            </a:rPr>
                          </m:ctrlPr>
                        </m:sSupPr>
                        <m:e>
                          <m:r>
                            <a:rPr lang="he-IL" i="1" dirty="0" smtClean="0">
                              <a:latin typeface="Cambria Math" panose="02040503050406030204" pitchFamily="18" charset="0"/>
                            </a:rPr>
                            <m:t>𝑅</m:t>
                          </m:r>
                        </m:e>
                        <m:sup>
                          <m:r>
                            <a:rPr lang="he-IL" i="1" dirty="0" smtClean="0">
                              <a:latin typeface="Cambria Math" panose="02040503050406030204" pitchFamily="18" charset="0"/>
                            </a:rPr>
                            <m:t>2</m:t>
                          </m:r>
                        </m:sup>
                      </m:sSup>
                      <m:r>
                        <a:rPr lang="he-IL" i="1" dirty="0" smtClean="0">
                          <a:latin typeface="Cambria Math" panose="02040503050406030204" pitchFamily="18" charset="0"/>
                        </a:rPr>
                        <m:t>)</m:t>
                      </m:r>
                      <m:f>
                        <m:fPr>
                          <m:ctrlPr>
                            <a:rPr lang="he-IL" i="1" dirty="0" smtClean="0">
                              <a:latin typeface="Cambria Math" panose="02040503050406030204" pitchFamily="18" charset="0"/>
                            </a:rPr>
                          </m:ctrlPr>
                        </m:fPr>
                        <m:num>
                          <m:r>
                            <a:rPr lang="he-IL" i="1" dirty="0">
                              <a:latin typeface="Cambria Math" panose="02040503050406030204" pitchFamily="18" charset="0"/>
                            </a:rPr>
                            <m:t>𝑁</m:t>
                          </m:r>
                          <m:r>
                            <a:rPr lang="he-IL" i="1" dirty="0">
                              <a:latin typeface="Cambria Math" panose="02040503050406030204" pitchFamily="18" charset="0"/>
                            </a:rPr>
                            <m:t>−</m:t>
                          </m:r>
                          <m:r>
                            <a:rPr lang="he-IL" i="1" dirty="0">
                              <a:latin typeface="Cambria Math" panose="02040503050406030204" pitchFamily="18" charset="0"/>
                            </a:rPr>
                            <m:t>1​</m:t>
                          </m:r>
                        </m:num>
                        <m:den>
                          <m:r>
                            <a:rPr lang="he-IL" i="1" dirty="0">
                              <a:latin typeface="Cambria Math" panose="02040503050406030204" pitchFamily="18" charset="0"/>
                            </a:rPr>
                            <m:t>𝑁</m:t>
                          </m:r>
                          <m:r>
                            <a:rPr lang="he-IL" i="1" dirty="0">
                              <a:latin typeface="Cambria Math" panose="02040503050406030204" pitchFamily="18" charset="0"/>
                            </a:rPr>
                            <m:t>−</m:t>
                          </m:r>
                          <m:r>
                            <a:rPr lang="he-IL" i="1" dirty="0">
                              <a:latin typeface="Cambria Math" panose="02040503050406030204" pitchFamily="18" charset="0"/>
                            </a:rPr>
                            <m:t>𝑘</m:t>
                          </m:r>
                          <m:r>
                            <a:rPr lang="he-IL" i="1" dirty="0">
                              <a:latin typeface="Cambria Math" panose="02040503050406030204" pitchFamily="18" charset="0"/>
                            </a:rPr>
                            <m:t>−</m:t>
                          </m:r>
                          <m:r>
                            <a:rPr lang="he-IL" i="1" dirty="0">
                              <a:latin typeface="Cambria Math" panose="02040503050406030204" pitchFamily="18" charset="0"/>
                            </a:rPr>
                            <m:t>1</m:t>
                          </m:r>
                        </m:den>
                      </m:f>
                    </m:oMath>
                  </m:oMathPara>
                </a14:m>
                <a:endParaRPr/>
              </a:p>
            </p:txBody>
          </p:sp>
        </mc:Choice>
        <mc:Fallback xmlns="">
          <p:sp>
            <p:nvSpPr>
              <p:cNvPr id="5" name="TextBox 4">
                <a:extLst>
                  <a:ext uri="{FF2B5EF4-FFF2-40B4-BE49-F238E27FC236}">
                    <a16:creationId xmlns:a16="http://schemas.microsoft.com/office/drawing/2014/main" id="{CCCE04C6-6CB6-1DD9-CE30-863EEE9825A3}"/>
                  </a:ext>
                </a:extLst>
              </p:cNvPr>
              <p:cNvSpPr txBox="1">
                <a:spLocks noRot="1" noChangeAspect="1" noMove="1" noResize="1" noEditPoints="1" noAdjustHandles="1" noChangeArrowheads="1" noChangeShapeType="1" noTextEdit="1"/>
              </p:cNvSpPr>
              <p:nvPr/>
            </p:nvSpPr>
            <p:spPr>
              <a:xfrm>
                <a:off x="7749791" y="1055899"/>
                <a:ext cx="3926393" cy="634789"/>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277814634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13C31-3BE4-1D77-7DA6-0251911DF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5F7DCC-E473-4E2C-3B1F-9A08C291E194}"/>
              </a:ext>
            </a:extLst>
          </p:cNvPr>
          <p:cNvSpPr>
            <a:spLocks noGrp="1"/>
          </p:cNvSpPr>
          <p:nvPr>
            <p:ph type="title"/>
          </p:nvPr>
        </p:nvSpPr>
        <p:spPr/>
        <p:txBody>
          <a:bodyPr/>
          <a:lstStyle/>
          <a:p>
            <a:r>
              <a:rPr lang="en-US" dirty="0"/>
              <a:t>Frequentist Multiple linear regression</a:t>
            </a:r>
            <a:br>
              <a:rPr lang="en-US" dirty="0"/>
            </a:b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8125F80-5DB8-2C6E-B097-5E1811AF3150}"/>
                  </a:ext>
                </a:extLst>
              </p:cNvPr>
              <p:cNvSpPr>
                <a:spLocks noGrp="1"/>
              </p:cNvSpPr>
              <p:nvPr>
                <p:ph idx="1"/>
              </p:nvPr>
            </p:nvSpPr>
            <p:spPr>
              <a:xfrm>
                <a:off x="838200" y="1690688"/>
                <a:ext cx="10515600" cy="4730209"/>
              </a:xfrm>
            </p:spPr>
            <p:txBody>
              <a:bodyPr>
                <a:normAutofit/>
              </a:bodyPr>
              <a:lstStyle/>
              <a:p>
                <a14:m>
                  <m:oMath xmlns:m="http://schemas.openxmlformats.org/officeDocument/2006/math">
                    <m:sSup>
                      <m:sSupPr>
                        <m:ctrlPr>
                          <a:rPr lang="en-US" b="1" i="1" dirty="0" smtClean="0">
                            <a:latin typeface="Cambria Math" panose="02040503050406030204" pitchFamily="18" charset="0"/>
                          </a:rPr>
                        </m:ctrlPr>
                      </m:sSupPr>
                      <m:e>
                        <m:r>
                          <a:rPr lang="en-US" b="1" i="1" dirty="0" smtClean="0">
                            <a:latin typeface="Cambria Math" panose="02040503050406030204" pitchFamily="18" charset="0"/>
                          </a:rPr>
                          <m:t>𝑨𝒅𝒋𝒖𝒔𝒕𝒆𝒅</m:t>
                        </m:r>
                        <m:r>
                          <a:rPr lang="en-US" b="1" i="1" dirty="0" smtClean="0">
                            <a:latin typeface="Cambria Math" panose="02040503050406030204" pitchFamily="18" charset="0"/>
                          </a:rPr>
                          <m:t> </m:t>
                        </m:r>
                        <m:r>
                          <a:rPr lang="en-US" b="1" i="1" dirty="0" smtClean="0">
                            <a:latin typeface="Cambria Math" panose="02040503050406030204" pitchFamily="18" charset="0"/>
                          </a:rPr>
                          <m:t>𝑹</m:t>
                        </m:r>
                      </m:e>
                      <m:sup>
                        <m:r>
                          <a:rPr lang="en-US" b="1" i="1" dirty="0" smtClean="0">
                            <a:latin typeface="Cambria Math" panose="02040503050406030204" pitchFamily="18" charset="0"/>
                          </a:rPr>
                          <m:t>𝟐</m:t>
                        </m:r>
                      </m:sup>
                    </m:sSup>
                    <m:r>
                      <a:rPr lang="en-US" b="1" i="1" dirty="0" smtClean="0">
                        <a:latin typeface="Cambria Math" panose="02040503050406030204" pitchFamily="18" charset="0"/>
                      </a:rPr>
                      <m:t> </m:t>
                    </m:r>
                  </m:oMath>
                </a14:m>
                <a:endParaRPr lang="en-US" dirty="0"/>
              </a:p>
              <a:p>
                <a:r>
                  <a:rPr lang="en-US" dirty="0"/>
                  <a:t>Interpretation:</a:t>
                </a:r>
              </a:p>
              <a:p>
                <a:pPr lvl="1"/>
                <a:r>
                  <a:rPr lang="en-US" dirty="0"/>
                  <a:t>If a new predictor improves the model meaningfully - adjusted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oMath>
                </a14:m>
                <a:r>
                  <a:rPr lang="en-US" dirty="0"/>
                  <a:t> can increase.</a:t>
                </a:r>
              </a:p>
              <a:p>
                <a:pPr lvl="1"/>
                <a:r>
                  <a:rPr lang="en-US" dirty="0"/>
                  <a:t>If a new predictor adds little explanatory value - adjusted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oMath>
                </a14:m>
                <a:r>
                  <a:rPr lang="en-US" dirty="0"/>
                  <a:t> can stay similar or decrease.</a:t>
                </a:r>
              </a:p>
              <a:p>
                <a:pPr lvl="1"/>
                <a:endParaRPr lang="en-US" dirty="0"/>
              </a:p>
              <a:p>
                <a:pPr lvl="1"/>
                <a:r>
                  <a:rPr lang="en-US" dirty="0"/>
                  <a:t>This makes adjusted R2 more useful than </a:t>
                </a:r>
                <a14:m>
                  <m:oMath xmlns:m="http://schemas.openxmlformats.org/officeDocument/2006/math">
                    <m:sSup>
                      <m:sSupPr>
                        <m:ctrlPr>
                          <a:rPr lang="he-IL" i="1">
                            <a:latin typeface="Cambria Math" panose="02040503050406030204" pitchFamily="18" charset="0"/>
                          </a:rPr>
                        </m:ctrlPr>
                      </m:sSupPr>
                      <m:e>
                        <m:r>
                          <a:rPr lang="he-IL" i="1">
                            <a:latin typeface="Cambria Math" panose="02040503050406030204" pitchFamily="18" charset="0"/>
                          </a:rPr>
                          <m:t>𝑅</m:t>
                        </m:r>
                      </m:e>
                      <m:sup>
                        <m:r>
                          <a:rPr lang="he-IL" i="1">
                            <a:latin typeface="Cambria Math" panose="02040503050406030204" pitchFamily="18" charset="0"/>
                          </a:rPr>
                          <m:t>2</m:t>
                        </m:r>
                      </m:sup>
                    </m:sSup>
                  </m:oMath>
                </a14:m>
                <a:r>
                  <a:rPr lang="en-US" dirty="0"/>
                  <a:t> when comparing models with different numbers of predictors.</a:t>
                </a:r>
              </a:p>
            </p:txBody>
          </p:sp>
        </mc:Choice>
        <mc:Fallback xmlns="">
          <p:sp>
            <p:nvSpPr>
              <p:cNvPr id="3" name="Content Placeholder 2">
                <a:extLst>
                  <a:ext uri="{FF2B5EF4-FFF2-40B4-BE49-F238E27FC236}">
                    <a16:creationId xmlns:a16="http://schemas.microsoft.com/office/drawing/2014/main" id="{08125F80-5DB8-2C6E-B097-5E1811AF3150}"/>
                  </a:ext>
                </a:extLst>
              </p:cNvPr>
              <p:cNvSpPr>
                <a:spLocks noGrp="1" noRot="1" noChangeAspect="1" noMove="1" noResize="1" noEditPoints="1" noAdjustHandles="1" noChangeArrowheads="1" noChangeShapeType="1" noTextEdit="1"/>
              </p:cNvSpPr>
              <p:nvPr>
                <p:ph idx="1"/>
              </p:nvPr>
            </p:nvSpPr>
            <p:spPr>
              <a:xfrm>
                <a:off x="838200" y="1690688"/>
                <a:ext cx="10515600" cy="4730209"/>
              </a:xfrm>
              <a:blipFill>
                <a:blip r:embed="rId3"/>
                <a:stretch>
                  <a:fillRect l="-1043" r="-696"/>
                </a:stretch>
              </a:blipFill>
            </p:spPr>
            <p:txBody>
              <a:bodyPr/>
              <a:lstStyle/>
              <a:p>
                <a:r>
                  <a:rPr lang="he-IL">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53C35C9-E3F6-D72B-9C75-DB4B2EAE7036}"/>
                  </a:ext>
                </a:extLst>
              </p:cNvPr>
              <p:cNvSpPr txBox="1"/>
              <p:nvPr/>
            </p:nvSpPr>
            <p:spPr>
              <a:xfrm>
                <a:off x="7749791" y="1055899"/>
                <a:ext cx="3926393" cy="6347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he-IL" b="0" i="1" dirty="0" smtClean="0">
                              <a:latin typeface="Cambria Math" panose="02040503050406030204" pitchFamily="18" charset="0"/>
                            </a:rPr>
                          </m:ctrlPr>
                        </m:sSubSupPr>
                        <m:e>
                          <m:r>
                            <a:rPr lang="he-IL" i="1" dirty="0" smtClean="0">
                              <a:latin typeface="Cambria Math" panose="02040503050406030204" pitchFamily="18" charset="0"/>
                            </a:rPr>
                            <m:t>𝑅</m:t>
                          </m:r>
                        </m:e>
                        <m:sub>
                          <m:r>
                            <a:rPr lang="he-IL" i="1" dirty="0" smtClean="0">
                              <a:latin typeface="Cambria Math" panose="02040503050406030204" pitchFamily="18" charset="0"/>
                            </a:rPr>
                            <m:t>𝑎𝑑𝑗</m:t>
                          </m:r>
                        </m:sub>
                        <m:sup>
                          <m:r>
                            <a:rPr lang="he-IL" i="1" dirty="0" smtClean="0">
                              <a:latin typeface="Cambria Math" panose="02040503050406030204" pitchFamily="18" charset="0"/>
                            </a:rPr>
                            <m:t>2</m:t>
                          </m:r>
                        </m:sup>
                      </m:sSubSup>
                      <m:r>
                        <a:rPr lang="he-IL" i="1" dirty="0" smtClean="0">
                          <a:latin typeface="Cambria Math" panose="02040503050406030204" pitchFamily="18" charset="0"/>
                        </a:rPr>
                        <m:t>​=</m:t>
                      </m:r>
                      <m:r>
                        <a:rPr lang="he-IL" i="1" dirty="0" smtClean="0">
                          <a:latin typeface="Cambria Math" panose="02040503050406030204" pitchFamily="18" charset="0"/>
                        </a:rPr>
                        <m:t>1</m:t>
                      </m:r>
                      <m:r>
                        <a:rPr lang="he-IL" i="1" dirty="0" smtClean="0">
                          <a:latin typeface="Cambria Math" panose="02040503050406030204" pitchFamily="18" charset="0"/>
                        </a:rPr>
                        <m:t>−(</m:t>
                      </m:r>
                      <m:r>
                        <a:rPr lang="he-IL" i="1" dirty="0" smtClean="0">
                          <a:latin typeface="Cambria Math" panose="02040503050406030204" pitchFamily="18" charset="0"/>
                        </a:rPr>
                        <m:t>1</m:t>
                      </m:r>
                      <m:r>
                        <a:rPr lang="he-IL" i="1" dirty="0" smtClean="0">
                          <a:latin typeface="Cambria Math" panose="02040503050406030204" pitchFamily="18" charset="0"/>
                        </a:rPr>
                        <m:t>−</m:t>
                      </m:r>
                      <m:sSup>
                        <m:sSupPr>
                          <m:ctrlPr>
                            <a:rPr lang="he-IL" b="0" i="1" dirty="0" smtClean="0">
                              <a:latin typeface="Cambria Math" panose="02040503050406030204" pitchFamily="18" charset="0"/>
                            </a:rPr>
                          </m:ctrlPr>
                        </m:sSupPr>
                        <m:e>
                          <m:r>
                            <a:rPr lang="he-IL" i="1" dirty="0" smtClean="0">
                              <a:latin typeface="Cambria Math" panose="02040503050406030204" pitchFamily="18" charset="0"/>
                            </a:rPr>
                            <m:t>𝑅</m:t>
                          </m:r>
                        </m:e>
                        <m:sup>
                          <m:r>
                            <a:rPr lang="he-IL" i="1" dirty="0" smtClean="0">
                              <a:latin typeface="Cambria Math" panose="02040503050406030204" pitchFamily="18" charset="0"/>
                            </a:rPr>
                            <m:t>2</m:t>
                          </m:r>
                        </m:sup>
                      </m:sSup>
                      <m:r>
                        <a:rPr lang="he-IL" i="1" dirty="0" smtClean="0">
                          <a:latin typeface="Cambria Math" panose="02040503050406030204" pitchFamily="18" charset="0"/>
                        </a:rPr>
                        <m:t>)</m:t>
                      </m:r>
                      <m:f>
                        <m:fPr>
                          <m:ctrlPr>
                            <a:rPr lang="he-IL" i="1" dirty="0" smtClean="0">
                              <a:latin typeface="Cambria Math" panose="02040503050406030204" pitchFamily="18" charset="0"/>
                            </a:rPr>
                          </m:ctrlPr>
                        </m:fPr>
                        <m:num>
                          <m:r>
                            <a:rPr lang="he-IL" i="1" dirty="0">
                              <a:latin typeface="Cambria Math" panose="02040503050406030204" pitchFamily="18" charset="0"/>
                            </a:rPr>
                            <m:t>𝑁</m:t>
                          </m:r>
                          <m:r>
                            <a:rPr lang="he-IL" i="1" dirty="0">
                              <a:latin typeface="Cambria Math" panose="02040503050406030204" pitchFamily="18" charset="0"/>
                            </a:rPr>
                            <m:t>−</m:t>
                          </m:r>
                          <m:r>
                            <a:rPr lang="he-IL" i="1" dirty="0">
                              <a:latin typeface="Cambria Math" panose="02040503050406030204" pitchFamily="18" charset="0"/>
                            </a:rPr>
                            <m:t>1​</m:t>
                          </m:r>
                        </m:num>
                        <m:den>
                          <m:r>
                            <a:rPr lang="he-IL" i="1" dirty="0">
                              <a:latin typeface="Cambria Math" panose="02040503050406030204" pitchFamily="18" charset="0"/>
                            </a:rPr>
                            <m:t>𝑁</m:t>
                          </m:r>
                          <m:r>
                            <a:rPr lang="he-IL" i="1" dirty="0">
                              <a:latin typeface="Cambria Math" panose="02040503050406030204" pitchFamily="18" charset="0"/>
                            </a:rPr>
                            <m:t>−</m:t>
                          </m:r>
                          <m:r>
                            <a:rPr lang="he-IL" i="1" dirty="0">
                              <a:latin typeface="Cambria Math" panose="02040503050406030204" pitchFamily="18" charset="0"/>
                            </a:rPr>
                            <m:t>𝑘</m:t>
                          </m:r>
                          <m:r>
                            <a:rPr lang="he-IL" i="1" dirty="0">
                              <a:latin typeface="Cambria Math" panose="02040503050406030204" pitchFamily="18" charset="0"/>
                            </a:rPr>
                            <m:t>−</m:t>
                          </m:r>
                          <m:r>
                            <a:rPr lang="he-IL" i="1" dirty="0">
                              <a:latin typeface="Cambria Math" panose="02040503050406030204" pitchFamily="18" charset="0"/>
                            </a:rPr>
                            <m:t>1</m:t>
                          </m:r>
                        </m:den>
                      </m:f>
                    </m:oMath>
                  </m:oMathPara>
                </a14:m>
                <a:endParaRPr/>
              </a:p>
            </p:txBody>
          </p:sp>
        </mc:Choice>
        <mc:Fallback xmlns="">
          <p:sp>
            <p:nvSpPr>
              <p:cNvPr id="5" name="TextBox 4">
                <a:extLst>
                  <a:ext uri="{FF2B5EF4-FFF2-40B4-BE49-F238E27FC236}">
                    <a16:creationId xmlns:a16="http://schemas.microsoft.com/office/drawing/2014/main" id="{253C35C9-E3F6-D72B-9C75-DB4B2EAE7036}"/>
                  </a:ext>
                </a:extLst>
              </p:cNvPr>
              <p:cNvSpPr txBox="1">
                <a:spLocks noRot="1" noChangeAspect="1" noMove="1" noResize="1" noEditPoints="1" noAdjustHandles="1" noChangeArrowheads="1" noChangeShapeType="1" noTextEdit="1"/>
              </p:cNvSpPr>
              <p:nvPr/>
            </p:nvSpPr>
            <p:spPr>
              <a:xfrm>
                <a:off x="7749791" y="1055899"/>
                <a:ext cx="3926393" cy="634789"/>
              </a:xfrm>
              <a:prstGeom prst="rect">
                <a:avLst/>
              </a:prstGeom>
              <a:blipFill>
                <a:blip r:embed="rId4"/>
                <a:stretch>
                  <a:fillRect/>
                </a:stretch>
              </a:blipFill>
            </p:spPr>
            <p:txBody>
              <a:bodyPr/>
              <a:lstStyle/>
              <a:p>
                <a:r>
                  <a:rPr lang="he-IL">
                    <a:noFill/>
                  </a:rPr>
                  <a:t> </a:t>
                </a:r>
              </a:p>
            </p:txBody>
          </p:sp>
        </mc:Fallback>
      </mc:AlternateContent>
    </p:spTree>
    <p:extLst>
      <p:ext uri="{BB962C8B-B14F-4D97-AF65-F5344CB8AC3E}">
        <p14:creationId xmlns:p14="http://schemas.microsoft.com/office/powerpoint/2010/main" val="91655035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F4704-D5E6-5427-7E80-36A7FC3C5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8237D1-E62E-4F1C-9116-84FE53F887F0}"/>
              </a:ext>
            </a:extLst>
          </p:cNvPr>
          <p:cNvSpPr>
            <a:spLocks noGrp="1"/>
          </p:cNvSpPr>
          <p:nvPr>
            <p:ph type="title"/>
          </p:nvPr>
        </p:nvSpPr>
        <p:spPr/>
        <p:txBody>
          <a:bodyPr/>
          <a:lstStyle/>
          <a:p>
            <a:r>
              <a:rPr lang="en-US" dirty="0"/>
              <a:t>Frequentist Multiple linear regression</a:t>
            </a:r>
            <a:br>
              <a:rPr lang="en-US" dirty="0"/>
            </a:br>
            <a:endParaRPr lang="he-IL" dirty="0"/>
          </a:p>
        </p:txBody>
      </p:sp>
      <p:sp>
        <p:nvSpPr>
          <p:cNvPr id="3" name="Content Placeholder 2">
            <a:extLst>
              <a:ext uri="{FF2B5EF4-FFF2-40B4-BE49-F238E27FC236}">
                <a16:creationId xmlns:a16="http://schemas.microsoft.com/office/drawing/2014/main" id="{45AD1812-7215-CFAD-4713-C6123EE23E02}"/>
              </a:ext>
            </a:extLst>
          </p:cNvPr>
          <p:cNvSpPr>
            <a:spLocks noGrp="1"/>
          </p:cNvSpPr>
          <p:nvPr>
            <p:ph idx="1"/>
          </p:nvPr>
        </p:nvSpPr>
        <p:spPr>
          <a:xfrm>
            <a:off x="838200" y="1328948"/>
            <a:ext cx="10515600" cy="4730209"/>
          </a:xfrm>
        </p:spPr>
        <p:txBody>
          <a:bodyPr>
            <a:normAutofit/>
          </a:bodyPr>
          <a:lstStyle/>
          <a:p>
            <a:r>
              <a:rPr lang="en-US" dirty="0"/>
              <a:t>Model</a:t>
            </a:r>
          </a:p>
        </p:txBody>
      </p:sp>
      <p:pic>
        <p:nvPicPr>
          <p:cNvPr id="7" name="Picture 6">
            <a:extLst>
              <a:ext uri="{FF2B5EF4-FFF2-40B4-BE49-F238E27FC236}">
                <a16:creationId xmlns:a16="http://schemas.microsoft.com/office/drawing/2014/main" id="{E657178F-2F34-FF24-B9E4-4CF0DB8E2A46}"/>
              </a:ext>
            </a:extLst>
          </p:cNvPr>
          <p:cNvPicPr>
            <a:picLocks noChangeAspect="1"/>
          </p:cNvPicPr>
          <p:nvPr/>
        </p:nvPicPr>
        <p:blipFill>
          <a:blip r:embed="rId3"/>
          <a:stretch>
            <a:fillRect/>
          </a:stretch>
        </p:blipFill>
        <p:spPr>
          <a:xfrm>
            <a:off x="585590" y="1880576"/>
            <a:ext cx="7440063" cy="1247949"/>
          </a:xfrm>
          <a:prstGeom prst="rect">
            <a:avLst/>
          </a:prstGeom>
        </p:spPr>
      </p:pic>
      <p:pic>
        <p:nvPicPr>
          <p:cNvPr id="9" name="Picture 8">
            <a:extLst>
              <a:ext uri="{FF2B5EF4-FFF2-40B4-BE49-F238E27FC236}">
                <a16:creationId xmlns:a16="http://schemas.microsoft.com/office/drawing/2014/main" id="{8017A27A-38DC-8DA3-6840-03AA4C209B22}"/>
              </a:ext>
            </a:extLst>
          </p:cNvPr>
          <p:cNvPicPr>
            <a:picLocks noChangeAspect="1"/>
          </p:cNvPicPr>
          <p:nvPr/>
        </p:nvPicPr>
        <p:blipFill>
          <a:blip r:embed="rId4"/>
          <a:stretch>
            <a:fillRect/>
          </a:stretch>
        </p:blipFill>
        <p:spPr>
          <a:xfrm>
            <a:off x="5456254" y="2497811"/>
            <a:ext cx="6560734" cy="4360189"/>
          </a:xfrm>
          <a:prstGeom prst="rect">
            <a:avLst/>
          </a:prstGeom>
        </p:spPr>
      </p:pic>
      <p:sp>
        <p:nvSpPr>
          <p:cNvPr id="13" name="Rectangle 12">
            <a:extLst>
              <a:ext uri="{FF2B5EF4-FFF2-40B4-BE49-F238E27FC236}">
                <a16:creationId xmlns:a16="http://schemas.microsoft.com/office/drawing/2014/main" id="{B941AE9A-BFF8-1EFD-BF1B-158F39CF4E36}"/>
              </a:ext>
            </a:extLst>
          </p:cNvPr>
          <p:cNvSpPr/>
          <p:nvPr/>
        </p:nvSpPr>
        <p:spPr>
          <a:xfrm>
            <a:off x="8600549" y="3242209"/>
            <a:ext cx="3306748" cy="186791"/>
          </a:xfrm>
          <a:prstGeom prst="rect">
            <a:avLst/>
          </a:prstGeom>
          <a:solidFill>
            <a:srgbClr val="FFFF99">
              <a:alpha val="25098"/>
            </a:srgbClr>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96388886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169F2-A51A-E325-8F35-6EDA04757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2AEB9-7114-8005-54C6-CC7FA7DBF7AA}"/>
              </a:ext>
            </a:extLst>
          </p:cNvPr>
          <p:cNvSpPr>
            <a:spLocks noGrp="1"/>
          </p:cNvSpPr>
          <p:nvPr>
            <p:ph type="title"/>
          </p:nvPr>
        </p:nvSpPr>
        <p:spPr/>
        <p:txBody>
          <a:bodyPr/>
          <a:lstStyle/>
          <a:p>
            <a:r>
              <a:rPr lang="en-US" dirty="0"/>
              <a:t>Frequentist Multiple linear regression</a:t>
            </a:r>
            <a:br>
              <a:rPr lang="en-US" dirty="0"/>
            </a:br>
            <a:endParaRPr lang="he-IL" dirty="0"/>
          </a:p>
        </p:txBody>
      </p:sp>
      <p:sp>
        <p:nvSpPr>
          <p:cNvPr id="3" name="Content Placeholder 2">
            <a:extLst>
              <a:ext uri="{FF2B5EF4-FFF2-40B4-BE49-F238E27FC236}">
                <a16:creationId xmlns:a16="http://schemas.microsoft.com/office/drawing/2014/main" id="{10EF2A47-0EE9-4D73-86BA-3E435EA9D1F2}"/>
              </a:ext>
            </a:extLst>
          </p:cNvPr>
          <p:cNvSpPr>
            <a:spLocks noGrp="1"/>
          </p:cNvSpPr>
          <p:nvPr>
            <p:ph idx="1"/>
          </p:nvPr>
        </p:nvSpPr>
        <p:spPr>
          <a:xfrm>
            <a:off x="838200" y="1328948"/>
            <a:ext cx="10515600" cy="4730209"/>
          </a:xfrm>
        </p:spPr>
        <p:txBody>
          <a:bodyPr>
            <a:normAutofit/>
          </a:bodyPr>
          <a:lstStyle/>
          <a:p>
            <a:r>
              <a:rPr lang="en-US" dirty="0"/>
              <a:t>Models Summary</a:t>
            </a:r>
          </a:p>
        </p:txBody>
      </p:sp>
      <p:pic>
        <p:nvPicPr>
          <p:cNvPr id="5" name="Picture 4">
            <a:extLst>
              <a:ext uri="{FF2B5EF4-FFF2-40B4-BE49-F238E27FC236}">
                <a16:creationId xmlns:a16="http://schemas.microsoft.com/office/drawing/2014/main" id="{BF317219-366E-08B7-E6DC-22BCB737DFC7}"/>
              </a:ext>
            </a:extLst>
          </p:cNvPr>
          <p:cNvPicPr>
            <a:picLocks noChangeAspect="1"/>
          </p:cNvPicPr>
          <p:nvPr/>
        </p:nvPicPr>
        <p:blipFill>
          <a:blip r:embed="rId3"/>
          <a:stretch>
            <a:fillRect/>
          </a:stretch>
        </p:blipFill>
        <p:spPr>
          <a:xfrm>
            <a:off x="2356915" y="2262024"/>
            <a:ext cx="7478169" cy="2333951"/>
          </a:xfrm>
          <a:prstGeom prst="rect">
            <a:avLst/>
          </a:prstGeom>
        </p:spPr>
      </p:pic>
      <p:pic>
        <p:nvPicPr>
          <p:cNvPr id="8" name="Picture 7">
            <a:extLst>
              <a:ext uri="{FF2B5EF4-FFF2-40B4-BE49-F238E27FC236}">
                <a16:creationId xmlns:a16="http://schemas.microsoft.com/office/drawing/2014/main" id="{E2307D23-BA20-44E5-DEC2-544E451CC65A}"/>
              </a:ext>
            </a:extLst>
          </p:cNvPr>
          <p:cNvPicPr>
            <a:picLocks noChangeAspect="1"/>
          </p:cNvPicPr>
          <p:nvPr/>
        </p:nvPicPr>
        <p:blipFill>
          <a:blip r:embed="rId4"/>
          <a:stretch>
            <a:fillRect/>
          </a:stretch>
        </p:blipFill>
        <p:spPr>
          <a:xfrm>
            <a:off x="2356914" y="4739965"/>
            <a:ext cx="7548701" cy="1319191"/>
          </a:xfrm>
          <a:prstGeom prst="rect">
            <a:avLst/>
          </a:prstGeom>
        </p:spPr>
      </p:pic>
    </p:spTree>
    <p:extLst>
      <p:ext uri="{BB962C8B-B14F-4D97-AF65-F5344CB8AC3E}">
        <p14:creationId xmlns:p14="http://schemas.microsoft.com/office/powerpoint/2010/main" val="2503056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773</TotalTime>
  <Words>4178</Words>
  <Application>Microsoft Office PowerPoint</Application>
  <PresentationFormat>Widescreen</PresentationFormat>
  <Paragraphs>707</Paragraphs>
  <Slides>105</Slides>
  <Notes>88</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105</vt:i4>
      </vt:variant>
    </vt:vector>
  </HeadingPairs>
  <TitlesOfParts>
    <vt:vector size="110" baseType="lpstr">
      <vt:lpstr>Arial</vt:lpstr>
      <vt:lpstr>Cambria Math</vt:lpstr>
      <vt:lpstr>David</vt:lpstr>
      <vt:lpstr>Wingdings</vt:lpstr>
      <vt:lpstr>Office Theme</vt:lpstr>
      <vt:lpstr>Tutorial 7</vt:lpstr>
      <vt:lpstr>Tutorial Outline</vt:lpstr>
      <vt:lpstr>Variables Types &amp; Transformations </vt:lpstr>
      <vt:lpstr>Dependent &amp; Independent variables</vt:lpstr>
      <vt:lpstr>Dependent &amp; Independent variables</vt:lpstr>
      <vt:lpstr>Three Common Transformations</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Variables Transformation for Linear Regression</vt:lpstr>
      <vt:lpstr>Centering, Normalization, &amp; Standardization</vt:lpstr>
      <vt:lpstr>Centering, Normalization, &amp; Standardization</vt:lpstr>
      <vt:lpstr>Centering, Normalization, &amp; Standardization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Simple Linear Regression</vt:lpstr>
      <vt:lpstr>Why center and standardize log uranium?</vt:lpstr>
      <vt:lpstr>Simple Linear Regression</vt:lpstr>
      <vt:lpstr>Simple Linear Regression</vt:lpstr>
      <vt:lpstr>Simple Linear Regression</vt:lpstr>
      <vt:lpstr>Simple Linear Regression</vt:lpstr>
      <vt:lpstr>Multiple Regression</vt:lpstr>
      <vt:lpstr>Multiple Regression</vt:lpstr>
      <vt:lpstr>Multiple Regression</vt:lpstr>
      <vt:lpstr>Multiple Regression</vt:lpstr>
      <vt:lpstr>Simple Linear Regression</vt:lpstr>
      <vt:lpstr>Multiple Regression</vt:lpstr>
      <vt:lpstr>Categorical Variables</vt:lpstr>
      <vt:lpstr>Categorical variables</vt:lpstr>
      <vt:lpstr>Categorical variables</vt:lpstr>
      <vt:lpstr>Multiple Regression</vt:lpstr>
      <vt:lpstr>Multiple Regression</vt:lpstr>
      <vt:lpstr>Multiple Regression</vt:lpstr>
      <vt:lpstr>Multiple Regression</vt:lpstr>
      <vt:lpstr>Multiple Regression</vt:lpstr>
      <vt:lpstr>Multiple Regression</vt:lpstr>
      <vt:lpstr>Multiple Regression</vt:lpstr>
      <vt:lpstr>Multiple Regression</vt:lpstr>
      <vt:lpstr>Multiple Regression</vt:lpstr>
      <vt:lpstr>Multiple Regression</vt:lpstr>
      <vt:lpstr>Multiple Regression</vt:lpstr>
      <vt:lpstr>Multiple Regression</vt:lpstr>
      <vt:lpstr>Bayesian  R^2  </vt:lpstr>
      <vt:lpstr>Bayesian  R^2  </vt:lpstr>
      <vt:lpstr>Bayesian  R^2  </vt:lpstr>
      <vt:lpstr>Bayesian  R^2  </vt:lpstr>
      <vt:lpstr>Bayesian  R^2  </vt:lpstr>
      <vt:lpstr>PowerPoint Presentation</vt:lpstr>
      <vt:lpstr>Bambi</vt:lpstr>
      <vt:lpstr>PyMC vs. Bambi</vt:lpstr>
      <vt:lpstr>Bambi</vt:lpstr>
      <vt:lpstr>Bambi</vt:lpstr>
      <vt:lpstr>Bambi</vt:lpstr>
      <vt:lpstr>Bambi</vt:lpstr>
      <vt:lpstr>Bambi</vt:lpstr>
      <vt:lpstr>Bambi</vt:lpstr>
      <vt:lpstr>Bambi</vt:lpstr>
      <vt:lpstr>Bambi</vt:lpstr>
      <vt:lpstr>Bambi</vt:lpstr>
      <vt:lpstr>Bambi</vt:lpstr>
      <vt:lpstr>Bambi</vt:lpstr>
      <vt:lpstr>Bambi</vt:lpstr>
      <vt:lpstr>Bambi</vt:lpstr>
      <vt:lpstr>Bambi</vt:lpstr>
      <vt:lpstr>Bambi</vt:lpstr>
      <vt:lpstr>Bambi</vt:lpstr>
      <vt:lpstr>Frequentist Simple Linear Regression</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linear regression </vt:lpstr>
      <vt:lpstr>Frequentist Multiple Linear Regression</vt:lpstr>
      <vt:lpstr>Frequentist Multiple linear regression </vt:lpstr>
      <vt:lpstr>Frequentist Multiple linear regression </vt:lpstr>
      <vt:lpstr>Frequentist Multiple linear regression </vt:lpstr>
      <vt:lpstr>Frequentist Multiple linear regression </vt:lpstr>
      <vt:lpstr>Frequentist Multiple linear regression </vt:lpstr>
      <vt:lpstr>Frequentist Multiple linear regression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נעם גונן</dc:creator>
  <cp:lastModifiedBy>נעם גונן</cp:lastModifiedBy>
  <cp:revision>153</cp:revision>
  <dcterms:created xsi:type="dcterms:W3CDTF">2026-06-07T05:41:50Z</dcterms:created>
  <dcterms:modified xsi:type="dcterms:W3CDTF">2026-06-09T12:53:16Z</dcterms:modified>
</cp:coreProperties>
</file>