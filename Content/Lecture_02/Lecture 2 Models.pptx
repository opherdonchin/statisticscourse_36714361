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sldIdLst>
    <p:sldId id="256" r:id="rId2"/>
    <p:sldId id="577" r:id="rId3"/>
    <p:sldId id="447" r:id="rId4"/>
    <p:sldId id="525" r:id="rId5"/>
    <p:sldId id="528" r:id="rId6"/>
    <p:sldId id="491" r:id="rId7"/>
    <p:sldId id="527" r:id="rId8"/>
    <p:sldId id="529" r:id="rId9"/>
    <p:sldId id="526" r:id="rId10"/>
    <p:sldId id="600" r:id="rId11"/>
    <p:sldId id="595" r:id="rId12"/>
    <p:sldId id="578" r:id="rId13"/>
    <p:sldId id="575" r:id="rId14"/>
    <p:sldId id="587" r:id="rId15"/>
    <p:sldId id="288" r:id="rId16"/>
    <p:sldId id="576" r:id="rId17"/>
    <p:sldId id="579" r:id="rId18"/>
    <p:sldId id="510" r:id="rId19"/>
    <p:sldId id="522" r:id="rId20"/>
    <p:sldId id="530" r:id="rId21"/>
    <p:sldId id="534" r:id="rId22"/>
    <p:sldId id="580" r:id="rId23"/>
    <p:sldId id="590" r:id="rId24"/>
    <p:sldId id="536" r:id="rId25"/>
    <p:sldId id="316" r:id="rId26"/>
    <p:sldId id="537" r:id="rId27"/>
    <p:sldId id="538" r:id="rId28"/>
    <p:sldId id="294" r:id="rId29"/>
    <p:sldId id="315" r:id="rId30"/>
    <p:sldId id="323" r:id="rId31"/>
    <p:sldId id="295" r:id="rId32"/>
    <p:sldId id="695" r:id="rId33"/>
    <p:sldId id="596" r:id="rId34"/>
    <p:sldId id="636" r:id="rId35"/>
    <p:sldId id="638" r:id="rId36"/>
    <p:sldId id="581" r:id="rId37"/>
    <p:sldId id="318" r:id="rId38"/>
    <p:sldId id="589" r:id="rId39"/>
    <p:sldId id="588" r:id="rId40"/>
    <p:sldId id="584" r:id="rId41"/>
    <p:sldId id="320" r:id="rId42"/>
    <p:sldId id="541" r:id="rId43"/>
    <p:sldId id="321" r:id="rId44"/>
    <p:sldId id="542" r:id="rId45"/>
    <p:sldId id="583" r:id="rId46"/>
    <p:sldId id="330" r:id="rId47"/>
    <p:sldId id="592" r:id="rId48"/>
    <p:sldId id="591" r:id="rId49"/>
    <p:sldId id="593" r:id="rId50"/>
    <p:sldId id="594" r:id="rId51"/>
    <p:sldId id="333" r:id="rId52"/>
    <p:sldId id="335" r:id="rId53"/>
    <p:sldId id="585" r:id="rId54"/>
    <p:sldId id="548" r:id="rId55"/>
    <p:sldId id="549" r:id="rId56"/>
    <p:sldId id="550" r:id="rId57"/>
    <p:sldId id="551" r:id="rId58"/>
    <p:sldId id="552" r:id="rId59"/>
    <p:sldId id="553" r:id="rId60"/>
    <p:sldId id="554" r:id="rId61"/>
    <p:sldId id="555" r:id="rId62"/>
    <p:sldId id="582" r:id="rId63"/>
    <p:sldId id="566" r:id="rId64"/>
    <p:sldId id="567" r:id="rId65"/>
    <p:sldId id="568" r:id="rId66"/>
    <p:sldId id="586" r:id="rId67"/>
    <p:sldId id="569" r:id="rId68"/>
    <p:sldId id="571" r:id="rId69"/>
    <p:sldId id="572" r:id="rId70"/>
    <p:sldId id="597" r:id="rId71"/>
    <p:sldId id="599" r:id="rId72"/>
    <p:sldId id="413" r:id="rId73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28265A5-EA15-4306-B718-6D80D1AD0814}">
          <p14:sldIdLst>
            <p14:sldId id="256"/>
          </p14:sldIdLst>
        </p14:section>
        <p14:section name="What is a statistical model" id="{4C282236-B47E-41F6-B825-0AC72B2DECC7}">
          <p14:sldIdLst>
            <p14:sldId id="577"/>
            <p14:sldId id="447"/>
            <p14:sldId id="525"/>
            <p14:sldId id="528"/>
            <p14:sldId id="491"/>
            <p14:sldId id="527"/>
            <p14:sldId id="529"/>
            <p14:sldId id="526"/>
            <p14:sldId id="600"/>
            <p14:sldId id="595"/>
          </p14:sldIdLst>
        </p14:section>
        <p14:section name="Conditional probability" id="{5D1A2A1B-DD71-4B32-B35C-63674EF57679}">
          <p14:sldIdLst>
            <p14:sldId id="578"/>
            <p14:sldId id="575"/>
            <p14:sldId id="587"/>
            <p14:sldId id="288"/>
            <p14:sldId id="576"/>
          </p14:sldIdLst>
        </p14:section>
        <p14:section name="Bayes rule" id="{ADDB832B-4A3C-41AA-9F41-02A5B9F4739E}">
          <p14:sldIdLst>
            <p14:sldId id="579"/>
            <p14:sldId id="510"/>
            <p14:sldId id="522"/>
            <p14:sldId id="530"/>
            <p14:sldId id="534"/>
          </p14:sldIdLst>
        </p14:section>
        <p14:section name="Likelihood" id="{B78BE369-5E35-478B-95C8-95DFC33755CC}">
          <p14:sldIdLst>
            <p14:sldId id="580"/>
            <p14:sldId id="590"/>
            <p14:sldId id="536"/>
            <p14:sldId id="316"/>
            <p14:sldId id="537"/>
            <p14:sldId id="538"/>
            <p14:sldId id="294"/>
            <p14:sldId id="315"/>
            <p14:sldId id="323"/>
            <p14:sldId id="295"/>
          </p14:sldIdLst>
        </p14:section>
        <p14:section name="Grid calculation" id="{757AEAF9-C6DE-47CA-A078-9BD26BD26F1D}">
          <p14:sldIdLst>
            <p14:sldId id="695"/>
            <p14:sldId id="596"/>
            <p14:sldId id="636"/>
            <p14:sldId id="638"/>
          </p14:sldIdLst>
        </p14:section>
        <p14:section name="Prior" id="{9212BF24-6B81-4273-9DF4-0808FBB51E7A}">
          <p14:sldIdLst>
            <p14:sldId id="581"/>
            <p14:sldId id="318"/>
            <p14:sldId id="589"/>
            <p14:sldId id="588"/>
          </p14:sldIdLst>
        </p14:section>
        <p14:section name="Beta distribution" id="{3D1DDC0D-BF77-47E5-BDD1-6CBF7BE6D30E}">
          <p14:sldIdLst>
            <p14:sldId id="584"/>
            <p14:sldId id="320"/>
            <p14:sldId id="541"/>
            <p14:sldId id="321"/>
            <p14:sldId id="542"/>
          </p14:sldIdLst>
        </p14:section>
        <p14:section name="Conjugate priors" id="{729A28DF-AA21-4B13-95CD-F4E79D763421}">
          <p14:sldIdLst>
            <p14:sldId id="583"/>
            <p14:sldId id="330"/>
            <p14:sldId id="592"/>
            <p14:sldId id="591"/>
            <p14:sldId id="593"/>
            <p14:sldId id="594"/>
            <p14:sldId id="333"/>
            <p14:sldId id="335"/>
          </p14:sldIdLst>
        </p14:section>
        <p14:section name="Posterior distribution" id="{043B6338-A1EB-4F81-8E49-AC264169BCF3}">
          <p14:sldIdLst>
            <p14:sldId id="585"/>
            <p14:sldId id="548"/>
            <p14:sldId id="549"/>
            <p14:sldId id="550"/>
            <p14:sldId id="551"/>
            <p14:sldId id="552"/>
            <p14:sldId id="553"/>
            <p14:sldId id="554"/>
            <p14:sldId id="555"/>
          </p14:sldIdLst>
        </p14:section>
        <p14:section name="Choosing priors" id="{3998A39E-A79D-40A2-97DA-82A56B14CF24}">
          <p14:sldIdLst>
            <p14:sldId id="582"/>
            <p14:sldId id="566"/>
            <p14:sldId id="567"/>
            <p14:sldId id="568"/>
          </p14:sldIdLst>
        </p14:section>
        <p14:section name="Preliz" id="{80A49800-8302-4629-955F-EFA39451E9A1}">
          <p14:sldIdLst>
            <p14:sldId id="586"/>
            <p14:sldId id="569"/>
            <p14:sldId id="571"/>
            <p14:sldId id="572"/>
          </p14:sldIdLst>
        </p14:section>
        <p14:section name="Next week" id="{4E8AE444-2D84-4A42-B42E-00009A3B5046}">
          <p14:sldIdLst>
            <p14:sldId id="597"/>
            <p14:sldId id="599"/>
            <p14:sldId id="4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2A1AB9-9CB0-4E86-BA5A-8E9FFD253773}" v="1480" dt="2025-02-25T23:36:27.0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95277D-8ADB-4A8C-94BF-16C80F473742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L"/>
        </a:p>
      </dgm:t>
    </dgm:pt>
    <dgm:pt modelId="{328AD98A-E866-405B-84F6-07476DDE4991}">
      <dgm:prSet phldrT="[Text]"/>
      <dgm:spPr/>
      <dgm:t>
        <a:bodyPr/>
        <a:lstStyle/>
        <a:p>
          <a:r>
            <a:rPr lang="en-US"/>
            <a:t>Data</a:t>
          </a:r>
          <a:endParaRPr lang="en-IL"/>
        </a:p>
      </dgm:t>
    </dgm:pt>
    <dgm:pt modelId="{8340561E-D280-42B5-BD42-40C86804A2BD}" type="parTrans" cxnId="{9DBF2E8D-9794-414C-A17E-F33CD32EE999}">
      <dgm:prSet/>
      <dgm:spPr/>
      <dgm:t>
        <a:bodyPr/>
        <a:lstStyle/>
        <a:p>
          <a:endParaRPr lang="en-IL"/>
        </a:p>
      </dgm:t>
    </dgm:pt>
    <dgm:pt modelId="{06AFC589-A950-4EC5-A544-FA9A0A562243}" type="sibTrans" cxnId="{9DBF2E8D-9794-414C-A17E-F33CD32EE999}">
      <dgm:prSet/>
      <dgm:spPr/>
      <dgm:t>
        <a:bodyPr/>
        <a:lstStyle/>
        <a:p>
          <a:endParaRPr lang="en-IL"/>
        </a:p>
      </dgm:t>
    </dgm:pt>
    <dgm:pt modelId="{B38DB0E3-7F35-4F52-B911-696814B870C5}">
      <dgm:prSet phldrT="[Text]"/>
      <dgm:spPr/>
      <dgm:t>
        <a:bodyPr/>
        <a:lstStyle/>
        <a:p>
          <a:r>
            <a:rPr lang="en-US"/>
            <a:t>Estimator</a:t>
          </a:r>
          <a:endParaRPr lang="en-IL"/>
        </a:p>
      </dgm:t>
    </dgm:pt>
    <dgm:pt modelId="{2DD684BF-22C7-462C-8087-01E5E1D282CA}" type="parTrans" cxnId="{ACB404EA-464E-4BB9-8760-E0B0FEEC7877}">
      <dgm:prSet/>
      <dgm:spPr/>
      <dgm:t>
        <a:bodyPr/>
        <a:lstStyle/>
        <a:p>
          <a:endParaRPr lang="en-IL"/>
        </a:p>
      </dgm:t>
    </dgm:pt>
    <dgm:pt modelId="{F1DD6D85-EC44-4BA3-8E84-B8927223BA9C}" type="sibTrans" cxnId="{ACB404EA-464E-4BB9-8760-E0B0FEEC7877}">
      <dgm:prSet/>
      <dgm:spPr/>
      <dgm:t>
        <a:bodyPr/>
        <a:lstStyle/>
        <a:p>
          <a:endParaRPr lang="en-IL"/>
        </a:p>
      </dgm:t>
    </dgm:pt>
    <dgm:pt modelId="{48DDED3E-9A7C-41FE-8BB4-7D0875C91F67}">
      <dgm:prSet phldrT="[Text]"/>
      <dgm:spPr/>
      <dgm:t>
        <a:bodyPr/>
        <a:lstStyle/>
        <a:p>
          <a:r>
            <a:rPr lang="en-US"/>
            <a:t>Experiments</a:t>
          </a:r>
          <a:endParaRPr lang="en-IL"/>
        </a:p>
      </dgm:t>
    </dgm:pt>
    <dgm:pt modelId="{D9B1DF89-A539-4E0D-82D4-EA9291969A80}" type="parTrans" cxnId="{DD866E09-3739-4382-8B8F-A4A55600B6B0}">
      <dgm:prSet/>
      <dgm:spPr/>
      <dgm:t>
        <a:bodyPr/>
        <a:lstStyle/>
        <a:p>
          <a:endParaRPr lang="en-IL"/>
        </a:p>
      </dgm:t>
    </dgm:pt>
    <dgm:pt modelId="{4952C81E-F970-4A77-8115-E1CB59891776}" type="sibTrans" cxnId="{DD866E09-3739-4382-8B8F-A4A55600B6B0}">
      <dgm:prSet/>
      <dgm:spPr/>
      <dgm:t>
        <a:bodyPr/>
        <a:lstStyle/>
        <a:p>
          <a:endParaRPr lang="en-IL"/>
        </a:p>
      </dgm:t>
    </dgm:pt>
    <dgm:pt modelId="{008A9DDA-739A-4C88-A9B5-B6BB6200D974}" type="pres">
      <dgm:prSet presAssocID="{1795277D-8ADB-4A8C-94BF-16C80F473742}" presName="cycle" presStyleCnt="0">
        <dgm:presLayoutVars>
          <dgm:dir/>
          <dgm:resizeHandles val="exact"/>
        </dgm:presLayoutVars>
      </dgm:prSet>
      <dgm:spPr/>
    </dgm:pt>
    <dgm:pt modelId="{3DEE5857-EB26-44F9-9183-CA74BA84AD9C}" type="pres">
      <dgm:prSet presAssocID="{328AD98A-E866-405B-84F6-07476DDE4991}" presName="dummy" presStyleCnt="0"/>
      <dgm:spPr/>
    </dgm:pt>
    <dgm:pt modelId="{87E945CC-A97C-4462-A520-CA352B16A36D}" type="pres">
      <dgm:prSet presAssocID="{328AD98A-E866-405B-84F6-07476DDE4991}" presName="node" presStyleLbl="revTx" presStyleIdx="0" presStyleCnt="3">
        <dgm:presLayoutVars>
          <dgm:bulletEnabled val="1"/>
        </dgm:presLayoutVars>
      </dgm:prSet>
      <dgm:spPr/>
    </dgm:pt>
    <dgm:pt modelId="{74118A0D-099C-4902-928A-B5003DC0FA46}" type="pres">
      <dgm:prSet presAssocID="{06AFC589-A950-4EC5-A544-FA9A0A562243}" presName="sibTrans" presStyleLbl="node1" presStyleIdx="0" presStyleCnt="3"/>
      <dgm:spPr/>
    </dgm:pt>
    <dgm:pt modelId="{59F39BD7-3125-495C-BC9F-BCBA9C8D327E}" type="pres">
      <dgm:prSet presAssocID="{B38DB0E3-7F35-4F52-B911-696814B870C5}" presName="dummy" presStyleCnt="0"/>
      <dgm:spPr/>
    </dgm:pt>
    <dgm:pt modelId="{BACFA3D0-51F4-4590-A6E2-26D0722C8E66}" type="pres">
      <dgm:prSet presAssocID="{B38DB0E3-7F35-4F52-B911-696814B870C5}" presName="node" presStyleLbl="revTx" presStyleIdx="1" presStyleCnt="3">
        <dgm:presLayoutVars>
          <dgm:bulletEnabled val="1"/>
        </dgm:presLayoutVars>
      </dgm:prSet>
      <dgm:spPr/>
    </dgm:pt>
    <dgm:pt modelId="{7CE82282-28AD-4926-BE08-AE11A3C6F04B}" type="pres">
      <dgm:prSet presAssocID="{F1DD6D85-EC44-4BA3-8E84-B8927223BA9C}" presName="sibTrans" presStyleLbl="node1" presStyleIdx="1" presStyleCnt="3"/>
      <dgm:spPr/>
    </dgm:pt>
    <dgm:pt modelId="{E83B4B74-0AD6-46B9-9297-0FDED4826EE4}" type="pres">
      <dgm:prSet presAssocID="{48DDED3E-9A7C-41FE-8BB4-7D0875C91F67}" presName="dummy" presStyleCnt="0"/>
      <dgm:spPr/>
    </dgm:pt>
    <dgm:pt modelId="{4CA791CA-A4D4-4376-94DB-1EA2D16A8F6C}" type="pres">
      <dgm:prSet presAssocID="{48DDED3E-9A7C-41FE-8BB4-7D0875C91F67}" presName="node" presStyleLbl="revTx" presStyleIdx="2" presStyleCnt="3">
        <dgm:presLayoutVars>
          <dgm:bulletEnabled val="1"/>
        </dgm:presLayoutVars>
      </dgm:prSet>
      <dgm:spPr/>
    </dgm:pt>
    <dgm:pt modelId="{AA8A1B9E-224D-4193-87D0-A52ED7A7762E}" type="pres">
      <dgm:prSet presAssocID="{4952C81E-F970-4A77-8115-E1CB59891776}" presName="sibTrans" presStyleLbl="node1" presStyleIdx="2" presStyleCnt="3"/>
      <dgm:spPr/>
    </dgm:pt>
  </dgm:ptLst>
  <dgm:cxnLst>
    <dgm:cxn modelId="{DD866E09-3739-4382-8B8F-A4A55600B6B0}" srcId="{1795277D-8ADB-4A8C-94BF-16C80F473742}" destId="{48DDED3E-9A7C-41FE-8BB4-7D0875C91F67}" srcOrd="2" destOrd="0" parTransId="{D9B1DF89-A539-4E0D-82D4-EA9291969A80}" sibTransId="{4952C81E-F970-4A77-8115-E1CB59891776}"/>
    <dgm:cxn modelId="{0846E211-0EAC-46A3-8BAE-1B6A7938FE62}" type="presOf" srcId="{06AFC589-A950-4EC5-A544-FA9A0A562243}" destId="{74118A0D-099C-4902-928A-B5003DC0FA46}" srcOrd="0" destOrd="0" presId="urn:microsoft.com/office/officeart/2005/8/layout/cycle1"/>
    <dgm:cxn modelId="{72CCD76C-2C21-4A31-816E-CDA2D0A288FF}" type="presOf" srcId="{48DDED3E-9A7C-41FE-8BB4-7D0875C91F67}" destId="{4CA791CA-A4D4-4376-94DB-1EA2D16A8F6C}" srcOrd="0" destOrd="0" presId="urn:microsoft.com/office/officeart/2005/8/layout/cycle1"/>
    <dgm:cxn modelId="{F5E4B780-2B86-4D24-A2D3-FFC2793A4219}" type="presOf" srcId="{4952C81E-F970-4A77-8115-E1CB59891776}" destId="{AA8A1B9E-224D-4193-87D0-A52ED7A7762E}" srcOrd="0" destOrd="0" presId="urn:microsoft.com/office/officeart/2005/8/layout/cycle1"/>
    <dgm:cxn modelId="{F486F385-B5A4-4CEB-919D-BD86197D1F86}" type="presOf" srcId="{B38DB0E3-7F35-4F52-B911-696814B870C5}" destId="{BACFA3D0-51F4-4590-A6E2-26D0722C8E66}" srcOrd="0" destOrd="0" presId="urn:microsoft.com/office/officeart/2005/8/layout/cycle1"/>
    <dgm:cxn modelId="{9DBF2E8D-9794-414C-A17E-F33CD32EE999}" srcId="{1795277D-8ADB-4A8C-94BF-16C80F473742}" destId="{328AD98A-E866-405B-84F6-07476DDE4991}" srcOrd="0" destOrd="0" parTransId="{8340561E-D280-42B5-BD42-40C86804A2BD}" sibTransId="{06AFC589-A950-4EC5-A544-FA9A0A562243}"/>
    <dgm:cxn modelId="{C1CEE798-62BE-4BF7-9E3F-89C7A0D8CC8D}" type="presOf" srcId="{F1DD6D85-EC44-4BA3-8E84-B8927223BA9C}" destId="{7CE82282-28AD-4926-BE08-AE11A3C6F04B}" srcOrd="0" destOrd="0" presId="urn:microsoft.com/office/officeart/2005/8/layout/cycle1"/>
    <dgm:cxn modelId="{A22B91AB-16D4-4216-B184-6CE2092912B7}" type="presOf" srcId="{328AD98A-E866-405B-84F6-07476DDE4991}" destId="{87E945CC-A97C-4462-A520-CA352B16A36D}" srcOrd="0" destOrd="0" presId="urn:microsoft.com/office/officeart/2005/8/layout/cycle1"/>
    <dgm:cxn modelId="{DFBBADBF-812A-4085-BEDA-F549AD097785}" type="presOf" srcId="{1795277D-8ADB-4A8C-94BF-16C80F473742}" destId="{008A9DDA-739A-4C88-A9B5-B6BB6200D974}" srcOrd="0" destOrd="0" presId="urn:microsoft.com/office/officeart/2005/8/layout/cycle1"/>
    <dgm:cxn modelId="{ACB404EA-464E-4BB9-8760-E0B0FEEC7877}" srcId="{1795277D-8ADB-4A8C-94BF-16C80F473742}" destId="{B38DB0E3-7F35-4F52-B911-696814B870C5}" srcOrd="1" destOrd="0" parTransId="{2DD684BF-22C7-462C-8087-01E5E1D282CA}" sibTransId="{F1DD6D85-EC44-4BA3-8E84-B8927223BA9C}"/>
    <dgm:cxn modelId="{6EF93174-E157-4DFA-88FD-A8FFEE98467B}" type="presParOf" srcId="{008A9DDA-739A-4C88-A9B5-B6BB6200D974}" destId="{3DEE5857-EB26-44F9-9183-CA74BA84AD9C}" srcOrd="0" destOrd="0" presId="urn:microsoft.com/office/officeart/2005/8/layout/cycle1"/>
    <dgm:cxn modelId="{3BF6459B-D194-4E37-95EB-F4B72916624C}" type="presParOf" srcId="{008A9DDA-739A-4C88-A9B5-B6BB6200D974}" destId="{87E945CC-A97C-4462-A520-CA352B16A36D}" srcOrd="1" destOrd="0" presId="urn:microsoft.com/office/officeart/2005/8/layout/cycle1"/>
    <dgm:cxn modelId="{5AA64123-1DB5-4468-B15E-458C06C80A7B}" type="presParOf" srcId="{008A9DDA-739A-4C88-A9B5-B6BB6200D974}" destId="{74118A0D-099C-4902-928A-B5003DC0FA46}" srcOrd="2" destOrd="0" presId="urn:microsoft.com/office/officeart/2005/8/layout/cycle1"/>
    <dgm:cxn modelId="{3AB4817D-F6B0-4DA8-9674-6BEEE8C8DFA4}" type="presParOf" srcId="{008A9DDA-739A-4C88-A9B5-B6BB6200D974}" destId="{59F39BD7-3125-495C-BC9F-BCBA9C8D327E}" srcOrd="3" destOrd="0" presId="urn:microsoft.com/office/officeart/2005/8/layout/cycle1"/>
    <dgm:cxn modelId="{7C28DC94-D460-4020-A627-4EA1E376A424}" type="presParOf" srcId="{008A9DDA-739A-4C88-A9B5-B6BB6200D974}" destId="{BACFA3D0-51F4-4590-A6E2-26D0722C8E66}" srcOrd="4" destOrd="0" presId="urn:microsoft.com/office/officeart/2005/8/layout/cycle1"/>
    <dgm:cxn modelId="{856A496E-4B49-4882-B216-B00B437BBB97}" type="presParOf" srcId="{008A9DDA-739A-4C88-A9B5-B6BB6200D974}" destId="{7CE82282-28AD-4926-BE08-AE11A3C6F04B}" srcOrd="5" destOrd="0" presId="urn:microsoft.com/office/officeart/2005/8/layout/cycle1"/>
    <dgm:cxn modelId="{839FFC2B-5453-4736-834C-CAE01C06EACC}" type="presParOf" srcId="{008A9DDA-739A-4C88-A9B5-B6BB6200D974}" destId="{E83B4B74-0AD6-46B9-9297-0FDED4826EE4}" srcOrd="6" destOrd="0" presId="urn:microsoft.com/office/officeart/2005/8/layout/cycle1"/>
    <dgm:cxn modelId="{EEAEF6A5-E3C2-48D6-B184-77D4FEB1E6CB}" type="presParOf" srcId="{008A9DDA-739A-4C88-A9B5-B6BB6200D974}" destId="{4CA791CA-A4D4-4376-94DB-1EA2D16A8F6C}" srcOrd="7" destOrd="0" presId="urn:microsoft.com/office/officeart/2005/8/layout/cycle1"/>
    <dgm:cxn modelId="{5264219C-8EAC-46EB-9088-533AF6A94DF1}" type="presParOf" srcId="{008A9DDA-739A-4C88-A9B5-B6BB6200D974}" destId="{AA8A1B9E-224D-4193-87D0-A52ED7A7762E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E945CC-A97C-4462-A520-CA352B16A36D}">
      <dsp:nvSpPr>
        <dsp:cNvPr id="0" name=""/>
        <dsp:cNvSpPr/>
      </dsp:nvSpPr>
      <dsp:spPr>
        <a:xfrm>
          <a:off x="6156597" y="379968"/>
          <a:ext cx="1935149" cy="1935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Data</a:t>
          </a:r>
          <a:endParaRPr lang="en-IL" sz="2800" kern="1200"/>
        </a:p>
      </dsp:txBody>
      <dsp:txXfrm>
        <a:off x="6156597" y="379968"/>
        <a:ext cx="1935149" cy="1935149"/>
      </dsp:txXfrm>
    </dsp:sp>
    <dsp:sp modelId="{74118A0D-099C-4902-928A-B5003DC0FA46}">
      <dsp:nvSpPr>
        <dsp:cNvPr id="0" name=""/>
        <dsp:cNvSpPr/>
      </dsp:nvSpPr>
      <dsp:spPr>
        <a:xfrm>
          <a:off x="3208852" y="-825"/>
          <a:ext cx="4575876" cy="4575876"/>
        </a:xfrm>
        <a:prstGeom prst="circularArrow">
          <a:avLst>
            <a:gd name="adj1" fmla="val 8247"/>
            <a:gd name="adj2" fmla="val 575959"/>
            <a:gd name="adj3" fmla="val 2964581"/>
            <a:gd name="adj4" fmla="val 51237"/>
            <a:gd name="adj5" fmla="val 962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CFA3D0-51F4-4590-A6E2-26D0722C8E66}">
      <dsp:nvSpPr>
        <dsp:cNvPr id="0" name=""/>
        <dsp:cNvSpPr/>
      </dsp:nvSpPr>
      <dsp:spPr>
        <a:xfrm>
          <a:off x="4529216" y="3198675"/>
          <a:ext cx="1935149" cy="1935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Estimator</a:t>
          </a:r>
          <a:endParaRPr lang="en-IL" sz="2800" kern="1200"/>
        </a:p>
      </dsp:txBody>
      <dsp:txXfrm>
        <a:off x="4529216" y="3198675"/>
        <a:ext cx="1935149" cy="1935149"/>
      </dsp:txXfrm>
    </dsp:sp>
    <dsp:sp modelId="{7CE82282-28AD-4926-BE08-AE11A3C6F04B}">
      <dsp:nvSpPr>
        <dsp:cNvPr id="0" name=""/>
        <dsp:cNvSpPr/>
      </dsp:nvSpPr>
      <dsp:spPr>
        <a:xfrm>
          <a:off x="3208852" y="-825"/>
          <a:ext cx="4575876" cy="4575876"/>
        </a:xfrm>
        <a:prstGeom prst="circularArrow">
          <a:avLst>
            <a:gd name="adj1" fmla="val 8247"/>
            <a:gd name="adj2" fmla="val 575959"/>
            <a:gd name="adj3" fmla="val 10172805"/>
            <a:gd name="adj4" fmla="val 7259461"/>
            <a:gd name="adj5" fmla="val 962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791CA-A4D4-4376-94DB-1EA2D16A8F6C}">
      <dsp:nvSpPr>
        <dsp:cNvPr id="0" name=""/>
        <dsp:cNvSpPr/>
      </dsp:nvSpPr>
      <dsp:spPr>
        <a:xfrm>
          <a:off x="2901835" y="379968"/>
          <a:ext cx="1935149" cy="1935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Experiments</a:t>
          </a:r>
          <a:endParaRPr lang="en-IL" sz="2800" kern="1200"/>
        </a:p>
      </dsp:txBody>
      <dsp:txXfrm>
        <a:off x="2901835" y="379968"/>
        <a:ext cx="1935149" cy="1935149"/>
      </dsp:txXfrm>
    </dsp:sp>
    <dsp:sp modelId="{AA8A1B9E-224D-4193-87D0-A52ED7A7762E}">
      <dsp:nvSpPr>
        <dsp:cNvPr id="0" name=""/>
        <dsp:cNvSpPr/>
      </dsp:nvSpPr>
      <dsp:spPr>
        <a:xfrm>
          <a:off x="3208852" y="-825"/>
          <a:ext cx="4575876" cy="4575876"/>
        </a:xfrm>
        <a:prstGeom prst="circularArrow">
          <a:avLst>
            <a:gd name="adj1" fmla="val 8247"/>
            <a:gd name="adj2" fmla="val 575959"/>
            <a:gd name="adj3" fmla="val 16857398"/>
            <a:gd name="adj4" fmla="val 14966643"/>
            <a:gd name="adj5" fmla="val 962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9CF176CD-15D1-4787-BBAA-B7F61FF9E394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9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09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204755F2-1724-4A9A-9963-AF329A7390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4792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5323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905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15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933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919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036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207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4039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85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9425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5652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3AF1EE-65BA-4140-B6B9-7F82C437F84A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350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lhUoMSahX58?feature=oembed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4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7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24.wmf"/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13.bin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23.wmf"/><Relationship Id="rId5" Type="http://schemas.openxmlformats.org/officeDocument/2006/relationships/image" Target="../media/image20.wmf"/><Relationship Id="rId15" Type="http://schemas.openxmlformats.org/officeDocument/2006/relationships/image" Target="../media/image25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22.wmf"/><Relationship Id="rId14" Type="http://schemas.openxmlformats.org/officeDocument/2006/relationships/oleObject" Target="../embeddings/oleObject1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16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30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7" Type="http://schemas.openxmlformats.org/officeDocument/2006/relationships/image" Target="../media/image27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34.emf"/><Relationship Id="rId4" Type="http://schemas.openxmlformats.org/officeDocument/2006/relationships/oleObject" Target="../embeddings/oleObject22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wmf"/><Relationship Id="rId4" Type="http://schemas.openxmlformats.org/officeDocument/2006/relationships/oleObject" Target="../embeddings/oleObject23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image" Target="../media/image41.wmf"/><Relationship Id="rId3" Type="http://schemas.openxmlformats.org/officeDocument/2006/relationships/image" Target="../media/image37.wmf"/><Relationship Id="rId7" Type="http://schemas.openxmlformats.org/officeDocument/2006/relationships/oleObject" Target="../embeddings/oleObject26.bin"/><Relationship Id="rId12" Type="http://schemas.openxmlformats.org/officeDocument/2006/relationships/oleObject" Target="../embeddings/oleObject28.bin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11" Type="http://schemas.openxmlformats.org/officeDocument/2006/relationships/image" Target="../media/image40.wmf"/><Relationship Id="rId5" Type="http://schemas.openxmlformats.org/officeDocument/2006/relationships/image" Target="../media/image38.wmf"/><Relationship Id="rId15" Type="http://schemas.openxmlformats.org/officeDocument/2006/relationships/image" Target="../media/image42.w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9.png"/><Relationship Id="rId14" Type="http://schemas.openxmlformats.org/officeDocument/2006/relationships/oleObject" Target="../embeddings/oleObject29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image" Target="../media/image38.wmf"/><Relationship Id="rId7" Type="http://schemas.openxmlformats.org/officeDocument/2006/relationships/oleObject" Target="../embeddings/oleObject30.bin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42.wmf"/><Relationship Id="rId4" Type="http://schemas.openxmlformats.org/officeDocument/2006/relationships/image" Target="../media/image31.png"/><Relationship Id="rId9" Type="http://schemas.openxmlformats.org/officeDocument/2006/relationships/oleObject" Target="../embeddings/oleObject29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6.wmf"/><Relationship Id="rId7" Type="http://schemas.openxmlformats.org/officeDocument/2006/relationships/image" Target="../media/image48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47.wmf"/><Relationship Id="rId4" Type="http://schemas.openxmlformats.org/officeDocument/2006/relationships/oleObject" Target="../embeddings/oleObject33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7" Type="http://schemas.openxmlformats.org/officeDocument/2006/relationships/image" Target="../media/image58.png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7" Type="http://schemas.openxmlformats.org/officeDocument/2006/relationships/image" Target="../media/image66.png"/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54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7" Type="http://schemas.openxmlformats.org/officeDocument/2006/relationships/image" Target="../media/image42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68.wmf"/><Relationship Id="rId4" Type="http://schemas.openxmlformats.org/officeDocument/2006/relationships/oleObject" Target="../embeddings/oleObject38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0.png"/><Relationship Id="rId7" Type="http://schemas.openxmlformats.org/officeDocument/2006/relationships/image" Target="../media/image7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9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75.wmf"/><Relationship Id="rId4" Type="http://schemas.openxmlformats.org/officeDocument/2006/relationships/image" Target="../media/image72.wmf"/><Relationship Id="rId9" Type="http://schemas.openxmlformats.org/officeDocument/2006/relationships/oleObject" Target="../embeddings/oleObject42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3.bin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72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wmf"/><Relationship Id="rId7" Type="http://schemas.openxmlformats.org/officeDocument/2006/relationships/image" Target="../media/image81.png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7" Type="http://schemas.openxmlformats.org/officeDocument/2006/relationships/image" Target="../media/image86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85.wmf"/><Relationship Id="rId4" Type="http://schemas.openxmlformats.org/officeDocument/2006/relationships/oleObject" Target="../embeddings/oleObject47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3" Type="http://schemas.openxmlformats.org/officeDocument/2006/relationships/image" Target="../media/image87.wmf"/><Relationship Id="rId7" Type="http://schemas.openxmlformats.org/officeDocument/2006/relationships/image" Target="../media/image89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91.emf"/><Relationship Id="rId5" Type="http://schemas.openxmlformats.org/officeDocument/2006/relationships/image" Target="../media/image88.wmf"/><Relationship Id="rId10" Type="http://schemas.openxmlformats.org/officeDocument/2006/relationships/oleObject" Target="../embeddings/oleObject53.bin"/><Relationship Id="rId4" Type="http://schemas.openxmlformats.org/officeDocument/2006/relationships/oleObject" Target="../embeddings/oleObject50.bin"/><Relationship Id="rId9" Type="http://schemas.openxmlformats.org/officeDocument/2006/relationships/image" Target="../media/image90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13" Type="http://schemas.openxmlformats.org/officeDocument/2006/relationships/image" Target="../media/image96.wmf"/><Relationship Id="rId3" Type="http://schemas.openxmlformats.org/officeDocument/2006/relationships/oleObject" Target="../embeddings/oleObject49.bin"/><Relationship Id="rId7" Type="http://schemas.openxmlformats.org/officeDocument/2006/relationships/image" Target="../media/image93.png"/><Relationship Id="rId12" Type="http://schemas.openxmlformats.org/officeDocument/2006/relationships/oleObject" Target="../embeddings/oleObject57.bin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2.wmf"/><Relationship Id="rId11" Type="http://schemas.openxmlformats.org/officeDocument/2006/relationships/image" Target="../media/image95.wmf"/><Relationship Id="rId5" Type="http://schemas.openxmlformats.org/officeDocument/2006/relationships/oleObject" Target="../embeddings/oleObject54.bin"/><Relationship Id="rId15" Type="http://schemas.openxmlformats.org/officeDocument/2006/relationships/image" Target="../media/image97.wmf"/><Relationship Id="rId10" Type="http://schemas.openxmlformats.org/officeDocument/2006/relationships/oleObject" Target="../embeddings/oleObject56.bin"/><Relationship Id="rId4" Type="http://schemas.openxmlformats.org/officeDocument/2006/relationships/image" Target="../media/image87.wmf"/><Relationship Id="rId9" Type="http://schemas.openxmlformats.org/officeDocument/2006/relationships/image" Target="../media/image94.wmf"/><Relationship Id="rId14" Type="http://schemas.openxmlformats.org/officeDocument/2006/relationships/oleObject" Target="../embeddings/oleObject58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image" Target="../media/image102.wmf"/><Relationship Id="rId3" Type="http://schemas.openxmlformats.org/officeDocument/2006/relationships/image" Target="../media/image98.wmf"/><Relationship Id="rId7" Type="http://schemas.openxmlformats.org/officeDocument/2006/relationships/image" Target="../media/image99.wmf"/><Relationship Id="rId12" Type="http://schemas.openxmlformats.org/officeDocument/2006/relationships/oleObject" Target="../embeddings/oleObject63.bin"/><Relationship Id="rId17" Type="http://schemas.openxmlformats.org/officeDocument/2006/relationships/image" Target="../media/image104.wmf"/><Relationship Id="rId2" Type="http://schemas.openxmlformats.org/officeDocument/2006/relationships/oleObject" Target="../embeddings/oleObject59.bin"/><Relationship Id="rId16" Type="http://schemas.openxmlformats.org/officeDocument/2006/relationships/oleObject" Target="../embeddings/oleObject65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101.wmf"/><Relationship Id="rId5" Type="http://schemas.openxmlformats.org/officeDocument/2006/relationships/image" Target="../media/image89.wmf"/><Relationship Id="rId15" Type="http://schemas.openxmlformats.org/officeDocument/2006/relationships/image" Target="../media/image103.wmf"/><Relationship Id="rId10" Type="http://schemas.openxmlformats.org/officeDocument/2006/relationships/oleObject" Target="../embeddings/oleObject62.bin"/><Relationship Id="rId4" Type="http://schemas.openxmlformats.org/officeDocument/2006/relationships/oleObject" Target="../embeddings/oleObject51.bin"/><Relationship Id="rId9" Type="http://schemas.openxmlformats.org/officeDocument/2006/relationships/image" Target="../media/image100.wmf"/><Relationship Id="rId14" Type="http://schemas.openxmlformats.org/officeDocument/2006/relationships/oleObject" Target="../embeddings/oleObject64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5.wmf"/><Relationship Id="rId7" Type="http://schemas.openxmlformats.org/officeDocument/2006/relationships/image" Target="../media/image107.wmf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8.bin"/><Relationship Id="rId5" Type="http://schemas.openxmlformats.org/officeDocument/2006/relationships/image" Target="../media/image106.wmf"/><Relationship Id="rId4" Type="http://schemas.openxmlformats.org/officeDocument/2006/relationships/oleObject" Target="../embeddings/oleObject67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0.bin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109.wmf"/><Relationship Id="rId9" Type="http://schemas.openxmlformats.org/officeDocument/2006/relationships/image" Target="../media/image111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3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4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wm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hyperlink" Target="https://preliz.readthedocs.io/en/latest/gallery_content.html" TargetMode="Externa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hyperlink" Target="https://preliz.readthedocs.io/en/latest/index.html" TargetMode="Externa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Statistics</a:t>
            </a:r>
            <a:br>
              <a:rPr lang="en-US"/>
            </a:br>
            <a:r>
              <a:rPr lang="en-US"/>
              <a:t>367-1-4361</a:t>
            </a:r>
            <a:br>
              <a:rPr lang="en-US"/>
            </a:br>
            <a:r>
              <a:rPr lang="en-US"/>
              <a:t>Models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5400"/>
              <a:t>Opher Donchin</a:t>
            </a:r>
            <a:endParaRPr lang="en-GB" sz="5400"/>
          </a:p>
        </p:txBody>
      </p:sp>
    </p:spTree>
    <p:extLst>
      <p:ext uri="{BB962C8B-B14F-4D97-AF65-F5344CB8AC3E}">
        <p14:creationId xmlns:p14="http://schemas.microsoft.com/office/powerpoint/2010/main" val="2095873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62"/>
    </mc:Choice>
    <mc:Fallback xmlns="">
      <p:transition spd="slow" advTm="886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D2BB8B-9BA0-B3E5-40DF-22284AF7E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EB2D6-38D8-644F-7565-50537EB17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2.1 What is a statistical model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814C1-89B1-DF12-3D69-06809BDC9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Estimation, models, and generative thinking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1819277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271" y="496596"/>
            <a:ext cx="11531261" cy="580618"/>
          </a:xfrm>
        </p:spPr>
        <p:txBody>
          <a:bodyPr>
            <a:noAutofit/>
          </a:bodyPr>
          <a:lstStyle/>
          <a:p>
            <a:r>
              <a:rPr lang="en-US" sz="3600" dirty="0"/>
              <a:t>A statistical model is an idea of how data could be generated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1272" y="1853946"/>
            <a:ext cx="8229600" cy="3529558"/>
          </a:xfrm>
        </p:spPr>
        <p:txBody>
          <a:bodyPr/>
          <a:lstStyle/>
          <a:p>
            <a:r>
              <a:rPr lang="en-US" dirty="0"/>
              <a:t>Data is generated stochastically (probabilistically):</a:t>
            </a:r>
          </a:p>
          <a:p>
            <a:r>
              <a:rPr lang="en-US" dirty="0"/>
              <a:t>To describe that process, we need:</a:t>
            </a:r>
          </a:p>
          <a:p>
            <a:pPr lvl="1"/>
            <a:r>
              <a:rPr lang="en-US" dirty="0"/>
              <a:t>A particular distribution</a:t>
            </a:r>
          </a:p>
          <a:p>
            <a:pPr lvl="1"/>
            <a:r>
              <a:rPr lang="en-US" dirty="0"/>
              <a:t>Defined by specific parameters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analysis, 2022-2, 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B8DD49-3682-4EAC-99AF-5291F90FF75C}" type="slidenum">
              <a:rPr lang="he-IL" altLang="en-US" smtClean="0"/>
              <a:pPr>
                <a:defRPr/>
              </a:pPr>
              <a:t>3</a:t>
            </a:fld>
            <a:r>
              <a:rPr lang="en-US" altLang="en-US"/>
              <a:t> /  72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E0F7C0-75BA-9BF5-A0E2-D93F7B0C6E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35" r="25904" b="9101"/>
          <a:stretch/>
        </p:blipFill>
        <p:spPr>
          <a:xfrm>
            <a:off x="1423416" y="3825525"/>
            <a:ext cx="3123184" cy="27133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5DC1F9-156E-909C-13CD-CBBF7CC819D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7177" y="3154976"/>
            <a:ext cx="6708858" cy="300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992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8E0D6-578F-62D6-D0B7-973384F8A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733" y="365125"/>
            <a:ext cx="11912600" cy="702945"/>
          </a:xfrm>
        </p:spPr>
        <p:txBody>
          <a:bodyPr>
            <a:normAutofit/>
          </a:bodyPr>
          <a:lstStyle/>
          <a:p>
            <a:r>
              <a:rPr lang="en-US" sz="3600" dirty="0"/>
              <a:t>Very early, models of the world used in estimation</a:t>
            </a:r>
            <a:endParaRPr lang="en-IL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169FF-18FA-ADB3-93A5-053F02A6B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346" y="1322302"/>
            <a:ext cx="10515600" cy="1798108"/>
          </a:xfrm>
        </p:spPr>
        <p:txBody>
          <a:bodyPr>
            <a:normAutofit/>
          </a:bodyPr>
          <a:lstStyle/>
          <a:p>
            <a:r>
              <a:rPr lang="en-US" dirty="0"/>
              <a:t>Early researchers realized noisy data could be used for estimation</a:t>
            </a:r>
          </a:p>
          <a:p>
            <a:pPr lvl="1"/>
            <a:r>
              <a:rPr lang="en-US" dirty="0"/>
              <a:t>Laplace used Bayes’ rule (1812) </a:t>
            </a:r>
          </a:p>
          <a:p>
            <a:pPr lvl="2"/>
            <a:r>
              <a:rPr lang="en-US" dirty="0"/>
              <a:t>Estimate parameters of planetary orbits</a:t>
            </a:r>
          </a:p>
          <a:p>
            <a:pPr lvl="2"/>
            <a:r>
              <a:rPr lang="en-US" dirty="0"/>
              <a:t>Explicit mathematical model and inverse probability</a:t>
            </a:r>
          </a:p>
          <a:p>
            <a:endParaRPr lang="en-US" dirty="0"/>
          </a:p>
        </p:txBody>
      </p:sp>
      <p:pic>
        <p:nvPicPr>
          <p:cNvPr id="1026" name="Picture 2" descr="Laplace Method of Heliocentric Orbit Determination in our Solar System">
            <a:extLst>
              <a:ext uri="{FF2B5EF4-FFF2-40B4-BE49-F238E27FC236}">
                <a16:creationId xmlns:a16="http://schemas.microsoft.com/office/drawing/2014/main" id="{D341CB92-88F4-33AF-D7FB-9AB86B7D1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46" y="4070800"/>
            <a:ext cx="4181642" cy="242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673F0D19-81ED-0301-216F-BFA41696DBB3}"/>
              </a:ext>
            </a:extLst>
          </p:cNvPr>
          <p:cNvSpPr/>
          <p:nvPr/>
        </p:nvSpPr>
        <p:spPr>
          <a:xfrm>
            <a:off x="4783667" y="5074404"/>
            <a:ext cx="778933" cy="4148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A80568-9375-CDA7-5D34-7FDF53DF6D75}"/>
              </a:ext>
            </a:extLst>
          </p:cNvPr>
          <p:cNvSpPr/>
          <p:nvPr/>
        </p:nvSpPr>
        <p:spPr>
          <a:xfrm>
            <a:off x="5456421" y="4820172"/>
            <a:ext cx="388689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Observations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8A08441-E48B-43B9-0567-F6590ED725DA}"/>
              </a:ext>
            </a:extLst>
          </p:cNvPr>
          <p:cNvSpPr/>
          <p:nvPr/>
        </p:nvSpPr>
        <p:spPr>
          <a:xfrm>
            <a:off x="9343319" y="5074404"/>
            <a:ext cx="778933" cy="4148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716E287-DB13-021A-509E-AAEF34B27B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14000" y="4889395"/>
          <a:ext cx="1049008" cy="702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62729" imgH="308853" progId="Equation.DSMT4">
                  <p:embed/>
                </p:oleObj>
              </mc:Choice>
              <mc:Fallback>
                <p:oleObj name="Equation" r:id="rId3" imgW="462729" imgH="308853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2716E287-DB13-021A-509E-AAEF34B27B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14000" y="4889395"/>
                        <a:ext cx="1049008" cy="7029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8078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9067E-E91F-712C-EE59-1D5ED49B6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5BA5-FE87-B419-AB9A-024F69438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70" y="365125"/>
            <a:ext cx="11936430" cy="1082675"/>
          </a:xfrm>
        </p:spPr>
        <p:txBody>
          <a:bodyPr>
            <a:noAutofit/>
          </a:bodyPr>
          <a:lstStyle/>
          <a:p>
            <a:r>
              <a:rPr lang="en-US" sz="3600" dirty="0"/>
              <a:t>In search for objectivity, estimation overshadowed modeling</a:t>
            </a:r>
            <a:endParaRPr lang="en-IL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72B1B-547B-0D81-71A9-35DE11708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1333"/>
            <a:ext cx="8541299" cy="4106334"/>
          </a:xfrm>
        </p:spPr>
        <p:txBody>
          <a:bodyPr>
            <a:normAutofit/>
          </a:bodyPr>
          <a:lstStyle/>
          <a:p>
            <a:r>
              <a:rPr lang="en-US" dirty="0"/>
              <a:t>Stepping away from models</a:t>
            </a:r>
          </a:p>
          <a:p>
            <a:pPr lvl="1"/>
            <a:r>
              <a:rPr lang="en-US" dirty="0"/>
              <a:t>Models made sense for physical sciences</a:t>
            </a:r>
          </a:p>
          <a:p>
            <a:pPr lvl="1"/>
            <a:r>
              <a:rPr lang="en-US" dirty="0"/>
              <a:t>Racial “scientists” wanted to estimate abstract relations</a:t>
            </a:r>
          </a:p>
          <a:p>
            <a:pPr lvl="2"/>
            <a:r>
              <a:rPr lang="en-US" dirty="0"/>
              <a:t>Adolphe </a:t>
            </a:r>
            <a:r>
              <a:rPr lang="en-US" dirty="0" err="1"/>
              <a:t>Quetelet</a:t>
            </a:r>
            <a:r>
              <a:rPr lang="en-US" dirty="0"/>
              <a:t> (1835) estimated height of “average man”</a:t>
            </a:r>
          </a:p>
          <a:p>
            <a:pPr lvl="2"/>
            <a:r>
              <a:rPr lang="en-US" dirty="0"/>
              <a:t>Francis Galton (1869) : correlation of head size and intelligence</a:t>
            </a:r>
          </a:p>
          <a:p>
            <a:pPr lvl="2"/>
            <a:r>
              <a:rPr lang="en-US" dirty="0"/>
              <a:t>Karl Pearson (1890) : optimal estimates given noisy data</a:t>
            </a:r>
          </a:p>
          <a:p>
            <a:pPr lvl="1"/>
            <a:r>
              <a:rPr lang="en-US" dirty="0"/>
              <a:t>Frequentist statistics focuses on the behavior of “estimators”</a:t>
            </a:r>
          </a:p>
          <a:p>
            <a:pPr lvl="2"/>
            <a:r>
              <a:rPr lang="en-US" dirty="0"/>
              <a:t>An interest in “average man”</a:t>
            </a:r>
          </a:p>
          <a:p>
            <a:pPr lvl="2"/>
            <a:r>
              <a:rPr lang="en-US" dirty="0"/>
              <a:t>Something that can’t be modelled</a:t>
            </a:r>
          </a:p>
          <a:p>
            <a:pPr lvl="3"/>
            <a:r>
              <a:rPr lang="en-US" dirty="0"/>
              <a:t>A summary</a:t>
            </a:r>
          </a:p>
          <a:p>
            <a:pPr lvl="3"/>
            <a:r>
              <a:rPr lang="en-US" dirty="0"/>
              <a:t>Not a real physical process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3AC0AC-8BA0-8232-7870-B50A1B9CD480}"/>
              </a:ext>
            </a:extLst>
          </p:cNvPr>
          <p:cNvGrpSpPr/>
          <p:nvPr/>
        </p:nvGrpSpPr>
        <p:grpSpPr>
          <a:xfrm>
            <a:off x="9144000" y="1871133"/>
            <a:ext cx="2809365" cy="3937000"/>
            <a:chOff x="4775200" y="0"/>
            <a:chExt cx="4893733" cy="6858000"/>
          </a:xfrm>
        </p:grpSpPr>
        <p:pic>
          <p:nvPicPr>
            <p:cNvPr id="2052" name="Picture 4" descr="A photograph of a 1943 white alabaster statue entitled “Normman,” based on the measurements of 15,000 men.">
              <a:extLst>
                <a:ext uri="{FF2B5EF4-FFF2-40B4-BE49-F238E27FC236}">
                  <a16:creationId xmlns:a16="http://schemas.microsoft.com/office/drawing/2014/main" id="{A06307F1-D033-0EEA-B350-EA263C19337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382933" y="0"/>
              <a:ext cx="2286000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A photograph of a 1943 white alabaster statue entitled “Norma,” based on the measurements of 15,000 women.">
              <a:extLst>
                <a:ext uri="{FF2B5EF4-FFF2-40B4-BE49-F238E27FC236}">
                  <a16:creationId xmlns:a16="http://schemas.microsoft.com/office/drawing/2014/main" id="{7D98A1C6-A33A-50A9-2A8F-B9C861400DD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4775200" y="0"/>
              <a:ext cx="2607733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92481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A8BA36E-9D80-17F2-3C16-3CE871478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7B349-0318-4244-396F-B730F9687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Estimators as a goal of data analysis</a:t>
            </a:r>
            <a:endParaRPr lang="en-IL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E6D9A9A-1475-B447-E8FC-0FA1E3C7628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487055"/>
          <a:ext cx="10993582" cy="51354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EDF34109-6075-2C21-FCB5-746C634A2807}"/>
              </a:ext>
            </a:extLst>
          </p:cNvPr>
          <p:cNvSpPr/>
          <p:nvPr/>
        </p:nvSpPr>
        <p:spPr>
          <a:xfrm>
            <a:off x="5375563" y="2932691"/>
            <a:ext cx="1847273" cy="142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Parameter</a:t>
            </a:r>
            <a:endParaRPr lang="en-IL" sz="200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3FDDACE-ED98-9364-E817-3C5ACFBD2C8C}"/>
              </a:ext>
            </a:extLst>
          </p:cNvPr>
          <p:cNvSpPr/>
          <p:nvPr/>
        </p:nvSpPr>
        <p:spPr>
          <a:xfrm rot="19524971">
            <a:off x="7104599" y="2885629"/>
            <a:ext cx="544780" cy="496309"/>
          </a:xfrm>
          <a:custGeom>
            <a:avLst/>
            <a:gdLst>
              <a:gd name="csX0" fmla="*/ 0 w 544780"/>
              <a:gd name="csY0" fmla="*/ 124077 h 496309"/>
              <a:gd name="csX1" fmla="*/ 296626 w 544780"/>
              <a:gd name="csY1" fmla="*/ 124077 h 496309"/>
              <a:gd name="csX2" fmla="*/ 296626 w 544780"/>
              <a:gd name="csY2" fmla="*/ 0 h 496309"/>
              <a:gd name="csX3" fmla="*/ 544780 w 544780"/>
              <a:gd name="csY3" fmla="*/ 248155 h 496309"/>
              <a:gd name="csX4" fmla="*/ 296626 w 544780"/>
              <a:gd name="csY4" fmla="*/ 496309 h 496309"/>
              <a:gd name="csX5" fmla="*/ 296626 w 544780"/>
              <a:gd name="csY5" fmla="*/ 372232 h 496309"/>
              <a:gd name="csX6" fmla="*/ 0 w 544780"/>
              <a:gd name="csY6" fmla="*/ 372232 h 496309"/>
              <a:gd name="csX7" fmla="*/ 0 w 544780"/>
              <a:gd name="csY7" fmla="*/ 124077 h 4963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44780" h="496309" fill="none" extrusionOk="0">
                <a:moveTo>
                  <a:pt x="0" y="124077"/>
                </a:moveTo>
                <a:cubicBezTo>
                  <a:pt x="142556" y="114569"/>
                  <a:pt x="176298" y="128581"/>
                  <a:pt x="296626" y="124077"/>
                </a:cubicBezTo>
                <a:cubicBezTo>
                  <a:pt x="289588" y="93364"/>
                  <a:pt x="305916" y="43673"/>
                  <a:pt x="296626" y="0"/>
                </a:cubicBezTo>
                <a:cubicBezTo>
                  <a:pt x="429523" y="108844"/>
                  <a:pt x="421933" y="148288"/>
                  <a:pt x="544780" y="248155"/>
                </a:cubicBezTo>
                <a:cubicBezTo>
                  <a:pt x="510138" y="340640"/>
                  <a:pt x="352649" y="412891"/>
                  <a:pt x="296626" y="496309"/>
                </a:cubicBezTo>
                <a:cubicBezTo>
                  <a:pt x="291721" y="464195"/>
                  <a:pt x="298755" y="404956"/>
                  <a:pt x="296626" y="372232"/>
                </a:cubicBezTo>
                <a:cubicBezTo>
                  <a:pt x="215849" y="381008"/>
                  <a:pt x="89080" y="356440"/>
                  <a:pt x="0" y="372232"/>
                </a:cubicBezTo>
                <a:cubicBezTo>
                  <a:pt x="-5025" y="268585"/>
                  <a:pt x="5162" y="220228"/>
                  <a:pt x="0" y="124077"/>
                </a:cubicBezTo>
                <a:close/>
              </a:path>
              <a:path w="544780" h="496309" stroke="0" extrusionOk="0">
                <a:moveTo>
                  <a:pt x="0" y="124077"/>
                </a:moveTo>
                <a:cubicBezTo>
                  <a:pt x="99332" y="99042"/>
                  <a:pt x="208766" y="145375"/>
                  <a:pt x="296626" y="124077"/>
                </a:cubicBezTo>
                <a:cubicBezTo>
                  <a:pt x="295205" y="88158"/>
                  <a:pt x="310090" y="31397"/>
                  <a:pt x="296626" y="0"/>
                </a:cubicBezTo>
                <a:cubicBezTo>
                  <a:pt x="349357" y="50713"/>
                  <a:pt x="429124" y="133730"/>
                  <a:pt x="544780" y="248155"/>
                </a:cubicBezTo>
                <a:cubicBezTo>
                  <a:pt x="443208" y="352660"/>
                  <a:pt x="364943" y="375623"/>
                  <a:pt x="296626" y="496309"/>
                </a:cubicBezTo>
                <a:cubicBezTo>
                  <a:pt x="289817" y="454147"/>
                  <a:pt x="299873" y="406381"/>
                  <a:pt x="296626" y="372232"/>
                </a:cubicBezTo>
                <a:cubicBezTo>
                  <a:pt x="200863" y="384821"/>
                  <a:pt x="102804" y="350361"/>
                  <a:pt x="0" y="372232"/>
                </a:cubicBezTo>
                <a:cubicBezTo>
                  <a:pt x="-20037" y="311434"/>
                  <a:pt x="27198" y="190443"/>
                  <a:pt x="0" y="124077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28575">
            <a:extLst>
              <a:ext uri="{C807C97D-BFC1-408E-A445-0C87EB9F89A2}">
                <ask:lineSketchStyleProps xmlns:ask="http://schemas.microsoft.com/office/drawing/2018/sketchyshapes" sd="2642059119">
                  <a:prstGeom prst="rightArrow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929E9A-B44C-07CC-2B9C-91F8B7A57115}"/>
              </a:ext>
            </a:extLst>
          </p:cNvPr>
          <p:cNvGrpSpPr/>
          <p:nvPr/>
        </p:nvGrpSpPr>
        <p:grpSpPr>
          <a:xfrm>
            <a:off x="3886200" y="3556000"/>
            <a:ext cx="1710266" cy="2489200"/>
            <a:chOff x="3886200" y="3556000"/>
            <a:chExt cx="1710266" cy="24892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1CABE8D-FED0-9280-50D6-25194C812C84}"/>
                </a:ext>
              </a:extLst>
            </p:cNvPr>
            <p:cNvSpPr/>
            <p:nvPr/>
          </p:nvSpPr>
          <p:spPr>
            <a:xfrm>
              <a:off x="3886200" y="3556000"/>
              <a:ext cx="1286933" cy="2489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5A20A13-0D2C-7DB5-24BB-127AC391B634}"/>
                </a:ext>
              </a:extLst>
            </p:cNvPr>
            <p:cNvSpPr/>
            <p:nvPr/>
          </p:nvSpPr>
          <p:spPr>
            <a:xfrm>
              <a:off x="5173133" y="4713337"/>
              <a:ext cx="423333" cy="883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3548840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53807-D752-6ABE-8A74-CB6D2431B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66DB3-9714-ADB0-3791-A2272DE96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85" y="335841"/>
            <a:ext cx="800393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Models re-emerge in likelihood methods</a:t>
            </a:r>
            <a:endParaRPr lang="en-IL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8D6FC-C5AA-6A0E-96F7-AC1E77FD3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55467" cy="3178175"/>
          </a:xfrm>
        </p:spPr>
        <p:txBody>
          <a:bodyPr>
            <a:normAutofit/>
          </a:bodyPr>
          <a:lstStyle/>
          <a:p>
            <a:r>
              <a:rPr lang="en-US" sz="3200" dirty="0"/>
              <a:t>Stepping back towards models</a:t>
            </a:r>
          </a:p>
          <a:p>
            <a:pPr lvl="1"/>
            <a:r>
              <a:rPr lang="en-US" sz="2800" dirty="0"/>
              <a:t>Ronald Fisher </a:t>
            </a:r>
          </a:p>
          <a:p>
            <a:pPr lvl="2"/>
            <a:r>
              <a:rPr lang="en-US" sz="2400" dirty="0"/>
              <a:t>The Design of Experiments (1935)</a:t>
            </a:r>
          </a:p>
          <a:p>
            <a:pPr lvl="3"/>
            <a:r>
              <a:rPr lang="en-US" sz="2200" dirty="0"/>
              <a:t>Objectivity with political impact</a:t>
            </a:r>
          </a:p>
          <a:p>
            <a:pPr lvl="2"/>
            <a:r>
              <a:rPr lang="en-US" sz="2400" dirty="0"/>
              <a:t>Made likelihood central</a:t>
            </a:r>
          </a:p>
          <a:p>
            <a:pPr lvl="2"/>
            <a:r>
              <a:rPr lang="en-US" sz="2400" dirty="0"/>
              <a:t>Likelihood links parameter values to observed data</a:t>
            </a:r>
          </a:p>
          <a:p>
            <a:pPr lvl="2"/>
            <a:r>
              <a:rPr lang="en-US" sz="2400" dirty="0"/>
              <a:t>Models return as useful tools</a:t>
            </a:r>
            <a:endParaRPr lang="en-US" sz="2000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1AE53CA-4EF9-4F9C-08D4-7CDB2B6B55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30242" y="4148712"/>
          <a:ext cx="284162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253800" progId="Equation.DSMT4">
                  <p:embed/>
                </p:oleObj>
              </mc:Choice>
              <mc:Fallback>
                <p:oleObj name="Equation" r:id="rId2" imgW="1295280" imgH="2538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B1AE53CA-4EF9-4F9C-08D4-7CDB2B6B55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30242" y="4148712"/>
                        <a:ext cx="2841625" cy="557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43337C2-7949-2724-D738-873543964DB1}"/>
              </a:ext>
            </a:extLst>
          </p:cNvPr>
          <p:cNvSpPr/>
          <p:nvPr/>
        </p:nvSpPr>
        <p:spPr>
          <a:xfrm>
            <a:off x="9355910" y="3563937"/>
            <a:ext cx="197249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Likelihood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324A5A-7165-3310-5AEA-F2CB6015EA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739" r="29280" b="15363"/>
          <a:stretch/>
        </p:blipFill>
        <p:spPr>
          <a:xfrm>
            <a:off x="8173915" y="171620"/>
            <a:ext cx="3624628" cy="325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630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9D5D5-3FD8-EC98-4646-FF32F8F11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A47D-D2A7-1F83-3F13-A89F4A825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61" y="250825"/>
            <a:ext cx="10738339" cy="1325563"/>
          </a:xfrm>
        </p:spPr>
        <p:txBody>
          <a:bodyPr>
            <a:normAutofit/>
          </a:bodyPr>
          <a:lstStyle/>
          <a:p>
            <a:r>
              <a:rPr lang="en-US" dirty="0"/>
              <a:t>Models are not just tools for estimation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FE864-B2DD-76E1-4A65-7490A747E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67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/>
              <a:t>Harold Jeffreys</a:t>
            </a:r>
          </a:p>
          <a:p>
            <a:pPr lvl="2"/>
            <a:r>
              <a:rPr lang="en-US" sz="2400" dirty="0"/>
              <a:t>Theory of probability (1939)</a:t>
            </a:r>
          </a:p>
          <a:p>
            <a:pPr lvl="2"/>
            <a:r>
              <a:rPr lang="en-US" sz="2400" dirty="0"/>
              <a:t>Models express current scientific understanding</a:t>
            </a:r>
          </a:p>
          <a:p>
            <a:pPr lvl="2"/>
            <a:r>
              <a:rPr lang="en-US" sz="2400" dirty="0"/>
              <a:t>Data updates beliefs within the model</a:t>
            </a:r>
          </a:p>
          <a:p>
            <a:pPr lvl="1"/>
            <a:r>
              <a:rPr lang="en-US" sz="2800" dirty="0"/>
              <a:t>Working on internal structure of the earth from seismic waves</a:t>
            </a:r>
          </a:p>
          <a:p>
            <a:pPr lvl="2"/>
            <a:r>
              <a:rPr lang="en-US" sz="2400" dirty="0"/>
              <a:t>Parameters always have uncertainty</a:t>
            </a:r>
          </a:p>
          <a:p>
            <a:pPr lvl="2"/>
            <a:r>
              <a:rPr lang="en-US" sz="2400" dirty="0"/>
              <a:t>They are random variables</a:t>
            </a:r>
          </a:p>
          <a:p>
            <a:pPr lvl="3"/>
            <a:endParaRPr lang="en-US" sz="2200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215D9E9-C9A0-04AB-9822-A4D1463242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4024582"/>
              </p:ext>
            </p:extLst>
          </p:nvPr>
        </p:nvGraphicFramePr>
        <p:xfrm>
          <a:off x="1709694" y="5619751"/>
          <a:ext cx="7940271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19440" imgH="253800" progId="Equation.DSMT4">
                  <p:embed/>
                </p:oleObj>
              </mc:Choice>
              <mc:Fallback>
                <p:oleObj name="Equation" r:id="rId2" imgW="3619440" imgH="2538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2215D9E9-C9A0-04AB-9822-A4D1463242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09694" y="5619751"/>
                        <a:ext cx="7940271" cy="557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0700615-604B-FBAC-9749-5FE5B5286A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235" r="25904" b="9101"/>
          <a:stretch/>
        </p:blipFill>
        <p:spPr>
          <a:xfrm>
            <a:off x="9068477" y="1148766"/>
            <a:ext cx="2962656" cy="257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0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38D9D-FB41-7EDB-1BBD-6BF3CE03C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model is an idea of how data is generated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416BB-BFA1-F398-426C-2EEEA5B1B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858164" cy="466725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It has:</a:t>
            </a:r>
          </a:p>
          <a:p>
            <a:pPr lvl="1"/>
            <a:r>
              <a:rPr lang="en-US" dirty="0"/>
              <a:t>Probability distributions</a:t>
            </a:r>
          </a:p>
          <a:p>
            <a:pPr lvl="1"/>
            <a:r>
              <a:rPr lang="en-US" dirty="0"/>
              <a:t>Parameters</a:t>
            </a:r>
          </a:p>
          <a:p>
            <a:r>
              <a:rPr lang="en-US" dirty="0"/>
              <a:t>12 Angry Men:</a:t>
            </a:r>
          </a:p>
          <a:p>
            <a:pPr lvl="1"/>
            <a:r>
              <a:rPr lang="en-US" dirty="0"/>
              <a:t>Woman on train</a:t>
            </a:r>
          </a:p>
          <a:p>
            <a:pPr lvl="2"/>
            <a:r>
              <a:rPr lang="en-US" dirty="0"/>
              <a:t>Saw the boy stab his father</a:t>
            </a:r>
          </a:p>
          <a:p>
            <a:pPr lvl="1"/>
            <a:r>
              <a:rPr lang="en-US" dirty="0"/>
              <a:t>Man downstairs</a:t>
            </a:r>
          </a:p>
          <a:p>
            <a:pPr lvl="2"/>
            <a:r>
              <a:rPr lang="en-US" dirty="0"/>
              <a:t>Heard boy say “I’ll kill you”</a:t>
            </a:r>
          </a:p>
          <a:p>
            <a:pPr lvl="2"/>
            <a:r>
              <a:rPr lang="en-US" dirty="0"/>
              <a:t>Saw boy run down stairs</a:t>
            </a:r>
          </a:p>
          <a:p>
            <a:pPr lvl="1"/>
            <a:r>
              <a:rPr lang="en-US" dirty="0"/>
              <a:t>Weapon was switchblade </a:t>
            </a:r>
          </a:p>
          <a:p>
            <a:pPr lvl="2"/>
            <a:r>
              <a:rPr lang="en-US" dirty="0"/>
              <a:t>Like one owned by boy</a:t>
            </a:r>
          </a:p>
          <a:p>
            <a:pPr lvl="1"/>
            <a:r>
              <a:rPr lang="en-US" dirty="0"/>
              <a:t>Weak alibi</a:t>
            </a:r>
          </a:p>
        </p:txBody>
      </p:sp>
      <p:pic>
        <p:nvPicPr>
          <p:cNvPr id="1026" name="Picture 2" descr="Sidney, it's brilliant: 12 Angry Men (1957) – I Hated Black And White Movies">
            <a:extLst>
              <a:ext uri="{FF2B5EF4-FFF2-40B4-BE49-F238E27FC236}">
                <a16:creationId xmlns:a16="http://schemas.microsoft.com/office/drawing/2014/main" id="{3478025B-84E4-DB57-2699-5AA43FB92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6814" y="1552142"/>
            <a:ext cx="6255588" cy="3509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0903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43671-2C5A-881D-3837-1E6798FAD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5975"/>
          </a:xfrm>
        </p:spPr>
        <p:txBody>
          <a:bodyPr/>
          <a:lstStyle/>
          <a:p>
            <a:r>
              <a:rPr lang="en-US" dirty="0"/>
              <a:t>Evidence causes updating!</a:t>
            </a:r>
            <a:endParaRPr lang="en-IL" dirty="0"/>
          </a:p>
        </p:txBody>
      </p:sp>
      <p:pic>
        <p:nvPicPr>
          <p:cNvPr id="4" name="Online Media 3" title="12 ANGRY MEN (1957) | Knife Scene | MGM">
            <a:hlinkClick r:id="" action="ppaction://media"/>
            <a:extLst>
              <a:ext uri="{FF2B5EF4-FFF2-40B4-BE49-F238E27FC236}">
                <a16:creationId xmlns:a16="http://schemas.microsoft.com/office/drawing/2014/main" id="{EE91C467-CC1F-8940-DA88-A3FDE2FF65B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371600" y="1262440"/>
            <a:ext cx="9296400" cy="524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387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9BE3D-00D1-26C1-9A34-81836F516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0240E-1E96-E4E8-891E-2038CCB7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evidence causes model updating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538A4-90FC-F95F-D293-16699CB29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453270" cy="3940175"/>
          </a:xfrm>
        </p:spPr>
        <p:txBody>
          <a:bodyPr>
            <a:normAutofit/>
          </a:bodyPr>
          <a:lstStyle/>
          <a:p>
            <a:r>
              <a:rPr lang="en-US" dirty="0"/>
              <a:t>Evidence accumulates:</a:t>
            </a:r>
          </a:p>
          <a:p>
            <a:pPr lvl="1"/>
            <a:r>
              <a:rPr lang="en-US" dirty="0"/>
              <a:t>Similar knife is easy to find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dirty="0"/>
              <a:t>Jurors slowly become convinced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IL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C2EC77-960D-B559-253E-DCD527D6B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882509" y="1690688"/>
            <a:ext cx="5877691" cy="3869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4B5607-C95B-D04B-0ACE-D7F63909C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807172"/>
              </p:ext>
            </p:extLst>
          </p:nvPr>
        </p:nvGraphicFramePr>
        <p:xfrm>
          <a:off x="618836" y="3933920"/>
          <a:ext cx="1727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927">
                  <a:extLst>
                    <a:ext uri="{9D8B030D-6E8A-4147-A177-3AD203B41FA5}">
                      <a16:colId xmlns:a16="http://schemas.microsoft.com/office/drawing/2014/main" val="2183886238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11458023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Vote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764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0:06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11:1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17184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ED438A-CE62-2812-C16F-3AB204668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234896"/>
              </p:ext>
            </p:extLst>
          </p:nvPr>
        </p:nvGraphicFramePr>
        <p:xfrm>
          <a:off x="618836" y="4675600"/>
          <a:ext cx="1727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927">
                  <a:extLst>
                    <a:ext uri="{9D8B030D-6E8A-4147-A177-3AD203B41FA5}">
                      <a16:colId xmlns:a16="http://schemas.microsoft.com/office/drawing/2014/main" val="2183886238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11458023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0:28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10:2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17184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C16607E-0267-5327-D4FA-262CECFDA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390479"/>
              </p:ext>
            </p:extLst>
          </p:nvPr>
        </p:nvGraphicFramePr>
        <p:xfrm>
          <a:off x="618836" y="5035279"/>
          <a:ext cx="1727200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95927">
                  <a:extLst>
                    <a:ext uri="{9D8B030D-6E8A-4147-A177-3AD203B41FA5}">
                      <a16:colId xmlns:a16="http://schemas.microsoft.com/office/drawing/2014/main" val="2183886238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11458023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0:46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9:3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171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0812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A866DE-49A5-34D4-9538-9805151AD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BF639-C9CA-6D5D-285C-F339F25F1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2.2 Conditional probability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EFDF0-0D7C-8A99-0906-82AD6EF60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Joint, marginal, and conditional probability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4138086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ED868-F644-64A6-C13B-6224DD787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Joint probability is the probability of more than one variable </a:t>
            </a:r>
            <a:endParaRPr lang="en-IL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A4096-B2F7-E23A-7AA2-AD83404A6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959" y="3320317"/>
            <a:ext cx="5334000" cy="460375"/>
          </a:xfrm>
        </p:spPr>
        <p:txBody>
          <a:bodyPr>
            <a:noAutofit/>
          </a:bodyPr>
          <a:lstStyle/>
          <a:p>
            <a:r>
              <a:rPr lang="en-US" dirty="0"/>
              <a:t>It can be used to find the conditional probability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E31820-B55D-227C-F472-89B1A41F392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68533" y="1363936"/>
            <a:ext cx="5407398" cy="5407398"/>
          </a:xfrm>
          <a:prstGeom prst="rect">
            <a:avLst/>
          </a:prstGeom>
        </p:spPr>
      </p:pic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D6B3890-2601-346A-27BA-0F9DED8FCE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482299"/>
              </p:ext>
            </p:extLst>
          </p:nvPr>
        </p:nvGraphicFramePr>
        <p:xfrm>
          <a:off x="1898650" y="2027238"/>
          <a:ext cx="27749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28520" imgH="253800" progId="Equation.DSMT4">
                  <p:embed/>
                </p:oleObj>
              </mc:Choice>
              <mc:Fallback>
                <p:oleObj name="Equation" r:id="rId3" imgW="1028520" imgH="2538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5D6B3890-2601-346A-27BA-0F9DED8FCE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98650" y="2027238"/>
                        <a:ext cx="277495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E6305D0-A42A-14CA-8C43-866DD3C700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448381"/>
              </p:ext>
            </p:extLst>
          </p:nvPr>
        </p:nvGraphicFramePr>
        <p:xfrm>
          <a:off x="461963" y="4857750"/>
          <a:ext cx="5076825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58920" imgH="469800" progId="Equation.DSMT4">
                  <p:embed/>
                </p:oleObj>
              </mc:Choice>
              <mc:Fallback>
                <p:oleObj name="Equation" r:id="rId5" imgW="215892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1963" y="4857750"/>
                        <a:ext cx="5076825" cy="110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2039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C6A2C-0C77-4855-CF8F-37778B596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975CE-2935-2EBC-AF5D-ADD283821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Conditional probability can go either direction</a:t>
            </a:r>
            <a:endParaRPr lang="en-IL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772A6-5A6B-776C-8993-9DF7EF4F3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959" y="3320317"/>
            <a:ext cx="5334000" cy="460375"/>
          </a:xfrm>
        </p:spPr>
        <p:txBody>
          <a:bodyPr>
            <a:noAutofit/>
          </a:bodyPr>
          <a:lstStyle/>
          <a:p>
            <a:r>
              <a:rPr lang="en-US" dirty="0"/>
              <a:t>It can be used to find the conditional probability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010504-0F6C-3356-80AF-5A7E194DEE2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4533" y="1279270"/>
            <a:ext cx="5443508" cy="5443508"/>
          </a:xfrm>
          <a:prstGeom prst="rect">
            <a:avLst/>
          </a:prstGeom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C0F45BAF-0281-18AB-F653-EF81EC392B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111911"/>
              </p:ext>
            </p:extLst>
          </p:nvPr>
        </p:nvGraphicFramePr>
        <p:xfrm>
          <a:off x="664134" y="4923366"/>
          <a:ext cx="507365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58920" imgH="469800" progId="Equation.DSMT4">
                  <p:embed/>
                </p:oleObj>
              </mc:Choice>
              <mc:Fallback>
                <p:oleObj name="Equation" r:id="rId3" imgW="2158920" imgH="4698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9E6305D0-A42A-14CA-8C43-866DD3C700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4134" y="4923366"/>
                        <a:ext cx="5073650" cy="110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427EF8A-5112-1756-6278-D6210FEE5A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2903931"/>
              </p:ext>
            </p:extLst>
          </p:nvPr>
        </p:nvGraphicFramePr>
        <p:xfrm>
          <a:off x="1813484" y="2145039"/>
          <a:ext cx="27749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75394" imgH="686062" progId="Equation.DSMT4">
                  <p:embed/>
                </p:oleObj>
              </mc:Choice>
              <mc:Fallback>
                <p:oleObj name="Equation" r:id="rId5" imgW="2775394" imgH="68606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13484" y="2145039"/>
                        <a:ext cx="277495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83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relationship between </a:t>
            </a:r>
            <a:r>
              <a:rPr lang="en-GB" dirty="0" err="1"/>
              <a:t>c|r</a:t>
            </a:r>
            <a:r>
              <a:rPr lang="en-GB" dirty="0"/>
              <a:t> and </a:t>
            </a:r>
            <a:r>
              <a:rPr lang="en-GB" dirty="0" err="1"/>
              <a:t>r|c</a:t>
            </a:r>
            <a:endParaRPr lang="en-GB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835830"/>
              </p:ext>
            </p:extLst>
          </p:nvPr>
        </p:nvGraphicFramePr>
        <p:xfrm>
          <a:off x="1507624" y="1891602"/>
          <a:ext cx="2140951" cy="943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66680" imgH="469800" progId="Equation.DSMT4">
                  <p:embed/>
                </p:oleObj>
              </mc:Choice>
              <mc:Fallback>
                <p:oleObj name="Equation" r:id="rId2" imgW="1066680" imgH="46980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07624" y="1891602"/>
                        <a:ext cx="2140951" cy="943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214438" y="3286125"/>
          <a:ext cx="27273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58640" imgH="279360" progId="Equation.DSMT4">
                  <p:embed/>
                </p:oleObj>
              </mc:Choice>
              <mc:Fallback>
                <p:oleObj name="Equation" r:id="rId4" imgW="1358640" imgH="27936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14438" y="3286125"/>
                        <a:ext cx="2727325" cy="561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5207896" y="1891602"/>
          <a:ext cx="2140951" cy="943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66680" imgH="469800" progId="Equation.DSMT4">
                  <p:embed/>
                </p:oleObj>
              </mc:Choice>
              <mc:Fallback>
                <p:oleObj name="Equation" r:id="rId6" imgW="1066680" imgH="46980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07896" y="1891602"/>
                        <a:ext cx="2140951" cy="943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914710" y="3286125"/>
          <a:ext cx="27273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58640" imgH="279360" progId="Equation.DSMT4">
                  <p:embed/>
                </p:oleObj>
              </mc:Choice>
              <mc:Fallback>
                <p:oleObj name="Equation" r:id="rId8" imgW="1358640" imgH="27936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914710" y="3286125"/>
                        <a:ext cx="2727325" cy="561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649538" y="4298950"/>
          <a:ext cx="3363912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76160" imgH="279360" progId="Equation.DSMT4">
                  <p:embed/>
                </p:oleObj>
              </mc:Choice>
              <mc:Fallback>
                <p:oleObj name="Equation" r:id="rId10" imgW="1676160" imgH="27936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649538" y="4298950"/>
                        <a:ext cx="3363912" cy="561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955925" y="5244656"/>
          <a:ext cx="2751138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71600" imgH="495000" progId="Equation.DSMT4">
                  <p:embed/>
                </p:oleObj>
              </mc:Choice>
              <mc:Fallback>
                <p:oleObj name="Equation" r:id="rId12" imgW="1371600" imgH="4950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955925" y="5244656"/>
                        <a:ext cx="2751138" cy="995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5707063" y="5219255"/>
          <a:ext cx="2624138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07880" imgH="520560" progId="Equation.DSMT4">
                  <p:embed/>
                </p:oleObj>
              </mc:Choice>
              <mc:Fallback>
                <p:oleObj name="Equation" r:id="rId14" imgW="1307880" imgH="52056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707063" y="5219255"/>
                        <a:ext cx="2624138" cy="1046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257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Conditional probability can be applied to data and models</a:t>
            </a:r>
            <a:endParaRPr lang="en-GB" sz="3200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1087438" y="1827212"/>
          <a:ext cx="3514725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52480" imgH="520560" progId="Equation.DSMT4">
                  <p:embed/>
                </p:oleObj>
              </mc:Choice>
              <mc:Fallback>
                <p:oleObj name="Equation" r:id="rId2" imgW="1752480" imgH="52056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87438" y="1827212"/>
                        <a:ext cx="3514725" cy="1046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4906963" y="2898775"/>
          <a:ext cx="5957887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71800" imgH="583920" progId="Equation.DSMT4">
                  <p:embed/>
                </p:oleObj>
              </mc:Choice>
              <mc:Fallback>
                <p:oleObj name="Equation" r:id="rId4" imgW="2971800" imgH="58392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06963" y="2898775"/>
                        <a:ext cx="5957887" cy="1173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ight Arrow 4"/>
          <p:cNvSpPr/>
          <p:nvPr/>
        </p:nvSpPr>
        <p:spPr>
          <a:xfrm>
            <a:off x="4837175" y="2065892"/>
            <a:ext cx="1821372" cy="5688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225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222275-2E87-32AA-0E03-E394F9F1D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4AFE-641A-77D8-5106-93C389C08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2.3 Bayes rule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F560B-30F6-32A1-0BB5-ED8141163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Prior, likelihood, posterior, and evidence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545504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ED868-F644-64A6-C13B-6224DD787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rule is based in conditional probability</a:t>
            </a:r>
            <a:endParaRPr lang="en-IL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2794B6BB-4598-ACF6-8FD3-0E3D5DC678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280339"/>
              </p:ext>
            </p:extLst>
          </p:nvPr>
        </p:nvGraphicFramePr>
        <p:xfrm>
          <a:off x="689504" y="2905523"/>
          <a:ext cx="4347179" cy="1293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14492" imgH="1045497" progId="Equation.DSMT4">
                  <p:embed/>
                </p:oleObj>
              </mc:Choice>
              <mc:Fallback>
                <p:oleObj name="Equation" r:id="rId2" imgW="3514492" imgH="1045497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2794B6BB-4598-ACF6-8FD3-0E3D5DC678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9504" y="2905523"/>
                        <a:ext cx="4347179" cy="12939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ADA39E1-4584-B58A-5E06-E138CC896BD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92334" y="1300970"/>
            <a:ext cx="5523164" cy="552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450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F8360-1187-AB3F-8E1B-22F658FA6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4A59B-E364-E741-CFBD-3DAED845B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will use </a:t>
            </a:r>
            <a:r>
              <a:rPr lang="en-US" dirty="0" err="1"/>
              <a:t>Baye’s</a:t>
            </a:r>
            <a:r>
              <a:rPr lang="en-US" dirty="0"/>
              <a:t> rule to update our models</a:t>
            </a:r>
            <a:endParaRPr lang="en-GB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35F5A3B-CC4A-88BC-24D0-B7025174E1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29895" y="2914860"/>
          <a:ext cx="6222862" cy="1225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71800" imgH="583920" progId="Equation.DSMT4">
                  <p:embed/>
                </p:oleObj>
              </mc:Choice>
              <mc:Fallback>
                <p:oleObj name="Equation" r:id="rId2" imgW="2971800" imgH="58392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435F5A3B-CC4A-88BC-24D0-B7025174E1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229895" y="2914860"/>
                        <a:ext cx="6222862" cy="12253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65BB742-817F-8B14-BD56-742C89FBE6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235" r="25904" b="9101"/>
          <a:stretch/>
        </p:blipFill>
        <p:spPr>
          <a:xfrm>
            <a:off x="590550" y="1738898"/>
            <a:ext cx="4479149" cy="3891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0767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764A3-88FD-7FE5-F71D-A87D78089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Baye’s</a:t>
            </a:r>
            <a:r>
              <a:rPr lang="en-US"/>
              <a:t> rule can be counterintuitive</a:t>
            </a:r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775BE3-4EE2-77DF-3D1A-18EF33835D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75577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Probability that an Argentinian is the pope: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pope</m:t>
                        </m:r>
                      </m:e>
                      <m:e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Argentinian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47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000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Probability that a pope is Argentinian: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Argentinian</m:t>
                        </m:r>
                      </m:e>
                      <m:e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pope</m:t>
                        </m:r>
                      </m:e>
                    </m:d>
                  </m:oMath>
                </a14:m>
                <a:r>
                  <a:rPr lang="en-US" dirty="0"/>
                  <a:t>=1</a:t>
                </a:r>
              </a:p>
              <a:p>
                <a:pPr lvl="1"/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775BE3-4EE2-77DF-3D1A-18EF33835D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7557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431EDB9-2173-90BA-BCFE-BC7B445112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6249" y="3903663"/>
          <a:ext cx="6125987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66800" imgH="469800" progId="Equation.DSMT4">
                  <p:embed/>
                </p:oleObj>
              </mc:Choice>
              <mc:Fallback>
                <p:oleObj name="Equation" r:id="rId3" imgW="3466800" imgH="4698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431EDB9-2173-90BA-BCFE-BC7B445112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46249" y="3903663"/>
                        <a:ext cx="6125987" cy="830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7F2F8B3-C234-4838-7E86-6025CB290F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090756"/>
              </p:ext>
            </p:extLst>
          </p:nvPr>
        </p:nvGraphicFramePr>
        <p:xfrm>
          <a:off x="3812117" y="5056188"/>
          <a:ext cx="3917950" cy="1614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95200" imgH="863280" progId="Equation.DSMT4">
                  <p:embed/>
                </p:oleObj>
              </mc:Choice>
              <mc:Fallback>
                <p:oleObj name="Equation" r:id="rId5" imgW="209520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12117" y="5056188"/>
                        <a:ext cx="3917950" cy="16146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C836F36F-6952-2D95-F4C6-435AB9B5F2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684815"/>
              </p:ext>
            </p:extLst>
          </p:nvPr>
        </p:nvGraphicFramePr>
        <p:xfrm>
          <a:off x="7872413" y="3535363"/>
          <a:ext cx="4025900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34880" imgH="863280" progId="Equation.DSMT4">
                  <p:embed/>
                </p:oleObj>
              </mc:Choice>
              <mc:Fallback>
                <p:oleObj name="Equation" r:id="rId7" imgW="223488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872413" y="3535363"/>
                        <a:ext cx="4025900" cy="155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492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16BE1-8167-A5D1-49BD-09547F429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ACA4E-2A4E-32BA-1ED0-F8ABACAEC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us, each component has a name</a:t>
            </a:r>
            <a:endParaRPr lang="en-GB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9AD8B8A-2BE0-1F2D-FFA4-95E0650DC8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3150" y="3834872"/>
          <a:ext cx="3749675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90640" imgH="583920" progId="Equation.DSMT4">
                  <p:embed/>
                </p:oleObj>
              </mc:Choice>
              <mc:Fallback>
                <p:oleObj name="Equation" r:id="rId2" imgW="1790640" imgH="58392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9AD8B8A-2BE0-1F2D-FFA4-95E0650DC8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73150" y="3834872"/>
                        <a:ext cx="3749675" cy="1225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1960C3C7-97B5-D14D-EB8C-6C04632966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6563" y="2735792"/>
          <a:ext cx="5070475" cy="251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70412" imgH="2519287" progId="Equation.DSMT4">
                  <p:embed/>
                </p:oleObj>
              </mc:Choice>
              <mc:Fallback>
                <p:oleObj name="Equation" r:id="rId4" imgW="5070412" imgH="2519287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1960C3C7-97B5-D14D-EB8C-6C04632966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86563" y="2735792"/>
                        <a:ext cx="5070475" cy="2519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7E69A628-99C4-244F-0300-5AF9DC1CA8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962" y="2213918"/>
          <a:ext cx="5574771" cy="1097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71800" imgH="583920" progId="Equation.DSMT4">
                  <p:embed/>
                </p:oleObj>
              </mc:Choice>
              <mc:Fallback>
                <p:oleObj name="Equation" r:id="rId6" imgW="2971800" imgH="58392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7E69A628-99C4-244F-0300-5AF9DC1CA8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8962" y="2213918"/>
                        <a:ext cx="5574771" cy="1097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0715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91E368-D902-DDA1-F300-E983A04B2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E6928-9C47-1A82-2B94-CBD901AC4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2.4 Likelihood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28278-0C89-000F-8BE0-254C3C156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Binomial model, coin flip, and likelihood functions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5928549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14C4E-CF4C-DDBA-8815-AC94732ED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5C2CCC-1CDE-BE7F-B810-527895C5D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Graphical representation of models can be helpful</a:t>
            </a:r>
            <a:endParaRPr lang="en-IL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9CF2BEF-E439-C87C-C671-10D5905F32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9671" y="1588558"/>
                <a:ext cx="5427133" cy="4351338"/>
              </a:xfrm>
            </p:spPr>
            <p:txBody>
              <a:bodyPr/>
              <a:lstStyle/>
              <a:p>
                <a:r>
                  <a:rPr lang="en-US" dirty="0"/>
                  <a:t>We will represent our models with diagrams</a:t>
                </a:r>
              </a:p>
              <a:p>
                <a:pPr lvl="1"/>
                <a:r>
                  <a:rPr lang="en-US" dirty="0"/>
                  <a:t>Data at the bottom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heads</a:t>
                </a:r>
              </a:p>
              <a:p>
                <a:pPr lvl="1"/>
                <a:r>
                  <a:rPr lang="en-US" dirty="0"/>
                  <a:t>Likelihood in the middle</a:t>
                </a:r>
              </a:p>
              <a:p>
                <a:pPr lvl="2"/>
                <a:r>
                  <a:rPr lang="en-US" dirty="0"/>
                  <a:t>This is our model of how the data was produced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tosses of a coin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of getting heads</a:t>
                </a:r>
              </a:p>
              <a:p>
                <a:pPr lvl="1"/>
                <a:r>
                  <a:rPr lang="en-US" dirty="0"/>
                  <a:t>Prior at the top</a:t>
                </a:r>
              </a:p>
              <a:p>
                <a:pPr lvl="2"/>
                <a:r>
                  <a:rPr lang="en-US" dirty="0"/>
                  <a:t>This reflects our uncertainty about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When the experiment began</a:t>
                </a:r>
              </a:p>
              <a:p>
                <a:pPr lvl="1"/>
                <a:endParaRPr lang="en-I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9CF2BEF-E439-C87C-C671-10D5905F32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9671" y="1588558"/>
                <a:ext cx="5427133" cy="4351338"/>
              </a:xfrm>
              <a:blipFill>
                <a:blip r:embed="rId2"/>
                <a:stretch>
                  <a:fillRect l="-2022" t="-2384" r="-3146" b="-84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phic 2">
            <a:extLst>
              <a:ext uri="{FF2B5EF4-FFF2-40B4-BE49-F238E27FC236}">
                <a16:creationId xmlns:a16="http://schemas.microsoft.com/office/drawing/2014/main" id="{50EA2CD1-3CBC-02D2-E1E9-9382C04686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77742" y="1266825"/>
            <a:ext cx="1695450" cy="43243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B6B3C6-D8CC-80FA-F9E3-8E4610E87CD0}"/>
              </a:ext>
            </a:extLst>
          </p:cNvPr>
          <p:cNvSpPr txBox="1"/>
          <p:nvPr/>
        </p:nvSpPr>
        <p:spPr>
          <a:xfrm>
            <a:off x="10687050" y="5129510"/>
            <a:ext cx="865943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400" b="1" dirty="0">
                <a:latin typeface="Ink Free" panose="03080402000500000000" pitchFamily="66" charset="0"/>
                <a:cs typeface="+mj-cs"/>
              </a:rPr>
              <a:t>Data</a:t>
            </a:r>
            <a:endParaRPr lang="he-IL" sz="2400" b="1" dirty="0">
              <a:latin typeface="Ink Free" panose="03080402000500000000" pitchFamily="66" charset="0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D7D65A-4443-F0E5-329A-A364D02B6200}"/>
              </a:ext>
            </a:extLst>
          </p:cNvPr>
          <p:cNvSpPr txBox="1"/>
          <p:nvPr/>
        </p:nvSpPr>
        <p:spPr>
          <a:xfrm>
            <a:off x="10403318" y="3876294"/>
            <a:ext cx="1433406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400" b="1" dirty="0">
                <a:latin typeface="Ink Free" panose="03080402000500000000" pitchFamily="66" charset="0"/>
                <a:cs typeface="+mj-cs"/>
              </a:rPr>
              <a:t>Likelihood</a:t>
            </a:r>
            <a:endParaRPr lang="he-IL" sz="2400" b="1" dirty="0">
              <a:latin typeface="Ink Free" panose="03080402000500000000" pitchFamily="66" charset="0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2C66D4-C5B3-E1C5-6A90-0E2854364769}"/>
              </a:ext>
            </a:extLst>
          </p:cNvPr>
          <p:cNvSpPr txBox="1"/>
          <p:nvPr/>
        </p:nvSpPr>
        <p:spPr>
          <a:xfrm>
            <a:off x="10317593" y="1780794"/>
            <a:ext cx="811441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400" b="1" dirty="0">
                <a:latin typeface="Ink Free" panose="03080402000500000000" pitchFamily="66" charset="0"/>
                <a:cs typeface="+mj-cs"/>
              </a:rPr>
              <a:t>Prior</a:t>
            </a:r>
            <a:endParaRPr lang="he-IL" sz="2400" b="1" dirty="0">
              <a:latin typeface="Ink Free" panose="03080402000500000000" pitchFamily="66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57305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C65EE0-F03B-514B-483B-16C5CBAEA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4008"/>
          </a:xfrm>
        </p:spPr>
        <p:txBody>
          <a:bodyPr>
            <a:normAutofit/>
          </a:bodyPr>
          <a:lstStyle/>
          <a:p>
            <a:r>
              <a:rPr lang="en-US" sz="3600" dirty="0"/>
              <a:t>Models can be expressed mathematically</a:t>
            </a:r>
            <a:endParaRPr lang="en-IL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092FFCA-6A6D-88F6-BAB1-29F7D849F1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7173" y="3231534"/>
                <a:ext cx="8090227" cy="326134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The </a:t>
                </a:r>
                <a:r>
                  <a:rPr lang="en-US" b="1" dirty="0"/>
                  <a:t>prior</a:t>
                </a:r>
                <a:r>
                  <a:rPr lang="en-US" dirty="0"/>
                  <a:t> is what we know about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before we see the data</a:t>
                </a:r>
              </a:p>
              <a:p>
                <a:pPr lvl="1"/>
                <a:r>
                  <a:rPr lang="en-US" dirty="0"/>
                  <a:t>Expressed probabilistically</a:t>
                </a:r>
              </a:p>
              <a:p>
                <a:pPr lvl="1"/>
                <a:r>
                  <a:rPr lang="en-US" dirty="0"/>
                  <a:t>As a Beta distribution</a:t>
                </a:r>
              </a:p>
              <a:p>
                <a:r>
                  <a:rPr lang="en-US" dirty="0"/>
                  <a:t>For any specific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data will match the binomial distribution</a:t>
                </a:r>
              </a:p>
              <a:p>
                <a:pPr lvl="1"/>
                <a:r>
                  <a:rPr lang="en-US" dirty="0"/>
                  <a:t>This is the </a:t>
                </a:r>
                <a:r>
                  <a:rPr lang="en-US" b="1" dirty="0"/>
                  <a:t>likelihood</a:t>
                </a:r>
                <a:endParaRPr lang="en-US" dirty="0"/>
              </a:p>
              <a:p>
                <a:r>
                  <a:rPr lang="en-US" dirty="0"/>
                  <a:t>We want the distribution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Given the prior and the data</a:t>
                </a:r>
                <a:endParaRPr lang="en-I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092FFCA-6A6D-88F6-BAB1-29F7D849F1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7173" y="3231534"/>
                <a:ext cx="8090227" cy="3261340"/>
              </a:xfrm>
              <a:blipFill>
                <a:blip r:embed="rId2"/>
                <a:stretch>
                  <a:fillRect l="-1130" t="-467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phic 2">
            <a:extLst>
              <a:ext uri="{FF2B5EF4-FFF2-40B4-BE49-F238E27FC236}">
                <a16:creationId xmlns:a16="http://schemas.microsoft.com/office/drawing/2014/main" id="{31BA305D-8569-0910-4928-3C4B4AD6CB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2143" y="1465541"/>
            <a:ext cx="1695450" cy="43243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29F449-F52B-B21A-D348-731FA558C0E4}"/>
              </a:ext>
            </a:extLst>
          </p:cNvPr>
          <p:cNvSpPr txBox="1"/>
          <p:nvPr/>
        </p:nvSpPr>
        <p:spPr>
          <a:xfrm>
            <a:off x="10687050" y="5129510"/>
            <a:ext cx="865943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400" b="1" dirty="0">
                <a:latin typeface="Ink Free" panose="03080402000500000000" pitchFamily="66" charset="0"/>
                <a:cs typeface="+mj-cs"/>
              </a:rPr>
              <a:t>Data</a:t>
            </a:r>
            <a:endParaRPr lang="he-IL" sz="2400" b="1" dirty="0">
              <a:latin typeface="Ink Free" panose="03080402000500000000" pitchFamily="66" charset="0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8992C6-730C-D2B8-B450-C5488E80E2ED}"/>
              </a:ext>
            </a:extLst>
          </p:cNvPr>
          <p:cNvSpPr txBox="1"/>
          <p:nvPr/>
        </p:nvSpPr>
        <p:spPr>
          <a:xfrm>
            <a:off x="10403318" y="3876294"/>
            <a:ext cx="1433406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400" b="1" dirty="0">
                <a:latin typeface="Ink Free" panose="03080402000500000000" pitchFamily="66" charset="0"/>
                <a:cs typeface="+mj-cs"/>
              </a:rPr>
              <a:t>Likelihood</a:t>
            </a:r>
            <a:endParaRPr lang="he-IL" sz="2400" b="1" dirty="0">
              <a:latin typeface="Ink Free" panose="03080402000500000000" pitchFamily="66" charset="0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331502-C356-6CF6-5888-D7421C28715D}"/>
              </a:ext>
            </a:extLst>
          </p:cNvPr>
          <p:cNvSpPr txBox="1"/>
          <p:nvPr/>
        </p:nvSpPr>
        <p:spPr>
          <a:xfrm>
            <a:off x="10317593" y="1780794"/>
            <a:ext cx="811441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400" b="1" dirty="0">
                <a:latin typeface="Ink Free" panose="03080402000500000000" pitchFamily="66" charset="0"/>
                <a:cs typeface="+mj-cs"/>
              </a:rPr>
              <a:t>Prior</a:t>
            </a:r>
            <a:endParaRPr lang="he-IL" sz="2400" b="1" dirty="0">
              <a:latin typeface="Ink Free" panose="03080402000500000000" pitchFamily="66" charset="0"/>
              <a:cs typeface="+mj-cs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C18A2763-8F10-FC06-A41E-6CF451EBF9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311740"/>
              </p:ext>
            </p:extLst>
          </p:nvPr>
        </p:nvGraphicFramePr>
        <p:xfrm>
          <a:off x="2972859" y="1465541"/>
          <a:ext cx="3030610" cy="140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91880" imgH="507960" progId="Equation.DSMT4">
                  <p:embed/>
                </p:oleObj>
              </mc:Choice>
              <mc:Fallback>
                <p:oleObj name="Equation" r:id="rId4" imgW="109188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72859" y="1465541"/>
                        <a:ext cx="3030610" cy="14095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8072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probability of getting z heads in N coin tosses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26135"/>
          </a:xfrm>
        </p:spPr>
        <p:txBody>
          <a:bodyPr/>
          <a:lstStyle/>
          <a:p>
            <a:r>
              <a:rPr lang="en-US" dirty="0"/>
              <a:t>As a function of the parameter!</a:t>
            </a:r>
            <a:endParaRPr lang="en-GB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695357" y="2695256"/>
          <a:ext cx="1117947" cy="614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7960" imgH="279360" progId="Equation.DSMT4">
                  <p:embed/>
                </p:oleObj>
              </mc:Choice>
              <mc:Fallback>
                <p:oleObj name="Equation" r:id="rId2" imgW="507960" imgH="27936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95357" y="2695256"/>
                        <a:ext cx="1117947" cy="6148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783334" y="3938838"/>
          <a:ext cx="3186113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47560" imgH="291960" progId="Equation.DSMT4">
                  <p:embed/>
                </p:oleObj>
              </mc:Choice>
              <mc:Fallback>
                <p:oleObj name="Equation" r:id="rId4" imgW="1447560" imgH="29196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83334" y="3938838"/>
                        <a:ext cx="3186113" cy="641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69264" y="3538728"/>
                <a:ext cx="58525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/>
                  <a:t>For a coin with probability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2000"/>
                  <a:t>, the Bernoulli distribution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64" y="3538728"/>
                <a:ext cx="5852564" cy="400110"/>
              </a:xfrm>
              <a:prstGeom prst="rect">
                <a:avLst/>
              </a:prstGeom>
              <a:blipFill>
                <a:blip r:embed="rId6"/>
                <a:stretch>
                  <a:fillRect l="-1042" t="-9231" r="-313" b="-2615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4332689"/>
              </p:ext>
            </p:extLst>
          </p:nvPr>
        </p:nvGraphicFramePr>
        <p:xfrm>
          <a:off x="6410316" y="2627396"/>
          <a:ext cx="2181225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90360" imgH="304560" progId="Equation.DSMT4">
                  <p:embed/>
                </p:oleObj>
              </mc:Choice>
              <mc:Fallback>
                <p:oleObj name="Equation" r:id="rId7" imgW="990360" imgH="30456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10316" y="2627396"/>
                        <a:ext cx="2181225" cy="668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297936" y="2777711"/>
                <a:ext cx="291759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This is a probability over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936" y="2777711"/>
                <a:ext cx="2917594" cy="400110"/>
              </a:xfrm>
              <a:prstGeom prst="rect">
                <a:avLst/>
              </a:prstGeom>
              <a:blipFill>
                <a:blip r:embed="rId9"/>
                <a:stretch>
                  <a:fillRect l="-2088" t="-9231" b="-2769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2813304" y="4699855"/>
          <a:ext cx="4475162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1840" imgH="279360" progId="Equation.DSMT4">
                  <p:embed/>
                </p:oleObj>
              </mc:Choice>
              <mc:Fallback>
                <p:oleObj name="Equation" r:id="rId10" imgW="2031840" imgH="279360" progId="Equation.DSMT4">
                  <p:embed/>
                  <p:pic>
                    <p:nvPicPr>
                      <p:cNvPr id="10" name="Object 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813304" y="4699855"/>
                        <a:ext cx="4475162" cy="612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1754188" y="5646738"/>
          <a:ext cx="340995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49080" imgH="291960" progId="Equation.DSMT4">
                  <p:embed/>
                </p:oleObj>
              </mc:Choice>
              <mc:Fallback>
                <p:oleObj name="Equation" r:id="rId12" imgW="1549080" imgH="291960" progId="Equation.DSMT4">
                  <p:embed/>
                  <p:pic>
                    <p:nvPicPr>
                      <p:cNvPr id="11" name="Object 10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754188" y="5646738"/>
                        <a:ext cx="3409950" cy="641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7368828" y="5646738"/>
          <a:ext cx="3327400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11280" imgH="431640" progId="Equation.DSMT4">
                  <p:embed/>
                </p:oleObj>
              </mc:Choice>
              <mc:Fallback>
                <p:oleObj name="Equation" r:id="rId14" imgW="1511280" imgH="431640" progId="Equation.DSMT4">
                  <p:embed/>
                  <p:pic>
                    <p:nvPicPr>
                      <p:cNvPr id="12" name="Object 1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368828" y="5646738"/>
                        <a:ext cx="3327400" cy="947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219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35E7A-65A0-09DA-E0FB-1E3101789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4BE34-5E12-3A76-E3F7-2A5C9C372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likelihood function: Probability of data given the parameter</a:t>
            </a:r>
            <a:endParaRPr lang="en-GB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CB16F26-7652-9F5F-3281-D16D6FF025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8025" y="2832449"/>
          <a:ext cx="3186113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560" imgH="291960" progId="Equation.DSMT4">
                  <p:embed/>
                </p:oleObj>
              </mc:Choice>
              <mc:Fallback>
                <p:oleObj name="Equation" r:id="rId2" imgW="1447560" imgH="29196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6CB16F26-7652-9F5F-3281-D16D6FF025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78025" y="2832449"/>
                        <a:ext cx="3186113" cy="641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D196EDF-825E-36D5-7AB4-3CE8F9AE4918}"/>
                  </a:ext>
                </a:extLst>
              </p:cNvPr>
              <p:cNvSpPr txBox="1"/>
              <p:nvPr/>
            </p:nvSpPr>
            <p:spPr>
              <a:xfrm>
                <a:off x="1163955" y="2432339"/>
                <a:ext cx="58525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/>
                  <a:t>For a coin with probability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2000"/>
                  <a:t>, the Bernoulli distribution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D196EDF-825E-36D5-7AB4-3CE8F9AE4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955" y="2432339"/>
                <a:ext cx="5852564" cy="400110"/>
              </a:xfrm>
              <a:prstGeom prst="rect">
                <a:avLst/>
              </a:prstGeom>
              <a:blipFill>
                <a:blip r:embed="rId4"/>
                <a:stretch>
                  <a:fillRect l="-1146" t="-7576" r="-313" b="-2575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26ABC43A-29E1-788E-0F87-AF69EF5B3E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7995" y="3593466"/>
          <a:ext cx="4475162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31840" imgH="279360" progId="Equation.DSMT4">
                  <p:embed/>
                </p:oleObj>
              </mc:Choice>
              <mc:Fallback>
                <p:oleObj name="Equation" r:id="rId5" imgW="2031840" imgH="27936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26ABC43A-29E1-788E-0F87-AF69EF5B3E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07995" y="3593466"/>
                        <a:ext cx="4475162" cy="612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20A84C02-5E35-D2CB-EC67-A04120CC7B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25563" y="4748213"/>
          <a:ext cx="4862512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09680" imgH="444240" progId="Equation.DSMT4">
                  <p:embed/>
                </p:oleObj>
              </mc:Choice>
              <mc:Fallback>
                <p:oleObj name="Equation" r:id="rId7" imgW="2209680" imgH="44424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20A84C02-5E35-D2CB-EC67-A04120CC7B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25563" y="4748213"/>
                        <a:ext cx="4862512" cy="976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EB2EDBDF-E0D0-D9BC-1BB9-AEB0C14C96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1531" y="5092655"/>
          <a:ext cx="3327400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11280" imgH="431640" progId="Equation.DSMT4">
                  <p:embed/>
                </p:oleObj>
              </mc:Choice>
              <mc:Fallback>
                <p:oleObj name="Equation" r:id="rId9" imgW="1511280" imgH="43164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EB2EDBDF-E0D0-D9BC-1BB9-AEB0C14C96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31531" y="5092655"/>
                        <a:ext cx="3327400" cy="947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BFF89FB-C7B6-589F-8440-48D0C5A88090}"/>
              </a:ext>
            </a:extLst>
          </p:cNvPr>
          <p:cNvSpPr txBox="1"/>
          <p:nvPr/>
        </p:nvSpPr>
        <p:spPr>
          <a:xfrm>
            <a:off x="1163955" y="4360213"/>
            <a:ext cx="46525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For multiple flips</a:t>
            </a:r>
            <a:r>
              <a:rPr lang="en-GB" sz="2000" dirty="0"/>
              <a:t>, the Binomial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227780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5C3A3-4170-E148-9F65-2E016058A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binomial distribution</a:t>
            </a:r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E0FF64-4766-3710-B483-4272790BAC3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16118" y="1867651"/>
            <a:ext cx="6575882" cy="4625224"/>
          </a:xfrm>
          <a:prstGeom prst="rect">
            <a:avLst/>
          </a:prstGeom>
        </p:spPr>
      </p:pic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69004589-EEAD-D204-64C1-FCCB7E4A8C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1101254"/>
              </p:ext>
            </p:extLst>
          </p:nvPr>
        </p:nvGraphicFramePr>
        <p:xfrm>
          <a:off x="346605" y="2364316"/>
          <a:ext cx="4860925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861708" imgH="975557" progId="Equation.DSMT4">
                  <p:embed/>
                </p:oleObj>
              </mc:Choice>
              <mc:Fallback>
                <p:oleObj name="Equation" r:id="rId3" imgW="4861708" imgH="975557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69004589-EEAD-D204-64C1-FCCB7E4A8C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6605" y="2364316"/>
                        <a:ext cx="4860925" cy="976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10030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Likelihood for a simple coin flip</a:t>
            </a:r>
            <a:endParaRPr lang="en-GB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1016253" y="2248980"/>
          <a:ext cx="1339343" cy="722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9920" imgH="431640" progId="Equation.DSMT4">
                  <p:embed/>
                </p:oleObj>
              </mc:Choice>
              <mc:Fallback>
                <p:oleObj name="Equation" r:id="rId2" imgW="799920" imgH="43164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16253" y="2248980"/>
                        <a:ext cx="1339343" cy="722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540125" y="2143124"/>
          <a:ext cx="2058470" cy="984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68200" imgH="558720" progId="Equation.DSMT4">
                  <p:embed/>
                </p:oleObj>
              </mc:Choice>
              <mc:Fallback>
                <p:oleObj name="Equation" r:id="rId4" imgW="1168200" imgH="55872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40125" y="2143124"/>
                        <a:ext cx="2058470" cy="984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016253" y="3579683"/>
          <a:ext cx="3828000" cy="814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1600" imgH="291960" progId="Equation.DSMT4">
                  <p:embed/>
                </p:oleObj>
              </mc:Choice>
              <mc:Fallback>
                <p:oleObj name="Equation" r:id="rId6" imgW="1371600" imgH="29196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16253" y="3579683"/>
                        <a:ext cx="3828000" cy="8148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5" name="Picture 1">
            <a:extLst>
              <a:ext uri="{FF2B5EF4-FFF2-40B4-BE49-F238E27FC236}">
                <a16:creationId xmlns:a16="http://schemas.microsoft.com/office/drawing/2014/main" id="{BC412625-0BC2-4211-B411-909E56DC7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692163" y="1936336"/>
            <a:ext cx="6014194" cy="3346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3041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mph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58" y="316317"/>
            <a:ext cx="6334604" cy="1433352"/>
          </a:xfrm>
        </p:spPr>
        <p:txBody>
          <a:bodyPr/>
          <a:lstStyle/>
          <a:p>
            <a:r>
              <a:rPr lang="en-US" dirty="0"/>
              <a:t>Likelihood for multiple coin flips</a:t>
            </a:r>
            <a:endParaRPr lang="en-GB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7804726"/>
              </p:ext>
            </p:extLst>
          </p:nvPr>
        </p:nvGraphicFramePr>
        <p:xfrm>
          <a:off x="893885" y="2467884"/>
          <a:ext cx="3284538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1600" imgH="291960" progId="Equation.DSMT4">
                  <p:embed/>
                </p:oleObj>
              </mc:Choice>
              <mc:Fallback>
                <p:oleObj name="Equation" r:id="rId2" imgW="1371600" imgH="29196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93885" y="2467884"/>
                        <a:ext cx="3284538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9" name="Picture 1">
            <a:extLst>
              <a:ext uri="{FF2B5EF4-FFF2-40B4-BE49-F238E27FC236}">
                <a16:creationId xmlns:a16="http://schemas.microsoft.com/office/drawing/2014/main" id="{8F8AF63F-2766-421C-8FED-258E967EB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54247" y="2467884"/>
            <a:ext cx="4531702" cy="2065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">
            <a:extLst>
              <a:ext uri="{FF2B5EF4-FFF2-40B4-BE49-F238E27FC236}">
                <a16:creationId xmlns:a16="http://schemas.microsoft.com/office/drawing/2014/main" id="{729F1EEB-4F44-4593-96D9-9A69882C7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17978" y="158603"/>
            <a:ext cx="4604239" cy="2125536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53B4041-C980-4CC7-872D-5C64FF310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54247" y="4538882"/>
            <a:ext cx="4604238" cy="2098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5550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combines likelihood with prior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391072" y="3163707"/>
            <a:ext cx="4942845" cy="3024330"/>
          </a:xfrm>
        </p:spPr>
        <p:txBody>
          <a:bodyPr/>
          <a:lstStyle/>
          <a:p>
            <a:r>
              <a:rPr lang="en-US" dirty="0"/>
              <a:t>Essentially: </a:t>
            </a:r>
          </a:p>
          <a:p>
            <a:pPr lvl="1"/>
            <a:r>
              <a:rPr lang="en-US" dirty="0"/>
              <a:t>Multiply prior by likelihood</a:t>
            </a:r>
          </a:p>
          <a:p>
            <a:pPr lvl="1"/>
            <a:r>
              <a:rPr lang="en-US" dirty="0"/>
              <a:t>To get posterior</a:t>
            </a:r>
          </a:p>
          <a:p>
            <a:pPr marL="0" indent="0">
              <a:buNone/>
            </a:pPr>
            <a:endParaRPr lang="he-IL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847818"/>
              </p:ext>
            </p:extLst>
          </p:nvPr>
        </p:nvGraphicFramePr>
        <p:xfrm>
          <a:off x="7473408" y="1690688"/>
          <a:ext cx="3707025" cy="119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36480" imgH="495000" progId="Equation.DSMT4">
                  <p:embed/>
                </p:oleObj>
              </mc:Choice>
              <mc:Fallback>
                <p:oleObj name="Equation" r:id="rId2" imgW="1536480" imgH="49500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473408" y="1690688"/>
                        <a:ext cx="3707025" cy="1199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3" name="Picture 1">
            <a:extLst>
              <a:ext uri="{FF2B5EF4-FFF2-40B4-BE49-F238E27FC236}">
                <a16:creationId xmlns:a16="http://schemas.microsoft.com/office/drawing/2014/main" id="{9F506153-5B6F-4894-9F7D-4B4C592C6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97088" y="1396258"/>
            <a:ext cx="3503160" cy="159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">
            <a:extLst>
              <a:ext uri="{FF2B5EF4-FFF2-40B4-BE49-F238E27FC236}">
                <a16:creationId xmlns:a16="http://schemas.microsoft.com/office/drawing/2014/main" id="{A16ADE29-25DD-4F89-B6E6-C3E3CFC97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53425" y="3220409"/>
            <a:ext cx="3575208" cy="1628899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14A94441-0F3D-4A79-9045-4781847AD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96729" y="5086414"/>
            <a:ext cx="3496239" cy="1592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D0B478-0003-81F6-5641-612273A3AA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6729" y="5086414"/>
            <a:ext cx="3496238" cy="159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940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31" y="260656"/>
            <a:ext cx="4199302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Changing likelihood affects posterior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3248" y="2306133"/>
            <a:ext cx="4228946" cy="1325563"/>
          </a:xfrm>
        </p:spPr>
        <p:txBody>
          <a:bodyPr>
            <a:normAutofit/>
          </a:bodyPr>
          <a:lstStyle/>
          <a:p>
            <a:r>
              <a:rPr lang="en-US" dirty="0"/>
              <a:t>As we add more data</a:t>
            </a:r>
          </a:p>
          <a:p>
            <a:pPr lvl="1"/>
            <a:r>
              <a:rPr lang="en-US" dirty="0"/>
              <a:t>Data will dominate prior</a:t>
            </a:r>
          </a:p>
          <a:p>
            <a:pPr lvl="1"/>
            <a:r>
              <a:rPr lang="en-US" dirty="0"/>
              <a:t>Except where prior is 0</a:t>
            </a:r>
            <a:endParaRPr lang="he-IL" dirty="0"/>
          </a:p>
        </p:txBody>
      </p:sp>
      <p:pic>
        <p:nvPicPr>
          <p:cNvPr id="4097" name="Picture 1">
            <a:extLst>
              <a:ext uri="{FF2B5EF4-FFF2-40B4-BE49-F238E27FC236}">
                <a16:creationId xmlns:a16="http://schemas.microsoft.com/office/drawing/2014/main" id="{5CDE330C-E158-4C33-B3DA-3946DFF96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16332" y="351723"/>
            <a:ext cx="3563100" cy="1590669"/>
          </a:xfrm>
          <a:prstGeom prst="rect">
            <a:avLst/>
          </a:prstGeom>
          <a:noFill/>
          <a:ln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">
            <a:extLst>
              <a:ext uri="{FF2B5EF4-FFF2-40B4-BE49-F238E27FC236}">
                <a16:creationId xmlns:a16="http://schemas.microsoft.com/office/drawing/2014/main" id="{3B674DC8-A5AB-41AC-9D2F-04B008264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18669" y="351723"/>
            <a:ext cx="3563100" cy="1590669"/>
          </a:xfrm>
          <a:prstGeom prst="rect">
            <a:avLst/>
          </a:prstGeom>
          <a:noFill/>
          <a:ln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">
            <a:extLst>
              <a:ext uri="{FF2B5EF4-FFF2-40B4-BE49-F238E27FC236}">
                <a16:creationId xmlns:a16="http://schemas.microsoft.com/office/drawing/2014/main" id="{49151419-6F2E-4F86-BF7D-7532F4CE0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482194" y="2570787"/>
            <a:ext cx="3787327" cy="1726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>
            <a:extLst>
              <a:ext uri="{FF2B5EF4-FFF2-40B4-BE49-F238E27FC236}">
                <a16:creationId xmlns:a16="http://schemas.microsoft.com/office/drawing/2014/main" id="{FD532002-D17C-4479-B389-003592CC8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16332" y="4927367"/>
            <a:ext cx="3787325" cy="1683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0DA2BD9E-03C5-4A86-9D1A-932C43DAD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378263" y="2570788"/>
            <a:ext cx="3787326" cy="1726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046E64F6-287C-417C-82A2-B09819BA8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378264" y="4945833"/>
            <a:ext cx="3787325" cy="170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376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7B577E-A1E6-D15E-D25C-E658BE677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2F085-301F-58B7-C573-81C603CE2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2.5 Grid calculation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86981-9E31-A367-F88D-09C85C2C4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Computing the posterior on a full grid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32147715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1203D-D8D0-2CC6-4E4D-E8E9DA604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B00B8-C523-9C63-197C-1A7C7FB55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0117"/>
          </a:xfrm>
        </p:spPr>
        <p:txBody>
          <a:bodyPr/>
          <a:lstStyle/>
          <a:p>
            <a:r>
              <a:rPr lang="en-US" dirty="0"/>
              <a:t>Grid calculation works point by point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20FC04B-B6E6-CD7E-FA5B-DAD840164A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81236" y="5050653"/>
                <a:ext cx="6752681" cy="1442222"/>
              </a:xfrm>
            </p:spPr>
            <p:txBody>
              <a:bodyPr/>
              <a:lstStyle/>
              <a:p>
                <a:r>
                  <a:rPr lang="en-US" dirty="0"/>
                  <a:t>Prior x Likelihood is not quite enough</a:t>
                </a:r>
              </a:p>
              <a:p>
                <a:pPr lvl="1"/>
                <a:r>
                  <a:rPr lang="en-US" dirty="0"/>
                  <a:t>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dirty="0"/>
                  <a:t>, the normalization constant</a:t>
                </a:r>
              </a:p>
              <a:p>
                <a:pPr lvl="1"/>
                <a:r>
                  <a:rPr lang="en-US" dirty="0"/>
                  <a:t>Instead we can just divide by the area</a:t>
                </a:r>
                <a:endParaRPr lang="he-I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20FC04B-B6E6-CD7E-FA5B-DAD840164A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81236" y="5050653"/>
                <a:ext cx="6752681" cy="1442222"/>
              </a:xfrm>
              <a:blipFill>
                <a:blip r:embed="rId2"/>
                <a:stretch>
                  <a:fillRect l="-1626" t="-720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1A2D99C-21A4-DD0B-ABB3-899BA739CC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68267" y="1431554"/>
          <a:ext cx="2894120" cy="936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36480" imgH="495000" progId="Equation.DSMT4">
                  <p:embed/>
                </p:oleObj>
              </mc:Choice>
              <mc:Fallback>
                <p:oleObj name="Equation" r:id="rId3" imgW="1536480" imgH="4950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F1A2D99C-21A4-DD0B-ABB3-899BA739CC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68267" y="1431554"/>
                        <a:ext cx="2894120" cy="9363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FAD0BF61-0C7D-A0A2-D1D4-707385FF08A0}"/>
              </a:ext>
            </a:extLst>
          </p:cNvPr>
          <p:cNvGrpSpPr/>
          <p:nvPr/>
        </p:nvGrpSpPr>
        <p:grpSpPr>
          <a:xfrm>
            <a:off x="317759" y="1413192"/>
            <a:ext cx="3582847" cy="5283077"/>
            <a:chOff x="2053425" y="1396258"/>
            <a:chExt cx="3582847" cy="5283077"/>
          </a:xfrm>
        </p:grpSpPr>
        <p:pic>
          <p:nvPicPr>
            <p:cNvPr id="3073" name="Picture 1">
              <a:extLst>
                <a:ext uri="{FF2B5EF4-FFF2-40B4-BE49-F238E27FC236}">
                  <a16:creationId xmlns:a16="http://schemas.microsoft.com/office/drawing/2014/main" id="{CC09E8F3-7252-403C-49CB-9AE64F38B0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061065" y="1396258"/>
              <a:ext cx="3575207" cy="15960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">
              <a:extLst>
                <a:ext uri="{FF2B5EF4-FFF2-40B4-BE49-F238E27FC236}">
                  <a16:creationId xmlns:a16="http://schemas.microsoft.com/office/drawing/2014/main" id="{2452E27D-9224-6DD2-D44F-46CCFC9FA5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053425" y="3209616"/>
              <a:ext cx="3575208" cy="165048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5CFB73F2-2D10-AC71-B65A-0F14589D62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053425" y="5086414"/>
              <a:ext cx="3582847" cy="1592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96354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4B5AC-4483-7B59-CB7D-0FA5892DB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3614B-8BEA-2969-B3AE-CF530F561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grid method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7017A-0DBA-4525-0077-734DFC445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823"/>
            <a:ext cx="10515600" cy="1527399"/>
          </a:xfrm>
        </p:spPr>
        <p:txBody>
          <a:bodyPr>
            <a:normAutofit/>
          </a:bodyPr>
          <a:lstStyle/>
          <a:p>
            <a:r>
              <a:rPr lang="en-US" dirty="0"/>
              <a:t>“Sample” at fixed intervals</a:t>
            </a:r>
          </a:p>
          <a:p>
            <a:r>
              <a:rPr lang="en-US" dirty="0"/>
              <a:t>Posterior is just prior times likelihood</a:t>
            </a:r>
          </a:p>
          <a:p>
            <a:r>
              <a:rPr lang="en-US" dirty="0"/>
              <a:t>And these are both easy to calculate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BBE4F1-385A-8ECD-3C45-6905EA0DD5F4}"/>
              </a:ext>
            </a:extLst>
          </p:cNvPr>
          <p:cNvSpPr txBox="1"/>
          <p:nvPr/>
        </p:nvSpPr>
        <p:spPr>
          <a:xfrm>
            <a:off x="1320798" y="5086632"/>
            <a:ext cx="10515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posterior_from_product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beta_density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binomial_likelihood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normalize_density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B484EB-2369-02CC-B7FB-956998F21D4A}"/>
              </a:ext>
            </a:extLst>
          </p:cNvPr>
          <p:cNvSpPr txBox="1"/>
          <p:nvPr/>
        </p:nvSpPr>
        <p:spPr>
          <a:xfrm>
            <a:off x="1320798" y="3285820"/>
            <a:ext cx="609600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THETA_GRID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linspace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1e-4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1e-4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1200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149C68-E5F3-EA7E-00E2-6DFC6A89E275}"/>
              </a:ext>
            </a:extLst>
          </p:cNvPr>
          <p:cNvSpPr txBox="1"/>
          <p:nvPr/>
        </p:nvSpPr>
        <p:spPr>
          <a:xfrm>
            <a:off x="1320798" y="6349695"/>
            <a:ext cx="985520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simple_posterior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posterior_from_curve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THETA_GRID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slide_prior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EAAE0F-92B5-F12F-7EC7-67942C82594A}"/>
              </a:ext>
            </a:extLst>
          </p:cNvPr>
          <p:cNvSpPr txBox="1"/>
          <p:nvPr/>
        </p:nvSpPr>
        <p:spPr>
          <a:xfrm>
            <a:off x="1320798" y="3677598"/>
            <a:ext cx="700193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slide_prior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triangular_prior_density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THETA_GRID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9E299F-C5CA-4C12-FB96-E0572B7CAEF3}"/>
              </a:ext>
            </a:extLst>
          </p:cNvPr>
          <p:cNvSpPr/>
          <p:nvPr/>
        </p:nvSpPr>
        <p:spPr>
          <a:xfrm>
            <a:off x="1845733" y="5384800"/>
            <a:ext cx="9795934" cy="3556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41673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F72AA-B378-FBB0-FA50-F8D98C347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53E83-38AE-371F-08D4-FAE5DEA9C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 first, then normalize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E39F5-7513-CC30-9AB3-D7988FFB2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823"/>
            <a:ext cx="10515600" cy="1527399"/>
          </a:xfrm>
        </p:spPr>
        <p:txBody>
          <a:bodyPr>
            <a:normAutofit/>
          </a:bodyPr>
          <a:lstStyle/>
          <a:p>
            <a:r>
              <a:rPr lang="en-US" dirty="0"/>
              <a:t>Normalizing is easy after you have the samples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36D63D-76FD-05FE-BA96-E91FF6C65F5B}"/>
              </a:ext>
            </a:extLst>
          </p:cNvPr>
          <p:cNvSpPr txBox="1"/>
          <p:nvPr/>
        </p:nvSpPr>
        <p:spPr>
          <a:xfrm>
            <a:off x="1320798" y="4063630"/>
            <a:ext cx="6096000" cy="923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normalize_density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density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trapezoid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density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density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area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7B15C-D870-DEAF-9BAC-FD11E1982AFD}"/>
              </a:ext>
            </a:extLst>
          </p:cNvPr>
          <p:cNvSpPr txBox="1"/>
          <p:nvPr/>
        </p:nvSpPr>
        <p:spPr>
          <a:xfrm>
            <a:off x="1320798" y="5086632"/>
            <a:ext cx="10515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posterior_from_product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beta_density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binomial_likelihood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normalize_density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693670-B69D-2110-73AA-F34A42DA6143}"/>
              </a:ext>
            </a:extLst>
          </p:cNvPr>
          <p:cNvSpPr txBox="1"/>
          <p:nvPr/>
        </p:nvSpPr>
        <p:spPr>
          <a:xfrm>
            <a:off x="1320798" y="3285820"/>
            <a:ext cx="609600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THETA_GRID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linspace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1e-4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1e-4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1200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DA1F31-3B01-31B6-2973-478FDC38D863}"/>
              </a:ext>
            </a:extLst>
          </p:cNvPr>
          <p:cNvSpPr txBox="1"/>
          <p:nvPr/>
        </p:nvSpPr>
        <p:spPr>
          <a:xfrm>
            <a:off x="1320798" y="6349695"/>
            <a:ext cx="985520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simple_posterior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posterior_from_curve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THETA_GRID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slide_prior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235146-1013-1DC6-288F-7AE0E3EC7AFB}"/>
              </a:ext>
            </a:extLst>
          </p:cNvPr>
          <p:cNvSpPr txBox="1"/>
          <p:nvPr/>
        </p:nvSpPr>
        <p:spPr>
          <a:xfrm>
            <a:off x="1320798" y="3677598"/>
            <a:ext cx="700193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slide_prior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triangular_prior_density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THETA_GRID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815AB0-A1C9-99AA-E1B6-6D43FEAB6B8E}"/>
              </a:ext>
            </a:extLst>
          </p:cNvPr>
          <p:cNvSpPr/>
          <p:nvPr/>
        </p:nvSpPr>
        <p:spPr>
          <a:xfrm>
            <a:off x="1862667" y="5646429"/>
            <a:ext cx="9762066" cy="3556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59033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038B39-59A3-E839-1D48-FF2C73FDE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39F11-9A30-1A15-86D3-618D826DB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2.6 Prior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4223A-D33F-A02F-98E1-DE6C4C0C3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Prior beliefs, parameter uncertainty, and model assumptions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15906382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prior is a probability distribution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34695"/>
          </a:xfrm>
        </p:spPr>
        <p:txBody>
          <a:bodyPr/>
          <a:lstStyle/>
          <a:p>
            <a:r>
              <a:rPr lang="en-US"/>
              <a:t>Must integrate to 1</a:t>
            </a:r>
            <a:endParaRPr lang="en-GB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477530" y="2798763"/>
          <a:ext cx="5227638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74560" imgH="482400" progId="Equation.DSMT4">
                  <p:embed/>
                </p:oleObj>
              </mc:Choice>
              <mc:Fallback>
                <p:oleObj name="Equation" r:id="rId2" imgW="2374560" imgH="48240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77530" y="2798763"/>
                        <a:ext cx="5227638" cy="1058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6314643"/>
              </p:ext>
            </p:extLst>
          </p:nvPr>
        </p:nvGraphicFramePr>
        <p:xfrm>
          <a:off x="1477530" y="4096068"/>
          <a:ext cx="1930400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76240" imgH="304560" progId="Equation.DSMT4">
                  <p:embed/>
                </p:oleObj>
              </mc:Choice>
              <mc:Fallback>
                <p:oleObj name="Equation" r:id="rId4" imgW="876240" imgH="30456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77530" y="4096068"/>
                        <a:ext cx="1930400" cy="668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7455910" y="2764921"/>
          <a:ext cx="3327400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11280" imgH="431640" progId="Equation.DSMT4">
                  <p:embed/>
                </p:oleObj>
              </mc:Choice>
              <mc:Fallback>
                <p:oleObj name="Equation" r:id="rId6" imgW="1511280" imgH="43164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455910" y="2764921"/>
                        <a:ext cx="3327400" cy="947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96313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7E13D-CD91-6FA4-E9FA-0262BE34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Priors are ideas about what is possible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42204-1601-C56F-9AF4-7A4B1F863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28411"/>
          </a:xfrm>
        </p:spPr>
        <p:txBody>
          <a:bodyPr/>
          <a:lstStyle/>
          <a:p>
            <a:r>
              <a:rPr lang="en-US" dirty="0"/>
              <a:t>We may be willing to accept any possibility</a:t>
            </a:r>
          </a:p>
          <a:p>
            <a:r>
              <a:rPr lang="en-US" dirty="0"/>
              <a:t>Or be very opinionated</a:t>
            </a:r>
            <a:endParaRPr lang="en-IL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B2515B65-DCCE-D805-B8D2-27CE77C2E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3624263"/>
            <a:ext cx="5702207" cy="254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D3D32E-D868-3DEC-C5D5-97E80D8A9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433" y="3624231"/>
            <a:ext cx="5587367" cy="254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224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EC814-85E3-7A7B-8F5F-FFE13AD4F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920E4-40B1-28C0-97C2-C85423AC1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347"/>
            <a:ext cx="10515600" cy="405342"/>
          </a:xfrm>
        </p:spPr>
        <p:txBody>
          <a:bodyPr>
            <a:normAutofit fontScale="90000"/>
          </a:bodyPr>
          <a:lstStyle/>
          <a:p>
            <a:r>
              <a:rPr lang="en-US" dirty="0"/>
              <a:t>Posterior is affected by both priors and likelihood</a:t>
            </a:r>
            <a:endParaRPr lang="en-GB" dirty="0"/>
          </a:p>
        </p:txBody>
      </p:sp>
      <p:pic>
        <p:nvPicPr>
          <p:cNvPr id="4097" name="Picture 1">
            <a:extLst>
              <a:ext uri="{FF2B5EF4-FFF2-40B4-BE49-F238E27FC236}">
                <a16:creationId xmlns:a16="http://schemas.microsoft.com/office/drawing/2014/main" id="{433AB55E-AAEE-B847-DBEE-6280A6166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65" y="980118"/>
            <a:ext cx="3563100" cy="1590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">
            <a:extLst>
              <a:ext uri="{FF2B5EF4-FFF2-40B4-BE49-F238E27FC236}">
                <a16:creationId xmlns:a16="http://schemas.microsoft.com/office/drawing/2014/main" id="{AEE57FC9-1B62-B1AF-FADD-04A90F17C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5838" y="2697787"/>
            <a:ext cx="3787327" cy="1726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>
            <a:extLst>
              <a:ext uri="{FF2B5EF4-FFF2-40B4-BE49-F238E27FC236}">
                <a16:creationId xmlns:a16="http://schemas.microsoft.com/office/drawing/2014/main" id="{896BB1F5-3019-5FEC-D200-5082CD631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5840" y="4551128"/>
            <a:ext cx="3787325" cy="1683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3A4E1CD3-3E7B-4128-2367-1D189493A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378263" y="2681089"/>
            <a:ext cx="3787326" cy="1726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">
            <a:extLst>
              <a:ext uri="{FF2B5EF4-FFF2-40B4-BE49-F238E27FC236}">
                <a16:creationId xmlns:a16="http://schemas.microsoft.com/office/drawing/2014/main" id="{8D823AF3-EC19-8C40-47C0-73E94F43C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414982" y="2697787"/>
            <a:ext cx="3787327" cy="1726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230CA2-732C-1873-5124-93B43532AA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4982" y="980118"/>
            <a:ext cx="3491345" cy="15906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9FABED-96E3-01F4-6B7C-5FE7E39B52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4980" y="4547649"/>
            <a:ext cx="3787325" cy="17255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70E84C-B345-C211-2F35-302E24DF9C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8263" y="980096"/>
            <a:ext cx="3491345" cy="15906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6834EA-E3D6-947D-4FE9-8149D65C53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6513" y="4497276"/>
            <a:ext cx="3789076" cy="172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578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CB836F-8FFA-A513-C075-DDD09D156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4FD99-EA11-6CE7-37EB-DEADB9237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2.7 Beta distribution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769D9-E863-54E8-D9E9-230F0DAE5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Probability distributions, Beta priors, and shape parameters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39318605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the Beta distribution for a prior</a:t>
            </a: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86963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/>
                  <a:t>A probability distribution 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GB"/>
              </a:p>
              <a:p>
                <a:r>
                  <a:rPr lang="en-GB"/>
                  <a:t>Justify the choice in a few slides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869632"/>
              </a:xfrm>
              <a:blipFill>
                <a:blip r:embed="rId2"/>
                <a:stretch>
                  <a:fillRect l="-928" t="-13986" b="-1748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899958" y="3974148"/>
          <a:ext cx="3159125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34960" imgH="469800" progId="Equation.DSMT4">
                  <p:embed/>
                </p:oleObj>
              </mc:Choice>
              <mc:Fallback>
                <p:oleObj name="Equation" r:id="rId3" imgW="1434960" imgH="46980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99958" y="3974148"/>
                        <a:ext cx="3159125" cy="1030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981769" y="2700338"/>
          <a:ext cx="3241675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73120" imgH="495000" progId="Equation.DSMT4">
                  <p:embed/>
                </p:oleObj>
              </mc:Choice>
              <mc:Fallback>
                <p:oleObj name="Equation" r:id="rId5" imgW="1473120" imgH="49500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81769" y="2700338"/>
                        <a:ext cx="3241675" cy="1087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D999CA0-462C-AB8D-77DA-DF441A5AA207}"/>
              </a:ext>
            </a:extLst>
          </p:cNvPr>
          <p:cNvSpPr txBox="1"/>
          <p:nvPr/>
        </p:nvSpPr>
        <p:spPr>
          <a:xfrm>
            <a:off x="1100146" y="3013224"/>
            <a:ext cx="2881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The beta distribution:</a:t>
            </a:r>
            <a:endParaRPr lang="en-IL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237201-63A4-6338-E406-F2F66C102B77}"/>
              </a:ext>
            </a:extLst>
          </p:cNvPr>
          <p:cNvSpPr txBox="1"/>
          <p:nvPr/>
        </p:nvSpPr>
        <p:spPr>
          <a:xfrm>
            <a:off x="1100145" y="4225280"/>
            <a:ext cx="2476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The beta function:</a:t>
            </a:r>
            <a:endParaRPr lang="en-IL"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8B2CC9-366F-5233-60EE-29667DCDC5BC}"/>
              </a:ext>
            </a:extLst>
          </p:cNvPr>
          <p:cNvSpPr txBox="1"/>
          <p:nvPr/>
        </p:nvSpPr>
        <p:spPr>
          <a:xfrm>
            <a:off x="1100145" y="5208481"/>
            <a:ext cx="5878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The gamma function generalizes the factorial:</a:t>
            </a:r>
            <a:endParaRPr lang="en-IL" sz="2400"/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AA2C3BFE-94E3-EE85-5E7B-6639DE1C39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59083" y="5190807"/>
          <a:ext cx="4383616" cy="537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70000" imgH="253800" progId="Equation.DSMT4">
                  <p:embed/>
                </p:oleObj>
              </mc:Choice>
              <mc:Fallback>
                <p:oleObj name="Equation" r:id="rId7" imgW="2070000" imgH="25380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AA2C3BFE-94E3-EE85-5E7B-6639DE1C39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59083" y="5190807"/>
                        <a:ext cx="4383616" cy="5378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AA4FE1FC-96B1-4470-B196-64DD3F8AFF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68167" y="5812133"/>
          <a:ext cx="3280982" cy="537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49080" imgH="253800" progId="Equation.DSMT4">
                  <p:embed/>
                </p:oleObj>
              </mc:Choice>
              <mc:Fallback>
                <p:oleObj name="Equation" r:id="rId9" imgW="1549080" imgH="25380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AA4FE1FC-96B1-4470-B196-64DD3F8AFF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768167" y="5812133"/>
                        <a:ext cx="3280982" cy="5378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661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54F56-51F6-6DBF-5D3E-BED6CC334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BD719-23C3-7E4E-BA19-DC048868A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the Beta distribution for a prior</a:t>
            </a: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06F5B8-4DDC-3A41-1322-CAB02EBDDB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86963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/>
                  <a:t>A probability distribution 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GB"/>
              </a:p>
              <a:p>
                <a:r>
                  <a:rPr lang="en-GB"/>
                  <a:t>Justify the choice in a few slides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06F5B8-4DDC-3A41-1322-CAB02EBDDB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869632"/>
              </a:xfrm>
              <a:blipFill>
                <a:blip r:embed="rId2"/>
                <a:stretch>
                  <a:fillRect l="-928" t="-13986" b="-1748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004DD999-6B0D-74F2-1650-C0CF4D37F7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6825" y="3975310"/>
          <a:ext cx="3159125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34960" imgH="469800" progId="Equation.DSMT4">
                  <p:embed/>
                </p:oleObj>
              </mc:Choice>
              <mc:Fallback>
                <p:oleObj name="Equation" r:id="rId3" imgW="1434960" imgH="4698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004DD999-6B0D-74F2-1650-C0CF4D37F7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06825" y="3975310"/>
                        <a:ext cx="3159125" cy="1030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43E333F2-00C8-B77E-5AA0-1932558BCC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81769" y="2700338"/>
          <a:ext cx="3241675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73120" imgH="495000" progId="Equation.DSMT4">
                  <p:embed/>
                </p:oleObj>
              </mc:Choice>
              <mc:Fallback>
                <p:oleObj name="Equation" r:id="rId5" imgW="1473120" imgH="49500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43E333F2-00C8-B77E-5AA0-1932558BCC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81769" y="2700338"/>
                        <a:ext cx="3241675" cy="1087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60EC8A8C-F40F-14D7-B2FD-A4B8DB09D7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5480" y="5276531"/>
          <a:ext cx="360680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38000" imgH="482400" progId="Equation.DSMT4">
                  <p:embed/>
                </p:oleObj>
              </mc:Choice>
              <mc:Fallback>
                <p:oleObj name="Equation" r:id="rId7" imgW="1638000" imgH="48240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60EC8A8C-F40F-14D7-B2FD-A4B8DB09D7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855480" y="5276531"/>
                        <a:ext cx="3606800" cy="1060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969CF0-4ED4-E52A-B943-176C4FC996F0}"/>
              </a:ext>
            </a:extLst>
          </p:cNvPr>
          <p:cNvSpPr txBox="1"/>
          <p:nvPr/>
        </p:nvSpPr>
        <p:spPr>
          <a:xfrm>
            <a:off x="1100146" y="3013224"/>
            <a:ext cx="2881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The beta distribution:</a:t>
            </a:r>
            <a:endParaRPr lang="en-IL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9B2C05-DA8A-7E7F-3654-1008E9FFE95D}"/>
              </a:ext>
            </a:extLst>
          </p:cNvPr>
          <p:cNvSpPr txBox="1"/>
          <p:nvPr/>
        </p:nvSpPr>
        <p:spPr>
          <a:xfrm>
            <a:off x="1100145" y="4225280"/>
            <a:ext cx="2476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The beta function:</a:t>
            </a:r>
            <a:endParaRPr lang="en-IL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CCD00-30E7-DB57-178E-9986656DA893}"/>
              </a:ext>
            </a:extLst>
          </p:cNvPr>
          <p:cNvSpPr txBox="1"/>
          <p:nvPr/>
        </p:nvSpPr>
        <p:spPr>
          <a:xfrm>
            <a:off x="1167878" y="5575924"/>
            <a:ext cx="65353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The beta function normalizes the beta distribution:</a:t>
            </a:r>
            <a:endParaRPr lang="en-IL" sz="2400"/>
          </a:p>
        </p:txBody>
      </p:sp>
    </p:spTree>
    <p:extLst>
      <p:ext uri="{BB962C8B-B14F-4D97-AF65-F5344CB8AC3E}">
        <p14:creationId xmlns:p14="http://schemas.microsoft.com/office/powerpoint/2010/main" val="111811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658" y="226580"/>
            <a:ext cx="10515600" cy="604549"/>
          </a:xfrm>
        </p:spPr>
        <p:txBody>
          <a:bodyPr>
            <a:noAutofit/>
          </a:bodyPr>
          <a:lstStyle/>
          <a:p>
            <a:r>
              <a:rPr lang="en-US" dirty="0"/>
              <a:t>What does the Beta distribution look like?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9989" y="1661318"/>
            <a:ext cx="3946236" cy="3535363"/>
          </a:xfrm>
        </p:spPr>
        <p:txBody>
          <a:bodyPr/>
          <a:lstStyle/>
          <a:p>
            <a:r>
              <a:rPr lang="en-US" dirty="0"/>
              <a:t>A large variety of “plausible” probabilities</a:t>
            </a:r>
          </a:p>
          <a:p>
            <a:pPr lvl="1"/>
            <a:r>
              <a:rPr lang="en-US" dirty="0"/>
              <a:t>Uniform</a:t>
            </a:r>
          </a:p>
          <a:p>
            <a:pPr lvl="1"/>
            <a:r>
              <a:rPr lang="en-US" dirty="0"/>
              <a:t>Biased</a:t>
            </a:r>
          </a:p>
          <a:p>
            <a:pPr lvl="1"/>
            <a:r>
              <a:rPr lang="en-US" dirty="0"/>
              <a:t>Narrow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7E7551A-4720-142B-AC6B-E84488F46D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7863" y="4700588"/>
          <a:ext cx="3408362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49080" imgH="507960" progId="Equation.DSMT4">
                  <p:embed/>
                </p:oleObj>
              </mc:Choice>
              <mc:Fallback>
                <p:oleObj name="Equation" r:id="rId2" imgW="1549080" imgH="50796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7E7551A-4720-142B-AC6B-E84488F46D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7863" y="4700588"/>
                        <a:ext cx="3408362" cy="1116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DE85201-6661-7FD7-846A-2D6AD8A28C4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88913" y="969818"/>
            <a:ext cx="7698429" cy="57858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984F97-4D65-9B9C-3BC4-0CE5B04A8F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564" y="2313295"/>
            <a:ext cx="1857230" cy="13990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8729DA-2807-7106-1211-B6DB3F6B3430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0837" y="2313295"/>
            <a:ext cx="1857231" cy="13990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16DCF4-0F49-5D17-5256-249540AB539B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63855" y="3742170"/>
            <a:ext cx="1857230" cy="13990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D8BAD9-7C6E-AF22-F5E0-9E87EF4BFCCD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8068" y="5141265"/>
            <a:ext cx="1857230" cy="139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508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A5286-3F3F-1C86-056C-BE27C6ED4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use the beta distribution as a prior for the binomial likelihood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89280-A901-8A02-6F74-45F37B02C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9810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Range of 0 to 1 makes sense for </a:t>
            </a:r>
            <a:r>
              <a:rPr lang="en-US" err="1"/>
              <a:t>probility</a:t>
            </a: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/>
              <a:t>Flexibility to represent many possible priors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The beta distribution is a conjugate prior for the binomial likelihood</a:t>
            </a:r>
            <a:endParaRPr lang="en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0588CA-1496-B008-D811-CE14EC4B9562}"/>
              </a:ext>
            </a:extLst>
          </p:cNvPr>
          <p:cNvSpPr txBox="1"/>
          <p:nvPr/>
        </p:nvSpPr>
        <p:spPr>
          <a:xfrm>
            <a:off x="2040467" y="3911600"/>
            <a:ext cx="6711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A conjugate prior for a likelihood:</a:t>
            </a:r>
          </a:p>
          <a:p>
            <a:r>
              <a:rPr lang="en-US" sz="2000"/>
              <a:t>A family of priors where the posterior will also be in the family.</a:t>
            </a:r>
            <a:endParaRPr lang="en-IL" sz="200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627C748-E02C-49FA-6A3E-56A59B3E11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0199" y="4907353"/>
          <a:ext cx="81026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70120" imgH="253800" progId="Equation.DSMT4">
                  <p:embed/>
                </p:oleObj>
              </mc:Choice>
              <mc:Fallback>
                <p:oleObj name="Equation" r:id="rId2" imgW="4470120" imgH="2538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627C748-E02C-49FA-6A3E-56A59B3E11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70199" y="4907353"/>
                        <a:ext cx="8102600" cy="46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89583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0DFC1B-4EF3-9B0E-F96C-E24FED5DC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ED8EF-32C9-5D5D-2D41-87A60A8C1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2.8 Conjugate priors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5A5001-CCA4-A926-3F60-C25876897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Beta-binomial conjugacy and updating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20191521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Beta prior + Binomial posterior → Beta posterior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0247"/>
            <a:ext cx="10515600" cy="115752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is a result of algebra</a:t>
            </a:r>
          </a:p>
          <a:p>
            <a:pPr lvl="1"/>
            <a:r>
              <a:rPr lang="en-US" dirty="0"/>
              <a:t>Briefly now in the slides</a:t>
            </a:r>
          </a:p>
          <a:p>
            <a:pPr lvl="1"/>
            <a:r>
              <a:rPr lang="en-US" dirty="0"/>
              <a:t>More fully in a handout</a:t>
            </a:r>
            <a:endParaRPr lang="en-GB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986777"/>
              </p:ext>
            </p:extLst>
          </p:nvPr>
        </p:nvGraphicFramePr>
        <p:xfrm>
          <a:off x="2620239" y="2651173"/>
          <a:ext cx="2422815" cy="596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28520" imgH="253800" progId="Equation.DSMT4">
                  <p:embed/>
                </p:oleObj>
              </mc:Choice>
              <mc:Fallback>
                <p:oleObj name="Equation" r:id="rId2" imgW="1028520" imgH="25380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20239" y="2651173"/>
                        <a:ext cx="2422815" cy="5960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3932499"/>
              </p:ext>
            </p:extLst>
          </p:nvPr>
        </p:nvGraphicFramePr>
        <p:xfrm>
          <a:off x="3331806" y="3586425"/>
          <a:ext cx="4024313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800" imgH="457200" progId="Equation.DSMT4">
                  <p:embed/>
                </p:oleObj>
              </mc:Choice>
              <mc:Fallback>
                <p:oleObj name="Equation" r:id="rId4" imgW="1828800" imgH="45720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31806" y="3586425"/>
                        <a:ext cx="4024313" cy="1003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3509744"/>
              </p:ext>
            </p:extLst>
          </p:nvPr>
        </p:nvGraphicFramePr>
        <p:xfrm>
          <a:off x="3276244" y="5019410"/>
          <a:ext cx="4079875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54000" imgH="279360" progId="Equation.DSMT4">
                  <p:embed/>
                </p:oleObj>
              </mc:Choice>
              <mc:Fallback>
                <p:oleObj name="Equation" r:id="rId6" imgW="1854000" imgH="27936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76244" y="5019410"/>
                        <a:ext cx="4079875" cy="614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F6BAA49-F1F7-D1DF-D5E1-FF36DB431CBF}"/>
              </a:ext>
            </a:extLst>
          </p:cNvPr>
          <p:cNvSpPr txBox="1"/>
          <p:nvPr/>
        </p:nvSpPr>
        <p:spPr>
          <a:xfrm>
            <a:off x="1337734" y="2662472"/>
            <a:ext cx="11031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Prior:</a:t>
            </a:r>
            <a:endParaRPr lang="en-IL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C9C9F7-55C2-74F1-261A-A8C14F323667}"/>
              </a:ext>
            </a:extLst>
          </p:cNvPr>
          <p:cNvSpPr txBox="1"/>
          <p:nvPr/>
        </p:nvSpPr>
        <p:spPr>
          <a:xfrm>
            <a:off x="1337734" y="3734036"/>
            <a:ext cx="1994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Likelihood:</a:t>
            </a:r>
            <a:endParaRPr lang="en-IL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733171-6257-4C0C-7358-F782489451C2}"/>
              </a:ext>
            </a:extLst>
          </p:cNvPr>
          <p:cNvSpPr txBox="1"/>
          <p:nvPr/>
        </p:nvSpPr>
        <p:spPr>
          <a:xfrm>
            <a:off x="1367600" y="5055262"/>
            <a:ext cx="18040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Posterior:</a:t>
            </a:r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1027795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E1D1D-4B2B-2AB3-C6BA-20AE0AD9F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Beta is a conjugate prior for binomial likelihood</a:t>
            </a:r>
            <a:endParaRPr lang="en-IL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78EB92-F8C8-FA85-3FBE-6DA39C5F4E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If:</a:t>
                </a:r>
              </a:p>
              <a:p>
                <a:pPr lvl="1"/>
                <a:r>
                  <a:rPr lang="en-US" dirty="0"/>
                  <a:t>Likelihood has some distribution: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Prior has some distribution: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b="1" dirty="0"/>
                  <a:t>And:</a:t>
                </a:r>
              </a:p>
              <a:p>
                <a:pPr lvl="1"/>
                <a:r>
                  <a:rPr lang="en-US" dirty="0"/>
                  <a:t>Posterior has same distribution as prior: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b="1" dirty="0"/>
                  <a:t>THEN:</a:t>
                </a:r>
                <a:endParaRPr lang="en-US" dirty="0"/>
              </a:p>
              <a:p>
                <a:pPr lvl="1"/>
                <a:r>
                  <a:rPr lang="en-US" b="1" dirty="0"/>
                  <a:t>Priors in the family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𝑮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</m:d>
                  </m:oMath>
                </a14:m>
                <a:r>
                  <a:rPr lang="en-US" b="1" dirty="0"/>
                  <a:t> are conjugate priors for likelihood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en-US" b="1" dirty="0"/>
                  <a:t>.</a:t>
                </a:r>
                <a:endParaRPr lang="en-IL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78EB92-F8C8-FA85-3FBE-6DA39C5F4E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581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9D8C3-4489-574F-CCEB-64CF0C60A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B89F2-82B1-7705-4689-06128EF3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A simplified </a:t>
            </a:r>
            <a:r>
              <a:rPr lang="en-US" dirty="0" err="1"/>
              <a:t>derivaiton</a:t>
            </a:r>
            <a:endParaRPr lang="en-GB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CC05EAE2-B27A-4D18-62AA-9D4229DDFC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1577571"/>
              </p:ext>
            </p:extLst>
          </p:nvPr>
        </p:nvGraphicFramePr>
        <p:xfrm>
          <a:off x="2149118" y="4762500"/>
          <a:ext cx="3743325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01720" imgH="393480" progId="Equation.DSMT4">
                  <p:embed/>
                </p:oleObj>
              </mc:Choice>
              <mc:Fallback>
                <p:oleObj name="Equation" r:id="rId2" imgW="1701720" imgH="39348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49118" y="4762500"/>
                        <a:ext cx="3743325" cy="865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E0CF3777-F878-1A85-A3BB-10E9FEB3B5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3049233"/>
              </p:ext>
            </p:extLst>
          </p:nvPr>
        </p:nvGraphicFramePr>
        <p:xfrm>
          <a:off x="5945188" y="4208463"/>
          <a:ext cx="5218112" cy="197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52400" imgH="965160" progId="Equation.DSMT4">
                  <p:embed/>
                </p:oleObj>
              </mc:Choice>
              <mc:Fallback>
                <p:oleObj name="Equation" r:id="rId4" imgW="2552400" imgH="96516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F0186C93-D6E3-D64D-2547-9698A5ADB0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45188" y="4208463"/>
                        <a:ext cx="5218112" cy="1973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DB43885-3F5E-EA85-E883-D60647224B2E}"/>
              </a:ext>
            </a:extLst>
          </p:cNvPr>
          <p:cNvSpPr txBox="1"/>
          <p:nvPr/>
        </p:nvSpPr>
        <p:spPr>
          <a:xfrm>
            <a:off x="266316" y="4874923"/>
            <a:ext cx="18040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Posterior:</a:t>
            </a:r>
            <a:endParaRPr lang="en-IL" sz="3200" dirty="0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9A988757-34C7-7D1D-13FD-4D146BE309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7083283"/>
              </p:ext>
            </p:extLst>
          </p:nvPr>
        </p:nvGraphicFramePr>
        <p:xfrm>
          <a:off x="1567152" y="1953276"/>
          <a:ext cx="2097087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28520" imgH="253800" progId="Equation.DSMT4">
                  <p:embed/>
                </p:oleObj>
              </mc:Choice>
              <mc:Fallback>
                <p:oleObj name="Equation" r:id="rId6" imgW="1028520" imgH="25380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67152" y="1953276"/>
                        <a:ext cx="2097087" cy="515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FF95C900-D45B-ED33-296F-FBB27526C5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712791"/>
              </p:ext>
            </p:extLst>
          </p:nvPr>
        </p:nvGraphicFramePr>
        <p:xfrm>
          <a:off x="2239776" y="3017408"/>
          <a:ext cx="4603750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28800" imgH="457200" progId="Equation.DSMT4">
                  <p:embed/>
                </p:oleObj>
              </mc:Choice>
              <mc:Fallback>
                <p:oleObj name="Equation" r:id="rId8" imgW="1828800" imgH="45720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39776" y="3017408"/>
                        <a:ext cx="4603750" cy="1150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1B7C51C-9131-1B04-E502-EAE69A542DA8}"/>
              </a:ext>
            </a:extLst>
          </p:cNvPr>
          <p:cNvSpPr txBox="1"/>
          <p:nvPr/>
        </p:nvSpPr>
        <p:spPr>
          <a:xfrm>
            <a:off x="266316" y="1900472"/>
            <a:ext cx="11031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Prior:</a:t>
            </a:r>
            <a:endParaRPr lang="en-IL" sz="3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6AADA0-1A59-EE33-F2DB-9D115ACFFB4C}"/>
              </a:ext>
            </a:extLst>
          </p:cNvPr>
          <p:cNvSpPr txBox="1"/>
          <p:nvPr/>
        </p:nvSpPr>
        <p:spPr>
          <a:xfrm>
            <a:off x="245704" y="3275275"/>
            <a:ext cx="1994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Likelihood:</a:t>
            </a:r>
            <a:endParaRPr lang="en-IL" sz="3200" dirty="0"/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F74184DA-F674-2A4F-78ED-8A63D93490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8766563"/>
              </p:ext>
            </p:extLst>
          </p:nvPr>
        </p:nvGraphicFramePr>
        <p:xfrm>
          <a:off x="3664239" y="1525406"/>
          <a:ext cx="2669810" cy="1334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71661" imgH="686286" progId="Equation.DSMT4">
                  <p:embed/>
                </p:oleObj>
              </mc:Choice>
              <mc:Fallback>
                <p:oleObj name="Equation" r:id="rId10" imgW="1371661" imgH="68628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664239" y="1525406"/>
                        <a:ext cx="2669810" cy="1334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5870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2DE7A-2CF3-5409-A187-4AE1F9010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7A68E23-491C-2C85-33F1-FBF2CF1A261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6"/>
                <a:ext cx="10515600" cy="851986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 Form of Beta distributions depends only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</a:t>
                </a:r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7A68E23-491C-2C85-33F1-FBF2CF1A26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6"/>
                <a:ext cx="10515600" cy="851986"/>
              </a:xfrm>
              <a:blipFill>
                <a:blip r:embed="rId2"/>
                <a:stretch>
                  <a:fillRect l="-986" t="-7857" b="-1785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B6C7CEF-F29F-9BF0-F9A3-FB15A1BAD9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3564818"/>
              </p:ext>
            </p:extLst>
          </p:nvPr>
        </p:nvGraphicFramePr>
        <p:xfrm>
          <a:off x="2204536" y="2204028"/>
          <a:ext cx="3743325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01720" imgH="393480" progId="Equation.DSMT4">
                  <p:embed/>
                </p:oleObj>
              </mc:Choice>
              <mc:Fallback>
                <p:oleObj name="Equation" r:id="rId3" imgW="1701720" imgH="39348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CC05EAE2-B27A-4D18-62AA-9D4229DDF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04536" y="2204028"/>
                        <a:ext cx="3743325" cy="865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7BA2A511-BC25-31B8-7B7C-D9FED1C973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351384"/>
              </p:ext>
            </p:extLst>
          </p:nvPr>
        </p:nvGraphicFramePr>
        <p:xfrm>
          <a:off x="6000750" y="1649413"/>
          <a:ext cx="5218113" cy="197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52400" imgH="965160" progId="Equation.DSMT4">
                  <p:embed/>
                </p:oleObj>
              </mc:Choice>
              <mc:Fallback>
                <p:oleObj name="Equation" r:id="rId5" imgW="2552400" imgH="96516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E0CF3777-F878-1A85-A3BB-10E9FEB3B5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00750" y="1649413"/>
                        <a:ext cx="5218113" cy="1973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A725763-A543-B786-923D-72AF952396E1}"/>
              </a:ext>
            </a:extLst>
          </p:cNvPr>
          <p:cNvSpPr txBox="1"/>
          <p:nvPr/>
        </p:nvSpPr>
        <p:spPr>
          <a:xfrm>
            <a:off x="321734" y="2316451"/>
            <a:ext cx="18040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Posterior:</a:t>
            </a:r>
            <a:endParaRPr lang="en-IL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C98A60-C932-E5F6-D4AA-386CE8B4F0C4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rcRect l="35415" t="26352" r="33532" b="36882"/>
          <a:stretch>
            <a:fillRect/>
          </a:stretch>
        </p:blipFill>
        <p:spPr>
          <a:xfrm>
            <a:off x="6825673" y="1771434"/>
            <a:ext cx="609600" cy="8651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56F8BC-7FAF-39A6-4577-EC7BBB1AAA6C}"/>
              </a:ext>
            </a:extLst>
          </p:cNvPr>
          <p:cNvPicPr>
            <a:picLocks/>
          </p:cNvPicPr>
          <p:nvPr/>
        </p:nvPicPr>
        <p:blipFill>
          <a:blip r:embed="rId7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rcRect l="35415" t="26352" r="33532" b="36882"/>
          <a:stretch>
            <a:fillRect/>
          </a:stretch>
        </p:blipFill>
        <p:spPr>
          <a:xfrm>
            <a:off x="9304774" y="2265444"/>
            <a:ext cx="1065125" cy="3711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2037AC-F570-3E76-47C8-7198E369D738}"/>
              </a:ext>
            </a:extLst>
          </p:cNvPr>
          <p:cNvPicPr>
            <a:picLocks/>
          </p:cNvPicPr>
          <p:nvPr/>
        </p:nvPicPr>
        <p:blipFill>
          <a:blip r:embed="rId7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rcRect l="35415" t="26352" r="33532" b="36882"/>
          <a:stretch>
            <a:fillRect/>
          </a:stretch>
        </p:blipFill>
        <p:spPr>
          <a:xfrm>
            <a:off x="6293110" y="2782116"/>
            <a:ext cx="4977912" cy="646884"/>
          </a:xfrm>
          <a:prstGeom prst="rect">
            <a:avLst/>
          </a:prstGeom>
        </p:spPr>
      </p:pic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F46BE719-B5F6-4B2D-1E85-10437C84BC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935400"/>
              </p:ext>
            </p:extLst>
          </p:nvPr>
        </p:nvGraphicFramePr>
        <p:xfrm>
          <a:off x="6057900" y="4056063"/>
          <a:ext cx="5345113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52480" imgH="279360" progId="Equation.DSMT4">
                  <p:embed/>
                </p:oleObj>
              </mc:Choice>
              <mc:Fallback>
                <p:oleObj name="Equation" r:id="rId8" imgW="17524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57900" y="4056063"/>
                        <a:ext cx="5345113" cy="85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9375231A-73B6-6833-7D18-19FBE99F55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018067"/>
              </p:ext>
            </p:extLst>
          </p:nvPr>
        </p:nvGraphicFramePr>
        <p:xfrm>
          <a:off x="6096000" y="5109369"/>
          <a:ext cx="4029939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20480" imgH="279360" progId="Equation.DSMT4">
                  <p:embed/>
                </p:oleObj>
              </mc:Choice>
              <mc:Fallback>
                <p:oleObj name="Equation" r:id="rId10" imgW="13204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096000" y="5109369"/>
                        <a:ext cx="4029939" cy="85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EE850BBD-72C4-5134-6FE5-1E44F38275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9190567"/>
              </p:ext>
            </p:extLst>
          </p:nvPr>
        </p:nvGraphicFramePr>
        <p:xfrm>
          <a:off x="6168045" y="6053977"/>
          <a:ext cx="3678527" cy="681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71600" imgH="253800" progId="Equation.DSMT4">
                  <p:embed/>
                </p:oleObj>
              </mc:Choice>
              <mc:Fallback>
                <p:oleObj name="Equation" r:id="rId12" imgW="13716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168045" y="6053977"/>
                        <a:ext cx="3678527" cy="6812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8F08CE32-909C-0E4E-D714-946BEA4419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603205"/>
              </p:ext>
            </p:extLst>
          </p:nvPr>
        </p:nvGraphicFramePr>
        <p:xfrm>
          <a:off x="825775" y="5621690"/>
          <a:ext cx="2600085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49080" imgH="507960" progId="Equation.DSMT4">
                  <p:embed/>
                </p:oleObj>
              </mc:Choice>
              <mc:Fallback>
                <p:oleObj name="Equation" r:id="rId14" imgW="154908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25775" y="5621690"/>
                        <a:ext cx="2600085" cy="85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48E2DA86-7DF4-7DB6-E267-2BA1416695B6}"/>
              </a:ext>
            </a:extLst>
          </p:cNvPr>
          <p:cNvSpPr txBox="1"/>
          <p:nvPr/>
        </p:nvSpPr>
        <p:spPr>
          <a:xfrm>
            <a:off x="1016000" y="5252358"/>
            <a:ext cx="1971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Beta distribution</a:t>
            </a:r>
            <a:endParaRPr lang="en-IL" sz="2000" b="1" dirty="0"/>
          </a:p>
        </p:txBody>
      </p:sp>
    </p:spTree>
    <p:extLst>
      <p:ext uri="{BB962C8B-B14F-4D97-AF65-F5344CB8AC3E}">
        <p14:creationId xmlns:p14="http://schemas.microsoft.com/office/powerpoint/2010/main" val="1570390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DF25E-A422-52E4-3444-4369C6FCC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Bayesian simplification through proportionality</a:t>
            </a:r>
            <a:endParaRPr lang="en-IL" sz="4000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99D55AB2-8254-DFEA-EB62-A034742E95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19887"/>
              </p:ext>
            </p:extLst>
          </p:nvPr>
        </p:nvGraphicFramePr>
        <p:xfrm>
          <a:off x="2239776" y="4379953"/>
          <a:ext cx="1089025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5000" imgH="279360" progId="Equation.DSMT4">
                  <p:embed/>
                </p:oleObj>
              </mc:Choice>
              <mc:Fallback>
                <p:oleObj name="Equation" r:id="rId2" imgW="495000" imgH="27936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CC05EAE2-B27A-4D18-62AA-9D4229DDF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39776" y="4379953"/>
                        <a:ext cx="1089025" cy="614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7A9BC49-A08F-8581-7AED-49B8FDFFA855}"/>
              </a:ext>
            </a:extLst>
          </p:cNvPr>
          <p:cNvSpPr txBox="1"/>
          <p:nvPr/>
        </p:nvSpPr>
        <p:spPr>
          <a:xfrm>
            <a:off x="266316" y="4424601"/>
            <a:ext cx="18040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Posterior:</a:t>
            </a:r>
            <a:endParaRPr lang="en-IL" sz="3200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2814C440-CD1F-0813-FC49-1E04D28F55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892912"/>
              </p:ext>
            </p:extLst>
          </p:nvPr>
        </p:nvGraphicFramePr>
        <p:xfrm>
          <a:off x="1567152" y="1953276"/>
          <a:ext cx="2097087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28520" imgH="253800" progId="Equation.DSMT4">
                  <p:embed/>
                </p:oleObj>
              </mc:Choice>
              <mc:Fallback>
                <p:oleObj name="Equation" r:id="rId4" imgW="1028520" imgH="25380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9A988757-34C7-7D1D-13FD-4D146BE309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67152" y="1953276"/>
                        <a:ext cx="2097087" cy="515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E34E098B-9C4C-6ECE-C592-4C7D9B4169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7754821"/>
              </p:ext>
            </p:extLst>
          </p:nvPr>
        </p:nvGraphicFramePr>
        <p:xfrm>
          <a:off x="2239776" y="3183487"/>
          <a:ext cx="1662112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60240" imgH="304560" progId="Equation.DSMT4">
                  <p:embed/>
                </p:oleObj>
              </mc:Choice>
              <mc:Fallback>
                <p:oleObj name="Equation" r:id="rId6" imgW="660240" imgH="30456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FF95C900-D45B-ED33-296F-FBB27526C5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39776" y="3183487"/>
                        <a:ext cx="1662112" cy="768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10F3F11-FEF4-1701-6C26-837D7DC631F7}"/>
              </a:ext>
            </a:extLst>
          </p:cNvPr>
          <p:cNvSpPr txBox="1"/>
          <p:nvPr/>
        </p:nvSpPr>
        <p:spPr>
          <a:xfrm>
            <a:off x="266316" y="1900472"/>
            <a:ext cx="11031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Prior:</a:t>
            </a:r>
            <a:endParaRPr lang="en-IL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419A61-C3CF-6791-AED9-2D249951FB70}"/>
              </a:ext>
            </a:extLst>
          </p:cNvPr>
          <p:cNvSpPr txBox="1"/>
          <p:nvPr/>
        </p:nvSpPr>
        <p:spPr>
          <a:xfrm>
            <a:off x="245704" y="3275275"/>
            <a:ext cx="1994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Likelihood:</a:t>
            </a:r>
            <a:endParaRPr lang="en-IL" sz="3200" dirty="0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78A82E15-A4E4-680F-E8F3-014257DFCC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7557770"/>
              </p:ext>
            </p:extLst>
          </p:nvPr>
        </p:nvGraphicFramePr>
        <p:xfrm>
          <a:off x="3664239" y="1869378"/>
          <a:ext cx="2348634" cy="661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90360" imgH="279360" progId="Equation.DSMT4">
                  <p:embed/>
                </p:oleObj>
              </mc:Choice>
              <mc:Fallback>
                <p:oleObj name="Equation" r:id="rId8" imgW="990360" imgH="27936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F74184DA-F674-2A4F-78ED-8A63D93490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664239" y="1869378"/>
                        <a:ext cx="2348634" cy="6610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20422A25-2064-819C-31F7-27450A0E15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45758"/>
              </p:ext>
            </p:extLst>
          </p:nvPr>
        </p:nvGraphicFramePr>
        <p:xfrm>
          <a:off x="3901888" y="3183487"/>
          <a:ext cx="2447962" cy="74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14400" imgH="279360" progId="Equation.DSMT4">
                  <p:embed/>
                </p:oleObj>
              </mc:Choice>
              <mc:Fallback>
                <p:oleObj name="Equation" r:id="rId10" imgW="9144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901888" y="3183487"/>
                        <a:ext cx="2447962" cy="747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F04DA306-690F-1050-1EF0-A5ED532B4C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2447501"/>
              </p:ext>
            </p:extLst>
          </p:nvPr>
        </p:nvGraphicFramePr>
        <p:xfrm>
          <a:off x="3285569" y="4424601"/>
          <a:ext cx="3312131" cy="483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18960" imgH="177480" progId="Equation.DSMT4">
                  <p:embed/>
                </p:oleObj>
              </mc:Choice>
              <mc:Fallback>
                <p:oleObj name="Equation" r:id="rId12" imgW="12189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285569" y="4424601"/>
                        <a:ext cx="3312131" cy="4830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EFFBB7C0-E363-81D5-C881-F7D634D561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4805112"/>
              </p:ext>
            </p:extLst>
          </p:nvPr>
        </p:nvGraphicFramePr>
        <p:xfrm>
          <a:off x="3477057" y="5115451"/>
          <a:ext cx="3789467" cy="604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52480" imgH="279360" progId="Equation.DSMT4">
                  <p:embed/>
                </p:oleObj>
              </mc:Choice>
              <mc:Fallback>
                <p:oleObj name="Equation" r:id="rId14" imgW="17524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477057" y="5115451"/>
                        <a:ext cx="3789467" cy="6041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F62DEAA8-2A7D-2A15-88BF-B092725C51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0757685"/>
              </p:ext>
            </p:extLst>
          </p:nvPr>
        </p:nvGraphicFramePr>
        <p:xfrm>
          <a:off x="3527426" y="5927400"/>
          <a:ext cx="3070274" cy="649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20480" imgH="279360" progId="Equation.DSMT4">
                  <p:embed/>
                </p:oleObj>
              </mc:Choice>
              <mc:Fallback>
                <p:oleObj name="Equation" r:id="rId16" imgW="13204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527426" y="5927400"/>
                        <a:ext cx="3070274" cy="6494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1CFBE9C-DEED-B3CD-40A3-6DA1D6923760}"/>
              </a:ext>
            </a:extLst>
          </p:cNvPr>
          <p:cNvSpPr txBox="1"/>
          <p:nvPr/>
        </p:nvSpPr>
        <p:spPr>
          <a:xfrm>
            <a:off x="7536873" y="5992106"/>
            <a:ext cx="33805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Beta distribution</a:t>
            </a:r>
            <a:endParaRPr lang="en-IL" sz="32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0C4EA7-D88E-7A68-1BA5-939827DFB1DB}"/>
              </a:ext>
            </a:extLst>
          </p:cNvPr>
          <p:cNvCxnSpPr>
            <a:stCxn id="15" idx="1"/>
            <a:endCxn id="14" idx="3"/>
          </p:cNvCxnSpPr>
          <p:nvPr/>
        </p:nvCxnSpPr>
        <p:spPr>
          <a:xfrm flipH="1" flipV="1">
            <a:off x="6597700" y="6252140"/>
            <a:ext cx="939173" cy="3235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11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Analytic solution to Bayesian estimation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0243"/>
            <a:ext cx="10515600" cy="963035"/>
          </a:xfrm>
        </p:spPr>
        <p:txBody>
          <a:bodyPr>
            <a:normAutofit/>
          </a:bodyPr>
          <a:lstStyle/>
          <a:p>
            <a:r>
              <a:rPr lang="en-US"/>
              <a:t>If the prior is a Beta distribution</a:t>
            </a:r>
          </a:p>
          <a:p>
            <a:pPr lvl="1"/>
            <a:r>
              <a:rPr lang="en-US"/>
              <a:t>Then the posterior is a different Beta distribution</a:t>
            </a:r>
            <a:endParaRPr lang="en-GB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3793642"/>
              </p:ext>
            </p:extLst>
          </p:nvPr>
        </p:nvGraphicFramePr>
        <p:xfrm>
          <a:off x="952500" y="2606675"/>
          <a:ext cx="4443413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19240" imgH="507960" progId="Equation.DSMT4">
                  <p:embed/>
                </p:oleObj>
              </mc:Choice>
              <mc:Fallback>
                <p:oleObj name="Equation" r:id="rId2" imgW="2019240" imgH="50796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52500" y="2606675"/>
                        <a:ext cx="4443413" cy="1116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838200" y="4043650"/>
          <a:ext cx="340995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49080" imgH="291960" progId="Equation.DSMT4">
                  <p:embed/>
                </p:oleObj>
              </mc:Choice>
              <mc:Fallback>
                <p:oleObj name="Equation" r:id="rId4" imgW="1549080" imgH="29196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8200" y="4043650"/>
                        <a:ext cx="3409950" cy="641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9033319"/>
              </p:ext>
            </p:extLst>
          </p:nvPr>
        </p:nvGraphicFramePr>
        <p:xfrm>
          <a:off x="1481138" y="5267325"/>
          <a:ext cx="4332287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68480" imgH="279360" progId="Equation.DSMT4">
                  <p:embed/>
                </p:oleObj>
              </mc:Choice>
              <mc:Fallback>
                <p:oleObj name="Equation" r:id="rId6" imgW="1968480" imgH="27936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81138" y="5267325"/>
                        <a:ext cx="4332287" cy="614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0552FE1-C52B-5599-CDC8-1E2C6D7862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0525" y="2814204"/>
            <a:ext cx="5107933" cy="332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6897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1742"/>
          </a:xfrm>
        </p:spPr>
        <p:txBody>
          <a:bodyPr>
            <a:normAutofit fontScale="90000"/>
          </a:bodyPr>
          <a:lstStyle/>
          <a:p>
            <a:r>
              <a:rPr lang="en-US" dirty="0"/>
              <a:t>Pseudo-count interpretation of conjugate prior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19667" y="1190121"/>
                <a:ext cx="10515600" cy="137463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Previous experience is like having done the experiment before</a:t>
                </a:r>
              </a:p>
              <a:p>
                <a:pPr lvl="1"/>
                <a:r>
                  <a:rPr lang="en-US" dirty="0"/>
                  <a:t>Equivalent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dirty="0"/>
                  <a:t> previous tries</a:t>
                </a:r>
              </a:p>
              <a:p>
                <a:pPr lvl="1"/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successes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9667" y="1190121"/>
                <a:ext cx="10515600" cy="1374630"/>
              </a:xfrm>
              <a:blipFill>
                <a:blip r:embed="rId2"/>
                <a:stretch>
                  <a:fillRect l="-1043" t="-7080" b="-177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3978666"/>
              </p:ext>
            </p:extLst>
          </p:nvPr>
        </p:nvGraphicFramePr>
        <p:xfrm>
          <a:off x="906463" y="3167063"/>
          <a:ext cx="4443412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19240" imgH="507960" progId="Equation.DSMT4">
                  <p:embed/>
                </p:oleObj>
              </mc:Choice>
              <mc:Fallback>
                <p:oleObj name="Equation" r:id="rId3" imgW="2019240" imgH="50796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6463" y="3167063"/>
                        <a:ext cx="4443412" cy="1116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838200" y="4412959"/>
          <a:ext cx="340995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49080" imgH="291960" progId="Equation.DSMT4">
                  <p:embed/>
                </p:oleObj>
              </mc:Choice>
              <mc:Fallback>
                <p:oleObj name="Equation" r:id="rId5" imgW="1549080" imgH="29196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8200" y="4412959"/>
                        <a:ext cx="3409950" cy="641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0023415"/>
              </p:ext>
            </p:extLst>
          </p:nvPr>
        </p:nvGraphicFramePr>
        <p:xfrm>
          <a:off x="1231900" y="5199063"/>
          <a:ext cx="4332288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68480" imgH="279360" progId="Equation.DSMT4">
                  <p:embed/>
                </p:oleObj>
              </mc:Choice>
              <mc:Fallback>
                <p:oleObj name="Equation" r:id="rId7" imgW="1968480" imgH="27936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31900" y="5199063"/>
                        <a:ext cx="4332288" cy="614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619E014-0E54-BFC0-DE3D-C3B576F7B6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0484" y="2419603"/>
            <a:ext cx="5387527" cy="351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1997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AF3B25-BBAD-8151-E8A9-DA771688A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E3FB2-3F03-1DB1-F4A1-1F256B19F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2.9 Posterior distribution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4DE7A-28FB-FBA5-B2FD-D804146E0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Posterior updating and accumulation of evidence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39404046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D5FEF-A1A2-4CE7-0EEE-D3678CEBB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Apply this to coin flipping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E6027-D701-C206-B240-D4F8984E6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67320"/>
          </a:xfrm>
        </p:spPr>
        <p:txBody>
          <a:bodyPr>
            <a:normAutofit/>
          </a:bodyPr>
          <a:lstStyle/>
          <a:p>
            <a:r>
              <a:rPr lang="en-US" dirty="0"/>
              <a:t>Imagine three different priors</a:t>
            </a:r>
          </a:p>
          <a:p>
            <a:pPr lvl="1"/>
            <a:r>
              <a:rPr lang="en-US" dirty="0"/>
              <a:t>Uniform prior: a=1, b=1</a:t>
            </a:r>
          </a:p>
          <a:p>
            <a:pPr lvl="1"/>
            <a:r>
              <a:rPr lang="en-US" dirty="0"/>
              <a:t>Prior for unbiased: a=20, b=20</a:t>
            </a:r>
          </a:p>
          <a:p>
            <a:pPr lvl="1"/>
            <a:r>
              <a:rPr lang="en-US" dirty="0"/>
              <a:t>Positive skewed prior: a=1, b=4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2E4A4B-0B6A-E8BF-9BC1-889EF154CC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370" r="32876" b="71313"/>
          <a:stretch/>
        </p:blipFill>
        <p:spPr>
          <a:xfrm>
            <a:off x="6096000" y="2946401"/>
            <a:ext cx="5488351" cy="34082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4D7C74-1FE5-35C5-5B0D-B4419B24F401}"/>
              </a:ext>
            </a:extLst>
          </p:cNvPr>
          <p:cNvSpPr txBox="1"/>
          <p:nvPr/>
        </p:nvSpPr>
        <p:spPr>
          <a:xfrm>
            <a:off x="773546" y="4898525"/>
            <a:ext cx="4265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Can you tell which is which?</a:t>
            </a:r>
            <a:endParaRPr lang="en-IL" sz="280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9CF8D3A-3106-15B2-854D-398DBF6CE377}"/>
              </a:ext>
            </a:extLst>
          </p:cNvPr>
          <p:cNvCxnSpPr>
            <a:cxnSpLocks/>
          </p:cNvCxnSpPr>
          <p:nvPr/>
        </p:nvCxnSpPr>
        <p:spPr>
          <a:xfrm>
            <a:off x="2715491" y="2466109"/>
            <a:ext cx="3860800" cy="295563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644C347-BBF3-7A40-8527-8EF15B2B1DD8}"/>
              </a:ext>
            </a:extLst>
          </p:cNvPr>
          <p:cNvCxnSpPr>
            <a:cxnSpLocks/>
          </p:cNvCxnSpPr>
          <p:nvPr/>
        </p:nvCxnSpPr>
        <p:spPr>
          <a:xfrm>
            <a:off x="3084945" y="2946401"/>
            <a:ext cx="5366328" cy="18565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6357B1-AFCB-2110-664B-8BD94107C215}"/>
              </a:ext>
            </a:extLst>
          </p:cNvPr>
          <p:cNvCxnSpPr>
            <a:cxnSpLocks/>
          </p:cNvCxnSpPr>
          <p:nvPr/>
        </p:nvCxnSpPr>
        <p:spPr>
          <a:xfrm>
            <a:off x="2789382" y="3251200"/>
            <a:ext cx="3565236" cy="155170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4613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68390-00F2-FB6C-ECBC-D849771CE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47DFF-0C10-E89A-46E1-965146748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Flip your first coin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BEBE6-B394-0E83-EC0A-FCE9C8EEF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67320"/>
          </a:xfrm>
        </p:spPr>
        <p:txBody>
          <a:bodyPr>
            <a:normAutofit/>
          </a:bodyPr>
          <a:lstStyle/>
          <a:p>
            <a:r>
              <a:rPr lang="en-US"/>
              <a:t>Imagine three different priors</a:t>
            </a:r>
          </a:p>
          <a:p>
            <a:r>
              <a:rPr lang="en-US"/>
              <a:t>Flip a coin, get a head</a:t>
            </a:r>
          </a:p>
          <a:p>
            <a:r>
              <a:rPr lang="en-US"/>
              <a:t>Update the posterior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B4377F-ACED-1F22-1415-7FB958FC15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370" r="32876" b="71313"/>
          <a:stretch/>
        </p:blipFill>
        <p:spPr>
          <a:xfrm>
            <a:off x="286327" y="3727882"/>
            <a:ext cx="4223631" cy="26228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552AD0-93C6-68EE-88D5-4FB10049D1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" t="28790" r="67136" b="46766"/>
          <a:stretch/>
        </p:blipFill>
        <p:spPr>
          <a:xfrm>
            <a:off x="6474690" y="3727881"/>
            <a:ext cx="4221463" cy="2386592"/>
          </a:xfrm>
          <a:prstGeom prst="rect">
            <a:avLst/>
          </a:prstGeom>
        </p:spPr>
      </p:pic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5CB38FFC-7FC3-3320-DDE6-A02EBD4169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89663" y="2041525"/>
          <a:ext cx="4725987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34880" imgH="279360" progId="Equation.DSMT4">
                  <p:embed/>
                </p:oleObj>
              </mc:Choice>
              <mc:Fallback>
                <p:oleObj name="Equation" r:id="rId3" imgW="2234880" imgH="27936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5CB38FFC-7FC3-3320-DDE6-A02EBD4169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89663" y="2041525"/>
                        <a:ext cx="4725987" cy="59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00224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CB436-C581-6F68-3344-0B0E51482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96E4C-59CD-45F0-6E6A-4CAE22DC8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Flip your second coin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D9694-BFFB-1CB2-8F63-F710BB420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67320"/>
          </a:xfrm>
        </p:spPr>
        <p:txBody>
          <a:bodyPr>
            <a:normAutofit/>
          </a:bodyPr>
          <a:lstStyle/>
          <a:p>
            <a:r>
              <a:rPr lang="en-US"/>
              <a:t>Imagine three different priors</a:t>
            </a:r>
          </a:p>
          <a:p>
            <a:r>
              <a:rPr lang="en-US"/>
              <a:t>Flip two coins, get one head</a:t>
            </a:r>
          </a:p>
          <a:p>
            <a:r>
              <a:rPr lang="en-US"/>
              <a:t>Update the posterior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085D24-B766-FC93-4C1F-A448AF954F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370" r="32876" b="71313"/>
          <a:stretch/>
        </p:blipFill>
        <p:spPr>
          <a:xfrm>
            <a:off x="166255" y="3435887"/>
            <a:ext cx="3205018" cy="19902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299DAD-5CD6-FB77-F248-E267804216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" t="29831" r="33483" b="45725"/>
          <a:stretch/>
        </p:blipFill>
        <p:spPr>
          <a:xfrm>
            <a:off x="4184072" y="4509473"/>
            <a:ext cx="7169727" cy="1983401"/>
          </a:xfrm>
          <a:prstGeom prst="rect">
            <a:avLst/>
          </a:prstGeom>
        </p:spPr>
      </p:pic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98CBC69-734B-36C0-3617-4566EEABAF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18056" y="2118735"/>
          <a:ext cx="558482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41320" imgH="279360" progId="Equation.DSMT4">
                  <p:embed/>
                </p:oleObj>
              </mc:Choice>
              <mc:Fallback>
                <p:oleObj name="Equation" r:id="rId3" imgW="2641320" imgH="27936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98CBC69-734B-36C0-3617-4566EEABAF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18056" y="2118735"/>
                        <a:ext cx="5584825" cy="59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45667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FD647-5FAA-DE65-A8C2-26D4A0481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2182E-9FF3-7C7F-F96D-59B794B9F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Flip your third coin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6D50A-D86E-6A69-8446-6BE03D1CD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67320"/>
          </a:xfrm>
        </p:spPr>
        <p:txBody>
          <a:bodyPr>
            <a:normAutofit/>
          </a:bodyPr>
          <a:lstStyle/>
          <a:p>
            <a:r>
              <a:rPr lang="en-US"/>
              <a:t>Imagine three different priors</a:t>
            </a:r>
          </a:p>
          <a:p>
            <a:r>
              <a:rPr lang="en-US"/>
              <a:t>Flip three coins, get one head</a:t>
            </a:r>
          </a:p>
          <a:p>
            <a:r>
              <a:rPr lang="en-US"/>
              <a:t>Update the posterior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88395D-11CB-8951-C4D4-6042859BAC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370" r="32876" b="71313"/>
          <a:stretch/>
        </p:blipFill>
        <p:spPr>
          <a:xfrm>
            <a:off x="166255" y="3435887"/>
            <a:ext cx="3205018" cy="19902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0281FC-91FF-0E04-0E17-A574F403A6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" t="29831" r="412" b="45725"/>
          <a:stretch/>
        </p:blipFill>
        <p:spPr>
          <a:xfrm>
            <a:off x="3589866" y="4581251"/>
            <a:ext cx="8365067" cy="1545315"/>
          </a:xfrm>
          <a:prstGeom prst="rect">
            <a:avLst/>
          </a:prstGeom>
        </p:spPr>
      </p:pic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99197C64-F7B2-A226-2257-923B9AF702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5813" y="2119313"/>
          <a:ext cx="5691187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92080" imgH="279360" progId="Equation.DSMT4">
                  <p:embed/>
                </p:oleObj>
              </mc:Choice>
              <mc:Fallback>
                <p:oleObj name="Equation" r:id="rId3" imgW="2692080" imgH="27936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99197C64-F7B2-A226-2257-923B9AF702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65813" y="2119313"/>
                        <a:ext cx="5691187" cy="59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522051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2011D-B3DB-F47F-61D0-4A08B3E08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63509-2462-F2CE-BA0F-394AFF3A5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421467" cy="1325563"/>
          </a:xfrm>
        </p:spPr>
        <p:txBody>
          <a:bodyPr>
            <a:normAutofit fontScale="90000"/>
          </a:bodyPr>
          <a:lstStyle/>
          <a:p>
            <a:r>
              <a:rPr lang="en-US"/>
              <a:t>Keep flipping coins</a:t>
            </a:r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056B48-63BA-8CAC-DD05-338BB47A5F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" t="220" r="412" b="-666"/>
          <a:stretch/>
        </p:blipFill>
        <p:spPr>
          <a:xfrm>
            <a:off x="3513667" y="254000"/>
            <a:ext cx="8365067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6852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93850-0880-247A-649C-432356566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240"/>
          </a:xfrm>
        </p:spPr>
        <p:txBody>
          <a:bodyPr>
            <a:normAutofit/>
          </a:bodyPr>
          <a:lstStyle/>
          <a:p>
            <a:r>
              <a:rPr lang="en-US" dirty="0"/>
              <a:t>Still using grid method to find posterior</a:t>
            </a:r>
            <a:endParaRPr lang="en-I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283B3F-FB21-E7E8-1DB1-314D576BB330}"/>
              </a:ext>
            </a:extLst>
          </p:cNvPr>
          <p:cNvSpPr txBox="1"/>
          <p:nvPr/>
        </p:nvSpPr>
        <p:spPr>
          <a:xfrm>
            <a:off x="1806023" y="2297738"/>
            <a:ext cx="857995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zip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axes_flat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n_trials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:],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n_heads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:]):</a:t>
            </a: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.set_visible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PRIOR_SPECS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posterior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posterior_density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THETA_GRID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.plot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THETA_GRID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posterior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linewidth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.axvline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theta_real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"0.35"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linestyle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":"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linewidth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1.2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.set_title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z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format_theta_axis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56527D-0A06-D48A-914D-D6EC3A5D50CF}"/>
              </a:ext>
            </a:extLst>
          </p:cNvPr>
          <p:cNvSpPr/>
          <p:nvPr/>
        </p:nvSpPr>
        <p:spPr>
          <a:xfrm>
            <a:off x="2733261" y="3081130"/>
            <a:ext cx="6927574" cy="238540"/>
          </a:xfrm>
          <a:prstGeom prst="rect">
            <a:avLst/>
          </a:prstGeom>
          <a:noFill/>
          <a:ln w="28575" cap="flat" cmpd="sng" algn="ctr">
            <a:solidFill>
              <a:schemeClr val="accent3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89737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3E142-CC5A-0163-16DD-0E1A1CA45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8ACB9-25B3-8327-FB32-05B837322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Many things to learn from this figure 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79BE0-BFCF-7055-F73B-FE2B3491E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1240" cy="4351338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A Bayesian analysis leads to a distribution</a:t>
            </a:r>
          </a:p>
          <a:p>
            <a:pPr lvl="1"/>
            <a:r>
              <a:rPr lang="en-US"/>
              <a:t>Mode of distribution gives most probable value</a:t>
            </a:r>
          </a:p>
          <a:p>
            <a:pPr lvl="1"/>
            <a:r>
              <a:rPr lang="en-US"/>
              <a:t>Spread of distribution gives uncertainty</a:t>
            </a:r>
          </a:p>
          <a:p>
            <a:r>
              <a:rPr lang="en-US"/>
              <a:t>More data leads to:</a:t>
            </a:r>
          </a:p>
          <a:p>
            <a:pPr lvl="1"/>
            <a:r>
              <a:rPr lang="en-US"/>
              <a:t>Less spread, less uncertainty</a:t>
            </a:r>
          </a:p>
          <a:p>
            <a:pPr lvl="1"/>
            <a:r>
              <a:rPr lang="en-US"/>
              <a:t>Converging posteriors, agreement on most probable value</a:t>
            </a:r>
          </a:p>
          <a:p>
            <a:r>
              <a:rPr lang="en-US"/>
              <a:t>Some priors are equivalent even with small amounts of data</a:t>
            </a:r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5E7000-8EFF-1F60-0EC4-A9E1D17F2A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" t="220" r="412" b="-666"/>
          <a:stretch/>
        </p:blipFill>
        <p:spPr>
          <a:xfrm>
            <a:off x="6096000" y="1525058"/>
            <a:ext cx="5978234" cy="453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924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AA5CE-359B-A91A-943E-99A3CEE01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133AA-8F49-8956-8355-A77E26A7B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One more thing to know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4C17F-847F-BF8D-7637-9179285B7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1240" cy="4351338"/>
          </a:xfrm>
        </p:spPr>
        <p:txBody>
          <a:bodyPr>
            <a:normAutofit/>
          </a:bodyPr>
          <a:lstStyle/>
          <a:p>
            <a:r>
              <a:rPr lang="en-US"/>
              <a:t>We could add the data in different orders</a:t>
            </a:r>
          </a:p>
          <a:p>
            <a:pPr lvl="1"/>
            <a:r>
              <a:rPr lang="en-US"/>
              <a:t>The final result would be the same</a:t>
            </a:r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E89166-97CB-9755-E7D6-669D514040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" t="220" r="412" b="-666"/>
          <a:stretch/>
        </p:blipFill>
        <p:spPr>
          <a:xfrm>
            <a:off x="6096000" y="1525058"/>
            <a:ext cx="5978234" cy="453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4522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51F026-C581-2238-2CF7-BE487A4DB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7E073-EC1A-EA98-7311-CB8076D17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2.10 Choosing priors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B73E3-9441-0A2A-AC48-4395E2128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Weak priors, strong priors, and prior elicitation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8241236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E689B-702F-6485-4EF8-3D1E6294D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4E73AE-58F6-3769-F45F-10E882843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history of choosing priors</a:t>
            </a:r>
            <a:endParaRPr lang="en-I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3B4B31-ED72-E8B1-0FFD-33C5B0DCF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1930s-1950s: Objective priors</a:t>
            </a:r>
          </a:p>
          <a:p>
            <a:pPr lvl="1"/>
            <a:r>
              <a:rPr lang="en-US" dirty="0"/>
              <a:t>Choose according to a mathematical principle</a:t>
            </a:r>
          </a:p>
          <a:p>
            <a:r>
              <a:rPr lang="en-US" dirty="0"/>
              <a:t>1960s: Maximum entropy priors</a:t>
            </a:r>
          </a:p>
          <a:p>
            <a:pPr lvl="1"/>
            <a:r>
              <a:rPr lang="en-US" dirty="0"/>
              <a:t>Minimize extra information given constraints</a:t>
            </a:r>
          </a:p>
          <a:p>
            <a:r>
              <a:rPr lang="en-US" dirty="0"/>
              <a:t>1980s-1990s: Vague priors</a:t>
            </a:r>
          </a:p>
          <a:p>
            <a:pPr lvl="1"/>
            <a:r>
              <a:rPr lang="en-US" dirty="0"/>
              <a:t>Make priors broad enough that they do not matter</a:t>
            </a:r>
          </a:p>
          <a:p>
            <a:pPr lvl="1"/>
            <a:r>
              <a:rPr lang="en-US" dirty="0"/>
              <a:t>An effort to appease frequentist critique</a:t>
            </a:r>
          </a:p>
          <a:p>
            <a:r>
              <a:rPr lang="en-US" dirty="0"/>
              <a:t>2000s: Empirical priors</a:t>
            </a:r>
          </a:p>
          <a:p>
            <a:pPr lvl="1"/>
            <a:r>
              <a:rPr lang="en-US" dirty="0"/>
              <a:t>Base priors on data</a:t>
            </a:r>
          </a:p>
          <a:p>
            <a:r>
              <a:rPr lang="en-US" dirty="0"/>
              <a:t>2010s: Weakly informative priors</a:t>
            </a:r>
          </a:p>
          <a:p>
            <a:pPr lvl="1"/>
            <a:r>
              <a:rPr lang="en-US" dirty="0"/>
              <a:t>Stabilize analyses</a:t>
            </a:r>
          </a:p>
          <a:p>
            <a:r>
              <a:rPr lang="en-US" dirty="0"/>
              <a:t>2020s: Automatic prior selection</a:t>
            </a:r>
          </a:p>
          <a:p>
            <a:pPr lvl="1"/>
            <a:r>
              <a:rPr lang="en-US" dirty="0"/>
              <a:t>Choose according to a mathematical principle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905875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C4EB2-2794-3C1A-D235-77CF2F69B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23A6D-C113-9084-4258-3DC3E629E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strong priors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24176-D23C-0916-DD89-3C3C867FC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43544" cy="4351338"/>
          </a:xfrm>
        </p:spPr>
        <p:txBody>
          <a:bodyPr/>
          <a:lstStyle/>
          <a:p>
            <a:r>
              <a:rPr lang="en-US" dirty="0"/>
              <a:t>In many hard problems, strong priors make sense</a:t>
            </a:r>
          </a:p>
          <a:p>
            <a:pPr lvl="1"/>
            <a:r>
              <a:rPr lang="en-US" dirty="0"/>
              <a:t>Election polling</a:t>
            </a:r>
          </a:p>
          <a:p>
            <a:pPr lvl="1"/>
            <a:r>
              <a:rPr lang="en-US" dirty="0"/>
              <a:t>Weather prediction</a:t>
            </a:r>
          </a:p>
          <a:p>
            <a:pPr lvl="1"/>
            <a:r>
              <a:rPr lang="en-US" dirty="0"/>
              <a:t>Genetics</a:t>
            </a:r>
          </a:p>
          <a:p>
            <a:r>
              <a:rPr lang="en-US" dirty="0"/>
              <a:t>Strong priors are necessary when there is weak data</a:t>
            </a:r>
          </a:p>
          <a:p>
            <a:r>
              <a:rPr lang="en-US" dirty="0"/>
              <a:t>Strong priors are inappropriate when there is strong data</a:t>
            </a:r>
          </a:p>
          <a:p>
            <a:pPr lvl="1"/>
            <a:r>
              <a:rPr lang="en-US" dirty="0"/>
              <a:t>Unless you don’t trust the data</a:t>
            </a:r>
          </a:p>
          <a:p>
            <a:pPr lvl="2"/>
            <a:r>
              <a:rPr lang="en-US" dirty="0"/>
              <a:t>Like in election polling</a:t>
            </a:r>
            <a:endParaRPr lang="en-IL" dirty="0"/>
          </a:p>
        </p:txBody>
      </p:sp>
      <p:pic>
        <p:nvPicPr>
          <p:cNvPr id="1026" name="Picture 2" descr="RADAR images of integrated rain over Israel (based on the Israeli Meteorological Service) for 25-27 April 2018. The black line indicates the water divide south of the Samarian Mountains.">
            <a:extLst>
              <a:ext uri="{FF2B5EF4-FFF2-40B4-BE49-F238E27FC236}">
                <a16:creationId xmlns:a16="http://schemas.microsoft.com/office/drawing/2014/main" id="{AB74578C-94EE-5D12-582E-FC84ECB27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9334" y="1152144"/>
            <a:ext cx="2855570" cy="5705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31972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D852B-403D-B90B-EFE8-BD523B164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4BAC1-053B-4883-E9DD-50BBBEB06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Prior elicitation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8C6D2-404D-2938-952F-2769F5ED4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598"/>
            <a:ext cx="10515600" cy="4351338"/>
          </a:xfrm>
        </p:spPr>
        <p:txBody>
          <a:bodyPr/>
          <a:lstStyle/>
          <a:p>
            <a:r>
              <a:rPr lang="en-US" dirty="0"/>
              <a:t>Approaches for translating expert knowledge into prior distributions</a:t>
            </a:r>
          </a:p>
          <a:p>
            <a:pPr lvl="1"/>
            <a:r>
              <a:rPr lang="en-US" dirty="0"/>
              <a:t>What questions does it make sense to ask an expert?</a:t>
            </a:r>
          </a:p>
          <a:p>
            <a:pPr lvl="1"/>
            <a:r>
              <a:rPr lang="en-US" dirty="0"/>
              <a:t>How can you take their answers and create a prior distribution?</a:t>
            </a:r>
          </a:p>
          <a:p>
            <a:pPr lvl="1"/>
            <a:r>
              <a:rPr lang="en-US" dirty="0"/>
              <a:t>How can you iterate this process to converge to a prior distribution that truly reflects the expert knowledge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9B3990-A807-5B72-2A87-C5CFEE8EBCF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3432386"/>
            <a:ext cx="3230881" cy="323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4624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05B046-D3DA-A991-4D4C-AA5F8AA95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257F-7297-4031-17D4-896C55E16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2.11 </a:t>
            </a:r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Preliz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34E2B-6A2E-1079-6EB0-E5A69266F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Exploring distributions and finding priors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355268225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DE6DA-E1BA-0DD5-E38C-7A2CDE97C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Preliz</a:t>
            </a:r>
            <a:r>
              <a:rPr lang="en-US"/>
              <a:t>: a package for prior elicitation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10B28-504A-E7D9-3905-AC2E7C3E4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676"/>
            <a:ext cx="10668000" cy="1325563"/>
          </a:xfrm>
        </p:spPr>
        <p:txBody>
          <a:bodyPr>
            <a:normAutofit fontScale="92500"/>
          </a:bodyPr>
          <a:lstStyle/>
          <a:p>
            <a:r>
              <a:rPr lang="en-US">
                <a:cs typeface="Courier New" panose="02070309020205020404" pitchFamily="49" charset="0"/>
              </a:rPr>
              <a:t>I’m pretty sure the coin’s probability is somewhere between 0.1 and 0.7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maxent</a:t>
            </a:r>
            <a:r>
              <a:rPr lang="en-US"/>
              <a:t> finds a Beta prior with X% of the probability between low and high</a:t>
            </a:r>
          </a:p>
          <a:p>
            <a:pPr lvl="1"/>
            <a:r>
              <a:rPr lang="en-US"/>
              <a:t>And displays it</a:t>
            </a:r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2F2E97-9DB7-E980-ECCB-CC90FCF62223}"/>
              </a:ext>
            </a:extLst>
          </p:cNvPr>
          <p:cNvSpPr txBox="1"/>
          <p:nvPr/>
        </p:nvSpPr>
        <p:spPr>
          <a:xfrm>
            <a:off x="736600" y="3269102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preliz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pz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US" b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pz</a:t>
            </a:r>
            <a:r>
              <a:rPr lang="en-US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Beta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pz</a:t>
            </a:r>
            <a:r>
              <a:rPr lang="en-US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maxent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0.7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6C3DD2-00C8-7860-C895-884A402DC74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8109" y="3127566"/>
            <a:ext cx="5294182" cy="298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8699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E1FEA-FE3B-0140-1201-DEAAB5D97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61933" cy="1345142"/>
          </a:xfrm>
        </p:spPr>
        <p:txBody>
          <a:bodyPr>
            <a:normAutofit fontScale="90000"/>
          </a:bodyPr>
          <a:lstStyle/>
          <a:p>
            <a:r>
              <a:rPr lang="en-US" err="1"/>
              <a:t>Preliz</a:t>
            </a:r>
            <a:r>
              <a:rPr lang="en-US"/>
              <a:t> is handy for learning distributions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E3DF5-5456-55C5-8D7E-D189CFC57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04533"/>
            <a:ext cx="5020733" cy="3772430"/>
          </a:xfrm>
        </p:spPr>
        <p:txBody>
          <a:bodyPr>
            <a:normAutofit/>
          </a:bodyPr>
          <a:lstStyle/>
          <a:p>
            <a:r>
              <a:rPr lang="en-US"/>
              <a:t>See the full gallery here:</a:t>
            </a:r>
          </a:p>
          <a:p>
            <a:pPr lvl="1"/>
            <a:r>
              <a:rPr lang="en-US">
                <a:hlinkClick r:id="rId2"/>
              </a:rPr>
              <a:t>https://preliz.readthedocs.io/en/latest/gallery_content.html</a:t>
            </a:r>
            <a:endParaRPr lang="en-US"/>
          </a:p>
          <a:p>
            <a:r>
              <a:rPr lang="en-US"/>
              <a:t>We will use many of these distributions.</a:t>
            </a:r>
          </a:p>
          <a:p>
            <a:r>
              <a:rPr lang="en-US"/>
              <a:t>This is a great reference</a:t>
            </a:r>
          </a:p>
          <a:p>
            <a:r>
              <a:rPr lang="en-US"/>
              <a:t>And it can also help in prior selection</a:t>
            </a:r>
            <a:endParaRPr lang="en-I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E2A356-585A-48A7-B176-F2C9E37FB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158" y="462012"/>
            <a:ext cx="5982218" cy="618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45726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68923-0B28-80A8-027D-94E6EB190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Preliz</a:t>
            </a:r>
            <a:r>
              <a:rPr lang="en-US"/>
              <a:t> home page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92787-DAC0-D18E-CD3D-5A307BB47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72042"/>
          </a:xfrm>
        </p:spPr>
        <p:txBody>
          <a:bodyPr/>
          <a:lstStyle/>
          <a:p>
            <a:r>
              <a:rPr lang="en-US">
                <a:hlinkClick r:id="rId2"/>
              </a:rPr>
              <a:t>https://preliz.readthedocs.io/en/latest/index.html</a:t>
            </a:r>
            <a:endParaRPr lang="en-I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4C0683-807A-5617-3B77-095F2E130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133" y="2593799"/>
            <a:ext cx="5976300" cy="410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36632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1B5F5F-B227-1A00-97CD-58E266C15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06CC-6E53-7DD7-C52E-C306D0D14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2.12 Next week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F94AD-5FC1-D7C6-5125-EC053F675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Beyond grid calculations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27573053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039F8-6AE0-BB8E-6E16-5551D7486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39C33-F7B2-C19B-AF71-653BB8F7B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8742"/>
          </a:xfrm>
        </p:spPr>
        <p:txBody>
          <a:bodyPr>
            <a:normAutofit/>
          </a:bodyPr>
          <a:lstStyle/>
          <a:p>
            <a:r>
              <a:rPr lang="en-US" sz="4000" dirty="0"/>
              <a:t>Sampling as an alternative to grid computation</a:t>
            </a:r>
            <a:endParaRPr lang="en-GB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91F67-B0D5-6048-B776-F20034F45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108"/>
            <a:ext cx="10515600" cy="153811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Grid computation breaks down in high dimensions</a:t>
            </a:r>
          </a:p>
          <a:p>
            <a:r>
              <a:rPr lang="en-US" dirty="0"/>
              <a:t>The better option:</a:t>
            </a:r>
          </a:p>
          <a:p>
            <a:pPr lvl="1"/>
            <a:r>
              <a:rPr lang="en-US" dirty="0"/>
              <a:t>More information where there is more probability</a:t>
            </a:r>
          </a:p>
          <a:p>
            <a:pPr lvl="1"/>
            <a:r>
              <a:rPr lang="en-US" dirty="0"/>
              <a:t>Sampling!</a:t>
            </a:r>
            <a:endParaRPr lang="en-IL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9ADE47-9FE6-FFD0-A8B5-A04AD9C54F6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3235" y="3747777"/>
            <a:ext cx="11404289" cy="199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53686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D2628-5F8F-4F0F-3CEA-BEDD04DFA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EB6B260-124B-87CA-C36C-B229BA7B3185}"/>
              </a:ext>
            </a:extLst>
          </p:cNvPr>
          <p:cNvSpPr/>
          <p:nvPr/>
        </p:nvSpPr>
        <p:spPr>
          <a:xfrm>
            <a:off x="1819564" y="1357745"/>
            <a:ext cx="7093527" cy="3500582"/>
          </a:xfrm>
          <a:prstGeom prst="round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855C27-A8F3-9598-DD1D-C9C2CE8F7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34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PyMC</a:t>
            </a:r>
            <a:r>
              <a:rPr lang="en-US" dirty="0"/>
              <a:t> does sampling or us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CADA7D5-193C-AF34-2FE8-FDFA9589E9F1}"/>
              </a:ext>
            </a:extLst>
          </p:cNvPr>
          <p:cNvSpPr/>
          <p:nvPr/>
        </p:nvSpPr>
        <p:spPr>
          <a:xfrm>
            <a:off x="2248678" y="2635898"/>
            <a:ext cx="1548882" cy="7931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Distributions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6E6B95-1C7B-FEFF-EDF7-1D7C396FE4B9}"/>
              </a:ext>
            </a:extLst>
          </p:cNvPr>
          <p:cNvSpPr/>
          <p:nvPr/>
        </p:nvSpPr>
        <p:spPr>
          <a:xfrm>
            <a:off x="6963750" y="2574325"/>
            <a:ext cx="1548882" cy="79310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Samplers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8F02D93-A45B-3CB3-BE3B-9A3FB6D70DC5}"/>
              </a:ext>
            </a:extLst>
          </p:cNvPr>
          <p:cNvSpPr/>
          <p:nvPr/>
        </p:nvSpPr>
        <p:spPr>
          <a:xfrm>
            <a:off x="6963750" y="3644575"/>
            <a:ext cx="1548882" cy="79310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Variational Bayes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F09DD19-F203-0A67-5265-83B1CDB5FF92}"/>
              </a:ext>
            </a:extLst>
          </p:cNvPr>
          <p:cNvSpPr/>
          <p:nvPr/>
        </p:nvSpPr>
        <p:spPr>
          <a:xfrm>
            <a:off x="2248678" y="3547527"/>
            <a:ext cx="1548882" cy="7931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Utilities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0880CCF-A354-6F02-D75A-FF1F73C9CA2F}"/>
              </a:ext>
            </a:extLst>
          </p:cNvPr>
          <p:cNvSpPr/>
          <p:nvPr/>
        </p:nvSpPr>
        <p:spPr>
          <a:xfrm>
            <a:off x="4500466" y="3032449"/>
            <a:ext cx="1548882" cy="79310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Models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AC609DBB-B4E3-D44D-1C05-B91849EE4BAD}"/>
              </a:ext>
            </a:extLst>
          </p:cNvPr>
          <p:cNvCxnSpPr>
            <a:stCxn id="7" idx="3"/>
            <a:endCxn id="11" idx="1"/>
          </p:cNvCxnSpPr>
          <p:nvPr/>
        </p:nvCxnSpPr>
        <p:spPr>
          <a:xfrm>
            <a:off x="3797560" y="3032449"/>
            <a:ext cx="702906" cy="396551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C6CE195A-9200-D922-1CAF-7A18D969FF55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3797560" y="3429000"/>
            <a:ext cx="702906" cy="515078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D593DCF7-2278-B88A-291F-B5F65F1616D7}"/>
              </a:ext>
            </a:extLst>
          </p:cNvPr>
          <p:cNvCxnSpPr>
            <a:cxnSpLocks/>
            <a:stCxn id="11" idx="3"/>
            <a:endCxn id="8" idx="1"/>
          </p:cNvCxnSpPr>
          <p:nvPr/>
        </p:nvCxnSpPr>
        <p:spPr>
          <a:xfrm flipV="1">
            <a:off x="6049348" y="2970876"/>
            <a:ext cx="914402" cy="458124"/>
          </a:xfrm>
          <a:prstGeom prst="curvedConnector3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DBEB559D-4839-BCAD-A6A1-E852266155DD}"/>
              </a:ext>
            </a:extLst>
          </p:cNvPr>
          <p:cNvCxnSpPr>
            <a:cxnSpLocks/>
            <a:stCxn id="11" idx="3"/>
            <a:endCxn id="9" idx="1"/>
          </p:cNvCxnSpPr>
          <p:nvPr/>
        </p:nvCxnSpPr>
        <p:spPr>
          <a:xfrm>
            <a:off x="6049348" y="3429000"/>
            <a:ext cx="914402" cy="612126"/>
          </a:xfrm>
          <a:prstGeom prst="curvedConnector3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ABCA082-E36D-2B22-53CC-9910D4776D8A}"/>
              </a:ext>
            </a:extLst>
          </p:cNvPr>
          <p:cNvSpPr/>
          <p:nvPr/>
        </p:nvSpPr>
        <p:spPr>
          <a:xfrm>
            <a:off x="3514528" y="1441118"/>
            <a:ext cx="1548882" cy="79310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Specialized applications </a:t>
            </a:r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A0BC80C8-33F5-18DD-2C85-CE19FB9FE72C}"/>
              </a:ext>
            </a:extLst>
          </p:cNvPr>
          <p:cNvCxnSpPr>
            <a:cxnSpLocks/>
            <a:stCxn id="7" idx="3"/>
            <a:endCxn id="23" idx="2"/>
          </p:cNvCxnSpPr>
          <p:nvPr/>
        </p:nvCxnSpPr>
        <p:spPr>
          <a:xfrm flipV="1">
            <a:off x="3797560" y="2234220"/>
            <a:ext cx="491409" cy="798229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70FD3015-94E7-52B3-EF4A-271B9BA45978}"/>
              </a:ext>
            </a:extLst>
          </p:cNvPr>
          <p:cNvCxnSpPr>
            <a:cxnSpLocks/>
            <a:stCxn id="23" idx="3"/>
            <a:endCxn id="11" idx="0"/>
          </p:cNvCxnSpPr>
          <p:nvPr/>
        </p:nvCxnSpPr>
        <p:spPr>
          <a:xfrm>
            <a:off x="5063410" y="1837669"/>
            <a:ext cx="211497" cy="1194780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4FB9BFA-15DE-CD85-9DC6-D4C4399CC3FD}"/>
              </a:ext>
            </a:extLst>
          </p:cNvPr>
          <p:cNvSpPr/>
          <p:nvPr/>
        </p:nvSpPr>
        <p:spPr>
          <a:xfrm>
            <a:off x="9427034" y="3032449"/>
            <a:ext cx="1548882" cy="79310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Arviz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0B65D7F3-05A5-AAC2-50BB-1A30F45DA638}"/>
              </a:ext>
            </a:extLst>
          </p:cNvPr>
          <p:cNvCxnSpPr>
            <a:cxnSpLocks/>
            <a:stCxn id="8" idx="3"/>
            <a:endCxn id="30" idx="1"/>
          </p:cNvCxnSpPr>
          <p:nvPr/>
        </p:nvCxnSpPr>
        <p:spPr>
          <a:xfrm>
            <a:off x="8512632" y="2970876"/>
            <a:ext cx="914402" cy="458124"/>
          </a:xfrm>
          <a:prstGeom prst="curvedConnector3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9056513B-7E1B-38D7-8D17-AACA7EA4CB23}"/>
              </a:ext>
            </a:extLst>
          </p:cNvPr>
          <p:cNvCxnSpPr>
            <a:cxnSpLocks/>
            <a:stCxn id="9" idx="3"/>
            <a:endCxn id="30" idx="1"/>
          </p:cNvCxnSpPr>
          <p:nvPr/>
        </p:nvCxnSpPr>
        <p:spPr>
          <a:xfrm flipV="1">
            <a:off x="8512632" y="3429000"/>
            <a:ext cx="914402" cy="612126"/>
          </a:xfrm>
          <a:prstGeom prst="curvedConnector3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E579B53-2180-AAAB-7063-AF7D090BB3B9}"/>
              </a:ext>
            </a:extLst>
          </p:cNvPr>
          <p:cNvSpPr/>
          <p:nvPr/>
        </p:nvSpPr>
        <p:spPr>
          <a:xfrm>
            <a:off x="5844075" y="5357204"/>
            <a:ext cx="1548882" cy="793102"/>
          </a:xfrm>
          <a:prstGeom prst="roundRect">
            <a:avLst/>
          </a:prstGeom>
          <a:gradFill flip="none" rotWithShape="1">
            <a:gsLst>
              <a:gs pos="56000">
                <a:schemeClr val="accent6">
                  <a:lumMod val="60000"/>
                  <a:lumOff val="40000"/>
                </a:schemeClr>
              </a:gs>
              <a:gs pos="0">
                <a:schemeClr val="accent2"/>
              </a:gs>
              <a:gs pos="100000">
                <a:schemeClr val="accent6"/>
              </a:gs>
            </a:gsLst>
            <a:lin ang="10800000" scaled="1"/>
            <a:tileRect/>
          </a:gra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Bambi</a:t>
            </a:r>
          </a:p>
        </p:txBody>
      </p: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FDDC4447-564F-F380-7FA1-859930F38E60}"/>
              </a:ext>
            </a:extLst>
          </p:cNvPr>
          <p:cNvCxnSpPr>
            <a:cxnSpLocks/>
            <a:stCxn id="37" idx="3"/>
            <a:endCxn id="30" idx="2"/>
          </p:cNvCxnSpPr>
          <p:nvPr/>
        </p:nvCxnSpPr>
        <p:spPr>
          <a:xfrm flipV="1">
            <a:off x="7392957" y="3825551"/>
            <a:ext cx="2808518" cy="1928204"/>
          </a:xfrm>
          <a:prstGeom prst="curved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BDD37FB-182C-43B9-C576-FF79E98DD3FE}"/>
              </a:ext>
            </a:extLst>
          </p:cNvPr>
          <p:cNvSpPr/>
          <p:nvPr/>
        </p:nvSpPr>
        <p:spPr>
          <a:xfrm>
            <a:off x="185853" y="1458609"/>
            <a:ext cx="1548882" cy="793102"/>
          </a:xfrm>
          <a:prstGeom prst="roundRect">
            <a:avLst/>
          </a:prstGeom>
          <a:solidFill>
            <a:srgbClr val="FD33E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Preliz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F4732445-C416-386E-F05D-F3B38ECD68EC}"/>
              </a:ext>
            </a:extLst>
          </p:cNvPr>
          <p:cNvCxnSpPr>
            <a:cxnSpLocks/>
            <a:stCxn id="3" idx="2"/>
            <a:endCxn id="7" idx="1"/>
          </p:cNvCxnSpPr>
          <p:nvPr/>
        </p:nvCxnSpPr>
        <p:spPr>
          <a:xfrm rot="16200000" flipH="1">
            <a:off x="1214117" y="1997888"/>
            <a:ext cx="780738" cy="1288384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6EDABD0-2781-8200-224A-DAB26F1FF1FB}"/>
              </a:ext>
            </a:extLst>
          </p:cNvPr>
          <p:cNvSpPr txBox="1"/>
          <p:nvPr/>
        </p:nvSpPr>
        <p:spPr>
          <a:xfrm>
            <a:off x="5956045" y="1487193"/>
            <a:ext cx="15488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PyMC</a:t>
            </a:r>
            <a:endParaRPr kumimoji="0" lang="en-IL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8857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6579</TotalTime>
  <Words>2124</Words>
  <Application>Microsoft Office PowerPoint</Application>
  <PresentationFormat>Widescreen</PresentationFormat>
  <Paragraphs>344</Paragraphs>
  <Slides>72</Slides>
  <Notes>0</Notes>
  <HiddenSlides>1</HiddenSlides>
  <MMClips>1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2" baseType="lpstr">
      <vt:lpstr>Arial</vt:lpstr>
      <vt:lpstr>Calibri</vt:lpstr>
      <vt:lpstr>Calibri Light</vt:lpstr>
      <vt:lpstr>Cambria Math</vt:lpstr>
      <vt:lpstr>Consolas</vt:lpstr>
      <vt:lpstr>Courier New</vt:lpstr>
      <vt:lpstr>Ink Free</vt:lpstr>
      <vt:lpstr>Source Sans Pro</vt:lpstr>
      <vt:lpstr>Office Theme</vt:lpstr>
      <vt:lpstr>Equation</vt:lpstr>
      <vt:lpstr>Statistics 367-1-4361 Models</vt:lpstr>
      <vt:lpstr>2.1 What is a statistical model</vt:lpstr>
      <vt:lpstr>A statistical model is an idea of how data could be generated</vt:lpstr>
      <vt:lpstr>Very early, models of the world used in estimation</vt:lpstr>
      <vt:lpstr>In search for objectivity, estimation overshadowed modeling</vt:lpstr>
      <vt:lpstr>Estimators as a goal of data analysis</vt:lpstr>
      <vt:lpstr>Models re-emerge in likelihood methods</vt:lpstr>
      <vt:lpstr>Models are not just tools for estimation</vt:lpstr>
      <vt:lpstr>A model is an idea of how data is generated</vt:lpstr>
      <vt:lpstr>Evidence causes updating!</vt:lpstr>
      <vt:lpstr>New evidence causes model updating</vt:lpstr>
      <vt:lpstr>2.2 Conditional probability</vt:lpstr>
      <vt:lpstr>Joint probability is the probability of more than one variable </vt:lpstr>
      <vt:lpstr>Conditional probability can go either direction</vt:lpstr>
      <vt:lpstr>A relationship between c|r and r|c</vt:lpstr>
      <vt:lpstr>Conditional probability can be applied to data and models</vt:lpstr>
      <vt:lpstr>2.3 Bayes rule</vt:lpstr>
      <vt:lpstr>Bayes rule is based in conditional probability</vt:lpstr>
      <vt:lpstr>We will use Baye’s rule to update our models</vt:lpstr>
      <vt:lpstr>Baye’s rule can be counterintuitive</vt:lpstr>
      <vt:lpstr>For us, each component has a name</vt:lpstr>
      <vt:lpstr>2.4 Likelihood</vt:lpstr>
      <vt:lpstr>Graphical representation of models can be helpful</vt:lpstr>
      <vt:lpstr>Models can be expressed mathematically</vt:lpstr>
      <vt:lpstr>The probability of getting z heads in N coin tosses</vt:lpstr>
      <vt:lpstr>The likelihood function: Probability of data given the parameter</vt:lpstr>
      <vt:lpstr>The binomial distribution</vt:lpstr>
      <vt:lpstr>Likelihood for a simple coin flip</vt:lpstr>
      <vt:lpstr>Likelihood for multiple coin flips</vt:lpstr>
      <vt:lpstr>Bayes combines likelihood with prior</vt:lpstr>
      <vt:lpstr>Changing likelihood affects posterior</vt:lpstr>
      <vt:lpstr>2.5 Grid calculation</vt:lpstr>
      <vt:lpstr>Grid calculation works point by point</vt:lpstr>
      <vt:lpstr>The grid method</vt:lpstr>
      <vt:lpstr>Calculate first, then normalize</vt:lpstr>
      <vt:lpstr>2.6 Prior</vt:lpstr>
      <vt:lpstr>The prior is a probability distribution</vt:lpstr>
      <vt:lpstr>Priors are ideas about what is possible</vt:lpstr>
      <vt:lpstr>Posterior is affected by both priors and likelihood</vt:lpstr>
      <vt:lpstr>2.7 Beta distribution</vt:lpstr>
      <vt:lpstr>Use the Beta distribution for a prior</vt:lpstr>
      <vt:lpstr>Use the Beta distribution for a prior</vt:lpstr>
      <vt:lpstr>What does the Beta distribution look like?</vt:lpstr>
      <vt:lpstr>Why use the beta distribution as a prior for the binomial likelihood</vt:lpstr>
      <vt:lpstr>2.8 Conjugate priors</vt:lpstr>
      <vt:lpstr>Beta prior + Binomial posterior → Beta posterior</vt:lpstr>
      <vt:lpstr>Beta is a conjugate prior for binomial likelihood</vt:lpstr>
      <vt:lpstr> A simplified derivaiton</vt:lpstr>
      <vt:lpstr> Form of Beta distributions depends only on θ </vt:lpstr>
      <vt:lpstr>Bayesian simplification through proportionality</vt:lpstr>
      <vt:lpstr>Analytic solution to Bayesian estimation</vt:lpstr>
      <vt:lpstr>Pseudo-count interpretation of conjugate prior</vt:lpstr>
      <vt:lpstr>2.9 Posterior distribution</vt:lpstr>
      <vt:lpstr>Apply this to coin flipping</vt:lpstr>
      <vt:lpstr>Flip your first coin</vt:lpstr>
      <vt:lpstr>Flip your second coin</vt:lpstr>
      <vt:lpstr>Flip your third coin</vt:lpstr>
      <vt:lpstr>Keep flipping coins</vt:lpstr>
      <vt:lpstr>Still using grid method to find posterior</vt:lpstr>
      <vt:lpstr>Many things to learn from this figure </vt:lpstr>
      <vt:lpstr>One more thing to know</vt:lpstr>
      <vt:lpstr>2.10 Choosing priors</vt:lpstr>
      <vt:lpstr>The history of choosing priors</vt:lpstr>
      <vt:lpstr>Choosing strong priors</vt:lpstr>
      <vt:lpstr>Prior elicitation</vt:lpstr>
      <vt:lpstr>2.11 Preliz</vt:lpstr>
      <vt:lpstr>Preliz: a package for prior elicitation</vt:lpstr>
      <vt:lpstr>Preliz is handy for learning distributions</vt:lpstr>
      <vt:lpstr>Preliz home page</vt:lpstr>
      <vt:lpstr>2.12 Next week</vt:lpstr>
      <vt:lpstr>Sampling as an alternative to grid computation</vt:lpstr>
      <vt:lpstr>PyMC does sampling or us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Data Analysis 367-2-5461</dc:title>
  <dc:creator>Opher Donchin</dc:creator>
  <cp:lastModifiedBy>Opher Donchin</cp:lastModifiedBy>
  <cp:revision>41</cp:revision>
  <cp:lastPrinted>2025-04-01T23:18:11Z</cp:lastPrinted>
  <dcterms:created xsi:type="dcterms:W3CDTF">2016-03-07T06:16:50Z</dcterms:created>
  <dcterms:modified xsi:type="dcterms:W3CDTF">2026-03-22T22:46:04Z</dcterms:modified>
</cp:coreProperties>
</file>