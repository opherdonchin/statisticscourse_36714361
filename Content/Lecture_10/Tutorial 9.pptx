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259" r:id="rId3"/>
    <p:sldId id="260" r:id="rId4"/>
    <p:sldId id="323" r:id="rId5"/>
    <p:sldId id="328" r:id="rId6"/>
    <p:sldId id="324" r:id="rId7"/>
    <p:sldId id="325" r:id="rId8"/>
    <p:sldId id="841" r:id="rId9"/>
    <p:sldId id="842" r:id="rId10"/>
    <p:sldId id="843" r:id="rId11"/>
    <p:sldId id="840" r:id="rId12"/>
    <p:sldId id="326" r:id="rId13"/>
    <p:sldId id="289" r:id="rId14"/>
    <p:sldId id="833" r:id="rId15"/>
    <p:sldId id="327" r:id="rId16"/>
    <p:sldId id="266" r:id="rId17"/>
    <p:sldId id="835" r:id="rId18"/>
    <p:sldId id="819" r:id="rId19"/>
    <p:sldId id="291" r:id="rId20"/>
    <p:sldId id="290" r:id="rId21"/>
    <p:sldId id="845" r:id="rId22"/>
    <p:sldId id="262" r:id="rId23"/>
    <p:sldId id="261" r:id="rId24"/>
    <p:sldId id="263" r:id="rId25"/>
    <p:sldId id="264" r:id="rId26"/>
    <p:sldId id="321" r:id="rId27"/>
    <p:sldId id="822" r:id="rId28"/>
    <p:sldId id="844" r:id="rId29"/>
    <p:sldId id="821" r:id="rId30"/>
    <p:sldId id="823" r:id="rId31"/>
    <p:sldId id="824" r:id="rId32"/>
    <p:sldId id="825" r:id="rId33"/>
    <p:sldId id="826" r:id="rId34"/>
    <p:sldId id="827" r:id="rId35"/>
    <p:sldId id="829" r:id="rId36"/>
    <p:sldId id="846" r:id="rId37"/>
    <p:sldId id="830" r:id="rId38"/>
    <p:sldId id="828" r:id="rId39"/>
    <p:sldId id="293" r:id="rId40"/>
    <p:sldId id="831" r:id="rId41"/>
    <p:sldId id="832" r:id="rId42"/>
    <p:sldId id="834" r:id="rId43"/>
    <p:sldId id="836" r:id="rId44"/>
    <p:sldId id="837" r:id="rId45"/>
    <p:sldId id="838" r:id="rId46"/>
    <p:sldId id="815" r:id="rId47"/>
    <p:sldId id="818" r:id="rId48"/>
    <p:sldId id="820" r:id="rId49"/>
    <p:sldId id="788" r:id="rId50"/>
    <p:sldId id="814" r:id="rId51"/>
    <p:sldId id="839" r:id="rId52"/>
    <p:sldId id="787" r:id="rId5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BFAFC"/>
    <a:srgbClr val="F2CFEE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73072" autoAdjust="0"/>
  </p:normalViewPr>
  <p:slideViewPr>
    <p:cSldViewPr snapToGrid="0">
      <p:cViewPr varScale="1">
        <p:scale>
          <a:sx n="60" d="100"/>
          <a:sy n="60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-917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fld id="{79D4A8A7-D893-4730-A90E-620C699F9DA7}" type="datetimeFigureOut">
              <a:rPr lang="he-IL" smtClean="0"/>
              <a:pPr/>
              <a:t>ח'/תמוז/תשפ"ו</a:t>
            </a:fld>
            <a:endParaRPr lang="he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fld id="{5853D6E6-3E79-4F23-BDAE-DFB603395E52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059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vid" panose="020E0502060401010101" pitchFamily="34" charset="-79"/>
        <a:ea typeface="+mn-ea"/>
        <a:cs typeface="David" panose="020E0502060401010101" pitchFamily="34" charset="-79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arviz.org/en/latest/api/generated/arviz.waic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arviz.org/en/latest/api/generated/arviz.waic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6652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59D7-4E21-E888-E718-4A0945FF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19C25-629B-57AE-D6C4-C03A12326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B11A2-5833-D26D-F606-C647AD84A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479FB-37B9-5421-7FBC-DE3CC6FA3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4857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64716-1BA7-6A21-E0E6-82243D86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A9EF9-2E16-981A-809B-A61CCDB0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7006E-4372-8302-9F82-FA404C63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FB1D-78E5-9C83-64D7-0A85781FD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0223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C090-2486-0DC3-6CAE-4340DFC1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D603C-0372-34D1-0649-6A0C60E6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F2612-DC69-02BC-9379-77639D765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D81C2-1419-FC33-DFA3-022D235A8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3229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5503-0531-6856-B276-9F960B31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FF334-602D-BCE0-9F2A-FD1B93999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8A902-008A-27B5-2EE8-CB9B69185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CA0D8-D2B2-ABDD-FAE4-57E92698D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8624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85A6-C58F-8F2F-71B1-DA1A5BA9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F9383-8714-4A12-C466-58EF24F2B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7CF7A-2B2D-DA13-95A2-BF01FA8F8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get out‐of‐sample estimates without permanently carving out a test set, we can use:</a:t>
            </a:r>
          </a:p>
          <a:p>
            <a:r>
              <a:rPr lang="en-US" b="1" dirty="0"/>
              <a:t>Information criteria</a:t>
            </a:r>
            <a:r>
              <a:rPr lang="en-US" dirty="0"/>
              <a:t> (e.g. WAIC, formerly DIC) which add a complexity penalty to an in-sample log-likelihood.</a:t>
            </a:r>
          </a:p>
          <a:p>
            <a:r>
              <a:rPr lang="en-US" b="1" dirty="0"/>
              <a:t>Cross-validation,</a:t>
            </a:r>
            <a:r>
              <a:rPr lang="en-US" dirty="0"/>
              <a:t> where we repeatedly fit on part of the data and test on the rest.</a:t>
            </a:r>
          </a:p>
          <a:p>
            <a:r>
              <a:rPr lang="en-US" dirty="0"/>
              <a:t>Both quantify how well a model generalizes without giving away all our data up front.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0453B-66F5-1294-9C43-C9B245D0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6973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tutorial 8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10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13601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08AA-E7D9-6EB0-7855-9B896972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9AE39-3FC0-40C1-C580-926B2AC00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C53F2-EFF3-C735-C45C-EE9A56985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second - An estimate of how much worse the likelihood would be if we were looking at new data. </a:t>
            </a:r>
          </a:p>
          <a:p>
            <a:r>
              <a:rPr lang="en-GB" dirty="0"/>
              <a:t>Correcting for how much the likelihood would change if I had new data. </a:t>
            </a:r>
          </a:p>
          <a:p>
            <a:endParaRPr lang="en-GB" dirty="0"/>
          </a:p>
          <a:p>
            <a:r>
              <a:rPr lang="en-US" b="1" dirty="0"/>
              <a:t>Log pointwise predictive density (</a:t>
            </a:r>
            <a:r>
              <a:rPr lang="en-US" b="1" dirty="0" err="1"/>
              <a:t>lppd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For each observation </a:t>
            </a:r>
            <a:r>
              <a:rPr lang="en-US" dirty="0" err="1"/>
              <a:t>y_i</a:t>
            </a:r>
            <a:r>
              <a:rPr lang="en-US" dirty="0"/>
              <a:t>​, we average its likelihood under each posterior draw, (</a:t>
            </a:r>
            <a:r>
              <a:rPr lang="he-IL" dirty="0"/>
              <a:t>הסוגריים שבתוך הלוג</a:t>
            </a:r>
            <a:r>
              <a:rPr lang="en-US" dirty="0"/>
              <a:t>)</a:t>
            </a:r>
          </a:p>
          <a:p>
            <a:r>
              <a:rPr lang="en-US" dirty="0"/>
              <a:t>We then take the log, and sum over </a:t>
            </a:r>
            <a:r>
              <a:rPr lang="en-US" dirty="0" err="1"/>
              <a:t>i</a:t>
            </a:r>
            <a:r>
              <a:rPr lang="en-US" dirty="0"/>
              <a:t>=1…n.</a:t>
            </a:r>
          </a:p>
          <a:p>
            <a:r>
              <a:rPr lang="en-US" dirty="0"/>
              <a:t>Intuitively this estimates how well the model predicts new data “on average.”</a:t>
            </a:r>
          </a:p>
          <a:p>
            <a:endParaRPr lang="en-US" dirty="0"/>
          </a:p>
          <a:p>
            <a:r>
              <a:rPr lang="en-US" b="1" dirty="0"/>
              <a:t>Effective number of parameters, </a:t>
            </a:r>
            <a:r>
              <a:rPr lang="en-US" b="1" dirty="0" err="1"/>
              <a:t>pWAIC</a:t>
            </a:r>
            <a:endParaRPr lang="en-US" b="1" dirty="0"/>
          </a:p>
          <a:p>
            <a:r>
              <a:rPr lang="en-US" dirty="0"/>
              <a:t>For each </a:t>
            </a:r>
            <a:r>
              <a:rPr lang="en-US" dirty="0" err="1"/>
              <a:t>y_i</a:t>
            </a:r>
            <a:r>
              <a:rPr lang="en-US" dirty="0"/>
              <a:t>​, compute the sample variance across draws of its log-likelihood.</a:t>
            </a:r>
          </a:p>
          <a:p>
            <a:r>
              <a:rPr lang="en-US" dirty="0"/>
              <a:t>Summing these variances gives a measure of model complexity: if the log-likelihood varies a lot between draws, the model is effectively more flexible (has more “parameters”).</a:t>
            </a:r>
          </a:p>
          <a:p>
            <a:endParaRPr lang="en-US" dirty="0"/>
          </a:p>
          <a:p>
            <a:r>
              <a:rPr lang="en-US" b="1" dirty="0"/>
              <a:t>Why the −2 and the +2?</a:t>
            </a:r>
            <a:endParaRPr lang="en-US" dirty="0"/>
          </a:p>
          <a:p>
            <a:r>
              <a:rPr lang="en-US" dirty="0"/>
              <a:t>The whole criterion is written on the deviance (“–2 log-likelihood”) scale so it’s directly comparable to DIC or AIC.</a:t>
            </a:r>
          </a:p>
          <a:p>
            <a:r>
              <a:rPr lang="en-US" dirty="0"/>
              <a:t>We pick the model with the </a:t>
            </a:r>
            <a:r>
              <a:rPr lang="en-US" b="1" dirty="0"/>
              <a:t>smallest WAIC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2CA8F-015A-A635-B4C2-729D39547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8284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4FBF-9D6F-5858-FA40-7A1A8E1B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D426E-F487-CCE3-F785-345E27854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3B77E-51DE-A191-2345-DB0487902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second - An estimate of how much worse the likelihood would be if we were looking at new data. </a:t>
            </a:r>
          </a:p>
          <a:p>
            <a:r>
              <a:rPr lang="en-GB" dirty="0"/>
              <a:t>Correcting for how much the likelihood would change if I had new data.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894C4-2A90-99AD-15A3-2FE8A8E27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69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 </a:t>
            </a:r>
            <a:r>
              <a:rPr lang="he-IL" sz="1200" dirty="0">
                <a:hlinkClick r:id="rId3"/>
              </a:rPr>
              <a:t>https://python.arviz.org/en/latest/api/generated/arviz.waic.html</a:t>
            </a:r>
            <a:r>
              <a:rPr lang="he-IL" sz="1200" dirty="0"/>
              <a:t>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40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699C-9CF6-DBA2-3EF3-5695E673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EBDF96E-3C3B-2292-30C1-8A456D193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E094C004-873D-A0DA-CCC0-428870517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 </a:t>
            </a:r>
            <a:r>
              <a:rPr lang="he-IL" sz="1200" dirty="0">
                <a:hlinkClick r:id="rId3"/>
              </a:rPr>
              <a:t>https://python.arviz.org/en/latest/api/generated/arviz.waic.html</a:t>
            </a:r>
            <a:r>
              <a:rPr lang="he-IL" sz="1200" dirty="0"/>
              <a:t> 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91D182E-EABB-7797-C99D-06DB8A0D6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012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7562-9442-50FB-DF1C-56FED5A6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3E2B2-8915-3C13-CBF0-088AC86B6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4EB2E-3F6D-2DCE-E10F-15C62F546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87292-09F3-2EB8-D26D-EE071249B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3092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DA01-9A8F-CB49-3B5C-56A7890D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A6D3E-3DF7-A37E-0FB0-B8D7A04A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11477-A0CE-9091-088C-C0FAEE44D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הפיתוח של הנוסחה במצגת הרצאה 10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97A82-57ED-F34E-6FBC-DE8884DAF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3067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4103-990A-FB9E-BD50-29F7F152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37451-804E-35C4-7AFA-A160FCCAB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F1D29-5699-D8A0-5A1A-6534341BD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דרך אינטואיטיבית: יש לי דגימות </a:t>
            </a:r>
            <a:r>
              <a:rPr lang="he-IL" dirty="0" err="1"/>
              <a:t>מהפוסטריור</a:t>
            </a:r>
            <a:r>
              <a:rPr lang="he-IL" dirty="0"/>
              <a:t> עם כל הנתונים, במקום להריץ את הדגימה מחדש בלי נבדק מסוים אני לוקחת את הדגימות ונותנת להם משקלים חדשים שמדמים איך </a:t>
            </a:r>
            <a:r>
              <a:rPr lang="he-IL" dirty="0" err="1"/>
              <a:t>הפוסטריור</a:t>
            </a:r>
            <a:r>
              <a:rPr lang="he-IL" dirty="0"/>
              <a:t> היה נראה אילו הנבדק לא היה קיים בסט נתונים המקורי.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3B2E9-B0C2-85B8-D76D-C7D1578D0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4788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FD6E-FA61-E655-8087-939C181F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3110E-DF83-1E65-EF23-66B490708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368ED-CF90-BA5D-4ABC-CDD8D0EA6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1300D-E31F-9770-4955-1BECCD715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333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Remainder – this is a “fake” dataset, not real data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22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46786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Remainder – this is a “fake” dataset, not real data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23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35295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5976-B076-3378-2215-7479FB74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6081D-5DEA-10C7-3F0E-91E29638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98582D5-D574-22A6-70AA-000B281133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sz="1200" b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David" panose="020E0502060401010101" pitchFamily="34" charset="-79"/>
                  </a:rPr>
                  <a:t>     </a:t>
                </a:r>
                <a:endParaRPr lang="en-US" sz="1200" dirty="0">
                  <a:solidFill>
                    <a:schemeClr val="accent6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Reminder</a:t>
                </a:r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dirty="0"/>
              </a:p>
              <a:p>
                <a:r>
                  <a:rPr lang="en-US" dirty="0"/>
                  <a:t>Is the same as (in Bambi and OLS)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98582D5-D574-22A6-70AA-000B281133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Green - Simple linear regression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Blue - Multiple linear regression</a:t>
                </a:r>
                <a:endParaRPr lang="en-US" sz="1200" dirty="0">
                  <a:solidFill>
                    <a:schemeClr val="accent4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Purple - Multiple</a:t>
                </a:r>
                <a:r>
                  <a:rPr lang="en-US" dirty="0">
                    <a:solidFill>
                      <a:schemeClr val="accent5"/>
                    </a:solidFill>
                  </a:rPr>
                  <a:t> linear</a:t>
                </a:r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 regression with interaction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∗ 𝑔𝑒𝑛𝑑𝑒𝑟</a:t>
                </a:r>
                <a:endParaRPr dirty="0"/>
              </a:p>
              <a:p>
                <a:r>
                  <a:rPr lang="en-US" dirty="0"/>
                  <a:t>Is the same as in Bambi</a:t>
                </a:r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+ 𝑔𝑒𝑛𝑑𝑒𝑟 +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𝑑𝑖𝑒𝑡_𝑡𝑦𝑝𝑒:𝑔𝑒𝑛𝑑𝑒𝑟</a:t>
                </a:r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3C90-B0C3-5A87-BC1B-6E2967E97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26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29212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0225-FC15-C4B1-A405-7E7A427D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CA5E9-A29D-F3DE-3939-98E7C797B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644A1A9-AF24-F4E2-51D1-A5761DCAAD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Reminder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dirty="0"/>
              </a:p>
              <a:p>
                <a:r>
                  <a:rPr lang="en-US" dirty="0"/>
                  <a:t>Is the same as (in Bambi and OLS)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644A1A9-AF24-F4E2-51D1-A5761DCAAD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Reminder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∗ 𝑔𝑒𝑛𝑑𝑒𝑟</a:t>
                </a:r>
                <a:endParaRPr dirty="0"/>
              </a:p>
              <a:p>
                <a:r>
                  <a:rPr lang="en-US" dirty="0"/>
                  <a:t>Is the same as (in Bambi and OLS)</a:t>
                </a:r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+ 𝑔𝑒𝑛𝑑𝑒𝑟 +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𝑑𝑖𝑒𝑡_𝑡𝑦𝑝𝑒:𝑔𝑒𝑛𝑑𝑒𝑟</a:t>
                </a:r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85744-4ECA-B525-DAF2-962FDCA84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27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3033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now on always add it to the sampling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31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34394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absolute value of an ELPD score is not very meaningful on its own. </a:t>
            </a:r>
          </a:p>
          <a:p>
            <a:r>
              <a:rPr lang="en-US" b="0" dirty="0"/>
              <a:t>A negative value simply reflects the scale of the log-probabilities. </a:t>
            </a:r>
          </a:p>
          <a:p>
            <a:r>
              <a:rPr lang="en-US" b="0" dirty="0"/>
              <a:t>What matters is the relative difference: you should always interpret ELPD values in relation to other models, choosing the model with the highest (less negative) ELPD score</a:t>
            </a:r>
            <a:br>
              <a:rPr lang="en-US" b="0" dirty="0"/>
            </a:br>
            <a:endParaRPr lang="en-US" b="0" dirty="0"/>
          </a:p>
          <a:p>
            <a:endParaRPr lang="he-I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35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614518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9535-4F7D-0709-5697-426351B8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EE030-CDE3-3F6B-A022-340D23E2A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C8E62-CC9D-B3CF-110E-93F6AE5A9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cs typeface="David" panose="020E0502060401010101" pitchFamily="34" charset="-79"/>
              </a:rPr>
              <a:t>Expected Log Pointwise Predictive Density: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A measure of how well a model is expected to predict new (held-out) data, computed by summing the log-predictive densities for each data point.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Higher ELPD indicates higher out-of-sample predictive fit (“better” model). If scale is deviance or </a:t>
            </a:r>
            <a:r>
              <a:rPr lang="en-US" dirty="0" err="1">
                <a:cs typeface="David" panose="020E0502060401010101" pitchFamily="34" charset="-79"/>
              </a:rPr>
              <a:t>negative_log</a:t>
            </a:r>
            <a:r>
              <a:rPr lang="en-US" dirty="0">
                <a:cs typeface="David" panose="020E0502060401010101" pitchFamily="34" charset="-79"/>
              </a:rPr>
              <a:t> smaller values indicates higher out-of-sample predictive fit (“better” model).</a:t>
            </a:r>
          </a:p>
          <a:p>
            <a:pPr lvl="1"/>
            <a:endParaRPr lang="en-US" dirty="0">
              <a:cs typeface="David" panose="020E0502060401010101" pitchFamily="34" charset="-79"/>
            </a:endParaRPr>
          </a:p>
          <a:p>
            <a:r>
              <a:rPr lang="en-US" b="1" dirty="0">
                <a:cs typeface="David" panose="020E0502060401010101" pitchFamily="34" charset="-79"/>
              </a:rPr>
              <a:t>SE</a:t>
            </a:r>
            <a:r>
              <a:rPr lang="en-US" dirty="0">
                <a:cs typeface="David" panose="020E0502060401010101" pitchFamily="34" charset="-79"/>
              </a:rPr>
              <a:t> - Standard error of the ELPD estimate. </a:t>
            </a:r>
            <a:endParaRPr lang="he-IL" dirty="0">
              <a:cs typeface="David" panose="020E0502060401010101" pitchFamily="34" charset="-79"/>
            </a:endParaRPr>
          </a:p>
          <a:p>
            <a:endParaRPr lang="he-IL" dirty="0">
              <a:cs typeface="David" panose="020E0502060401010101" pitchFamily="34" charset="-79"/>
            </a:endParaRPr>
          </a:p>
          <a:p>
            <a:r>
              <a:rPr lang="en-US" dirty="0">
                <a:cs typeface="David" panose="020E0502060401010101" pitchFamily="34" charset="-79"/>
              </a:rPr>
              <a:t>The term </a:t>
            </a:r>
            <a:r>
              <a:rPr lang="en-US" b="1" dirty="0" err="1">
                <a:cs typeface="David" panose="020E0502060401010101" pitchFamily="34" charset="-79"/>
              </a:rPr>
              <a:t>p_loo</a:t>
            </a:r>
            <a:r>
              <a:rPr lang="en-US" dirty="0">
                <a:cs typeface="David" panose="020E0502060401010101" pitchFamily="34" charset="-79"/>
              </a:rPr>
              <a:t>​ refers to the </a:t>
            </a:r>
            <a:r>
              <a:rPr lang="en-US" b="1" dirty="0">
                <a:cs typeface="David" panose="020E0502060401010101" pitchFamily="34" charset="-79"/>
              </a:rPr>
              <a:t>effective number of parameters </a:t>
            </a:r>
            <a:r>
              <a:rPr lang="en-US" dirty="0">
                <a:cs typeface="David" panose="020E0502060401010101" pitchFamily="34" charset="-79"/>
              </a:rPr>
              <a:t>in a model.</a:t>
            </a:r>
          </a:p>
          <a:p>
            <a:r>
              <a:rPr lang="en-US" dirty="0">
                <a:cs typeface="David" panose="020E0502060401010101" pitchFamily="34" charset="-79"/>
              </a:rPr>
              <a:t>In the context of evaluating models using tools like Leave-One-Out (LOO) cross-validation or WAIC, p</a:t>
            </a:r>
            <a:r>
              <a:rPr lang="he-IL" dirty="0">
                <a:cs typeface="David" panose="020E0502060401010101" pitchFamily="34" charset="-79"/>
              </a:rPr>
              <a:t>_</a:t>
            </a:r>
            <a:r>
              <a:rPr lang="en-US" dirty="0">
                <a:cs typeface="David" panose="020E0502060401010101" pitchFamily="34" charset="-79"/>
              </a:rPr>
              <a:t>loo​ serves as a </a:t>
            </a:r>
            <a:r>
              <a:rPr lang="en-US" b="1" dirty="0">
                <a:cs typeface="David" panose="020E0502060401010101" pitchFamily="34" charset="-79"/>
              </a:rPr>
              <a:t>penalty term that accounts for model complexity</a:t>
            </a:r>
            <a:r>
              <a:rPr lang="en-US" dirty="0">
                <a:cs typeface="David" panose="020E0502060401010101" pitchFamily="34" charset="-79"/>
              </a:rPr>
              <a:t>.</a:t>
            </a:r>
          </a:p>
          <a:p>
            <a:r>
              <a:rPr lang="en-US" dirty="0">
                <a:cs typeface="David" panose="020E0502060401010101" pitchFamily="34" charset="-79"/>
              </a:rPr>
              <a:t>While basic information criteria might just count the exact number of variables defined in a mathematical model, this raw count is not a good reflection of true complexity in Bayesian models. Because incorporating informative priors or hierarchical structures restricts the model's flexibility</a:t>
            </a:r>
            <a:r>
              <a:rPr lang="he-IL" dirty="0">
                <a:cs typeface="David" panose="020E0502060401010101" pitchFamily="34" charset="-79"/>
              </a:rPr>
              <a:t>-</a:t>
            </a:r>
            <a:r>
              <a:rPr lang="en-US" dirty="0">
                <a:cs typeface="David" panose="020E0502060401010101" pitchFamily="34" charset="-79"/>
              </a:rPr>
              <a:t>a process known as regularization</a:t>
            </a:r>
            <a:r>
              <a:rPr lang="he-IL" dirty="0">
                <a:cs typeface="David" panose="020E0502060401010101" pitchFamily="34" charset="-79"/>
              </a:rPr>
              <a:t>-</a:t>
            </a:r>
            <a:r>
              <a:rPr lang="en-US" dirty="0">
                <a:cs typeface="David" panose="020E0502060401010101" pitchFamily="34" charset="-79"/>
              </a:rPr>
              <a:t>the effective number of parameters that actually influence the data fit is often smaller than the literal parameter count.</a:t>
            </a:r>
          </a:p>
          <a:p>
            <a:r>
              <a:rPr lang="en-US" dirty="0">
                <a:cs typeface="David" panose="020E0502060401010101" pitchFamily="34" charset="-79"/>
              </a:rPr>
              <a:t>When you compute predictive accuracy using a function like </a:t>
            </a:r>
            <a:r>
              <a:rPr lang="en-US" dirty="0" err="1">
                <a:cs typeface="David" panose="020E0502060401010101" pitchFamily="34" charset="-79"/>
              </a:rPr>
              <a:t>az.loo</a:t>
            </a:r>
            <a:r>
              <a:rPr lang="en-US" dirty="0">
                <a:cs typeface="David" panose="020E0502060401010101" pitchFamily="34" charset="-79"/>
              </a:rPr>
              <a:t> or compare models with </a:t>
            </a:r>
            <a:r>
              <a:rPr lang="en-US" dirty="0" err="1">
                <a:cs typeface="David" panose="020E0502060401010101" pitchFamily="34" charset="-79"/>
              </a:rPr>
              <a:t>az.compare</a:t>
            </a:r>
            <a:r>
              <a:rPr lang="en-US" dirty="0">
                <a:cs typeface="David" panose="020E0502060401010101" pitchFamily="34" charset="-79"/>
              </a:rPr>
              <a:t> in ArviZ, </a:t>
            </a:r>
            <a:r>
              <a:rPr lang="en-US" dirty="0" err="1">
                <a:cs typeface="David" panose="020E0502060401010101" pitchFamily="34" charset="-79"/>
              </a:rPr>
              <a:t>ploo</a:t>
            </a:r>
            <a:r>
              <a:rPr lang="en-US" dirty="0">
                <a:cs typeface="David" panose="020E0502060401010101" pitchFamily="34" charset="-79"/>
              </a:rPr>
              <a:t>​ is reported alongside the Expected Log Pointwise Predictive Density (ELPD) to help you understand the complexity penalty being applied to your model's predictive accuracy</a:t>
            </a:r>
          </a:p>
          <a:p>
            <a:endParaRPr lang="en-US" dirty="0">
              <a:cs typeface="David" panose="020E0502060401010101" pitchFamily="34" charset="-79"/>
            </a:endParaRPr>
          </a:p>
          <a:p>
            <a:endParaRPr lang="en-US" dirty="0">
              <a:cs typeface="David" panose="020E0502060401010101" pitchFamily="34" charset="-79"/>
            </a:endParaRPr>
          </a:p>
          <a:p>
            <a:endParaRPr lang="he-IL" dirty="0">
              <a:cs typeface="David" panose="020E0502060401010101" pitchFamily="34" charset="-79"/>
            </a:endParaRP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720F1-88AE-DD18-AB2A-371DC93E8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36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75231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cs typeface="David" panose="020E0502060401010101" pitchFamily="34" charset="-79"/>
              </a:rPr>
              <a:t>Expected Log Pointwise Predictive Density: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A measure of how well a model is expected to predict new (held-out) data, computed by summing the log-predictive densities for each data point.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Higher ELPD indicates higher out-of-sample predictive fit (“better” model). If scale is deviance or </a:t>
            </a:r>
            <a:r>
              <a:rPr lang="en-US" dirty="0" err="1">
                <a:cs typeface="David" panose="020E0502060401010101" pitchFamily="34" charset="-79"/>
              </a:rPr>
              <a:t>negative_log</a:t>
            </a:r>
            <a:r>
              <a:rPr lang="en-US" dirty="0">
                <a:cs typeface="David" panose="020E0502060401010101" pitchFamily="34" charset="-79"/>
              </a:rPr>
              <a:t> smaller values indicates higher out-of-sample predictive fit (“better” model).</a:t>
            </a:r>
          </a:p>
          <a:p>
            <a:pPr lvl="1"/>
            <a:endParaRPr lang="en-US" dirty="0">
              <a:cs typeface="David" panose="020E0502060401010101" pitchFamily="34" charset="-79"/>
            </a:endParaRPr>
          </a:p>
          <a:p>
            <a:r>
              <a:rPr lang="en-US" b="1" dirty="0">
                <a:cs typeface="David" panose="020E0502060401010101" pitchFamily="34" charset="-79"/>
              </a:rPr>
              <a:t>SE</a:t>
            </a:r>
            <a:r>
              <a:rPr lang="en-US" dirty="0">
                <a:cs typeface="David" panose="020E0502060401010101" pitchFamily="34" charset="-79"/>
              </a:rPr>
              <a:t> - Standard error of the ELPD estimate. </a:t>
            </a:r>
            <a:endParaRPr lang="he-IL" dirty="0">
              <a:cs typeface="David" panose="020E0502060401010101" pitchFamily="34" charset="-79"/>
            </a:endParaRPr>
          </a:p>
          <a:p>
            <a:endParaRPr lang="he-IL" dirty="0">
              <a:cs typeface="David" panose="020E0502060401010101" pitchFamily="34" charset="-79"/>
            </a:endParaRPr>
          </a:p>
          <a:p>
            <a:r>
              <a:rPr lang="en-US" dirty="0">
                <a:cs typeface="David" panose="020E0502060401010101" pitchFamily="34" charset="-79"/>
              </a:rPr>
              <a:t>The term </a:t>
            </a:r>
            <a:r>
              <a:rPr lang="en-US" b="1" dirty="0" err="1">
                <a:cs typeface="David" panose="020E0502060401010101" pitchFamily="34" charset="-79"/>
              </a:rPr>
              <a:t>p_loo</a:t>
            </a:r>
            <a:r>
              <a:rPr lang="en-US" dirty="0">
                <a:cs typeface="David" panose="020E0502060401010101" pitchFamily="34" charset="-79"/>
              </a:rPr>
              <a:t>​ refers to the </a:t>
            </a:r>
            <a:r>
              <a:rPr lang="en-US" b="1" dirty="0">
                <a:cs typeface="David" panose="020E0502060401010101" pitchFamily="34" charset="-79"/>
              </a:rPr>
              <a:t>effective number of parameters </a:t>
            </a:r>
            <a:r>
              <a:rPr lang="en-US" dirty="0">
                <a:cs typeface="David" panose="020E0502060401010101" pitchFamily="34" charset="-79"/>
              </a:rPr>
              <a:t>in a model.</a:t>
            </a:r>
          </a:p>
          <a:p>
            <a:r>
              <a:rPr lang="en-US" dirty="0">
                <a:cs typeface="David" panose="020E0502060401010101" pitchFamily="34" charset="-79"/>
              </a:rPr>
              <a:t>In the context of evaluating models using tools like Leave-One-Out (LOO) cross-validation or WAIC, p</a:t>
            </a:r>
            <a:r>
              <a:rPr lang="he-IL" dirty="0">
                <a:cs typeface="David" panose="020E0502060401010101" pitchFamily="34" charset="-79"/>
              </a:rPr>
              <a:t>_</a:t>
            </a:r>
            <a:r>
              <a:rPr lang="en-US" dirty="0">
                <a:cs typeface="David" panose="020E0502060401010101" pitchFamily="34" charset="-79"/>
              </a:rPr>
              <a:t>loo​ serves as a </a:t>
            </a:r>
            <a:r>
              <a:rPr lang="en-US" b="1" dirty="0">
                <a:cs typeface="David" panose="020E0502060401010101" pitchFamily="34" charset="-79"/>
              </a:rPr>
              <a:t>penalty term that accounts for model complexity</a:t>
            </a:r>
            <a:r>
              <a:rPr lang="en-US" dirty="0">
                <a:cs typeface="David" panose="020E0502060401010101" pitchFamily="34" charset="-79"/>
              </a:rPr>
              <a:t>.</a:t>
            </a:r>
          </a:p>
          <a:p>
            <a:r>
              <a:rPr lang="en-US" dirty="0">
                <a:cs typeface="David" panose="020E0502060401010101" pitchFamily="34" charset="-79"/>
              </a:rPr>
              <a:t>While basic information criteria might just count the exact number of variables defined in a mathematical model, this raw count is not a good reflection of true complexity in Bayesian models. Because incorporating informative priors or hierarchical structures restricts the model's flexibility</a:t>
            </a:r>
            <a:r>
              <a:rPr lang="he-IL" dirty="0">
                <a:cs typeface="David" panose="020E0502060401010101" pitchFamily="34" charset="-79"/>
              </a:rPr>
              <a:t>-</a:t>
            </a:r>
            <a:r>
              <a:rPr lang="en-US" dirty="0">
                <a:cs typeface="David" panose="020E0502060401010101" pitchFamily="34" charset="-79"/>
              </a:rPr>
              <a:t>a process known as regularization</a:t>
            </a:r>
            <a:r>
              <a:rPr lang="he-IL" dirty="0">
                <a:cs typeface="David" panose="020E0502060401010101" pitchFamily="34" charset="-79"/>
              </a:rPr>
              <a:t>-</a:t>
            </a:r>
            <a:r>
              <a:rPr lang="en-US" dirty="0">
                <a:cs typeface="David" panose="020E0502060401010101" pitchFamily="34" charset="-79"/>
              </a:rPr>
              <a:t>the effective number of parameters that actually influence the data fit is often smaller than the literal parameter count.</a:t>
            </a:r>
          </a:p>
          <a:p>
            <a:r>
              <a:rPr lang="en-US" dirty="0">
                <a:cs typeface="David" panose="020E0502060401010101" pitchFamily="34" charset="-79"/>
              </a:rPr>
              <a:t>When you compute predictive accuracy using a function like </a:t>
            </a:r>
            <a:r>
              <a:rPr lang="en-US" dirty="0" err="1">
                <a:cs typeface="David" panose="020E0502060401010101" pitchFamily="34" charset="-79"/>
              </a:rPr>
              <a:t>az.loo</a:t>
            </a:r>
            <a:r>
              <a:rPr lang="en-US" dirty="0">
                <a:cs typeface="David" panose="020E0502060401010101" pitchFamily="34" charset="-79"/>
              </a:rPr>
              <a:t> or compare models with </a:t>
            </a:r>
            <a:r>
              <a:rPr lang="en-US" dirty="0" err="1">
                <a:cs typeface="David" panose="020E0502060401010101" pitchFamily="34" charset="-79"/>
              </a:rPr>
              <a:t>az.compare</a:t>
            </a:r>
            <a:r>
              <a:rPr lang="en-US" dirty="0">
                <a:cs typeface="David" panose="020E0502060401010101" pitchFamily="34" charset="-79"/>
              </a:rPr>
              <a:t> in ArviZ, </a:t>
            </a:r>
            <a:r>
              <a:rPr lang="en-US" dirty="0" err="1">
                <a:cs typeface="David" panose="020E0502060401010101" pitchFamily="34" charset="-79"/>
              </a:rPr>
              <a:t>ploo</a:t>
            </a:r>
            <a:r>
              <a:rPr lang="en-US" dirty="0">
                <a:cs typeface="David" panose="020E0502060401010101" pitchFamily="34" charset="-79"/>
              </a:rPr>
              <a:t>​ is reported alongside the Expected Log Pointwise Predictive Density (ELPD) to help you understand the complexity penalty being applied to your model's predictive accuracy</a:t>
            </a:r>
          </a:p>
          <a:p>
            <a:endParaRPr lang="en-US" dirty="0">
              <a:cs typeface="David" panose="020E0502060401010101" pitchFamily="34" charset="-79"/>
            </a:endParaRPr>
          </a:p>
          <a:p>
            <a:endParaRPr lang="en-US" dirty="0">
              <a:cs typeface="David" panose="020E0502060401010101" pitchFamily="34" charset="-79"/>
            </a:endParaRPr>
          </a:p>
          <a:p>
            <a:endParaRPr lang="he-IL" dirty="0">
              <a:cs typeface="David" panose="020E0502060401010101" pitchFamily="34" charset="-79"/>
            </a:endParaRP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37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419504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Rank</a:t>
            </a:r>
            <a:r>
              <a:rPr lang="en-US" dirty="0"/>
              <a:t> – </a:t>
            </a:r>
            <a:r>
              <a:rPr lang="en-US" b="0" dirty="0">
                <a:effectLst/>
              </a:rPr>
              <a:t>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rank-order of </a:t>
            </a:r>
            <a:r>
              <a:rPr lang="en-US" b="0" dirty="0">
                <a:effectLst/>
              </a:rPr>
              <a:t>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models. 0 </a:t>
            </a:r>
            <a:r>
              <a:rPr lang="en-US" b="0" dirty="0">
                <a:effectLst/>
              </a:rPr>
              <a:t>is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best.</a:t>
            </a:r>
            <a:endParaRPr lang="en-US" b="0" dirty="0"/>
          </a:p>
          <a:p>
            <a:r>
              <a:rPr lang="en-US" b="1" dirty="0"/>
              <a:t>ELPD</a:t>
            </a:r>
            <a:r>
              <a:rPr lang="en-US" dirty="0"/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ELPD indicates higher out-of-sample predictive fit (“better” model). If </a:t>
            </a:r>
            <a:r>
              <a:rPr lang="en-US" dirty="0">
                <a:effectLst/>
              </a:rPr>
              <a:t>scale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dirty="0">
                <a:effectLst/>
              </a:rPr>
              <a:t>deviance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dirty="0" err="1">
                <a:effectLst/>
              </a:rPr>
              <a:t>negative_log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smaller values indicates higher out-of-sample predictive fit (“better” model).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ELPD Diff </a:t>
            </a:r>
            <a:r>
              <a:rPr lang="en-US" dirty="0"/>
              <a:t>– </a:t>
            </a:r>
            <a:r>
              <a:rPr lang="en-US" dirty="0">
                <a:effectLst/>
              </a:rPr>
              <a:t>The difference in ELPD between two </a:t>
            </a:r>
            <a:r>
              <a:rPr lang="en-US" dirty="0"/>
              <a:t>models. </a:t>
            </a:r>
            <a:r>
              <a:rPr lang="en-US" dirty="0">
                <a:effectLst/>
              </a:rPr>
              <a:t>If more than two models are compared, the difference is computed relative to the top-ranked model, that always has a </a:t>
            </a:r>
            <a:r>
              <a:rPr lang="en-US" dirty="0" err="1">
                <a:effectLst/>
              </a:rPr>
              <a:t>elpd_diff</a:t>
            </a:r>
            <a:r>
              <a:rPr lang="en-US" dirty="0">
                <a:effectLst/>
              </a:rPr>
              <a:t> of 0.</a:t>
            </a:r>
          </a:p>
          <a:p>
            <a:r>
              <a:rPr lang="en-US" b="1" dirty="0"/>
              <a:t>SE</a:t>
            </a:r>
            <a:r>
              <a:rPr lang="en-US" dirty="0"/>
              <a:t> - </a:t>
            </a:r>
            <a:r>
              <a:rPr lang="en-US" dirty="0">
                <a:effectLst/>
              </a:rPr>
              <a:t>Standard error </a:t>
            </a:r>
            <a:r>
              <a:rPr lang="en-US" dirty="0"/>
              <a:t>of </a:t>
            </a:r>
            <a:r>
              <a:rPr lang="en-US" dirty="0">
                <a:effectLst/>
              </a:rPr>
              <a:t>the ELPD </a:t>
            </a:r>
            <a:r>
              <a:rPr lang="en-US" dirty="0"/>
              <a:t>estimate. </a:t>
            </a:r>
            <a:r>
              <a:rPr lang="en-US" dirty="0">
                <a:effectLst/>
              </a:rPr>
              <a:t>If method = BB-pseudo-BMA these values are estimated using Bayesian bootstrap.</a:t>
            </a:r>
          </a:p>
          <a:p>
            <a:r>
              <a:rPr lang="en-US" b="1" dirty="0" err="1"/>
              <a:t>dSE</a:t>
            </a:r>
            <a:r>
              <a:rPr lang="en-US" dirty="0"/>
              <a:t> – </a:t>
            </a:r>
            <a:r>
              <a:rPr lang="en-US" dirty="0">
                <a:effectLst/>
              </a:rPr>
              <a:t>Standard error </a:t>
            </a:r>
            <a:r>
              <a:rPr lang="en-US" dirty="0"/>
              <a:t>of </a:t>
            </a:r>
            <a:r>
              <a:rPr lang="en-US" dirty="0">
                <a:effectLst/>
              </a:rPr>
              <a:t>the difference in ELPD between each model and the </a:t>
            </a:r>
            <a:r>
              <a:rPr lang="en-US" dirty="0"/>
              <a:t>top-ranked model. </a:t>
            </a:r>
            <a:r>
              <a:rPr lang="en-US" dirty="0">
                <a:effectLst/>
              </a:rPr>
              <a:t>It’s always 0 for the top-ranked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*</a:t>
            </a:r>
            <a:r>
              <a:rPr lang="en-US" b="1" dirty="0" err="1"/>
              <a:t>elpd</a:t>
            </a:r>
            <a:r>
              <a:rPr lang="en-US" dirty="0"/>
              <a:t> stands for </a:t>
            </a:r>
            <a:r>
              <a:rPr lang="en-US" b="1" dirty="0"/>
              <a:t>Expected Log Pointwise Predictive Density</a:t>
            </a:r>
            <a:r>
              <a:rPr lang="en-US" dirty="0"/>
              <a:t>. It is a measure of how well a model is expected to predict new (held-out) data, </a:t>
            </a:r>
            <a:r>
              <a:rPr lang="en-US" b="1" dirty="0"/>
              <a:t>computed by summing the log-predictive densities for each data point</a:t>
            </a:r>
            <a:r>
              <a:rPr lang="en-US" dirty="0"/>
              <a:t>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6089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294050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A731-5AD1-B6E3-297F-A4D0C583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CA8D0-42F4-ADB3-0086-E45F5914A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B4DFA-F56F-9463-7ED3-9EF364C04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2E393-4671-1B4B-4760-B12E7B1A5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22600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B8AA-C3A2-7122-6A23-175120CE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E5D81-6ED8-8525-F6B6-74A6675FE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4B8-DD6D-E3E2-6CF7-AF7D640D9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CD330-08B5-F139-C14D-BEB95E6C5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50196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432CA-5F36-E544-F7F0-363721E8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3FF55-3D16-C19E-EBB2-B828E3B7C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1A32C-DCA1-6572-7CE5-AEA52F4DF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8DEE4-7211-0B8F-B0B5-9D6DA8410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01498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standard error of all the differences is on the scale of the differences themselves</a:t>
            </a:r>
            <a:endParaRPr lang="en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546985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The standard error of all the differences is on the scale of the differences themselves</a:t>
            </a:r>
            <a:endParaRPr lang="en-IL" dirty="0">
              <a:solidFill>
                <a:srgbClr val="FF0000"/>
              </a:solidFill>
            </a:endParaRP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83387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9AA4-8DED-FA37-108C-05C30AC42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95E7E-B7A3-E618-7047-8984D92ED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cs typeface="David" panose="020E0502060401010101" pitchFamily="34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33D4D-9D0A-0BCF-BC14-F3D01EC9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3051C-88EC-78DE-E3D7-1465155B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4AF09-D0C8-6040-080B-53EE023E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346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35C8-10F8-E1BD-ABB5-2892F9E1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178A6-E92A-54EC-B300-980C7882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5DEC7-022D-0AE1-5DB9-1D1E6C35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1242-48C2-7A68-AAE8-A431FB3B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E1EA-7809-89E9-F7B2-CFC22E05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003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D650-A3EC-CFCF-0DC0-8E0EE850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B912-A7B5-A7CC-8E0D-74401B96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D0239-EF62-E557-A6F8-DA2B1BBD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B9DFE-81D8-1883-9297-036752CB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AB3C1-D618-CB4D-17A7-F96C129C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30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4D5D-342A-DF7B-18FF-CFD8390C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98C6-157A-10BB-61E5-C8CE6035E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0E71-63A5-A2D3-DAD2-96918C545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E066-BC6E-6DB7-A944-57F4771F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2896E-CB31-A9F3-1727-5346E87F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A54E8-1398-5A1E-D351-EF5BBFAE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386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8CFF-48F3-5885-AF53-0B622397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BC7F8-5F33-DF4F-3CB9-917BECF7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51B73-5BD7-C736-5B13-19EA3822B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63F2A-2E48-6304-C275-6C7D6E6CB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4004C-B15E-84E0-EB97-EA224AA6C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FEEED-789A-D36C-EA29-EFF57BFE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233F7-7DE0-1DA7-4A4A-79CE823E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7A7A8-3F74-6F5D-201B-5EC95B2F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205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0AA1-7BAC-E9BE-D762-1F9D66BD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517DC-0FA1-03DC-3919-B6B4CD04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D65D6-5898-0EF9-5F61-96069581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3442C-4AC1-AA35-D2D4-B68D2EB9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667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8D132-BD60-DC16-4510-81EF1C32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CD639-320A-A5D4-9DA0-1E3D3262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C2AA-4825-76B5-553A-5979068E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622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46CC-E85E-26A8-74D8-E6CB9FB6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D869A-8D29-D9DF-740F-6846F84DA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43755-0DC0-3249-81C7-190C373CA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5DDE-8BF1-C07B-C54C-C615A7CE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2EAC3-FBC3-0FB8-8AE0-9F15A51C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AEAB7-190C-A4C4-A12F-16A3698F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85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239F-E396-BD31-CFB3-66A19CFD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AC218-3683-E37C-6329-3427E1651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cs typeface="David" panose="020E0502060401010101" pitchFamily="34" charset="-79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4E6BF-7F4E-B50B-F270-DE81A6A08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A908A-17A7-0E1A-44BB-A25AD206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5B6AA-30E7-6680-C52B-A09D5B49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CBC2F-0FC0-F2D1-9E28-DCA9C990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396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AD6C-4019-F4AB-3B90-A05D767E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CCE49-CF7E-E1E4-25EB-1410DE985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4B9B3-0ABB-BB7A-C2FB-FE09F024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ECFBA-4F7F-B458-466A-CC3FADAD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405BD-9154-A270-54ED-4E8DA4F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021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A98C0-B0C2-2D8A-DE60-41BB8CE06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728E9-C32E-A846-C471-DF6C146E4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E2388-45A9-B604-6566-BCFBCB32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ח'/תמוז/תשפ"ו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F4E03-8FA2-6F6E-723B-A403886D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FE49-5E32-DF54-5A38-EB648464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719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1B0CA-3D6A-F019-B06E-96FFB71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DD7B4-E7F1-DAEF-E6DD-C119448FD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565E-03FA-AD0B-EAB4-727F9C171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fld id="{8D77C2CB-5D2B-4120-9F79-A939E1B95DA8}" type="datetimeFigureOut">
              <a:rPr lang="he-IL" smtClean="0"/>
              <a:pPr/>
              <a:t>ח'/תמוז/תשפ"ו</a:t>
            </a:fld>
            <a:endParaRPr lang="he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D34BA-193F-4537-437A-4F5F208FB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EB0D-54E1-5185-0939-57F44857B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defRPr>
            </a:lvl1pPr>
          </a:lstStyle>
          <a:p>
            <a:fld id="{B0C5DE7A-792B-413A-8DF6-2F007F025494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2108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avid" panose="020E0502060401010101" pitchFamily="34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David" panose="020E0502060401010101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.arviz.org/en/latest/api/generated/arviz.waic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arviz.org/en/latest/api/generated/arviz.waic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7.04544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arxiv.org/abs/1507.02646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7.04544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arxiv.org/abs/1507.02646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.arviz.org/en/stable/api/generated/arviz.compare.html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</a:t>
            </a:r>
            <a:r>
              <a:rPr lang="he-IL" dirty="0"/>
              <a:t>9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2026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A626382-5653-EECD-4173-5FECADC5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pPr algn="l" rtl="0"/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749"/>
            <a:ext cx="10515600" cy="5215222"/>
          </a:xfrm>
        </p:spPr>
        <p:txBody>
          <a:bodyPr>
            <a:normAutofit/>
          </a:bodyPr>
          <a:lstStyle/>
          <a:p>
            <a:r>
              <a:rPr lang="en-US" sz="3200" dirty="0"/>
              <a:t>Model comparison</a:t>
            </a:r>
          </a:p>
          <a:p>
            <a:pPr lvl="1"/>
            <a:r>
              <a:rPr lang="en-US" sz="2800" dirty="0"/>
              <a:t>Important terms</a:t>
            </a:r>
          </a:p>
          <a:p>
            <a:pPr lvl="1"/>
            <a:r>
              <a:rPr lang="en-US" sz="2800" dirty="0"/>
              <a:t>AIC</a:t>
            </a:r>
          </a:p>
          <a:p>
            <a:pPr lvl="1"/>
            <a:r>
              <a:rPr lang="en-US" sz="2800" dirty="0"/>
              <a:t>WAIC</a:t>
            </a:r>
          </a:p>
          <a:p>
            <a:pPr lvl="1"/>
            <a:r>
              <a:rPr lang="en-US" sz="2800" dirty="0"/>
              <a:t>K-fold Cross Validation (CV)</a:t>
            </a:r>
          </a:p>
          <a:p>
            <a:pPr lvl="1"/>
            <a:r>
              <a:rPr lang="en-US" altLang="en-US" sz="2800" dirty="0">
                <a:cs typeface="David" panose="020E0502060401010101" pitchFamily="34" charset="-79"/>
              </a:rPr>
              <a:t>Pareto-smoothed Importance Sampling Leave One Out Cross Validation (</a:t>
            </a:r>
            <a:r>
              <a:rPr lang="en-US" sz="2800" dirty="0"/>
              <a:t>PSIS-LOO-CV)</a:t>
            </a:r>
            <a:endParaRPr lang="en-US" sz="20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FB8A29-817C-0AE9-3536-E610EF5A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622A-A339-7746-C58E-60E27ADF2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B1A0-D81E-1B38-1DD5-8DC7EA5C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Model Comparison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7404-9822-10F4-F60A-8A36BBF2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6560"/>
            <a:ext cx="11353801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How can we compare two or more models for the same data?	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We have used posterior predictive checks to assess how well a model explains the data used to fit a model.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We have looked at Bayesian p values for goodness of fit.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Now we’ll learn additional methods for comparing between models.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41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02FF-A0CF-78A3-38F7-E7803CA7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4AD5-11F0-6928-C366-92F060A6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en-US" altLang="en-US" dirty="0"/>
              <a:t>Overfitting and underfitting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9DFBE1-8A39-AF15-3058-F5984AACA14D}"/>
              </a:ext>
            </a:extLst>
          </p:cNvPr>
          <p:cNvSpPr txBox="1">
            <a:spLocks/>
          </p:cNvSpPr>
          <p:nvPr/>
        </p:nvSpPr>
        <p:spPr>
          <a:xfrm>
            <a:off x="720635" y="1380309"/>
            <a:ext cx="10515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en-US" b="1" dirty="0"/>
              <a:t>Underfitting:</a:t>
            </a:r>
            <a:r>
              <a:rPr lang="en-US" altLang="en-US" dirty="0"/>
              <a:t> The model is too simple &amp; misses important structure.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b="1" dirty="0"/>
              <a:t>Overfitting:</a:t>
            </a:r>
            <a:r>
              <a:rPr lang="en-US" altLang="en-US" dirty="0"/>
              <a:t> The model is too flexible &amp; follows noise in the data.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dirty="0"/>
              <a:t>A useful model balances fit and generalization.  </a:t>
            </a:r>
            <a:endParaRPr lang="en-GB" altLang="en-US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GB" altLang="en-US" sz="1800" dirty="0"/>
          </a:p>
          <a:p>
            <a:pPr lvl="3">
              <a:buFont typeface="Wingdings" panose="05000000000000000000" pitchFamily="2" charset="2"/>
              <a:buChar char="§"/>
              <a:defRPr/>
            </a:pPr>
            <a:endParaRPr lang="en-GB" altLang="en-US" sz="1200" dirty="0"/>
          </a:p>
          <a:p>
            <a:pPr lvl="2">
              <a:buFont typeface="Wingdings" panose="05000000000000000000" pitchFamily="2" charset="2"/>
              <a:buChar char="§"/>
              <a:defRPr/>
            </a:pPr>
            <a:endParaRPr lang="en-GB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22596B-4AED-75EE-FC02-51EB46E6E8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0" y="4858512"/>
            <a:ext cx="5791200" cy="19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3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9892-B127-782F-D7CF-4391DB8E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BA8B-FF35-B9F8-D449-BED0A58C8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114"/>
            <a:ext cx="10515600" cy="1325563"/>
          </a:xfrm>
        </p:spPr>
        <p:txBody>
          <a:bodyPr/>
          <a:lstStyle/>
          <a:p>
            <a:r>
              <a:rPr lang="en-US" dirty="0"/>
              <a:t>Model Comparison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709429-2D63-2650-9E60-9C0E491695D7}"/>
              </a:ext>
            </a:extLst>
          </p:cNvPr>
          <p:cNvSpPr txBox="1">
            <a:spLocks/>
          </p:cNvSpPr>
          <p:nvPr/>
        </p:nvSpPr>
        <p:spPr>
          <a:xfrm>
            <a:off x="838200" y="1546677"/>
            <a:ext cx="10344150" cy="4610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We aim for: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High goodness of fit </a:t>
            </a:r>
          </a:p>
          <a:p>
            <a:pPr lvl="2"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Model fits the data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Lower complexity</a:t>
            </a:r>
          </a:p>
          <a:p>
            <a:pPr lvl="2"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Fewer parameters, more parameters can lead to overfitting</a:t>
            </a:r>
          </a:p>
          <a:p>
            <a:pPr lvl="2">
              <a:lnSpc>
                <a:spcPct val="150000"/>
              </a:lnSpc>
              <a:defRPr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Occam's razor</a:t>
            </a:r>
            <a:endParaRPr lang="en-GB" alt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1">
              <a:lnSpc>
                <a:spcPct val="150000"/>
              </a:lnSpc>
              <a:defRPr/>
            </a:pP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High generalizability</a:t>
            </a:r>
          </a:p>
          <a:p>
            <a:pPr lvl="2"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Model predicts future data well </a:t>
            </a:r>
          </a:p>
          <a:p>
            <a:pPr lvl="2">
              <a:lnSpc>
                <a:spcPct val="150000"/>
              </a:lnSpc>
              <a:defRPr/>
            </a:pPr>
            <a:endParaRPr lang="en-GB" alt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6FC6C-3F0D-136E-6DB3-A36CCC6F0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8350" y="4667771"/>
            <a:ext cx="6343650" cy="219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9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4D92-191D-3685-D3C2-64F9CCD6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3AEA-1B5A-42E4-796E-9561E006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697"/>
            <a:ext cx="10515600" cy="1325563"/>
          </a:xfrm>
        </p:spPr>
        <p:txBody>
          <a:bodyPr/>
          <a:lstStyle/>
          <a:p>
            <a:r>
              <a:rPr lang="en-GB" altLang="en-US" dirty="0">
                <a:cs typeface="David" panose="020E0502060401010101" pitchFamily="34" charset="-79"/>
              </a:rPr>
              <a:t>Accuracy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EB7DFC-19E9-CAC5-939A-F65774427A33}"/>
              </a:ext>
            </a:extLst>
          </p:cNvPr>
          <p:cNvSpPr txBox="1">
            <a:spLocks/>
          </p:cNvSpPr>
          <p:nvPr/>
        </p:nvSpPr>
        <p:spPr>
          <a:xfrm>
            <a:off x="838200" y="1613260"/>
            <a:ext cx="10926716" cy="4939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Within-sample accuracy :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The accuracy is measured with the same data used to fit the model.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Out-of-sample accuracy :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The accuracy measured with data not used to fit the model.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The within-sample accuracy will be higher and lead us to believe our model is better than it is. 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Leaving data out means less data to fit our model. </a:t>
            </a:r>
          </a:p>
        </p:txBody>
      </p:sp>
    </p:spTree>
    <p:extLst>
      <p:ext uri="{BB962C8B-B14F-4D97-AF65-F5344CB8AC3E}">
        <p14:creationId xmlns:p14="http://schemas.microsoft.com/office/powerpoint/2010/main" val="184889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A156-4E4C-A7A7-8D0B-E733560F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F140-F36C-81EF-F836-A0566342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547"/>
            <a:ext cx="10515600" cy="1325563"/>
          </a:xfrm>
        </p:spPr>
        <p:txBody>
          <a:bodyPr/>
          <a:lstStyle/>
          <a:p>
            <a:r>
              <a:rPr lang="en-US" dirty="0"/>
              <a:t>Model Comparison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15EA7A-0ACA-D6F0-AC69-6C231FF0FBB6}"/>
              </a:ext>
            </a:extLst>
          </p:cNvPr>
          <p:cNvSpPr txBox="1">
            <a:spLocks/>
          </p:cNvSpPr>
          <p:nvPr/>
        </p:nvSpPr>
        <p:spPr>
          <a:xfrm>
            <a:off x="838200" y="1556110"/>
            <a:ext cx="10392784" cy="5054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To overcome this, we will use two methods: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Information criteria:</a:t>
            </a: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 Expressions that approximate out-of-sample accuracy as in-sample accuracy plus a term that penalizes model complexity.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Cross-validation: </a:t>
            </a: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A method that involves dividing the available data into separate subsets that are alternatively used to fit and evaluate the models.</a:t>
            </a:r>
          </a:p>
        </p:txBody>
      </p:sp>
    </p:spTree>
    <p:extLst>
      <p:ext uri="{BB962C8B-B14F-4D97-AF65-F5344CB8AC3E}">
        <p14:creationId xmlns:p14="http://schemas.microsoft.com/office/powerpoint/2010/main" val="30650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5E75-CAC8-9E02-0CDC-0A9E380B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Information Criterion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DA873-83E6-486D-EE71-302EC6180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Akaike Information Criterion (AIC)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he-IL" b="0" i="0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he-IL" b="0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he-IL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e-IL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dirty="0"/>
              </a:p>
              <a:p>
                <a:r>
                  <a:rPr lang="en-US" dirty="0"/>
                  <a:t>Uses a point estimate of in sample likelihood</a:t>
                </a:r>
              </a:p>
              <a:p>
                <a:r>
                  <a:rPr lang="en-US" dirty="0"/>
                  <a:t>The number of parameters measures model complexity</a:t>
                </a:r>
              </a:p>
              <a:p>
                <a:r>
                  <a:rPr lang="en-US" dirty="0"/>
                  <a:t>Proportional to variance for linear regression models</a:t>
                </a:r>
              </a:p>
              <a:p>
                <a:r>
                  <a:rPr lang="en-US" dirty="0"/>
                  <a:t>But assumes: </a:t>
                </a:r>
              </a:p>
              <a:p>
                <a:pPr lvl="1"/>
                <a:r>
                  <a:rPr lang="en-US" dirty="0"/>
                  <a:t>Parameters are not correlated </a:t>
                </a:r>
              </a:p>
              <a:p>
                <a:pPr lvl="1"/>
                <a:r>
                  <a:rPr lang="en-US" dirty="0"/>
                  <a:t>Parameters are all regression coefficients</a:t>
                </a:r>
              </a:p>
              <a:p>
                <a:pPr lvl="1"/>
                <a:r>
                  <a:rPr lang="en-US" dirty="0"/>
                  <a:t>Model is not hierarchical or otherwise structures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DA873-83E6-486D-EE71-302EC6180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4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7FB1-F099-6C0A-FDFA-C93EC3F5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716A2-D637-6400-DD77-9900BA93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Information Criterion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A8493-FD3C-EEAA-9901-9F719431C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he-IL" b="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he-IL" b="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he-IL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e-IL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he-IL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he-IL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he-IL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:endParaRPr lang="he-IL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he-IL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he-IL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he-IL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he-IL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he-IL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he-IL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he-IL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Smaller when model has good fit to observed data</a:t>
                </a:r>
                <a:endParaRPr lang="he-IL" dirty="0"/>
              </a:p>
              <a:p>
                <a14:m>
                  <m:oMath xmlns:m="http://schemas.openxmlformats.org/officeDocument/2006/math">
                    <m:r>
                      <a:rPr lang="he-IL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he-IL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he-IL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/>
                  <a:t>Smaller for simpler models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number of parameters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Lower AIC is better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A8493-FD3C-EEAA-9901-9F719431C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57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242EE-45CA-869D-45BC-8880045D95BA}"/>
              </a:ext>
            </a:extLst>
          </p:cNvPr>
          <p:cNvSpPr/>
          <p:nvPr/>
        </p:nvSpPr>
        <p:spPr>
          <a:xfrm>
            <a:off x="8272631" y="3434296"/>
            <a:ext cx="2764714" cy="298608"/>
          </a:xfrm>
          <a:prstGeom prst="rect">
            <a:avLst/>
          </a:prstGeom>
          <a:solidFill>
            <a:srgbClr val="FFFF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8AC5F-F5F9-747E-EDD8-21EADDC4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Information Criterion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A4F114-B2A5-DD27-5075-1D2C5EF17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8263"/>
          <a:stretch>
            <a:fillRect/>
          </a:stretch>
        </p:blipFill>
        <p:spPr>
          <a:xfrm>
            <a:off x="5417484" y="2261436"/>
            <a:ext cx="634857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12A618-44D4-5111-F7FE-9480AC25F42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9585"/>
          <a:stretch>
            <a:fillRect/>
          </a:stretch>
        </p:blipFill>
        <p:spPr>
          <a:xfrm>
            <a:off x="4718238" y="1546760"/>
            <a:ext cx="7906356" cy="61524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BD20BB-FCAC-5767-A9E3-1F8B241BD330}"/>
              </a:ext>
            </a:extLst>
          </p:cNvPr>
          <p:cNvSpPr txBox="1">
            <a:spLocks/>
          </p:cNvSpPr>
          <p:nvPr/>
        </p:nvSpPr>
        <p:spPr>
          <a:xfrm>
            <a:off x="425937" y="1788100"/>
            <a:ext cx="4262829" cy="1944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You can see AIC in the </a:t>
            </a:r>
            <a:r>
              <a:rPr lang="en-US" sz="2400" dirty="0" err="1"/>
              <a:t>ols</a:t>
            </a:r>
            <a:r>
              <a:rPr lang="en-US" sz="2400" dirty="0"/>
              <a:t> model summary and compare models. </a:t>
            </a:r>
          </a:p>
          <a:p>
            <a:r>
              <a:rPr lang="en-US" sz="2400" dirty="0"/>
              <a:t>For example from tutorial 8: </a:t>
            </a:r>
          </a:p>
          <a:p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07834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969F-F022-E510-2385-D34B4B50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11CF-5922-1FC9-CCCC-6281A06E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Widely Applicable Information Criteria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F49A2-1352-19E9-F51F-393350EEE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56997"/>
            <a:ext cx="10111093" cy="1495532"/>
          </a:xfrm>
          <a:prstGeom prst="rect">
            <a:avLst/>
          </a:prstGeom>
        </p:spPr>
      </p:pic>
      <p:sp>
        <p:nvSpPr>
          <p:cNvPr id="5" name="Left Bracket 4">
            <a:extLst>
              <a:ext uri="{FF2B5EF4-FFF2-40B4-BE49-F238E27FC236}">
                <a16:creationId xmlns:a16="http://schemas.microsoft.com/office/drawing/2014/main" id="{F6657614-56B7-7353-2E4D-B30096797BE5}"/>
              </a:ext>
            </a:extLst>
          </p:cNvPr>
          <p:cNvSpPr/>
          <p:nvPr/>
        </p:nvSpPr>
        <p:spPr>
          <a:xfrm rot="16200000">
            <a:off x="4528753" y="1050320"/>
            <a:ext cx="111212" cy="37811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69E406E7-7104-798F-F8D0-254A356008A1}"/>
              </a:ext>
            </a:extLst>
          </p:cNvPr>
          <p:cNvSpPr/>
          <p:nvPr/>
        </p:nvSpPr>
        <p:spPr>
          <a:xfrm rot="16200000">
            <a:off x="8534514" y="1212905"/>
            <a:ext cx="111212" cy="3456000"/>
          </a:xfrm>
          <a:prstGeom prst="leftBracke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825EC-C65A-724D-90FB-57183C82BF99}"/>
              </a:ext>
            </a:extLst>
          </p:cNvPr>
          <p:cNvSpPr txBox="1"/>
          <p:nvPr/>
        </p:nvSpPr>
        <p:spPr>
          <a:xfrm>
            <a:off x="3146856" y="3129282"/>
            <a:ext cx="3113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Log pointwise predictive density (lppd)</a:t>
            </a:r>
            <a:endParaRPr lang="LID4096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52ADD4-3CF7-6569-23C7-1FBCDB0F7E03}"/>
                  </a:ext>
                </a:extLst>
              </p:cNvPr>
              <p:cNvSpPr txBox="1"/>
              <p:nvPr/>
            </p:nvSpPr>
            <p:spPr>
              <a:xfrm>
                <a:off x="7033169" y="3129282"/>
                <a:ext cx="31139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chemeClr val="accent5">
                        <a:lumMod val="75000"/>
                      </a:schemeClr>
                    </a:solidFill>
                  </a:rPr>
                  <a:t>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𝑊𝐴𝐼𝐶</m:t>
                        </m:r>
                      </m:sub>
                    </m:sSub>
                  </m:oMath>
                </a14:m>
                <a:endParaRPr lang="LID4096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33BA3B-EF2C-A9C2-C7D8-B0DF7A35F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69" y="3129282"/>
                <a:ext cx="3113902" cy="400110"/>
              </a:xfrm>
              <a:prstGeom prst="rect">
                <a:avLst/>
              </a:prstGeom>
              <a:blipFill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49B404D-A5DF-BB40-6864-CD444350F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740" y="3861489"/>
                <a:ext cx="11272520" cy="26307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en-GB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(1) lppd - 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A measure of how well the model fits the data</a:t>
                </a:r>
                <a:endParaRPr lang="en-GB" altLang="en-US" sz="2400" dirty="0">
                  <a:solidFill>
                    <a:schemeClr val="accent1">
                      <a:lumMod val="75000"/>
                    </a:schemeClr>
                  </a:solidFill>
                  <a:latin typeface="David" panose="020E0502060401010101" pitchFamily="34" charset="-79"/>
                  <a:cs typeface="David" panose="020E0502060401010101" pitchFamily="34" charset="-79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en-GB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(2) 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𝑊𝐴𝐼𝐶</m:t>
                        </m:r>
                      </m:sub>
                    </m:sSub>
                    <m:r>
                      <a:rPr lang="en-US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sz="2400" b="0" dirty="0">
                  <a:solidFill>
                    <a:schemeClr val="accent5">
                      <a:lumMod val="75000"/>
                    </a:schemeClr>
                  </a:solidFill>
                  <a:latin typeface="David" panose="020E0502060401010101" pitchFamily="34" charset="-79"/>
                  <a:cs typeface="David" panose="020E0502060401010101" pitchFamily="34" charset="-79"/>
                </a:endParaRPr>
              </a:p>
              <a:p>
                <a:pPr lvl="1">
                  <a:lnSpc>
                    <a:spcPct val="150000"/>
                  </a:lnSpc>
                  <a:defRPr/>
                </a:pPr>
                <a:r>
                  <a:rPr lang="en-GB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 Common interpretation: </a:t>
                </a:r>
                <a:r>
                  <a:rPr lang="en-GB" sz="2000" dirty="0">
                    <a:solidFill>
                      <a:schemeClr val="accent5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A measure of the effective number of parameters</a:t>
                </a:r>
              </a:p>
              <a:p>
                <a:pPr lvl="1">
                  <a:lnSpc>
                    <a:spcPct val="150000"/>
                  </a:lnSpc>
                  <a:defRPr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Actually: An estimate of how much worse the likelihood would be if we were looking at new data</a:t>
                </a:r>
                <a:r>
                  <a:rPr lang="en-US" sz="1600" dirty="0">
                    <a:solidFill>
                      <a:schemeClr val="accent5">
                        <a:lumMod val="75000"/>
                      </a:schemeClr>
                    </a:solidFill>
                    <a:latin typeface="David" panose="020E0502060401010101" pitchFamily="34" charset="-79"/>
                    <a:cs typeface="David" panose="020E0502060401010101" pitchFamily="34" charset="-79"/>
                  </a:rPr>
                  <a:t>.</a:t>
                </a:r>
                <a:endParaRPr lang="LID4096" sz="1600" dirty="0">
                  <a:solidFill>
                    <a:schemeClr val="accent5">
                      <a:lumMod val="75000"/>
                    </a:schemeClr>
                  </a:solidFill>
                  <a:latin typeface="David" panose="020E0502060401010101" pitchFamily="34" charset="-79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49B404D-A5DF-BB40-6864-CD444350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0" y="3861489"/>
                <a:ext cx="11272520" cy="2630751"/>
              </a:xfrm>
              <a:prstGeom prst="rect">
                <a:avLst/>
              </a:prstGeom>
              <a:blipFill>
                <a:blip r:embed="rId5"/>
                <a:stretch>
                  <a:fillRect l="-8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83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CC78-8DF0-9144-5776-EB6A8396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1BAC-A5B4-82E4-5FF0-600EA417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Widely Applicable Information Criteria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46461-D77A-04F6-AA98-51EE4056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56997"/>
            <a:ext cx="10111093" cy="1495532"/>
          </a:xfrm>
          <a:prstGeom prst="rect">
            <a:avLst/>
          </a:prstGeom>
        </p:spPr>
      </p:pic>
      <p:sp>
        <p:nvSpPr>
          <p:cNvPr id="5" name="Left Bracket 4">
            <a:extLst>
              <a:ext uri="{FF2B5EF4-FFF2-40B4-BE49-F238E27FC236}">
                <a16:creationId xmlns:a16="http://schemas.microsoft.com/office/drawing/2014/main" id="{31DBD6C1-FE33-57F3-04E2-B250E5AF7C14}"/>
              </a:ext>
            </a:extLst>
          </p:cNvPr>
          <p:cNvSpPr/>
          <p:nvPr/>
        </p:nvSpPr>
        <p:spPr>
          <a:xfrm rot="16200000">
            <a:off x="4528753" y="1050320"/>
            <a:ext cx="111212" cy="37811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31CCE0F9-B73D-BB1B-2E45-0859FEAAE476}"/>
              </a:ext>
            </a:extLst>
          </p:cNvPr>
          <p:cNvSpPr/>
          <p:nvPr/>
        </p:nvSpPr>
        <p:spPr>
          <a:xfrm rot="16200000">
            <a:off x="8534514" y="1212905"/>
            <a:ext cx="111212" cy="3456000"/>
          </a:xfrm>
          <a:prstGeom prst="leftBracke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51C5AA-4B35-29FF-1DA5-661296F1083B}"/>
              </a:ext>
            </a:extLst>
          </p:cNvPr>
          <p:cNvSpPr txBox="1">
            <a:spLocks/>
          </p:cNvSpPr>
          <p:nvPr/>
        </p:nvSpPr>
        <p:spPr>
          <a:xfrm>
            <a:off x="492396" y="4400596"/>
            <a:ext cx="11272520" cy="1947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We will choose the model with the lower WAIC.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If two models fit the data equally well, we will choose the simpler one.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DA6FCC-F0FB-EC08-B33C-D21F0F35659F}"/>
              </a:ext>
            </a:extLst>
          </p:cNvPr>
          <p:cNvSpPr txBox="1"/>
          <p:nvPr/>
        </p:nvSpPr>
        <p:spPr>
          <a:xfrm>
            <a:off x="3146856" y="3129282"/>
            <a:ext cx="3113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Log pointwise predictive density (lppd)</a:t>
            </a:r>
            <a:endParaRPr lang="LID4096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8">
                <a:extLst>
                  <a:ext uri="{FF2B5EF4-FFF2-40B4-BE49-F238E27FC236}">
                    <a16:creationId xmlns:a16="http://schemas.microsoft.com/office/drawing/2014/main" id="{78B02E88-2E57-6329-DF78-51A32473DC5C}"/>
                  </a:ext>
                </a:extLst>
              </p:cNvPr>
              <p:cNvSpPr txBox="1"/>
              <p:nvPr/>
            </p:nvSpPr>
            <p:spPr>
              <a:xfrm>
                <a:off x="7033169" y="3129282"/>
                <a:ext cx="31139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chemeClr val="accent5">
                        <a:lumMod val="75000"/>
                      </a:schemeClr>
                    </a:solidFill>
                  </a:rPr>
                  <a:t>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𝑊𝐴𝐼𝐶</m:t>
                        </m:r>
                      </m:sub>
                    </m:sSub>
                  </m:oMath>
                </a14:m>
                <a:endParaRPr lang="LID4096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8">
                <a:extLst>
                  <a:ext uri="{FF2B5EF4-FFF2-40B4-BE49-F238E27FC236}">
                    <a16:creationId xmlns:a16="http://schemas.microsoft.com/office/drawing/2014/main" id="{78B02E88-2E57-6329-DF78-51A32473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69" y="3129282"/>
                <a:ext cx="3113902" cy="400110"/>
              </a:xfrm>
              <a:prstGeom prst="rect">
                <a:avLst/>
              </a:prstGeom>
              <a:blipFill>
                <a:blip r:embed="rId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87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D9E536-F962-FC24-E1C1-DAA6EB6C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can’t we trust WAIC?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1FDDBD8-4F4C-6000-7812-7896C45D3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WAIC is based on a Taylor expansion of the log‐pointwise predictive density (</a:t>
                </a:r>
                <a:r>
                  <a:rPr lang="en-US" dirty="0" err="1"/>
                  <a:t>lpd</a:t>
                </a:r>
                <a:r>
                  <a:rPr lang="en-US" dirty="0"/>
                  <a:t>).</a:t>
                </a:r>
              </a:p>
              <a:p>
                <a:pPr lvl="1"/>
                <a:r>
                  <a:rPr lang="en-US" dirty="0"/>
                  <a:t>If the estimated effective number of parameters (</a:t>
                </a:r>
                <a:r>
                  <a:rPr lang="en-US" dirty="0" err="1"/>
                  <a:t>p_waic</a:t>
                </a:r>
                <a:r>
                  <a:rPr lang="en-US" dirty="0"/>
                  <a:t>) grows too large relative to your sample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𝑤𝑎𝑖𝑐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variance correction becomes unreliable.</a:t>
                </a:r>
              </a:p>
              <a:p>
                <a:r>
                  <a:rPr lang="en-US" dirty="0"/>
                  <a:t>Symptoms:</a:t>
                </a:r>
              </a:p>
              <a:p>
                <a:pPr lvl="1"/>
                <a:r>
                  <a:rPr lang="en-US" dirty="0"/>
                  <a:t>WAIC’s standard error (</a:t>
                </a:r>
                <a:r>
                  <a:rPr lang="en-US" dirty="0" err="1"/>
                  <a:t>se_waic</a:t>
                </a:r>
                <a:r>
                  <a:rPr lang="en-US" dirty="0"/>
                  <a:t>) spikes</a:t>
                </a:r>
              </a:p>
              <a:p>
                <a:pPr lvl="1"/>
                <a:r>
                  <a:rPr lang="en-US" dirty="0"/>
                  <a:t>Posterior draws give wildly different WAIC values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1FDDBD8-4F4C-6000-7812-7896C45D3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DF5D3ED-6E8C-FF12-C4B3-E877D137FDF9}"/>
              </a:ext>
            </a:extLst>
          </p:cNvPr>
          <p:cNvSpPr txBox="1"/>
          <p:nvPr/>
        </p:nvSpPr>
        <p:spPr>
          <a:xfrm>
            <a:off x="8561792" y="6702479"/>
            <a:ext cx="67561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 </a:t>
            </a:r>
            <a:r>
              <a:rPr lang="he-IL" sz="1000" dirty="0">
                <a:cs typeface="David" panose="020E0502060401010101" pitchFamily="34" charset="-79"/>
                <a:hlinkClick r:id="rId4"/>
              </a:rPr>
              <a:t>https://python.arviz.org/en/latest/api/generated/arviz.waic.html</a:t>
            </a:r>
            <a:r>
              <a:rPr lang="he-IL" sz="1000" dirty="0">
                <a:cs typeface="David" panose="020E0502060401010101" pitchFamily="34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309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927B-6318-FE7C-4075-DFE8FCC6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73A3A1-78D5-8695-C4CE-11052D25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can’t we trust WAIC?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9643F1A-0E4E-7E7A-3948-79367261AB7F}"/>
              </a:ext>
            </a:extLst>
          </p:cNvPr>
          <p:cNvSpPr txBox="1"/>
          <p:nvPr/>
        </p:nvSpPr>
        <p:spPr>
          <a:xfrm>
            <a:off x="8561792" y="6702479"/>
            <a:ext cx="67561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 </a:t>
            </a:r>
            <a:r>
              <a:rPr lang="he-IL" sz="1000" dirty="0">
                <a:cs typeface="David" panose="020E0502060401010101" pitchFamily="34" charset="-79"/>
                <a:hlinkClick r:id="rId3"/>
              </a:rPr>
              <a:t>https://python.arviz.org/en/latest/api/generated/arviz.waic.html</a:t>
            </a:r>
            <a:r>
              <a:rPr lang="he-IL" sz="1000" dirty="0">
                <a:cs typeface="David" panose="020E0502060401010101" pitchFamily="34" charset="-79"/>
              </a:rPr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C7F80E-E238-FEB6-93D4-3D40B21BF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0504" y="1714351"/>
            <a:ext cx="6187976" cy="1714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37C65C-D5EF-764E-A1CC-2827AC3C0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800" y="2508738"/>
            <a:ext cx="5847694" cy="3926795"/>
          </a:xfrm>
          <a:prstGeom prst="rect">
            <a:avLst/>
          </a:prstGeom>
        </p:spPr>
      </p:pic>
      <p:sp>
        <p:nvSpPr>
          <p:cNvPr id="13" name="מלבן 6">
            <a:extLst>
              <a:ext uri="{FF2B5EF4-FFF2-40B4-BE49-F238E27FC236}">
                <a16:creationId xmlns:a16="http://schemas.microsoft.com/office/drawing/2014/main" id="{D4086EC9-9FB3-478D-1B41-9731FBE07AC0}"/>
              </a:ext>
            </a:extLst>
          </p:cNvPr>
          <p:cNvSpPr/>
          <p:nvPr/>
        </p:nvSpPr>
        <p:spPr>
          <a:xfrm>
            <a:off x="6394900" y="4719063"/>
            <a:ext cx="4958900" cy="626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33285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5B8A-1460-15C2-CFC2-52374D66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2526-D118-1B2D-E044-42927403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410"/>
            <a:ext cx="10515600" cy="1325563"/>
          </a:xfrm>
        </p:spPr>
        <p:txBody>
          <a:bodyPr/>
          <a:lstStyle/>
          <a:p>
            <a:r>
              <a:rPr lang="en-US" dirty="0"/>
              <a:t>K-fold Cross Validation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55D1F-8252-D43C-E8EC-5E7AD134B7D8}"/>
              </a:ext>
            </a:extLst>
          </p:cNvPr>
          <p:cNvSpPr txBox="1">
            <a:spLocks/>
          </p:cNvSpPr>
          <p:nvPr/>
        </p:nvSpPr>
        <p:spPr>
          <a:xfrm>
            <a:off x="838200" y="1431904"/>
            <a:ext cx="10515600" cy="46519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sz="3200" dirty="0">
                <a:latin typeface="David" panose="020E0502060401010101" pitchFamily="34" charset="-79"/>
                <a:cs typeface="David" panose="020E0502060401010101" pitchFamily="34" charset="-79"/>
              </a:rPr>
              <a:t>Divide our data into k parts.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3200" dirty="0">
                <a:latin typeface="David" panose="020E0502060401010101" pitchFamily="34" charset="-79"/>
                <a:cs typeface="David" panose="020E0502060401010101" pitchFamily="34" charset="-79"/>
              </a:rPr>
              <a:t>Use k-1 parts to fit the model and test it on the left-out portion.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3200" dirty="0">
                <a:latin typeface="David" panose="020E0502060401010101" pitchFamily="34" charset="-79"/>
                <a:cs typeface="David" panose="020E0502060401010101" pitchFamily="34" charset="-79"/>
              </a:rPr>
              <a:t>We get k models and k accuracy values.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3200" dirty="0">
                <a:latin typeface="David" panose="020E0502060401010101" pitchFamily="34" charset="-79"/>
                <a:cs typeface="David" panose="020E0502060401010101" pitchFamily="34" charset="-79"/>
              </a:rPr>
              <a:t>The accuracy of the model is the average of the k accuracy values.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sz="3200" dirty="0">
                <a:latin typeface="David" panose="020E0502060401010101" pitchFamily="34" charset="-79"/>
                <a:cs typeface="David" panose="020E0502060401010101" pitchFamily="34" charset="-79"/>
              </a:rPr>
              <a:t>Fit the model on all the data one final time.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This is the final model for future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491BE-B92E-7351-246C-3B1718A3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10" y="204946"/>
            <a:ext cx="5037555" cy="22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3040-CB83-0669-87BA-FB570CB5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249B-2B9A-4C98-CFAA-63A76C784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25"/>
            <a:ext cx="10515600" cy="1325563"/>
          </a:xfrm>
        </p:spPr>
        <p:txBody>
          <a:bodyPr/>
          <a:lstStyle/>
          <a:p>
            <a:r>
              <a:rPr lang="en-US" dirty="0"/>
              <a:t>LOO Cross Validation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33FD-97A4-C7EF-2301-C4F17D366E04}"/>
              </a:ext>
            </a:extLst>
          </p:cNvPr>
          <p:cNvSpPr txBox="1">
            <a:spLocks/>
          </p:cNvSpPr>
          <p:nvPr/>
        </p:nvSpPr>
        <p:spPr>
          <a:xfrm>
            <a:off x="838200" y="1456288"/>
            <a:ext cx="10812416" cy="471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When K equals the number of data points, we get what is known as </a:t>
            </a:r>
            <a:r>
              <a:rPr lang="en-GB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leave-one-out cross validation (LOO-CV)</a:t>
            </a: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, meaning we fit the model to </a:t>
            </a:r>
            <a:r>
              <a:rPr lang="en-GB" altLang="en-US" u="sng" dirty="0">
                <a:latin typeface="David" panose="020E0502060401010101" pitchFamily="34" charset="-79"/>
                <a:cs typeface="David" panose="020E0502060401010101" pitchFamily="34" charset="-79"/>
              </a:rPr>
              <a:t>all but one data point each time</a:t>
            </a: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dirty="0">
                <a:latin typeface="David" panose="020E0502060401010101" pitchFamily="34" charset="-79"/>
                <a:cs typeface="David" panose="020E0502060401010101" pitchFamily="34" charset="-79"/>
              </a:rPr>
              <a:t>Practically, this is computationally expensive, and we are going to estimate it</a:t>
            </a: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 by approximating the expected log likelihood of new data</a:t>
            </a:r>
          </a:p>
          <a:p>
            <a:pPr>
              <a:lnSpc>
                <a:spcPct val="150000"/>
              </a:lnSpc>
              <a:defRPr/>
            </a:pPr>
            <a:endParaRPr lang="he-IL" alt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50000"/>
              </a:lnSpc>
              <a:defRPr/>
            </a:pPr>
            <a:endParaRPr lang="en-GB" alt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F18F84-4374-4642-9549-E6CF28CF4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660300"/>
              </p:ext>
            </p:extLst>
          </p:nvPr>
        </p:nvGraphicFramePr>
        <p:xfrm>
          <a:off x="1744169" y="5011454"/>
          <a:ext cx="504666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660240" progId="Equation.DSMT4">
                  <p:embed/>
                </p:oleObj>
              </mc:Choice>
              <mc:Fallback>
                <p:oleObj name="Equation" r:id="rId3" imgW="2387520" imgH="6602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EA1B01D-4A1F-AF72-CB92-1EE0710FAB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4169" y="5011454"/>
                        <a:ext cx="5046662" cy="139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BA7FA4A-1CEE-5E38-06E6-3F9F632E2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741107"/>
              </p:ext>
            </p:extLst>
          </p:nvPr>
        </p:nvGraphicFramePr>
        <p:xfrm>
          <a:off x="7911438" y="5149963"/>
          <a:ext cx="2284763" cy="1119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317160" progId="Equation.DSMT4">
                  <p:embed/>
                </p:oleObj>
              </mc:Choice>
              <mc:Fallback>
                <p:oleObj name="Equation" r:id="rId5" imgW="647640" imgH="3171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9F579BA-A68F-2E3E-B430-441F4D9237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11438" y="5149963"/>
                        <a:ext cx="2284763" cy="1119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996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797F-C4D6-B6F1-4F4A-BD8ABD84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5906-1C35-2A14-B160-ACC4B700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25"/>
            <a:ext cx="10515600" cy="1325563"/>
          </a:xfrm>
        </p:spPr>
        <p:txBody>
          <a:bodyPr/>
          <a:lstStyle/>
          <a:p>
            <a:r>
              <a:rPr lang="he-IL" dirty="0"/>
              <a:t>PSIS-LOO</a:t>
            </a:r>
            <a:r>
              <a:rPr lang="en-US" dirty="0"/>
              <a:t>-CV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5F1FA-C2EF-C676-2C1A-E5904AFDA27A}"/>
              </a:ext>
            </a:extLst>
          </p:cNvPr>
          <p:cNvSpPr txBox="1">
            <a:spLocks/>
          </p:cNvSpPr>
          <p:nvPr/>
        </p:nvSpPr>
        <p:spPr>
          <a:xfrm>
            <a:off x="838200" y="1456288"/>
            <a:ext cx="10812416" cy="471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LOO uses </a:t>
            </a:r>
            <a:r>
              <a:rPr lang="en-US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Pareto-smoothed importance sampling</a:t>
            </a: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 to approximate refits.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Importance sampling </a:t>
            </a: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means we sample the proposal distribution instead of the target distribution &amp; weigh the samples according to the ratio.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This is problematic if the importance weight is too high.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A30D62E-565A-37CE-C3D6-0043D94C2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724003"/>
              </p:ext>
            </p:extLst>
          </p:nvPr>
        </p:nvGraphicFramePr>
        <p:xfrm>
          <a:off x="9638638" y="5401712"/>
          <a:ext cx="2284763" cy="1119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317160" progId="Equation.DSMT4">
                  <p:embed/>
                </p:oleObj>
              </mc:Choice>
              <mc:Fallback>
                <p:oleObj name="Equation" r:id="rId3" imgW="647640" imgH="3171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BA7FA4A-1CEE-5E38-06E6-3F9F632E25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38638" y="5401712"/>
                        <a:ext cx="2284763" cy="1119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17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5775-9E4E-E24E-EFEE-7D6CEA96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B65E-9926-CCA2-05F1-9B53F0F4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25"/>
            <a:ext cx="10515600" cy="1325563"/>
          </a:xfrm>
        </p:spPr>
        <p:txBody>
          <a:bodyPr/>
          <a:lstStyle/>
          <a:p>
            <a:r>
              <a:rPr lang="he-IL" dirty="0"/>
              <a:t>PSIS-LOO</a:t>
            </a:r>
            <a:r>
              <a:rPr lang="en-US" dirty="0"/>
              <a:t>-CV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3A296-108E-E775-53F2-A21CAC6DFC76}"/>
              </a:ext>
            </a:extLst>
          </p:cNvPr>
          <p:cNvSpPr txBox="1">
            <a:spLocks/>
          </p:cNvSpPr>
          <p:nvPr/>
        </p:nvSpPr>
        <p:spPr>
          <a:xfrm>
            <a:off x="838200" y="1456288"/>
            <a:ext cx="10812416" cy="471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The </a:t>
            </a:r>
            <a:r>
              <a:rPr lang="en-US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Pareto</a:t>
            </a: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altLang="en-US" b="1" dirty="0">
                <a:latin typeface="David" panose="020E0502060401010101" pitchFamily="34" charset="-79"/>
                <a:cs typeface="David" panose="020E0502060401010101" pitchFamily="34" charset="-79"/>
              </a:rPr>
              <a:t>distribution</a:t>
            </a: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 has wider tails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Wider than Student’s t distribution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We replace extreme weights (usually top 20%)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Using Pareto distribution fit to the rest of the weights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dirty="0">
                <a:latin typeface="David" panose="020E0502060401010101" pitchFamily="34" charset="-79"/>
                <a:cs typeface="David" panose="020E0502060401010101" pitchFamily="34" charset="-79"/>
              </a:rPr>
              <a:t>key diagnostic - shape parameter k</a:t>
            </a:r>
            <a:r>
              <a:rPr lang="he-IL" altLang="en-US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en-US" alt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D60D5-8163-BA66-CD6E-75EA4FC0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760"/>
          <a:stretch>
            <a:fillRect/>
          </a:stretch>
        </p:blipFill>
        <p:spPr>
          <a:xfrm>
            <a:off x="8105502" y="3931919"/>
            <a:ext cx="4086498" cy="288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D0FB5-9F16-4474-471C-1FF5964A0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09" t="33005" b="39355"/>
          <a:stretch>
            <a:fillRect/>
          </a:stretch>
        </p:blipFill>
        <p:spPr>
          <a:xfrm>
            <a:off x="9514693" y="3931919"/>
            <a:ext cx="2327693" cy="79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6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5E8ADC-C483-8B43-078C-F9FF69FE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can’t we trust LOO?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95D97D-B1BE-5C69-106F-9AABBB388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10515600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dirty="0">
                <a:cs typeface="David" panose="020E0502060401010101" pitchFamily="34" charset="-79"/>
              </a:rPr>
              <a:t>Rule of thumb: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dirty="0">
                <a:cs typeface="David" panose="020E0502060401010101" pitchFamily="34" charset="-79"/>
              </a:rPr>
              <a:t>If any </a:t>
            </a:r>
            <a:r>
              <a:rPr lang="en-US" altLang="he-IL" i="1" dirty="0">
                <a:cs typeface="David" panose="020E0502060401010101" pitchFamily="34" charset="-79"/>
              </a:rPr>
              <a:t>K</a:t>
            </a:r>
            <a:r>
              <a:rPr lang="he-IL" altLang="he-IL" i="1" dirty="0">
                <a:cs typeface="David" panose="020E0502060401010101" pitchFamily="34" charset="-79"/>
              </a:rPr>
              <a:t> </a:t>
            </a:r>
            <a:r>
              <a:rPr lang="en-US" altLang="he-IL" i="1" dirty="0">
                <a:cs typeface="David" panose="020E0502060401010101" pitchFamily="34" charset="-79"/>
              </a:rPr>
              <a:t> &gt; 1 </a:t>
            </a:r>
            <a:r>
              <a:rPr lang="he-IL" altLang="he-IL" dirty="0">
                <a:cs typeface="David" panose="020E0502060401010101" pitchFamily="34" charset="-79"/>
              </a:rPr>
              <a:t>sampling variance infinite</a:t>
            </a:r>
            <a:r>
              <a:rPr lang="en-US" altLang="he-IL" dirty="0">
                <a:cs typeface="David" panose="020E0502060401010101" pitchFamily="34" charset="-79"/>
              </a:rPr>
              <a:t> </a:t>
            </a:r>
            <a:r>
              <a:rPr lang="he-IL" altLang="he-IL" dirty="0">
                <a:cs typeface="David" panose="020E0502060401010101" pitchFamily="34" charset="-79"/>
              </a:rPr>
              <a:t>→ </a:t>
            </a:r>
            <a:r>
              <a:rPr lang="en-US" altLang="he-IL" dirty="0">
                <a:cs typeface="David" panose="020E0502060401010101" pitchFamily="34" charset="-79"/>
              </a:rPr>
              <a:t> </a:t>
            </a:r>
            <a:r>
              <a:rPr lang="he-IL" altLang="he-IL" b="1" dirty="0">
                <a:cs typeface="David" panose="020E0502060401010101" pitchFamily="34" charset="-79"/>
              </a:rPr>
              <a:t>don’t trust LOO</a:t>
            </a:r>
            <a:endParaRPr lang="he-IL" altLang="he-IL" dirty="0">
              <a:cs typeface="David" panose="020E0502060401010101" pitchFamily="34" charset="-79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dirty="0">
                <a:cs typeface="David" panose="020E0502060401010101" pitchFamily="34" charset="-79"/>
              </a:rPr>
              <a:t>If more than ~5% of points have</a:t>
            </a:r>
            <a:r>
              <a:rPr lang="en-US" altLang="he-IL" dirty="0">
                <a:cs typeface="David" panose="020E0502060401010101" pitchFamily="34" charset="-79"/>
              </a:rPr>
              <a:t> K &gt; 0.7 </a:t>
            </a:r>
            <a:r>
              <a:rPr lang="he-IL" altLang="he-IL" dirty="0">
                <a:cs typeface="David" panose="020E0502060401010101" pitchFamily="34" charset="-79"/>
              </a:rPr>
              <a:t>→ </a:t>
            </a:r>
            <a:r>
              <a:rPr lang="en-US" altLang="he-IL" dirty="0">
                <a:cs typeface="David" panose="020E0502060401010101" pitchFamily="34" charset="-79"/>
              </a:rPr>
              <a:t> </a:t>
            </a:r>
            <a:r>
              <a:rPr lang="he-IL" altLang="he-IL" b="1" dirty="0">
                <a:cs typeface="David" panose="020E0502060401010101" pitchFamily="34" charset="-79"/>
              </a:rPr>
              <a:t>beware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he-IL" altLang="he-IL" sz="2800" dirty="0">
              <a:cs typeface="David" panose="020E0502060401010101" pitchFamily="34" charset="-79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sz="3200" dirty="0">
                <a:cs typeface="David" panose="020E0502060401010101" pitchFamily="34" charset="-79"/>
              </a:rPr>
              <a:t>Symptoms: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e-IL" altLang="he-IL" sz="2800" dirty="0">
                <a:cs typeface="David" panose="020E0502060401010101" pitchFamily="34" charset="-79"/>
              </a:rPr>
              <a:t> LOO </a:t>
            </a:r>
            <a:r>
              <a:rPr lang="en-US" altLang="he-IL" sz="2800" dirty="0">
                <a:cs typeface="David" panose="020E0502060401010101" pitchFamily="34" charset="-79"/>
              </a:rPr>
              <a:t>standard error</a:t>
            </a:r>
            <a:r>
              <a:rPr lang="he-IL" altLang="he-IL" sz="2800" dirty="0">
                <a:cs typeface="David" panose="020E0502060401010101" pitchFamily="34" charset="-79"/>
              </a:rPr>
              <a:t> is huge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e-IL" altLang="he-IL" sz="2800" dirty="0">
                <a:cs typeface="David" panose="020E0502060401010101" pitchFamily="34" charset="-79"/>
              </a:rPr>
              <a:t> Repeated reruns give different </a:t>
            </a:r>
            <a:r>
              <a:rPr lang="he-IL" altLang="he-IL" sz="2800" dirty="0" err="1">
                <a:cs typeface="David" panose="020E0502060401010101" pitchFamily="34" charset="-79"/>
              </a:rPr>
              <a:t>ranking</a:t>
            </a:r>
            <a:endParaRPr lang="en-US" altLang="he-IL" sz="2800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7879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406A38-808A-7D03-4E75-7630E3DA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can’t we trust LOO? 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AFDC468-C249-C5B3-D778-74F011AA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14" y="1369464"/>
            <a:ext cx="6436986" cy="4898354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4E4A6F0F-288C-6DD0-9975-A232D7BE43FB}"/>
              </a:ext>
            </a:extLst>
          </p:cNvPr>
          <p:cNvSpPr/>
          <p:nvPr/>
        </p:nvSpPr>
        <p:spPr>
          <a:xfrm>
            <a:off x="5715600" y="3837541"/>
            <a:ext cx="6171600" cy="549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F3B0009-DEE1-A336-C5E9-BF5A162A41F1}"/>
              </a:ext>
            </a:extLst>
          </p:cNvPr>
          <p:cNvSpPr/>
          <p:nvPr/>
        </p:nvSpPr>
        <p:spPr>
          <a:xfrm>
            <a:off x="5691514" y="5743502"/>
            <a:ext cx="6171600" cy="549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85DF17A-0627-4739-AFE5-DF31DA672410}"/>
              </a:ext>
            </a:extLst>
          </p:cNvPr>
          <p:cNvSpPr txBox="1"/>
          <p:nvPr/>
        </p:nvSpPr>
        <p:spPr>
          <a:xfrm>
            <a:off x="759460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https://arxiv.org/abs/1507.04544</a:t>
            </a:r>
            <a:r>
              <a:rPr lang="en-US" sz="1200" dirty="0"/>
              <a:t>  </a:t>
            </a:r>
            <a:r>
              <a:rPr lang="en-US" sz="1200" dirty="0">
                <a:hlinkClick r:id="rId4"/>
              </a:rPr>
              <a:t>https://arxiv.org/abs/1507.02646</a:t>
            </a:r>
            <a:r>
              <a:rPr lang="en-US" sz="1200" dirty="0"/>
              <a:t> </a:t>
            </a:r>
            <a:r>
              <a:rPr lang="he-IL" sz="1200" dirty="0">
                <a:cs typeface="David" panose="020E0502060401010101" pitchFamily="34" charset="-79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B25F2-9627-7B7D-263C-1C90DF9AB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578795"/>
            <a:ext cx="5074896" cy="160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3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6967CA-E6E2-4080-1EE1-63709AF8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1398CC-38B4-E7A4-22A1-27068B08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can’t we trust LOO? 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6A71EB7-8D3B-8C42-E99B-B9FFCEAD3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14" y="1369464"/>
            <a:ext cx="6436986" cy="4898354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54597F66-5461-BB39-00E0-1FFA614BD976}"/>
              </a:ext>
            </a:extLst>
          </p:cNvPr>
          <p:cNvSpPr/>
          <p:nvPr/>
        </p:nvSpPr>
        <p:spPr>
          <a:xfrm>
            <a:off x="5715600" y="3837541"/>
            <a:ext cx="6171600" cy="549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C5698983-D0D8-24F2-4D61-FE2E257130AD}"/>
              </a:ext>
            </a:extLst>
          </p:cNvPr>
          <p:cNvSpPr/>
          <p:nvPr/>
        </p:nvSpPr>
        <p:spPr>
          <a:xfrm>
            <a:off x="5691514" y="5743502"/>
            <a:ext cx="6171600" cy="549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AEFD16F-F8F4-D35A-AAA3-69FD5DAF7065}"/>
              </a:ext>
            </a:extLst>
          </p:cNvPr>
          <p:cNvSpPr txBox="1"/>
          <p:nvPr/>
        </p:nvSpPr>
        <p:spPr>
          <a:xfrm>
            <a:off x="759460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https://arxiv.org/abs/1507.04544</a:t>
            </a:r>
            <a:r>
              <a:rPr lang="en-US" sz="1200" dirty="0"/>
              <a:t>  </a:t>
            </a:r>
            <a:r>
              <a:rPr lang="en-US" sz="1200" dirty="0">
                <a:hlinkClick r:id="rId4"/>
              </a:rPr>
              <a:t>https://arxiv.org/abs/1507.02646</a:t>
            </a:r>
            <a:r>
              <a:rPr lang="en-US" sz="1200" dirty="0"/>
              <a:t> </a:t>
            </a:r>
            <a:r>
              <a:rPr lang="he-IL" sz="1200" dirty="0">
                <a:cs typeface="David" panose="020E0502060401010101" pitchFamily="34" charset="-79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3363A-9155-3B6F-C6B6-B80BBFE0B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578795"/>
            <a:ext cx="5074896" cy="1600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50F0C9-59B8-0188-094C-CD02F41E2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74" y="3429000"/>
            <a:ext cx="4466744" cy="3083127"/>
          </a:xfrm>
          <a:prstGeom prst="rect">
            <a:avLst/>
          </a:prstGeom>
        </p:spPr>
      </p:pic>
      <p:sp>
        <p:nvSpPr>
          <p:cNvPr id="10" name="מלבן 5">
            <a:extLst>
              <a:ext uri="{FF2B5EF4-FFF2-40B4-BE49-F238E27FC236}">
                <a16:creationId xmlns:a16="http://schemas.microsoft.com/office/drawing/2014/main" id="{5EB37EF0-A27D-9C3E-9F7B-6879D4E2AFA6}"/>
              </a:ext>
            </a:extLst>
          </p:cNvPr>
          <p:cNvSpPr/>
          <p:nvPr/>
        </p:nvSpPr>
        <p:spPr>
          <a:xfrm>
            <a:off x="622900" y="5743502"/>
            <a:ext cx="2564800" cy="749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3942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BD61-24AD-7C59-5AEF-011F8E4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5A930-0E80-3366-924F-9246F127F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081" y="2375084"/>
            <a:ext cx="10704719" cy="34632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4510B-E0C1-E326-821F-34CBD29DBEC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Dataset - foodDiet_extended.csv</a:t>
            </a:r>
          </a:p>
          <a:p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93634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D66D-DAED-EE94-5B75-BDECEE27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Dataset and </a:t>
            </a:r>
            <a:r>
              <a:rPr lang="en-US" dirty="0"/>
              <a:t>V</a:t>
            </a:r>
            <a:r>
              <a:rPr lang="he-IL" dirty="0"/>
              <a:t>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1FB18-B235-E308-06E4-49FEFE07B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Dataset - foodDiet_extended.csv</a:t>
                </a:r>
              </a:p>
              <a:p>
                <a:r>
                  <a:rPr lang="en-US" dirty="0"/>
                  <a:t>Dependent variable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𝑏𝑒𝑓𝑜𝑟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𝑎𝑓𝑡𝑒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Predictors\ Independent variables:</a:t>
                </a:r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1FB18-B235-E308-06E4-49FEFE07B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0504FB-47D9-9B00-6B7F-CEE1E961437C}"/>
              </a:ext>
            </a:extLst>
          </p:cNvPr>
          <p:cNvGraphicFramePr>
            <a:graphicFrameLocks noGrp="1"/>
          </p:cNvGraphicFramePr>
          <p:nvPr/>
        </p:nvGraphicFramePr>
        <p:xfrm>
          <a:off x="1094873" y="4483100"/>
          <a:ext cx="9419073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139691">
                  <a:extLst>
                    <a:ext uri="{9D8B030D-6E8A-4147-A177-3AD203B41FA5}">
                      <a16:colId xmlns:a16="http://schemas.microsoft.com/office/drawing/2014/main" val="2156570461"/>
                    </a:ext>
                  </a:extLst>
                </a:gridCol>
                <a:gridCol w="3139691">
                  <a:extLst>
                    <a:ext uri="{9D8B030D-6E8A-4147-A177-3AD203B41FA5}">
                      <a16:colId xmlns:a16="http://schemas.microsoft.com/office/drawing/2014/main" val="1159495066"/>
                    </a:ext>
                  </a:extLst>
                </a:gridCol>
                <a:gridCol w="3139691">
                  <a:extLst>
                    <a:ext uri="{9D8B030D-6E8A-4147-A177-3AD203B41FA5}">
                      <a16:colId xmlns:a16="http://schemas.microsoft.com/office/drawing/2014/main" val="2901468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b="1" dirty="0" err="1">
                          <a:cs typeface="David" panose="020E0502060401010101" pitchFamily="34" charset="-79"/>
                        </a:rPr>
                        <a:t>Variable</a:t>
                      </a:r>
                      <a:endParaRPr lang="he-IL" b="1" dirty="0">
                        <a:cs typeface="David" panose="020E0502060401010101" pitchFamily="34" charset="-79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b="1" dirty="0" err="1">
                          <a:cs typeface="David" panose="020E0502060401010101" pitchFamily="34" charset="-79"/>
                        </a:rPr>
                        <a:t>Type</a:t>
                      </a:r>
                      <a:endParaRPr lang="he-IL" b="1" dirty="0">
                        <a:cs typeface="David" panose="020E0502060401010101" pitchFamily="34" charset="-79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Transformation</a:t>
                      </a:r>
                      <a:endParaRPr lang="he-IL" b="1" dirty="0">
                        <a:cs typeface="David" panose="020E0502060401010101" pitchFamily="34" charset="-79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19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age_z</a:t>
                      </a:r>
                      <a:endParaRPr lang="he-IL" dirty="0"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>
                          <a:cs typeface="David" panose="020E0502060401010101" pitchFamily="34" charset="-79"/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standardized</a:t>
                      </a:r>
                      <a:r>
                        <a:rPr lang="he-IL" dirty="0">
                          <a:cs typeface="David" panose="020E0502060401010101" pitchFamily="34" charset="-79"/>
                        </a:rPr>
                        <a:t> </a:t>
                      </a:r>
                      <a:r>
                        <a:rPr lang="he-IL" dirty="0" err="1"/>
                        <a:t>age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20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>
                          <a:cs typeface="David" panose="020E0502060401010101" pitchFamily="34" charset="-79"/>
                        </a:rPr>
                        <a:t>height_z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>
                          <a:cs typeface="David" panose="020E0502060401010101" pitchFamily="34" charset="-79"/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standardized</a:t>
                      </a:r>
                      <a:r>
                        <a:rPr lang="he-IL" dirty="0">
                          <a:cs typeface="David" panose="020E0502060401010101" pitchFamily="34" charset="-79"/>
                        </a:rPr>
                        <a:t> </a:t>
                      </a:r>
                      <a:r>
                        <a:rPr lang="he-IL" dirty="0" err="1"/>
                        <a:t>height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81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diet_type</a:t>
                      </a:r>
                      <a:endParaRPr lang="he-IL" dirty="0">
                        <a:cs typeface="David" panose="020E0502060401010101" pitchFamily="34" charset="-79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>
                          <a:cs typeface="David" panose="020E0502060401010101" pitchFamily="34" charset="-79"/>
                        </a:rPr>
                        <a:t>categorical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Coded as </a:t>
                      </a:r>
                      <a:r>
                        <a:rPr lang="he-IL" dirty="0" err="1">
                          <a:cs typeface="David" panose="020E0502060401010101" pitchFamily="34" charset="-79"/>
                        </a:rPr>
                        <a:t>diet</a:t>
                      </a:r>
                      <a:r>
                        <a:rPr lang="he-IL" dirty="0">
                          <a:cs typeface="David" panose="020E0502060401010101" pitchFamily="34" charset="-79"/>
                        </a:rPr>
                        <a:t> </a:t>
                      </a:r>
                      <a:r>
                        <a:rPr lang="he-IL" dirty="0" err="1"/>
                        <a:t>group</a:t>
                      </a:r>
                      <a:r>
                        <a:rPr lang="en-US" dirty="0"/>
                        <a:t> :1, 2, 3</a:t>
                      </a:r>
                      <a:endParaRPr lang="he-IL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0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gender</a:t>
                      </a:r>
                      <a:endParaRPr lang="he-IL" dirty="0">
                        <a:cs typeface="David" panose="020E0502060401010101" pitchFamily="34" charset="-79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>
                          <a:cs typeface="David" panose="020E0502060401010101" pitchFamily="34" charset="-79"/>
                        </a:rPr>
                        <a:t>categorical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>
                          <a:cs typeface="David" panose="020E0502060401010101" pitchFamily="34" charset="-79"/>
                        </a:rPr>
                        <a:t>coded</a:t>
                      </a:r>
                      <a:r>
                        <a:rPr lang="he-IL" dirty="0">
                          <a:cs typeface="David" panose="020E0502060401010101" pitchFamily="34" charset="-79"/>
                        </a:rPr>
                        <a:t> </a:t>
                      </a:r>
                      <a:r>
                        <a:rPr lang="he-IL" dirty="0" err="1"/>
                        <a:t>as</a:t>
                      </a:r>
                      <a:r>
                        <a:rPr lang="he-IL" dirty="0"/>
                        <a:t> F / 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099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7390BCD-46DA-B3CA-9657-025468B5D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31622"/>
            <a:ext cx="109206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48365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F64A-A7E9-84D8-2432-2C144612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E146-4466-68CD-CAA1-FA2C2839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1F28EA-8020-4090-59FB-87AB2BCAC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2880" cy="4351338"/>
              </a:xfrm>
            </p:spPr>
            <p:txBody>
              <a:bodyPr/>
              <a:lstStyle/>
              <a:p>
                <a:r>
                  <a:rPr lang="en-US" dirty="0"/>
                  <a:t>Our dependent variable:</a:t>
                </a:r>
                <a:endParaRPr lang="he-IL" dirty="0">
                  <a:cs typeface="David" panose="020E0502060401010101" pitchFamily="34" charset="-79"/>
                </a:endParaRPr>
              </a:p>
              <a:p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𝑏𝑒𝑓𝑜𝑟</m:t>
                          </m:r>
                          <m:sSub>
                            <m:sSub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</m:sub>
                          </m:sSub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1F28EA-8020-4090-59FB-87AB2BCAC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2880" cy="4351338"/>
              </a:xfrm>
              <a:blipFill>
                <a:blip r:embed="rId2"/>
                <a:stretch>
                  <a:fillRect l="-1641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D383F0BC-4B85-7F18-087B-23688B10A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43"/>
          <a:stretch>
            <a:fillRect/>
          </a:stretch>
        </p:blipFill>
        <p:spPr bwMode="auto">
          <a:xfrm>
            <a:off x="5693371" y="1700575"/>
            <a:ext cx="6271300" cy="47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64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39CA-7C47-7E00-5C18-89EEB9BD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DF82-F50B-9D00-377E-A74A248D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64486-8075-32B8-1D8D-0BE46C69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22" y="1844273"/>
            <a:ext cx="3805960" cy="4337538"/>
          </a:xfrm>
        </p:spPr>
        <p:txBody>
          <a:bodyPr/>
          <a:lstStyle/>
          <a:p>
            <a:r>
              <a:rPr lang="en-US" dirty="0"/>
              <a:t>Possible independent variables: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17561A-7B16-93BA-214D-343FDF2DB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2" r="31382"/>
          <a:stretch>
            <a:fillRect/>
          </a:stretch>
        </p:blipFill>
        <p:spPr bwMode="auto">
          <a:xfrm>
            <a:off x="4644160" y="4013042"/>
            <a:ext cx="3811501" cy="273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18B777-3A58-5AE1-B522-03A8DD875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2"/>
          <a:stretch>
            <a:fillRect/>
          </a:stretch>
        </p:blipFill>
        <p:spPr bwMode="auto">
          <a:xfrm>
            <a:off x="8293363" y="4163598"/>
            <a:ext cx="3811501" cy="243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EE7E13-9DA4-0D91-97C2-A02F671E3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42"/>
          <a:stretch>
            <a:fillRect/>
          </a:stretch>
        </p:blipFill>
        <p:spPr bwMode="auto">
          <a:xfrm>
            <a:off x="8293363" y="1499237"/>
            <a:ext cx="3811498" cy="243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5A44E0A-B6DF-F5DF-6D12-86F167E85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23"/>
          <a:stretch>
            <a:fillRect/>
          </a:stretch>
        </p:blipFill>
        <p:spPr bwMode="auto">
          <a:xfrm>
            <a:off x="4806461" y="1427899"/>
            <a:ext cx="3486901" cy="273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8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220D-876E-F3FE-11A8-C58C0F1D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90E-5F1D-59B0-E114-81A69560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</a:t>
            </a:r>
            <a:r>
              <a:rPr lang="he-IL" dirty="0"/>
              <a:t> Model</a:t>
            </a:r>
            <a:r>
              <a:rPr lang="en-US" dirty="0"/>
              <a:t>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04BB35A-7A3D-69AB-3A08-EAD79F18C82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74578630"/>
                  </p:ext>
                </p:extLst>
              </p:nvPr>
            </p:nvGraphicFramePr>
            <p:xfrm>
              <a:off x="1600200" y="1892595"/>
              <a:ext cx="9415130" cy="3803355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367632">
                      <a:extLst>
                        <a:ext uri="{9D8B030D-6E8A-4147-A177-3AD203B41FA5}">
                          <a16:colId xmlns:a16="http://schemas.microsoft.com/office/drawing/2014/main" val="722527131"/>
                        </a:ext>
                      </a:extLst>
                    </a:gridCol>
                    <a:gridCol w="5047498">
                      <a:extLst>
                        <a:ext uri="{9D8B030D-6E8A-4147-A177-3AD203B41FA5}">
                          <a16:colId xmlns:a16="http://schemas.microsoft.com/office/drawing/2014/main" val="2071573366"/>
                        </a:ext>
                      </a:extLst>
                    </a:gridCol>
                  </a:tblGrid>
                  <a:tr h="421631">
                    <a:tc>
                      <a:txBody>
                        <a:bodyPr/>
                        <a:lstStyle/>
                        <a:p>
                          <a:pPr marL="0" algn="ctr" defTabSz="914400" rtl="0" eaLnBrk="1" fontAlgn="t" latinLnBrk="0" hangingPunct="1">
                            <a:buNone/>
                          </a:pPr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Model Name</a:t>
                          </a:r>
                          <a:endParaRPr sz="1800" b="1" kern="1200" dirty="0">
                            <a:solidFill>
                              <a:schemeClr val="dk1"/>
                            </a:solidFill>
                            <a:effectLst/>
                            <a:latin typeface="David" panose="020E0502060401010101" pitchFamily="34" charset="-79"/>
                            <a:ea typeface="+mn-ea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b="1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Wilkinson Notation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38460106"/>
                      </a:ext>
                    </a:extLst>
                  </a:tr>
                  <a:tr h="476648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Intercept only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𝑤𝑒𝑖𝑔</m:t>
                                </m:r>
                                <m:r>
                                  <a:rPr lang="he-IL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he-IL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𝑡</m:t>
                                </m:r>
                                <m:r>
                                  <a:rPr lang="he-IL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he-IL" sz="1800" i="1" kern="1200" dirty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𝑙𝑜𝑠𝑠</m:t>
                                </m:r>
                                <m:r>
                                  <a:rPr lang="he-IL" sz="1800" i="1" kern="1200" dirty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 ~ </m:t>
                                </m:r>
                                <m:r>
                                  <a:rPr lang="he-IL" sz="1800" i="1" kern="1200" dirty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87027" marR="87027" marT="43513" marB="43513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1523467"/>
                      </a:ext>
                    </a:extLst>
                  </a:tr>
                  <a:tr h="710821">
                    <a:tc>
                      <a:txBody>
                        <a:bodyPr/>
                        <a:lstStyle/>
                        <a:p>
                          <a:pPr marL="0" algn="ctr" defTabSz="914400" rtl="0" eaLnBrk="1" fontAlgn="t" latinLnBrk="0" hangingPunct="1">
                            <a:buNone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One continuous predictor</a:t>
                          </a:r>
                          <a:endParaRPr lang="he-IL" sz="1800" kern="1200" dirty="0">
                            <a:solidFill>
                              <a:schemeClr val="dk1"/>
                            </a:solidFill>
                            <a:effectLst/>
                            <a:latin typeface="David" panose="020E0502060401010101" pitchFamily="34" charset="-79"/>
                            <a:ea typeface="+mn-ea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t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𝑤𝑒𝑖𝑔</m:t>
                                </m:r>
                                <m:r>
                                  <a:rPr lang="en-US" sz="18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𝑙𝑜𝑠𝑠</m:t>
                                </m:r>
                                <m:r>
                                  <a:rPr lang="en-US" sz="18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~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err="1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898547"/>
                      </a:ext>
                    </a:extLst>
                  </a:tr>
                  <a:tr h="710821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Two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𝑤𝑒𝑖𝑔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𝑡</m:t>
                                </m:r>
                                <m:r>
                                  <a:rPr lang="en-US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en-US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𝑙𝑜𝑠𝑠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~</m:t>
                                </m:r>
                                <m:r>
                                  <a:rPr lang="he-IL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err="1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he-IL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+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𝑎𝑔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3048136"/>
                      </a:ext>
                    </a:extLst>
                  </a:tr>
                  <a:tr h="741717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Interaction between 2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𝑤𝑒𝑖𝑔</m:t>
                                </m:r>
                                <m:r>
                                  <a:rPr lang="he-IL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𝑙𝑜𝑠𝑠</m:t>
                                </m:r>
                                <m:r>
                                  <a:rPr lang="he-IL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~ 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err="1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he-IL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∗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𝑎𝑔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7668398"/>
                      </a:ext>
                    </a:extLst>
                  </a:tr>
                  <a:tr h="741717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Interaction between 2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 and categorial predictor</a:t>
                          </a: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𝑤𝑒𝑖𝑔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𝑡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𝑙𝑜𝑠𝑠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 ~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𝑒𝑖𝑔</m:t>
                                </m:r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err="1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he-IL" sz="1800" b="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∗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David" panose="020E0502060401010101" pitchFamily="34" charset="-79"/>
                                  </a:rPr>
                                  <m:t>𝑎𝑔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David" panose="020E0502060401010101" pitchFamily="34" charset="-79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1800" i="1" dirty="0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+ </m:t>
                                </m:r>
                                <m:r>
                                  <a:rPr lang="en-US" sz="1800" i="1" dirty="0" err="1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𝑑𝑖𝑒𝑡</m:t>
                                </m:r>
                                <m:r>
                                  <a:rPr lang="en-US" sz="1800" i="1" dirty="0" err="1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_</m:t>
                                </m:r>
                                <m:r>
                                  <a:rPr lang="en-US" sz="1800" i="1" dirty="0" err="1" smtClean="0">
                                    <a:effectLst/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𝑡𝑦𝑝𝑒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1430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04BB35A-7A3D-69AB-3A08-EAD79F18C82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74578630"/>
                  </p:ext>
                </p:extLst>
              </p:nvPr>
            </p:nvGraphicFramePr>
            <p:xfrm>
              <a:off x="1600200" y="1892595"/>
              <a:ext cx="9415130" cy="3803355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367632">
                      <a:extLst>
                        <a:ext uri="{9D8B030D-6E8A-4147-A177-3AD203B41FA5}">
                          <a16:colId xmlns:a16="http://schemas.microsoft.com/office/drawing/2014/main" val="722527131"/>
                        </a:ext>
                      </a:extLst>
                    </a:gridCol>
                    <a:gridCol w="5047498">
                      <a:extLst>
                        <a:ext uri="{9D8B030D-6E8A-4147-A177-3AD203B41FA5}">
                          <a16:colId xmlns:a16="http://schemas.microsoft.com/office/drawing/2014/main" val="2071573366"/>
                        </a:ext>
                      </a:extLst>
                    </a:gridCol>
                  </a:tblGrid>
                  <a:tr h="421631">
                    <a:tc>
                      <a:txBody>
                        <a:bodyPr/>
                        <a:lstStyle/>
                        <a:p>
                          <a:pPr marL="0" algn="ctr" defTabSz="914400" rtl="0" eaLnBrk="1" fontAlgn="t" latinLnBrk="0" hangingPunct="1">
                            <a:buNone/>
                          </a:pPr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Model Name</a:t>
                          </a:r>
                          <a:endParaRPr sz="1800" b="1" kern="1200" dirty="0">
                            <a:solidFill>
                              <a:schemeClr val="dk1"/>
                            </a:solidFill>
                            <a:effectLst/>
                            <a:latin typeface="David" panose="020E0502060401010101" pitchFamily="34" charset="-79"/>
                            <a:ea typeface="+mn-ea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b="1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Wilkinson Notation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38460106"/>
                      </a:ext>
                    </a:extLst>
                  </a:tr>
                  <a:tr h="476648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Intercept only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86715" t="-88608" r="-362" b="-6139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1523467"/>
                      </a:ext>
                    </a:extLst>
                  </a:tr>
                  <a:tr h="710821">
                    <a:tc>
                      <a:txBody>
                        <a:bodyPr/>
                        <a:lstStyle/>
                        <a:p>
                          <a:pPr marL="0" algn="ctr" defTabSz="914400" rtl="0" eaLnBrk="1" fontAlgn="t" latinLnBrk="0" hangingPunct="1">
                            <a:buNone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One continuous predictor</a:t>
                          </a:r>
                          <a:endParaRPr lang="he-IL" sz="1800" kern="1200" dirty="0">
                            <a:solidFill>
                              <a:schemeClr val="dk1"/>
                            </a:solidFill>
                            <a:effectLst/>
                            <a:latin typeface="David" panose="020E0502060401010101" pitchFamily="34" charset="-79"/>
                            <a:ea typeface="+mn-ea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86715" t="-128448" r="-362" b="-318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898547"/>
                      </a:ext>
                    </a:extLst>
                  </a:tr>
                  <a:tr h="710821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Two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86715" t="-226496" r="-362" b="-2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3048136"/>
                      </a:ext>
                    </a:extLst>
                  </a:tr>
                  <a:tr h="741717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Interaction between 2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</a:t>
                          </a:r>
                          <a:endParaRPr lang="he-IL" sz="1800" dirty="0"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86715" t="-313115" r="-362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7668398"/>
                      </a:ext>
                    </a:extLst>
                  </a:tr>
                  <a:tr h="741717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Interaction between 2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David" panose="020E0502060401010101" pitchFamily="34" charset="-79"/>
                              <a:ea typeface="+mn-ea"/>
                              <a:cs typeface="David" panose="020E0502060401010101" pitchFamily="34" charset="-79"/>
                            </a:rPr>
                            <a:t>continuous</a:t>
                          </a:r>
                          <a:r>
                            <a:rPr lang="en-US" sz="1800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predictors and categorial predictor</a:t>
                          </a:r>
                        </a:p>
                      </a:txBody>
                      <a:tcPr marL="87027" marR="87027" marT="43513" marB="43513"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86715" t="-413115" r="-362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1430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E4ECCF63-7956-535D-FD54-F4D45FF95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4402"/>
            <a:ext cx="184731" cy="348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22300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0921-7755-2779-D8C4-C9A4E78A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3CAB-5DD0-BE4C-4960-F2AEB910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</a:t>
            </a:r>
            <a:r>
              <a:rPr lang="he-IL" dirty="0"/>
              <a:t> Model</a:t>
            </a:r>
            <a:r>
              <a:rPr lang="en-US" dirty="0"/>
              <a:t>s</a:t>
            </a:r>
            <a:endParaRPr lang="he-I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516E1D-DC4D-C615-CC25-5C9BF6572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4402"/>
            <a:ext cx="184731" cy="348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 dirty="0">
              <a:cs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656AAD6-6107-0397-160F-AD6E5C27D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candidate models are Gaussian regression models for weight_loss.</a:t>
                </a:r>
              </a:p>
              <a:p>
                <a:r>
                  <a:rPr lang="en-US" dirty="0"/>
                  <a:t>The models differ only in their linear predictor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.</a:t>
                </a:r>
              </a:p>
              <a:p>
                <a:endParaRPr lang="en-US" dirty="0"/>
              </a:p>
              <a:p>
                <a:r>
                  <a:rPr lang="en-US" dirty="0"/>
                  <a:t>Today we’ll answer: </a:t>
                </a:r>
              </a:p>
              <a:p>
                <a:r>
                  <a:rPr lang="en-US" dirty="0"/>
                  <a:t>Which candidate model is expected to predict new observations better?</a:t>
                </a:r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656AAD6-6107-0397-160F-AD6E5C27D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128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BA5F-F280-B01B-DD8D-11472D0C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6349-F072-5D99-E4ED-A22CBFC3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update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D01EA-9437-5EF9-DF15-E25EDFEF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28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45ADB-4905-EDCC-19BF-843CF39A6E3F}"/>
              </a:ext>
            </a:extLst>
          </p:cNvPr>
          <p:cNvSpPr txBox="1"/>
          <p:nvPr/>
        </p:nvSpPr>
        <p:spPr>
          <a:xfrm>
            <a:off x="466005" y="1514868"/>
            <a:ext cx="5969000" cy="255454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1)  Scientific question
2)  Candidate models
3)  Prior predictive check
4)   Sample
5)  Diagnostics
6)  Posterior predictive check
7)  </a:t>
            </a:r>
            <a:r>
              <a:rPr lang="en-US" sz="2000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Compare predictive accuracy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
8)  Interpret model differences</a:t>
            </a:r>
            <a:endParaRPr lang="en-IL" sz="2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7B81ED-2648-4167-C1FA-3AC121D79FCA}"/>
              </a:ext>
            </a:extLst>
          </p:cNvPr>
          <p:cNvGrpSpPr/>
          <p:nvPr/>
        </p:nvGrpSpPr>
        <p:grpSpPr>
          <a:xfrm>
            <a:off x="1252187" y="3630385"/>
            <a:ext cx="10796495" cy="2802339"/>
            <a:chOff x="387348" y="2197895"/>
            <a:chExt cx="11471329" cy="357068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92857B8-82FE-1C78-B68F-40294892AF24}"/>
                </a:ext>
              </a:extLst>
            </p:cNvPr>
            <p:cNvSpPr/>
            <p:nvPr/>
          </p:nvSpPr>
          <p:spPr bwMode="auto">
            <a:xfrm>
              <a:off x="387348" y="3657600"/>
              <a:ext cx="1441285" cy="5778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/>
                <a:t>Data</a:t>
              </a:r>
              <a:endParaRPr sz="16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BE900F-75C9-DBBC-58E6-35F202181406}"/>
                </a:ext>
              </a:extLst>
            </p:cNvPr>
            <p:cNvSpPr/>
            <p:nvPr/>
          </p:nvSpPr>
          <p:spPr bwMode="auto">
            <a:xfrm>
              <a:off x="2781299" y="3657600"/>
              <a:ext cx="1441285" cy="5778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/>
                <a:t>Model</a:t>
              </a:r>
              <a:endParaRPr sz="1600" dirty="0"/>
            </a:p>
          </p:txBody>
        </p:sp>
        <p:cxnSp>
          <p:nvCxnSpPr>
            <p:cNvPr id="11" name="Straight Arrow Connector 6">
              <a:extLst>
                <a:ext uri="{FF2B5EF4-FFF2-40B4-BE49-F238E27FC236}">
                  <a16:creationId xmlns:a16="http://schemas.microsoft.com/office/drawing/2014/main" id="{086FE82F-09BF-6C97-CA65-4ADA5A652720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 bwMode="auto">
            <a:xfrm>
              <a:off x="1828633" y="3946524"/>
              <a:ext cx="952666" cy="0"/>
            </a:xfrm>
            <a:prstGeom prst="straightConnector1">
              <a:avLst/>
            </a:prstGeom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0E5616F0-11E3-ACC8-5716-19D60962ABAA}"/>
                </a:ext>
              </a:extLst>
            </p:cNvPr>
            <p:cNvSpPr/>
            <p:nvPr/>
          </p:nvSpPr>
          <p:spPr bwMode="auto">
            <a:xfrm>
              <a:off x="5599112" y="3657600"/>
              <a:ext cx="1441285" cy="5778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/>
                <a:t>Sample</a:t>
              </a:r>
              <a:endParaRPr sz="1600" dirty="0"/>
            </a:p>
          </p:txBody>
        </p:sp>
        <p:cxnSp>
          <p:nvCxnSpPr>
            <p:cNvPr id="13" name="Straight Arrow Connector 14">
              <a:extLst>
                <a:ext uri="{FF2B5EF4-FFF2-40B4-BE49-F238E27FC236}">
                  <a16:creationId xmlns:a16="http://schemas.microsoft.com/office/drawing/2014/main" id="{895CF732-E7BC-E4E5-8655-84E9E7128696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 bwMode="auto">
            <a:xfrm>
              <a:off x="4222584" y="3946524"/>
              <a:ext cx="1376528" cy="0"/>
            </a:xfrm>
            <a:prstGeom prst="straightConnector1">
              <a:avLst/>
            </a:prstGeom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sp>
          <p:nvSpPr>
            <p:cNvPr id="14" name="Oval 70">
              <a:extLst>
                <a:ext uri="{FF2B5EF4-FFF2-40B4-BE49-F238E27FC236}">
                  <a16:creationId xmlns:a16="http://schemas.microsoft.com/office/drawing/2014/main" id="{98A6AFE4-DDAE-EE6D-B13B-7F873C23AA60}"/>
                </a:ext>
              </a:extLst>
            </p:cNvPr>
            <p:cNvSpPr/>
            <p:nvPr/>
          </p:nvSpPr>
          <p:spPr bwMode="auto">
            <a:xfrm>
              <a:off x="7821612" y="3657600"/>
              <a:ext cx="1662626" cy="5778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/>
                <a:t>Posterior</a:t>
              </a:r>
              <a:endParaRPr sz="1600" dirty="0"/>
            </a:p>
          </p:txBody>
        </p:sp>
        <p:cxnSp>
          <p:nvCxnSpPr>
            <p:cNvPr id="15" name="Straight Arrow Connector 71">
              <a:extLst>
                <a:ext uri="{FF2B5EF4-FFF2-40B4-BE49-F238E27FC236}">
                  <a16:creationId xmlns:a16="http://schemas.microsoft.com/office/drawing/2014/main" id="{B30AEAB0-9FA5-6840-008E-9202F97175B9}"/>
                </a:ext>
              </a:extLst>
            </p:cNvPr>
            <p:cNvCxnSpPr>
              <a:stCxn id="12" idx="6"/>
              <a:endCxn id="14" idx="2"/>
            </p:cNvCxnSpPr>
            <p:nvPr/>
          </p:nvCxnSpPr>
          <p:spPr bwMode="auto">
            <a:xfrm>
              <a:off x="7040397" y="3946524"/>
              <a:ext cx="781215" cy="0"/>
            </a:xfrm>
            <a:prstGeom prst="straightConnector1">
              <a:avLst/>
            </a:prstGeom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sp>
          <p:nvSpPr>
            <p:cNvPr id="16" name="Oval 74">
              <a:extLst>
                <a:ext uri="{FF2B5EF4-FFF2-40B4-BE49-F238E27FC236}">
                  <a16:creationId xmlns:a16="http://schemas.microsoft.com/office/drawing/2014/main" id="{36EF8076-DE64-C2C5-A25D-A449CB4AE101}"/>
                </a:ext>
              </a:extLst>
            </p:cNvPr>
            <p:cNvSpPr/>
            <p:nvPr/>
          </p:nvSpPr>
          <p:spPr bwMode="auto">
            <a:xfrm>
              <a:off x="10196051" y="3657600"/>
              <a:ext cx="1662626" cy="5778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/>
                <a:t>Inference</a:t>
              </a:r>
              <a:endParaRPr sz="1600"/>
            </a:p>
          </p:txBody>
        </p:sp>
        <p:cxnSp>
          <p:nvCxnSpPr>
            <p:cNvPr id="17" name="Straight Arrow Connector 75">
              <a:extLst>
                <a:ext uri="{FF2B5EF4-FFF2-40B4-BE49-F238E27FC236}">
                  <a16:creationId xmlns:a16="http://schemas.microsoft.com/office/drawing/2014/main" id="{3D322513-5CE8-1E6E-54D2-50A6D4470CEF}"/>
                </a:ext>
              </a:extLst>
            </p:cNvPr>
            <p:cNvCxnSpPr>
              <a:cxnSpLocks/>
              <a:stCxn id="14" idx="6"/>
              <a:endCxn id="16" idx="2"/>
            </p:cNvCxnSpPr>
            <p:nvPr/>
          </p:nvCxnSpPr>
          <p:spPr bwMode="auto">
            <a:xfrm>
              <a:off x="9484238" y="3946524"/>
              <a:ext cx="711813" cy="0"/>
            </a:xfrm>
            <a:prstGeom prst="straightConnector1">
              <a:avLst/>
            </a:prstGeom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6D01F80B-E490-F408-F0E4-F98F4BACD677}"/>
                </a:ext>
              </a:extLst>
            </p:cNvPr>
            <p:cNvSpPr/>
            <p:nvPr/>
          </p:nvSpPr>
          <p:spPr bwMode="auto">
            <a:xfrm>
              <a:off x="2676922" y="4828776"/>
              <a:ext cx="1682749" cy="93979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400"/>
                <a:t>Prior predictive sampling</a:t>
              </a:r>
              <a:endParaRPr sz="1400"/>
            </a:p>
          </p:txBody>
        </p:sp>
        <p:cxnSp>
          <p:nvCxnSpPr>
            <p:cNvPr id="19" name="Straight Arrow Connector 8">
              <a:extLst>
                <a:ext uri="{FF2B5EF4-FFF2-40B4-BE49-F238E27FC236}">
                  <a16:creationId xmlns:a16="http://schemas.microsoft.com/office/drawing/2014/main" id="{650F2957-E5A3-5579-E24F-A21018B0449B}"/>
                </a:ext>
              </a:extLst>
            </p:cNvPr>
            <p:cNvCxnSpPr>
              <a:cxnSpLocks/>
              <a:endCxn id="18" idx="0"/>
            </p:cNvCxnSpPr>
            <p:nvPr/>
          </p:nvCxnSpPr>
          <p:spPr bwMode="auto">
            <a:xfrm>
              <a:off x="3518296" y="4229100"/>
              <a:ext cx="0" cy="59967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cxnSp>
          <p:nvCxnSpPr>
            <p:cNvPr id="20" name="Connector: Elbow 12">
              <a:extLst>
                <a:ext uri="{FF2B5EF4-FFF2-40B4-BE49-F238E27FC236}">
                  <a16:creationId xmlns:a16="http://schemas.microsoft.com/office/drawing/2014/main" id="{1469EB13-61C6-7FB6-9E34-571CE677C6A1}"/>
                </a:ext>
              </a:extLst>
            </p:cNvPr>
            <p:cNvCxnSpPr>
              <a:stCxn id="18" idx="2"/>
            </p:cNvCxnSpPr>
            <p:nvPr/>
          </p:nvCxnSpPr>
          <p:spPr bwMode="auto">
            <a:xfrm rot="10800000" flipH="1">
              <a:off x="2676922" y="4144478"/>
              <a:ext cx="369911" cy="1154200"/>
            </a:xfrm>
            <a:prstGeom prst="bentConnector4">
              <a:avLst>
                <a:gd name="adj1" fmla="val -93694"/>
                <a:gd name="adj2" fmla="val 58171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Oval 32">
              <a:extLst>
                <a:ext uri="{FF2B5EF4-FFF2-40B4-BE49-F238E27FC236}">
                  <a16:creationId xmlns:a16="http://schemas.microsoft.com/office/drawing/2014/main" id="{20A512A4-9B7C-2C46-5BA8-2D6F0BDE4837}"/>
                </a:ext>
              </a:extLst>
            </p:cNvPr>
            <p:cNvSpPr/>
            <p:nvPr/>
          </p:nvSpPr>
          <p:spPr bwMode="auto">
            <a:xfrm>
              <a:off x="5449487" y="2197895"/>
              <a:ext cx="1727996" cy="93979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400"/>
                <a:t>Diagnostics</a:t>
              </a:r>
              <a:endParaRPr sz="1400"/>
            </a:p>
          </p:txBody>
        </p:sp>
        <p:cxnSp>
          <p:nvCxnSpPr>
            <p:cNvPr id="22" name="Straight Arrow Connector 33">
              <a:extLst>
                <a:ext uri="{FF2B5EF4-FFF2-40B4-BE49-F238E27FC236}">
                  <a16:creationId xmlns:a16="http://schemas.microsoft.com/office/drawing/2014/main" id="{764C498B-6F97-7103-1C56-2FAD8958EE11}"/>
                </a:ext>
              </a:extLst>
            </p:cNvPr>
            <p:cNvCxnSpPr>
              <a:cxnSpLocks/>
              <a:endCxn id="21" idx="4"/>
            </p:cNvCxnSpPr>
            <p:nvPr/>
          </p:nvCxnSpPr>
          <p:spPr bwMode="auto">
            <a:xfrm flipH="1" flipV="1">
              <a:off x="6313485" y="3137694"/>
              <a:ext cx="22623" cy="513555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cxnSp>
          <p:nvCxnSpPr>
            <p:cNvPr id="23" name="Connector: Elbow 36">
              <a:extLst>
                <a:ext uri="{FF2B5EF4-FFF2-40B4-BE49-F238E27FC236}">
                  <a16:creationId xmlns:a16="http://schemas.microsoft.com/office/drawing/2014/main" id="{797FF6FB-FDC1-9F4F-C37E-9FBD91F6C9B2}"/>
                </a:ext>
              </a:extLst>
            </p:cNvPr>
            <p:cNvCxnSpPr>
              <a:cxnSpLocks/>
              <a:stCxn id="21" idx="2"/>
            </p:cNvCxnSpPr>
            <p:nvPr/>
          </p:nvCxnSpPr>
          <p:spPr bwMode="auto">
            <a:xfrm rot="10800000" flipH="1" flipV="1">
              <a:off x="5449487" y="2667794"/>
              <a:ext cx="415156" cy="1068071"/>
            </a:xfrm>
            <a:prstGeom prst="bentConnector4">
              <a:avLst>
                <a:gd name="adj1" fmla="val -55064"/>
                <a:gd name="adj2" fmla="val 71998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Connector: Elbow 39">
              <a:extLst>
                <a:ext uri="{FF2B5EF4-FFF2-40B4-BE49-F238E27FC236}">
                  <a16:creationId xmlns:a16="http://schemas.microsoft.com/office/drawing/2014/main" id="{5190C774-0CB9-B8DB-AC68-38519538B84E}"/>
                </a:ext>
              </a:extLst>
            </p:cNvPr>
            <p:cNvCxnSpPr>
              <a:cxnSpLocks/>
              <a:stCxn id="21" idx="2"/>
            </p:cNvCxnSpPr>
            <p:nvPr/>
          </p:nvCxnSpPr>
          <p:spPr bwMode="auto">
            <a:xfrm rot="10800000" flipV="1">
              <a:off x="3989759" y="2667794"/>
              <a:ext cx="1459728" cy="1068071"/>
            </a:xfrm>
            <a:prstGeom prst="bentConnector3">
              <a:avLst>
                <a:gd name="adj1" fmla="val 99844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5" name="Oval 60">
              <a:extLst>
                <a:ext uri="{FF2B5EF4-FFF2-40B4-BE49-F238E27FC236}">
                  <a16:creationId xmlns:a16="http://schemas.microsoft.com/office/drawing/2014/main" id="{51656DDB-3BE1-ECE4-DD5E-46F3894CDFAD}"/>
                </a:ext>
              </a:extLst>
            </p:cNvPr>
            <p:cNvSpPr/>
            <p:nvPr/>
          </p:nvSpPr>
          <p:spPr bwMode="auto">
            <a:xfrm>
              <a:off x="5494733" y="4676378"/>
              <a:ext cx="1682749" cy="93979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400"/>
                <a:t>Posterior predictive sampling</a:t>
              </a:r>
              <a:endParaRPr sz="1400"/>
            </a:p>
          </p:txBody>
        </p:sp>
        <p:cxnSp>
          <p:nvCxnSpPr>
            <p:cNvPr id="26" name="Straight Arrow Connector 63">
              <a:extLst>
                <a:ext uri="{FF2B5EF4-FFF2-40B4-BE49-F238E27FC236}">
                  <a16:creationId xmlns:a16="http://schemas.microsoft.com/office/drawing/2014/main" id="{B42C23C3-2801-451A-7776-F663637ECA73}"/>
                </a:ext>
              </a:extLst>
            </p:cNvPr>
            <p:cNvCxnSpPr>
              <a:endCxn id="25" idx="0"/>
            </p:cNvCxnSpPr>
            <p:nvPr/>
          </p:nvCxnSpPr>
          <p:spPr bwMode="auto">
            <a:xfrm>
              <a:off x="6336108" y="4229100"/>
              <a:ext cx="0" cy="44727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  <p:cxnSp>
          <p:nvCxnSpPr>
            <p:cNvPr id="27" name="Connector: Elbow 66">
              <a:extLst>
                <a:ext uri="{FF2B5EF4-FFF2-40B4-BE49-F238E27FC236}">
                  <a16:creationId xmlns:a16="http://schemas.microsoft.com/office/drawing/2014/main" id="{B674582A-5302-6FE2-B1CB-1A6DAF44FE02}"/>
                </a:ext>
              </a:extLst>
            </p:cNvPr>
            <p:cNvCxnSpPr>
              <a:stCxn id="25" idx="1"/>
            </p:cNvCxnSpPr>
            <p:nvPr/>
          </p:nvCxnSpPr>
          <p:spPr bwMode="auto">
            <a:xfrm rot="16199998" flipV="1">
              <a:off x="4530697" y="3603538"/>
              <a:ext cx="669531" cy="175140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Arrow Connector 2">
              <a:extLst>
                <a:ext uri="{FF2B5EF4-FFF2-40B4-BE49-F238E27FC236}">
                  <a16:creationId xmlns:a16="http://schemas.microsoft.com/office/drawing/2014/main" id="{3FFFB8D2-B5BD-A5F8-C026-1BE623CA9AF9}"/>
                </a:ext>
              </a:extLst>
            </p:cNvPr>
            <p:cNvCxnSpPr/>
            <p:nvPr/>
          </p:nvCxnSpPr>
          <p:spPr bwMode="auto">
            <a:xfrm rot="16199998" flipV="1">
              <a:off x="6089650" y="1079897"/>
              <a:ext cx="12699" cy="5142705"/>
            </a:xfrm>
            <a:prstGeom prst="bentConnector3">
              <a:avLst>
                <a:gd name="adj1" fmla="val 14947287"/>
              </a:avLst>
            </a:prstGeom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tx1"/>
            </a:fontRef>
          </p:style>
        </p:cxnSp>
      </p:grpSp>
      <p:sp>
        <p:nvSpPr>
          <p:cNvPr id="32" name="Oval 32">
            <a:extLst>
              <a:ext uri="{FF2B5EF4-FFF2-40B4-BE49-F238E27FC236}">
                <a16:creationId xmlns:a16="http://schemas.microsoft.com/office/drawing/2014/main" id="{8D6D5C63-128C-FE50-B266-07349D3FE838}"/>
              </a:ext>
            </a:extLst>
          </p:cNvPr>
          <p:cNvSpPr/>
          <p:nvPr/>
        </p:nvSpPr>
        <p:spPr bwMode="auto">
          <a:xfrm>
            <a:off x="9185919" y="3855240"/>
            <a:ext cx="1626342" cy="7375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 dirty="0"/>
              <a:t>Predictive accuracy</a:t>
            </a:r>
            <a:endParaRPr sz="1400" dirty="0"/>
          </a:p>
        </p:txBody>
      </p:sp>
      <p:cxnSp>
        <p:nvCxnSpPr>
          <p:cNvPr id="33" name="Straight Arrow Connector 33">
            <a:extLst>
              <a:ext uri="{FF2B5EF4-FFF2-40B4-BE49-F238E27FC236}">
                <a16:creationId xmlns:a16="http://schemas.microsoft.com/office/drawing/2014/main" id="{C899193A-3BDE-EB7D-AD0C-1D3C2317538F}"/>
              </a:ext>
            </a:extLst>
          </p:cNvPr>
          <p:cNvCxnSpPr>
            <a:cxnSpLocks/>
            <a:endCxn id="32" idx="4"/>
          </p:cNvCxnSpPr>
          <p:nvPr/>
        </p:nvCxnSpPr>
        <p:spPr bwMode="auto">
          <a:xfrm flipH="1" flipV="1">
            <a:off x="9999090" y="4592813"/>
            <a:ext cx="21292" cy="403048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317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4241-6216-2DA5-6C3B-77F292E1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769E-4D8F-DF3D-7C87-BD5242A3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8850" cy="4351338"/>
          </a:xfrm>
        </p:spPr>
        <p:txBody>
          <a:bodyPr/>
          <a:lstStyle/>
          <a:p>
            <a:r>
              <a:rPr lang="he-IL" dirty="0">
                <a:cs typeface="David" panose="020E0502060401010101" pitchFamily="34" charset="-79"/>
              </a:rPr>
              <a:t>weight_</a:t>
            </a:r>
            <a:r>
              <a:rPr lang="he-IL" dirty="0">
                <a:solidFill>
                  <a:schemeClr val="dk1"/>
                </a:solidFill>
                <a:cs typeface="David" panose="020E0502060401010101" pitchFamily="34" charset="-79"/>
              </a:rPr>
              <a:t>loss ~ 1</a:t>
            </a:r>
          </a:p>
          <a:p>
            <a:r>
              <a:rPr lang="en-US" dirty="0"/>
              <a:t>No predictors. </a:t>
            </a:r>
          </a:p>
          <a:p>
            <a:r>
              <a:rPr lang="en-US" dirty="0"/>
              <a:t>The model estimates one overall expected weight loss for all participants.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FDCE9-DD72-420C-8306-1C76580A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50832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34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3060-F3C2-7BEC-343B-B3C9F940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CF8D-C0FE-1A79-671B-E50E9F99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9DC5-F2BA-CC8E-984C-22607509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8850" cy="4351338"/>
          </a:xfrm>
        </p:spPr>
        <p:txBody>
          <a:bodyPr/>
          <a:lstStyle/>
          <a:p>
            <a:r>
              <a:rPr lang="en-US" dirty="0"/>
              <a:t>Prior predictions 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343A9-604F-1709-6D21-C45F226F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187205"/>
            <a:ext cx="6867024" cy="432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04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B5133-48E8-11D0-600C-9A906CF7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8C2B-17F2-D94E-1EB3-BB023ED3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9808-CC0C-FE1A-1C1B-C21C5319B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Sampling – </a:t>
            </a:r>
          </a:p>
          <a:p>
            <a:pPr>
              <a:lnSpc>
                <a:spcPts val="1425"/>
              </a:lnSpc>
              <a:buNone/>
            </a:pPr>
            <a:r>
              <a:rPr lang="he-IL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idata_kwargs</a:t>
            </a:r>
            <a:r>
              <a:rPr lang="he-IL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={</a:t>
            </a:r>
            <a:r>
              <a:rPr lang="he-IL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"</a:t>
            </a:r>
            <a:r>
              <a:rPr lang="he-IL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log_likelihood</a:t>
            </a:r>
            <a:r>
              <a:rPr lang="he-IL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"</a:t>
            </a:r>
            <a:r>
              <a:rPr lang="he-IL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: </a:t>
            </a:r>
            <a:r>
              <a:rPr lang="he-IL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True</a:t>
            </a:r>
            <a:r>
              <a:rPr lang="he-IL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David" panose="020E0502060401010101" pitchFamily="34" charset="-79"/>
              </a:rPr>
              <a:t>}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/>
              <a:t>is required for WAIC and LOO   </a:t>
            </a:r>
          </a:p>
          <a:p>
            <a:pPr>
              <a:lnSpc>
                <a:spcPts val="1425"/>
              </a:lnSpc>
              <a:buNone/>
            </a:pPr>
            <a:r>
              <a:rPr lang="en-US" dirty="0"/>
              <a:t>later.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9A9EF8-20D1-D89E-A555-4FFCE3689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105" y="3045076"/>
            <a:ext cx="5845157" cy="313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33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2EDB-E4D5-4BC6-5F3B-F4BF06EA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C347-687F-D23D-1870-0D9E2E3A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D52CD-460A-E212-6E4D-3022713AF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Sampling diagnosis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BF600-1C0E-280B-5F8B-74BD7B18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339355"/>
            <a:ext cx="9144000" cy="2972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7372F-697B-CBCE-A850-F5E455B3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016" y="1825625"/>
            <a:ext cx="5196736" cy="111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47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50DF-C201-25D8-A6B5-5DFAAF04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E2F0-561B-0B7F-DF6F-D8C1275E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2769-BE26-6F8D-512F-F1D80893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Posterior summary &amp; posterior predictive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9410B7-47C5-ABAC-40D1-31CCB5DD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2" y="3676651"/>
            <a:ext cx="4524379" cy="1428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5A868-165D-808A-F3B8-AA6598B7E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084" y="2689116"/>
            <a:ext cx="6034534" cy="380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66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9D81-EBD2-9B68-A2AE-7247128E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9A15-E8E0-EFE1-75D1-B9CD8B52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2F5D-5570-09F4-ECB2-0D00488B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Posterior predictive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81B9E-C18A-2867-46C7-C49F7ABF8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9" y="2506662"/>
            <a:ext cx="7352215" cy="402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00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4B76-5B2E-2D75-DCB3-9A5D2FE2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059C-9020-D3A0-67E5-210C370D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79967-D7AC-302E-2D96-6FA5D2A8F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932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az.waic</a:t>
            </a:r>
            <a:r>
              <a:rPr lang="en-US" dirty="0"/>
              <a:t>(</a:t>
            </a:r>
            <a:r>
              <a:rPr lang="en-US" dirty="0" err="1"/>
              <a:t>idata</a:t>
            </a:r>
            <a:r>
              <a:rPr lang="en-US" dirty="0"/>
              <a:t>)</a:t>
            </a:r>
          </a:p>
          <a:p>
            <a:r>
              <a:rPr lang="en-US" b="1" dirty="0">
                <a:cs typeface="David" panose="020E0502060401010101" pitchFamily="34" charset="-79"/>
              </a:rPr>
              <a:t>Expected Log Pointwise Predictive Density: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A measure of how well a model is expected to predict new (held-out) data, computed by summing the log-predictive densities for each data point.</a:t>
            </a:r>
          </a:p>
          <a:p>
            <a:pPr lvl="1"/>
            <a:r>
              <a:rPr lang="en-US" dirty="0">
                <a:cs typeface="David" panose="020E0502060401010101" pitchFamily="34" charset="-79"/>
              </a:rPr>
              <a:t>Higher ELPD indicates higher out-of-sample predictive fit (“better” model). If scale is deviance or </a:t>
            </a:r>
            <a:r>
              <a:rPr lang="en-US" dirty="0" err="1">
                <a:cs typeface="David" panose="020E0502060401010101" pitchFamily="34" charset="-79"/>
              </a:rPr>
              <a:t>negative_log</a:t>
            </a:r>
            <a:r>
              <a:rPr lang="en-US" dirty="0">
                <a:cs typeface="David" panose="020E0502060401010101" pitchFamily="34" charset="-79"/>
              </a:rPr>
              <a:t> smaller values indicates higher out-of-sample predictive fit (“better” model).</a:t>
            </a:r>
          </a:p>
          <a:p>
            <a:r>
              <a:rPr lang="en-US" b="1" dirty="0">
                <a:cs typeface="David" panose="020E0502060401010101" pitchFamily="34" charset="-79"/>
              </a:rPr>
              <a:t>SE</a:t>
            </a:r>
            <a:r>
              <a:rPr lang="en-US" dirty="0">
                <a:cs typeface="David" panose="020E0502060401010101" pitchFamily="34" charset="-79"/>
              </a:rPr>
              <a:t> - Standard error of the ELPD estimate.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804F0-23B2-6E1E-38FB-EBEBD228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1676248"/>
            <a:ext cx="4901866" cy="450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1493DE-9459-48C3-424D-BEF52E04BD22}"/>
              </a:ext>
            </a:extLst>
          </p:cNvPr>
          <p:cNvSpPr/>
          <p:nvPr/>
        </p:nvSpPr>
        <p:spPr>
          <a:xfrm>
            <a:off x="6934200" y="2970062"/>
            <a:ext cx="4673266" cy="77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966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2E6BC-91EE-7D4C-C373-03134D2C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A405-851F-A29E-D485-713644C6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593BF-167C-B1A4-9799-88559A7C8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7450" cy="4351338"/>
          </a:xfrm>
        </p:spPr>
        <p:txBody>
          <a:bodyPr/>
          <a:lstStyle/>
          <a:p>
            <a:r>
              <a:rPr lang="en-US" dirty="0" err="1"/>
              <a:t>az.loo</a:t>
            </a:r>
            <a:r>
              <a:rPr lang="en-US" dirty="0"/>
              <a:t>(</a:t>
            </a:r>
            <a:r>
              <a:rPr lang="en-US" dirty="0" err="1"/>
              <a:t>idata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079C7-8BB9-FD38-BD34-0D01B87A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999" y="1825625"/>
            <a:ext cx="4793146" cy="452633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D130C7-ABB0-CFFB-DD48-E6BF422FDDBF}"/>
              </a:ext>
            </a:extLst>
          </p:cNvPr>
          <p:cNvSpPr/>
          <p:nvPr/>
        </p:nvSpPr>
        <p:spPr>
          <a:xfrm>
            <a:off x="6661495" y="2638879"/>
            <a:ext cx="4501805" cy="335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4065D0-940F-5CBD-7F0E-39C3BA386AE8}"/>
              </a:ext>
            </a:extLst>
          </p:cNvPr>
          <p:cNvGrpSpPr/>
          <p:nvPr/>
        </p:nvGrpSpPr>
        <p:grpSpPr>
          <a:xfrm>
            <a:off x="2239455" y="3316492"/>
            <a:ext cx="4422040" cy="923330"/>
            <a:chOff x="7978203" y="3239322"/>
            <a:chExt cx="4422040" cy="92333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5A2F1B-C10C-4F11-9E27-7C10D3F0808E}"/>
                </a:ext>
              </a:extLst>
            </p:cNvPr>
            <p:cNvSpPr txBox="1"/>
            <p:nvPr/>
          </p:nvSpPr>
          <p:spPr>
            <a:xfrm>
              <a:off x="7978203" y="3239322"/>
              <a:ext cx="3436547" cy="923330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5"/>
                  </a:solidFill>
                </a:rPr>
                <a:t>Effective number of parameters</a:t>
              </a:r>
              <a:r>
                <a:rPr lang="he-IL" dirty="0">
                  <a:solidFill>
                    <a:schemeClr val="accent5"/>
                  </a:solidFill>
                </a:rPr>
                <a:t>:</a:t>
              </a:r>
              <a:br>
                <a:rPr lang="en-GB" dirty="0">
                  <a:solidFill>
                    <a:schemeClr val="accent5"/>
                  </a:solidFill>
                </a:rPr>
              </a:br>
              <a:r>
                <a:rPr lang="en-US" dirty="0">
                  <a:solidFill>
                    <a:schemeClr val="accent5"/>
                  </a:solidFill>
                </a:rPr>
                <a:t>penalty term that accounts for model complexity</a:t>
              </a:r>
              <a:endParaRPr lang="LID4096" dirty="0">
                <a:solidFill>
                  <a:schemeClr val="accent5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11AED1-1AB7-E8DE-F9AC-9AD8C2BE685E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11414750" y="3423988"/>
              <a:ext cx="985493" cy="276999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0E4960-C6DC-0505-0C5D-3DBCC1422AA7}"/>
              </a:ext>
            </a:extLst>
          </p:cNvPr>
          <p:cNvGrpSpPr/>
          <p:nvPr/>
        </p:nvGrpSpPr>
        <p:grpSpPr>
          <a:xfrm>
            <a:off x="704850" y="5009565"/>
            <a:ext cx="5956645" cy="1477328"/>
            <a:chOff x="7645206" y="4643716"/>
            <a:chExt cx="5956645" cy="14773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E45453-B50A-140C-B3C7-C2F6E063925A}"/>
                </a:ext>
              </a:extLst>
            </p:cNvPr>
            <p:cNvSpPr txBox="1"/>
            <p:nvPr/>
          </p:nvSpPr>
          <p:spPr>
            <a:xfrm>
              <a:off x="7645206" y="4643716"/>
              <a:ext cx="4390275" cy="147732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00B050"/>
                  </a:solidFill>
                </a:rPr>
                <a:t>How reliable is our estimate?</a:t>
              </a:r>
            </a:p>
            <a:p>
              <a:pPr algn="ctr"/>
              <a:r>
                <a:rPr lang="en-GB" dirty="0">
                  <a:solidFill>
                    <a:srgbClr val="00B050"/>
                  </a:solidFill>
                </a:rPr>
                <a:t>Values above 0.7 indicate that we may have very influential datapoints – bad. </a:t>
              </a:r>
            </a:p>
            <a:p>
              <a:pPr algn="ctr"/>
              <a:r>
                <a:rPr lang="en-GB" dirty="0">
                  <a:solidFill>
                    <a:srgbClr val="00B050"/>
                  </a:solidFill>
                </a:rPr>
                <a:t>We can see that 100% of our datapoints are good.</a:t>
              </a:r>
              <a:endParaRPr lang="LID4096" dirty="0">
                <a:solidFill>
                  <a:srgbClr val="00B05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41ED72C-6DC7-CE09-ED5E-A875E2CF66A6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12035481" y="5382380"/>
              <a:ext cx="1566370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7683EF-9061-2DB1-37EB-27C2C9D052A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095125" y="4480560"/>
            <a:ext cx="1566370" cy="126766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70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692E5-9848-EEA7-14B1-5F5DD870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1E57-C782-36D3-8278-34D5DAFA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model – Intercept only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8107-FB84-F031-9975-7F80946A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7450" cy="4351338"/>
          </a:xfrm>
        </p:spPr>
        <p:txBody>
          <a:bodyPr/>
          <a:lstStyle/>
          <a:p>
            <a:r>
              <a:rPr lang="en-US" dirty="0" err="1"/>
              <a:t>az.loo</a:t>
            </a:r>
            <a:r>
              <a:rPr lang="en-US" dirty="0"/>
              <a:t>(</a:t>
            </a:r>
            <a:r>
              <a:rPr lang="en-US" dirty="0" err="1"/>
              <a:t>idata</a:t>
            </a:r>
            <a:r>
              <a:rPr lang="en-US" dirty="0"/>
              <a:t>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798D50-E79A-F39E-0617-83CEBAB90D5A}"/>
              </a:ext>
            </a:extLst>
          </p:cNvPr>
          <p:cNvGrpSpPr/>
          <p:nvPr/>
        </p:nvGrpSpPr>
        <p:grpSpPr>
          <a:xfrm>
            <a:off x="229542" y="3377665"/>
            <a:ext cx="5231458" cy="2362735"/>
            <a:chOff x="7645206" y="4643716"/>
            <a:chExt cx="5488720" cy="236273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8D01F2-7CDC-8818-202B-7952EBF688F8}"/>
                </a:ext>
              </a:extLst>
            </p:cNvPr>
            <p:cNvSpPr txBox="1"/>
            <p:nvPr/>
          </p:nvSpPr>
          <p:spPr>
            <a:xfrm>
              <a:off x="7645206" y="4643716"/>
              <a:ext cx="4390275" cy="147732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00B050"/>
                  </a:solidFill>
                </a:rPr>
                <a:t>How reliable is our estimate?</a:t>
              </a:r>
            </a:p>
            <a:p>
              <a:pPr algn="ctr"/>
              <a:r>
                <a:rPr lang="en-GB" dirty="0">
                  <a:solidFill>
                    <a:srgbClr val="00B050"/>
                  </a:solidFill>
                </a:rPr>
                <a:t>Values above 0.7 indicate that we may have very influential datapoints – bad. </a:t>
              </a:r>
            </a:p>
            <a:p>
              <a:pPr algn="ctr"/>
              <a:r>
                <a:rPr lang="en-GB" dirty="0">
                  <a:solidFill>
                    <a:srgbClr val="00B050"/>
                  </a:solidFill>
                </a:rPr>
                <a:t>We can see that 100% of our datapoints are good.</a:t>
              </a:r>
              <a:endParaRPr lang="LID4096" dirty="0">
                <a:solidFill>
                  <a:srgbClr val="00B05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A7F0C70-D62A-704B-A398-2CDB3CE114A5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12035481" y="5382380"/>
              <a:ext cx="1098445" cy="162407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37A8C6E-29BC-542B-728C-2CB6418BF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920758"/>
            <a:ext cx="6361758" cy="4391142"/>
          </a:xfrm>
          <a:prstGeom prst="rect">
            <a:avLst/>
          </a:prstGeom>
        </p:spPr>
      </p:pic>
      <p:sp>
        <p:nvSpPr>
          <p:cNvPr id="9" name="מלבן 5">
            <a:extLst>
              <a:ext uri="{FF2B5EF4-FFF2-40B4-BE49-F238E27FC236}">
                <a16:creationId xmlns:a16="http://schemas.microsoft.com/office/drawing/2014/main" id="{E298DBA6-9AF7-8390-C587-68365E981C8B}"/>
              </a:ext>
            </a:extLst>
          </p:cNvPr>
          <p:cNvSpPr/>
          <p:nvPr/>
        </p:nvSpPr>
        <p:spPr>
          <a:xfrm>
            <a:off x="5600700" y="5120372"/>
            <a:ext cx="3175000" cy="1151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3139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629C-77C3-FC46-8D31-6761E71A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584839-392E-17D7-0AF8-315C0E954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Second model – </a:t>
                </a:r>
                <a:r>
                  <a:rPr lang="he-IL" dirty="0">
                    <a:solidFill>
                      <a:schemeClr val="tx1"/>
                    </a:solidFill>
                  </a:rPr>
                  <a:t>weight_loss ~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584839-392E-17D7-0AF8-315C0E954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E90C-1959-2A0A-3BD1-F2EA65F21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Does height improve prediction relative to the intercept-only model?</a:t>
            </a:r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8D525F-054C-1D91-E74F-9753D376E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26945"/>
            <a:ext cx="3613634" cy="2181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C9E0BB-5B44-3C89-AFA7-613304A38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781" y="2701818"/>
            <a:ext cx="6141633" cy="379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59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507F9B-196B-D87E-67CE-9052427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az. compare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7718A5D-F962-F970-4261-7BDADB457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469" y="580668"/>
            <a:ext cx="6220222" cy="6150332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1517632-57E1-9164-ACBB-E8554D32F5F1}"/>
              </a:ext>
            </a:extLst>
          </p:cNvPr>
          <p:cNvSpPr txBox="1"/>
          <p:nvPr/>
        </p:nvSpPr>
        <p:spPr>
          <a:xfrm>
            <a:off x="609600" y="1436469"/>
            <a:ext cx="3654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cs typeface="David" panose="020E0502060401010101" pitchFamily="34" charset="-79"/>
                <a:hlinkClick r:id="rId4"/>
              </a:rPr>
              <a:t>https://python.arviz.org/en/stable/api/generated/arviz.compare.html</a:t>
            </a:r>
            <a:r>
              <a:rPr lang="he-IL" dirty="0">
                <a:cs typeface="David" panose="020E0502060401010101" pitchFamily="34" charset="-79"/>
              </a:rPr>
              <a:t> 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073AFEA-C5FC-CB80-EE8C-E26252F8F892}"/>
              </a:ext>
            </a:extLst>
          </p:cNvPr>
          <p:cNvSpPr/>
          <p:nvPr/>
        </p:nvSpPr>
        <p:spPr>
          <a:xfrm>
            <a:off x="5105400" y="1473200"/>
            <a:ext cx="6160891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18D6A3E-60D2-9A5B-D533-05E4C4A5FE17}"/>
              </a:ext>
            </a:extLst>
          </p:cNvPr>
          <p:cNvSpPr/>
          <p:nvPr/>
        </p:nvSpPr>
        <p:spPr>
          <a:xfrm>
            <a:off x="5105400" y="2973129"/>
            <a:ext cx="6160891" cy="825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AC1E255-9D3E-32A6-7EF9-C567035FCC86}"/>
              </a:ext>
            </a:extLst>
          </p:cNvPr>
          <p:cNvSpPr/>
          <p:nvPr/>
        </p:nvSpPr>
        <p:spPr>
          <a:xfrm>
            <a:off x="5105400" y="4559657"/>
            <a:ext cx="6160891" cy="1218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E04D8-91A5-4A37-D187-B3B0B4FB2E0D}"/>
              </a:ext>
            </a:extLst>
          </p:cNvPr>
          <p:cNvSpPr txBox="1"/>
          <p:nvPr/>
        </p:nvSpPr>
        <p:spPr>
          <a:xfrm>
            <a:off x="609600" y="2483683"/>
            <a:ext cx="440829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Rank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– </a:t>
            </a:r>
            <a:r>
              <a:rPr lang="en-US" sz="2000" b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rank-order of </a:t>
            </a:r>
            <a:r>
              <a:rPr lang="en-US" sz="2000" b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models. </a:t>
            </a:r>
            <a:br>
              <a:rPr lang="en-US" sz="20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20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0 </a:t>
            </a:r>
            <a:r>
              <a:rPr lang="en-US" sz="2000" b="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is the 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best.</a:t>
            </a:r>
          </a:p>
          <a:p>
            <a:endParaRPr lang="en-US" sz="2000" b="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David" panose="020E0502060401010101" pitchFamily="34" charset="-79"/>
                <a:cs typeface="David" panose="020E0502060401010101" pitchFamily="34" charset="-79"/>
              </a:rPr>
              <a:t>ELPD Diff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– 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difference in ELPD between two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models. 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If more than two models are compared, the difference is computed relative to the top-ranked model, that always has a </a:t>
            </a:r>
            <a:r>
              <a:rPr lang="en-US" sz="2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elpd_diff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of 0.</a:t>
            </a:r>
          </a:p>
          <a:p>
            <a:endParaRPr lang="en-US" sz="20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en-US" sz="2000" b="1" dirty="0" err="1">
                <a:latin typeface="David" panose="020E0502060401010101" pitchFamily="34" charset="-79"/>
                <a:cs typeface="David" panose="020E0502060401010101" pitchFamily="34" charset="-79"/>
              </a:rPr>
              <a:t>dSE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– 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Standard error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of 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the difference in ELPD between each model and the 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top-ranked model. </a:t>
            </a:r>
            <a:r>
              <a:rPr lang="en-US" sz="2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It’s always 0 for the top-ranked model.</a:t>
            </a:r>
          </a:p>
        </p:txBody>
      </p:sp>
    </p:spTree>
    <p:extLst>
      <p:ext uri="{BB962C8B-B14F-4D97-AF65-F5344CB8AC3E}">
        <p14:creationId xmlns:p14="http://schemas.microsoft.com/office/powerpoint/2010/main" val="1851489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7FD8-2AE0-0087-309D-364E003F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F240600-25C9-52A6-7BA8-D5AB03B2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43" y="2441834"/>
            <a:ext cx="9494409" cy="2150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C9B1B6-6694-02FF-E4DE-090D444B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az</a:t>
            </a:r>
            <a:r>
              <a:rPr lang="en-US" dirty="0"/>
              <a:t>,.compare – first &amp; second model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8173-7554-C625-3AD8-EFDA0DF8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Does diet type improve prediction?</a:t>
            </a:r>
          </a:p>
          <a:p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6F9C7-D60F-6EFC-E455-A0DAF3552588}"/>
              </a:ext>
            </a:extLst>
          </p:cNvPr>
          <p:cNvSpPr txBox="1"/>
          <p:nvPr/>
        </p:nvSpPr>
        <p:spPr>
          <a:xfrm>
            <a:off x="225429" y="3810970"/>
            <a:ext cx="1225541" cy="65247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From best to worst</a:t>
            </a:r>
            <a:endParaRPr lang="LID4096" dirty="0">
              <a:solidFill>
                <a:schemeClr val="accent5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2504B1-FB23-C4B8-1DFC-6045FAE28BA3}"/>
              </a:ext>
            </a:extLst>
          </p:cNvPr>
          <p:cNvSpPr txBox="1"/>
          <p:nvPr/>
        </p:nvSpPr>
        <p:spPr>
          <a:xfrm>
            <a:off x="5086830" y="4667840"/>
            <a:ext cx="262350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If the difference between the </a:t>
            </a:r>
            <a:r>
              <a:rPr lang="en-GB" dirty="0" err="1">
                <a:solidFill>
                  <a:srgbClr val="C00000"/>
                </a:solidFill>
              </a:rPr>
              <a:t>elpd</a:t>
            </a:r>
            <a:r>
              <a:rPr lang="en-GB" dirty="0">
                <a:solidFill>
                  <a:srgbClr val="C00000"/>
                </a:solidFill>
              </a:rPr>
              <a:t> values is bigger</a:t>
            </a:r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E2266E-64FB-15C4-3064-07CC590F532B}"/>
              </a:ext>
            </a:extLst>
          </p:cNvPr>
          <p:cNvSpPr txBox="1"/>
          <p:nvPr/>
        </p:nvSpPr>
        <p:spPr>
          <a:xfrm>
            <a:off x="6928849" y="5886504"/>
            <a:ext cx="4424951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Then we say that there is a meaningful difference between the two models</a:t>
            </a:r>
            <a:endParaRPr lang="LID4096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AF079B-BBBA-5D4E-D54C-5B305AA8156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710338" y="4991006"/>
            <a:ext cx="1430986" cy="8954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2CABFA-0C6D-5586-BD3E-5F6DEF66DCF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9141325" y="5314171"/>
            <a:ext cx="156536" cy="5723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04C4BA-5172-8626-159E-0330676CBADA}"/>
              </a:ext>
            </a:extLst>
          </p:cNvPr>
          <p:cNvSpPr txBox="1"/>
          <p:nvPr/>
        </p:nvSpPr>
        <p:spPr>
          <a:xfrm>
            <a:off x="8491827" y="4667840"/>
            <a:ext cx="161206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than the standard error</a:t>
            </a:r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6" name="מלבן 6">
            <a:extLst>
              <a:ext uri="{FF2B5EF4-FFF2-40B4-BE49-F238E27FC236}">
                <a16:creationId xmlns:a16="http://schemas.microsoft.com/office/drawing/2014/main" id="{686D13FB-2DD9-BB6E-8FF1-5A2947497D92}"/>
              </a:ext>
            </a:extLst>
          </p:cNvPr>
          <p:cNvSpPr/>
          <p:nvPr/>
        </p:nvSpPr>
        <p:spPr>
          <a:xfrm>
            <a:off x="2929128" y="3298570"/>
            <a:ext cx="65532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9" name="מלבן 6">
            <a:extLst>
              <a:ext uri="{FF2B5EF4-FFF2-40B4-BE49-F238E27FC236}">
                <a16:creationId xmlns:a16="http://schemas.microsoft.com/office/drawing/2014/main" id="{ECF3DF7E-A8E9-6E83-7FD8-029C737521E1}"/>
              </a:ext>
            </a:extLst>
          </p:cNvPr>
          <p:cNvSpPr/>
          <p:nvPr/>
        </p:nvSpPr>
        <p:spPr>
          <a:xfrm>
            <a:off x="5609843" y="3298570"/>
            <a:ext cx="1160509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16" name="מלבן 6">
            <a:extLst>
              <a:ext uri="{FF2B5EF4-FFF2-40B4-BE49-F238E27FC236}">
                <a16:creationId xmlns:a16="http://schemas.microsoft.com/office/drawing/2014/main" id="{FB29F4FC-D02A-7FDE-3C97-EDC6238FA4E7}"/>
              </a:ext>
            </a:extLst>
          </p:cNvPr>
          <p:cNvSpPr/>
          <p:nvPr/>
        </p:nvSpPr>
        <p:spPr>
          <a:xfrm>
            <a:off x="8592313" y="3298570"/>
            <a:ext cx="89916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4591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719B-8EEA-D997-13A6-A882DF2A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4B03A87-2A5A-779B-59B0-AEA49D3C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496" y="3203738"/>
            <a:ext cx="9103304" cy="1175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C812C-1E8D-A965-D740-10E39240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az.compare</a:t>
            </a:r>
            <a:r>
              <a:rPr lang="en-US" dirty="0"/>
              <a:t> – first &amp; second model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7C1D-D12A-F4BE-B819-C11C6819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29673" cy="46672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en-US" dirty="0"/>
              <a:t>we can do the same with the widely accepted information criteria.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  <a:defRPr/>
            </a:pPr>
            <a:endParaRPr lang="en-GB" altLang="en-US" dirty="0"/>
          </a:p>
          <a:p>
            <a:pPr>
              <a:lnSpc>
                <a:spcPct val="150000"/>
              </a:lnSpc>
              <a:defRPr/>
            </a:pPr>
            <a:r>
              <a:rPr lang="en-GB" altLang="en-US" dirty="0"/>
              <a:t>The WAIC and LOO values are generally almost exactly the same.</a:t>
            </a:r>
          </a:p>
          <a:p>
            <a:pPr>
              <a:lnSpc>
                <a:spcPct val="150000"/>
              </a:lnSpc>
              <a:defRPr/>
            </a:pPr>
            <a:r>
              <a:rPr lang="en-GB" altLang="en-US" dirty="0"/>
              <a:t>At this point, it is generally more accepted to use the LOO.</a:t>
            </a:r>
            <a:endParaRPr lang="en-US" dirty="0"/>
          </a:p>
          <a:p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3B3C3-A84E-DCB5-552E-5684165AFFE3}"/>
              </a:ext>
            </a:extLst>
          </p:cNvPr>
          <p:cNvSpPr txBox="1"/>
          <p:nvPr/>
        </p:nvSpPr>
        <p:spPr>
          <a:xfrm>
            <a:off x="838200" y="3659493"/>
            <a:ext cx="1225541" cy="65247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From best to worst</a:t>
            </a:r>
            <a:endParaRPr lang="LID4096" dirty="0">
              <a:solidFill>
                <a:schemeClr val="accent5"/>
              </a:solidFill>
            </a:endParaRPr>
          </a:p>
        </p:txBody>
      </p:sp>
      <p:sp>
        <p:nvSpPr>
          <p:cNvPr id="5" name="מלבן 6">
            <a:extLst>
              <a:ext uri="{FF2B5EF4-FFF2-40B4-BE49-F238E27FC236}">
                <a16:creationId xmlns:a16="http://schemas.microsoft.com/office/drawing/2014/main" id="{CFF33714-AB8D-63FE-05D4-043C20292330}"/>
              </a:ext>
            </a:extLst>
          </p:cNvPr>
          <p:cNvSpPr/>
          <p:nvPr/>
        </p:nvSpPr>
        <p:spPr>
          <a:xfrm>
            <a:off x="3645530" y="3261985"/>
            <a:ext cx="655320" cy="1040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10" name="מלבן 6">
            <a:extLst>
              <a:ext uri="{FF2B5EF4-FFF2-40B4-BE49-F238E27FC236}">
                <a16:creationId xmlns:a16="http://schemas.microsoft.com/office/drawing/2014/main" id="{AD808F51-DD5D-3542-3AC9-3174759338D5}"/>
              </a:ext>
            </a:extLst>
          </p:cNvPr>
          <p:cNvSpPr/>
          <p:nvPr/>
        </p:nvSpPr>
        <p:spPr>
          <a:xfrm>
            <a:off x="6164578" y="3271407"/>
            <a:ext cx="1028701" cy="1080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sp>
        <p:nvSpPr>
          <p:cNvPr id="13" name="מלבן 6">
            <a:extLst>
              <a:ext uri="{FF2B5EF4-FFF2-40B4-BE49-F238E27FC236}">
                <a16:creationId xmlns:a16="http://schemas.microsoft.com/office/drawing/2014/main" id="{213CE7BC-1BC0-4F1F-9085-EA7F8E57EE55}"/>
              </a:ext>
            </a:extLst>
          </p:cNvPr>
          <p:cNvSpPr/>
          <p:nvPr/>
        </p:nvSpPr>
        <p:spPr>
          <a:xfrm>
            <a:off x="8939664" y="3271407"/>
            <a:ext cx="899160" cy="1080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cs typeface="David" panose="020E0502060401010101" pitchFamily="34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12595A0-7BA5-1C27-B18C-8146F5A72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496" y="2443817"/>
            <a:ext cx="9219020" cy="7410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A8BEAC-7A34-5B6C-64DE-0EEA50D46667}"/>
              </a:ext>
            </a:extLst>
          </p:cNvPr>
          <p:cNvSpPr/>
          <p:nvPr/>
        </p:nvSpPr>
        <p:spPr>
          <a:xfrm>
            <a:off x="9890360" y="3258225"/>
            <a:ext cx="899160" cy="10809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6E2F9-A82E-76DB-FD5B-5CD70632F086}"/>
              </a:ext>
            </a:extLst>
          </p:cNvPr>
          <p:cNvSpPr txBox="1"/>
          <p:nvPr/>
        </p:nvSpPr>
        <p:spPr>
          <a:xfrm>
            <a:off x="9648768" y="4406854"/>
            <a:ext cx="161206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Can’t trust WAIC</a:t>
            </a:r>
            <a:endParaRPr lang="LID4096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2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E5B5-4085-9F37-6FF8-246B6C62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more candidates’ models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43DDDD-EF78-2AA0-B974-057FA81C3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/>
                  <a:t>Model 3: 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 panose="02040503050406030204" pitchFamily="18" charset="0"/>
                      </a:rPr>
                      <m:t>𝑤𝑒𝑖𝑔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he-IL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  <a:defRPr/>
                </a:pPr>
                <a:endParaRPr lang="en-US" dirty="0"/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43DDDD-EF78-2AA0-B974-057FA81C3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01C8406-0472-7900-C99B-CF6A3B880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37" y="3316128"/>
            <a:ext cx="3959201" cy="203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D579F-7A2D-8839-8E1C-EEB02A763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703467"/>
            <a:ext cx="6306770" cy="389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48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84FB-FD96-0BA6-9AA8-54048EA9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0873-2F71-103D-A511-AF4DA943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more of the candidates models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DD2611F-C856-8B6D-AE19-B89CB5DDE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/>
                  <a:t>Model 4:</a:t>
                </a:r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</a:rPr>
                      <m:t>𝑤𝑒𝑖𝑔</m:t>
                    </m:r>
                    <m:r>
                      <a:rPr lang="he-IL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  <a:defRPr/>
                </a:pPr>
                <a:endParaRPr lang="en-US" dirty="0"/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DD2611F-C856-8B6D-AE19-B89CB5DDE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DC992B4-1B5B-3E22-DC82-CEC62F556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56" y="3100649"/>
            <a:ext cx="4208246" cy="2361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B3FCA5-39AE-B820-18CF-EAF66AC8D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806" y="2734904"/>
            <a:ext cx="6569194" cy="405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51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8C8C-C227-5C15-ED20-804350DB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345F-1B1E-A523-958C-9138BD95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more of the candidates models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207224B-F2C7-CFEE-9A3E-549F35642B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/>
                  <a:t>Model 5:</a:t>
                </a:r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</a:rPr>
                      <m:t>𝑤𝑒𝑖𝑔</m:t>
                    </m:r>
                    <m:r>
                      <a:rPr lang="he-IL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𝑑𝑖𝑒𝑡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𝑡𝑦𝑝𝑒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  <a:defRPr/>
                </a:pPr>
                <a:endParaRPr lang="en-US" dirty="0"/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207224B-F2C7-CFEE-9A3E-549F35642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4625A00-F261-CDA8-CB58-47EFBE1D7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035" y="2953166"/>
            <a:ext cx="4215930" cy="31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099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46E4-8B63-6201-CDCD-83D7F793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01B5-482A-D844-8EB8-C0B9FBCF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more of the candidates models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0481D3-763B-1BC8-D6B7-F6ADACC63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/>
                  <a:t>Model 5: 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 panose="02040503050406030204" pitchFamily="18" charset="0"/>
                      </a:rPr>
                      <m:t>𝑤𝑒𝑖𝑔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he-IL" i="1" dirty="0" err="1" smtClean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𝑑𝑖𝑒𝑡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𝑡𝑦𝑝𝑒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  <a:defRPr/>
                </a:pPr>
                <a:endParaRPr lang="en-US" dirty="0"/>
              </a:p>
              <a:p>
                <a:endParaRPr lang="he-IL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C0481D3-763B-1BC8-D6B7-F6ADACC63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A4EB0EC-DE42-D6AE-06FE-138D63E38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216" y="3659918"/>
            <a:ext cx="4047980" cy="24987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682627-D834-DAD2-BE2E-A760AF12D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236" y="3652795"/>
            <a:ext cx="4047980" cy="2498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F2D2F-B503-B802-635D-C7217F2A5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59918"/>
            <a:ext cx="4047980" cy="249870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A0DAF8-25B1-86C8-8AC2-DE296DFA0159}"/>
              </a:ext>
            </a:extLst>
          </p:cNvPr>
          <p:cNvSpPr txBox="1">
            <a:spLocks/>
          </p:cNvSpPr>
          <p:nvPr/>
        </p:nvSpPr>
        <p:spPr>
          <a:xfrm>
            <a:off x="216408" y="3155907"/>
            <a:ext cx="11743944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diet_type</a:t>
            </a:r>
            <a:r>
              <a:rPr lang="en-US" sz="2400" dirty="0"/>
              <a:t>=3  			    </a:t>
            </a:r>
            <a:r>
              <a:rPr lang="en-US" sz="2400" dirty="0" err="1"/>
              <a:t>diet_type</a:t>
            </a:r>
            <a:r>
              <a:rPr lang="en-US" sz="2400" dirty="0"/>
              <a:t>=2			          </a:t>
            </a:r>
            <a:r>
              <a:rPr lang="en-US" sz="2400" dirty="0" err="1"/>
              <a:t>diet_type</a:t>
            </a:r>
            <a:r>
              <a:rPr lang="en-US" sz="2400" dirty="0"/>
              <a:t>=1</a:t>
            </a:r>
            <a:endParaRPr lang="en-IL" sz="2400" dirty="0"/>
          </a:p>
          <a:p>
            <a:pPr marL="0" indent="0">
              <a:buNone/>
            </a:pP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533425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0E0C-70E2-D123-9B04-8A480F3E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6CD3-9C14-2CDD-F35B-4DE134E6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WAIC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A5A62-F733-7B66-F096-A84F59A9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368D-C850-3858-2177-6FCABDFF4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77" y="2749370"/>
            <a:ext cx="10612046" cy="25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61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21A9-E9CA-679C-ACF6-0556912D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739-A355-627A-0C72-B68728B1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E129C-C79D-6FB2-2E6D-77C80DC13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LOO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3E5E0-1F65-C049-8A12-6FEB9D51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F67B2-C859-230B-A0F6-B1A47960F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14" y="2811411"/>
            <a:ext cx="10025089" cy="23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61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52EC-C972-91A0-D349-D960A8BF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Effect size and prediction answer different questions</a:t>
            </a:r>
            <a:endParaRPr lang="he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F928AF-6861-78AC-4D40-7FF1F5FEFC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22013"/>
          <a:ext cx="10515600" cy="2863940"/>
        </p:xfrm>
        <a:graphic>
          <a:graphicData uri="http://schemas.openxmlformats.org/drawingml/2006/table">
            <a:tbl>
              <a:tblPr rtl="1" firstRow="1" bandRow="1">
                <a:tableStyleId>{93296810-A885-4BE3-A3E7-6D5BEEA58F35}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46799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29814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0547194"/>
                    </a:ext>
                  </a:extLst>
                </a:gridCol>
              </a:tblGrid>
              <a:tr h="60599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Good model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Goal</a:t>
                      </a:r>
                      <a:endParaRPr lang="he-IL" dirty="0"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446608"/>
                  </a:ext>
                </a:extLst>
              </a:tr>
              <a:tr h="60599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posterior contrasts, effect sizes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Interpretable and meaningful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Theory building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679770"/>
                  </a:ext>
                </a:extLst>
              </a:tr>
              <a:tr h="1045961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ROPE/HDI, Bayes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Rules out a simple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Hypothesis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346003"/>
                  </a:ext>
                </a:extLst>
              </a:tr>
              <a:tr h="60599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AIC, WAIC, LOO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Predicts new data well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Prediction</a:t>
                      </a:r>
                      <a:endParaRPr lang="he-IL" b="1" dirty="0"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649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32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5E12-F37D-E99E-FE5A-976054D6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 and prediction answer different questions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342CD-4A2F-C68F-11FA-ED34094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49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EED2AC-FF1F-4E20-8D86-542247E2997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54539"/>
          <a:ext cx="10515600" cy="29633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20822807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123183772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IL" sz="20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20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593943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IL" sz="2000" b="1" dirty="0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2000" dirty="0"/>
                        <a:t>How much variance does the model explain?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3845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000" b="1" dirty="0"/>
                        <a:t>partial R²</a:t>
                      </a:r>
                      <a:r>
                        <a:rPr lang="en-US" sz="2000" b="1" dirty="0"/>
                        <a:t>, </a:t>
                      </a:r>
                      <a:r>
                        <a:rPr lang="en-IL" sz="2000" b="1" dirty="0"/>
                        <a:t>η²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2000" dirty="0"/>
                        <a:t>What does one term add?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68900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IL" sz="2000" b="1" dirty="0"/>
                        <a:t>Cohen's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2000" dirty="0"/>
                        <a:t>Effect size in residual-variance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427280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IL" sz="2000" b="1"/>
                        <a:t>AIC / WAIC / LOO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2000" dirty="0"/>
                        <a:t>Which model predicts new data better?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1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938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F2BA-2E5A-EB28-BDC2-A9D2A835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for the models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AB98-B827-2D25-BB85-C024B706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9A9C7-40D7-1074-333F-301A3EDA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8844"/>
            <a:ext cx="9998346" cy="263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78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E79C-2AE6-94D9-37A5-2B86B09D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880C-62C6-42F6-D6AE-4A45B2BB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sizes for the terms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7BB52-BB66-ADEC-62AB-D39BC7A3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333BB-4B6D-ED32-07AF-905EB326A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113" y="1825625"/>
            <a:ext cx="9014813" cy="420691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2F8CAC-14C9-4BB8-F13B-AB30312C2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4691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D3EF-CCC0-8B03-2DE5-DC395C04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update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9270C-99ED-C1D5-4659-6D1B80ED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52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180B4-6327-4F76-9D9C-20FE87B92A58}"/>
              </a:ext>
            </a:extLst>
          </p:cNvPr>
          <p:cNvSpPr txBox="1"/>
          <p:nvPr/>
        </p:nvSpPr>
        <p:spPr>
          <a:xfrm>
            <a:off x="812800" y="2336731"/>
            <a:ext cx="5969000" cy="30469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1)  Scientific question
2)  Candidate models
3)  Prior predictive check
4)   Sample
5)  Diagnostics
6)  Posterior predictive check
7)  </a:t>
            </a:r>
            <a:r>
              <a:rPr lang="en-US" sz="2400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Compare predictive accuracy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
8)  Interpret model differences</a:t>
            </a:r>
            <a:endParaRPr lang="en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370BBD-6972-4916-B75D-9851DF0CF5FB}"/>
              </a:ext>
            </a:extLst>
          </p:cNvPr>
          <p:cNvSpPr/>
          <p:nvPr/>
        </p:nvSpPr>
        <p:spPr>
          <a:xfrm>
            <a:off x="6283325" y="2530474"/>
            <a:ext cx="5416550" cy="21127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L" sz="2400" dirty="0">
              <a:solidFill>
                <a:srgbClr val="1F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6DF9B-2F3D-4097-BF12-73F0F62662B8}"/>
              </a:ext>
            </a:extLst>
          </p:cNvPr>
          <p:cNvSpPr txBox="1"/>
          <p:nvPr/>
        </p:nvSpPr>
        <p:spPr>
          <a:xfrm>
            <a:off x="8366851" y="2773914"/>
            <a:ext cx="1208224" cy="3539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 dirty="0">
                <a:solidFill>
                  <a:srgbClr val="1F3A5F"/>
                </a:solidFill>
              </a:rPr>
              <a:t>Watch for</a:t>
            </a:r>
            <a:endParaRPr lang="en-IL" sz="1700" b="1" dirty="0">
              <a:solidFill>
                <a:srgbClr val="1F3A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23A4A-E0C8-4CC3-A6AB-700C96EFC79A}"/>
              </a:ext>
            </a:extLst>
          </p:cNvPr>
          <p:cNvSpPr txBox="1"/>
          <p:nvPr/>
        </p:nvSpPr>
        <p:spPr>
          <a:xfrm>
            <a:off x="6438900" y="3135221"/>
            <a:ext cx="51054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1F3A5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•  Compare models that answer the scientific question
•  Never compare models before checking diagnostics
•  Predictive ranking usually doesn’t replace interpretation</a:t>
            </a:r>
            <a:endParaRPr lang="en-IL" dirty="0">
              <a:solidFill>
                <a:srgbClr val="1F3A5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7346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3334</Words>
  <Application>Microsoft Office PowerPoint</Application>
  <PresentationFormat>Widescreen</PresentationFormat>
  <Paragraphs>392</Paragraphs>
  <Slides>52</Slides>
  <Notes>30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Cambria Math</vt:lpstr>
      <vt:lpstr>Courier New</vt:lpstr>
      <vt:lpstr>David</vt:lpstr>
      <vt:lpstr>Wingdings</vt:lpstr>
      <vt:lpstr>Office Theme</vt:lpstr>
      <vt:lpstr>Equation</vt:lpstr>
      <vt:lpstr>Tutorial 9</vt:lpstr>
      <vt:lpstr>Tutorial Outline</vt:lpstr>
      <vt:lpstr>Model Comparison</vt:lpstr>
      <vt:lpstr>Overfitting and underfitting</vt:lpstr>
      <vt:lpstr>Model Comparison</vt:lpstr>
      <vt:lpstr>Accuracy</vt:lpstr>
      <vt:lpstr>Model Comparison</vt:lpstr>
      <vt:lpstr>Frequentist Information Criterion</vt:lpstr>
      <vt:lpstr>Frequentist Information Criterion</vt:lpstr>
      <vt:lpstr>Frequentist Information Criterion</vt:lpstr>
      <vt:lpstr>Widely Applicable Information Criteria</vt:lpstr>
      <vt:lpstr>Widely Applicable Information Criteria</vt:lpstr>
      <vt:lpstr>When can’t we trust WAIC?</vt:lpstr>
      <vt:lpstr>When can’t we trust WAIC?</vt:lpstr>
      <vt:lpstr>K-fold Cross Validation</vt:lpstr>
      <vt:lpstr>LOO Cross Validation</vt:lpstr>
      <vt:lpstr>PSIS-LOO-CV</vt:lpstr>
      <vt:lpstr>PSIS-LOO-CV</vt:lpstr>
      <vt:lpstr>When can’t we trust LOO?</vt:lpstr>
      <vt:lpstr>When can’t we trust LOO? </vt:lpstr>
      <vt:lpstr>When can’t we trust LOO? </vt:lpstr>
      <vt:lpstr>Data</vt:lpstr>
      <vt:lpstr>Dataset and Variables</vt:lpstr>
      <vt:lpstr>Data</vt:lpstr>
      <vt:lpstr>Data</vt:lpstr>
      <vt:lpstr>Today’s  Models</vt:lpstr>
      <vt:lpstr>Today’s  Models</vt:lpstr>
      <vt:lpstr>Workflow update</vt:lpstr>
      <vt:lpstr>First model – Intercept only</vt:lpstr>
      <vt:lpstr>First model – Intercept only</vt:lpstr>
      <vt:lpstr>First model – Intercept only</vt:lpstr>
      <vt:lpstr>First model – Intercept only</vt:lpstr>
      <vt:lpstr>First model – Intercept only</vt:lpstr>
      <vt:lpstr>First model – Intercept only</vt:lpstr>
      <vt:lpstr>First model – Intercept only</vt:lpstr>
      <vt:lpstr>First model – Intercept only</vt:lpstr>
      <vt:lpstr>First model – Intercept only</vt:lpstr>
      <vt:lpstr>Second model – weight_loss ~ age^z </vt:lpstr>
      <vt:lpstr>az. compare</vt:lpstr>
      <vt:lpstr>az,.compare – first &amp; second model</vt:lpstr>
      <vt:lpstr>az.compare – first &amp; second model</vt:lpstr>
      <vt:lpstr>Let’s see more candidates’ models</vt:lpstr>
      <vt:lpstr>Let’s see more of the candidates models</vt:lpstr>
      <vt:lpstr>Let’s see more of the candidates models</vt:lpstr>
      <vt:lpstr>Let’s see more of the candidates models</vt:lpstr>
      <vt:lpstr>Model comparison</vt:lpstr>
      <vt:lpstr>Model comparison</vt:lpstr>
      <vt:lpstr>Reminder: Effect size and prediction answer different questions</vt:lpstr>
      <vt:lpstr>Effect size and prediction answer different questions</vt:lpstr>
      <vt:lpstr>Effect sizes for the models</vt:lpstr>
      <vt:lpstr>Effect sizes for the terms</vt:lpstr>
      <vt:lpstr>Workflow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נעם גונן</dc:creator>
  <cp:lastModifiedBy>נעם גונן</cp:lastModifiedBy>
  <cp:revision>403</cp:revision>
  <dcterms:created xsi:type="dcterms:W3CDTF">2026-06-07T05:41:50Z</dcterms:created>
  <dcterms:modified xsi:type="dcterms:W3CDTF">2026-06-23T10:50:50Z</dcterms:modified>
</cp:coreProperties>
</file>