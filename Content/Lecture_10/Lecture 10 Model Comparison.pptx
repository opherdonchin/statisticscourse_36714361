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9"/>
  </p:notesMasterIdLst>
  <p:sldIdLst>
    <p:sldId id="748" r:id="rId3"/>
    <p:sldId id="257" r:id="rId4"/>
    <p:sldId id="757" r:id="rId5"/>
    <p:sldId id="799" r:id="rId6"/>
    <p:sldId id="800" r:id="rId7"/>
    <p:sldId id="758" r:id="rId8"/>
    <p:sldId id="690" r:id="rId9"/>
    <p:sldId id="691" r:id="rId10"/>
    <p:sldId id="692" r:id="rId11"/>
    <p:sldId id="693" r:id="rId12"/>
    <p:sldId id="695" r:id="rId13"/>
    <p:sldId id="699" r:id="rId14"/>
    <p:sldId id="701" r:id="rId15"/>
    <p:sldId id="801" r:id="rId16"/>
    <p:sldId id="761" r:id="rId17"/>
    <p:sldId id="683" r:id="rId18"/>
    <p:sldId id="684" r:id="rId19"/>
    <p:sldId id="686" r:id="rId20"/>
    <p:sldId id="685" r:id="rId21"/>
    <p:sldId id="687" r:id="rId22"/>
    <p:sldId id="802" r:id="rId23"/>
    <p:sldId id="768" r:id="rId24"/>
    <p:sldId id="716" r:id="rId25"/>
    <p:sldId id="363" r:id="rId26"/>
    <p:sldId id="769" r:id="rId27"/>
    <p:sldId id="770" r:id="rId28"/>
    <p:sldId id="803" r:id="rId29"/>
    <p:sldId id="771" r:id="rId30"/>
    <p:sldId id="365" r:id="rId31"/>
    <p:sldId id="364" r:id="rId32"/>
    <p:sldId id="367" r:id="rId33"/>
    <p:sldId id="366" r:id="rId34"/>
    <p:sldId id="368" r:id="rId35"/>
    <p:sldId id="804" r:id="rId36"/>
    <p:sldId id="772" r:id="rId37"/>
    <p:sldId id="805" r:id="rId38"/>
    <p:sldId id="774" r:id="rId39"/>
    <p:sldId id="775" r:id="rId40"/>
    <p:sldId id="810" r:id="rId41"/>
    <p:sldId id="776" r:id="rId42"/>
    <p:sldId id="773" r:id="rId43"/>
    <p:sldId id="806" r:id="rId44"/>
    <p:sldId id="808" r:id="rId45"/>
    <p:sldId id="807" r:id="rId46"/>
    <p:sldId id="737" r:id="rId47"/>
    <p:sldId id="739" r:id="rId48"/>
    <p:sldId id="740" r:id="rId49"/>
    <p:sldId id="778" r:id="rId50"/>
    <p:sldId id="809" r:id="rId51"/>
    <p:sldId id="779" r:id="rId52"/>
    <p:sldId id="780" r:id="rId53"/>
    <p:sldId id="781" r:id="rId54"/>
    <p:sldId id="782" r:id="rId55"/>
    <p:sldId id="783" r:id="rId56"/>
    <p:sldId id="784" r:id="rId57"/>
    <p:sldId id="818" r:id="rId58"/>
    <p:sldId id="811" r:id="rId59"/>
    <p:sldId id="787" r:id="rId60"/>
    <p:sldId id="788" r:id="rId61"/>
    <p:sldId id="812" r:id="rId62"/>
    <p:sldId id="814" r:id="rId63"/>
    <p:sldId id="815" r:id="rId64"/>
    <p:sldId id="794" r:id="rId65"/>
    <p:sldId id="817" r:id="rId66"/>
    <p:sldId id="816" r:id="rId67"/>
    <p:sldId id="813" r:id="rId68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89"/>
    <a:srgbClr val="FFC000"/>
    <a:srgbClr val="0000FF"/>
    <a:srgbClr val="1801BF"/>
    <a:srgbClr val="FE18F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>
        <p:scale>
          <a:sx n="80" d="100"/>
          <a:sy n="80" d="100"/>
        </p:scale>
        <p:origin x="23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U1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2.6</c:v>
              </c:pt>
              <c:pt idx="2">
                <c:v>3</c:v>
              </c:pt>
              <c:pt idx="3">
                <c:v>4</c:v>
              </c:pt>
              <c:pt idx="4">
                <c:v>4.3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559-4D48-A0F9-AF1646FB4780}"/>
            </c:ext>
          </c:extLst>
        </c:ser>
        <c:ser>
          <c:idx val="1"/>
          <c:order val="1"/>
          <c:tx>
            <c:v>U2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3.2</c:v>
              </c:pt>
              <c:pt idx="2">
                <c:v>4</c:v>
              </c:pt>
              <c:pt idx="3">
                <c:v>4.2</c:v>
              </c:pt>
              <c:pt idx="4">
                <c:v>5.0999999999999996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559-4D48-A0F9-AF1646FB4780}"/>
            </c:ext>
          </c:extLst>
        </c:ser>
        <c:ser>
          <c:idx val="2"/>
          <c:order val="2"/>
          <c:tx>
            <c:v>U3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1.5</c:v>
              </c:pt>
              <c:pt idx="1">
                <c:v>2.4</c:v>
              </c:pt>
              <c:pt idx="2">
                <c:v>2.8</c:v>
              </c:pt>
              <c:pt idx="3">
                <c:v>3.1</c:v>
              </c:pt>
              <c:pt idx="4">
                <c:v>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8559-4D48-A0F9-AF1646FB4780}"/>
            </c:ext>
          </c:extLst>
        </c:ser>
        <c:ser>
          <c:idx val="3"/>
          <c:order val="3"/>
          <c:tx>
            <c:v>U4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4.3</c:v>
              </c:pt>
              <c:pt idx="2">
                <c:v>5.2</c:v>
              </c:pt>
              <c:pt idx="3">
                <c:v>5.5</c:v>
              </c:pt>
              <c:pt idx="4">
                <c:v>6.4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8559-4D48-A0F9-AF1646FB4780}"/>
            </c:ext>
          </c:extLst>
        </c:ser>
        <c:ser>
          <c:idx val="4"/>
          <c:order val="4"/>
          <c:tx>
            <c:v>U5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2.8</c:v>
              </c:pt>
              <c:pt idx="1">
                <c:v>3.6</c:v>
              </c:pt>
              <c:pt idx="2">
                <c:v>3.9</c:v>
              </c:pt>
              <c:pt idx="3">
                <c:v>4.9000000000000004</c:v>
              </c:pt>
              <c:pt idx="4">
                <c:v>5.3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8559-4D48-A0F9-AF1646FB4780}"/>
            </c:ext>
          </c:extLst>
        </c:ser>
        <c:ser>
          <c:idx val="5"/>
          <c:order val="5"/>
          <c:tx>
            <c:v>U6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3.5</c:v>
              </c:pt>
              <c:pt idx="1">
                <c:v>3.7</c:v>
              </c:pt>
              <c:pt idx="2">
                <c:v>4.5999999999999996</c:v>
              </c:pt>
              <c:pt idx="3">
                <c:v>5.4</c:v>
              </c:pt>
              <c:pt idx="4">
                <c:v>5.8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8559-4D48-A0F9-AF1646FB4780}"/>
            </c:ext>
          </c:extLst>
        </c:ser>
        <c:ser>
          <c:idx val="6"/>
          <c:order val="6"/>
          <c:tx>
            <c:v>U7</c:v>
          </c:tx>
          <c:marker>
            <c:symbol val="circle"/>
            <c:size val="6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1.8</c:v>
              </c:pt>
              <c:pt idx="1">
                <c:v>2.9</c:v>
              </c:pt>
              <c:pt idx="2">
                <c:v>3.3</c:v>
              </c:pt>
              <c:pt idx="3">
                <c:v>3.8</c:v>
              </c:pt>
              <c:pt idx="4">
                <c:v>4.5999999999999996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6-8559-4D48-A0F9-AF1646FB4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9CF176CD-15D1-4787-BBAA-B7F61FF9E394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204755F2-1724-4A9A-9963-AF329A739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708A-C0E0-441B-50A7-328F9F3B0B3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A999FAA6-189D-576A-37AF-95DA453FE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93BD7043-4895-A86F-4BD5-B0D3E353A5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FE59A454-0969-A8DF-72C5-31A337F3E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4141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14AB-370E-56B8-8BA2-476BB10622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CE51E285-4598-5E04-C512-1DC289845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BAF35C26-25B6-EED2-DAFB-D617E3FA52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658F5A94-639A-C7D0-F678-F129B34E2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539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22A11-948E-89C2-BBAC-9C4D5411F67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7AB3A580-EF28-1455-0D74-B49B9FEF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A519FAEA-FEF4-E030-F820-DCDB76F02A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CB1E04FC-D016-7D2F-7E6B-EFD43CEFA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6634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0478-F0EC-BEB3-D0BF-28C5D27048F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ED61F8B4-4ED3-E53E-1756-70D86BC3E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424D46FC-0D04-6295-3534-C775993B31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0EF4171F-5B90-5ECD-EBF0-C57A9C27C5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9729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1DDD-E871-3DC5-7A6E-9423FF08214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F0981DD1-B9BF-003A-65B8-F38E27EAD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467C0CF6-8B89-75B3-EBC7-9691861E3C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28762824-D98B-84E2-176C-6CA433782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407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AA38-2915-1ACB-9DFE-403AF77674B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A22C70F8-FDE1-E3C1-357D-21382BAB7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EBD24FF6-E64D-6C74-3E8A-CB329CB16C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564EACDD-5A4C-8E5F-44C8-2BC38CFB7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09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A8F5-E68A-4115-9C25-E96C286CB035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02B-C763-46C3-A636-9DFD853B4605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E87C-49EE-449B-BBE1-C8D9F03709E3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F79F-283F-4921-8EFE-03DC0706D514}" type="datetime1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3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B75B-49C2-4C52-A9AA-29208F1CA2A2}" type="datetime1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B34-9D44-4B11-81FA-362E39680C1C}" type="datetime1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A9AC-502E-4271-B4D2-4510E701B0BB}" type="datetime1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0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C0ED-09ED-410F-BE71-C5A0E5CAF45C}" type="datetime1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426-D937-485B-A737-9052C677CC14}" type="datetime1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65654-1D4B-4B33-B8CE-F5581D9C13AC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2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557C-D1F8-4213-9381-806C9A51FC91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652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533" y="365126"/>
            <a:ext cx="11311467" cy="106574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A8F5-E68A-4115-9C25-E96C286CB035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683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/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02B-C763-46C3-A636-9DFD853B4605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85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E87C-49EE-449B-BBE1-C8D9F03709E3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669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/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F79F-283F-4921-8EFE-03DC0706D514}" type="datetime1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81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/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B75B-49C2-4C52-A9AA-29208F1CA2A2}" type="datetime1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15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/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B34-9D44-4B11-81FA-362E39680C1C}" type="datetime1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516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A9AC-502E-4271-B4D2-4510E701B0BB}" type="datetime1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795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C0ED-09ED-410F-BE71-C5A0E5CAF45C}" type="datetime1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929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426-D937-485B-A737-9052C677CC14}" type="datetime1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852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</p:spPr>
        <p:txBody>
          <a:bodyPr/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65654-1D4B-4B33-B8CE-F5581D9C13AC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2317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533" y="365126"/>
            <a:ext cx="11311467" cy="1065742"/>
          </a:xfrm>
        </p:spPr>
        <p:txBody>
          <a:bodyPr vert="eaVert"/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557C-D1F8-4213-9381-806C9A51FC91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54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9E2CA-F4BC-40A0-B78C-A9A7478F92E3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5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2533" y="365126"/>
            <a:ext cx="11311467" cy="1065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Click to edit Master title style</a:t>
            </a:r>
            <a:endParaRPr lang="en-GB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9E2CA-F4BC-40A0-B78C-A9A7478F92E3}" type="datetime1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23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image" Target="../media/image2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24.e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30.wmf"/><Relationship Id="rId7" Type="http://schemas.openxmlformats.org/officeDocument/2006/relationships/oleObject" Target="../embeddings/oleObject13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1.wmf"/><Relationship Id="rId9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30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wmf"/><Relationship Id="rId4" Type="http://schemas.openxmlformats.org/officeDocument/2006/relationships/oleObject" Target="../embeddings/oleObject3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34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36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36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72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74.w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4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wmf"/><Relationship Id="rId4" Type="http://schemas.openxmlformats.org/officeDocument/2006/relationships/oleObject" Target="../embeddings/oleObject46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48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Statistics</a:t>
            </a:r>
            <a:br>
              <a:rPr lang="en-US" dirty="0"/>
            </a:br>
            <a:r>
              <a:rPr lang="en-US" dirty="0"/>
              <a:t>367-1-4361</a:t>
            </a:r>
            <a:br>
              <a:rPr lang="en-US" dirty="0"/>
            </a:br>
            <a:r>
              <a:rPr lang="en-US" dirty="0"/>
              <a:t>Model Comparison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Opher Donchin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37087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2"/>
    </mc:Choice>
    <mc:Fallback xmlns="">
      <p:transition spd="slow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10.1 Overfitting and underfitting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A first criterion for choosing between models</a:t>
            </a:r>
            <a:endParaRPr sz="4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3975-7D36-C291-2872-7607C640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Often many models are possible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A187-3CAF-876C-9699-E6C1163A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predictors</a:t>
            </a:r>
          </a:p>
          <a:p>
            <a:pPr lvl="1"/>
            <a:r>
              <a:rPr lang="en-US" dirty="0"/>
              <a:t>Continuous and categorical</a:t>
            </a:r>
          </a:p>
          <a:p>
            <a:r>
              <a:rPr lang="en-US" dirty="0"/>
              <a:t>Interactions</a:t>
            </a:r>
          </a:p>
          <a:p>
            <a:r>
              <a:rPr lang="en-US" dirty="0"/>
              <a:t>Hierarchical structure</a:t>
            </a:r>
          </a:p>
          <a:p>
            <a:r>
              <a:rPr lang="en-US" dirty="0"/>
              <a:t>Heteroscedasticity</a:t>
            </a:r>
          </a:p>
          <a:p>
            <a:r>
              <a:rPr lang="en-US" dirty="0"/>
              <a:t>Transformations</a:t>
            </a:r>
          </a:p>
          <a:p>
            <a:r>
              <a:rPr lang="en-US" dirty="0"/>
              <a:t>Likelihood choices</a:t>
            </a:r>
          </a:p>
          <a:p>
            <a:pPr lvl="1"/>
            <a:r>
              <a:rPr lang="en-US" dirty="0"/>
              <a:t>Robust likelihoods</a:t>
            </a:r>
          </a:p>
          <a:p>
            <a:pPr lvl="1"/>
            <a:r>
              <a:rPr lang="en-US" dirty="0"/>
              <a:t>Bounded likelihoods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D1206-30BE-453E-F305-406483F4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2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87AE-4511-F841-6C8E-8A6D5DBC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 we have only one type of comparison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5F28-D9A0-B001-3FEA-8B100A3BD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 hypothesis testing</a:t>
            </a:r>
          </a:p>
          <a:p>
            <a:pPr lvl="1"/>
            <a:r>
              <a:rPr lang="en-US" dirty="0"/>
              <a:t>Reject specific models</a:t>
            </a:r>
          </a:p>
          <a:p>
            <a:pPr lvl="2"/>
            <a:r>
              <a:rPr lang="en-US" dirty="0"/>
              <a:t>Because they are not probable a posteriori</a:t>
            </a:r>
          </a:p>
          <a:p>
            <a:pPr lvl="2"/>
            <a:r>
              <a:rPr lang="en-US" dirty="0"/>
              <a:t>Because they are not likely to produce our data</a:t>
            </a:r>
          </a:p>
          <a:p>
            <a:pPr lvl="1"/>
            <a:r>
              <a:rPr lang="en-US" dirty="0"/>
              <a:t>Or accept a null model</a:t>
            </a:r>
          </a:p>
          <a:p>
            <a:pPr lvl="2"/>
            <a:r>
              <a:rPr lang="en-US" dirty="0"/>
              <a:t>If HDI is in ROPE</a:t>
            </a:r>
          </a:p>
          <a:p>
            <a:pPr lvl="2"/>
            <a:endParaRPr lang="en-US" dirty="0"/>
          </a:p>
          <a:p>
            <a:r>
              <a:rPr lang="en-US" dirty="0"/>
              <a:t>We want to compare models</a:t>
            </a:r>
          </a:p>
          <a:p>
            <a:pPr lvl="1"/>
            <a:r>
              <a:rPr lang="en-US" dirty="0"/>
              <a:t>Not just reject or accept them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55509-A492-3B61-913D-0B53E7A7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3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969A19-3DFD-B1F0-FEE4-8E693C7BC9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measures the amount of fit</a:t>
                </a:r>
                <a:endParaRPr lang="en-IL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969A19-3DFD-B1F0-FEE4-8E693C7BC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A473-C6D0-A6CB-4D5A-60DA4E9FF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5983"/>
          </a:xfrm>
        </p:spPr>
        <p:txBody>
          <a:bodyPr/>
          <a:lstStyle/>
          <a:p>
            <a:r>
              <a:rPr lang="en-US" dirty="0"/>
              <a:t>How much of the total variance is explained by the model</a:t>
            </a:r>
          </a:p>
          <a:p>
            <a:pPr lvl="1"/>
            <a:r>
              <a:rPr lang="en-US" dirty="0"/>
              <a:t>Often called ‘goodness of fit’</a:t>
            </a:r>
          </a:p>
          <a:p>
            <a:r>
              <a:rPr lang="en-US" dirty="0"/>
              <a:t>Always goes up with the number of parameters</a:t>
            </a:r>
          </a:p>
          <a:p>
            <a:pPr lvl="1"/>
            <a:r>
              <a:rPr lang="en-US" dirty="0"/>
              <a:t>Is the model with the highest ‘goodness of fit’ the best model?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FD6AA-B19D-AB2A-D51C-084946BB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33EBA29-6872-22D5-7578-1BB48DF61D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521111"/>
              </p:ext>
            </p:extLst>
          </p:nvPr>
        </p:nvGraphicFramePr>
        <p:xfrm>
          <a:off x="7223760" y="4633009"/>
          <a:ext cx="1808988" cy="12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969" imgH="966183" progId="Equation.DSMT4">
                  <p:embed/>
                </p:oleObj>
              </mc:Choice>
              <mc:Fallback>
                <p:oleObj name="Equation" r:id="rId3" imgW="1447969" imgH="9661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23760" y="4633009"/>
                        <a:ext cx="1808988" cy="12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467FA4D-8F9B-8B71-858B-27305BBDB4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939894"/>
              </p:ext>
            </p:extLst>
          </p:nvPr>
        </p:nvGraphicFramePr>
        <p:xfrm>
          <a:off x="3055049" y="4808728"/>
          <a:ext cx="27701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70717" imgH="1114355" progId="Equation.DSMT4">
                  <p:embed/>
                </p:oleObj>
              </mc:Choice>
              <mc:Fallback>
                <p:oleObj name="Equation" r:id="rId5" imgW="2770717" imgH="11143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5049" y="4808728"/>
                        <a:ext cx="2770187" cy="111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105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833A-A9A2-99D0-40FD-4AFE6D91F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895"/>
          </a:xfrm>
        </p:spPr>
        <p:txBody>
          <a:bodyPr/>
          <a:lstStyle/>
          <a:p>
            <a:r>
              <a:rPr lang="en-US" dirty="0"/>
              <a:t>Occam’s razor is about useful simplicity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E594-3ABB-F879-1353-104420C3C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30"/>
            <a:ext cx="10515600" cy="2642507"/>
          </a:xfrm>
        </p:spPr>
        <p:txBody>
          <a:bodyPr/>
          <a:lstStyle/>
          <a:p>
            <a:r>
              <a:rPr lang="en-US" dirty="0"/>
              <a:t>A model with more parameter can fit more complex data</a:t>
            </a:r>
          </a:p>
          <a:p>
            <a:pPr lvl="1"/>
            <a:r>
              <a:rPr lang="en-US" dirty="0"/>
              <a:t>Maybe fits real structure in the world</a:t>
            </a:r>
          </a:p>
          <a:p>
            <a:pPr lvl="1"/>
            <a:r>
              <a:rPr lang="en-US" dirty="0"/>
              <a:t>Maybe a model is just fitting noise</a:t>
            </a:r>
          </a:p>
          <a:p>
            <a:r>
              <a:rPr lang="en-US" dirty="0"/>
              <a:t>When two models have the same fit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Prefer the simple 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45E16-C23F-1007-B386-5BE01614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B47CB3-E092-4F99-54DF-A3EC40986DA3}"/>
              </a:ext>
            </a:extLst>
          </p:cNvPr>
          <p:cNvSpPr txBox="1">
            <a:spLocks/>
          </p:cNvSpPr>
          <p:nvPr/>
        </p:nvSpPr>
        <p:spPr>
          <a:xfrm>
            <a:off x="838200" y="3956183"/>
            <a:ext cx="10515600" cy="707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Chatton’s</a:t>
            </a:r>
            <a:r>
              <a:rPr lang="en-US" dirty="0"/>
              <a:t> anti-razor</a:t>
            </a:r>
            <a:endParaRPr lang="en-I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8BB9CF-94DF-A04A-FDF9-5E1A2888A24A}"/>
              </a:ext>
            </a:extLst>
          </p:cNvPr>
          <p:cNvSpPr txBox="1">
            <a:spLocks/>
          </p:cNvSpPr>
          <p:nvPr/>
        </p:nvSpPr>
        <p:spPr>
          <a:xfrm>
            <a:off x="838200" y="4708788"/>
            <a:ext cx="10515600" cy="141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Contemporary disputant of William of Ockham</a:t>
            </a:r>
          </a:p>
          <a:p>
            <a:r>
              <a:rPr lang="en-US" dirty="0"/>
              <a:t>If three assumptions are not enough to explain the phenomena</a:t>
            </a:r>
          </a:p>
          <a:p>
            <a:pPr lvl="1"/>
            <a:r>
              <a:rPr lang="en-US" dirty="0"/>
              <a:t>A fourth will be necessary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3305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984F-6720-DCA6-93DA-50386DAC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 to model some data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D95D-F34D-03DC-9E59-2F393686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CDE8D-9DCF-C25A-000E-095C3297DB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418" y="2027721"/>
            <a:ext cx="10868506" cy="369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9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1894-79A5-A639-FE3E-8DDED553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70B3-2ADF-E6ED-BFA2-5EEE93D0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model that underfits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D4DB3-F584-4C91-CD8C-EA11E00B6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3417" y="1435609"/>
                <a:ext cx="10515600" cy="84124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0</a:t>
                </a:r>
                <a:r>
                  <a:rPr lang="en-US" baseline="30000" dirty="0"/>
                  <a:t>th</a:t>
                </a:r>
                <a:r>
                  <a:rPr lang="en-US" dirty="0"/>
                  <a:t> order model is one where the highest 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Like a 0</a:t>
                </a:r>
                <a:r>
                  <a:rPr lang="en-US" baseline="30000" dirty="0"/>
                  <a:t>th</a:t>
                </a:r>
                <a:r>
                  <a:rPr lang="en-US" dirty="0"/>
                  <a:t> order polynomial</a:t>
                </a: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D4DB3-F584-4C91-CD8C-EA11E00B6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3417" y="1435609"/>
                <a:ext cx="10515600" cy="841248"/>
              </a:xfrm>
              <a:blipFill>
                <a:blip r:embed="rId2"/>
                <a:stretch>
                  <a:fillRect l="-1043" t="-16667" b="-101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C08A4-E9A6-2FD2-8724-6211C238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BACEA-AAD8-C685-1459-5FC24AC3929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418" y="2364753"/>
            <a:ext cx="10868506" cy="369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2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8694-2EC5-196B-5FE2-A257F8DF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C35C-4A3F-F1DC-DE4B-9198A72A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that overfits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CCA0CC-5753-8F9F-BFCF-C59564B7EC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721"/>
                <a:ext cx="10515600" cy="82613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5</a:t>
                </a:r>
                <a:r>
                  <a:rPr lang="en-US" baseline="30000" dirty="0"/>
                  <a:t>th</a:t>
                </a:r>
                <a:r>
                  <a:rPr lang="en-US" dirty="0"/>
                  <a:t> order model is one where the highest 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Like a 5</a:t>
                </a:r>
                <a:r>
                  <a:rPr lang="en-US" baseline="30000" dirty="0"/>
                  <a:t>th</a:t>
                </a:r>
                <a:r>
                  <a:rPr lang="en-US" dirty="0"/>
                  <a:t> order polynomial</a:t>
                </a: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CCA0CC-5753-8F9F-BFCF-C59564B7EC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721"/>
                <a:ext cx="10515600" cy="826135"/>
              </a:xfrm>
              <a:blipFill>
                <a:blip r:embed="rId2"/>
                <a:stretch>
                  <a:fillRect l="-1043" t="-16912" b="-1323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8C96-C808-950D-9C31-4070F0B6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4FD3A-C2E9-1424-5D90-91A46FDB091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356905"/>
            <a:ext cx="10868506" cy="36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8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277F-6275-ACD9-7CCB-7CE13492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959B-1CFD-E9D9-93FD-C3EF5428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1439144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We want a model that balances overfitting and underfitting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C7FE-02A6-093A-1487-9AEBC31E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DA27D-3F4F-CC1C-4CFF-4FE03864CD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419" y="2027721"/>
            <a:ext cx="10868503" cy="36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0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85C565FA-E7F7-B07E-6D9A-F8812DDAB8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increases with the number of parameters</a:t>
                </a:r>
                <a:endParaRPr lang="en-IL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85C565FA-E7F7-B07E-6D9A-F8812DDAB8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0D8B4-FF71-EF2B-2C0C-E329E837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D8663-5919-D5C4-269A-5D73A66388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878" y="2138175"/>
            <a:ext cx="11100318" cy="377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9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376F-668E-45CA-956C-5AE7C1F8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well should a model fit?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571C-27B5-BE74-7132-9F1510953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that is too simple is like a prior that is too strong</a:t>
            </a:r>
          </a:p>
          <a:p>
            <a:pPr lvl="1"/>
            <a:r>
              <a:rPr lang="en-US" dirty="0"/>
              <a:t>Choice of model determines results</a:t>
            </a:r>
          </a:p>
          <a:p>
            <a:pPr lvl="1"/>
            <a:r>
              <a:rPr lang="en-US" dirty="0"/>
              <a:t>The data doesn’t speak</a:t>
            </a:r>
          </a:p>
          <a:p>
            <a:r>
              <a:rPr lang="en-US" dirty="0"/>
              <a:t>A model that is too complex is like a prior that is too weak</a:t>
            </a:r>
          </a:p>
          <a:p>
            <a:pPr lvl="1"/>
            <a:r>
              <a:rPr lang="en-US" dirty="0"/>
              <a:t>Noise in the data overwhelms structure</a:t>
            </a:r>
          </a:p>
          <a:p>
            <a:pPr lvl="1"/>
            <a:endParaRPr lang="en-US" dirty="0"/>
          </a:p>
          <a:p>
            <a:r>
              <a:rPr lang="en-US" dirty="0"/>
              <a:t>Model choice is just as important as prior choice</a:t>
            </a:r>
          </a:p>
          <a:p>
            <a:pPr lvl="1"/>
            <a:r>
              <a:rPr lang="en-US" dirty="0"/>
              <a:t>Like prior choice, it can be done right</a:t>
            </a:r>
          </a:p>
          <a:p>
            <a:pPr lvl="1"/>
            <a:endParaRPr lang="he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EA3DF0-749C-CE88-27E3-9A1E099E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64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896C-0B05-9A44-20BE-977A18D40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4008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Leaving out one data point</a:t>
            </a:r>
            <a:endParaRPr lang="he-IL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9B4B8-E5EF-C83A-5BAF-39D61384C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771"/>
            <a:ext cx="5040086" cy="4631192"/>
          </a:xfrm>
        </p:spPr>
        <p:txBody>
          <a:bodyPr>
            <a:normAutofit/>
          </a:bodyPr>
          <a:lstStyle/>
          <a:p>
            <a:r>
              <a:rPr lang="en-US" dirty="0"/>
              <a:t>Overfit model </a:t>
            </a:r>
          </a:p>
          <a:p>
            <a:pPr lvl="1"/>
            <a:r>
              <a:rPr lang="en-US" sz="2000" dirty="0"/>
              <a:t>Overly sensitive to data details</a:t>
            </a:r>
          </a:p>
          <a:p>
            <a:r>
              <a:rPr lang="en-US" dirty="0"/>
              <a:t>Underfit model</a:t>
            </a:r>
          </a:p>
          <a:p>
            <a:pPr lvl="1"/>
            <a:r>
              <a:rPr lang="en-US" sz="2000" dirty="0"/>
              <a:t>Ignores important details</a:t>
            </a:r>
          </a:p>
          <a:p>
            <a:pPr lvl="1"/>
            <a:endParaRPr lang="en-US" sz="2000" dirty="0"/>
          </a:p>
          <a:p>
            <a:r>
              <a:rPr lang="en-US" sz="2400" dirty="0"/>
              <a:t>In real model comparison</a:t>
            </a:r>
          </a:p>
          <a:p>
            <a:pPr lvl="1"/>
            <a:r>
              <a:rPr lang="en-US" sz="2000" dirty="0"/>
              <a:t>This is a key method</a:t>
            </a:r>
            <a:endParaRPr lang="he-I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65B5-F7DB-B713-E4EB-541135A5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49416-BFDA-A092-1647-07E58A9ECC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56903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8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D21CE-E464-0306-A30B-2FF3E3B076F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69280123-9374-E2A2-5793-5D489510A6B6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10.2 What makes a good model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222C6BCE-523A-1B66-E7FA-39E03C39CD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dirty="0"/>
              <a:t>Different scientific goals imply different comparison tools</a:t>
            </a:r>
          </a:p>
        </p:txBody>
      </p:sp>
    </p:spTree>
    <p:extLst>
      <p:ext uri="{BB962C8B-B14F-4D97-AF65-F5344CB8AC3E}">
        <p14:creationId xmlns:p14="http://schemas.microsoft.com/office/powerpoint/2010/main" val="913231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D71730-EF91-C0F5-4B70-E165F0E1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623" y="365125"/>
            <a:ext cx="5173662" cy="646332"/>
          </a:xfrm>
        </p:spPr>
        <p:txBody>
          <a:bodyPr>
            <a:normAutofit fontScale="90000"/>
          </a:bodyPr>
          <a:lstStyle/>
          <a:p>
            <a:r>
              <a:rPr lang="en-US" dirty="0"/>
              <a:t>All models are wrong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CAB14-ACD6-AD14-E7D7-7B380C947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05EAB-7C6E-3EA7-0CE4-B6867D815435}"/>
              </a:ext>
            </a:extLst>
          </p:cNvPr>
          <p:cNvSpPr txBox="1"/>
          <p:nvPr/>
        </p:nvSpPr>
        <p:spPr>
          <a:xfrm>
            <a:off x="457200" y="1280160"/>
            <a:ext cx="8229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A perfect model would be as complex as reality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Useful models simplify reality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The question is not whether a model is true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The question is whether it is useful for the goal</a:t>
            </a:r>
          </a:p>
        </p:txBody>
      </p:sp>
      <p:sp>
        <p:nvSpPr>
          <p:cNvPr id="60" name="Box quote"/>
          <p:cNvSpPr txBox="1"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109728" tIns="54864" rIns="109728" bIns="54864" anchor="ctr"/>
          <a:lstStyle/>
          <a:p>
            <a:r>
              <a:rPr lang="en-US" sz="2000" i="1" dirty="0"/>
              <a:t>“All models are wrong, but some are useful.”</a:t>
            </a:r>
          </a:p>
        </p:txBody>
      </p:sp>
    </p:spTree>
    <p:extLst>
      <p:ext uri="{BB962C8B-B14F-4D97-AF65-F5344CB8AC3E}">
        <p14:creationId xmlns:p14="http://schemas.microsoft.com/office/powerpoint/2010/main" val="202918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60FF-CA0F-D8AD-ABA7-C4B1A707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models are useful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0F0B-55CE-92F0-A33B-1BE428BBA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983"/>
            <a:ext cx="6047792" cy="4351338"/>
          </a:xfrm>
        </p:spPr>
        <p:txBody>
          <a:bodyPr/>
          <a:lstStyle/>
          <a:p>
            <a:r>
              <a:rPr lang="en-US" dirty="0"/>
              <a:t>So what can they be useful for?</a:t>
            </a:r>
          </a:p>
          <a:p>
            <a:pPr lvl="1"/>
            <a:r>
              <a:rPr lang="en-US" dirty="0"/>
              <a:t>Hypothesis testing</a:t>
            </a:r>
          </a:p>
          <a:p>
            <a:pPr lvl="1"/>
            <a:r>
              <a:rPr lang="en-US" dirty="0"/>
              <a:t>Prediction</a:t>
            </a:r>
          </a:p>
          <a:p>
            <a:pPr lvl="1"/>
            <a:r>
              <a:rPr lang="en-US" dirty="0"/>
              <a:t>Theory building</a:t>
            </a:r>
          </a:p>
          <a:p>
            <a:r>
              <a:rPr lang="en-US" dirty="0"/>
              <a:t>Different uses, different goals</a:t>
            </a:r>
          </a:p>
          <a:p>
            <a:pPr lv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20B6-1CD9-14FD-B362-72E24A60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16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135AD5-F2C7-92CC-E4A5-D9DCAA9CB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05666" y="672679"/>
            <a:ext cx="3675094" cy="551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40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3101-2F67-C3D8-5E63-9D1B1C152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69498" cy="1325563"/>
          </a:xfrm>
        </p:spPr>
        <p:txBody>
          <a:bodyPr/>
          <a:lstStyle/>
          <a:p>
            <a:r>
              <a:rPr lang="en-US" dirty="0"/>
              <a:t>Theory building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BEA2-3917-0D50-F4C2-40C8284C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865"/>
            <a:ext cx="7661988" cy="45720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Models underlie our understanding</a:t>
            </a:r>
          </a:p>
          <a:p>
            <a:pPr lvl="1"/>
            <a:r>
              <a:rPr lang="en-US" dirty="0"/>
              <a:t>Especially scientific understanding</a:t>
            </a:r>
          </a:p>
          <a:p>
            <a:r>
              <a:rPr lang="en-US" dirty="0"/>
              <a:t>Reflect important truths about reality</a:t>
            </a:r>
          </a:p>
          <a:p>
            <a:r>
              <a:rPr lang="en-US" dirty="0"/>
              <a:t>Better models reflect important parts</a:t>
            </a:r>
          </a:p>
          <a:p>
            <a:pPr lvl="1"/>
            <a:r>
              <a:rPr lang="en-US" dirty="0"/>
              <a:t>More faithfully</a:t>
            </a:r>
          </a:p>
          <a:p>
            <a:endParaRPr lang="en-US" dirty="0"/>
          </a:p>
          <a:p>
            <a:r>
              <a:rPr lang="en-US" dirty="0"/>
              <a:t>A good model must be:</a:t>
            </a:r>
          </a:p>
          <a:p>
            <a:pPr lvl="1"/>
            <a:r>
              <a:rPr lang="en-US" dirty="0"/>
              <a:t>Interpretable</a:t>
            </a:r>
          </a:p>
          <a:p>
            <a:pPr lvl="1"/>
            <a:r>
              <a:rPr lang="en-US" dirty="0"/>
              <a:t>Meaningful</a:t>
            </a:r>
          </a:p>
          <a:p>
            <a:pPr lvl="1"/>
            <a:r>
              <a:rPr lang="en-US" dirty="0"/>
              <a:t>Generalizable</a:t>
            </a:r>
          </a:p>
          <a:p>
            <a:r>
              <a:rPr lang="en-US" b="1" dirty="0"/>
              <a:t>Science is: accepting good enough models</a:t>
            </a:r>
          </a:p>
          <a:p>
            <a:pPr lv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60615-7B64-18C2-5BF4-7BED130F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601D7-858D-F010-BC42-B01BF71437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0189" y="556338"/>
            <a:ext cx="3392456" cy="508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4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21ACC-134A-E9A2-6257-39701675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A00B5-9B25-DFE0-D424-3DF29828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1F61-EBDD-CA65-F5E4-E2835FFD5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8939"/>
            <a:ext cx="10515600" cy="25380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Karl Popper </a:t>
            </a:r>
            <a:r>
              <a:rPr lang="en-US" i="1" dirty="0"/>
              <a:t>The Logic of Scientific Discovery</a:t>
            </a:r>
            <a:r>
              <a:rPr lang="en-US" dirty="0"/>
              <a:t> 1934</a:t>
            </a:r>
          </a:p>
          <a:p>
            <a:pPr lvl="1"/>
            <a:r>
              <a:rPr lang="en-US" dirty="0"/>
              <a:t>Scientific theories can’t be proven, but only falsified</a:t>
            </a:r>
          </a:p>
          <a:p>
            <a:r>
              <a:rPr lang="en-US" dirty="0"/>
              <a:t>Practically this lead to:</a:t>
            </a:r>
          </a:p>
          <a:p>
            <a:pPr lvl="1"/>
            <a:r>
              <a:rPr lang="en-US" dirty="0"/>
              <a:t>Progress through falsifying simplistic theories</a:t>
            </a:r>
          </a:p>
          <a:p>
            <a:pPr lvl="1"/>
            <a:r>
              <a:rPr lang="en-US" dirty="0"/>
              <a:t>Statistical tests to reject simple theories</a:t>
            </a:r>
          </a:p>
          <a:p>
            <a:pPr lvl="2"/>
            <a:r>
              <a:rPr lang="en-US" dirty="0"/>
              <a:t>No different / no effect / no influence</a:t>
            </a:r>
          </a:p>
          <a:p>
            <a:r>
              <a:rPr lang="en-US" sz="3000" b="1" dirty="0"/>
              <a:t>Science is: rejecting bad models</a:t>
            </a:r>
          </a:p>
          <a:p>
            <a:pPr lv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E450F-9184-9BFC-7BAE-8A4876CD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18</a:t>
            </a:fld>
            <a:endParaRPr lang="en-GB"/>
          </a:p>
        </p:txBody>
      </p:sp>
      <p:pic>
        <p:nvPicPr>
          <p:cNvPr id="2050" name="Picture 2" descr="Karl Popper “The game of science is, in principle, without end ...">
            <a:extLst>
              <a:ext uri="{FF2B5EF4-FFF2-40B4-BE49-F238E27FC236}">
                <a16:creationId xmlns:a16="http://schemas.microsoft.com/office/drawing/2014/main" id="{F666ADBB-46E5-6463-9230-3884878F1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665" y="297284"/>
            <a:ext cx="5588192" cy="313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15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C0E4-9BA7-C880-3AE9-E059633E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6764-BD24-AC0D-A013-D547032C4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4871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Up until the 1970s</a:t>
            </a:r>
          </a:p>
          <a:p>
            <a:pPr lvl="1"/>
            <a:r>
              <a:rPr lang="en-US" dirty="0"/>
              <a:t>Focus on finding ‘true’ parameter values</a:t>
            </a:r>
          </a:p>
          <a:p>
            <a:pPr lvl="1"/>
            <a:r>
              <a:rPr lang="en-US" dirty="0"/>
              <a:t>Focus on hypothesis testing</a:t>
            </a:r>
          </a:p>
          <a:p>
            <a:r>
              <a:rPr lang="en-US" dirty="0"/>
              <a:t>1970s: The link through information theory</a:t>
            </a:r>
          </a:p>
          <a:p>
            <a:pPr lvl="1"/>
            <a:r>
              <a:rPr lang="en-US" dirty="0"/>
              <a:t>Find the model ‘closest’ to the true model</a:t>
            </a:r>
          </a:p>
          <a:p>
            <a:pPr lvl="1"/>
            <a:r>
              <a:rPr lang="en-US" dirty="0"/>
              <a:t>Notice connection to predictive accuracy</a:t>
            </a:r>
          </a:p>
          <a:p>
            <a:r>
              <a:rPr lang="en-US" dirty="0"/>
              <a:t>1980s: The prediction revolution</a:t>
            </a:r>
          </a:p>
          <a:p>
            <a:pPr lvl="1"/>
            <a:r>
              <a:rPr lang="en-US" dirty="0"/>
              <a:t>Mervyn Stone 1983</a:t>
            </a:r>
          </a:p>
          <a:p>
            <a:pPr lvl="1"/>
            <a:r>
              <a:rPr lang="en-US" dirty="0"/>
              <a:t>A.P. Dawid 1984</a:t>
            </a:r>
          </a:p>
          <a:p>
            <a:pPr lvl="1"/>
            <a:r>
              <a:rPr lang="en-US" dirty="0"/>
              <a:t>Under the best model, future data is likely</a:t>
            </a:r>
          </a:p>
          <a:p>
            <a:r>
              <a:rPr lang="en-US" sz="3200" b="1" dirty="0"/>
              <a:t>Science is: comparing candidate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07AAD-16FF-F518-1190-0A0212E4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66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C07E-7C00-8F09-7AE0-9189E2CC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 depends on the goal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510EC-6A9E-3369-EC68-ED6F428C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B2CFF8-585F-4AA8-B247-917769143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243602"/>
              </p:ext>
            </p:extLst>
          </p:nvPr>
        </p:nvGraphicFramePr>
        <p:xfrm>
          <a:off x="838200" y="2032000"/>
          <a:ext cx="10515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426507927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35348176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114284974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L" sz="16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 b="1">
                          <a:solidFill>
                            <a:srgbClr val="FFFFFF"/>
                          </a:solidFill>
                        </a:rPr>
                        <a:t>Good model means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 b="1">
                          <a:solidFill>
                            <a:srgbClr val="FFFFFF"/>
                          </a:solidFill>
                        </a:rPr>
                        <a:t>Tools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0086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L" sz="1600" b="1"/>
                        <a:t>Theory building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Interpretable and meaningful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posterior contrasts, effect sizes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193326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L" sz="1600" b="1"/>
                        <a:t>Hypothesis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Rules out a simple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ROPE/HDI, Bayes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42938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L" sz="1600" b="1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Predicts new data well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Tools of model comparison we will learn today</a:t>
                      </a:r>
                      <a:endParaRPr lang="en-IL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8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7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503F5-BD5F-D8D5-00DD-CFF2AD51464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E2A5D34A-3A17-1F88-150A-58A7D2D9EDEE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10.3 </a:t>
            </a:r>
            <a:r>
              <a:rPr lang="en-US" dirty="0" err="1">
                <a:latin typeface="Source Sans Pro"/>
                <a:ea typeface="Source Sans Pro"/>
              </a:rPr>
              <a:t>Kullback</a:t>
            </a:r>
            <a:r>
              <a:rPr lang="en-US" dirty="0">
                <a:latin typeface="Source Sans Pro"/>
                <a:ea typeface="Source Sans Pro"/>
              </a:rPr>
              <a:t>-Liebler Divergence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E100EC67-A33C-1F57-2B10-9958F80B6D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dirty="0"/>
              <a:t>Models that are closer to being the true model predict better</a:t>
            </a:r>
          </a:p>
        </p:txBody>
      </p:sp>
    </p:spTree>
    <p:extLst>
      <p:ext uri="{BB962C8B-B14F-4D97-AF65-F5344CB8AC3E}">
        <p14:creationId xmlns:p14="http://schemas.microsoft.com/office/powerpoint/2010/main" val="2383726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CFC9E7-8404-04BA-ACB3-C60CC4820A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6393" y="2578608"/>
            <a:ext cx="5039460" cy="334431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AC410B-78C5-1B47-D0FC-F21DFA28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not have the true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BBA75-AF4F-2BAB-91FE-6F4837C00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Hypothesis testing assumes one model might be true</a:t>
            </a:r>
          </a:p>
          <a:p>
            <a:pPr lvl="1"/>
            <a:r>
              <a:rPr lang="en-US" dirty="0"/>
              <a:t>Either the null model is true or an alternative</a:t>
            </a:r>
          </a:p>
          <a:p>
            <a:r>
              <a:rPr lang="en-US" dirty="0"/>
              <a:t>But we know that all models are false</a:t>
            </a:r>
          </a:p>
          <a:p>
            <a:pPr lvl="1"/>
            <a:r>
              <a:rPr lang="en-US" dirty="0"/>
              <a:t>Maybe the best model is the one closest to the truth</a:t>
            </a:r>
          </a:p>
          <a:p>
            <a:pPr lv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055A0-DD7A-72F2-A97C-6AABD470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580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5B94-FAAE-A585-3265-594B28E0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99C42-2875-E1CB-E473-76F16AFFEB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2540" y="2212848"/>
            <a:ext cx="5039460" cy="33443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B007CC-9DFE-0747-B29B-A092321654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1289" y="2212848"/>
            <a:ext cx="4733286" cy="332053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433C819-BB46-3313-E741-292D223B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distance measure might help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F3D27-885E-56F3-E016-863A8FC07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68381" cy="4351338"/>
          </a:xfrm>
        </p:spPr>
        <p:txBody>
          <a:bodyPr/>
          <a:lstStyle/>
          <a:p>
            <a:r>
              <a:rPr lang="en-US" dirty="0"/>
              <a:t>A distance measure might</a:t>
            </a:r>
          </a:p>
          <a:p>
            <a:pPr lvl="1"/>
            <a:r>
              <a:rPr lang="en-US" dirty="0"/>
              <a:t>Give the distance from the true model</a:t>
            </a:r>
          </a:p>
          <a:p>
            <a:pPr lvl="1"/>
            <a:r>
              <a:rPr lang="en-US" dirty="0"/>
              <a:t>Allow comparison between models</a:t>
            </a:r>
          </a:p>
          <a:p>
            <a:r>
              <a:rPr lang="en-US" dirty="0"/>
              <a:t>Can we measure distance from the true model?</a:t>
            </a:r>
          </a:p>
          <a:p>
            <a:pPr lvl="1"/>
            <a:r>
              <a:rPr lang="en-US" dirty="0"/>
              <a:t>By using new data</a:t>
            </a:r>
          </a:p>
          <a:p>
            <a:pPr lvl="2"/>
            <a:r>
              <a:rPr lang="en-US" dirty="0"/>
              <a:t>New data comes from the true model</a:t>
            </a:r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18D60-BC86-F73F-5428-A44AD3EB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38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29C6-E0CF-76BD-A08A-3B149FA8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0F49-71F4-6223-B3FF-D13C6DF0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measure of distance between models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3D1F-FD37-B3E4-E8B0-554BEFB9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986"/>
            <a:ext cx="10515600" cy="12276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Kullback-Leibler</a:t>
            </a:r>
            <a:r>
              <a:rPr lang="en-US" dirty="0"/>
              <a:t> divergence</a:t>
            </a:r>
          </a:p>
          <a:p>
            <a:pPr lvl="1"/>
            <a:r>
              <a:rPr lang="en-US" dirty="0"/>
              <a:t>The added “entropy” from using the wrong distribution</a:t>
            </a:r>
          </a:p>
          <a:p>
            <a:pPr lvl="1"/>
            <a:r>
              <a:rPr lang="en-US" dirty="0"/>
              <a:t>The cross entropy minus the entropy</a:t>
            </a:r>
            <a:endParaRPr lang="en-IL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E10AA34-31DE-03A9-4467-BDEE7F759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199" y="3250267"/>
          <a:ext cx="7037153" cy="101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0" imgH="533160" progId="Equation.DSMT4">
                  <p:embed/>
                </p:oleObj>
              </mc:Choice>
              <mc:Fallback>
                <p:oleObj name="Equation" r:id="rId2" imgW="3682800" imgH="5331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E10AA34-31DE-03A9-4467-BDEE7F759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199" y="3250267"/>
                        <a:ext cx="7037153" cy="1019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22C3735-DACC-0645-6410-1D5FC8E40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5352" y="3429000"/>
          <a:ext cx="3300784" cy="709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53800" progId="Equation.DSMT4">
                  <p:embed/>
                </p:oleObj>
              </mc:Choice>
              <mc:Fallback>
                <p:oleObj name="Equation" r:id="rId4" imgW="1180800" imgH="253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22C3735-DACC-0645-6410-1D5FC8E408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75352" y="3429000"/>
                        <a:ext cx="3300784" cy="709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CD80C88-C259-AC68-0341-F4BAE957B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668230"/>
              </p:ext>
            </p:extLst>
          </p:nvPr>
        </p:nvGraphicFramePr>
        <p:xfrm>
          <a:off x="2001838" y="5554663"/>
          <a:ext cx="68453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9880" imgH="393480" progId="Equation.DSMT4">
                  <p:embed/>
                </p:oleObj>
              </mc:Choice>
              <mc:Fallback>
                <p:oleObj name="Equation" r:id="rId6" imgW="3809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01838" y="5554663"/>
                        <a:ext cx="6845300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43D3CFB-44B2-C9A6-0263-518222A08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842009"/>
              </p:ext>
            </p:extLst>
          </p:nvPr>
        </p:nvGraphicFramePr>
        <p:xfrm>
          <a:off x="2093019" y="4846078"/>
          <a:ext cx="6016318" cy="70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40080" imgH="393480" progId="Equation.DSMT4">
                  <p:embed/>
                </p:oleObj>
              </mc:Choice>
              <mc:Fallback>
                <p:oleObj name="Equation" r:id="rId8" imgW="3340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93019" y="4846078"/>
                        <a:ext cx="6016318" cy="709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476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50E5-719A-40F1-618B-AF9C0B4E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2704-6DC2-CAA1-F41D-78153D6D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Surprise connects probability and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72C3-BB95-30C0-5654-7BB43449F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7761"/>
            <a:ext cx="10515600" cy="2489813"/>
          </a:xfrm>
        </p:spPr>
        <p:txBody>
          <a:bodyPr>
            <a:normAutofit/>
          </a:bodyPr>
          <a:lstStyle/>
          <a:p>
            <a:r>
              <a:rPr lang="en-US" dirty="0"/>
              <a:t>Three concepts of entropy</a:t>
            </a:r>
          </a:p>
          <a:p>
            <a:pPr lvl="1"/>
            <a:r>
              <a:rPr lang="en-US" dirty="0"/>
              <a:t>The number of possible states</a:t>
            </a:r>
          </a:p>
          <a:p>
            <a:pPr lvl="1"/>
            <a:r>
              <a:rPr lang="en-US" dirty="0"/>
              <a:t>The uncertainty about the state</a:t>
            </a:r>
          </a:p>
          <a:p>
            <a:pPr lvl="1"/>
            <a:r>
              <a:rPr lang="en-US" dirty="0"/>
              <a:t>The information from learning the state</a:t>
            </a:r>
          </a:p>
          <a:p>
            <a:r>
              <a:rPr lang="en-US" dirty="0"/>
              <a:t>For all three: the entropy of two separate systems should be additive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932F513-E853-CD87-9A08-F4DD60F582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5074" y="1690688"/>
          <a:ext cx="6183767" cy="875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393480" progId="Equation.DSMT4">
                  <p:embed/>
                </p:oleObj>
              </mc:Choice>
              <mc:Fallback>
                <p:oleObj name="Equation" r:id="rId2" imgW="278100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932F513-E853-CD87-9A08-F4DD60F58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5074" y="1690688"/>
                        <a:ext cx="6183767" cy="875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7084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3077-5D90-85FF-FF68-FD80AD98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70FC85-8A98-E2E7-6CB6-9E1D1F81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694"/>
            <a:ext cx="10515600" cy="791871"/>
          </a:xfrm>
        </p:spPr>
        <p:txBody>
          <a:bodyPr>
            <a:normAutofit fontScale="90000"/>
          </a:bodyPr>
          <a:lstStyle/>
          <a:p>
            <a:r>
              <a:rPr lang="en-US" dirty="0"/>
              <a:t>Entropy is a measure of how predictable reality 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4819E-9EA4-6807-8F0F-AF5D23521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8" y="1060565"/>
            <a:ext cx="10515600" cy="7918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we make a guess according to probability</a:t>
            </a:r>
          </a:p>
          <a:p>
            <a:pPr lvl="1"/>
            <a:r>
              <a:rPr lang="en-US" dirty="0"/>
              <a:t>How likely are we to be correct?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BC7CC-809A-2004-B67A-A910B190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26</a:t>
            </a:fld>
            <a:endParaRPr lang="en-GB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60D6EE3-9E8F-9E9E-7426-ADEE813CB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597603"/>
              </p:ext>
            </p:extLst>
          </p:nvPr>
        </p:nvGraphicFramePr>
        <p:xfrm>
          <a:off x="4469283" y="5297163"/>
          <a:ext cx="3650589" cy="68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482400" progId="Equation.DSMT4">
                  <p:embed/>
                </p:oleObj>
              </mc:Choice>
              <mc:Fallback>
                <p:oleObj name="Equation" r:id="rId2" imgW="2590560" imgH="4824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60D6EE3-9E8F-9E9E-7426-ADEE813CB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9283" y="5297163"/>
                        <a:ext cx="3650589" cy="680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6E3FB56-E64F-92C8-79E7-56F35C6C5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285635"/>
              </p:ext>
            </p:extLst>
          </p:nvPr>
        </p:nvGraphicFramePr>
        <p:xfrm>
          <a:off x="3581401" y="6184291"/>
          <a:ext cx="4753801" cy="67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83016" imgH="876415" progId="Equation.DSMT4">
                  <p:embed/>
                </p:oleObj>
              </mc:Choice>
              <mc:Fallback>
                <p:oleObj name="Equation" r:id="rId4" imgW="6183016" imgH="8764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81401" y="6184291"/>
                        <a:ext cx="4753801" cy="673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44C21C3-067B-C6F2-2B5A-A901ED951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330573"/>
              </p:ext>
            </p:extLst>
          </p:nvPr>
        </p:nvGraphicFramePr>
        <p:xfrm>
          <a:off x="342421" y="5297163"/>
          <a:ext cx="3650589" cy="68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482400" progId="Equation.DSMT4">
                  <p:embed/>
                </p:oleObj>
              </mc:Choice>
              <mc:Fallback>
                <p:oleObj name="Equation" r:id="rId6" imgW="2590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2421" y="5297163"/>
                        <a:ext cx="3650589" cy="680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DB96957-C912-77B7-BF03-BCEDB43F1E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313" y="2096755"/>
            <a:ext cx="3798313" cy="28622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0C797E-CF20-6BE8-FA5F-AFC1E8EC1E7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8724" y="2096755"/>
            <a:ext cx="3798313" cy="2862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67108E-14B5-492A-4A57-C8EF6304371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9135" y="2096755"/>
            <a:ext cx="3832878" cy="2862255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5AB55E7F-A114-49BE-DAF8-7ACEB3394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267249"/>
              </p:ext>
            </p:extLst>
          </p:nvPr>
        </p:nvGraphicFramePr>
        <p:xfrm>
          <a:off x="8596145" y="5297163"/>
          <a:ext cx="3409329" cy="59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81000" imgH="482400" progId="Equation.DSMT4">
                  <p:embed/>
                </p:oleObj>
              </mc:Choice>
              <mc:Fallback>
                <p:oleObj name="Equation" r:id="rId11" imgW="2781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96145" y="5297163"/>
                        <a:ext cx="3409329" cy="591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302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CEA1-FED0-3E6F-9678-D70CA245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F5E757-FE9F-EC9E-D230-564BAAAE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694"/>
            <a:ext cx="10515600" cy="791871"/>
          </a:xfrm>
        </p:spPr>
        <p:txBody>
          <a:bodyPr>
            <a:normAutofit/>
          </a:bodyPr>
          <a:lstStyle/>
          <a:p>
            <a:r>
              <a:rPr lang="en-US" dirty="0"/>
              <a:t>Cross-entropy is surprise for wrong guesses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2987F-5DF8-B382-4225-2D8F062AA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8" y="1060565"/>
            <a:ext cx="10515600" cy="896938"/>
          </a:xfrm>
        </p:spPr>
        <p:txBody>
          <a:bodyPr>
            <a:normAutofit/>
          </a:bodyPr>
          <a:lstStyle/>
          <a:p>
            <a:r>
              <a:rPr lang="en-US" dirty="0"/>
              <a:t>The cross-entropy is always larger than the entropy</a:t>
            </a:r>
          </a:p>
          <a:p>
            <a:pPr lvl="1"/>
            <a:r>
              <a:rPr lang="en-US" dirty="0"/>
              <a:t>Being wrong means being more surprised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C7273-B46B-9E1E-D1A1-F5C41EAD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27</a:t>
            </a:fld>
            <a:endParaRPr lang="en-GB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06C2277-7634-4B6B-C301-633E96254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2444" y="2147938"/>
          <a:ext cx="4845737" cy="71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279360" progId="Equation.DSMT4">
                  <p:embed/>
                </p:oleObj>
              </mc:Choice>
              <mc:Fallback>
                <p:oleObj name="Equation" r:id="rId2" imgW="1892160" imgH="2793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D5953C25-E042-063E-B340-05B3A71070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32444" y="2147938"/>
                        <a:ext cx="4845737" cy="715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314BAB9-17E0-F619-0A62-1967AFCE55B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057" y="2395356"/>
            <a:ext cx="5963614" cy="4453414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CFFA94E-9481-C7DF-3DF7-2F5F962E1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2444" y="3425647"/>
          <a:ext cx="481488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90560" imgH="482400" progId="Equation.DSMT4">
                  <p:embed/>
                </p:oleObj>
              </mc:Choice>
              <mc:Fallback>
                <p:oleObj name="Equation" r:id="rId5" imgW="2590560" imgH="4824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60D6EE3-9E8F-9E9E-7426-ADEE813CB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2444" y="3425647"/>
                        <a:ext cx="4814887" cy="89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58B5A0A-3D0B-D8E2-7A1C-7E37AD208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2444" y="4941233"/>
          <a:ext cx="4966212" cy="796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92080" imgH="431640" progId="Equation.DSMT4">
                  <p:embed/>
                </p:oleObj>
              </mc:Choice>
              <mc:Fallback>
                <p:oleObj name="Equation" r:id="rId7" imgW="2692080" imgH="431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149CF0C-E164-FF84-3D58-311DAF3429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32444" y="4941233"/>
                        <a:ext cx="4966212" cy="796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274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4389-C1F7-F114-1420-DC5AAD1FE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B527FD-FA85-FAF9-77A1-5FE3DC19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KL divergence measures extra surprise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FD87A-EF8B-A219-134B-DD96A5668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383"/>
            <a:ext cx="10515600" cy="1794653"/>
          </a:xfrm>
        </p:spPr>
        <p:txBody>
          <a:bodyPr>
            <a:normAutofit/>
          </a:bodyPr>
          <a:lstStyle/>
          <a:p>
            <a:r>
              <a:rPr lang="en-US" dirty="0"/>
              <a:t>The difference between the cross entropy and the entropy</a:t>
            </a:r>
          </a:p>
          <a:p>
            <a:r>
              <a:rPr lang="en-US" dirty="0"/>
              <a:t>The added uncertainty of using the wrong model</a:t>
            </a:r>
          </a:p>
          <a:p>
            <a:r>
              <a:rPr lang="en-US" dirty="0"/>
              <a:t>An (asymmetric) measure of distance between two distributions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C57C2-B6A1-A579-E1CA-BEBD4341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28</a:t>
            </a:fld>
            <a:endParaRPr lang="en-GB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6A15C4C-F9E2-5D12-7F98-0BA9A5498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3807" y="3195733"/>
          <a:ext cx="468312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279360" progId="Equation.DSMT4">
                  <p:embed/>
                </p:oleObj>
              </mc:Choice>
              <mc:Fallback>
                <p:oleObj name="Equation" r:id="rId2" imgW="1828800" imgH="2793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6A15C4C-F9E2-5D12-7F98-0BA9A54985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3807" y="3195733"/>
                        <a:ext cx="4683125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7C18B59-909B-B4C2-984C-AA5DA61E5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432098"/>
              </p:ext>
            </p:extLst>
          </p:nvPr>
        </p:nvGraphicFramePr>
        <p:xfrm>
          <a:off x="3363943" y="3911695"/>
          <a:ext cx="6920966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304560" progId="Equation.DSMT4">
                  <p:embed/>
                </p:oleObj>
              </mc:Choice>
              <mc:Fallback>
                <p:oleObj name="Equation" r:id="rId4" imgW="2946240" imgH="30456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7C18B59-909B-B4C2-984C-AA5DA61E53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63943" y="3911695"/>
                        <a:ext cx="6920966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15E4A60-09EE-C3C3-C39A-CA72D9D8B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3943" y="4633655"/>
          <a:ext cx="6508746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9800" imgH="279360" progId="Equation.DSMT4">
                  <p:embed/>
                </p:oleObj>
              </mc:Choice>
              <mc:Fallback>
                <p:oleObj name="Equation" r:id="rId6" imgW="2539800" imgH="2793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15E4A60-09EE-C3C3-C39A-CA72D9D8B5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63943" y="4633655"/>
                        <a:ext cx="6508746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58E9FDB-B046-FD57-4480-AF60E65F5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3943" y="5514052"/>
          <a:ext cx="4992688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57400" imgH="279360" progId="Equation.DSMT4">
                  <p:embed/>
                </p:oleObj>
              </mc:Choice>
              <mc:Fallback>
                <p:oleObj name="Equation" r:id="rId8" imgW="2057400" imgH="27936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58E9FDB-B046-FD57-4480-AF60E65F5B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63943" y="5514052"/>
                        <a:ext cx="4992688" cy="67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B817A1-1618-C3A7-E82E-272DFF40D2F1}"/>
              </a:ext>
            </a:extLst>
          </p:cNvPr>
          <p:cNvSpPr txBox="1"/>
          <p:nvPr/>
        </p:nvSpPr>
        <p:spPr>
          <a:xfrm>
            <a:off x="429768" y="4076962"/>
            <a:ext cx="1775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Insert definitions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C5276-8E8F-A8D4-72FF-BD81C51C0B1F}"/>
              </a:ext>
            </a:extLst>
          </p:cNvPr>
          <p:cNvSpPr txBox="1"/>
          <p:nvPr/>
        </p:nvSpPr>
        <p:spPr>
          <a:xfrm>
            <a:off x="429767" y="4836037"/>
            <a:ext cx="173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Rearrange terms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99B1E-ABC6-4A87-2185-A1A4F6A9A76B}"/>
              </a:ext>
            </a:extLst>
          </p:cNvPr>
          <p:cNvSpPr txBox="1"/>
          <p:nvPr/>
        </p:nvSpPr>
        <p:spPr>
          <a:xfrm>
            <a:off x="466573" y="5612412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Combine integrals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5968E-8736-721E-6A05-1D3C415802C9}"/>
              </a:ext>
            </a:extLst>
          </p:cNvPr>
          <p:cNvSpPr txBox="1"/>
          <p:nvPr/>
        </p:nvSpPr>
        <p:spPr>
          <a:xfrm>
            <a:off x="1583807" y="6308209"/>
            <a:ext cx="7863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average (over the true distribution) of how wrong we are (in units of surprise)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0587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CB312-726E-6BD7-6671-5FACBE86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E770-CD75-8A82-2326-5B6D3A77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our case: the model from the truth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21C35-3596-BF3C-1D58-858CAAD0C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986"/>
            <a:ext cx="10515600" cy="1453816"/>
          </a:xfrm>
        </p:spPr>
        <p:txBody>
          <a:bodyPr>
            <a:normAutofit/>
          </a:bodyPr>
          <a:lstStyle/>
          <a:p>
            <a:r>
              <a:rPr lang="en-US" dirty="0"/>
              <a:t>The distance of the model’s distribution from the true data distribution</a:t>
            </a:r>
          </a:p>
          <a:p>
            <a:pPr lvl="1"/>
            <a:r>
              <a:rPr lang="en-US" dirty="0"/>
              <a:t>The true likelihood vs the posterior predictive likelihood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32072E1-2A55-15D8-3299-D5AFAAB2E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911311"/>
              </p:ext>
            </p:extLst>
          </p:nvPr>
        </p:nvGraphicFramePr>
        <p:xfrm>
          <a:off x="1697038" y="4413250"/>
          <a:ext cx="80422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06480" imgH="406080" progId="Equation.DSMT4">
                  <p:embed/>
                </p:oleObj>
              </mc:Choice>
              <mc:Fallback>
                <p:oleObj name="Equation" r:id="rId2" imgW="3606480" imgH="4060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32072E1-2A55-15D8-3299-D5AFAAB2E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97038" y="4413250"/>
                        <a:ext cx="804227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604930F-0475-DD06-1495-F1F1DC4B16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222428"/>
              </p:ext>
            </p:extLst>
          </p:nvPr>
        </p:nvGraphicFramePr>
        <p:xfrm>
          <a:off x="1599261" y="3474432"/>
          <a:ext cx="69262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279360" progId="Equation.DSMT4">
                  <p:embed/>
                </p:oleObj>
              </mc:Choice>
              <mc:Fallback>
                <p:oleObj name="Equation" r:id="rId4" imgW="2705040" imgH="2793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6A15C4C-F9E2-5D12-7F98-0BA9A54985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9261" y="3474432"/>
                        <a:ext cx="69262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6D2A95-FA35-CC57-0A9F-69C9C0E401D8}"/>
                  </a:ext>
                </a:extLst>
              </p:cNvPr>
              <p:cNvSpPr txBox="1"/>
              <p:nvPr/>
            </p:nvSpPr>
            <p:spPr>
              <a:xfrm>
                <a:off x="1286132" y="5673945"/>
                <a:ext cx="101617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means the probability density of data, not the specific data we collected.</a:t>
                </a:r>
                <a:endParaRPr lang="en-IL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6D2A95-FA35-CC57-0A9F-69C9C0E40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132" y="5673945"/>
                <a:ext cx="10161756" cy="461665"/>
              </a:xfrm>
              <a:prstGeom prst="rect">
                <a:avLst/>
              </a:prstGeom>
              <a:blipFill>
                <a:blip r:embed="rId6"/>
                <a:stretch>
                  <a:fillRect l="-960" t="-10667" b="-30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75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AD8D-6AE8-351C-7BD4-3AC42A1A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1BBF-FBF4-A9B0-24D0-45CB954C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260055"/>
            <a:ext cx="10515600" cy="640610"/>
          </a:xfrm>
        </p:spPr>
        <p:txBody>
          <a:bodyPr>
            <a:normAutofit fontScale="90000"/>
          </a:bodyPr>
          <a:lstStyle/>
          <a:p>
            <a:r>
              <a:rPr lang="en-US" dirty="0"/>
              <a:t>The score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BDE09-B5A8-B5B4-D411-F26CC43F0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584" y="900665"/>
                <a:ext cx="10515600" cy="132036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000" dirty="0"/>
                  <a:t> is the average likelihood of data under the model</a:t>
                </a:r>
              </a:p>
              <a:p>
                <a:pPr lvl="1"/>
                <a:r>
                  <a:rPr lang="en-US" sz="1800" dirty="0"/>
                  <a:t>Averaged over the true distribution of data </a:t>
                </a:r>
              </a:p>
              <a:p>
                <a:r>
                  <a:rPr lang="en-US" sz="2000" dirty="0"/>
                  <a:t>We could estimate this by collecting new data and calculating its likelihood under the model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BDE09-B5A8-B5B4-D411-F26CC43F0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584" y="900665"/>
                <a:ext cx="10515600" cy="1320362"/>
              </a:xfrm>
              <a:blipFill>
                <a:blip r:embed="rId2"/>
                <a:stretch>
                  <a:fillRect l="-2261" t="-50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CFA56F-F2A3-ED21-92BF-FF726DF02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067455"/>
              </p:ext>
            </p:extLst>
          </p:nvPr>
        </p:nvGraphicFramePr>
        <p:xfrm>
          <a:off x="644525" y="2279650"/>
          <a:ext cx="79375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7880" imgH="406080" progId="Equation.DSMT4">
                  <p:embed/>
                </p:oleObj>
              </mc:Choice>
              <mc:Fallback>
                <p:oleObj name="Equation" r:id="rId3" imgW="3377880" imgH="4060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CFA56F-F2A3-ED21-92BF-FF726DF026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525" y="2279650"/>
                        <a:ext cx="7937500" cy="95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32D2108-5A77-656C-C827-C36567C08F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943817"/>
              </p:ext>
            </p:extLst>
          </p:nvPr>
        </p:nvGraphicFramePr>
        <p:xfrm>
          <a:off x="3079844" y="3453239"/>
          <a:ext cx="49276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393480" progId="Equation.DSMT4">
                  <p:embed/>
                </p:oleObj>
              </mc:Choice>
              <mc:Fallback>
                <p:oleObj name="Equation" r:id="rId5" imgW="2095200" imgH="3934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32D2108-5A77-656C-C827-C36567C08F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9844" y="3453239"/>
                        <a:ext cx="4927600" cy="925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D841933-A8B1-4A72-5818-3B2C2F7FC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759132"/>
              </p:ext>
            </p:extLst>
          </p:nvPr>
        </p:nvGraphicFramePr>
        <p:xfrm>
          <a:off x="3079844" y="4612723"/>
          <a:ext cx="3849680" cy="769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320" imgH="342720" progId="Equation.DSMT4">
                  <p:embed/>
                </p:oleObj>
              </mc:Choice>
              <mc:Fallback>
                <p:oleObj name="Equation" r:id="rId7" imgW="1714320" imgH="34272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6D841933-A8B1-4A72-5818-3B2C2F7FC9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9844" y="4612723"/>
                        <a:ext cx="3849680" cy="769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926E022-E1DF-E0D3-5A8B-49580313C30F}"/>
              </a:ext>
            </a:extLst>
          </p:cNvPr>
          <p:cNvSpPr txBox="1"/>
          <p:nvPr/>
        </p:nvSpPr>
        <p:spPr>
          <a:xfrm>
            <a:off x="1909482" y="5909982"/>
            <a:ext cx="1785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score</a:t>
            </a:r>
            <a:endParaRPr lang="en-IL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437C5A-8624-723C-5260-75B8FD1D5070}"/>
              </a:ext>
            </a:extLst>
          </p:cNvPr>
          <p:cNvCxnSpPr>
            <a:stCxn id="11" idx="3"/>
          </p:cNvCxnSpPr>
          <p:nvPr/>
        </p:nvCxnSpPr>
        <p:spPr>
          <a:xfrm flipV="1">
            <a:off x="3694779" y="5109882"/>
            <a:ext cx="608280" cy="10924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515686-A0F8-F827-221D-78A2B2818058}"/>
                  </a:ext>
                </a:extLst>
              </p:cNvPr>
              <p:cNvSpPr txBox="1"/>
              <p:nvPr/>
            </p:nvSpPr>
            <p:spPr>
              <a:xfrm>
                <a:off x="7677788" y="4437375"/>
                <a:ext cx="401216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L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means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actual new data point</a:t>
                </a:r>
                <a:endParaRPr lang="en-IL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515686-A0F8-F827-221D-78A2B2818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788" y="4437375"/>
                <a:ext cx="4012163" cy="707886"/>
              </a:xfrm>
              <a:prstGeom prst="rect">
                <a:avLst/>
              </a:prstGeom>
              <a:blipFill>
                <a:blip r:embed="rId9"/>
                <a:stretch>
                  <a:fillRect l="-1517" t="-5172" b="-146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18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342B-FC00-2691-7C2B-6376C956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075"/>
          </a:xfrm>
        </p:spPr>
        <p:txBody>
          <a:bodyPr/>
          <a:lstStyle/>
          <a:p>
            <a:r>
              <a:rPr lang="en-US" dirty="0"/>
              <a:t>Calculating the score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4D072-D7CF-A68C-B739-927BFC677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1323134"/>
            <a:ext cx="10515600" cy="1118314"/>
          </a:xfrm>
        </p:spPr>
        <p:txBody>
          <a:bodyPr>
            <a:normAutofit/>
          </a:bodyPr>
          <a:lstStyle/>
          <a:p>
            <a:r>
              <a:rPr lang="en-US" dirty="0"/>
              <a:t>To find likelihood of new data under the model</a:t>
            </a:r>
          </a:p>
          <a:p>
            <a:pPr lvl="1"/>
            <a:r>
              <a:rPr lang="en-US" dirty="0"/>
              <a:t>Average over the posterior distribution under the model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60EBA5F-BA72-A5A5-047D-CE5DFF3D48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548929"/>
              </p:ext>
            </p:extLst>
          </p:nvPr>
        </p:nvGraphicFramePr>
        <p:xfrm>
          <a:off x="3980413" y="4167354"/>
          <a:ext cx="6708404" cy="835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360" imgH="380880" progId="Equation.DSMT4">
                  <p:embed/>
                </p:oleObj>
              </mc:Choice>
              <mc:Fallback>
                <p:oleObj name="Equation" r:id="rId2" imgW="3060360" imgH="3808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60EBA5F-BA72-A5A5-047D-CE5DFF3D4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80413" y="4167354"/>
                        <a:ext cx="6708404" cy="835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7BCB088-3266-2E82-A8DF-52E572E46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803980"/>
              </p:ext>
            </p:extLst>
          </p:nvPr>
        </p:nvGraphicFramePr>
        <p:xfrm>
          <a:off x="5139246" y="5752196"/>
          <a:ext cx="627856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342720" progId="Equation.DSMT4">
                  <p:embed/>
                </p:oleObj>
              </mc:Choice>
              <mc:Fallback>
                <p:oleObj name="Equation" r:id="rId4" imgW="2577960" imgH="3427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7BCB088-3266-2E82-A8DF-52E572E46F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39246" y="5752196"/>
                        <a:ext cx="6278562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4391205-1379-59CD-E552-FF3999AFE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316589"/>
              </p:ext>
            </p:extLst>
          </p:nvPr>
        </p:nvGraphicFramePr>
        <p:xfrm>
          <a:off x="1614488" y="2995613"/>
          <a:ext cx="65944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368280" progId="Equation.DSMT4">
                  <p:embed/>
                </p:oleObj>
              </mc:Choice>
              <mc:Fallback>
                <p:oleObj name="Equation" r:id="rId6" imgW="2806560" imgH="3682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CFA56F-F2A3-ED21-92BF-FF726DF026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14488" y="2995613"/>
                        <a:ext cx="6594475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6A1224-1DF3-FC80-6D64-E57BEBDE09A8}"/>
              </a:ext>
            </a:extLst>
          </p:cNvPr>
          <p:cNvSpPr txBox="1"/>
          <p:nvPr/>
        </p:nvSpPr>
        <p:spPr>
          <a:xfrm>
            <a:off x="77449" y="5846544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Often people calculate deviance instead of score </a:t>
            </a:r>
          </a:p>
          <a:p>
            <a:pPr lvl="1"/>
            <a:r>
              <a:rPr lang="en-US" dirty="0"/>
              <a:t>Different units, same idea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936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2E1C13-FA8E-5426-DE64-5276852AF3F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difference of two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</m:oMath>
                </a14:m>
                <a:r>
                  <a:rPr lang="en-US" dirty="0"/>
                  <a:t> for two models</a:t>
                </a:r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2E1C13-FA8E-5426-DE64-5276852AF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4DB47-6A24-2E93-936A-8227D9D56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3446"/>
          </a:xfrm>
        </p:spPr>
        <p:txBody>
          <a:bodyPr/>
          <a:lstStyle/>
          <a:p>
            <a:r>
              <a:rPr lang="en-US" dirty="0"/>
              <a:t>Is the difference of their scores!</a:t>
            </a:r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1530B82-F3DF-EF66-39E8-104AB07DA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092582"/>
              </p:ext>
            </p:extLst>
          </p:nvPr>
        </p:nvGraphicFramePr>
        <p:xfrm>
          <a:off x="1847056" y="3695374"/>
          <a:ext cx="8497888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320" imgH="457200" progId="Equation.DSMT4">
                  <p:embed/>
                </p:oleObj>
              </mc:Choice>
              <mc:Fallback>
                <p:oleObj name="Equation" r:id="rId3" imgW="3784320" imgH="457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1530B82-F3DF-EF66-39E8-104AB07DAE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056" y="3695374"/>
                        <a:ext cx="8497888" cy="1027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DBAD0C2-BB70-3C2B-A4E4-6D485E9F62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927527"/>
              </p:ext>
            </p:extLst>
          </p:nvPr>
        </p:nvGraphicFramePr>
        <p:xfrm>
          <a:off x="792163" y="2784008"/>
          <a:ext cx="53038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304560" progId="Equation.DSMT4">
                  <p:embed/>
                </p:oleObj>
              </mc:Choice>
              <mc:Fallback>
                <p:oleObj name="Equation" r:id="rId5" imgW="2387520" imgH="3045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DBAD0C2-BB70-3C2B-A4E4-6D485E9F6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2163" y="2784008"/>
                        <a:ext cx="5303837" cy="67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487D25E-FFA0-9FEC-253B-D39995B48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632429"/>
              </p:ext>
            </p:extLst>
          </p:nvPr>
        </p:nvGraphicFramePr>
        <p:xfrm>
          <a:off x="1847056" y="5033657"/>
          <a:ext cx="62372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68400" imgH="457200" progId="Equation.DSMT4">
                  <p:embed/>
                </p:oleObj>
              </mc:Choice>
              <mc:Fallback>
                <p:oleObj name="Equation" r:id="rId7" imgW="2768400" imgH="4572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487D25E-FFA0-9FEC-253B-D39995B48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7056" y="5033657"/>
                        <a:ext cx="6237287" cy="103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7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468A-54EB-8282-39FC-62BBDA74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153"/>
          </a:xfrm>
        </p:spPr>
        <p:txBody>
          <a:bodyPr/>
          <a:lstStyle/>
          <a:p>
            <a:r>
              <a:rPr lang="en-US" dirty="0"/>
              <a:t>To compare models we calculate the score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A8726-955E-FF49-A7F7-F71E0C9E5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1077337"/>
          </a:xfrm>
        </p:spPr>
        <p:txBody>
          <a:bodyPr/>
          <a:lstStyle/>
          <a:p>
            <a:r>
              <a:rPr lang="en-US" dirty="0"/>
              <a:t>Each score is meaningless, only the comparison matters</a:t>
            </a:r>
          </a:p>
          <a:p>
            <a:r>
              <a:rPr lang="en-US" dirty="0"/>
              <a:t>Cannot be actually calculated on existing data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7833CF-BA76-FDAA-D205-2F9745CAF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819665"/>
              </p:ext>
            </p:extLst>
          </p:nvPr>
        </p:nvGraphicFramePr>
        <p:xfrm>
          <a:off x="723900" y="4445000"/>
          <a:ext cx="109220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55920" imgH="457200" progId="Equation.DSMT4">
                  <p:embed/>
                </p:oleObj>
              </mc:Choice>
              <mc:Fallback>
                <p:oleObj name="Equation" r:id="rId2" imgW="5155920" imgH="457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DBAD0C2-BB70-3C2B-A4E4-6D485E9F6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" y="4445000"/>
                        <a:ext cx="10922000" cy="969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33BA6D6-E6F7-CFC8-0771-402E5FF63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806960"/>
              </p:ext>
            </p:extLst>
          </p:nvPr>
        </p:nvGraphicFramePr>
        <p:xfrm>
          <a:off x="951524" y="3145536"/>
          <a:ext cx="5853422" cy="768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06560" imgH="368280" progId="Equation.DSMT4">
                  <p:embed/>
                </p:oleObj>
              </mc:Choice>
              <mc:Fallback>
                <p:oleObj name="Equation" r:id="rId4" imgW="28065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1524" y="3145536"/>
                        <a:ext cx="5853422" cy="768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1B4D88-F844-C8F8-2368-B8E1166E2494}"/>
              </a:ext>
            </a:extLst>
          </p:cNvPr>
          <p:cNvSpPr txBox="1"/>
          <p:nvPr/>
        </p:nvSpPr>
        <p:spPr>
          <a:xfrm>
            <a:off x="1199388" y="5515059"/>
            <a:ext cx="8429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Intuitively: how wrong a model is about what the real world is like (the KL divergence from reality) can be characterized by the likelihood it associates with new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72D43-CFCD-0FAE-7FBE-9436875BDC54}"/>
              </a:ext>
            </a:extLst>
          </p:cNvPr>
          <p:cNvSpPr txBox="1"/>
          <p:nvPr/>
        </p:nvSpPr>
        <p:spPr>
          <a:xfrm>
            <a:off x="1970278" y="6185885"/>
            <a:ext cx="8429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 to a constant factor</a:t>
            </a:r>
          </a:p>
        </p:txBody>
      </p:sp>
    </p:spTree>
    <p:extLst>
      <p:ext uri="{BB962C8B-B14F-4D97-AF65-F5344CB8AC3E}">
        <p14:creationId xmlns:p14="http://schemas.microsoft.com/office/powerpoint/2010/main" val="208273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2F1AA-CB3D-4FB9-1AE2-252871C18FC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7E49E85C-2FD2-11C9-BD20-E5E8A7A179D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10.4 Information criteria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DADBDF3A-248E-AC82-5C1B-A87C5C3E69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dirty="0"/>
              <a:t>Methods for approximating the score without getting new data</a:t>
            </a:r>
          </a:p>
        </p:txBody>
      </p:sp>
    </p:spTree>
    <p:extLst>
      <p:ext uri="{BB962C8B-B14F-4D97-AF65-F5344CB8AC3E}">
        <p14:creationId xmlns:p14="http://schemas.microsoft.com/office/powerpoint/2010/main" val="4290116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B30A1-156E-BCC5-03B6-8075EF94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criteria estimate out-of-sample prediction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485E6-CFCF-898D-350E-B5D40C1CC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381"/>
            <a:ext cx="10515600" cy="1985931"/>
          </a:xfrm>
        </p:spPr>
        <p:txBody>
          <a:bodyPr>
            <a:normAutofit/>
          </a:bodyPr>
          <a:lstStyle/>
          <a:p>
            <a:r>
              <a:rPr lang="en-US" sz="2000" dirty="0"/>
              <a:t>We want expected predictive accuracy on new data</a:t>
            </a:r>
          </a:p>
          <a:p>
            <a:r>
              <a:rPr lang="en-US" sz="2000" dirty="0"/>
              <a:t>We only have the observed data</a:t>
            </a:r>
          </a:p>
          <a:p>
            <a:pPr lvl="1"/>
            <a:r>
              <a:rPr lang="en-US" sz="1600" dirty="0"/>
              <a:t>Our predictive accuracy is always better on observed data than new data</a:t>
            </a:r>
          </a:p>
          <a:p>
            <a:r>
              <a:rPr lang="en-US" sz="2000" dirty="0"/>
              <a:t>Information criteria estimate the optimism from fitting and testing on the same data</a:t>
            </a:r>
          </a:p>
          <a:p>
            <a:r>
              <a:rPr lang="en-US" sz="2000" dirty="0"/>
              <a:t>Different criteria estimate this correction differently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24A87-1076-0D96-615D-616FD111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35</a:t>
            </a:fld>
            <a:endParaRPr lang="en-GB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150EB8F-B965-6F46-7D10-FA4CC5746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937478"/>
              </p:ext>
            </p:extLst>
          </p:nvPr>
        </p:nvGraphicFramePr>
        <p:xfrm>
          <a:off x="998538" y="4170363"/>
          <a:ext cx="700405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380880" progId="Equation.DSMT4">
                  <p:embed/>
                </p:oleObj>
              </mc:Choice>
              <mc:Fallback>
                <p:oleObj name="Equation" r:id="rId2" imgW="3047760" imgH="3808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150EB8F-B965-6F46-7D10-FA4CC5746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8538" y="4170363"/>
                        <a:ext cx="7004050" cy="874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219E981-1CF9-0649-6B95-738B4212B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777057"/>
              </p:ext>
            </p:extLst>
          </p:nvPr>
        </p:nvGraphicFramePr>
        <p:xfrm>
          <a:off x="2956941" y="5630656"/>
          <a:ext cx="81280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360" imgH="380880" progId="Equation.DSMT4">
                  <p:embed/>
                </p:oleObj>
              </mc:Choice>
              <mc:Fallback>
                <p:oleObj name="Equation" r:id="rId4" imgW="3708360" imgH="3808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219E981-1CF9-0649-6B95-738B4212B3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6941" y="5630656"/>
                        <a:ext cx="8128000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692CEE-E478-A76F-3785-0D664D426CC7}"/>
                  </a:ext>
                </a:extLst>
              </p:cNvPr>
              <p:cNvSpPr txBox="1"/>
              <p:nvPr/>
            </p:nvSpPr>
            <p:spPr>
              <a:xfrm>
                <a:off x="998538" y="5059918"/>
                <a:ext cx="9927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One approximation is that our optimism is measured by how quickly the log likelihood changes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  <a:endParaRPr lang="en-IL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692CEE-E478-A76F-3785-0D664D426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38" y="5059918"/>
                <a:ext cx="9927336" cy="369332"/>
              </a:xfrm>
              <a:prstGeom prst="rect">
                <a:avLst/>
              </a:prstGeom>
              <a:blipFill>
                <a:blip r:embed="rId6"/>
                <a:stretch>
                  <a:fillRect l="-553" t="-8197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9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CBF8-0B9E-7847-DD89-C87C0711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Several criteria estimate predictive accuracy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5F2A-8E20-3947-CC9C-8FF6E0CC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36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492BDA1-8618-45EE-A21A-FAB2C58A93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200864"/>
                  </p:ext>
                </p:extLst>
              </p:nvPr>
            </p:nvGraphicFramePr>
            <p:xfrm>
              <a:off x="838200" y="1905000"/>
              <a:ext cx="1051560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1000">
                      <a:extLst>
                        <a:ext uri="{9D8B030D-6E8A-4147-A177-3AD203B41FA5}">
                          <a16:colId xmlns:a16="http://schemas.microsoft.com/office/drawing/2014/main" val="1736774670"/>
                        </a:ext>
                      </a:extLst>
                    </a:gridCol>
                    <a:gridCol w="5080000">
                      <a:extLst>
                        <a:ext uri="{9D8B030D-6E8A-4147-A177-3AD203B41FA5}">
                          <a16:colId xmlns:a16="http://schemas.microsoft.com/office/drawing/2014/main" val="3988402151"/>
                        </a:ext>
                      </a:extLst>
                    </a:gridCol>
                    <a:gridCol w="3784600">
                      <a:extLst>
                        <a:ext uri="{9D8B030D-6E8A-4147-A177-3AD203B41FA5}">
                          <a16:colId xmlns:a16="http://schemas.microsoft.com/office/drawing/2014/main" val="1754970315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500" b="1">
                              <a:solidFill>
                                <a:srgbClr val="FFFFFF"/>
                              </a:solidFill>
                            </a:rPr>
                            <a:t>Criterion</a:t>
                          </a:r>
                        </a:p>
                      </a:txBody>
                      <a:tcPr anchor="ctr">
                        <a:solidFill>
                          <a:srgbClr val="1F6F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500" b="1" dirty="0">
                              <a:solidFill>
                                <a:srgbClr val="FFFFFF"/>
                              </a:solidFill>
                            </a:rPr>
                            <a:t>In sample log density</a:t>
                          </a:r>
                          <a:endParaRPr lang="en-IL" sz="1500" b="1" dirty="0">
                            <a:solidFill>
                              <a:srgbClr val="FFFFFF"/>
                            </a:solidFill>
                          </a:endParaRPr>
                        </a:p>
                      </a:txBody>
                      <a:tcPr anchor="ctr">
                        <a:solidFill>
                          <a:srgbClr val="1F6F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500" b="1" dirty="0">
                              <a:solidFill>
                                <a:srgbClr val="FFFFFF"/>
                              </a:solidFill>
                            </a:rPr>
                            <a:t>Optimism term</a:t>
                          </a:r>
                          <a:endParaRPr lang="en-IL" sz="1500" b="1" dirty="0">
                            <a:solidFill>
                              <a:srgbClr val="FFFFFF"/>
                            </a:solidFill>
                          </a:endParaRPr>
                        </a:p>
                      </a:txBody>
                      <a:tcPr anchor="ctr">
                        <a:solidFill>
                          <a:srgbClr val="1F6F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464872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400" b="1"/>
                            <a:t>AIC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IL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func>
                                      <m:func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|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𝑀𝐿𝐸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oMath>
                            </m:oMathPara>
                          </a14:m>
                          <a:endParaRPr lang="en-IL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1400" dirty="0"/>
                            <a:t>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1400" dirty="0"/>
                            <a:t> is the number of model parameters</a:t>
                          </a:r>
                          <a:endParaRPr lang="en-IL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254439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400" b="1" dirty="0"/>
                            <a:t>DIC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IL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func>
                                      <m:func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|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acc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oMath>
                            </m:oMathPara>
                          </a14:m>
                          <a:endParaRPr lang="en-IL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  <m:e>
                                        <m:func>
                                          <m:func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 b="0" i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|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</m:acc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nary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𝔼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  <m:e>
                                        <m:func>
                                          <m:func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 b="0" i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|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nary>
                                  </m:e>
                                </m:d>
                              </m:oMath>
                            </m:oMathPara>
                          </a14:m>
                          <a:endParaRPr lang="en-IL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8580048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400" b="1"/>
                            <a:t>WAIC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func>
                                      <m:func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𝔼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|</m:t>
                                            </m:r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|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oMath>
                            </m:oMathPara>
                          </a14:m>
                          <a:endParaRPr lang="en-IL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Var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 b="0" i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|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IL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72860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492BDA1-8618-45EE-A21A-FAB2C58A93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200864"/>
                  </p:ext>
                </p:extLst>
              </p:nvPr>
            </p:nvGraphicFramePr>
            <p:xfrm>
              <a:off x="838200" y="1905000"/>
              <a:ext cx="1051560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1000">
                      <a:extLst>
                        <a:ext uri="{9D8B030D-6E8A-4147-A177-3AD203B41FA5}">
                          <a16:colId xmlns:a16="http://schemas.microsoft.com/office/drawing/2014/main" val="1736774670"/>
                        </a:ext>
                      </a:extLst>
                    </a:gridCol>
                    <a:gridCol w="5080000">
                      <a:extLst>
                        <a:ext uri="{9D8B030D-6E8A-4147-A177-3AD203B41FA5}">
                          <a16:colId xmlns:a16="http://schemas.microsoft.com/office/drawing/2014/main" val="3988402151"/>
                        </a:ext>
                      </a:extLst>
                    </a:gridCol>
                    <a:gridCol w="3784600">
                      <a:extLst>
                        <a:ext uri="{9D8B030D-6E8A-4147-A177-3AD203B41FA5}">
                          <a16:colId xmlns:a16="http://schemas.microsoft.com/office/drawing/2014/main" val="1754970315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500" b="1">
                              <a:solidFill>
                                <a:srgbClr val="FFFFFF"/>
                              </a:solidFill>
                            </a:rPr>
                            <a:t>Criterion</a:t>
                          </a:r>
                        </a:p>
                      </a:txBody>
                      <a:tcPr anchor="ctr">
                        <a:solidFill>
                          <a:srgbClr val="1F6F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500" b="1" dirty="0">
                              <a:solidFill>
                                <a:srgbClr val="FFFFFF"/>
                              </a:solidFill>
                            </a:rPr>
                            <a:t>In sample log density</a:t>
                          </a:r>
                          <a:endParaRPr lang="en-IL" sz="1500" b="1" dirty="0">
                            <a:solidFill>
                              <a:srgbClr val="FFFFFF"/>
                            </a:solidFill>
                          </a:endParaRPr>
                        </a:p>
                      </a:txBody>
                      <a:tcPr anchor="ctr">
                        <a:solidFill>
                          <a:srgbClr val="1F6F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500" b="1" dirty="0">
                              <a:solidFill>
                                <a:srgbClr val="FFFFFF"/>
                              </a:solidFill>
                            </a:rPr>
                            <a:t>Optimism term</a:t>
                          </a:r>
                          <a:endParaRPr lang="en-IL" sz="1500" b="1" dirty="0">
                            <a:solidFill>
                              <a:srgbClr val="FFFFFF"/>
                            </a:solidFill>
                          </a:endParaRPr>
                        </a:p>
                      </a:txBody>
                      <a:tcPr anchor="ctr">
                        <a:solidFill>
                          <a:srgbClr val="1F6F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464872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400" b="1"/>
                            <a:t>AIC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14" t="-100000" r="-7494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100" t="-100000" r="-644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4439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400" b="1" dirty="0"/>
                            <a:t>DIC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14" t="-201600" r="-74940" b="-224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100" t="-201600" r="-644" b="-224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580048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L" sz="1400" b="1"/>
                            <a:t>WAIC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14" t="-301600" r="-74940" b="-124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100" t="-301600" r="-644" b="-124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2860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1045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85FD-084F-A23B-9FD0-A855A888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is the Frequentist information criterion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4D45B-5A86-CBDF-9236-FF37C05958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84499"/>
                <a:ext cx="10515600" cy="37369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Smaller when model has good fit to observed data
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Smaller for simpler models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600" dirty="0"/>
                  <a:t> is the number of parameters</a:t>
                </a:r>
              </a:p>
              <a:p>
                <a:r>
                  <a:rPr lang="en-US" sz="2400" dirty="0"/>
                  <a:t>Lower AIC is better</a:t>
                </a:r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4D45B-5A86-CBDF-9236-FF37C0595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84499"/>
                <a:ext cx="10515600" cy="3736975"/>
              </a:xfrm>
              <a:blipFill>
                <a:blip r:embed="rId2"/>
                <a:stretch>
                  <a:fillRect l="-812" t="-179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4A89B-E2AF-A4DA-062F-FFC50492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37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5BA94C-3C12-4F86-AFCB-278009DB60EA}"/>
                  </a:ext>
                </a:extLst>
              </p:cNvPr>
              <p:cNvSpPr txBox="1"/>
              <p:nvPr/>
            </p:nvSpPr>
            <p:spPr>
              <a:xfrm>
                <a:off x="838200" y="1621536"/>
                <a:ext cx="6961632" cy="812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𝑨𝑰𝑪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̂"/>
                              <m:ctrlP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IL" sz="26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5BA94C-3C12-4F86-AFCB-278009DB6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21536"/>
                <a:ext cx="6961632" cy="812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457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354A-4300-2F9D-A12B-9F6DEDFB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has limitations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D1CFE-53CD-1DCB-E729-036108B7C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a point estimate of in sample likelihood</a:t>
            </a:r>
          </a:p>
          <a:p>
            <a:pPr lvl="1"/>
            <a:r>
              <a:rPr lang="en-US" dirty="0"/>
              <a:t>Neglects uncertainty</a:t>
            </a:r>
          </a:p>
          <a:p>
            <a:r>
              <a:rPr lang="en-US" dirty="0"/>
              <a:t>Uses parameter counting</a:t>
            </a:r>
          </a:p>
          <a:p>
            <a:pPr lvl="1"/>
            <a:r>
              <a:rPr lang="en-US" dirty="0"/>
              <a:t>The number of parameters measures model complexity</a:t>
            </a:r>
          </a:p>
          <a:p>
            <a:pPr lvl="1"/>
            <a:r>
              <a:rPr lang="en-US" dirty="0"/>
              <a:t>Proportional to variance for linear regression models</a:t>
            </a:r>
          </a:p>
          <a:p>
            <a:pPr lvl="1"/>
            <a:r>
              <a:rPr lang="en-US" dirty="0"/>
              <a:t>But assumes: </a:t>
            </a:r>
          </a:p>
          <a:p>
            <a:pPr lvl="2"/>
            <a:r>
              <a:rPr lang="en-US" dirty="0"/>
              <a:t>Parameters are not correlated </a:t>
            </a:r>
          </a:p>
          <a:p>
            <a:pPr lvl="2"/>
            <a:r>
              <a:rPr lang="en-US" dirty="0"/>
              <a:t>Parameters are all regression coefficients</a:t>
            </a:r>
          </a:p>
          <a:p>
            <a:pPr lvl="2"/>
            <a:r>
              <a:rPr lang="en-US" dirty="0"/>
              <a:t>Model is not hierarchical or otherwise structures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3DCEF-33AE-9E6A-0E7E-6BDBCD85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368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612F-77C3-23FF-FA0D-8E55E84E8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different models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77CD-7CE5-7967-99B5-4AB472C9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8025"/>
          </a:xfrm>
        </p:spPr>
        <p:txBody>
          <a:bodyPr/>
          <a:lstStyle/>
          <a:p>
            <a:r>
              <a:rPr lang="en-US" dirty="0"/>
              <a:t>Fit 3 models to the penguin bodyweight data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BCF33-9798-55A6-00FD-02B35705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739F9-C9D1-73EC-2CE2-F647B83FC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34" y="2924175"/>
            <a:ext cx="10943642" cy="36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1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12C2-F877-EBAF-EED2-8C91C8E06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AIC in an applied model comparison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89B9F-1A6A-C58D-A484-2B62A2B44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0"/>
            <a:ext cx="5334000" cy="4191000"/>
          </a:xfrm>
        </p:spPr>
        <p:txBody>
          <a:bodyPr>
            <a:normAutofit/>
          </a:bodyPr>
          <a:lstStyle/>
          <a:p>
            <a:r>
              <a:rPr lang="en-US" sz="1800"/>
              <a:t>Compare candidate regression or ANOVA models
Smaller AIC means better estimated predictive performance
Differences matter more than absolute values</a:t>
            </a:r>
            <a:endParaRPr lang="en-IL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3C3D9-8996-EACF-E0CF-F8CB5B28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B4612-5FE4-3A96-8144-881A990E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71" y="4788010"/>
            <a:ext cx="6839179" cy="13975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04759-797D-64B0-F2DC-52AE45BBB857}"/>
              </a:ext>
            </a:extLst>
          </p:cNvPr>
          <p:cNvSpPr txBox="1"/>
          <p:nvPr/>
        </p:nvSpPr>
        <p:spPr>
          <a:xfrm>
            <a:off x="4876800" y="3593979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L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smf</a:t>
            </a:r>
            <a:r>
              <a:rPr lang="en-IL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ols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formula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penguins_model_df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L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E70D4-B625-F452-A462-8DA4F89CC561}"/>
              </a:ext>
            </a:extLst>
          </p:cNvPr>
          <p:cNvSpPr txBox="1"/>
          <p:nvPr/>
        </p:nvSpPr>
        <p:spPr>
          <a:xfrm>
            <a:off x="4876800" y="3908914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L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ols_fit</a:t>
            </a:r>
            <a:r>
              <a:rPr lang="en-IL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.aic</a:t>
            </a:r>
            <a:endParaRPr lang="en-IL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83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9FFD-E266-5C27-3227-CB9F7CA4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WAIC is a Bayesian information criterion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A7447-0D0E-AA61-2695-2C9772BF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006"/>
            <a:ext cx="10515600" cy="10675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Uses the full posterior to estimate the score</a:t>
            </a:r>
          </a:p>
          <a:p>
            <a:pPr lvl="1"/>
            <a:r>
              <a:rPr lang="en-US" dirty="0"/>
              <a:t>Accounts for parameter uncertainty for in sample likelihood</a:t>
            </a:r>
          </a:p>
          <a:p>
            <a:pPr lvl="1"/>
            <a:r>
              <a:rPr lang="en-US" dirty="0"/>
              <a:t>Uses the shape of the posterior directly to estimate optimism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26A2C-2241-C859-8AA6-4125967C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41</a:t>
            </a:fld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5229F54-B2BE-F0DD-A5FB-94B365260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328504"/>
              </p:ext>
            </p:extLst>
          </p:nvPr>
        </p:nvGraphicFramePr>
        <p:xfrm>
          <a:off x="838200" y="3271140"/>
          <a:ext cx="9654570" cy="780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11680" imgH="380880" progId="Equation.DSMT4">
                  <p:embed/>
                </p:oleObj>
              </mc:Choice>
              <mc:Fallback>
                <p:oleObj name="Equation" r:id="rId2" imgW="4711680" imgH="3808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5229F54-B2BE-F0DD-A5FB-94B3652605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271140"/>
                        <a:ext cx="9654570" cy="780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304DF24-9D9E-7D65-28CD-2712DE41D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659758"/>
              </p:ext>
            </p:extLst>
          </p:nvPr>
        </p:nvGraphicFramePr>
        <p:xfrm>
          <a:off x="838200" y="4563795"/>
          <a:ext cx="9799268" cy="847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06760" imgH="380880" progId="Equation.DSMT4">
                  <p:embed/>
                </p:oleObj>
              </mc:Choice>
              <mc:Fallback>
                <p:oleObj name="Equation" r:id="rId4" imgW="4406760" imgH="3808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304DF24-9D9E-7D65-28CD-2712DE41DA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4563795"/>
                        <a:ext cx="9799268" cy="847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514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5C0B-8C49-4FF5-3AF5-84C5DF41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AEFB-4C3D-7ECD-1AEC-C4952408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WAIC in an applied model comparison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946D00-029B-9D45-64DC-E04A50E51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4605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WAIC table gives estimate uncertainty</a:t>
            </a:r>
          </a:p>
          <a:p>
            <a:pPr lvl="1"/>
            <a:r>
              <a:rPr lang="en-US" dirty="0"/>
              <a:t>‘Best’ model may not be much better</a:t>
            </a:r>
          </a:p>
          <a:p>
            <a:r>
              <a:rPr lang="en-US" dirty="0"/>
              <a:t>WAIC model also shows test for influential data points</a:t>
            </a:r>
          </a:p>
          <a:p>
            <a:pPr lvl="1"/>
            <a:r>
              <a:rPr lang="en-US" dirty="0"/>
              <a:t>If one data point is overly influential, WAIC is biased estimate of score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98891-AEBC-B5D4-C15B-3AA1F0EA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9F00DC-DEA9-9C8A-459B-FD5CFFD7F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71" y="3604982"/>
            <a:ext cx="10591746" cy="17336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28ABC2-AF83-D952-1199-1A757D360048}"/>
              </a:ext>
            </a:extLst>
          </p:cNvPr>
          <p:cNvSpPr txBox="1"/>
          <p:nvPr/>
        </p:nvSpPr>
        <p:spPr>
          <a:xfrm>
            <a:off x="468371" y="5338583"/>
            <a:ext cx="91008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p_waic</a:t>
            </a:r>
            <a:r>
              <a:rPr lang="en-US" dirty="0"/>
              <a:t> estimates the model complexity (the number of effective parameters)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can be used to get improved predictions by using a weighted combination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dse</a:t>
            </a:r>
            <a:r>
              <a:rPr lang="en-US" dirty="0"/>
              <a:t> is the standard error of the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Warning means that there are influential points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3B8F4-BF09-854B-3C67-797ED98DC804}"/>
              </a:ext>
            </a:extLst>
          </p:cNvPr>
          <p:cNvSpPr txBox="1"/>
          <p:nvPr/>
        </p:nvSpPr>
        <p:spPr>
          <a:xfrm>
            <a:off x="468371" y="3230532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L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IL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penguin_idata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</a:t>
            </a:r>
            <a:r>
              <a:rPr lang="en-I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waic</a:t>
            </a:r>
            <a:r>
              <a:rPr lang="en-IL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6538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9B0DC-2CF2-353E-0E1C-7CD8F156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power is not the only criterion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1EA2-C1AD-1B20-9C5C-7167EC682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different criteria for a good model</a:t>
            </a:r>
          </a:p>
          <a:p>
            <a:pPr lvl="1"/>
            <a:r>
              <a:rPr lang="en-US" dirty="0"/>
              <a:t>Building theories</a:t>
            </a:r>
          </a:p>
          <a:p>
            <a:pPr lvl="1"/>
            <a:r>
              <a:rPr lang="en-US" dirty="0"/>
              <a:t>Testing hypotheses</a:t>
            </a:r>
          </a:p>
          <a:p>
            <a:pPr lvl="1"/>
            <a:r>
              <a:rPr lang="en-US" dirty="0"/>
              <a:t>Predicting the future</a:t>
            </a:r>
          </a:p>
          <a:p>
            <a:r>
              <a:rPr lang="en-US" dirty="0"/>
              <a:t>When evaluating models, we should consider all three:</a:t>
            </a:r>
          </a:p>
          <a:p>
            <a:pPr lvl="1"/>
            <a:r>
              <a:rPr lang="en-US" dirty="0"/>
              <a:t>Does it have predictive power?</a:t>
            </a:r>
          </a:p>
          <a:p>
            <a:pPr lvl="1"/>
            <a:r>
              <a:rPr lang="en-US" dirty="0"/>
              <a:t>Does it inform us about our scientific hypotheses?</a:t>
            </a:r>
          </a:p>
          <a:p>
            <a:pPr lvl="1"/>
            <a:r>
              <a:rPr lang="en-US" dirty="0"/>
              <a:t>Does it give us information about meaningful parameters?</a:t>
            </a:r>
          </a:p>
          <a:p>
            <a:r>
              <a:rPr lang="en-US" dirty="0"/>
              <a:t>In different situations, these may have different importance?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2E22B-8498-BEF4-FD5C-BBE91B18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04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C9886-5A78-A0A4-DC6D-92CF69938BB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47FCE22E-1273-E7FF-412C-734E56055E1D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10.5 Cross-validation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B3DA6A62-2A17-4B4A-9F3A-6DF5C05780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dirty="0"/>
              <a:t>Testing prediction by fitting to part of the data and testing on the other part</a:t>
            </a:r>
          </a:p>
        </p:txBody>
      </p:sp>
    </p:spTree>
    <p:extLst>
      <p:ext uri="{BB962C8B-B14F-4D97-AF65-F5344CB8AC3E}">
        <p14:creationId xmlns:p14="http://schemas.microsoft.com/office/powerpoint/2010/main" val="328582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5D65E9-8BE9-4234-6660-32873140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WAIC is only an estimate of true validation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8FB51-7F2B-8A33-ECCF-70AFF28ED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15746"/>
          </a:xfrm>
        </p:spPr>
        <p:txBody>
          <a:bodyPr/>
          <a:lstStyle/>
          <a:p>
            <a:r>
              <a:rPr lang="en-US" dirty="0"/>
              <a:t>WAIC estimates the ability to predict new data</a:t>
            </a:r>
          </a:p>
          <a:p>
            <a:r>
              <a:rPr lang="en-US" dirty="0"/>
              <a:t>Testing the model on actual new data is called validation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69376-D6C7-7940-8234-C7603730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259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C659-9F12-E8CE-2D3B-A1CA658F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and cross-validation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F3475-B6F4-5CBD-9020-F1D0E0DA1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1931" cy="4463208"/>
          </a:xfrm>
        </p:spPr>
        <p:txBody>
          <a:bodyPr>
            <a:normAutofit/>
          </a:bodyPr>
          <a:lstStyle/>
          <a:p>
            <a:r>
              <a:rPr lang="en-US" dirty="0"/>
              <a:t>Strategies for validation</a:t>
            </a:r>
          </a:p>
          <a:p>
            <a:pPr lvl="1"/>
            <a:r>
              <a:rPr lang="en-US" dirty="0"/>
              <a:t>True validation</a:t>
            </a:r>
          </a:p>
          <a:p>
            <a:pPr lvl="2"/>
            <a:r>
              <a:rPr lang="en-US" dirty="0"/>
              <a:t>Go out and collect a new data set</a:t>
            </a:r>
          </a:p>
          <a:p>
            <a:pPr lvl="1"/>
            <a:r>
              <a:rPr lang="en-US" dirty="0"/>
              <a:t>Withheld data</a:t>
            </a:r>
          </a:p>
          <a:p>
            <a:pPr lvl="2"/>
            <a:r>
              <a:rPr lang="en-US" dirty="0"/>
              <a:t> Divide data into train and test</a:t>
            </a:r>
          </a:p>
          <a:p>
            <a:pPr lvl="2"/>
            <a:r>
              <a:rPr lang="en-US" dirty="0"/>
              <a:t>Sometimes into train, test, and validate</a:t>
            </a:r>
          </a:p>
          <a:p>
            <a:pPr lvl="1"/>
            <a:r>
              <a:rPr lang="en-US" dirty="0"/>
              <a:t>Cross-validation</a:t>
            </a:r>
          </a:p>
          <a:p>
            <a:pPr lvl="2"/>
            <a:r>
              <a:rPr lang="en-US" dirty="0"/>
              <a:t>Train on subsets of data</a:t>
            </a:r>
          </a:p>
          <a:p>
            <a:pPr lvl="2"/>
            <a:r>
              <a:rPr lang="en-US" dirty="0"/>
              <a:t>Test on others</a:t>
            </a:r>
          </a:p>
          <a:p>
            <a:pPr lvl="2"/>
            <a:r>
              <a:rPr lang="en-US" dirty="0"/>
              <a:t>Repeat over subsets</a:t>
            </a:r>
          </a:p>
          <a:p>
            <a:pPr lv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1D3AF-0026-348F-A155-B1C31A2B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3DFC8-A959-42A7-F460-E696C8D72A57}"/>
              </a:ext>
            </a:extLst>
          </p:cNvPr>
          <p:cNvSpPr txBox="1"/>
          <p:nvPr/>
        </p:nvSpPr>
        <p:spPr>
          <a:xfrm>
            <a:off x="7109927" y="1950098"/>
            <a:ext cx="471456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True validation is expensive and time consuming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0EF06-FC93-CCA9-FC7E-2982EC03E727}"/>
              </a:ext>
            </a:extLst>
          </p:cNvPr>
          <p:cNvSpPr txBox="1"/>
          <p:nvPr/>
        </p:nvSpPr>
        <p:spPr>
          <a:xfrm>
            <a:off x="7109927" y="3173811"/>
            <a:ext cx="3776803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Withheld data is vulnerable to leakage</a:t>
            </a:r>
          </a:p>
          <a:p>
            <a:r>
              <a:rPr lang="en-US" dirty="0"/>
              <a:t>There is a bias variance tradeoff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D73FB-A97A-8DDF-B7EB-42DB1FAEEAC4}"/>
              </a:ext>
            </a:extLst>
          </p:cNvPr>
          <p:cNvSpPr txBox="1"/>
          <p:nvPr/>
        </p:nvSpPr>
        <p:spPr>
          <a:xfrm>
            <a:off x="7109927" y="4441914"/>
            <a:ext cx="432599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Cross-validation requires multiple model fits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3679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FDF5-B81E-C7AC-93AD-C31D6121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9C55-C162-75A8-56BC-B62CB8B1A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1686" cy="4351338"/>
          </a:xfrm>
        </p:spPr>
        <p:txBody>
          <a:bodyPr/>
          <a:lstStyle/>
          <a:p>
            <a:r>
              <a:rPr lang="en-US" dirty="0"/>
              <a:t>Divide the data into k chunks</a:t>
            </a:r>
          </a:p>
          <a:p>
            <a:r>
              <a:rPr lang="en-US" dirty="0"/>
              <a:t>For each chunk</a:t>
            </a:r>
          </a:p>
          <a:p>
            <a:pPr lvl="1"/>
            <a:r>
              <a:rPr lang="en-US" dirty="0"/>
              <a:t>Fit model to the rest of the chunks</a:t>
            </a:r>
          </a:p>
          <a:p>
            <a:pPr lvl="1"/>
            <a:r>
              <a:rPr lang="en-US" dirty="0"/>
              <a:t>Evaluate log likelihood on that chunk</a:t>
            </a:r>
          </a:p>
          <a:p>
            <a:r>
              <a:rPr lang="en-US" dirty="0"/>
              <a:t>Average predictive ability across chunks</a:t>
            </a:r>
          </a:p>
          <a:p>
            <a:endParaRPr lang="en-US" dirty="0"/>
          </a:p>
          <a:p>
            <a:r>
              <a:rPr lang="en-US" dirty="0"/>
              <a:t>Widely used in machine learning</a:t>
            </a:r>
          </a:p>
          <a:p>
            <a:r>
              <a:rPr lang="en-US" dirty="0"/>
              <a:t>Problematic in Bayesian analysis </a:t>
            </a:r>
          </a:p>
          <a:p>
            <a:pPr lvl="1"/>
            <a:r>
              <a:rPr lang="en-US" dirty="0"/>
              <a:t>Because fitting models is expensive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D051B-5AA9-E74A-E23F-B4EBE120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D541C-88B6-B9AD-AFCF-9486908EF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307" y="1027906"/>
            <a:ext cx="5037555" cy="22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649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9752-8B1F-79CA-2978-DAA7FA3E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Leave-one-out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2238-AECC-118C-D70B-F794BADBE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7493"/>
          </a:xfrm>
        </p:spPr>
        <p:txBody>
          <a:bodyPr/>
          <a:lstStyle/>
          <a:p>
            <a:r>
              <a:rPr lang="en-US" dirty="0"/>
              <a:t>Make N chunks of size 1</a:t>
            </a:r>
          </a:p>
          <a:p>
            <a:r>
              <a:rPr lang="en-US" dirty="0"/>
              <a:t>Approximate instead of refitting the model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FFAF7-3A54-8858-0E55-9D7A0387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48</a:t>
            </a:fld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3C4572A-EA0C-D840-CE5B-91AA2E91D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903659"/>
              </p:ext>
            </p:extLst>
          </p:nvPr>
        </p:nvGraphicFramePr>
        <p:xfrm>
          <a:off x="2173384" y="5225234"/>
          <a:ext cx="5825403" cy="75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355320" progId="Equation.DSMT4">
                  <p:embed/>
                </p:oleObj>
              </mc:Choice>
              <mc:Fallback>
                <p:oleObj name="Equation" r:id="rId2" imgW="2755800" imgH="3553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3C4572A-EA0C-D840-CE5B-91AA2E91D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73384" y="5225234"/>
                        <a:ext cx="5825403" cy="751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F7DD7A-DEB1-DACC-A0CC-3D4752EC4D69}"/>
              </a:ext>
            </a:extLst>
          </p:cNvPr>
          <p:cNvSpPr txBox="1"/>
          <p:nvPr/>
        </p:nvSpPr>
        <p:spPr>
          <a:xfrm>
            <a:off x="1383748" y="3180409"/>
            <a:ext cx="4712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Expected log predictive density</a:t>
            </a:r>
            <a:endParaRPr lang="en-IL" sz="280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CAC96F2-6AE8-9D38-5453-DA7F7C360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760455"/>
              </p:ext>
            </p:extLst>
          </p:nvPr>
        </p:nvGraphicFramePr>
        <p:xfrm>
          <a:off x="2173384" y="4384140"/>
          <a:ext cx="59801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279360" progId="Equation.DSMT4">
                  <p:embed/>
                </p:oleObj>
              </mc:Choice>
              <mc:Fallback>
                <p:oleObj name="Equation" r:id="rId4" imgW="27302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73384" y="4384140"/>
                        <a:ext cx="5980113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1550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D2C8-04A8-4B77-FD80-87643400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19F2-F1E7-F547-35C8-C9E56A46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LOO-CV is an unbiased estimate of ELPD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80F3D-8822-9EA1-A3B0-F9D83E5B4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7493"/>
          </a:xfrm>
        </p:spPr>
        <p:txBody>
          <a:bodyPr/>
          <a:lstStyle/>
          <a:p>
            <a:r>
              <a:rPr lang="en-US" dirty="0"/>
              <a:t>Where WAIC corrects a biased </a:t>
            </a:r>
            <a:r>
              <a:rPr lang="en-US" dirty="0" err="1"/>
              <a:t>estaimte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10714-536D-B498-8E8C-79578824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49</a:t>
            </a:fld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9E62C13-C0C1-D484-8E9F-78BBC2913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502700"/>
              </p:ext>
            </p:extLst>
          </p:nvPr>
        </p:nvGraphicFramePr>
        <p:xfrm>
          <a:off x="2173384" y="5501459"/>
          <a:ext cx="5825403" cy="75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355320" progId="Equation.DSMT4">
                  <p:embed/>
                </p:oleObj>
              </mc:Choice>
              <mc:Fallback>
                <p:oleObj name="Equation" r:id="rId2" imgW="2755800" imgH="3553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3C4572A-EA0C-D840-CE5B-91AA2E91D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73384" y="5501459"/>
                        <a:ext cx="5825403" cy="751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20559CA-25F4-6B48-0235-8D027E20C7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973545"/>
              </p:ext>
            </p:extLst>
          </p:nvPr>
        </p:nvGraphicFramePr>
        <p:xfrm>
          <a:off x="2173384" y="3281616"/>
          <a:ext cx="59801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279360" progId="Equation.DSMT4">
                  <p:embed/>
                </p:oleObj>
              </mc:Choice>
              <mc:Fallback>
                <p:oleObj name="Equation" r:id="rId4" imgW="2730240" imgH="2793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CAC96F2-6AE8-9D38-5453-DA7F7C360B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73384" y="3281616"/>
                        <a:ext cx="5980113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28D940A-6528-C537-9D4D-74110B8463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612911"/>
              </p:ext>
            </p:extLst>
          </p:nvPr>
        </p:nvGraphicFramePr>
        <p:xfrm>
          <a:off x="2166143" y="4400550"/>
          <a:ext cx="7597175" cy="75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93880" imgH="355320" progId="Equation.DSMT4">
                  <p:embed/>
                </p:oleObj>
              </mc:Choice>
              <mc:Fallback>
                <p:oleObj name="Equation" r:id="rId6" imgW="35938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143" y="4400550"/>
                        <a:ext cx="7597175" cy="751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540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698D-C996-36A7-DAED-356846AB1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4537-370B-A7B5-300E-0681E30D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 is expensive if done literally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A83B-8933-32C0-B778-E14246F62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06"/>
            <a:ext cx="10515600" cy="1197493"/>
          </a:xfrm>
        </p:spPr>
        <p:txBody>
          <a:bodyPr/>
          <a:lstStyle/>
          <a:p>
            <a:r>
              <a:rPr lang="en-US" dirty="0"/>
              <a:t>We are taking the integral over the wrong probability</a:t>
            </a:r>
          </a:p>
          <a:p>
            <a:r>
              <a:rPr lang="en-US" dirty="0"/>
              <a:t>This trick is called importance sampling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2B550-E292-A7A5-1DAA-18FB6AB4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50</a:t>
            </a:fld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70045D1-9E3E-5282-9C74-895E49EB0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664" y="2704589"/>
          <a:ext cx="5825403" cy="75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355320" progId="Equation.DSMT4">
                  <p:embed/>
                </p:oleObj>
              </mc:Choice>
              <mc:Fallback>
                <p:oleObj name="Equation" r:id="rId2" imgW="2755800" imgH="3553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70045D1-9E3E-5282-9C74-895E49EB03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2664" y="2704589"/>
                        <a:ext cx="5825403" cy="751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1A3A92F8-8EA9-152B-06B2-1DC992B0478A}"/>
              </a:ext>
            </a:extLst>
          </p:cNvPr>
          <p:cNvGrpSpPr/>
          <p:nvPr/>
        </p:nvGrpSpPr>
        <p:grpSpPr>
          <a:xfrm>
            <a:off x="7809722" y="2090057"/>
            <a:ext cx="4021494" cy="2220686"/>
            <a:chOff x="7809722" y="2090057"/>
            <a:chExt cx="4021494" cy="22206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DE149C-18B3-7708-684C-A897ECB61FD9}"/>
                </a:ext>
              </a:extLst>
            </p:cNvPr>
            <p:cNvSpPr/>
            <p:nvPr/>
          </p:nvSpPr>
          <p:spPr>
            <a:xfrm>
              <a:off x="7809722" y="2090057"/>
              <a:ext cx="4021494" cy="222068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A3CE14DA-33AE-D585-9F9B-E2B1B31778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41835" y="2638373"/>
            <a:ext cx="2063750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84200" imgH="279360" progId="Equation.DSMT4">
                    <p:embed/>
                  </p:oleObj>
                </mc:Choice>
                <mc:Fallback>
                  <p:oleObj name="Equation" r:id="rId4" imgW="1384200" imgH="27936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A3CE14DA-33AE-D585-9F9B-E2B1B317787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141835" y="2638373"/>
                          <a:ext cx="2063750" cy="415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FB996C-9B29-0624-AC11-7A9C80BFC3B9}"/>
                </a:ext>
              </a:extLst>
            </p:cNvPr>
            <p:cNvSpPr txBox="1"/>
            <p:nvPr/>
          </p:nvSpPr>
          <p:spPr>
            <a:xfrm>
              <a:off x="7893698" y="2219553"/>
              <a:ext cx="1051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If we had</a:t>
              </a:r>
              <a:endParaRPr lang="en-IL" dirty="0"/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52E3E963-A8B4-D573-A8C9-4880E3B401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22220" y="3453667"/>
            <a:ext cx="3232507" cy="558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25680" imgH="419040" progId="Equation.DSMT4">
                    <p:embed/>
                  </p:oleObj>
                </mc:Choice>
                <mc:Fallback>
                  <p:oleObj name="Equation" r:id="rId6" imgW="2425680" imgH="41904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52E3E963-A8B4-D573-A8C9-4880E3B4011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222220" y="3453667"/>
                          <a:ext cx="3232507" cy="5584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75D930-E5DB-8F4F-1FD2-48CF96F0612C}"/>
                </a:ext>
              </a:extLst>
            </p:cNvPr>
            <p:cNvSpPr txBox="1"/>
            <p:nvPr/>
          </p:nvSpPr>
          <p:spPr>
            <a:xfrm>
              <a:off x="7893698" y="3127082"/>
              <a:ext cx="1671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would write</a:t>
              </a:r>
              <a:endParaRPr lang="en-IL" dirty="0"/>
            </a:p>
          </p:txBody>
        </p:sp>
      </p:grp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09C213A-26E9-2F5F-233D-C9E1BF0B76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454" y="3509651"/>
          <a:ext cx="5424874" cy="100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27200" imgH="469800" progId="Equation.DSMT4">
                  <p:embed/>
                </p:oleObj>
              </mc:Choice>
              <mc:Fallback>
                <p:oleObj name="Equation" r:id="rId8" imgW="2527200" imgH="4698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209C213A-26E9-2F5F-233D-C9E1BF0B7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32454" y="3509651"/>
                        <a:ext cx="5424874" cy="1008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61BA76F-875D-BAC8-D3B9-259F755A39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876" y="4644725"/>
          <a:ext cx="4552528" cy="100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469800" progId="Equation.DSMT4">
                  <p:embed/>
                </p:oleObj>
              </mc:Choice>
              <mc:Fallback>
                <p:oleObj name="Equation" r:id="rId10" imgW="2120760" imgH="4698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161BA76F-875D-BAC8-D3B9-259F755A39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32876" y="4644725"/>
                        <a:ext cx="4552528" cy="1008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18F38C14-74BD-ED46-C8B7-520A836324DB}"/>
              </a:ext>
            </a:extLst>
          </p:cNvPr>
          <p:cNvGrpSpPr/>
          <p:nvPr/>
        </p:nvGrpSpPr>
        <p:grpSpPr>
          <a:xfrm>
            <a:off x="7809722" y="4431678"/>
            <a:ext cx="4021494" cy="2220686"/>
            <a:chOff x="7809722" y="2090057"/>
            <a:chExt cx="4021494" cy="222068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C5F1694-3A4C-063C-23AC-E44801DE69B3}"/>
                </a:ext>
              </a:extLst>
            </p:cNvPr>
            <p:cNvSpPr/>
            <p:nvPr/>
          </p:nvSpPr>
          <p:spPr>
            <a:xfrm>
              <a:off x="7809722" y="2090057"/>
              <a:ext cx="4021494" cy="222068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74BC5A27-E746-D21B-7E91-8E3C088792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93100" y="2638367"/>
            <a:ext cx="1760538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80800" imgH="279360" progId="Equation.DSMT4">
                    <p:embed/>
                  </p:oleObj>
                </mc:Choice>
                <mc:Fallback>
                  <p:oleObj name="Equation" r:id="rId12" imgW="1180800" imgH="279360" progId="Equation.DSMT4">
                    <p:embed/>
                    <p:pic>
                      <p:nvPicPr>
                        <p:cNvPr id="18" name="Object 17">
                          <a:extLst>
                            <a:ext uri="{FF2B5EF4-FFF2-40B4-BE49-F238E27FC236}">
                              <a16:creationId xmlns:a16="http://schemas.microsoft.com/office/drawing/2014/main" id="{74BC5A27-E746-D21B-7E91-8E3C088792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293100" y="2638367"/>
                          <a:ext cx="1760538" cy="415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A9DF18-2D7C-9769-24A9-5FFBDC3019F2}"/>
                </a:ext>
              </a:extLst>
            </p:cNvPr>
            <p:cNvSpPr txBox="1"/>
            <p:nvPr/>
          </p:nvSpPr>
          <p:spPr>
            <a:xfrm>
              <a:off x="7893698" y="2219553"/>
              <a:ext cx="1450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Now we have</a:t>
              </a:r>
              <a:endParaRPr lang="en-IL" dirty="0"/>
            </a:p>
          </p:txBody>
        </p:sp>
        <p:graphicFrame>
          <p:nvGraphicFramePr>
            <p:cNvPr id="20" name="Object 19">
              <a:extLst>
                <a:ext uri="{FF2B5EF4-FFF2-40B4-BE49-F238E27FC236}">
                  <a16:creationId xmlns:a16="http://schemas.microsoft.com/office/drawing/2014/main" id="{F9E83F8A-6040-F115-430A-C48B797475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83600" y="3454342"/>
            <a:ext cx="2709863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31840" imgH="419040" progId="Equation.DSMT4">
                    <p:embed/>
                  </p:oleObj>
                </mc:Choice>
                <mc:Fallback>
                  <p:oleObj name="Equation" r:id="rId14" imgW="2031840" imgH="419040" progId="Equation.DSMT4">
                    <p:embed/>
                    <p:pic>
                      <p:nvPicPr>
                        <p:cNvPr id="20" name="Object 19">
                          <a:extLst>
                            <a:ext uri="{FF2B5EF4-FFF2-40B4-BE49-F238E27FC236}">
                              <a16:creationId xmlns:a16="http://schemas.microsoft.com/office/drawing/2014/main" id="{F9E83F8A-6040-F115-430A-C48B797475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483600" y="3454342"/>
                          <a:ext cx="2709863" cy="557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8FB9DA-200E-13BB-1DC3-47675C65602D}"/>
                </a:ext>
              </a:extLst>
            </p:cNvPr>
            <p:cNvSpPr txBox="1"/>
            <p:nvPr/>
          </p:nvSpPr>
          <p:spPr>
            <a:xfrm>
              <a:off x="7893698" y="3127082"/>
              <a:ext cx="16657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 we can write</a:t>
              </a:r>
              <a:endParaRPr lang="en-IL" dirty="0"/>
            </a:p>
          </p:txBody>
        </p:sp>
      </p:grp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B4119B5-59FE-27F6-4DE5-DD37B350A2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454" y="5772500"/>
          <a:ext cx="3248891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00200" imgH="419040" progId="Equation.DSMT4">
                  <p:embed/>
                </p:oleObj>
              </mc:Choice>
              <mc:Fallback>
                <p:oleObj name="Equation" r:id="rId16" imgW="1600200" imgH="41904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B4119B5-59FE-27F6-4DE5-DD37B350A2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32454" y="5772500"/>
                        <a:ext cx="3248891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889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3D88-2AB0-17F1-4058-2F9B9FCC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4853-A254-A707-5F0B-12E039BC7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126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Importance sampling approximates LOO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7A02E-F48D-9743-83F9-C587333A8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013"/>
            <a:ext cx="10515600" cy="961657"/>
          </a:xfrm>
        </p:spPr>
        <p:txBody>
          <a:bodyPr>
            <a:normAutofit/>
          </a:bodyPr>
          <a:lstStyle/>
          <a:p>
            <a:r>
              <a:rPr lang="en-US" dirty="0"/>
              <a:t>This approximates the expected log likelihood of new data</a:t>
            </a:r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A1B01D-4A1F-AF72-CB92-1EE0710FA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22329"/>
              </p:ext>
            </p:extLst>
          </p:nvPr>
        </p:nvGraphicFramePr>
        <p:xfrm>
          <a:off x="919163" y="3240088"/>
          <a:ext cx="504666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520" imgH="660240" progId="Equation.DSMT4">
                  <p:embed/>
                </p:oleObj>
              </mc:Choice>
              <mc:Fallback>
                <p:oleObj name="Equation" r:id="rId2" imgW="2387520" imgH="6602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EA1B01D-4A1F-AF72-CB92-1EE0710FAB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9163" y="3240088"/>
                        <a:ext cx="5046662" cy="139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9F579BA-A68F-2E3E-B430-441F4D9237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047598"/>
              </p:ext>
            </p:extLst>
          </p:nvPr>
        </p:nvGraphicFramePr>
        <p:xfrm>
          <a:off x="7676307" y="3280568"/>
          <a:ext cx="2284763" cy="1119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317160" progId="Equation.DSMT4">
                  <p:embed/>
                </p:oleObj>
              </mc:Choice>
              <mc:Fallback>
                <p:oleObj name="Equation" r:id="rId4" imgW="647640" imgH="3171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9F579BA-A68F-2E3E-B430-441F4D9237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76307" y="3280568"/>
                        <a:ext cx="2284763" cy="1119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341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4E2D-D4AA-E033-F44F-B40BBD65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3210"/>
          </a:xfrm>
        </p:spPr>
        <p:txBody>
          <a:bodyPr>
            <a:normAutofit/>
          </a:bodyPr>
          <a:lstStyle/>
          <a:p>
            <a:r>
              <a:rPr lang="en-US" dirty="0"/>
              <a:t>PSIS stabilizes the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F95A-9711-458C-78A1-F2EDC28DE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74" y="1228466"/>
            <a:ext cx="9953306" cy="21212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Pareto distribution has wider tails</a:t>
            </a:r>
          </a:p>
          <a:p>
            <a:pPr lvl="1"/>
            <a:r>
              <a:rPr lang="en-US" dirty="0"/>
              <a:t>Like the Student’s t distribution</a:t>
            </a:r>
          </a:p>
          <a:p>
            <a:pPr lvl="1"/>
            <a:r>
              <a:rPr lang="en-US" dirty="0"/>
              <a:t>But much wider</a:t>
            </a:r>
          </a:p>
          <a:p>
            <a:r>
              <a:rPr lang="en-US" dirty="0"/>
              <a:t>Replace extreme weights (usually top 20%)</a:t>
            </a:r>
          </a:p>
          <a:p>
            <a:pPr lvl="1"/>
            <a:r>
              <a:rPr lang="en-US" dirty="0"/>
              <a:t>Using Pareto distribution fit to the rest of the weights</a:t>
            </a:r>
          </a:p>
          <a:p>
            <a:pPr lvl="1"/>
            <a:r>
              <a:rPr lang="en-US" dirty="0"/>
              <a:t>Unreliable if shape parameter &gt; 1!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04A80-1B0B-E47C-D76A-39214C86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1E9D2-DFD6-2962-B706-6BC40D77A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6214"/>
            <a:ext cx="6361299" cy="288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6B3C50-CF22-7D98-7871-FA60254F4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97" y="3396214"/>
            <a:ext cx="4256967" cy="29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639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1B4-E926-BEA5-4495-06A9A161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169"/>
          </a:xfrm>
        </p:spPr>
        <p:txBody>
          <a:bodyPr/>
          <a:lstStyle/>
          <a:p>
            <a:r>
              <a:rPr lang="en-US" dirty="0"/>
              <a:t>Pareto k is a diagnostic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08E5-832D-119D-9317-E875D535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3"/>
            <a:ext cx="10515600" cy="1907813"/>
          </a:xfrm>
        </p:spPr>
        <p:txBody>
          <a:bodyPr>
            <a:normAutofit/>
          </a:bodyPr>
          <a:lstStyle/>
          <a:p>
            <a:r>
              <a:rPr lang="en-US" dirty="0"/>
              <a:t>In importance sampling</a:t>
            </a:r>
          </a:p>
          <a:p>
            <a:pPr lvl="1"/>
            <a:r>
              <a:rPr lang="en-US" dirty="0"/>
              <a:t>You sample the proposal distribution instead of the target distribution</a:t>
            </a:r>
          </a:p>
          <a:p>
            <a:pPr lvl="1"/>
            <a:r>
              <a:rPr lang="en-US" dirty="0"/>
              <a:t>And then weight the samples according to the ratio</a:t>
            </a:r>
          </a:p>
          <a:p>
            <a:r>
              <a:rPr lang="en-US" dirty="0"/>
              <a:t>This has a problem if the importance weight is too large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0975A-4E5B-061B-93CA-B657241A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53</a:t>
            </a:fld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9C56222-DAA5-0716-4F86-CDC218AAA7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198" y="3671894"/>
          <a:ext cx="3817775" cy="53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253800" progId="Equation.DSMT4">
                  <p:embed/>
                </p:oleObj>
              </mc:Choice>
              <mc:Fallback>
                <p:oleObj name="Equation" r:id="rId2" imgW="1828800" imgH="253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9C56222-DAA5-0716-4F86-CDC218AAA7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198" y="3671894"/>
                        <a:ext cx="3817775" cy="530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A565A3-CAE7-A722-2363-90C420AC6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198" y="4403784"/>
          <a:ext cx="3817776" cy="515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253800" progId="Equation.DSMT4">
                  <p:embed/>
                </p:oleObj>
              </mc:Choice>
              <mc:Fallback>
                <p:oleObj name="Equation" r:id="rId4" imgW="1879560" imgH="253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4A565A3-CAE7-A722-2363-90C420AC64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198" y="4403784"/>
                        <a:ext cx="3817776" cy="515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D947B79-20BE-CCD1-5954-639136E73B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199" y="5121343"/>
          <a:ext cx="5128716" cy="916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8720" imgH="469800" progId="Equation.DSMT4">
                  <p:embed/>
                </p:oleObj>
              </mc:Choice>
              <mc:Fallback>
                <p:oleObj name="Equation" r:id="rId6" imgW="2628720" imgH="469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D947B79-20BE-CCD1-5954-639136E73B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8199" y="5121343"/>
                        <a:ext cx="5128716" cy="916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16098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BB80-0232-8636-3EAC-F72F5CFA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PSIS-LOO is usually our preferred comparison tool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F4D85-8E7B-FEE6-CF43-3E810F4801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Pareto-smoothed importance sampled leave one out cross validation</a:t>
                </a:r>
              </a:p>
              <a:p>
                <a:r>
                  <a:rPr lang="en-US" dirty="0"/>
                  <a:t>Estimates the predicted likelihood of new data</a:t>
                </a:r>
              </a:p>
              <a:p>
                <a:pPr lvl="1"/>
                <a:r>
                  <a:rPr lang="en-US" dirty="0"/>
                  <a:t>Can be used to compare the predictive power of models</a:t>
                </a:r>
              </a:p>
              <a:p>
                <a:r>
                  <a:rPr lang="en-US" dirty="0"/>
                  <a:t>Need to check diagnostic: the shape parameter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suggests LOO-CV estimates may be unreliable</a:t>
                </a:r>
              </a:p>
              <a:p>
                <a:pPr lvl="1"/>
                <a:r>
                  <a:rPr lang="en-US" dirty="0"/>
                  <a:t>In this case, full cross-validation is required</a:t>
                </a: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F4D85-8E7B-FEE6-CF43-3E810F4801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F2E0-AC88-141F-7E88-BE9A71E3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71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7B68-41E5-9794-496C-B44850F5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2936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model comparison criteria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2D7FF-B335-E927-1DB1-FEE91B34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0976B-0B91-580C-09E2-08A7CA9CD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1" y="4650055"/>
            <a:ext cx="10401614" cy="1609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861B1-6817-27F5-8594-E2FC69E8E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61" y="2770405"/>
            <a:ext cx="10591746" cy="1733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13B8F3-2DB2-80B6-7D0F-909E10EE7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96" y="1137952"/>
            <a:ext cx="6839179" cy="1397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F9BA50-13FD-0110-437A-33573873D48F}"/>
              </a:ext>
            </a:extLst>
          </p:cNvPr>
          <p:cNvSpPr txBox="1"/>
          <p:nvPr/>
        </p:nvSpPr>
        <p:spPr>
          <a:xfrm>
            <a:off x="7600793" y="1550377"/>
            <a:ext cx="496268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L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IL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IL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penguin_idata</a:t>
            </a:r>
            <a:r>
              <a:rPr lang="en-IL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</a:t>
            </a:r>
            <a:r>
              <a:rPr lang="en-I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"loo"</a:t>
            </a:r>
            <a:r>
              <a:rPr lang="en-IL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5652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3C01-2511-CD4F-C4CC-CE554AFC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365125"/>
            <a:ext cx="11953875" cy="1325563"/>
          </a:xfrm>
        </p:spPr>
        <p:txBody>
          <a:bodyPr/>
          <a:lstStyle/>
          <a:p>
            <a:r>
              <a:rPr lang="en-US" dirty="0"/>
              <a:t>Important caveats about predictive power measures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F2C38-18F5-2C28-EB87-D43EBF4E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cannot use them on models with different likelihoods</a:t>
            </a:r>
          </a:p>
          <a:p>
            <a:pPr lvl="1"/>
            <a:r>
              <a:rPr lang="en-US" dirty="0"/>
              <a:t>Changing the likelihood is like changing the scale of measurement</a:t>
            </a:r>
          </a:p>
          <a:p>
            <a:r>
              <a:rPr lang="en-US" dirty="0"/>
              <a:t>They apply to hierarchical models but not trivially</a:t>
            </a:r>
          </a:p>
          <a:p>
            <a:pPr lvl="1"/>
            <a:r>
              <a:rPr lang="en-US" dirty="0"/>
              <a:t>Are you predicting: </a:t>
            </a:r>
          </a:p>
          <a:p>
            <a:pPr lvl="2"/>
            <a:r>
              <a:rPr lang="en-US" dirty="0"/>
              <a:t>New observations with the same groups</a:t>
            </a:r>
          </a:p>
          <a:p>
            <a:pPr lvl="2"/>
            <a:r>
              <a:rPr lang="en-US" dirty="0"/>
              <a:t>New observations with different groups</a:t>
            </a:r>
          </a:p>
          <a:p>
            <a:pPr lvl="2"/>
            <a:r>
              <a:rPr lang="en-US" dirty="0"/>
              <a:t>New groups and not new observations</a:t>
            </a:r>
          </a:p>
          <a:p>
            <a:r>
              <a:rPr lang="en-US" dirty="0"/>
              <a:t>Influential observations or a large Pareto smoothing constant should not be ignored</a:t>
            </a:r>
          </a:p>
          <a:p>
            <a:r>
              <a:rPr lang="en-US" dirty="0"/>
              <a:t>More than one model may be viable</a:t>
            </a:r>
          </a:p>
          <a:p>
            <a:pPr lvl="1"/>
            <a:r>
              <a:rPr lang="en-US" dirty="0"/>
              <a:t>Sometimes differences are small</a:t>
            </a:r>
          </a:p>
          <a:p>
            <a:pPr lvl="1"/>
            <a:r>
              <a:rPr lang="en-US" dirty="0"/>
              <a:t>Sometimes a model can be preferred despite lower predictive power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DCADD-21AC-32BD-2437-0A2C5C27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448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F9AE7-4665-058C-5997-A376A048326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F3E73E95-45EB-88C2-FCD0-15719C1920C2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10.6 Updated Bayesian workflow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349865F9-7875-3219-6A19-94E89992A9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dirty="0"/>
              <a:t>Model comparison is one step in a larger analysis</a:t>
            </a:r>
          </a:p>
        </p:txBody>
      </p:sp>
    </p:spTree>
    <p:extLst>
      <p:ext uri="{BB962C8B-B14F-4D97-AF65-F5344CB8AC3E}">
        <p14:creationId xmlns:p14="http://schemas.microsoft.com/office/powerpoint/2010/main" val="1873781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D3EF-CCC0-8B03-2DE5-DC395C04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 belongs inside the workflow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9270C-99ED-C1D5-4659-6D1B80ED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180B4-6327-4F76-9D9C-20FE87B92A58}"/>
              </a:ext>
            </a:extLst>
          </p:cNvPr>
          <p:cNvSpPr txBox="1"/>
          <p:nvPr/>
        </p:nvSpPr>
        <p:spPr>
          <a:xfrm>
            <a:off x="762000" y="1841500"/>
            <a:ext cx="5969000" cy="255454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1F4E6B"/>
                </a:solidFill>
              </a:rPr>
              <a:t>1   Scientific question
2   Candidate models
3   Prior predictive check
4   Sample
5   Diagnostics
6   Posterior predictive check
7   Compare predictive accuracy
8   Interpret model differences</a:t>
            </a:r>
            <a:endParaRPr lang="en-IL" sz="2000" b="1" dirty="0">
              <a:solidFill>
                <a:srgbClr val="1F4E6B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370BBD-6972-4916-B75D-9851DF0CF5FB}"/>
              </a:ext>
            </a:extLst>
          </p:cNvPr>
          <p:cNvSpPr/>
          <p:nvPr/>
        </p:nvSpPr>
        <p:spPr>
          <a:xfrm>
            <a:off x="5962650" y="1841500"/>
            <a:ext cx="5416550" cy="1797050"/>
          </a:xfrm>
          <a:prstGeom prst="roundRect">
            <a:avLst/>
          </a:prstGeom>
          <a:solidFill>
            <a:srgbClr val="EAF2F8"/>
          </a:solidFill>
          <a:ln w="12700" cap="flat" cmpd="sng" algn="ctr">
            <a:solidFill>
              <a:srgbClr val="1F6FB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L" sz="2400">
              <a:solidFill>
                <a:srgbClr val="1F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6DF9B-2F3D-4097-BF12-73F0F62662B8}"/>
              </a:ext>
            </a:extLst>
          </p:cNvPr>
          <p:cNvSpPr txBox="1"/>
          <p:nvPr/>
        </p:nvSpPr>
        <p:spPr>
          <a:xfrm>
            <a:off x="7289800" y="1968500"/>
            <a:ext cx="391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F3A5F"/>
                </a:solidFill>
              </a:rPr>
              <a:t>Watch for</a:t>
            </a:r>
            <a:endParaRPr lang="en-IL" sz="1700" b="1">
              <a:solidFill>
                <a:srgbClr val="1F3A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23A4A-E0C8-4CC3-A6AB-700C96EFC79A}"/>
              </a:ext>
            </a:extLst>
          </p:cNvPr>
          <p:cNvSpPr txBox="1"/>
          <p:nvPr/>
        </p:nvSpPr>
        <p:spPr>
          <a:xfrm>
            <a:off x="6096000" y="2413000"/>
            <a:ext cx="51054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F3A5F"/>
                </a:solidFill>
              </a:rPr>
              <a:t>•  Compare models that answer the scientific question
•  Never compare models before checking diagnostics
•  Predictive ranking usually doesn’t replace interpretation</a:t>
            </a:r>
            <a:endParaRPr lang="en-IL" sz="1600" dirty="0">
              <a:solidFill>
                <a:srgbClr val="1F3A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683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5E12-F37D-E99E-FE5A-976054D6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 size and prediction answer different questions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1D82C-7202-1002-E68E-B9DDF2A6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600"/>
            <a:ext cx="10515600" cy="838200"/>
          </a:xfrm>
        </p:spPr>
        <p:txBody>
          <a:bodyPr>
            <a:normAutofit fontScale="92500" lnSpcReduction="20000"/>
          </a:bodyPr>
          <a:lstStyle/>
          <a:p>
            <a:r>
              <a:rPr lang="en-US" sz="1600"/>
              <a:t>Effect size is about interpretation
Predictive comparison is about expected future performance
A model can have a meaningful effect but weak predictive advantage</a:t>
            </a:r>
            <a:endParaRPr lang="en-IL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342CD-4A2F-C68F-11FA-ED34094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59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EED2AC-FF1F-4E20-8D86-542247E29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67808"/>
              </p:ext>
            </p:extLst>
          </p:nvPr>
        </p:nvGraphicFramePr>
        <p:xfrm>
          <a:off x="838200" y="1778000"/>
          <a:ext cx="10515600" cy="296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20822807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1123183772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IL" sz="16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93943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IL" sz="1600" b="1" dirty="0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How much variance does the model explain?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3845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600" b="1" dirty="0"/>
                        <a:t>partial R²</a:t>
                      </a:r>
                      <a:r>
                        <a:rPr lang="en-US" sz="1600" b="1" dirty="0"/>
                        <a:t>, </a:t>
                      </a:r>
                      <a:r>
                        <a:rPr lang="en-IL" sz="1600" b="1" dirty="0"/>
                        <a:t>η²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/>
                        <a:t>What does one term add?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68900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IL" sz="1600" b="1"/>
                        <a:t>Cohen's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 dirty="0"/>
                        <a:t>Effect size in residual-variance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427280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IL" sz="1600" b="1"/>
                        <a:t>AIC / WAIC / LOO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L" sz="1600" dirty="0"/>
                        <a:t>Which model predicts new data better?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1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426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40DD-04B3-811B-991A-B472CCB1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to birth weight and gestation age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7A6FE-4F43-1602-4C2E-7DAC6FD2B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074" y="1825624"/>
            <a:ext cx="3133725" cy="43465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Looking at this with our new lens</a:t>
            </a:r>
          </a:p>
          <a:p>
            <a:pPr lvl="1"/>
            <a:r>
              <a:rPr lang="en-US" dirty="0"/>
              <a:t>What were the effects</a:t>
            </a:r>
          </a:p>
          <a:p>
            <a:pPr lvl="1"/>
            <a:r>
              <a:rPr lang="en-US" dirty="0"/>
              <a:t>What were the effect sizes</a:t>
            </a:r>
          </a:p>
          <a:p>
            <a:pPr lvl="1"/>
            <a:r>
              <a:rPr lang="en-US" dirty="0"/>
              <a:t>Which model has the best predictive power</a:t>
            </a:r>
          </a:p>
          <a:p>
            <a:pPr lvl="1"/>
            <a:r>
              <a:rPr lang="en-US" dirty="0"/>
              <a:t>Which model deepens our understanding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C637F-EA89-3624-898F-45A7AAC5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F3A3C-2901-CE94-A4A7-0630827B6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56" y="1825625"/>
            <a:ext cx="3686175" cy="223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23712C-DD86-0AFB-98F5-490FD70FC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260" y="1825625"/>
            <a:ext cx="3686175" cy="2232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3EE9F-F154-EE13-FA8A-056F0128B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57" y="4306212"/>
            <a:ext cx="3686175" cy="223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B9FEB1-1C32-5755-3F66-EE674214F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260" y="4306213"/>
            <a:ext cx="3686175" cy="223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30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F2BA-2E5A-EB28-BDC2-A9D2A835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sizes for the models and the factors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75732-E426-D259-A328-1B76584AE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3725"/>
          </a:xfrm>
        </p:spPr>
        <p:txBody>
          <a:bodyPr/>
          <a:lstStyle/>
          <a:p>
            <a:r>
              <a:rPr lang="en-US" dirty="0"/>
              <a:t>Effect sizes of smoking in the interaction model are largest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CAB98-B827-2D25-BB85-C024B706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95D11-82EC-6B30-E3ED-902CEC20B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220" y="3124164"/>
            <a:ext cx="10686316" cy="270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85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0E0C-70E2-D123-9B04-8A480F3E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6CD3-9C14-2CDD-F35B-4DE134E6A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3775"/>
          </a:xfrm>
        </p:spPr>
        <p:txBody>
          <a:bodyPr/>
          <a:lstStyle/>
          <a:p>
            <a:r>
              <a:rPr lang="en-US" dirty="0"/>
              <a:t>The standard error of all the differences is on the scale of the differences themselves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A5A62-F733-7B66-F096-A84F59A9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4E22EB-80D0-7A49-B2E3-6271C9BA4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747" y="3107531"/>
            <a:ext cx="10982506" cy="20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610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F00E0-B2CE-178E-BF4C-D7263A2B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65125"/>
            <a:ext cx="1173243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central parameter of interest is the effect of smoking</a:t>
            </a:r>
            <a:endParaRPr lang="en-IL" sz="36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EE9226-943D-9507-56AE-F3C3514C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22350"/>
          </a:xfrm>
        </p:spPr>
        <p:txBody>
          <a:bodyPr/>
          <a:lstStyle/>
          <a:p>
            <a:r>
              <a:rPr lang="en-US" dirty="0"/>
              <a:t>A small effect in both leading models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F5FB0-DF9E-F79F-827A-1D39F07E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B04589-9197-EB40-C126-A7F80BA4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163023"/>
            <a:ext cx="3790950" cy="2193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40EEC7-A7BA-EB79-54A8-018788E92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725" y="4163022"/>
            <a:ext cx="3792135" cy="2193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306AA5-E4AF-B912-2D3E-E373F6FF3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197" y="4162527"/>
            <a:ext cx="3792135" cy="219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226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DAC3-5EFB-4507-63B1-703469D2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68100" cy="1325563"/>
          </a:xfrm>
        </p:spPr>
        <p:txBody>
          <a:bodyPr/>
          <a:lstStyle/>
          <a:p>
            <a:r>
              <a:rPr lang="en-US" dirty="0"/>
              <a:t>Summarizing the smoking / birthweight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2D338-1BCE-EF46-175F-51E683D9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the model as a whole</a:t>
            </a:r>
          </a:p>
          <a:p>
            <a:pPr lvl="1"/>
            <a:r>
              <a:rPr lang="en-US" dirty="0"/>
              <a:t>All models have similar overall effect size</a:t>
            </a:r>
          </a:p>
          <a:p>
            <a:pPr lvl="1"/>
            <a:r>
              <a:rPr lang="en-US" dirty="0"/>
              <a:t>All models have similar predictive power</a:t>
            </a:r>
          </a:p>
          <a:p>
            <a:r>
              <a:rPr lang="en-US" dirty="0"/>
              <a:t>For the parameter of interest</a:t>
            </a:r>
          </a:p>
          <a:p>
            <a:pPr lvl="1"/>
            <a:r>
              <a:rPr lang="en-US" dirty="0"/>
              <a:t>Simple additive model gives tightest bounds</a:t>
            </a:r>
          </a:p>
          <a:p>
            <a:pPr lvl="1"/>
            <a:r>
              <a:rPr lang="en-US" dirty="0"/>
              <a:t>Interaction model has largest effect size but large uncertainty</a:t>
            </a:r>
          </a:p>
          <a:p>
            <a:endParaRPr lang="en-US" dirty="0"/>
          </a:p>
          <a:p>
            <a:r>
              <a:rPr lang="en-US" dirty="0"/>
              <a:t>Taken together</a:t>
            </a:r>
          </a:p>
          <a:p>
            <a:pPr lvl="1"/>
            <a:r>
              <a:rPr lang="en-US" dirty="0"/>
              <a:t>Across models there is a small but consistent effect of smoking</a:t>
            </a:r>
          </a:p>
          <a:p>
            <a:pPr lvl="1"/>
            <a:r>
              <a:rPr lang="en-US" dirty="0" err="1"/>
              <a:t>Acorss</a:t>
            </a:r>
            <a:r>
              <a:rPr lang="en-US" dirty="0"/>
              <a:t> models there is no strong evidence for </a:t>
            </a:r>
            <a:r>
              <a:rPr lang="en-US"/>
              <a:t>an interaction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A6EFC-9D92-D09D-4A06-54129CD2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557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8D03F-B45A-C216-CB44-D77E0C6DDAB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FA98155E-932F-1AAA-88C7-C83285292FCE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10.7 Updated Bayesian workflow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904699D0-1937-DC39-5BFD-72B8616582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62517" y="2371197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dirty="0"/>
              <a:t>Model comparison is one step in a larger analysis</a:t>
            </a:r>
          </a:p>
        </p:txBody>
      </p:sp>
    </p:spTree>
    <p:extLst>
      <p:ext uri="{BB962C8B-B14F-4D97-AF65-F5344CB8AC3E}">
        <p14:creationId xmlns:p14="http://schemas.microsoft.com/office/powerpoint/2010/main" val="3164892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58FA-5694-EB14-9F59-F4898DB4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 complex data one last time!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D75008-9B04-D53D-36A7-EC82D4157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Combining regression with hierarchical models!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750FB-4C0C-1CA9-C381-FEF47A10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66</a:t>
            </a:fld>
            <a:endParaRPr lang="en-GB"/>
          </a:p>
        </p:txBody>
      </p:sp>
      <p:graphicFrame>
        <p:nvGraphicFramePr>
          <p:cNvPr id="101" name="Concept Picture"/>
          <p:cNvGraphicFramePr/>
          <p:nvPr/>
        </p:nvGraphicFramePr>
        <p:xfrm>
          <a:off x="2984500" y="3251200"/>
          <a:ext cx="6223000" cy="298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856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7B2653-B11A-470F-A5C5-01B897D3C25E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195f5eac-3c69-4e61-ab16-5f011e74c22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18258</TotalTime>
  <Words>2438</Words>
  <Application>Microsoft Office PowerPoint</Application>
  <PresentationFormat>Widescreen</PresentationFormat>
  <Paragraphs>431</Paragraphs>
  <Slides>66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Arial</vt:lpstr>
      <vt:lpstr>Calibri</vt:lpstr>
      <vt:lpstr>Calibri Light</vt:lpstr>
      <vt:lpstr>Cambria Math</vt:lpstr>
      <vt:lpstr>Consolas</vt:lpstr>
      <vt:lpstr>Source Sans Pro</vt:lpstr>
      <vt:lpstr>Office Theme</vt:lpstr>
      <vt:lpstr>1_Office Theme</vt:lpstr>
      <vt:lpstr>Equation</vt:lpstr>
      <vt:lpstr>MathType 7.0 Equation</vt:lpstr>
      <vt:lpstr>Statistics 367-1-4361 Model Comparison</vt:lpstr>
      <vt:lpstr>10.1 Overfitting and underfitting</vt:lpstr>
      <vt:lpstr>Often many models are possible</vt:lpstr>
      <vt:lpstr>So far we have only one type of comparison</vt:lpstr>
      <vt:lpstr>R^2 measures the amount of fit</vt:lpstr>
      <vt:lpstr>Occam’s razor is about useful simplicity</vt:lpstr>
      <vt:lpstr>We want to model some data</vt:lpstr>
      <vt:lpstr>A model that underfits</vt:lpstr>
      <vt:lpstr>A model that overfits</vt:lpstr>
      <vt:lpstr>We want a model that balances overfitting and underfitting</vt:lpstr>
      <vt:lpstr>R^2 increases with the number of parameters</vt:lpstr>
      <vt:lpstr>How well should a model fit?</vt:lpstr>
      <vt:lpstr>Leaving out one data point</vt:lpstr>
      <vt:lpstr>10.2 What makes a good model</vt:lpstr>
      <vt:lpstr>All models are wrong</vt:lpstr>
      <vt:lpstr>Some models are useful</vt:lpstr>
      <vt:lpstr>Theory building</vt:lpstr>
      <vt:lpstr>Hypothesis testing</vt:lpstr>
      <vt:lpstr>Prediction</vt:lpstr>
      <vt:lpstr>Model comparison depends on the goal</vt:lpstr>
      <vt:lpstr>10.3 Kullback-Liebler Divergence</vt:lpstr>
      <vt:lpstr>We do not have the true model</vt:lpstr>
      <vt:lpstr>A distance measure might help</vt:lpstr>
      <vt:lpstr>A measure of distance between models</vt:lpstr>
      <vt:lpstr>Surprise connects probability and prediction</vt:lpstr>
      <vt:lpstr>Entropy is a measure of how predictable reality is</vt:lpstr>
      <vt:lpstr>Cross-entropy is surprise for wrong guesses</vt:lpstr>
      <vt:lpstr>KL divergence measures extra surprise</vt:lpstr>
      <vt:lpstr>In our case: the model from the truth</vt:lpstr>
      <vt:lpstr>The score</vt:lpstr>
      <vt:lpstr>Calculating the score</vt:lpstr>
      <vt:lpstr>The difference of two D_KL for two models</vt:lpstr>
      <vt:lpstr>To compare models we calculate the score</vt:lpstr>
      <vt:lpstr>10.4 Information criteria</vt:lpstr>
      <vt:lpstr>Information criteria estimate out-of-sample prediction</vt:lpstr>
      <vt:lpstr>Several criteria estimate predictive accuracy</vt:lpstr>
      <vt:lpstr>AIC is the Frequentist information criterion</vt:lpstr>
      <vt:lpstr>AIC has limitations</vt:lpstr>
      <vt:lpstr>Comparing different models</vt:lpstr>
      <vt:lpstr>AIC in an applied model comparison</vt:lpstr>
      <vt:lpstr>WAIC is a Bayesian information criterion</vt:lpstr>
      <vt:lpstr>WAIC in an applied model comparison</vt:lpstr>
      <vt:lpstr>Predictive power is not the only criterion</vt:lpstr>
      <vt:lpstr>10.5 Cross-validation</vt:lpstr>
      <vt:lpstr>WAIC is only an estimate of true validation</vt:lpstr>
      <vt:lpstr>Validation and cross-validation</vt:lpstr>
      <vt:lpstr>K-fold cross-validation</vt:lpstr>
      <vt:lpstr>Leave-one-out cross-validation</vt:lpstr>
      <vt:lpstr>LOO-CV is an unbiased estimate of ELPD</vt:lpstr>
      <vt:lpstr>LOO is expensive if done literally</vt:lpstr>
      <vt:lpstr>Importance sampling approximates LOO</vt:lpstr>
      <vt:lpstr>PSIS stabilizes the approximation</vt:lpstr>
      <vt:lpstr>Pareto k is a diagnostic</vt:lpstr>
      <vt:lpstr>PSIS-LOO is usually our preferred comparison tool</vt:lpstr>
      <vt:lpstr>Comparing model comparison criteria</vt:lpstr>
      <vt:lpstr>Important caveats about predictive power measures</vt:lpstr>
      <vt:lpstr>10.6 Updated Bayesian workflow</vt:lpstr>
      <vt:lpstr>Model comparison belongs inside the workflow</vt:lpstr>
      <vt:lpstr>Effect size and prediction answer different questions</vt:lpstr>
      <vt:lpstr>Returning to birth weight and gestation age</vt:lpstr>
      <vt:lpstr>Effect sizes for the models and the factors</vt:lpstr>
      <vt:lpstr>Model comparison</vt:lpstr>
      <vt:lpstr>The central parameter of interest is the effect of smoking</vt:lpstr>
      <vt:lpstr>Summarizing the smoking / birthweight analysis</vt:lpstr>
      <vt:lpstr>10.7 Updated Bayesian workflow</vt:lpstr>
      <vt:lpstr>Next time: complex data one last time!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180</cp:revision>
  <cp:lastPrinted>2025-05-17T16:05:11Z</cp:lastPrinted>
  <dcterms:created xsi:type="dcterms:W3CDTF">2016-03-07T06:16:50Z</dcterms:created>
  <dcterms:modified xsi:type="dcterms:W3CDTF">2026-06-17T04:58:49Z</dcterms:modified>
</cp:coreProperties>
</file>