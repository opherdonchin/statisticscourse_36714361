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9"/>
  </p:notesMasterIdLst>
  <p:sldIdLst>
    <p:sldId id="259" r:id="rId3"/>
    <p:sldId id="331" r:id="rId4"/>
    <p:sldId id="320" r:id="rId5"/>
    <p:sldId id="380" r:id="rId6"/>
    <p:sldId id="381" r:id="rId7"/>
    <p:sldId id="261" r:id="rId8"/>
    <p:sldId id="262" r:id="rId9"/>
    <p:sldId id="263" r:id="rId10"/>
    <p:sldId id="264" r:id="rId11"/>
    <p:sldId id="382" r:id="rId12"/>
    <p:sldId id="266" r:id="rId13"/>
    <p:sldId id="383" r:id="rId14"/>
    <p:sldId id="384" r:id="rId15"/>
    <p:sldId id="385" r:id="rId16"/>
    <p:sldId id="386" r:id="rId17"/>
    <p:sldId id="387" r:id="rId18"/>
    <p:sldId id="388" r:id="rId19"/>
    <p:sldId id="389" r:id="rId20"/>
    <p:sldId id="390" r:id="rId21"/>
    <p:sldId id="391" r:id="rId22"/>
    <p:sldId id="392" r:id="rId23"/>
    <p:sldId id="393" r:id="rId24"/>
    <p:sldId id="394" r:id="rId25"/>
    <p:sldId id="395" r:id="rId26"/>
    <p:sldId id="396" r:id="rId27"/>
    <p:sldId id="397" r:id="rId28"/>
    <p:sldId id="398" r:id="rId29"/>
    <p:sldId id="399" r:id="rId30"/>
    <p:sldId id="400" r:id="rId31"/>
    <p:sldId id="404" r:id="rId32"/>
    <p:sldId id="402" r:id="rId33"/>
    <p:sldId id="401" r:id="rId34"/>
    <p:sldId id="405" r:id="rId35"/>
    <p:sldId id="403" r:id="rId36"/>
    <p:sldId id="406" r:id="rId37"/>
    <p:sldId id="407" r:id="rId38"/>
    <p:sldId id="408" r:id="rId39"/>
    <p:sldId id="409" r:id="rId40"/>
    <p:sldId id="410" r:id="rId41"/>
    <p:sldId id="411" r:id="rId42"/>
    <p:sldId id="413" r:id="rId43"/>
    <p:sldId id="412" r:id="rId44"/>
    <p:sldId id="414" r:id="rId45"/>
    <p:sldId id="787" r:id="rId46"/>
    <p:sldId id="420" r:id="rId47"/>
    <p:sldId id="481" r:id="rId48"/>
    <p:sldId id="788" r:id="rId49"/>
    <p:sldId id="790" r:id="rId50"/>
    <p:sldId id="792" r:id="rId51"/>
    <p:sldId id="789" r:id="rId52"/>
    <p:sldId id="791" r:id="rId53"/>
    <p:sldId id="415" r:id="rId54"/>
    <p:sldId id="793" r:id="rId55"/>
    <p:sldId id="803" r:id="rId56"/>
    <p:sldId id="483" r:id="rId57"/>
    <p:sldId id="336" r:id="rId58"/>
    <p:sldId id="802" r:id="rId59"/>
    <p:sldId id="416" r:id="rId60"/>
    <p:sldId id="795" r:id="rId61"/>
    <p:sldId id="794" r:id="rId62"/>
    <p:sldId id="804" r:id="rId63"/>
    <p:sldId id="805" r:id="rId64"/>
    <p:sldId id="417" r:id="rId65"/>
    <p:sldId id="796" r:id="rId66"/>
    <p:sldId id="797" r:id="rId67"/>
    <p:sldId id="806" r:id="rId68"/>
    <p:sldId id="418" r:id="rId69"/>
    <p:sldId id="567" r:id="rId70"/>
    <p:sldId id="568" r:id="rId71"/>
    <p:sldId id="569" r:id="rId72"/>
    <p:sldId id="570" r:id="rId73"/>
    <p:sldId id="571" r:id="rId74"/>
    <p:sldId id="572" r:id="rId75"/>
    <p:sldId id="798" r:id="rId76"/>
    <p:sldId id="419" r:id="rId77"/>
    <p:sldId id="800" r:id="rId78"/>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5" d="100"/>
          <a:sy n="105" d="100"/>
        </p:scale>
        <p:origin x="22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23B62C-F423-485E-A74C-C6F9D5DDBFA7}" type="datetimeFigureOut">
              <a:rPr lang="en-IL" smtClean="0"/>
              <a:t>01/07/2026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E2201-9D55-4D53-A2FC-BBB353870328}" type="slidenum">
              <a:rPr lang="en-IL" smtClean="0"/>
              <a:t>‹#›</a:t>
            </a:fld>
            <a:endParaRPr lang="en-IL"/>
          </a:p>
        </p:txBody>
      </p:sp>
    </p:spTree>
    <p:extLst>
      <p:ext uri="{BB962C8B-B14F-4D97-AF65-F5344CB8AC3E}">
        <p14:creationId xmlns:p14="http://schemas.microsoft.com/office/powerpoint/2010/main" val="3614050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6837130" name="Slide Image Placeholder 1"/>
          <p:cNvSpPr>
            <a:spLocks noGrp="1" noRot="1" noChangeAspect="1"/>
          </p:cNvSpPr>
          <p:nvPr>
            <p:ph type="sldImg"/>
          </p:nvPr>
        </p:nvSpPr>
        <p:spPr bwMode="auto"/>
      </p:sp>
      <p:sp>
        <p:nvSpPr>
          <p:cNvPr id="952849001" name="Notes Placeholder 2"/>
          <p:cNvSpPr>
            <a:spLocks noGrp="1"/>
          </p:cNvSpPr>
          <p:nvPr>
            <p:ph type="body" idx="1"/>
          </p:nvPr>
        </p:nvSpPr>
        <p:spPr bwMode="auto"/>
        <p:txBody>
          <a:bodyPr/>
          <a:lstStyle/>
          <a:p>
            <a:pPr>
              <a:defRPr/>
            </a:pPr>
            <a:endParaRPr/>
          </a:p>
        </p:txBody>
      </p:sp>
      <p:sp>
        <p:nvSpPr>
          <p:cNvPr id="276730261"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35B6515-622C-FC29-7871-8E913427F4DB}"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81233449" name="Slide Image Placeholder 1"/>
          <p:cNvSpPr>
            <a:spLocks noGrp="1" noRot="1" noChangeAspect="1"/>
          </p:cNvSpPr>
          <p:nvPr>
            <p:ph type="sldImg"/>
          </p:nvPr>
        </p:nvSpPr>
        <p:spPr bwMode="auto"/>
      </p:sp>
      <p:sp>
        <p:nvSpPr>
          <p:cNvPr id="1592097909" name="Notes Placeholder 2"/>
          <p:cNvSpPr>
            <a:spLocks noGrp="1"/>
          </p:cNvSpPr>
          <p:nvPr>
            <p:ph type="body" idx="1"/>
          </p:nvPr>
        </p:nvSpPr>
        <p:spPr bwMode="auto"/>
        <p:txBody>
          <a:bodyPr/>
          <a:lstStyle/>
          <a:p>
            <a:pPr>
              <a:defRPr/>
            </a:pPr>
            <a:endParaRPr/>
          </a:p>
        </p:txBody>
      </p:sp>
      <p:sp>
        <p:nvSpPr>
          <p:cNvPr id="884452151"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B7E03-D699-8374-F8C7-0EEC85F0F447}"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70571403" name="Slide Image Placeholder 1"/>
          <p:cNvSpPr>
            <a:spLocks noGrp="1" noRot="1" noChangeAspect="1"/>
          </p:cNvSpPr>
          <p:nvPr>
            <p:ph type="sldImg"/>
          </p:nvPr>
        </p:nvSpPr>
        <p:spPr bwMode="auto"/>
      </p:sp>
      <p:sp>
        <p:nvSpPr>
          <p:cNvPr id="1831081508" name="Notes Placeholder 2"/>
          <p:cNvSpPr>
            <a:spLocks noGrp="1"/>
          </p:cNvSpPr>
          <p:nvPr>
            <p:ph type="body" idx="1"/>
          </p:nvPr>
        </p:nvSpPr>
        <p:spPr bwMode="auto"/>
        <p:txBody>
          <a:bodyPr/>
          <a:lstStyle/>
          <a:p>
            <a:pPr>
              <a:defRPr/>
            </a:pPr>
            <a:endParaRPr/>
          </a:p>
        </p:txBody>
      </p:sp>
      <p:sp>
        <p:nvSpPr>
          <p:cNvPr id="1014668109"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0B93A7-25F9-E2C2-9A9A-70F2F6CA6179}"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EEE070-C53B-FFD7-987F-0EAD90FEDC0B}"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97407257" name="Slide Image Placeholder 1"/>
          <p:cNvSpPr>
            <a:spLocks noGrp="1" noRot="1" noChangeAspect="1"/>
          </p:cNvSpPr>
          <p:nvPr>
            <p:ph type="sldImg"/>
          </p:nvPr>
        </p:nvSpPr>
        <p:spPr bwMode="auto"/>
      </p:sp>
      <p:sp>
        <p:nvSpPr>
          <p:cNvPr id="1055910439" name="Notes Placeholder 2"/>
          <p:cNvSpPr>
            <a:spLocks noGrp="1"/>
          </p:cNvSpPr>
          <p:nvPr>
            <p:ph type="body" idx="1"/>
          </p:nvPr>
        </p:nvSpPr>
        <p:spPr bwMode="auto"/>
        <p:txBody>
          <a:bodyPr/>
          <a:lstStyle/>
          <a:p>
            <a:pPr>
              <a:defRPr/>
            </a:pPr>
            <a:endParaRPr/>
          </a:p>
        </p:txBody>
      </p:sp>
      <p:sp>
        <p:nvSpPr>
          <p:cNvPr id="1926022909" name="Slide Number Placeholder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0" cap="none" spc="0" normalizeH="0" baseline="0" noProof="0">
              <a:ln>
                <a:noFill/>
              </a:ln>
              <a:solidFill>
                <a:prstClr val="black"/>
              </a:solidFill>
              <a:effectLst/>
              <a:uLnTx/>
              <a:uFillTx/>
              <a:latin typeface="Aptos"/>
              <a:cs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4798D-E462-1EE2-183C-29872A2D7CFF}"/>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C316D72F-1B30-ECDE-1A6C-738C9BAB52BA}"/>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A683FF16-5596-93ED-A421-1A04F3294752}"/>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8E0AC46F-DE83-FD7C-42ED-9623B4C03275}"/>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2254329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BFF19-EC68-30A5-3269-0654D9B84E2B}"/>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90D068CC-DC75-F786-A450-F18EEA5B4A22}"/>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BE5A53C4-F887-DBEB-85DB-9F87744C915A}"/>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82518AA9-6BE4-3233-1D5F-02C4B0445C84}"/>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2502785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58A9E-832B-C185-6EE6-47E70485F054}"/>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11FDA91B-16E6-E2BD-27B3-6800CE648DD1}"/>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A1AC3812-0C08-328B-ECB6-1C7E796AAE69}"/>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EC91A25F-6499-531F-731A-A4CA6A8D8249}"/>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2399075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EB401-C581-881A-F541-84F104EC9DAD}"/>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AF60B058-B071-B476-28B2-CB2A007244CA}"/>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59BD785A-1BCB-00B1-E2EA-9AF9BA7E313F}"/>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86551C40-7E59-6F1C-9A47-4CB5ECFA382F}"/>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603693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70630-02CE-C53F-5ECA-51DBDE32A649}"/>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5FE4D7FD-AC97-FCF3-C1E1-D12D4E00F00D}"/>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497C2ED5-C744-7770-E892-A586D81FDE98}"/>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8077EDB9-E86F-2DEA-2845-966D80C9C9D5}"/>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2318341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D9378-8E19-4460-5B00-585ABFE8606C}"/>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88D7BBCA-44BA-1955-9C68-025BF2F54980}"/>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A486E496-B4C7-F9BC-43F3-CBC4E9439694}"/>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F2734022-9451-9127-1A83-F534BFD599D3}"/>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4121105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1ABB7-3195-883C-B1FF-AEA5B0575D8E}"/>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3501EA4F-00C8-54CD-11B7-6613DCE9E627}"/>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0699068A-8D86-7A24-5A4D-A1D6AB0CCDC7}"/>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AE622839-A595-33A6-70F1-84CEA6B29D2D}"/>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2042650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F52BD-71B0-F426-93C1-708E475A8FB4}"/>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3CFB6861-9123-7034-522D-334FDEE5B1C2}"/>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A836BB59-6E38-2ADB-014A-A82C8EE9E2EA}"/>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2DFBA58A-E564-29F6-C6B1-87D95B37D29A}"/>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2040290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7E050-0B4E-099B-B15D-A5AFA2E9A41B}"/>
            </a:ext>
          </a:extLst>
        </p:cNvPr>
        <p:cNvGrpSpPr/>
        <p:nvPr/>
      </p:nvGrpSpPr>
      <p:grpSpPr bwMode="auto">
        <a:xfrm>
          <a:off x="0" y="0"/>
          <a:ext cx="0" cy="0"/>
          <a:chOff x="0" y="0"/>
          <a:chExt cx="0" cy="0"/>
        </a:xfrm>
      </p:grpSpPr>
      <p:sp>
        <p:nvSpPr>
          <p:cNvPr id="1897407257" name="Slide Image Placeholder 1">
            <a:extLst>
              <a:ext uri="{FF2B5EF4-FFF2-40B4-BE49-F238E27FC236}">
                <a16:creationId xmlns:a16="http://schemas.microsoft.com/office/drawing/2014/main" id="{F335BE11-2610-93F9-B1C9-85030C5620A7}"/>
              </a:ext>
            </a:extLst>
          </p:cNvPr>
          <p:cNvSpPr>
            <a:spLocks noGrp="1" noRot="1" noChangeAspect="1"/>
          </p:cNvSpPr>
          <p:nvPr>
            <p:ph type="sldImg"/>
          </p:nvPr>
        </p:nvSpPr>
        <p:spPr bwMode="auto"/>
      </p:sp>
      <p:sp>
        <p:nvSpPr>
          <p:cNvPr id="1055910439" name="Notes Placeholder 2">
            <a:extLst>
              <a:ext uri="{FF2B5EF4-FFF2-40B4-BE49-F238E27FC236}">
                <a16:creationId xmlns:a16="http://schemas.microsoft.com/office/drawing/2014/main" id="{55ADB801-AF38-92A9-CAB9-FE9BA480FEF3}"/>
              </a:ext>
            </a:extLst>
          </p:cNvPr>
          <p:cNvSpPr>
            <a:spLocks noGrp="1"/>
          </p:cNvSpPr>
          <p:nvPr>
            <p:ph type="body" idx="1"/>
          </p:nvPr>
        </p:nvSpPr>
        <p:spPr bwMode="auto"/>
        <p:txBody>
          <a:bodyPr/>
          <a:lstStyle/>
          <a:p>
            <a:pPr>
              <a:defRPr/>
            </a:pPr>
            <a:endParaRPr/>
          </a:p>
        </p:txBody>
      </p:sp>
      <p:sp>
        <p:nvSpPr>
          <p:cNvPr id="1926022909" name="Slide Number Placeholder 3">
            <a:extLst>
              <a:ext uri="{FF2B5EF4-FFF2-40B4-BE49-F238E27FC236}">
                <a16:creationId xmlns:a16="http://schemas.microsoft.com/office/drawing/2014/main" id="{6C076807-4579-E898-6CDD-B62ED319C398}"/>
              </a:ext>
            </a:extLst>
          </p:cNvPr>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A25673-227E-74C1-0C0A-A295F799DFA7}" type="slidenum">
              <a:rPr kumimoji="0" sz="1200" b="0" i="0" u="none" strike="noStrike" kern="0" cap="none" spc="0" normalizeH="0" baseline="0" noProof="0">
                <a:ln>
                  <a:noFill/>
                </a:ln>
                <a:solidFill>
                  <a:prstClr val="black"/>
                </a:solidFill>
                <a:effectLst/>
                <a:uLnTx/>
                <a:uFillTx/>
                <a:latin typeface="Aptos"/>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sz="1200" b="0" i="0" u="none" strike="noStrike" kern="0" cap="none" spc="0" normalizeH="0" baseline="0" noProof="0">
              <a:ln>
                <a:noFill/>
              </a:ln>
              <a:solidFill>
                <a:prstClr val="black"/>
              </a:solidFill>
              <a:effectLst/>
              <a:uLnTx/>
              <a:uFillTx/>
              <a:latin typeface="Aptos"/>
              <a:ea typeface="+mn-ea"/>
              <a:cs typeface="Arial"/>
            </a:endParaRPr>
          </a:p>
        </p:txBody>
      </p:sp>
    </p:spTree>
    <p:extLst>
      <p:ext uri="{BB962C8B-B14F-4D97-AF65-F5344CB8AC3E}">
        <p14:creationId xmlns:p14="http://schemas.microsoft.com/office/powerpoint/2010/main" val="3994081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54137-F653-283A-0684-C65480ACEF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510728FD-4DFC-147F-57FC-CBF73C04D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F08B78B0-98DE-BDF2-DEDC-52A10BB90AEF}"/>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5" name="Footer Placeholder 4">
            <a:extLst>
              <a:ext uri="{FF2B5EF4-FFF2-40B4-BE49-F238E27FC236}">
                <a16:creationId xmlns:a16="http://schemas.microsoft.com/office/drawing/2014/main" id="{A9006110-59C5-E989-20FF-95A152F117E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1308211-435F-077D-56B1-239A5A124269}"/>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175950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003B7-5639-0885-4D76-B0D81E37F2A2}"/>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B759FAB-24EC-C3FE-0A79-77132BD35E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ED920DA-5B8D-A02F-8583-C15D8D5F41D9}"/>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5" name="Footer Placeholder 4">
            <a:extLst>
              <a:ext uri="{FF2B5EF4-FFF2-40B4-BE49-F238E27FC236}">
                <a16:creationId xmlns:a16="http://schemas.microsoft.com/office/drawing/2014/main" id="{7CFFEA4E-5BCB-523F-AE50-061EEF3A970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98566E2-1637-E80F-100F-5692A817D693}"/>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3922059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6E84E-F58D-C899-68AF-909810574D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1B1CB371-E8C5-557D-13A8-C94FE6338F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2FAE8C-2C8B-456C-ECEE-2B6CBBA43DEB}"/>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5" name="Footer Placeholder 4">
            <a:extLst>
              <a:ext uri="{FF2B5EF4-FFF2-40B4-BE49-F238E27FC236}">
                <a16:creationId xmlns:a16="http://schemas.microsoft.com/office/drawing/2014/main" id="{67B7C080-B4C7-8C18-B94A-E1CD8D6970F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A8EAD97-B1E5-AB89-D0F6-749D393A0246}"/>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3049697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5FAE-7F8A-F3C6-F735-BA6D363B0466}"/>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3E3DB8A9-4A51-F3C5-C836-412C5F4412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29C00E5E-8681-F1B9-9F06-4995E4D45C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C66A3DEB-493A-65CC-B645-3F92C614F9D2}"/>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6" name="Footer Placeholder 5">
            <a:extLst>
              <a:ext uri="{FF2B5EF4-FFF2-40B4-BE49-F238E27FC236}">
                <a16:creationId xmlns:a16="http://schemas.microsoft.com/office/drawing/2014/main" id="{3FB09934-F134-261E-61FD-93F8E150B9F3}"/>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7BC42C29-B2BA-99B4-3D51-D653435B2EA3}"/>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3799120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26B16-AD85-A273-2E00-EF855DAD0A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925F2143-42CD-CAAA-FDD4-BE0B6C0593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086F00-4F12-5EF2-CDAE-4074BC99A2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9805E5BE-C6DF-D6F4-DA43-18BF900780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93A417-E03D-A4A5-0E6B-AF20F2CC8A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D4D6DCB4-18A6-D699-4DF6-F62F3337D567}"/>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8" name="Footer Placeholder 7">
            <a:extLst>
              <a:ext uri="{FF2B5EF4-FFF2-40B4-BE49-F238E27FC236}">
                <a16:creationId xmlns:a16="http://schemas.microsoft.com/office/drawing/2014/main" id="{44E4D565-B931-50BD-A3BF-5ECF3040FD3A}"/>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C2BD6F1-8F54-1B74-681B-9D5EAB1A9F6A}"/>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2132016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9C2F-57CA-414E-EEA6-40423659BBAD}"/>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78EE1-D175-8434-51C0-A106108BC316}"/>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4" name="Footer Placeholder 3">
            <a:extLst>
              <a:ext uri="{FF2B5EF4-FFF2-40B4-BE49-F238E27FC236}">
                <a16:creationId xmlns:a16="http://schemas.microsoft.com/office/drawing/2014/main" id="{0C36EB9A-56A8-5952-2021-80963E26BE5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1124FCD1-7B8F-99AD-4DED-D48A6600AEE4}"/>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1273095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485C43-41A5-EA04-1CA4-6965BBF270F2}"/>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3" name="Footer Placeholder 2">
            <a:extLst>
              <a:ext uri="{FF2B5EF4-FFF2-40B4-BE49-F238E27FC236}">
                <a16:creationId xmlns:a16="http://schemas.microsoft.com/office/drawing/2014/main" id="{09387B10-9818-EA7E-F31F-F378F6837313}"/>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1B105046-BCBB-DF51-10DE-2FAB38A23D6A}"/>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3384252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49B31-A960-E301-EE43-CE99551AEE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3E53935-061D-3CCA-9091-899E0473D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FD34EFA6-82FD-666A-9598-D2DA95DE82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B53CFC-60BC-69B4-E1E7-0886E26054E3}"/>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6" name="Footer Placeholder 5">
            <a:extLst>
              <a:ext uri="{FF2B5EF4-FFF2-40B4-BE49-F238E27FC236}">
                <a16:creationId xmlns:a16="http://schemas.microsoft.com/office/drawing/2014/main" id="{3A1EC1F1-218A-41F5-3442-B2E96597616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EFC8469-2F9C-55C1-4FB7-8BF010523005}"/>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3355837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F154E-8C1C-6447-57D0-E2B8983604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C12D6D2B-D1DB-0490-E332-95EED224F4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B34567B1-A398-320A-E8E5-7FA79DF3B6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9C9F46-93F3-6D65-63AC-8805D551FF8B}"/>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6" name="Footer Placeholder 5">
            <a:extLst>
              <a:ext uri="{FF2B5EF4-FFF2-40B4-BE49-F238E27FC236}">
                <a16:creationId xmlns:a16="http://schemas.microsoft.com/office/drawing/2014/main" id="{5409DEB1-C8D7-8BFC-5A3C-29E55FAD65B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3F84DFAD-4910-00CF-8419-8617CA3EFD89}"/>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3590705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A0DCF-29A5-CED5-04D5-766DA79AF14F}"/>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419C8817-FA1A-2664-9AF1-2D79441A2D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90F8BA4-D684-7965-5765-7F227C640BBB}"/>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5" name="Footer Placeholder 4">
            <a:extLst>
              <a:ext uri="{FF2B5EF4-FFF2-40B4-BE49-F238E27FC236}">
                <a16:creationId xmlns:a16="http://schemas.microsoft.com/office/drawing/2014/main" id="{2660EE35-C46A-0829-280D-6FEFBA18BE6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6E4E16D-EE8B-66B1-38CF-6A241C6ED956}"/>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3859903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EF79FA-A259-8A45-1648-3AE6B302AA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9A78FC8-C9BA-E3E7-189F-6C485A8B85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4857AC6-FC1F-2E38-2584-2F962C082B34}"/>
              </a:ext>
            </a:extLst>
          </p:cNvPr>
          <p:cNvSpPr>
            <a:spLocks noGrp="1"/>
          </p:cNvSpPr>
          <p:nvPr>
            <p:ph type="dt" sz="half" idx="10"/>
          </p:nvPr>
        </p:nvSpPr>
        <p:spPr/>
        <p:txBody>
          <a:bodyPr/>
          <a:lstStyle/>
          <a:p>
            <a:fld id="{169A44CF-36AE-45C2-B3AB-E4B77B31F562}" type="datetimeFigureOut">
              <a:rPr lang="en-IL" smtClean="0"/>
              <a:t>01/07/2026</a:t>
            </a:fld>
            <a:endParaRPr lang="en-IL"/>
          </a:p>
        </p:txBody>
      </p:sp>
      <p:sp>
        <p:nvSpPr>
          <p:cNvPr id="5" name="Footer Placeholder 4">
            <a:extLst>
              <a:ext uri="{FF2B5EF4-FFF2-40B4-BE49-F238E27FC236}">
                <a16:creationId xmlns:a16="http://schemas.microsoft.com/office/drawing/2014/main" id="{1DD10557-166B-7FB8-F8BB-32DA21B6365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AC5DDFB-DC2D-EA1F-2001-8D93E6C8262A}"/>
              </a:ext>
            </a:extLst>
          </p:cNvPr>
          <p:cNvSpPr>
            <a:spLocks noGrp="1"/>
          </p:cNvSpPr>
          <p:nvPr>
            <p:ph type="sldNum" sz="quarter" idx="12"/>
          </p:nvPr>
        </p:nvSpPr>
        <p:spPr/>
        <p:txBody>
          <a:bodyPr/>
          <a:lstStyle/>
          <a:p>
            <a:fld id="{8D7E84ED-6A6B-457E-A09B-8205D79C9D27}" type="slidenum">
              <a:rPr lang="en-IL" smtClean="0"/>
              <a:t>‹#›</a:t>
            </a:fld>
            <a:endParaRPr lang="en-IL"/>
          </a:p>
        </p:txBody>
      </p:sp>
    </p:spTree>
    <p:extLst>
      <p:ext uri="{BB962C8B-B14F-4D97-AF65-F5344CB8AC3E}">
        <p14:creationId xmlns:p14="http://schemas.microsoft.com/office/powerpoint/2010/main" val="3075803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523298996"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212212296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1325440757" name="Date Placeholder 3"/>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1857115832" name="Footer Placeholder 4"/>
          <p:cNvSpPr>
            <a:spLocks noGrp="1"/>
          </p:cNvSpPr>
          <p:nvPr>
            <p:ph type="ftr" sz="quarter" idx="11"/>
          </p:nvPr>
        </p:nvSpPr>
        <p:spPr bwMode="auto"/>
        <p:txBody>
          <a:bodyPr/>
          <a:lstStyle/>
          <a:p>
            <a:pPr>
              <a:defRPr/>
            </a:pPr>
            <a:endParaRPr/>
          </a:p>
        </p:txBody>
      </p:sp>
      <p:sp>
        <p:nvSpPr>
          <p:cNvPr id="320019087" name="Slide Number Placeholder 5"/>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3492305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090818430" name="Title 1"/>
          <p:cNvSpPr>
            <a:spLocks noGrp="1"/>
          </p:cNvSpPr>
          <p:nvPr>
            <p:ph type="title"/>
          </p:nvPr>
        </p:nvSpPr>
        <p:spPr bwMode="auto"/>
        <p:txBody>
          <a:bodyPr/>
          <a:lstStyle/>
          <a:p>
            <a:pPr>
              <a:defRPr/>
            </a:pPr>
            <a:r>
              <a:rPr lang="en-US"/>
              <a:t>Click to edit Master title style</a:t>
            </a:r>
            <a:endParaRPr/>
          </a:p>
        </p:txBody>
      </p:sp>
      <p:sp>
        <p:nvSpPr>
          <p:cNvPr id="156342731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74007647" name="Date Placeholder 3"/>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976874179" name="Footer Placeholder 4"/>
          <p:cNvSpPr>
            <a:spLocks noGrp="1"/>
          </p:cNvSpPr>
          <p:nvPr>
            <p:ph type="ftr" sz="quarter" idx="11"/>
          </p:nvPr>
        </p:nvSpPr>
        <p:spPr bwMode="auto"/>
        <p:txBody>
          <a:bodyPr/>
          <a:lstStyle/>
          <a:p>
            <a:pPr>
              <a:defRPr/>
            </a:pPr>
            <a:endParaRPr/>
          </a:p>
        </p:txBody>
      </p:sp>
      <p:sp>
        <p:nvSpPr>
          <p:cNvPr id="1806478135" name="Slide Number Placeholder 5"/>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3837687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079942263"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1902654751"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en-US"/>
              <a:t>Click to edit Master text styles</a:t>
            </a:r>
            <a:endParaRPr/>
          </a:p>
        </p:txBody>
      </p:sp>
      <p:sp>
        <p:nvSpPr>
          <p:cNvPr id="585135307" name="Date Placeholder 3"/>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12329131" name="Footer Placeholder 4"/>
          <p:cNvSpPr>
            <a:spLocks noGrp="1"/>
          </p:cNvSpPr>
          <p:nvPr>
            <p:ph type="ftr" sz="quarter" idx="11"/>
          </p:nvPr>
        </p:nvSpPr>
        <p:spPr bwMode="auto"/>
        <p:txBody>
          <a:bodyPr/>
          <a:lstStyle/>
          <a:p>
            <a:pPr>
              <a:defRPr/>
            </a:pPr>
            <a:endParaRPr/>
          </a:p>
        </p:txBody>
      </p:sp>
      <p:sp>
        <p:nvSpPr>
          <p:cNvPr id="1637103328" name="Slide Number Placeholder 5"/>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3384265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766148721" name="Title 1"/>
          <p:cNvSpPr>
            <a:spLocks noGrp="1"/>
          </p:cNvSpPr>
          <p:nvPr>
            <p:ph type="title"/>
          </p:nvPr>
        </p:nvSpPr>
        <p:spPr bwMode="auto"/>
        <p:txBody>
          <a:bodyPr/>
          <a:lstStyle/>
          <a:p>
            <a:pPr>
              <a:defRPr/>
            </a:pPr>
            <a:r>
              <a:rPr lang="en-US"/>
              <a:t>Click to edit Master title style</a:t>
            </a:r>
            <a:endParaRPr/>
          </a:p>
        </p:txBody>
      </p:sp>
      <p:sp>
        <p:nvSpPr>
          <p:cNvPr id="1602516522"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95749147"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06109029" name="Date Placeholder 4"/>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21915535" name="Footer Placeholder 5"/>
          <p:cNvSpPr>
            <a:spLocks noGrp="1"/>
          </p:cNvSpPr>
          <p:nvPr>
            <p:ph type="ftr" sz="quarter" idx="11"/>
          </p:nvPr>
        </p:nvSpPr>
        <p:spPr bwMode="auto"/>
        <p:txBody>
          <a:bodyPr/>
          <a:lstStyle/>
          <a:p>
            <a:pPr>
              <a:defRPr/>
            </a:pPr>
            <a:endParaRPr/>
          </a:p>
        </p:txBody>
      </p:sp>
      <p:sp>
        <p:nvSpPr>
          <p:cNvPr id="1314167422" name="Slide Number Placeholder 6"/>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31860715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778890324"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440461507"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70428029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72219979"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25546357"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22389026" name="Date Placeholder 6"/>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944634714" name="Footer Placeholder 7"/>
          <p:cNvSpPr>
            <a:spLocks noGrp="1"/>
          </p:cNvSpPr>
          <p:nvPr>
            <p:ph type="ftr" sz="quarter" idx="11"/>
          </p:nvPr>
        </p:nvSpPr>
        <p:spPr bwMode="auto"/>
        <p:txBody>
          <a:bodyPr/>
          <a:lstStyle/>
          <a:p>
            <a:pPr>
              <a:defRPr/>
            </a:pPr>
            <a:endParaRPr/>
          </a:p>
        </p:txBody>
      </p:sp>
      <p:sp>
        <p:nvSpPr>
          <p:cNvPr id="1557617513" name="Slide Number Placeholder 8"/>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240616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996165527" name="Title 1"/>
          <p:cNvSpPr>
            <a:spLocks noGrp="1"/>
          </p:cNvSpPr>
          <p:nvPr>
            <p:ph type="title"/>
          </p:nvPr>
        </p:nvSpPr>
        <p:spPr bwMode="auto"/>
        <p:txBody>
          <a:bodyPr/>
          <a:lstStyle/>
          <a:p>
            <a:pPr>
              <a:defRPr/>
            </a:pPr>
            <a:r>
              <a:rPr lang="en-US"/>
              <a:t>Click to edit Master title style</a:t>
            </a:r>
            <a:endParaRPr/>
          </a:p>
        </p:txBody>
      </p:sp>
      <p:sp>
        <p:nvSpPr>
          <p:cNvPr id="2146009482" name="Date Placeholder 2"/>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1235090299" name="Footer Placeholder 3"/>
          <p:cNvSpPr>
            <a:spLocks noGrp="1"/>
          </p:cNvSpPr>
          <p:nvPr>
            <p:ph type="ftr" sz="quarter" idx="11"/>
          </p:nvPr>
        </p:nvSpPr>
        <p:spPr bwMode="auto"/>
        <p:txBody>
          <a:bodyPr/>
          <a:lstStyle/>
          <a:p>
            <a:pPr>
              <a:defRPr/>
            </a:pPr>
            <a:endParaRPr/>
          </a:p>
        </p:txBody>
      </p:sp>
      <p:sp>
        <p:nvSpPr>
          <p:cNvPr id="1097301722" name="Slide Number Placeholder 4"/>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280588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869325917" name="Date Placeholder 1"/>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217065603" name="Footer Placeholder 2"/>
          <p:cNvSpPr>
            <a:spLocks noGrp="1"/>
          </p:cNvSpPr>
          <p:nvPr>
            <p:ph type="ftr" sz="quarter" idx="11"/>
          </p:nvPr>
        </p:nvSpPr>
        <p:spPr bwMode="auto"/>
        <p:txBody>
          <a:bodyPr/>
          <a:lstStyle/>
          <a:p>
            <a:pPr>
              <a:defRPr/>
            </a:pPr>
            <a:endParaRPr/>
          </a:p>
        </p:txBody>
      </p:sp>
      <p:sp>
        <p:nvSpPr>
          <p:cNvPr id="710767902" name="Slide Number Placeholder 3"/>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700505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619227603"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292926692"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3613475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790587519" name="Date Placeholder 4"/>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2020641331" name="Footer Placeholder 5"/>
          <p:cNvSpPr>
            <a:spLocks noGrp="1"/>
          </p:cNvSpPr>
          <p:nvPr>
            <p:ph type="ftr" sz="quarter" idx="11"/>
          </p:nvPr>
        </p:nvSpPr>
        <p:spPr bwMode="auto"/>
        <p:txBody>
          <a:bodyPr/>
          <a:lstStyle/>
          <a:p>
            <a:pPr>
              <a:defRPr/>
            </a:pPr>
            <a:endParaRPr/>
          </a:p>
        </p:txBody>
      </p:sp>
      <p:sp>
        <p:nvSpPr>
          <p:cNvPr id="127440424" name="Slide Number Placeholder 6"/>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25197323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821308751"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142600574"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1531006172"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655283126" name="Date Placeholder 4"/>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1010453224" name="Footer Placeholder 5"/>
          <p:cNvSpPr>
            <a:spLocks noGrp="1"/>
          </p:cNvSpPr>
          <p:nvPr>
            <p:ph type="ftr" sz="quarter" idx="11"/>
          </p:nvPr>
        </p:nvSpPr>
        <p:spPr bwMode="auto"/>
        <p:txBody>
          <a:bodyPr/>
          <a:lstStyle/>
          <a:p>
            <a:pPr>
              <a:defRPr/>
            </a:pPr>
            <a:endParaRPr/>
          </a:p>
        </p:txBody>
      </p:sp>
      <p:sp>
        <p:nvSpPr>
          <p:cNvPr id="1827935249" name="Slide Number Placeholder 6"/>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30332909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3540222" name="Title 1"/>
          <p:cNvSpPr>
            <a:spLocks noGrp="1"/>
          </p:cNvSpPr>
          <p:nvPr>
            <p:ph type="title"/>
          </p:nvPr>
        </p:nvSpPr>
        <p:spPr bwMode="auto"/>
        <p:txBody>
          <a:bodyPr/>
          <a:lstStyle/>
          <a:p>
            <a:pPr>
              <a:defRPr/>
            </a:pPr>
            <a:r>
              <a:rPr lang="en-US"/>
              <a:t>Click to edit Master title style</a:t>
            </a:r>
            <a:endParaRPr/>
          </a:p>
        </p:txBody>
      </p:sp>
      <p:sp>
        <p:nvSpPr>
          <p:cNvPr id="148845919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54065974" name="Date Placeholder 3"/>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1771987453" name="Footer Placeholder 4"/>
          <p:cNvSpPr>
            <a:spLocks noGrp="1"/>
          </p:cNvSpPr>
          <p:nvPr>
            <p:ph type="ftr" sz="quarter" idx="11"/>
          </p:nvPr>
        </p:nvSpPr>
        <p:spPr bwMode="auto"/>
        <p:txBody>
          <a:bodyPr/>
          <a:lstStyle/>
          <a:p>
            <a:pPr>
              <a:defRPr/>
            </a:pPr>
            <a:endParaRPr/>
          </a:p>
        </p:txBody>
      </p:sp>
      <p:sp>
        <p:nvSpPr>
          <p:cNvPr id="1633487815" name="Slide Number Placeholder 5"/>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8901211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686979655"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1169536761"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56137433" name="Date Placeholder 3"/>
          <p:cNvSpPr>
            <a:spLocks noGrp="1"/>
          </p:cNvSpPr>
          <p:nvPr>
            <p:ph type="dt" sz="half" idx="10"/>
          </p:nvPr>
        </p:nvSpPr>
        <p:spPr bwMode="auto"/>
        <p:txBody>
          <a:bodyPr/>
          <a:lstStyle/>
          <a:p>
            <a:pPr>
              <a:defRPr/>
            </a:pPr>
            <a:fld id="{169A44CF-36AE-45C2-B3AB-E4B77B31F562}" type="datetimeFigureOut">
              <a:rPr lang="en-IL"/>
              <a:t>01/07/2026</a:t>
            </a:fld>
            <a:endParaRPr/>
          </a:p>
        </p:txBody>
      </p:sp>
      <p:sp>
        <p:nvSpPr>
          <p:cNvPr id="1618597312" name="Footer Placeholder 4"/>
          <p:cNvSpPr>
            <a:spLocks noGrp="1"/>
          </p:cNvSpPr>
          <p:nvPr>
            <p:ph type="ftr" sz="quarter" idx="11"/>
          </p:nvPr>
        </p:nvSpPr>
        <p:spPr bwMode="auto"/>
        <p:txBody>
          <a:bodyPr/>
          <a:lstStyle/>
          <a:p>
            <a:pPr>
              <a:defRPr/>
            </a:pPr>
            <a:endParaRPr/>
          </a:p>
        </p:txBody>
      </p:sp>
      <p:sp>
        <p:nvSpPr>
          <p:cNvPr id="448527027" name="Slide Number Placeholder 5"/>
          <p:cNvSpPr>
            <a:spLocks noGrp="1"/>
          </p:cNvSpPr>
          <p:nvPr>
            <p:ph type="sldNum" sz="quarter" idx="12"/>
          </p:nvPr>
        </p:nvSpPr>
        <p:spPr bwMode="auto"/>
        <p:txBody>
          <a:bodyPr/>
          <a:lstStyle/>
          <a:p>
            <a:pPr>
              <a:defRPr/>
            </a:pPr>
            <a:fld id="{8D7E84ED-6A6B-457E-A09B-8205D79C9D27}" type="slidenum">
              <a:rPr/>
              <a:t>‹#›</a:t>
            </a:fld>
            <a:endParaRPr/>
          </a:p>
        </p:txBody>
      </p:sp>
    </p:spTree>
    <p:extLst>
      <p:ext uri="{BB962C8B-B14F-4D97-AF65-F5344CB8AC3E}">
        <p14:creationId xmlns:p14="http://schemas.microsoft.com/office/powerpoint/2010/main" val="2480457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B7EB51-7E50-EDD5-A63D-8506D314E9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0B2AB261-E7B4-220E-50B4-517CA07347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737378E-03FF-5DF6-3058-FA0B5D5BF8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9A44CF-36AE-45C2-B3AB-E4B77B31F562}" type="datetimeFigureOut">
              <a:rPr lang="en-IL" smtClean="0"/>
              <a:t>01/07/2026</a:t>
            </a:fld>
            <a:endParaRPr lang="en-IL"/>
          </a:p>
        </p:txBody>
      </p:sp>
      <p:sp>
        <p:nvSpPr>
          <p:cNvPr id="5" name="Footer Placeholder 4">
            <a:extLst>
              <a:ext uri="{FF2B5EF4-FFF2-40B4-BE49-F238E27FC236}">
                <a16:creationId xmlns:a16="http://schemas.microsoft.com/office/drawing/2014/main" id="{7AFC9021-240B-D814-D25F-20CBE10FFA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BA887B6D-DB00-6577-272E-CB4B25D5B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7E84ED-6A6B-457E-A09B-8205D79C9D27}" type="slidenum">
              <a:rPr lang="en-IL" smtClean="0"/>
              <a:t>‹#›</a:t>
            </a:fld>
            <a:endParaRPr lang="en-IL"/>
          </a:p>
        </p:txBody>
      </p:sp>
    </p:spTree>
    <p:extLst>
      <p:ext uri="{BB962C8B-B14F-4D97-AF65-F5344CB8AC3E}">
        <p14:creationId xmlns:p14="http://schemas.microsoft.com/office/powerpoint/2010/main" val="4198027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741646907"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919451029"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15204856"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fld id="{169A44CF-36AE-45C2-B3AB-E4B77B31F562}" type="datetimeFigureOut">
              <a:rPr lang="en-IL"/>
              <a:t>01/07/2026</a:t>
            </a:fld>
            <a:endParaRPr/>
          </a:p>
        </p:txBody>
      </p:sp>
      <p:sp>
        <p:nvSpPr>
          <p:cNvPr id="2119154103"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a:p>
        </p:txBody>
      </p:sp>
      <p:sp>
        <p:nvSpPr>
          <p:cNvPr id="647146291"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8D7E84ED-6A6B-457E-A09B-8205D79C9D27}" type="slidenum">
              <a:rPr/>
              <a:t>‹#›</a:t>
            </a:fld>
            <a:endParaRPr/>
          </a:p>
        </p:txBody>
      </p:sp>
    </p:spTree>
    <p:extLst>
      <p:ext uri="{BB962C8B-B14F-4D97-AF65-F5344CB8AC3E}">
        <p14:creationId xmlns:p14="http://schemas.microsoft.com/office/powerpoint/2010/main" val="3208580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slideLayout" Target="../slideLayouts/slideLayout13.xml"/><Relationship Id="rId4" Type="http://schemas.openxmlformats.org/officeDocument/2006/relationships/image" Target="../media/image40.svg"/></Relationships>
</file>

<file path=ppt/slides/_rels/slide4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3.sv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51.svg"/><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image" Target="../media/image52.svg"/><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image" Target="../media/image53.sv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55.svg"/><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image" Target="../media/image56.sv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52407-F2A0-D302-A6F8-402C08D313D8}"/>
              </a:ext>
            </a:extLst>
          </p:cNvPr>
          <p:cNvSpPr>
            <a:spLocks noGrp="1"/>
          </p:cNvSpPr>
          <p:nvPr>
            <p:ph type="ctrTitle"/>
          </p:nvPr>
        </p:nvSpPr>
        <p:spPr/>
        <p:txBody>
          <a:bodyPr/>
          <a:lstStyle/>
          <a:p>
            <a:pPr algn="ctr"/>
            <a:r>
              <a:rPr lang="en-US" sz="2400" dirty="0">
                <a:solidFill>
                  <a:schemeClr val="tx2"/>
                </a:solidFill>
              </a:rPr>
              <a:t>Statistics 367-1-4361</a:t>
            </a:r>
          </a:p>
          <a:p>
            <a:pPr algn="ctr"/>
            <a:r>
              <a:rPr lang="en-US" sz="4000" b="1" dirty="0"/>
              <a:t>Lecture 12: Reproducibility</a:t>
            </a:r>
          </a:p>
        </p:txBody>
      </p:sp>
      <p:sp>
        <p:nvSpPr>
          <p:cNvPr id="3" name="Subtitle 2">
            <a:extLst>
              <a:ext uri="{FF2B5EF4-FFF2-40B4-BE49-F238E27FC236}">
                <a16:creationId xmlns:a16="http://schemas.microsoft.com/office/drawing/2014/main" id="{E68368FF-5746-4C5D-C394-74FC554A3B27}"/>
              </a:ext>
            </a:extLst>
          </p:cNvPr>
          <p:cNvSpPr>
            <a:spLocks noGrp="1"/>
          </p:cNvSpPr>
          <p:nvPr>
            <p:ph type="subTitle" idx="1"/>
          </p:nvPr>
        </p:nvSpPr>
        <p:spPr/>
        <p:txBody>
          <a:bodyPr/>
          <a:lstStyle/>
          <a:p>
            <a:pPr algn="ctr"/>
            <a:r>
              <a:rPr lang="en-US" sz="2400" dirty="0">
                <a:solidFill>
                  <a:schemeClr val="tx1"/>
                </a:solidFill>
              </a:rPr>
              <a:t>Opher Donchin</a:t>
            </a:r>
          </a:p>
        </p:txBody>
      </p:sp>
    </p:spTree>
    <p:extLst>
      <p:ext uri="{BB962C8B-B14F-4D97-AF65-F5344CB8AC3E}">
        <p14:creationId xmlns:p14="http://schemas.microsoft.com/office/powerpoint/2010/main" val="1474327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2F7FC"/>
            </a:gs>
            <a:gs pos="100000">
              <a:srgbClr val="B8D3EA"/>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964B1-E89E-79D4-0D05-3EA9201A8BAB}"/>
              </a:ext>
            </a:extLst>
          </p:cNvPr>
          <p:cNvSpPr>
            <a:spLocks noGrp="1"/>
          </p:cNvSpPr>
          <p:nvPr>
            <p:ph type="title"/>
          </p:nvPr>
        </p:nvSpPr>
        <p:spPr>
          <a:xfrm>
            <a:off x="558800" y="609600"/>
            <a:ext cx="11112500" cy="1168400"/>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12.1 Scientific knowledge</a:t>
            </a:r>
          </a:p>
        </p:txBody>
      </p:sp>
      <p:sp>
        <p:nvSpPr>
          <p:cNvPr id="3" name="Text Placeholder 2">
            <a:extLst>
              <a:ext uri="{FF2B5EF4-FFF2-40B4-BE49-F238E27FC236}">
                <a16:creationId xmlns:a16="http://schemas.microsoft.com/office/drawing/2014/main" id="{01B1E57E-8CC3-C6C8-08A5-C6CB78A36752}"/>
              </a:ext>
            </a:extLst>
          </p:cNvPr>
          <p:cNvSpPr>
            <a:spLocks noGrp="1"/>
          </p:cNvSpPr>
          <p:nvPr>
            <p:ph type="body" idx="1"/>
          </p:nvPr>
        </p:nvSpPr>
        <p:spPr>
          <a:xfrm>
            <a:off x="889000" y="2717800"/>
            <a:ext cx="9498584" cy="787400"/>
          </a:xfrm>
        </p:spPr>
        <p:txBody>
          <a:bodyPr wrap="none" anchor="t">
            <a:normAutofit fontScale="85000" lnSpcReduction="20000"/>
          </a:bodyPr>
          <a:lstStyle/>
          <a:p>
            <a:pPr algn="l">
              <a:defRPr sz="3000">
                <a:solidFill>
                  <a:srgbClr val="888888"/>
                </a:solidFill>
                <a:latin typeface="Arial"/>
                <a:cs typeface="Arial"/>
              </a:defRPr>
            </a:pPr>
            <a:r>
              <a:rPr lang="en-US" sz="3000" dirty="0">
                <a:solidFill>
                  <a:srgbClr val="888888"/>
                </a:solidFill>
                <a:latin typeface="Arial"/>
                <a:cs typeface="Arial"/>
              </a:rPr>
              <a:t>What is the process through which scientific knowledge</a:t>
            </a:r>
          </a:p>
          <a:p>
            <a:pPr algn="l">
              <a:defRPr sz="3000">
                <a:solidFill>
                  <a:srgbClr val="888888"/>
                </a:solidFill>
                <a:latin typeface="Arial"/>
                <a:cs typeface="Arial"/>
              </a:defRPr>
            </a:pPr>
            <a:r>
              <a:rPr lang="en-US" sz="3000" dirty="0">
                <a:solidFill>
                  <a:srgbClr val="888888"/>
                </a:solidFill>
                <a:latin typeface="Arial"/>
                <a:cs typeface="Arial"/>
              </a:rPr>
              <a:t>is actually produced?</a:t>
            </a:r>
          </a:p>
        </p:txBody>
      </p:sp>
    </p:spTree>
    <p:extLst>
      <p:ext uri="{BB962C8B-B14F-4D97-AF65-F5344CB8AC3E}">
        <p14:creationId xmlns:p14="http://schemas.microsoft.com/office/powerpoint/2010/main" val="1073409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11163-0235-96A4-AD82-55E718312447}"/>
              </a:ext>
            </a:extLst>
          </p:cNvPr>
          <p:cNvSpPr>
            <a:spLocks noGrp="1"/>
          </p:cNvSpPr>
          <p:nvPr>
            <p:ph type="title"/>
          </p:nvPr>
        </p:nvSpPr>
        <p:spPr/>
        <p:txBody>
          <a:bodyPr/>
          <a:lstStyle/>
          <a:p>
            <a:r>
              <a:rPr lang="en-US" dirty="0"/>
              <a:t>Science is not perfect</a:t>
            </a:r>
            <a:endParaRPr lang="en-IL" dirty="0"/>
          </a:p>
        </p:txBody>
      </p:sp>
      <p:sp>
        <p:nvSpPr>
          <p:cNvPr id="5" name="Content Placeholder 4">
            <a:extLst>
              <a:ext uri="{FF2B5EF4-FFF2-40B4-BE49-F238E27FC236}">
                <a16:creationId xmlns:a16="http://schemas.microsoft.com/office/drawing/2014/main" id="{9921FD8B-5C1B-2F55-02F4-D6FD5B2F5180}"/>
              </a:ext>
            </a:extLst>
          </p:cNvPr>
          <p:cNvSpPr>
            <a:spLocks noGrp="1"/>
          </p:cNvSpPr>
          <p:nvPr>
            <p:ph idx="1"/>
          </p:nvPr>
        </p:nvSpPr>
        <p:spPr>
          <a:xfrm>
            <a:off x="838200" y="1825625"/>
            <a:ext cx="5889120" cy="4351338"/>
          </a:xfrm>
        </p:spPr>
        <p:txBody>
          <a:bodyPr>
            <a:normAutofit fontScale="85000" lnSpcReduction="20000"/>
          </a:bodyPr>
          <a:lstStyle/>
          <a:p>
            <a:r>
              <a:rPr lang="en-US" dirty="0"/>
              <a:t>Hospital records</a:t>
            </a:r>
          </a:p>
          <a:p>
            <a:pPr lvl="1"/>
            <a:r>
              <a:rPr lang="en-US" dirty="0"/>
              <a:t>96,000 covid patients</a:t>
            </a:r>
          </a:p>
          <a:p>
            <a:pPr lvl="2"/>
            <a:r>
              <a:rPr lang="en-US" dirty="0"/>
              <a:t>14,888 received chloroquine</a:t>
            </a:r>
          </a:p>
          <a:p>
            <a:pPr lvl="2"/>
            <a:r>
              <a:rPr lang="en-US" dirty="0"/>
              <a:t>81,144 did not</a:t>
            </a:r>
          </a:p>
          <a:p>
            <a:pPr lvl="1"/>
            <a:r>
              <a:rPr lang="en-US" dirty="0"/>
              <a:t>No covid benefit</a:t>
            </a:r>
          </a:p>
          <a:p>
            <a:pPr lvl="1"/>
            <a:r>
              <a:rPr lang="en-US" dirty="0"/>
              <a:t>Increased risks of cardiac arrythmia</a:t>
            </a:r>
          </a:p>
          <a:p>
            <a:r>
              <a:rPr lang="en-US" dirty="0"/>
              <a:t>Immediate suspension of research</a:t>
            </a:r>
          </a:p>
          <a:p>
            <a:r>
              <a:rPr lang="en-US" dirty="0"/>
              <a:t>Private data collection company</a:t>
            </a:r>
          </a:p>
          <a:p>
            <a:pPr lvl="1"/>
            <a:r>
              <a:rPr lang="en-US" dirty="0"/>
              <a:t>Would not provide data to authors</a:t>
            </a:r>
          </a:p>
          <a:p>
            <a:pPr lvl="1"/>
            <a:r>
              <a:rPr lang="en-US" dirty="0"/>
              <a:t>Authors asked for retraction</a:t>
            </a:r>
          </a:p>
          <a:p>
            <a:r>
              <a:rPr lang="en-US" dirty="0"/>
              <a:t>Subsequent work</a:t>
            </a:r>
          </a:p>
          <a:p>
            <a:pPr lvl="1"/>
            <a:r>
              <a:rPr lang="en-US" dirty="0"/>
              <a:t>Does not support effectiveness of chloroquine</a:t>
            </a:r>
          </a:p>
          <a:p>
            <a:pPr lvl="1"/>
            <a:r>
              <a:rPr lang="en-US" dirty="0"/>
              <a:t>Supports minor cardiac effects</a:t>
            </a:r>
          </a:p>
          <a:p>
            <a:pPr lvl="1"/>
            <a:endParaRPr lang="en-US" dirty="0"/>
          </a:p>
          <a:p>
            <a:endParaRPr lang="en-IL" dirty="0"/>
          </a:p>
        </p:txBody>
      </p:sp>
      <p:sp>
        <p:nvSpPr>
          <p:cNvPr id="4" name="SlideNum">
            <a:extLst>
              <a:ext uri="{FF2B5EF4-FFF2-40B4-BE49-F238E27FC236}">
                <a16:creationId xmlns:a16="http://schemas.microsoft.com/office/drawing/2014/main" id="{F612C3E6-11C2-47C8-9E16-942E6B7ACEB2}"/>
              </a:ext>
            </a:extLst>
          </p:cNvPr>
          <p:cNvSpPr txBox="1"/>
          <p:nvPr/>
        </p:nvSpPr>
        <p:spPr>
          <a:xfrm>
            <a:off x="11455400" y="6451600"/>
            <a:ext cx="558800" cy="304800"/>
          </a:xfrm>
          <a:prstGeom prst="rect">
            <a:avLst/>
          </a:prstGeom>
          <a:noFill/>
        </p:spPr>
        <p:txBody>
          <a:bodyPr vertOverflow="overflow" vert="horz" wrap="none" rtlCol="0" anchor="ctr" anchorCtr="0">
            <a:spAutoFit/>
          </a:bodyPr>
          <a:lstStyle/>
          <a:p>
            <a:pPr algn="l"/>
            <a:r>
              <a:rPr lang="en-IL" sz="1200">
                <a:solidFill>
                  <a:srgbClr val="808080"/>
                </a:solidFill>
              </a:rPr>
              <a:t>2</a:t>
            </a:r>
          </a:p>
        </p:txBody>
      </p:sp>
      <p:pic>
        <p:nvPicPr>
          <p:cNvPr id="3" name="Picture 2">
            <a:extLst>
              <a:ext uri="{FF2B5EF4-FFF2-40B4-BE49-F238E27FC236}">
                <a16:creationId xmlns:a16="http://schemas.microsoft.com/office/drawing/2014/main" id="{3945ECDD-C9B5-05A2-8C33-9D4C7BD81721}"/>
              </a:ext>
            </a:extLst>
          </p:cNvPr>
          <p:cNvPicPr/>
          <p:nvPr/>
        </p:nvPicPr>
        <p:blipFill>
          <a:blip r:embed="rId2"/>
          <a:stretch/>
        </p:blipFill>
        <p:spPr>
          <a:xfrm>
            <a:off x="7046040" y="1822385"/>
            <a:ext cx="4128120" cy="4350960"/>
          </a:xfrm>
          <a:prstGeom prst="rect">
            <a:avLst/>
          </a:prstGeom>
          <a:noFill/>
          <a:ln w="0">
            <a:noFill/>
          </a:ln>
        </p:spPr>
      </p:pic>
      <p:pic>
        <p:nvPicPr>
          <p:cNvPr id="6" name="Picture 5">
            <a:extLst>
              <a:ext uri="{FF2B5EF4-FFF2-40B4-BE49-F238E27FC236}">
                <a16:creationId xmlns:a16="http://schemas.microsoft.com/office/drawing/2014/main" id="{3A68B86E-EF6C-02EF-E273-3A8C5D4989EC}"/>
              </a:ext>
            </a:extLst>
          </p:cNvPr>
          <p:cNvPicPr/>
          <p:nvPr/>
        </p:nvPicPr>
        <p:blipFill>
          <a:blip r:embed="rId3"/>
          <a:stretch/>
        </p:blipFill>
        <p:spPr>
          <a:xfrm>
            <a:off x="7176720" y="1825625"/>
            <a:ext cx="4177080" cy="4350960"/>
          </a:xfrm>
          <a:prstGeom prst="rect">
            <a:avLst/>
          </a:prstGeom>
          <a:noFill/>
          <a:ln w="0">
            <a:noFill/>
          </a:ln>
        </p:spPr>
      </p:pic>
      <p:sp>
        <p:nvSpPr>
          <p:cNvPr id="7" name="TextBox 6">
            <a:extLst>
              <a:ext uri="{FF2B5EF4-FFF2-40B4-BE49-F238E27FC236}">
                <a16:creationId xmlns:a16="http://schemas.microsoft.com/office/drawing/2014/main" id="{5A61F787-350C-DE94-8A27-67EFD7573E1D}"/>
              </a:ext>
            </a:extLst>
          </p:cNvPr>
          <p:cNvSpPr txBox="1"/>
          <p:nvPr/>
        </p:nvSpPr>
        <p:spPr>
          <a:xfrm>
            <a:off x="4200458" y="101600"/>
            <a:ext cx="7813742" cy="369332"/>
          </a:xfrm>
          <a:prstGeom prst="rect">
            <a:avLst/>
          </a:prstGeom>
          <a:noFill/>
        </p:spPr>
        <p:txBody>
          <a:bodyPr wrap="none" rtlCol="0">
            <a:spAutoFit/>
          </a:bodyPr>
          <a:lstStyle/>
          <a:p>
            <a:r>
              <a:rPr lang="en-US" dirty="0">
                <a:solidFill>
                  <a:schemeClr val="accent4"/>
                </a:solidFill>
              </a:rPr>
              <a:t>Mehra </a:t>
            </a:r>
            <a:r>
              <a:rPr lang="en-US" i="1" dirty="0">
                <a:solidFill>
                  <a:schemeClr val="accent4"/>
                </a:solidFill>
              </a:rPr>
              <a:t>The Lancet </a:t>
            </a:r>
            <a:r>
              <a:rPr lang="en-US" dirty="0">
                <a:solidFill>
                  <a:schemeClr val="accent4"/>
                </a:solidFill>
              </a:rPr>
              <a:t>2020, retracted 2020, doi:10.1016/S0140-6736(20)31180-6</a:t>
            </a:r>
            <a:endParaRPr lang="en-IL" dirty="0">
              <a:solidFill>
                <a:schemeClr val="accent4"/>
              </a:solidFill>
            </a:endParaRPr>
          </a:p>
        </p:txBody>
      </p:sp>
    </p:spTree>
    <p:extLst>
      <p:ext uri="{BB962C8B-B14F-4D97-AF65-F5344CB8AC3E}">
        <p14:creationId xmlns:p14="http://schemas.microsoft.com/office/powerpoint/2010/main" val="374454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56C0A-D8DA-2DB7-427F-13B4428D4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17688-9C72-F2B4-28B3-800BC2685A2C}"/>
              </a:ext>
            </a:extLst>
          </p:cNvPr>
          <p:cNvSpPr>
            <a:spLocks noGrp="1"/>
          </p:cNvSpPr>
          <p:nvPr>
            <p:ph type="title"/>
          </p:nvPr>
        </p:nvSpPr>
        <p:spPr/>
        <p:txBody>
          <a:bodyPr/>
          <a:lstStyle/>
          <a:p>
            <a:r>
              <a:rPr lang="en-US" dirty="0"/>
              <a:t>Sometimes it takes a long time to fix</a:t>
            </a:r>
            <a:endParaRPr lang="en-IL" dirty="0"/>
          </a:p>
        </p:txBody>
      </p:sp>
      <p:sp>
        <p:nvSpPr>
          <p:cNvPr id="5" name="Content Placeholder 4">
            <a:extLst>
              <a:ext uri="{FF2B5EF4-FFF2-40B4-BE49-F238E27FC236}">
                <a16:creationId xmlns:a16="http://schemas.microsoft.com/office/drawing/2014/main" id="{0CB44A72-D575-9322-8503-A8C9BE87582F}"/>
              </a:ext>
            </a:extLst>
          </p:cNvPr>
          <p:cNvSpPr>
            <a:spLocks noGrp="1"/>
          </p:cNvSpPr>
          <p:nvPr>
            <p:ph idx="1"/>
          </p:nvPr>
        </p:nvSpPr>
        <p:spPr>
          <a:xfrm>
            <a:off x="838200" y="1596231"/>
            <a:ext cx="5889120" cy="4351338"/>
          </a:xfrm>
        </p:spPr>
        <p:txBody>
          <a:bodyPr>
            <a:normAutofit lnSpcReduction="10000"/>
          </a:bodyPr>
          <a:lstStyle/>
          <a:p>
            <a:r>
              <a:rPr lang="en-US" dirty="0"/>
              <a:t>Report of 12 children</a:t>
            </a:r>
          </a:p>
          <a:p>
            <a:pPr lvl="1"/>
            <a:r>
              <a:rPr lang="en-US" dirty="0"/>
              <a:t>Late development of autism symptoms</a:t>
            </a:r>
          </a:p>
          <a:p>
            <a:pPr lvl="1"/>
            <a:r>
              <a:rPr lang="en-US" dirty="0"/>
              <a:t>Received MMR vaccination</a:t>
            </a:r>
          </a:p>
          <a:p>
            <a:pPr lvl="2"/>
            <a:r>
              <a:rPr lang="en-US" dirty="0"/>
              <a:t>Symptoms developed within days to months</a:t>
            </a:r>
          </a:p>
          <a:p>
            <a:r>
              <a:rPr lang="en-US" dirty="0"/>
              <a:t>No corroborating follow up studies</a:t>
            </a:r>
          </a:p>
          <a:p>
            <a:r>
              <a:rPr lang="en-US" dirty="0"/>
              <a:t>Serious problems surface</a:t>
            </a:r>
          </a:p>
          <a:p>
            <a:pPr lvl="1"/>
            <a:r>
              <a:rPr lang="en-US" dirty="0"/>
              <a:t>Conflict of interest</a:t>
            </a:r>
          </a:p>
          <a:p>
            <a:pPr lvl="1"/>
            <a:r>
              <a:rPr lang="en-US" dirty="0"/>
              <a:t>Selective recruitment</a:t>
            </a:r>
          </a:p>
          <a:p>
            <a:pPr lvl="1"/>
            <a:r>
              <a:rPr lang="en-US" dirty="0"/>
              <a:t>Data distortion</a:t>
            </a:r>
          </a:p>
          <a:p>
            <a:endParaRPr lang="en-US" dirty="0"/>
          </a:p>
          <a:p>
            <a:endParaRPr lang="en-IL" dirty="0"/>
          </a:p>
        </p:txBody>
      </p:sp>
      <p:sp>
        <p:nvSpPr>
          <p:cNvPr id="4" name="SlideNum">
            <a:extLst>
              <a:ext uri="{FF2B5EF4-FFF2-40B4-BE49-F238E27FC236}">
                <a16:creationId xmlns:a16="http://schemas.microsoft.com/office/drawing/2014/main" id="{CC8FF8CD-02D7-3FD9-1E7E-284BFE30D812}"/>
              </a:ext>
            </a:extLst>
          </p:cNvPr>
          <p:cNvSpPr txBox="1"/>
          <p:nvPr/>
        </p:nvSpPr>
        <p:spPr>
          <a:xfrm>
            <a:off x="11455400" y="6451600"/>
            <a:ext cx="558800" cy="304800"/>
          </a:xfrm>
          <a:prstGeom prst="rect">
            <a:avLst/>
          </a:prstGeom>
          <a:noFill/>
        </p:spPr>
        <p:txBody>
          <a:bodyPr vertOverflow="overflow" vert="horz" wrap="none" rtlCol="0" anchor="ctr" anchorCtr="0">
            <a:spAutoFit/>
          </a:bodyPr>
          <a:lstStyle/>
          <a:p>
            <a:pPr algn="l"/>
            <a:r>
              <a:rPr lang="en-IL" sz="1200">
                <a:solidFill>
                  <a:srgbClr val="808080"/>
                </a:solidFill>
              </a:rPr>
              <a:t>2</a:t>
            </a:r>
          </a:p>
        </p:txBody>
      </p:sp>
      <p:pic>
        <p:nvPicPr>
          <p:cNvPr id="9" name="Picture 8">
            <a:extLst>
              <a:ext uri="{FF2B5EF4-FFF2-40B4-BE49-F238E27FC236}">
                <a16:creationId xmlns:a16="http://schemas.microsoft.com/office/drawing/2014/main" id="{48E715AC-7CCD-61E1-BCD0-223CC5F19807}"/>
              </a:ext>
            </a:extLst>
          </p:cNvPr>
          <p:cNvPicPr>
            <a:picLocks noChangeAspect="1"/>
          </p:cNvPicPr>
          <p:nvPr/>
        </p:nvPicPr>
        <p:blipFill>
          <a:blip r:embed="rId2"/>
          <a:stretch>
            <a:fillRect/>
          </a:stretch>
        </p:blipFill>
        <p:spPr>
          <a:xfrm>
            <a:off x="7195633" y="1892808"/>
            <a:ext cx="4539167" cy="3758184"/>
          </a:xfrm>
          <a:prstGeom prst="rect">
            <a:avLst/>
          </a:prstGeom>
        </p:spPr>
      </p:pic>
      <p:sp>
        <p:nvSpPr>
          <p:cNvPr id="10" name="TextBox 9">
            <a:extLst>
              <a:ext uri="{FF2B5EF4-FFF2-40B4-BE49-F238E27FC236}">
                <a16:creationId xmlns:a16="http://schemas.microsoft.com/office/drawing/2014/main" id="{D788680E-F700-6774-592A-DD5DFB1D549C}"/>
              </a:ext>
            </a:extLst>
          </p:cNvPr>
          <p:cNvSpPr txBox="1"/>
          <p:nvPr/>
        </p:nvSpPr>
        <p:spPr>
          <a:xfrm>
            <a:off x="3563781" y="101600"/>
            <a:ext cx="8171019" cy="369332"/>
          </a:xfrm>
          <a:prstGeom prst="rect">
            <a:avLst/>
          </a:prstGeom>
          <a:noFill/>
        </p:spPr>
        <p:txBody>
          <a:bodyPr wrap="none" rtlCol="0">
            <a:spAutoFit/>
          </a:bodyPr>
          <a:lstStyle/>
          <a:p>
            <a:r>
              <a:rPr lang="en-US" dirty="0">
                <a:solidFill>
                  <a:schemeClr val="accent4"/>
                </a:solidFill>
              </a:rPr>
              <a:t>Wakefield </a:t>
            </a:r>
            <a:r>
              <a:rPr lang="en-US" i="1" dirty="0">
                <a:solidFill>
                  <a:schemeClr val="accent4"/>
                </a:solidFill>
              </a:rPr>
              <a:t>The Lancet </a:t>
            </a:r>
            <a:r>
              <a:rPr lang="en-US" dirty="0">
                <a:solidFill>
                  <a:schemeClr val="accent4"/>
                </a:solidFill>
              </a:rPr>
              <a:t>1998, retracted 2010, </a:t>
            </a:r>
            <a:r>
              <a:rPr lang="pt-BR" dirty="0">
                <a:solidFill>
                  <a:schemeClr val="accent4"/>
                </a:solidFill>
              </a:rPr>
              <a:t>doi:10.1016/S0140-6736(97)11096-0</a:t>
            </a:r>
            <a:endParaRPr lang="en-IL" dirty="0">
              <a:solidFill>
                <a:schemeClr val="accent4"/>
              </a:solidFill>
            </a:endParaRPr>
          </a:p>
        </p:txBody>
      </p:sp>
    </p:spTree>
    <p:extLst>
      <p:ext uri="{BB962C8B-B14F-4D97-AF65-F5344CB8AC3E}">
        <p14:creationId xmlns:p14="http://schemas.microsoft.com/office/powerpoint/2010/main" val="1145194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AE216-CD6F-92C8-67B1-E9F496AF5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7F4BC-17A4-B182-196E-DC1E2E79FB49}"/>
              </a:ext>
            </a:extLst>
          </p:cNvPr>
          <p:cNvSpPr>
            <a:spLocks noGrp="1"/>
          </p:cNvSpPr>
          <p:nvPr>
            <p:ph type="title"/>
          </p:nvPr>
        </p:nvSpPr>
        <p:spPr/>
        <p:txBody>
          <a:bodyPr/>
          <a:lstStyle/>
          <a:p>
            <a:r>
              <a:rPr lang="en-US" dirty="0"/>
              <a:t>And continue to be influential after retraction</a:t>
            </a:r>
            <a:endParaRPr lang="en-IL" dirty="0"/>
          </a:p>
        </p:txBody>
      </p:sp>
      <p:sp>
        <p:nvSpPr>
          <p:cNvPr id="5" name="Content Placeholder 4">
            <a:extLst>
              <a:ext uri="{FF2B5EF4-FFF2-40B4-BE49-F238E27FC236}">
                <a16:creationId xmlns:a16="http://schemas.microsoft.com/office/drawing/2014/main" id="{653DF0AC-8779-366C-C694-1E5ED1B6BF9F}"/>
              </a:ext>
            </a:extLst>
          </p:cNvPr>
          <p:cNvSpPr>
            <a:spLocks noGrp="1"/>
          </p:cNvSpPr>
          <p:nvPr>
            <p:ph idx="1"/>
          </p:nvPr>
        </p:nvSpPr>
        <p:spPr>
          <a:xfrm>
            <a:off x="838200" y="1596231"/>
            <a:ext cx="5889120" cy="4351338"/>
          </a:xfrm>
        </p:spPr>
        <p:txBody>
          <a:bodyPr>
            <a:normAutofit/>
          </a:bodyPr>
          <a:lstStyle/>
          <a:p>
            <a:r>
              <a:rPr lang="en-US" dirty="0"/>
              <a:t>After retractions</a:t>
            </a:r>
          </a:p>
          <a:p>
            <a:pPr lvl="1"/>
            <a:r>
              <a:rPr lang="en-US" dirty="0"/>
              <a:t>Continued referencing</a:t>
            </a:r>
          </a:p>
          <a:p>
            <a:pPr lvl="1"/>
            <a:r>
              <a:rPr lang="en-US" dirty="0"/>
              <a:t>Retraction often not mentioned</a:t>
            </a:r>
          </a:p>
          <a:p>
            <a:r>
              <a:rPr lang="en-US" dirty="0"/>
              <a:t>Continues to be referenced outside of the scientific literature</a:t>
            </a:r>
          </a:p>
          <a:p>
            <a:pPr lvl="1"/>
            <a:r>
              <a:rPr lang="en-US" dirty="0"/>
              <a:t>Public discourse</a:t>
            </a:r>
          </a:p>
          <a:p>
            <a:pPr lvl="1"/>
            <a:r>
              <a:rPr lang="en-US" dirty="0"/>
              <a:t>Conspiracy theories</a:t>
            </a:r>
          </a:p>
          <a:p>
            <a:r>
              <a:rPr lang="en-US" dirty="0"/>
              <a:t>Large and active anti-vaccination movement continues</a:t>
            </a:r>
          </a:p>
          <a:p>
            <a:endParaRPr lang="en-US" dirty="0"/>
          </a:p>
          <a:p>
            <a:endParaRPr lang="en-IL" dirty="0"/>
          </a:p>
        </p:txBody>
      </p:sp>
      <p:sp>
        <p:nvSpPr>
          <p:cNvPr id="4" name="SlideNum">
            <a:extLst>
              <a:ext uri="{FF2B5EF4-FFF2-40B4-BE49-F238E27FC236}">
                <a16:creationId xmlns:a16="http://schemas.microsoft.com/office/drawing/2014/main" id="{16A26868-E7FB-BA77-1A0A-8060E01154A7}"/>
              </a:ext>
            </a:extLst>
          </p:cNvPr>
          <p:cNvSpPr txBox="1"/>
          <p:nvPr/>
        </p:nvSpPr>
        <p:spPr>
          <a:xfrm>
            <a:off x="11455400" y="6451600"/>
            <a:ext cx="558800" cy="304800"/>
          </a:xfrm>
          <a:prstGeom prst="rect">
            <a:avLst/>
          </a:prstGeom>
          <a:noFill/>
        </p:spPr>
        <p:txBody>
          <a:bodyPr vertOverflow="overflow" vert="horz" wrap="none" rtlCol="0" anchor="ctr" anchorCtr="0">
            <a:spAutoFit/>
          </a:bodyPr>
          <a:lstStyle/>
          <a:p>
            <a:pPr algn="l"/>
            <a:r>
              <a:rPr lang="en-IL" sz="1200">
                <a:solidFill>
                  <a:srgbClr val="808080"/>
                </a:solidFill>
              </a:rPr>
              <a:t>2</a:t>
            </a:r>
          </a:p>
        </p:txBody>
      </p:sp>
      <p:sp>
        <p:nvSpPr>
          <p:cNvPr id="10" name="TextBox 9">
            <a:extLst>
              <a:ext uri="{FF2B5EF4-FFF2-40B4-BE49-F238E27FC236}">
                <a16:creationId xmlns:a16="http://schemas.microsoft.com/office/drawing/2014/main" id="{1CF10572-4F0A-BB5D-2610-DB2684AD150E}"/>
              </a:ext>
            </a:extLst>
          </p:cNvPr>
          <p:cNvSpPr txBox="1"/>
          <p:nvPr/>
        </p:nvSpPr>
        <p:spPr>
          <a:xfrm>
            <a:off x="4078886" y="101600"/>
            <a:ext cx="7935314" cy="369332"/>
          </a:xfrm>
          <a:prstGeom prst="rect">
            <a:avLst/>
          </a:prstGeom>
          <a:noFill/>
        </p:spPr>
        <p:txBody>
          <a:bodyPr wrap="none" rtlCol="0">
            <a:spAutoFit/>
          </a:bodyPr>
          <a:lstStyle/>
          <a:p>
            <a:r>
              <a:rPr lang="en-US" dirty="0" err="1">
                <a:solidFill>
                  <a:schemeClr val="accent4"/>
                </a:solidFill>
              </a:rPr>
              <a:t>Suelzer</a:t>
            </a:r>
            <a:r>
              <a:rPr lang="en-US" dirty="0">
                <a:solidFill>
                  <a:schemeClr val="accent4"/>
                </a:solidFill>
              </a:rPr>
              <a:t> </a:t>
            </a:r>
            <a:r>
              <a:rPr lang="en-US" i="1" dirty="0">
                <a:solidFill>
                  <a:schemeClr val="accent4"/>
                </a:solidFill>
              </a:rPr>
              <a:t>JAMA Network Open </a:t>
            </a:r>
            <a:r>
              <a:rPr lang="en-US" dirty="0">
                <a:solidFill>
                  <a:schemeClr val="accent4"/>
                </a:solidFill>
              </a:rPr>
              <a:t>2019, </a:t>
            </a:r>
            <a:r>
              <a:rPr lang="pt-BR" dirty="0">
                <a:solidFill>
                  <a:schemeClr val="accent4"/>
                </a:solidFill>
              </a:rPr>
              <a:t>doi:10.1001/jamanetworkopen.2019.15552</a:t>
            </a:r>
            <a:endParaRPr lang="en-IL" dirty="0">
              <a:solidFill>
                <a:schemeClr val="accent4"/>
              </a:solidFill>
            </a:endParaRPr>
          </a:p>
        </p:txBody>
      </p:sp>
      <p:pic>
        <p:nvPicPr>
          <p:cNvPr id="3" name="Picture 2">
            <a:extLst>
              <a:ext uri="{FF2B5EF4-FFF2-40B4-BE49-F238E27FC236}">
                <a16:creationId xmlns:a16="http://schemas.microsoft.com/office/drawing/2014/main" id="{59284F34-D5B5-F414-9738-067ACEA1E51E}"/>
              </a:ext>
            </a:extLst>
          </p:cNvPr>
          <p:cNvPicPr>
            <a:picLocks noChangeAspect="1"/>
          </p:cNvPicPr>
          <p:nvPr/>
        </p:nvPicPr>
        <p:blipFill>
          <a:blip r:embed="rId2"/>
          <a:stretch>
            <a:fillRect/>
          </a:stretch>
        </p:blipFill>
        <p:spPr>
          <a:xfrm>
            <a:off x="6727320" y="1954213"/>
            <a:ext cx="5155717" cy="3520440"/>
          </a:xfrm>
          <a:prstGeom prst="rect">
            <a:avLst/>
          </a:prstGeom>
        </p:spPr>
      </p:pic>
    </p:spTree>
    <p:extLst>
      <p:ext uri="{BB962C8B-B14F-4D97-AF65-F5344CB8AC3E}">
        <p14:creationId xmlns:p14="http://schemas.microsoft.com/office/powerpoint/2010/main" val="3973922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9485254" name="Title 1"/>
          <p:cNvSpPr>
            <a:spLocks noGrp="1"/>
          </p:cNvSpPr>
          <p:nvPr>
            <p:ph type="title"/>
          </p:nvPr>
        </p:nvSpPr>
        <p:spPr bwMode="auto">
          <a:xfrm>
            <a:off x="609599" y="456281"/>
            <a:ext cx="10533625" cy="625730"/>
          </a:xfrm>
        </p:spPr>
        <p:txBody>
          <a:bodyPr>
            <a:normAutofit fontScale="90000"/>
          </a:bodyPr>
          <a:lstStyle/>
          <a:p>
            <a:pPr>
              <a:defRPr/>
            </a:pPr>
            <a:r>
              <a:rPr lang="en-US"/>
              <a:t>The Ioannadis bombshell, 2005</a:t>
            </a:r>
            <a:endParaRPr/>
          </a:p>
        </p:txBody>
      </p:sp>
      <p:sp>
        <p:nvSpPr>
          <p:cNvPr id="1583690604" name="Footer Placeholder 3"/>
          <p:cNvSpPr>
            <a:spLocks noGrp="1"/>
          </p:cNvSpPr>
          <p:nvPr>
            <p:ph type="ftr" sz="quarter" idx="11"/>
          </p:nvPr>
        </p:nvSpPr>
        <p:spPr bwMode="auto"/>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tint val="82000"/>
                  </a:prstClr>
                </a:solidFill>
                <a:effectLst/>
                <a:uLnTx/>
                <a:uFillTx/>
                <a:latin typeface="Aptos"/>
                <a:cs typeface="Arial"/>
              </a:rPr>
              <a:t>Data analysis, Semester 2018-1, Lecture 6</a:t>
            </a:r>
            <a:endParaRPr kumimoji="0" sz="1200" b="0" i="0" u="none" strike="noStrike" kern="0" cap="none" spc="0" normalizeH="0" baseline="0" noProof="0">
              <a:ln>
                <a:noFill/>
              </a:ln>
              <a:solidFill>
                <a:prstClr val="black">
                  <a:tint val="82000"/>
                </a:prstClr>
              </a:solidFill>
              <a:effectLst/>
              <a:uLnTx/>
              <a:uFillTx/>
              <a:latin typeface="Aptos"/>
              <a:cs typeface="Arial"/>
            </a:endParaRPr>
          </a:p>
        </p:txBody>
      </p:sp>
      <p:sp>
        <p:nvSpPr>
          <p:cNvPr id="404906320" name="Slide Number Placeholder 4"/>
          <p:cNvSpPr>
            <a:spLocks noGrp="1"/>
          </p:cNvSpPr>
          <p:nvPr>
            <p:ph type="sldNum" sz="quarter" idx="12"/>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tint val="82000"/>
                  </a:prstClr>
                </a:solidFill>
                <a:effectLst/>
                <a:uLnTx/>
                <a:uFillTx/>
                <a:latin typeface="Aptos"/>
                <a:cs typeface="Arial"/>
              </a:rPr>
              <a:t> </a:t>
            </a:r>
            <a:fld id="{1703ED94-DB9C-01D0-F408-6993C5C3C1F6}" type="slidenum">
              <a:rPr kumimoji="0" lang="he-IL" sz="1200" b="0" i="0" u="none" strike="noStrike" kern="0" cap="none" spc="0" normalizeH="0" baseline="0" noProof="0">
                <a:ln>
                  <a:noFill/>
                </a:ln>
                <a:solidFill>
                  <a:prstClr val="black">
                    <a:tint val="82000"/>
                  </a:prstClr>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6</a:t>
            </a:fld>
            <a:r>
              <a:rPr kumimoji="0" lang="en-US" sz="1200" b="0" i="0" u="none" strike="noStrike" kern="0" cap="none" spc="0" normalizeH="0" baseline="0" noProof="0">
                <a:ln>
                  <a:noFill/>
                </a:ln>
                <a:solidFill>
                  <a:prstClr val="black">
                    <a:tint val="82000"/>
                  </a:prstClr>
                </a:solidFill>
                <a:effectLst/>
                <a:uLnTx/>
                <a:uFillTx/>
                <a:latin typeface="Aptos"/>
                <a:cs typeface="Arial"/>
              </a:rPr>
              <a:t>/ 70</a:t>
            </a:r>
            <a:endParaRPr kumimoji="0" sz="1200" b="0" i="0" u="none" strike="noStrike" kern="0" cap="none" spc="0" normalizeH="0" baseline="0" noProof="0">
              <a:ln>
                <a:noFill/>
              </a:ln>
              <a:solidFill>
                <a:prstClr val="black">
                  <a:tint val="82000"/>
                </a:prstClr>
              </a:solidFill>
              <a:effectLst/>
              <a:uLnTx/>
              <a:uFillTx/>
              <a:latin typeface="Aptos"/>
              <a:cs typeface="Arial"/>
            </a:endParaRPr>
          </a:p>
        </p:txBody>
      </p:sp>
      <p:pic>
        <p:nvPicPr>
          <p:cNvPr id="1441558184" name="Picture 2"/>
          <p:cNvPicPr>
            <a:picLocks noChangeAspect="1" noChangeArrowheads="1"/>
          </p:cNvPicPr>
          <p:nvPr/>
        </p:nvPicPr>
        <p:blipFill rotWithShape="1">
          <a:blip r:embed="rId3"/>
          <a:srcRect b="28602"/>
          <a:stretch/>
        </p:blipFill>
        <p:spPr bwMode="auto">
          <a:xfrm>
            <a:off x="0" y="975642"/>
            <a:ext cx="11869229" cy="3793388"/>
          </a:xfrm>
          <a:prstGeom prst="rect">
            <a:avLst/>
          </a:prstGeom>
          <a:noFill/>
          <a:ln w="9525">
            <a:noFill/>
            <a:miter lim="800000"/>
            <a:headEnd/>
            <a:tailEnd/>
          </a:ln>
          <a:effectLst/>
        </p:spPr>
      </p:pic>
      <p:pic>
        <p:nvPicPr>
          <p:cNvPr id="176158952" name="Picture 3"/>
          <p:cNvPicPr>
            <a:picLocks noGrp="1" noChangeAspect="1" noChangeArrowheads="1"/>
          </p:cNvPicPr>
          <p:nvPr>
            <p:ph idx="1"/>
          </p:nvPr>
        </p:nvPicPr>
        <p:blipFill rotWithShape="1">
          <a:blip r:embed="rId4"/>
          <a:stretch/>
        </p:blipFill>
        <p:spPr bwMode="auto">
          <a:xfrm>
            <a:off x="7524759" y="3071809"/>
            <a:ext cx="3473129" cy="986301"/>
          </a:xfrm>
          <a:prstGeom prst="rect">
            <a:avLst/>
          </a:prstGeom>
          <a:noFill/>
          <a:ln w="9525">
            <a:noFill/>
            <a:miter lim="800000"/>
            <a:headEnd/>
            <a:tailEnd/>
          </a:ln>
          <a:effectLst/>
        </p:spPr>
      </p:pic>
      <p:sp>
        <p:nvSpPr>
          <p:cNvPr id="1990603266" name="TextBox 9"/>
          <p:cNvSpPr txBox="1"/>
          <p:nvPr/>
        </p:nvSpPr>
        <p:spPr bwMode="auto">
          <a:xfrm>
            <a:off x="4780728" y="101599"/>
            <a:ext cx="6982967" cy="3661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F9ED5"/>
                </a:solidFill>
                <a:effectLst/>
                <a:uLnTx/>
                <a:uFillTx/>
                <a:latin typeface="Aptos"/>
                <a:cs typeface="Arial"/>
              </a:rPr>
              <a:t>Ioannidis PLOS Medicine</a:t>
            </a:r>
            <a:r>
              <a:rPr kumimoji="0" lang="en-US" sz="1800" b="0" i="1" u="none" strike="noStrike" kern="0" cap="none" spc="0" normalizeH="0" baseline="0" noProof="0">
                <a:ln>
                  <a:noFill/>
                </a:ln>
                <a:solidFill>
                  <a:srgbClr val="0F9ED5"/>
                </a:solidFill>
                <a:effectLst/>
                <a:uLnTx/>
                <a:uFillTx/>
                <a:latin typeface="Aptos"/>
                <a:cs typeface="Arial"/>
              </a:rPr>
              <a:t> </a:t>
            </a:r>
            <a:r>
              <a:rPr kumimoji="0" lang="en-US" sz="1800" b="0" i="0" u="none" strike="noStrike" kern="0" cap="none" spc="0" normalizeH="0" baseline="0" noProof="0">
                <a:ln>
                  <a:noFill/>
                </a:ln>
                <a:solidFill>
                  <a:srgbClr val="0F9ED5"/>
                </a:solidFill>
                <a:effectLst/>
                <a:uLnTx/>
                <a:uFillTx/>
                <a:latin typeface="Aptos"/>
                <a:cs typeface="Arial"/>
              </a:rPr>
              <a:t>2005, </a:t>
            </a:r>
            <a:r>
              <a:rPr kumimoji="0" lang="pt-BR" sz="1800" b="0" i="0" u="none" strike="noStrike" kern="0" cap="none" spc="0" normalizeH="0" baseline="0" noProof="0">
                <a:ln>
                  <a:noFill/>
                </a:ln>
                <a:solidFill>
                  <a:srgbClr val="0F9ED5"/>
                </a:solidFill>
                <a:effectLst/>
                <a:uLnTx/>
                <a:uFillTx/>
                <a:latin typeface="Aptos"/>
                <a:cs typeface="Arial"/>
              </a:rPr>
              <a:t>doi:</a:t>
            </a:r>
            <a:r>
              <a:rPr kumimoji="0" lang="pt-BR" sz="1800" b="0" i="0" u="none" strike="noStrike" kern="0" cap="none" spc="0" normalizeH="0" baseline="0" noProof="0">
                <a:ln>
                  <a:noFill/>
                </a:ln>
                <a:solidFill>
                  <a:srgbClr val="0F9ED5"/>
                </a:solidFill>
                <a:effectLst/>
                <a:uLnTx/>
                <a:uFillTx/>
                <a:latin typeface="Aptos"/>
                <a:ea typeface="Aptos"/>
                <a:cs typeface="Aptos"/>
              </a:rPr>
              <a:t>10.1371/journal.pmed.0020124</a:t>
            </a:r>
            <a:endParaRPr kumimoji="0" sz="1800" b="0" i="0" u="none" strike="noStrike" kern="0" cap="none" spc="0" normalizeH="0" baseline="0" noProof="0">
              <a:ln>
                <a:noFill/>
              </a:ln>
              <a:solidFill>
                <a:srgbClr val="0F9ED5"/>
              </a:solidFill>
              <a:effectLst/>
              <a:uLnTx/>
              <a:uFillTx/>
              <a:latin typeface="Aptos"/>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36908123" name="Title 1"/>
          <p:cNvSpPr>
            <a:spLocks noGrp="1"/>
          </p:cNvSpPr>
          <p:nvPr>
            <p:ph type="title"/>
          </p:nvPr>
        </p:nvSpPr>
        <p:spPr bwMode="auto"/>
        <p:txBody>
          <a:bodyPr>
            <a:normAutofit/>
          </a:bodyPr>
          <a:lstStyle/>
          <a:p>
            <a:pPr>
              <a:defRPr/>
            </a:pPr>
            <a:r>
              <a:rPr lang="en-US"/>
              <a:t>Reproducibility of Psychological Science</a:t>
            </a:r>
            <a:endParaRPr/>
          </a:p>
        </p:txBody>
      </p:sp>
      <p:sp>
        <p:nvSpPr>
          <p:cNvPr id="409163552" name="Content Placeholder 2"/>
          <p:cNvSpPr>
            <a:spLocks noGrp="1"/>
          </p:cNvSpPr>
          <p:nvPr>
            <p:ph idx="1"/>
          </p:nvPr>
        </p:nvSpPr>
        <p:spPr bwMode="auto">
          <a:xfrm>
            <a:off x="8723749" y="1825624"/>
            <a:ext cx="3099802" cy="4841874"/>
          </a:xfrm>
        </p:spPr>
        <p:txBody>
          <a:bodyPr/>
          <a:lstStyle/>
          <a:p>
            <a:pPr>
              <a:defRPr/>
            </a:pPr>
            <a:endParaRPr lang="en-US"/>
          </a:p>
        </p:txBody>
      </p:sp>
      <p:sp>
        <p:nvSpPr>
          <p:cNvPr id="1444544274" name="Footer Placeholder 3"/>
          <p:cNvSpPr>
            <a:spLocks noGrp="1"/>
          </p:cNvSpPr>
          <p:nvPr>
            <p:ph type="ftr" sz="quarter" idx="11"/>
          </p:nvPr>
        </p:nvSpPr>
        <p:spPr bwMode="auto"/>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tint val="82000"/>
                  </a:prstClr>
                </a:solidFill>
                <a:effectLst/>
                <a:uLnTx/>
                <a:uFillTx/>
                <a:latin typeface="Aptos"/>
                <a:cs typeface="Arial"/>
              </a:rPr>
              <a:t>Data analysis, Semester 2018-1, Lecture 6</a:t>
            </a:r>
            <a:endParaRPr kumimoji="0" sz="1200" b="0" i="0" u="none" strike="noStrike" kern="0" cap="none" spc="0" normalizeH="0" baseline="0" noProof="0">
              <a:ln>
                <a:noFill/>
              </a:ln>
              <a:solidFill>
                <a:prstClr val="black">
                  <a:tint val="82000"/>
                </a:prstClr>
              </a:solidFill>
              <a:effectLst/>
              <a:uLnTx/>
              <a:uFillTx/>
              <a:latin typeface="Aptos"/>
              <a:cs typeface="Arial"/>
            </a:endParaRPr>
          </a:p>
        </p:txBody>
      </p:sp>
      <p:sp>
        <p:nvSpPr>
          <p:cNvPr id="1788643194" name="Slide Number Placeholder 4"/>
          <p:cNvSpPr>
            <a:spLocks noGrp="1"/>
          </p:cNvSpPr>
          <p:nvPr>
            <p:ph type="sldNum" sz="quarter" idx="12"/>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3E19A0-8F09-5D8E-40AF-29D457118920}" type="slidenum">
              <a:rPr kumimoji="0" lang="he-IL" sz="1200" b="0" i="0" u="none" strike="noStrike" kern="0" cap="none" spc="0" normalizeH="0" baseline="0" noProof="0">
                <a:ln>
                  <a:noFill/>
                </a:ln>
                <a:solidFill>
                  <a:prstClr val="black">
                    <a:tint val="82000"/>
                  </a:prstClr>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0" cap="none" spc="0" normalizeH="0" baseline="0" noProof="0">
              <a:ln>
                <a:noFill/>
              </a:ln>
              <a:solidFill>
                <a:prstClr val="black">
                  <a:tint val="82000"/>
                </a:prstClr>
              </a:solidFill>
              <a:effectLst/>
              <a:uLnTx/>
              <a:uFillTx/>
              <a:latin typeface="Aptos"/>
              <a:cs typeface="Arial"/>
            </a:endParaRPr>
          </a:p>
        </p:txBody>
      </p:sp>
      <p:pic>
        <p:nvPicPr>
          <p:cNvPr id="703326727" name="Picture 4" descr="https://d2ufo47lrtsv5s.cloudfront.net/content/sci/349/6251/aac4716/F3.large.jpg"/>
          <p:cNvPicPr>
            <a:picLocks noChangeAspect="1" noChangeArrowheads="1"/>
          </p:cNvPicPr>
          <p:nvPr/>
        </p:nvPicPr>
        <p:blipFill rotWithShape="1">
          <a:blip r:embed="rId3"/>
          <a:srcRect b="51811"/>
          <a:stretch/>
        </p:blipFill>
        <p:spPr bwMode="auto">
          <a:xfrm>
            <a:off x="494964" y="2329229"/>
            <a:ext cx="8383129" cy="4027120"/>
          </a:xfrm>
          <a:prstGeom prst="rect">
            <a:avLst/>
          </a:prstGeom>
          <a:noFill/>
        </p:spPr>
      </p:pic>
      <p:sp>
        <p:nvSpPr>
          <p:cNvPr id="1530431111" name="TextBox 9"/>
          <p:cNvSpPr txBox="1"/>
          <p:nvPr/>
        </p:nvSpPr>
        <p:spPr bwMode="auto">
          <a:xfrm>
            <a:off x="4187504" y="131933"/>
            <a:ext cx="7529353" cy="3661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F9ED5"/>
                </a:solidFill>
                <a:effectLst/>
                <a:uLnTx/>
                <a:uFillTx/>
                <a:latin typeface="Aptos"/>
                <a:cs typeface="Arial"/>
              </a:rPr>
              <a:t>Open Science Colaboration Science</a:t>
            </a:r>
            <a:r>
              <a:rPr kumimoji="0" lang="en-US" sz="1800" b="0" i="1" u="none" strike="noStrike" kern="0" cap="none" spc="0" normalizeH="0" baseline="0" noProof="0">
                <a:ln>
                  <a:noFill/>
                </a:ln>
                <a:solidFill>
                  <a:srgbClr val="0F9ED5"/>
                </a:solidFill>
                <a:effectLst/>
                <a:uLnTx/>
                <a:uFillTx/>
                <a:latin typeface="Aptos"/>
                <a:cs typeface="Arial"/>
              </a:rPr>
              <a:t> 2015</a:t>
            </a:r>
            <a:r>
              <a:rPr kumimoji="0" lang="en-US" sz="1800" b="0" i="0" u="none" strike="noStrike" kern="0" cap="none" spc="0" normalizeH="0" baseline="0" noProof="0">
                <a:ln>
                  <a:noFill/>
                </a:ln>
                <a:solidFill>
                  <a:srgbClr val="0F9ED5"/>
                </a:solidFill>
                <a:effectLst/>
                <a:uLnTx/>
                <a:uFillTx/>
                <a:latin typeface="Aptos"/>
                <a:cs typeface="Arial"/>
              </a:rPr>
              <a:t>, </a:t>
            </a:r>
            <a:r>
              <a:rPr kumimoji="0" lang="pt-BR" sz="1800" b="0" i="0" u="none" strike="noStrike" kern="0" cap="none" spc="0" normalizeH="0" baseline="0" noProof="0">
                <a:ln>
                  <a:noFill/>
                </a:ln>
                <a:solidFill>
                  <a:srgbClr val="0F9ED5"/>
                </a:solidFill>
                <a:effectLst/>
                <a:uLnTx/>
                <a:uFillTx/>
                <a:latin typeface="Aptos"/>
                <a:cs typeface="Arial"/>
              </a:rPr>
              <a:t>doi:</a:t>
            </a:r>
            <a:r>
              <a:rPr kumimoji="0" lang="pt-BR" sz="1800" b="0" i="0" u="none" strike="noStrike" kern="0" cap="none" spc="0" normalizeH="0" baseline="0" noProof="0">
                <a:ln>
                  <a:noFill/>
                </a:ln>
                <a:solidFill>
                  <a:srgbClr val="0F9ED5"/>
                </a:solidFill>
                <a:effectLst/>
                <a:uLnTx/>
                <a:uFillTx/>
                <a:latin typeface="Aptos"/>
                <a:ea typeface="Aptos"/>
                <a:cs typeface="Aptos"/>
              </a:rPr>
              <a:t>10.1126/science.aac4716</a:t>
            </a:r>
            <a:endParaRPr kumimoji="0" sz="1800" b="0" i="0" u="none" strike="noStrike" kern="0" cap="none" spc="0" normalizeH="0" baseline="0" noProof="0">
              <a:ln>
                <a:noFill/>
              </a:ln>
              <a:solidFill>
                <a:srgbClr val="0F9ED5"/>
              </a:solidFill>
              <a:effectLst/>
              <a:uLnTx/>
              <a:uFillTx/>
              <a:latin typeface="Aptos"/>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532537" name="Title 1"/>
          <p:cNvSpPr>
            <a:spLocks noGrp="1"/>
          </p:cNvSpPr>
          <p:nvPr>
            <p:ph type="title"/>
          </p:nvPr>
        </p:nvSpPr>
        <p:spPr bwMode="auto">
          <a:xfrm>
            <a:off x="179917" y="599824"/>
            <a:ext cx="8846773" cy="777874"/>
          </a:xfrm>
        </p:spPr>
        <p:txBody>
          <a:bodyPr>
            <a:normAutofit fontScale="90000"/>
          </a:bodyPr>
          <a:lstStyle/>
          <a:p>
            <a:pPr>
              <a:defRPr/>
            </a:pPr>
            <a:r>
              <a:rPr lang="en-US"/>
              <a:t>Reproducibility of psychological science</a:t>
            </a:r>
            <a:endParaRPr/>
          </a:p>
        </p:txBody>
      </p:sp>
      <p:sp>
        <p:nvSpPr>
          <p:cNvPr id="348192996" name="Content Placeholder 2"/>
          <p:cNvSpPr>
            <a:spLocks noGrp="1"/>
          </p:cNvSpPr>
          <p:nvPr>
            <p:ph idx="1"/>
          </p:nvPr>
        </p:nvSpPr>
        <p:spPr bwMode="auto"/>
        <p:txBody>
          <a:bodyPr/>
          <a:lstStyle/>
          <a:p>
            <a:pPr>
              <a:defRPr/>
            </a:pPr>
            <a:endParaRPr lang="en-US"/>
          </a:p>
        </p:txBody>
      </p:sp>
      <p:sp>
        <p:nvSpPr>
          <p:cNvPr id="32325253" name="Footer Placeholder 3"/>
          <p:cNvSpPr>
            <a:spLocks noGrp="1"/>
          </p:cNvSpPr>
          <p:nvPr>
            <p:ph type="ftr" sz="quarter" idx="11"/>
          </p:nvPr>
        </p:nvSpPr>
        <p:spPr bwMode="auto"/>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tint val="82000"/>
                  </a:prstClr>
                </a:solidFill>
                <a:effectLst/>
                <a:uLnTx/>
                <a:uFillTx/>
                <a:latin typeface="Aptos"/>
                <a:cs typeface="Arial"/>
              </a:rPr>
              <a:t>Data analysis, Semester 2018-1, Lecture 6</a:t>
            </a:r>
            <a:endParaRPr kumimoji="0" sz="1200" b="0" i="0" u="none" strike="noStrike" kern="0" cap="none" spc="0" normalizeH="0" baseline="0" noProof="0">
              <a:ln>
                <a:noFill/>
              </a:ln>
              <a:solidFill>
                <a:prstClr val="black">
                  <a:tint val="82000"/>
                </a:prstClr>
              </a:solidFill>
              <a:effectLst/>
              <a:uLnTx/>
              <a:uFillTx/>
              <a:latin typeface="Aptos"/>
              <a:cs typeface="Arial"/>
            </a:endParaRPr>
          </a:p>
        </p:txBody>
      </p:sp>
      <p:sp>
        <p:nvSpPr>
          <p:cNvPr id="1123506281" name="Slide Number Placeholder 4"/>
          <p:cNvSpPr>
            <a:spLocks noGrp="1"/>
          </p:cNvSpPr>
          <p:nvPr>
            <p:ph type="sldNum" sz="quarter" idx="12"/>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E6283-5F9B-EEBA-0E5F-15530F7E17E7}" type="slidenum">
              <a:rPr kumimoji="0" lang="he-IL" sz="1200" b="0" i="0" u="none" strike="noStrike" kern="0" cap="none" spc="0" normalizeH="0" baseline="0" noProof="0">
                <a:ln>
                  <a:noFill/>
                </a:ln>
                <a:solidFill>
                  <a:prstClr val="black">
                    <a:tint val="82000"/>
                  </a:prstClr>
                </a:solidFill>
                <a:effectLst/>
                <a:uLnTx/>
                <a:uFillTx/>
                <a:latin typeface="Aptos"/>
                <a:cs typeface="Arial"/>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0" cap="none" spc="0" normalizeH="0" baseline="0" noProof="0">
              <a:ln>
                <a:noFill/>
              </a:ln>
              <a:solidFill>
                <a:prstClr val="black">
                  <a:tint val="82000"/>
                </a:prstClr>
              </a:solidFill>
              <a:effectLst/>
              <a:uLnTx/>
              <a:uFillTx/>
              <a:latin typeface="Aptos"/>
              <a:cs typeface="Arial"/>
            </a:endParaRPr>
          </a:p>
        </p:txBody>
      </p:sp>
      <p:pic>
        <p:nvPicPr>
          <p:cNvPr id="497902190" name="Picture 2" descr="https://d2ufo47lrtsv5s.cloudfront.net/content/sci/349/6251/aac4716/F4.large.jpg?width=800&amp;height=600&amp;carousel=1"/>
          <p:cNvPicPr>
            <a:picLocks noChangeAspect="1" noChangeArrowheads="1"/>
          </p:cNvPicPr>
          <p:nvPr/>
        </p:nvPicPr>
        <p:blipFill rotWithShape="1">
          <a:blip r:embed="rId3"/>
          <a:stretch/>
        </p:blipFill>
        <p:spPr bwMode="auto">
          <a:xfrm>
            <a:off x="1103445" y="1737894"/>
            <a:ext cx="8862682" cy="5192978"/>
          </a:xfrm>
          <a:prstGeom prst="rect">
            <a:avLst/>
          </a:prstGeom>
          <a:noFill/>
        </p:spPr>
      </p:pic>
      <p:sp>
        <p:nvSpPr>
          <p:cNvPr id="1243156119" name="TextBox 9"/>
          <p:cNvSpPr txBox="1"/>
          <p:nvPr/>
        </p:nvSpPr>
        <p:spPr bwMode="auto">
          <a:xfrm>
            <a:off x="4187503" y="131932"/>
            <a:ext cx="7529353" cy="3661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F9ED5"/>
                </a:solidFill>
                <a:effectLst/>
                <a:uLnTx/>
                <a:uFillTx/>
                <a:latin typeface="Aptos"/>
                <a:cs typeface="Arial"/>
              </a:rPr>
              <a:t>Open Science Colaboration Science</a:t>
            </a:r>
            <a:r>
              <a:rPr kumimoji="0" lang="en-US" sz="1800" b="0" i="1" u="none" strike="noStrike" kern="0" cap="none" spc="0" normalizeH="0" baseline="0" noProof="0">
                <a:ln>
                  <a:noFill/>
                </a:ln>
                <a:solidFill>
                  <a:srgbClr val="0F9ED5"/>
                </a:solidFill>
                <a:effectLst/>
                <a:uLnTx/>
                <a:uFillTx/>
                <a:latin typeface="Aptos"/>
                <a:cs typeface="Arial"/>
              </a:rPr>
              <a:t> 2015</a:t>
            </a:r>
            <a:r>
              <a:rPr kumimoji="0" lang="en-US" sz="1800" b="0" i="0" u="none" strike="noStrike" kern="0" cap="none" spc="0" normalizeH="0" baseline="0" noProof="0">
                <a:ln>
                  <a:noFill/>
                </a:ln>
                <a:solidFill>
                  <a:srgbClr val="0F9ED5"/>
                </a:solidFill>
                <a:effectLst/>
                <a:uLnTx/>
                <a:uFillTx/>
                <a:latin typeface="Aptos"/>
                <a:cs typeface="Arial"/>
              </a:rPr>
              <a:t>, </a:t>
            </a:r>
            <a:r>
              <a:rPr kumimoji="0" lang="pt-BR" sz="1800" b="0" i="0" u="none" strike="noStrike" kern="0" cap="none" spc="0" normalizeH="0" baseline="0" noProof="0">
                <a:ln>
                  <a:noFill/>
                </a:ln>
                <a:solidFill>
                  <a:srgbClr val="0F9ED5"/>
                </a:solidFill>
                <a:effectLst/>
                <a:uLnTx/>
                <a:uFillTx/>
                <a:latin typeface="Aptos"/>
                <a:cs typeface="Arial"/>
              </a:rPr>
              <a:t>doi:</a:t>
            </a:r>
            <a:r>
              <a:rPr kumimoji="0" lang="pt-BR" sz="1800" b="0" i="0" u="none" strike="noStrike" kern="0" cap="none" spc="0" normalizeH="0" baseline="0" noProof="0">
                <a:ln>
                  <a:noFill/>
                </a:ln>
                <a:solidFill>
                  <a:srgbClr val="0F9ED5"/>
                </a:solidFill>
                <a:effectLst/>
                <a:uLnTx/>
                <a:uFillTx/>
                <a:latin typeface="Aptos"/>
                <a:ea typeface="Aptos"/>
                <a:cs typeface="Aptos"/>
              </a:rPr>
              <a:t>10.1126/science.aac4716</a:t>
            </a:r>
            <a:endParaRPr kumimoji="0" sz="1800" b="0" i="0" u="none" strike="noStrike" kern="0" cap="none" spc="0" normalizeH="0" baseline="0" noProof="0">
              <a:ln>
                <a:noFill/>
              </a:ln>
              <a:solidFill>
                <a:srgbClr val="0F9ED5"/>
              </a:solidFill>
              <a:effectLst/>
              <a:uLnTx/>
              <a:uFillTx/>
              <a:latin typeface="Aptos"/>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73195893" name="Title 1"/>
          <p:cNvSpPr>
            <a:spLocks noGrp="1"/>
          </p:cNvSpPr>
          <p:nvPr>
            <p:ph type="title"/>
          </p:nvPr>
        </p:nvSpPr>
        <p:spPr bwMode="auto">
          <a:xfrm>
            <a:off x="176295" y="448677"/>
            <a:ext cx="11839407" cy="553953"/>
          </a:xfrm>
        </p:spPr>
        <p:txBody>
          <a:bodyPr vertOverflow="overflow" horzOverflow="overflow" vert="horz" wrap="square" lIns="91440" tIns="45720" rIns="91440" bIns="45720" numCol="1" spcCol="0" rtlCol="0" fromWordArt="0" anchor="ctr" anchorCtr="0" forceAA="0" compatLnSpc="0">
            <a:normAutofit fontScale="90000"/>
          </a:bodyPr>
          <a:lstStyle/>
          <a:p>
            <a:pPr>
              <a:defRPr/>
            </a:pPr>
            <a:r>
              <a:rPr lang="he-IL"/>
              <a:t>T</a:t>
            </a:r>
            <a:r>
              <a:rPr lang="en-US"/>
              <a:t>he replication crisis is also in biomedical science</a:t>
            </a:r>
            <a:endParaRPr/>
          </a:p>
        </p:txBody>
      </p:sp>
      <p:sp>
        <p:nvSpPr>
          <p:cNvPr id="349617916" name="Content Placeholder 2"/>
          <p:cNvSpPr>
            <a:spLocks noGrp="1"/>
          </p:cNvSpPr>
          <p:nvPr>
            <p:ph idx="1"/>
          </p:nvPr>
        </p:nvSpPr>
        <p:spPr bwMode="auto">
          <a:xfrm>
            <a:off x="176295" y="1153026"/>
            <a:ext cx="10515600" cy="1178092"/>
          </a:xfrm>
        </p:spPr>
        <p:txBody>
          <a:bodyPr vertOverflow="overflow" horzOverflow="overflow" vert="horz" wrap="square" lIns="91440" tIns="45720" rIns="91440" bIns="45720" numCol="1" spcCol="0" rtlCol="0" fromWordArt="0" anchor="t" anchorCtr="0" forceAA="0" compatLnSpc="0">
            <a:normAutofit fontScale="77500" lnSpcReduction="20000"/>
          </a:bodyPr>
          <a:lstStyle/>
          <a:p>
            <a:pPr>
              <a:defRPr/>
            </a:pPr>
            <a:r>
              <a:t>50 completed replications of experiments in cancer biology</a:t>
            </a:r>
          </a:p>
          <a:p>
            <a:pPr lvl="1">
              <a:defRPr/>
            </a:pPr>
            <a:r>
              <a:t>Effect sizes smaller by 85% in replications</a:t>
            </a:r>
          </a:p>
          <a:p>
            <a:pPr lvl="1">
              <a:defRPr/>
            </a:pPr>
            <a:r>
              <a:t>Significance replicated 40%</a:t>
            </a:r>
          </a:p>
          <a:p>
            <a:pPr lvl="1">
              <a:defRPr/>
            </a:pPr>
            <a:r>
              <a:t>Non-significance replicated 80%</a:t>
            </a:r>
          </a:p>
        </p:txBody>
      </p:sp>
      <p:pic>
        <p:nvPicPr>
          <p:cNvPr id="1923935436" name="Picture 1923935435"/>
          <p:cNvPicPr>
            <a:picLocks noChangeAspect="1"/>
          </p:cNvPicPr>
          <p:nvPr/>
        </p:nvPicPr>
        <p:blipFill rotWithShape="1">
          <a:blip r:embed="rId3"/>
          <a:stretch/>
        </p:blipFill>
        <p:spPr bwMode="auto">
          <a:xfrm>
            <a:off x="2649473" y="2971788"/>
            <a:ext cx="9124763" cy="3743602"/>
          </a:xfrm>
          <a:prstGeom prst="rect">
            <a:avLst/>
          </a:prstGeom>
        </p:spPr>
      </p:pic>
      <p:sp>
        <p:nvSpPr>
          <p:cNvPr id="1782582324" name="TextBox 1782582323"/>
          <p:cNvSpPr txBox="1"/>
          <p:nvPr/>
        </p:nvSpPr>
        <p:spPr bwMode="auto">
          <a:xfrm>
            <a:off x="4082635" y="2691150"/>
            <a:ext cx="1174566" cy="36611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prstClr val="black"/>
                </a:solidFill>
                <a:effectLst/>
                <a:uLnTx/>
                <a:uFillTx/>
                <a:latin typeface="Aptos"/>
                <a:cs typeface="Arial"/>
              </a:rPr>
              <a:t>All effects</a:t>
            </a:r>
          </a:p>
        </p:txBody>
      </p:sp>
      <p:sp>
        <p:nvSpPr>
          <p:cNvPr id="211618930" name="TextBox 211618929"/>
          <p:cNvSpPr txBox="1"/>
          <p:nvPr/>
        </p:nvSpPr>
        <p:spPr bwMode="auto">
          <a:xfrm>
            <a:off x="8412666" y="2656973"/>
            <a:ext cx="1625735" cy="36611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a:ln>
                  <a:noFill/>
                </a:ln>
                <a:solidFill>
                  <a:prstClr val="black"/>
                </a:solidFill>
                <a:effectLst/>
                <a:uLnTx/>
                <a:uFillTx/>
                <a:latin typeface="Aptos"/>
                <a:cs typeface="Arial"/>
              </a:rPr>
              <a:t>Effect size &lt; 5</a:t>
            </a:r>
          </a:p>
        </p:txBody>
      </p:sp>
      <p:sp>
        <p:nvSpPr>
          <p:cNvPr id="2083180916" name="TextBox 9"/>
          <p:cNvSpPr txBox="1"/>
          <p:nvPr/>
        </p:nvSpPr>
        <p:spPr bwMode="auto">
          <a:xfrm>
            <a:off x="6814146" y="101599"/>
            <a:ext cx="4822774" cy="3661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F9ED5"/>
                </a:solidFill>
                <a:effectLst/>
                <a:uLnTx/>
                <a:uFillTx/>
                <a:latin typeface="Aptos"/>
                <a:cs typeface="Arial"/>
              </a:rPr>
              <a:t>Errington </a:t>
            </a:r>
            <a:r>
              <a:rPr kumimoji="0" lang="en-US" sz="1800" b="0" i="1" u="none" strike="noStrike" kern="0" cap="none" spc="0" normalizeH="0" baseline="0" noProof="0">
                <a:ln>
                  <a:noFill/>
                </a:ln>
                <a:solidFill>
                  <a:srgbClr val="0F9ED5"/>
                </a:solidFill>
                <a:effectLst/>
                <a:uLnTx/>
                <a:uFillTx/>
                <a:latin typeface="Aptos"/>
                <a:cs typeface="Arial"/>
              </a:rPr>
              <a:t>eLife </a:t>
            </a:r>
            <a:r>
              <a:rPr kumimoji="0" lang="en-US" sz="1800" b="0" i="0" u="none" strike="noStrike" kern="0" cap="none" spc="0" normalizeH="0" baseline="0" noProof="0">
                <a:ln>
                  <a:noFill/>
                </a:ln>
                <a:solidFill>
                  <a:srgbClr val="0F9ED5"/>
                </a:solidFill>
                <a:effectLst/>
                <a:uLnTx/>
                <a:uFillTx/>
                <a:latin typeface="Aptos"/>
                <a:cs typeface="Arial"/>
              </a:rPr>
              <a:t>2021, </a:t>
            </a:r>
            <a:r>
              <a:rPr kumimoji="0" lang="pt-BR" sz="1800" b="0" i="0" u="none" strike="noStrike" kern="0" cap="none" spc="0" normalizeH="0" baseline="0" noProof="0">
                <a:ln>
                  <a:noFill/>
                </a:ln>
                <a:solidFill>
                  <a:srgbClr val="0F9ED5"/>
                </a:solidFill>
                <a:effectLst/>
                <a:uLnTx/>
                <a:uFillTx/>
                <a:latin typeface="Aptos"/>
                <a:cs typeface="Arial"/>
              </a:rPr>
              <a:t>doi:</a:t>
            </a:r>
            <a:r>
              <a:rPr kumimoji="0" lang="pt-BR" sz="1800" b="0" i="0" u="none" strike="noStrike" kern="0" cap="none" spc="0" normalizeH="0" baseline="0" noProof="0">
                <a:ln>
                  <a:noFill/>
                </a:ln>
                <a:solidFill>
                  <a:srgbClr val="0F9ED5"/>
                </a:solidFill>
                <a:effectLst/>
                <a:uLnTx/>
                <a:uFillTx/>
                <a:latin typeface="Aptos"/>
                <a:ea typeface="Aptos"/>
                <a:cs typeface="Aptos"/>
              </a:rPr>
              <a:t>10.7554/eLife.71601</a:t>
            </a:r>
            <a:endParaRPr kumimoji="0" sz="1800" b="0" i="0" u="none" strike="noStrike" kern="0" cap="none" spc="0" normalizeH="0" baseline="0" noProof="0">
              <a:ln>
                <a:noFill/>
              </a:ln>
              <a:solidFill>
                <a:srgbClr val="0F9ED5"/>
              </a:solidFill>
              <a:effectLst/>
              <a:uLnTx/>
              <a:uFillTx/>
              <a:latin typeface="Aptos"/>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4601-8193-D0F0-190C-66B2B2D9DA03}"/>
              </a:ext>
            </a:extLst>
          </p:cNvPr>
          <p:cNvSpPr>
            <a:spLocks noGrp="1"/>
          </p:cNvSpPr>
          <p:nvPr>
            <p:ph type="title"/>
          </p:nvPr>
        </p:nvSpPr>
        <p:spPr>
          <a:xfrm>
            <a:off x="287867" y="365125"/>
            <a:ext cx="11523133" cy="1325563"/>
          </a:xfrm>
        </p:spPr>
        <p:txBody>
          <a:bodyPr/>
          <a:lstStyle/>
          <a:p>
            <a:r>
              <a:rPr lang="en-US" dirty="0"/>
              <a:t>Scientific knowledge is the result of a long pipeline</a:t>
            </a:r>
            <a:endParaRPr lang="en-IL" dirty="0"/>
          </a:p>
        </p:txBody>
      </p:sp>
      <p:sp>
        <p:nvSpPr>
          <p:cNvPr id="3" name="Content Placeholder 2">
            <a:extLst>
              <a:ext uri="{FF2B5EF4-FFF2-40B4-BE49-F238E27FC236}">
                <a16:creationId xmlns:a16="http://schemas.microsoft.com/office/drawing/2014/main" id="{9A1A789F-882A-74CF-A614-F497115FD96C}"/>
              </a:ext>
            </a:extLst>
          </p:cNvPr>
          <p:cNvSpPr>
            <a:spLocks noGrp="1"/>
          </p:cNvSpPr>
          <p:nvPr>
            <p:ph idx="1"/>
          </p:nvPr>
        </p:nvSpPr>
        <p:spPr>
          <a:xfrm>
            <a:off x="838200" y="3163823"/>
            <a:ext cx="10515600" cy="3013139"/>
          </a:xfrm>
        </p:spPr>
        <p:txBody>
          <a:bodyPr>
            <a:normAutofit fontScale="92500" lnSpcReduction="10000"/>
          </a:bodyPr>
          <a:lstStyle/>
          <a:p>
            <a:r>
              <a:rPr lang="en-US" dirty="0"/>
              <a:t>Our course focused on one step</a:t>
            </a:r>
          </a:p>
          <a:p>
            <a:pPr lvl="1"/>
            <a:r>
              <a:rPr lang="en-US" dirty="0"/>
              <a:t>Plenty of possibilities for error in that step</a:t>
            </a:r>
          </a:p>
          <a:p>
            <a:r>
              <a:rPr lang="en-US" dirty="0"/>
              <a:t>And also touched on data collection</a:t>
            </a:r>
          </a:p>
          <a:p>
            <a:pPr lvl="1"/>
            <a:r>
              <a:rPr lang="en-US" dirty="0"/>
              <a:t>And the possibility for errors in data collection</a:t>
            </a:r>
          </a:p>
          <a:p>
            <a:r>
              <a:rPr lang="en-US" dirty="0"/>
              <a:t>Errors can arise in:</a:t>
            </a:r>
          </a:p>
          <a:p>
            <a:pPr lvl="1"/>
            <a:r>
              <a:rPr lang="en-US" dirty="0"/>
              <a:t>Study design</a:t>
            </a:r>
          </a:p>
          <a:p>
            <a:pPr lvl="1"/>
            <a:r>
              <a:rPr lang="en-US" dirty="0"/>
              <a:t>Publication</a:t>
            </a:r>
          </a:p>
          <a:p>
            <a:pPr lvl="1"/>
            <a:r>
              <a:rPr lang="en-US"/>
              <a:t>Knowledge dissemination</a:t>
            </a:r>
          </a:p>
        </p:txBody>
      </p:sp>
      <p:pic>
        <p:nvPicPr>
          <p:cNvPr id="4" name="Graphic 3">
            <a:extLst>
              <a:ext uri="{FF2B5EF4-FFF2-40B4-BE49-F238E27FC236}">
                <a16:creationId xmlns:a16="http://schemas.microsoft.com/office/drawing/2014/main" id="{34AFDA79-540C-08AB-775D-F47A7304758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1413" y="1767164"/>
            <a:ext cx="10594107" cy="933757"/>
          </a:xfrm>
          <a:prstGeom prst="rect">
            <a:avLst/>
          </a:prstGeom>
        </p:spPr>
      </p:pic>
    </p:spTree>
    <p:extLst>
      <p:ext uri="{BB962C8B-B14F-4D97-AF65-F5344CB8AC3E}">
        <p14:creationId xmlns:p14="http://schemas.microsoft.com/office/powerpoint/2010/main" val="2329223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p:cNvGrpSpPr/>
        <p:nvPr/>
      </p:nvGrpSpPr>
      <p:grpSpPr bwMode="auto">
        <a:xfrm>
          <a:off x="0" y="0"/>
          <a:ext cx="0" cy="0"/>
          <a:chOff x="0" y="0"/>
          <a:chExt cx="0" cy="0"/>
        </a:xfrm>
      </p:grpSpPr>
      <p:sp>
        <p:nvSpPr>
          <p:cNvPr id="651710383" name="Title 1"/>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a:solidFill>
                  <a:srgbClr val="000000"/>
                </a:solidFill>
                <a:latin typeface="Arial"/>
                <a:cs typeface="Arial"/>
              </a:rPr>
              <a:t>12.</a:t>
            </a:r>
            <a:r>
              <a:rPr lang="he-IL" sz="5000">
                <a:solidFill>
                  <a:srgbClr val="000000"/>
                </a:solidFill>
                <a:latin typeface="Arial"/>
                <a:cs typeface="Arial"/>
              </a:rPr>
              <a:t>2</a:t>
            </a:r>
            <a:r>
              <a:rPr lang="en-US" sz="5000">
                <a:solidFill>
                  <a:srgbClr val="000000"/>
                </a:solidFill>
                <a:latin typeface="Arial"/>
                <a:cs typeface="Arial"/>
              </a:rPr>
              <a:t> Where do studies come from?</a:t>
            </a:r>
            <a:endParaRPr/>
          </a:p>
        </p:txBody>
      </p:sp>
      <p:sp>
        <p:nvSpPr>
          <p:cNvPr id="1591332286" name="Text Placeholder 2"/>
          <p:cNvSpPr>
            <a:spLocks noGrp="1"/>
          </p:cNvSpPr>
          <p:nvPr>
            <p:ph type="body" idx="1"/>
          </p:nvPr>
        </p:nvSpPr>
        <p:spPr bwMode="auto">
          <a:xfrm>
            <a:off x="888999" y="2717799"/>
            <a:ext cx="10040663" cy="855439"/>
          </a:xfrm>
        </p:spPr>
        <p:txBody>
          <a:bodyPr wrap="none" anchor="t">
            <a:normAutofit fontScale="92500" lnSpcReduction="20000"/>
          </a:bodyPr>
          <a:lstStyle/>
          <a:p>
            <a:pPr algn="l">
              <a:defRPr sz="3000">
                <a:solidFill>
                  <a:srgbClr val="888888"/>
                </a:solidFill>
                <a:latin typeface="Arial"/>
                <a:cs typeface="Arial"/>
              </a:defRPr>
            </a:pPr>
            <a:r>
              <a:t>Before science can be done, we need to decide what to do. What is </a:t>
            </a:r>
          </a:p>
          <a:p>
            <a:pPr algn="l">
              <a:defRPr sz="3000">
                <a:solidFill>
                  <a:srgbClr val="888888"/>
                </a:solidFill>
                <a:latin typeface="Arial"/>
                <a:cs typeface="Arial"/>
              </a:defRPr>
            </a:pPr>
            <a:r>
              <a:t>the process by which scientists actually decide to do a study?</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23141-93B2-A630-C0B4-26A099AA335F}"/>
              </a:ext>
            </a:extLst>
          </p:cNvPr>
          <p:cNvSpPr>
            <a:spLocks noGrp="1"/>
          </p:cNvSpPr>
          <p:nvPr>
            <p:ph type="title"/>
          </p:nvPr>
        </p:nvSpPr>
        <p:spPr/>
        <p:txBody>
          <a:bodyPr/>
          <a:lstStyle/>
          <a:p>
            <a:r>
              <a:rPr lang="en-US" dirty="0"/>
              <a:t>The idealized view of scientific logic is simple</a:t>
            </a:r>
            <a:endParaRPr lang="en-IL" dirty="0"/>
          </a:p>
        </p:txBody>
      </p:sp>
      <p:sp>
        <p:nvSpPr>
          <p:cNvPr id="3" name="Content Placeholder 2">
            <a:extLst>
              <a:ext uri="{FF2B5EF4-FFF2-40B4-BE49-F238E27FC236}">
                <a16:creationId xmlns:a16="http://schemas.microsoft.com/office/drawing/2014/main" id="{D77E7798-C013-A1B4-F6CE-6B08B8838250}"/>
              </a:ext>
            </a:extLst>
          </p:cNvPr>
          <p:cNvSpPr>
            <a:spLocks noGrp="1"/>
          </p:cNvSpPr>
          <p:nvPr>
            <p:ph idx="1"/>
          </p:nvPr>
        </p:nvSpPr>
        <p:spPr>
          <a:xfrm>
            <a:off x="838200" y="3429000"/>
            <a:ext cx="10515600" cy="2747963"/>
          </a:xfrm>
        </p:spPr>
        <p:txBody>
          <a:bodyPr/>
          <a:lstStyle/>
          <a:p>
            <a:pPr>
              <a:defRPr/>
            </a:pPr>
            <a:r>
              <a:rPr lang="en-US" dirty="0"/>
              <a:t>This is a model taught in high schools</a:t>
            </a:r>
          </a:p>
          <a:p>
            <a:pPr>
              <a:defRPr/>
            </a:pPr>
            <a:r>
              <a:rPr lang="en-US" dirty="0"/>
              <a:t>It is the model that many scientists actually believe</a:t>
            </a:r>
          </a:p>
          <a:p>
            <a:pPr>
              <a:defRPr/>
            </a:pPr>
            <a:r>
              <a:rPr lang="en-US" dirty="0"/>
              <a:t>It is not the reality of where studies come from</a:t>
            </a:r>
          </a:p>
        </p:txBody>
      </p:sp>
      <p:pic>
        <p:nvPicPr>
          <p:cNvPr id="4" name="Graphic 3">
            <a:extLst>
              <a:ext uri="{FF2B5EF4-FFF2-40B4-BE49-F238E27FC236}">
                <a16:creationId xmlns:a16="http://schemas.microsoft.com/office/drawing/2014/main" id="{44FA302F-B9E5-F728-4962-AA970E782913}"/>
              </a:ext>
            </a:extLst>
          </p:cNvPr>
          <p:cNvPicPr>
            <a:picLocks noChangeAspect="1"/>
          </p:cNvPicPr>
          <p:nvPr/>
        </p:nvPicPr>
        <p:blipFill rotWithShape="1">
          <a:blip>
            <a:extLst>
              <a:ext uri="{96DAC541-7B7A-43D3-8B79-37D633B846F1}">
                <asvg:svgBlip xmlns:asvg="http://schemas.microsoft.com/office/drawing/2016/SVG/main" r:embed="rId2"/>
              </a:ext>
            </a:extLst>
          </a:blip>
          <a:stretch/>
        </p:blipFill>
        <p:spPr bwMode="auto">
          <a:xfrm>
            <a:off x="632457" y="1612565"/>
            <a:ext cx="11152294" cy="1547394"/>
          </a:xfrm>
          <a:prstGeom prst="rect">
            <a:avLst/>
          </a:prstGeom>
        </p:spPr>
      </p:pic>
    </p:spTree>
    <p:extLst>
      <p:ext uri="{BB962C8B-B14F-4D97-AF65-F5344CB8AC3E}">
        <p14:creationId xmlns:p14="http://schemas.microsoft.com/office/powerpoint/2010/main" val="3943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4424C-5E58-BA38-BEB3-AD7B77655A10}"/>
              </a:ext>
            </a:extLst>
          </p:cNvPr>
          <p:cNvSpPr>
            <a:spLocks noGrp="1"/>
          </p:cNvSpPr>
          <p:nvPr>
            <p:ph type="title"/>
          </p:nvPr>
        </p:nvSpPr>
        <p:spPr>
          <a:xfrm>
            <a:off x="484414" y="225788"/>
            <a:ext cx="11223171" cy="949869"/>
          </a:xfrm>
        </p:spPr>
        <p:txBody>
          <a:bodyPr/>
          <a:lstStyle/>
          <a:p>
            <a:r>
              <a:rPr lang="en-US" dirty="0"/>
              <a:t>Many factors influence the decision to do a study</a:t>
            </a:r>
            <a:endParaRPr lang="en-IL" dirty="0"/>
          </a:p>
        </p:txBody>
      </p:sp>
      <p:sp>
        <p:nvSpPr>
          <p:cNvPr id="3" name="Content Placeholder 2">
            <a:extLst>
              <a:ext uri="{FF2B5EF4-FFF2-40B4-BE49-F238E27FC236}">
                <a16:creationId xmlns:a16="http://schemas.microsoft.com/office/drawing/2014/main" id="{2AC81356-865E-C20F-D54E-990BBEC3703B}"/>
              </a:ext>
            </a:extLst>
          </p:cNvPr>
          <p:cNvSpPr>
            <a:spLocks noGrp="1"/>
          </p:cNvSpPr>
          <p:nvPr>
            <p:ph idx="1"/>
          </p:nvPr>
        </p:nvSpPr>
        <p:spPr>
          <a:xfrm>
            <a:off x="263435" y="3344092"/>
            <a:ext cx="5180601" cy="3451180"/>
          </a:xfrm>
        </p:spPr>
        <p:txBody>
          <a:bodyPr>
            <a:normAutofit fontScale="92500" lnSpcReduction="20000"/>
          </a:bodyPr>
          <a:lstStyle/>
          <a:p>
            <a:r>
              <a:rPr lang="en-US" dirty="0"/>
              <a:t>Missing scientific knowledge</a:t>
            </a:r>
          </a:p>
          <a:p>
            <a:pPr lvl="1"/>
            <a:r>
              <a:rPr lang="en-US" dirty="0"/>
              <a:t>What do we think we know?</a:t>
            </a:r>
          </a:p>
          <a:p>
            <a:pPr lvl="1"/>
            <a:r>
              <a:rPr lang="en-US" dirty="0"/>
              <a:t>What do we need to know?</a:t>
            </a:r>
          </a:p>
          <a:p>
            <a:pPr lvl="1"/>
            <a:r>
              <a:rPr lang="en-US" dirty="0"/>
              <a:t>What new tools are available?</a:t>
            </a:r>
          </a:p>
          <a:p>
            <a:r>
              <a:rPr lang="en-US" dirty="0"/>
              <a:t>External drive</a:t>
            </a:r>
          </a:p>
          <a:p>
            <a:pPr lvl="1"/>
            <a:r>
              <a:rPr lang="en-US" dirty="0"/>
              <a:t>What do funding agencies want?</a:t>
            </a:r>
          </a:p>
          <a:p>
            <a:pPr lvl="1"/>
            <a:r>
              <a:rPr lang="en-US" dirty="0"/>
              <a:t>What do my friends want to do?</a:t>
            </a:r>
          </a:p>
          <a:p>
            <a:pPr lvl="1"/>
            <a:r>
              <a:rPr lang="en-US" dirty="0"/>
              <a:t>What have we already started?</a:t>
            </a:r>
          </a:p>
          <a:p>
            <a:r>
              <a:rPr lang="en-US" dirty="0"/>
              <a:t>One serious constraint</a:t>
            </a:r>
          </a:p>
          <a:p>
            <a:pPr lvl="1"/>
            <a:r>
              <a:rPr lang="en-US" dirty="0"/>
              <a:t>What do we know how to do?</a:t>
            </a:r>
            <a:endParaRPr lang="en-IL" dirty="0"/>
          </a:p>
        </p:txBody>
      </p:sp>
      <p:pic>
        <p:nvPicPr>
          <p:cNvPr id="7" name="Graphic 6">
            <a:extLst>
              <a:ext uri="{FF2B5EF4-FFF2-40B4-BE49-F238E27FC236}">
                <a16:creationId xmlns:a16="http://schemas.microsoft.com/office/drawing/2014/main" id="{B43A2B9E-A3CF-9462-7463-4F129A209417}"/>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554583" y="1175657"/>
            <a:ext cx="7616980" cy="2882537"/>
          </a:xfrm>
          <a:prstGeom prst="rect">
            <a:avLst/>
          </a:prstGeom>
        </p:spPr>
      </p:pic>
    </p:spTree>
    <p:extLst>
      <p:ext uri="{BB962C8B-B14F-4D97-AF65-F5344CB8AC3E}">
        <p14:creationId xmlns:p14="http://schemas.microsoft.com/office/powerpoint/2010/main" val="3851239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7CD78-E04A-9B72-386B-3EED209732D9}"/>
              </a:ext>
            </a:extLst>
          </p:cNvPr>
          <p:cNvSpPr>
            <a:spLocks noGrp="1"/>
          </p:cNvSpPr>
          <p:nvPr>
            <p:ph type="title"/>
          </p:nvPr>
        </p:nvSpPr>
        <p:spPr/>
        <p:txBody>
          <a:bodyPr/>
          <a:lstStyle/>
          <a:p>
            <a:r>
              <a:rPr lang="en-US" dirty="0"/>
              <a:t>What counts as a scientific question?</a:t>
            </a:r>
            <a:endParaRPr lang="en-IL" dirty="0"/>
          </a:p>
        </p:txBody>
      </p:sp>
      <p:sp>
        <p:nvSpPr>
          <p:cNvPr id="3" name="Content Placeholder 2">
            <a:extLst>
              <a:ext uri="{FF2B5EF4-FFF2-40B4-BE49-F238E27FC236}">
                <a16:creationId xmlns:a16="http://schemas.microsoft.com/office/drawing/2014/main" id="{8CEE196A-76F4-BCC3-7FC4-E2991BE710B3}"/>
              </a:ext>
            </a:extLst>
          </p:cNvPr>
          <p:cNvSpPr>
            <a:spLocks noGrp="1"/>
          </p:cNvSpPr>
          <p:nvPr>
            <p:ph idx="1"/>
          </p:nvPr>
        </p:nvSpPr>
        <p:spPr/>
        <p:txBody>
          <a:bodyPr/>
          <a:lstStyle/>
          <a:p>
            <a:r>
              <a:rPr lang="en-US" dirty="0"/>
              <a:t>We think we know something</a:t>
            </a:r>
          </a:p>
          <a:p>
            <a:pPr lvl="1"/>
            <a:r>
              <a:rPr lang="en-US" dirty="0"/>
              <a:t>But we are probably wrong</a:t>
            </a:r>
          </a:p>
          <a:p>
            <a:r>
              <a:rPr lang="en-US" dirty="0"/>
              <a:t>We think we know something</a:t>
            </a:r>
          </a:p>
          <a:p>
            <a:pPr lvl="1"/>
            <a:r>
              <a:rPr lang="en-US" dirty="0"/>
              <a:t>But it needs more support</a:t>
            </a:r>
          </a:p>
          <a:p>
            <a:r>
              <a:rPr lang="en-US" dirty="0"/>
              <a:t>We think we know something</a:t>
            </a:r>
          </a:p>
          <a:p>
            <a:pPr lvl="1"/>
            <a:r>
              <a:rPr lang="en-US" dirty="0"/>
              <a:t>And it is time to make the next step</a:t>
            </a:r>
          </a:p>
        </p:txBody>
      </p:sp>
      <p:pic>
        <p:nvPicPr>
          <p:cNvPr id="4" name="Picture 3">
            <a:extLst>
              <a:ext uri="{FF2B5EF4-FFF2-40B4-BE49-F238E27FC236}">
                <a16:creationId xmlns:a16="http://schemas.microsoft.com/office/drawing/2014/main" id="{944846A2-201C-E1D0-5F38-351651283E23}"/>
              </a:ext>
            </a:extLst>
          </p:cNvPr>
          <p:cNvPicPr>
            <a:picLocks noChangeAspect="1"/>
          </p:cNvPicPr>
          <p:nvPr/>
        </p:nvPicPr>
        <p:blipFill>
          <a:blip r:embed="rId2"/>
          <a:stretch>
            <a:fillRect/>
          </a:stretch>
        </p:blipFill>
        <p:spPr>
          <a:xfrm>
            <a:off x="7460742" y="2059877"/>
            <a:ext cx="4117086" cy="4117086"/>
          </a:xfrm>
          <a:prstGeom prst="rect">
            <a:avLst/>
          </a:prstGeom>
        </p:spPr>
      </p:pic>
    </p:spTree>
    <p:extLst>
      <p:ext uri="{BB962C8B-B14F-4D97-AF65-F5344CB8AC3E}">
        <p14:creationId xmlns:p14="http://schemas.microsoft.com/office/powerpoint/2010/main" val="1475113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97EC5-4628-F677-F0C0-9A2710930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B9317-C85B-DD2C-2946-38BC94EC3A6F}"/>
              </a:ext>
            </a:extLst>
          </p:cNvPr>
          <p:cNvSpPr>
            <a:spLocks noGrp="1"/>
          </p:cNvSpPr>
          <p:nvPr>
            <p:ph type="title"/>
          </p:nvPr>
        </p:nvSpPr>
        <p:spPr/>
        <p:txBody>
          <a:bodyPr/>
          <a:lstStyle/>
          <a:p>
            <a:r>
              <a:rPr lang="en-US" dirty="0"/>
              <a:t>What counts as an engineering question?</a:t>
            </a:r>
            <a:endParaRPr lang="en-IL" dirty="0"/>
          </a:p>
        </p:txBody>
      </p:sp>
      <p:sp>
        <p:nvSpPr>
          <p:cNvPr id="3" name="Content Placeholder 2">
            <a:extLst>
              <a:ext uri="{FF2B5EF4-FFF2-40B4-BE49-F238E27FC236}">
                <a16:creationId xmlns:a16="http://schemas.microsoft.com/office/drawing/2014/main" id="{DF43BEEB-3AF1-CA99-E251-9F38B97431A5}"/>
              </a:ext>
            </a:extLst>
          </p:cNvPr>
          <p:cNvSpPr>
            <a:spLocks noGrp="1"/>
          </p:cNvSpPr>
          <p:nvPr>
            <p:ph idx="1"/>
          </p:nvPr>
        </p:nvSpPr>
        <p:spPr>
          <a:xfrm>
            <a:off x="838200" y="1825625"/>
            <a:ext cx="5955792" cy="4351338"/>
          </a:xfrm>
        </p:spPr>
        <p:txBody>
          <a:bodyPr>
            <a:normAutofit/>
          </a:bodyPr>
          <a:lstStyle/>
          <a:p>
            <a:r>
              <a:rPr lang="en-US" sz="2400" dirty="0"/>
              <a:t>We think we know how to do something</a:t>
            </a:r>
          </a:p>
          <a:p>
            <a:pPr lvl="1"/>
            <a:r>
              <a:rPr lang="en-US" sz="2000" dirty="0"/>
              <a:t>But it doesn’t generalize to an important new application</a:t>
            </a:r>
          </a:p>
          <a:p>
            <a:r>
              <a:rPr lang="en-US" sz="2400" dirty="0"/>
              <a:t>We think we know how to do something</a:t>
            </a:r>
          </a:p>
          <a:p>
            <a:pPr lvl="1"/>
            <a:r>
              <a:rPr lang="en-US" sz="2000" dirty="0"/>
              <a:t>But it does generalize to an important new application</a:t>
            </a:r>
          </a:p>
          <a:p>
            <a:r>
              <a:rPr lang="en-US" sz="2400" dirty="0"/>
              <a:t>We think we know how to do something</a:t>
            </a:r>
          </a:p>
          <a:p>
            <a:pPr lvl="1"/>
            <a:r>
              <a:rPr lang="en-US" sz="2000" dirty="0"/>
              <a:t>But this other way may be better</a:t>
            </a:r>
          </a:p>
        </p:txBody>
      </p:sp>
      <p:pic>
        <p:nvPicPr>
          <p:cNvPr id="4" name="Picture 3">
            <a:extLst>
              <a:ext uri="{FF2B5EF4-FFF2-40B4-BE49-F238E27FC236}">
                <a16:creationId xmlns:a16="http://schemas.microsoft.com/office/drawing/2014/main" id="{2744564C-5820-A2B2-0761-EEEC08004B44}"/>
              </a:ext>
            </a:extLst>
          </p:cNvPr>
          <p:cNvPicPr>
            <a:picLocks noChangeAspect="1"/>
          </p:cNvPicPr>
          <p:nvPr/>
        </p:nvPicPr>
        <p:blipFill>
          <a:blip r:embed="rId2"/>
          <a:stretch>
            <a:fillRect/>
          </a:stretch>
        </p:blipFill>
        <p:spPr>
          <a:xfrm>
            <a:off x="7460742" y="2059877"/>
            <a:ext cx="4117086" cy="4117086"/>
          </a:xfrm>
          <a:prstGeom prst="rect">
            <a:avLst/>
          </a:prstGeom>
        </p:spPr>
      </p:pic>
    </p:spTree>
    <p:extLst>
      <p:ext uri="{BB962C8B-B14F-4D97-AF65-F5344CB8AC3E}">
        <p14:creationId xmlns:p14="http://schemas.microsoft.com/office/powerpoint/2010/main" val="2476223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B934D-94CC-5A68-4D77-A47640792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F4426-C9B4-AAD9-B71B-DE9C56F00B7E}"/>
              </a:ext>
            </a:extLst>
          </p:cNvPr>
          <p:cNvSpPr>
            <a:spLocks noGrp="1"/>
          </p:cNvSpPr>
          <p:nvPr>
            <p:ph type="title"/>
          </p:nvPr>
        </p:nvSpPr>
        <p:spPr/>
        <p:txBody>
          <a:bodyPr/>
          <a:lstStyle/>
          <a:p>
            <a:r>
              <a:rPr lang="en-US" dirty="0"/>
              <a:t>What counts as a clinical question?</a:t>
            </a:r>
            <a:endParaRPr lang="en-IL" dirty="0"/>
          </a:p>
        </p:txBody>
      </p:sp>
      <p:sp>
        <p:nvSpPr>
          <p:cNvPr id="3" name="Content Placeholder 2">
            <a:extLst>
              <a:ext uri="{FF2B5EF4-FFF2-40B4-BE49-F238E27FC236}">
                <a16:creationId xmlns:a16="http://schemas.microsoft.com/office/drawing/2014/main" id="{4F071B02-CE9C-12FA-00F3-89B30D3158D6}"/>
              </a:ext>
            </a:extLst>
          </p:cNvPr>
          <p:cNvSpPr>
            <a:spLocks noGrp="1"/>
          </p:cNvSpPr>
          <p:nvPr>
            <p:ph idx="1"/>
          </p:nvPr>
        </p:nvSpPr>
        <p:spPr>
          <a:xfrm>
            <a:off x="838200" y="1825625"/>
            <a:ext cx="6486144" cy="4351338"/>
          </a:xfrm>
        </p:spPr>
        <p:txBody>
          <a:bodyPr>
            <a:normAutofit/>
          </a:bodyPr>
          <a:lstStyle/>
          <a:p>
            <a:r>
              <a:rPr lang="en-US" sz="2400" dirty="0"/>
              <a:t>We think we know how diagnose / treat some patients</a:t>
            </a:r>
          </a:p>
          <a:p>
            <a:pPr lvl="1"/>
            <a:r>
              <a:rPr lang="en-US" sz="2000" dirty="0"/>
              <a:t>And we want to check if it is really working</a:t>
            </a:r>
          </a:p>
          <a:p>
            <a:r>
              <a:rPr lang="en-US" sz="2400" dirty="0"/>
              <a:t>We think we know how diagnose / treat some patients</a:t>
            </a:r>
          </a:p>
          <a:p>
            <a:pPr lvl="1"/>
            <a:r>
              <a:rPr lang="en-US" sz="2000" dirty="0"/>
              <a:t>And we want to try it on a new group</a:t>
            </a:r>
          </a:p>
          <a:p>
            <a:r>
              <a:rPr lang="en-US" sz="2400" dirty="0"/>
              <a:t>We think we know how diagnose / treat some patients</a:t>
            </a:r>
          </a:p>
          <a:p>
            <a:pPr lvl="1"/>
            <a:r>
              <a:rPr lang="en-US" sz="2000" dirty="0"/>
              <a:t>And we want to see if another diagnosis or treatment might be better</a:t>
            </a:r>
          </a:p>
        </p:txBody>
      </p:sp>
      <p:pic>
        <p:nvPicPr>
          <p:cNvPr id="4" name="Picture 3">
            <a:extLst>
              <a:ext uri="{FF2B5EF4-FFF2-40B4-BE49-F238E27FC236}">
                <a16:creationId xmlns:a16="http://schemas.microsoft.com/office/drawing/2014/main" id="{4EB5E02E-9B81-4514-E5E4-F9B9DF77292E}"/>
              </a:ext>
            </a:extLst>
          </p:cNvPr>
          <p:cNvPicPr>
            <a:picLocks noChangeAspect="1"/>
          </p:cNvPicPr>
          <p:nvPr/>
        </p:nvPicPr>
        <p:blipFill>
          <a:blip r:embed="rId2"/>
          <a:stretch>
            <a:fillRect/>
          </a:stretch>
        </p:blipFill>
        <p:spPr>
          <a:xfrm>
            <a:off x="7460742" y="2059877"/>
            <a:ext cx="4117086" cy="4117086"/>
          </a:xfrm>
          <a:prstGeom prst="rect">
            <a:avLst/>
          </a:prstGeom>
        </p:spPr>
      </p:pic>
    </p:spTree>
    <p:extLst>
      <p:ext uri="{BB962C8B-B14F-4D97-AF65-F5344CB8AC3E}">
        <p14:creationId xmlns:p14="http://schemas.microsoft.com/office/powerpoint/2010/main" val="1842409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FA00-11DE-CF44-6245-39EF610B4717}"/>
              </a:ext>
            </a:extLst>
          </p:cNvPr>
          <p:cNvSpPr>
            <a:spLocks noGrp="1"/>
          </p:cNvSpPr>
          <p:nvPr>
            <p:ph type="title"/>
          </p:nvPr>
        </p:nvSpPr>
        <p:spPr>
          <a:xfrm>
            <a:off x="838200" y="365125"/>
            <a:ext cx="10515600" cy="960755"/>
          </a:xfrm>
        </p:spPr>
        <p:txBody>
          <a:bodyPr/>
          <a:lstStyle/>
          <a:p>
            <a:r>
              <a:rPr lang="en-US" dirty="0"/>
              <a:t>Criteria for good study design</a:t>
            </a:r>
            <a:endParaRPr lang="en-IL" dirty="0"/>
          </a:p>
        </p:txBody>
      </p:sp>
      <p:sp>
        <p:nvSpPr>
          <p:cNvPr id="3" name="Content Placeholder 2">
            <a:extLst>
              <a:ext uri="{FF2B5EF4-FFF2-40B4-BE49-F238E27FC236}">
                <a16:creationId xmlns:a16="http://schemas.microsoft.com/office/drawing/2014/main" id="{F542920F-F318-5A13-3B57-C560BFB0ADAF}"/>
              </a:ext>
            </a:extLst>
          </p:cNvPr>
          <p:cNvSpPr>
            <a:spLocks noGrp="1"/>
          </p:cNvSpPr>
          <p:nvPr>
            <p:ph idx="1"/>
          </p:nvPr>
        </p:nvSpPr>
        <p:spPr/>
        <p:txBody>
          <a:bodyPr>
            <a:normAutofit fontScale="92500" lnSpcReduction="20000"/>
          </a:bodyPr>
          <a:lstStyle/>
          <a:p>
            <a:r>
              <a:rPr lang="en-US" dirty="0"/>
              <a:t>There is a central question</a:t>
            </a:r>
          </a:p>
          <a:p>
            <a:pPr lvl="1"/>
            <a:r>
              <a:rPr lang="en-US" dirty="0"/>
              <a:t>With a yes / no answer</a:t>
            </a:r>
          </a:p>
          <a:p>
            <a:pPr lvl="1"/>
            <a:r>
              <a:rPr lang="en-US" dirty="0"/>
              <a:t>That is a real scientific / engineering / clinical question</a:t>
            </a:r>
          </a:p>
          <a:p>
            <a:r>
              <a:rPr lang="en-US" dirty="0"/>
              <a:t>There is a clear primary measure</a:t>
            </a:r>
          </a:p>
          <a:p>
            <a:pPr lvl="1"/>
            <a:r>
              <a:rPr lang="en-US" dirty="0"/>
              <a:t>That is obviously relevant to the question</a:t>
            </a:r>
          </a:p>
          <a:p>
            <a:pPr lvl="1"/>
            <a:r>
              <a:rPr lang="en-US" dirty="0"/>
              <a:t>The measured value will answer the question</a:t>
            </a:r>
          </a:p>
          <a:p>
            <a:r>
              <a:rPr lang="en-US" dirty="0"/>
              <a:t>The expected effect size is large</a:t>
            </a:r>
          </a:p>
          <a:p>
            <a:pPr lvl="1"/>
            <a:r>
              <a:rPr lang="en-US" dirty="0"/>
              <a:t>The effect size is the difference between the measure under ‘</a:t>
            </a:r>
            <a:r>
              <a:rPr lang="en-US" dirty="0" err="1"/>
              <a:t>yes’</a:t>
            </a:r>
            <a:r>
              <a:rPr lang="en-US" dirty="0"/>
              <a:t> and under ‘no’</a:t>
            </a:r>
          </a:p>
          <a:p>
            <a:r>
              <a:rPr lang="en-US" dirty="0"/>
              <a:t>Previous experience validates</a:t>
            </a:r>
          </a:p>
          <a:p>
            <a:pPr lvl="1"/>
            <a:r>
              <a:rPr lang="en-US" dirty="0"/>
              <a:t>The ability to measure reliably</a:t>
            </a:r>
          </a:p>
          <a:p>
            <a:pPr lvl="1"/>
            <a:r>
              <a:rPr lang="en-US" dirty="0"/>
              <a:t>The existence of a meaningful effect</a:t>
            </a:r>
          </a:p>
          <a:p>
            <a:pPr lvl="1"/>
            <a:r>
              <a:rPr lang="en-US" dirty="0"/>
              <a:t>A prior expectation for a yes or no answer</a:t>
            </a:r>
          </a:p>
          <a:p>
            <a:endParaRPr lang="en-US" dirty="0"/>
          </a:p>
        </p:txBody>
      </p:sp>
    </p:spTree>
    <p:extLst>
      <p:ext uri="{BB962C8B-B14F-4D97-AF65-F5344CB8AC3E}">
        <p14:creationId xmlns:p14="http://schemas.microsoft.com/office/powerpoint/2010/main" val="272394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C8598-8229-5D5C-9A0F-530AB1488D76}"/>
              </a:ext>
            </a:extLst>
          </p:cNvPr>
          <p:cNvSpPr>
            <a:spLocks noGrp="1"/>
          </p:cNvSpPr>
          <p:nvPr>
            <p:ph type="title"/>
          </p:nvPr>
        </p:nvSpPr>
        <p:spPr>
          <a:xfrm>
            <a:off x="838200" y="365125"/>
            <a:ext cx="10515600" cy="942467"/>
          </a:xfrm>
        </p:spPr>
        <p:txBody>
          <a:bodyPr>
            <a:normAutofit fontScale="90000"/>
          </a:bodyPr>
          <a:lstStyle/>
          <a:p>
            <a:r>
              <a:rPr lang="en-US" dirty="0"/>
              <a:t>Pilot data drives studies that drive new pilot data</a:t>
            </a:r>
            <a:endParaRPr lang="en-IL" dirty="0"/>
          </a:p>
        </p:txBody>
      </p:sp>
      <p:sp>
        <p:nvSpPr>
          <p:cNvPr id="3" name="Content Placeholder 2">
            <a:extLst>
              <a:ext uri="{FF2B5EF4-FFF2-40B4-BE49-F238E27FC236}">
                <a16:creationId xmlns:a16="http://schemas.microsoft.com/office/drawing/2014/main" id="{17529C0C-3C7F-1E35-24D1-3EEB7DA5B06D}"/>
              </a:ext>
            </a:extLst>
          </p:cNvPr>
          <p:cNvSpPr>
            <a:spLocks noGrp="1"/>
          </p:cNvSpPr>
          <p:nvPr>
            <p:ph idx="1"/>
          </p:nvPr>
        </p:nvSpPr>
        <p:spPr>
          <a:xfrm>
            <a:off x="838200" y="3978591"/>
            <a:ext cx="10515600" cy="2198372"/>
          </a:xfrm>
        </p:spPr>
        <p:txBody>
          <a:bodyPr/>
          <a:lstStyle/>
          <a:p>
            <a:r>
              <a:rPr lang="en-US" dirty="0"/>
              <a:t>Pilot data is necessary for</a:t>
            </a:r>
          </a:p>
          <a:p>
            <a:pPr lvl="1"/>
            <a:r>
              <a:rPr lang="en-US" dirty="0"/>
              <a:t>Testing and developing experimental methods</a:t>
            </a:r>
          </a:p>
          <a:p>
            <a:pPr lvl="1"/>
            <a:r>
              <a:rPr lang="en-US" dirty="0"/>
              <a:t>Developing analysis methods</a:t>
            </a:r>
          </a:p>
          <a:p>
            <a:pPr lvl="1"/>
            <a:r>
              <a:rPr lang="en-US" dirty="0"/>
              <a:t>Supporting grant feasibility</a:t>
            </a:r>
          </a:p>
          <a:p>
            <a:pPr lvl="1"/>
            <a:r>
              <a:rPr lang="en-US" dirty="0"/>
              <a:t>Clarifying research directions</a:t>
            </a:r>
          </a:p>
          <a:p>
            <a:endParaRPr lang="en-IL" dirty="0"/>
          </a:p>
        </p:txBody>
      </p:sp>
      <p:pic>
        <p:nvPicPr>
          <p:cNvPr id="5" name="Graphic 4">
            <a:extLst>
              <a:ext uri="{FF2B5EF4-FFF2-40B4-BE49-F238E27FC236}">
                <a16:creationId xmlns:a16="http://schemas.microsoft.com/office/drawing/2014/main" id="{309F177F-093F-4349-961D-1E3A8D2EF7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05087" y="2144077"/>
            <a:ext cx="7439025" cy="1381125"/>
          </a:xfrm>
          <a:prstGeom prst="rect">
            <a:avLst/>
          </a:prstGeom>
        </p:spPr>
      </p:pic>
    </p:spTree>
    <p:extLst>
      <p:ext uri="{BB962C8B-B14F-4D97-AF65-F5344CB8AC3E}">
        <p14:creationId xmlns:p14="http://schemas.microsoft.com/office/powerpoint/2010/main" val="3543186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59699642-1D2D-234A-8BAB-460DDC4CF5BC}"/>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69C1E9C2-86B3-0797-2306-9AD3A79850D2}"/>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12.3 Fragile design</a:t>
            </a:r>
            <a:endParaRPr dirty="0"/>
          </a:p>
        </p:txBody>
      </p:sp>
      <p:sp>
        <p:nvSpPr>
          <p:cNvPr id="1591332286" name="Text Placeholder 2">
            <a:extLst>
              <a:ext uri="{FF2B5EF4-FFF2-40B4-BE49-F238E27FC236}">
                <a16:creationId xmlns:a16="http://schemas.microsoft.com/office/drawing/2014/main" id="{73067015-FA98-A80A-AA75-A8FAED29CF5F}"/>
              </a:ext>
            </a:extLst>
          </p:cNvPr>
          <p:cNvSpPr>
            <a:spLocks noGrp="1"/>
          </p:cNvSpPr>
          <p:nvPr>
            <p:ph type="body" idx="1"/>
          </p:nvPr>
        </p:nvSpPr>
        <p:spPr bwMode="auto">
          <a:xfrm>
            <a:off x="888999" y="2717799"/>
            <a:ext cx="10040663" cy="855439"/>
          </a:xfrm>
        </p:spPr>
        <p:txBody>
          <a:bodyPr wrap="none" anchor="t">
            <a:normAutofit/>
          </a:bodyPr>
          <a:lstStyle/>
          <a:p>
            <a:pPr algn="l">
              <a:defRPr sz="3000">
                <a:solidFill>
                  <a:srgbClr val="888888"/>
                </a:solidFill>
                <a:latin typeface="Arial"/>
                <a:cs typeface="Arial"/>
              </a:defRPr>
            </a:pPr>
            <a:r>
              <a:rPr lang="en-US" dirty="0"/>
              <a:t>Problems can start even before data </a:t>
            </a:r>
            <a:r>
              <a:rPr lang="en-US" dirty="0" err="1"/>
              <a:t>anslysis</a:t>
            </a:r>
            <a:endParaRPr dirty="0"/>
          </a:p>
        </p:txBody>
      </p:sp>
    </p:spTree>
    <p:extLst>
      <p:ext uri="{BB962C8B-B14F-4D97-AF65-F5344CB8AC3E}">
        <p14:creationId xmlns:p14="http://schemas.microsoft.com/office/powerpoint/2010/main" val="1047976524"/>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12EFCC-B6EF-2448-C27B-49409F27B420}"/>
              </a:ext>
            </a:extLst>
          </p:cNvPr>
          <p:cNvSpPr>
            <a:spLocks noGrp="1"/>
          </p:cNvSpPr>
          <p:nvPr>
            <p:ph type="title"/>
          </p:nvPr>
        </p:nvSpPr>
        <p:spPr>
          <a:xfrm>
            <a:off x="838200" y="365125"/>
            <a:ext cx="10515600" cy="750443"/>
          </a:xfrm>
        </p:spPr>
        <p:txBody>
          <a:bodyPr>
            <a:normAutofit fontScale="90000"/>
          </a:bodyPr>
          <a:lstStyle/>
          <a:p>
            <a:r>
              <a:rPr lang="en-US" dirty="0"/>
              <a:t>Does genetically modified food cause cancer?</a:t>
            </a:r>
            <a:endParaRPr lang="en-IL" dirty="0"/>
          </a:p>
        </p:txBody>
      </p:sp>
      <p:sp>
        <p:nvSpPr>
          <p:cNvPr id="5" name="Content Placeholder 4">
            <a:extLst>
              <a:ext uri="{FF2B5EF4-FFF2-40B4-BE49-F238E27FC236}">
                <a16:creationId xmlns:a16="http://schemas.microsoft.com/office/drawing/2014/main" id="{4BF669D8-A42F-B0DE-1B64-0533C932BB0C}"/>
              </a:ext>
            </a:extLst>
          </p:cNvPr>
          <p:cNvSpPr>
            <a:spLocks noGrp="1"/>
          </p:cNvSpPr>
          <p:nvPr>
            <p:ph idx="1"/>
          </p:nvPr>
        </p:nvSpPr>
        <p:spPr>
          <a:xfrm>
            <a:off x="838200" y="1253331"/>
            <a:ext cx="6248400" cy="4799997"/>
          </a:xfrm>
        </p:spPr>
        <p:txBody>
          <a:bodyPr>
            <a:normAutofit fontScale="85000" lnSpcReduction="20000"/>
          </a:bodyPr>
          <a:lstStyle/>
          <a:p>
            <a:r>
              <a:rPr lang="en-US" dirty="0"/>
              <a:t>200 rats for 2 years</a:t>
            </a:r>
          </a:p>
          <a:p>
            <a:pPr lvl="1"/>
            <a:r>
              <a:rPr lang="en-US" dirty="0"/>
              <a:t>Male and female</a:t>
            </a:r>
          </a:p>
          <a:p>
            <a:pPr lvl="1"/>
            <a:r>
              <a:rPr lang="en-US" dirty="0"/>
              <a:t>10 groups</a:t>
            </a:r>
          </a:p>
          <a:p>
            <a:pPr lvl="2"/>
            <a:r>
              <a:rPr lang="en-US" dirty="0"/>
              <a:t>With different amounts and types of GM corn in the diet</a:t>
            </a:r>
          </a:p>
          <a:p>
            <a:r>
              <a:rPr lang="en-US" dirty="0"/>
              <a:t>Measured</a:t>
            </a:r>
          </a:p>
          <a:p>
            <a:pPr lvl="1"/>
            <a:r>
              <a:rPr lang="en-US" dirty="0"/>
              <a:t>34 organs</a:t>
            </a:r>
          </a:p>
          <a:p>
            <a:pPr lvl="1"/>
            <a:r>
              <a:rPr lang="en-US" dirty="0"/>
              <a:t>Blood samples and urine samples at 11 time points</a:t>
            </a:r>
          </a:p>
          <a:p>
            <a:pPr lvl="2"/>
            <a:r>
              <a:rPr lang="en-US" dirty="0"/>
              <a:t>20 blood parameters</a:t>
            </a:r>
          </a:p>
          <a:p>
            <a:pPr lvl="2"/>
            <a:r>
              <a:rPr lang="en-US" dirty="0"/>
              <a:t>16 urine parameters</a:t>
            </a:r>
          </a:p>
          <a:p>
            <a:pPr lvl="1"/>
            <a:r>
              <a:rPr lang="en-US" dirty="0"/>
              <a:t>Tumor incidence</a:t>
            </a:r>
          </a:p>
          <a:p>
            <a:pPr lvl="1"/>
            <a:r>
              <a:rPr lang="en-US" dirty="0"/>
              <a:t>Mortality</a:t>
            </a:r>
          </a:p>
          <a:p>
            <a:r>
              <a:rPr lang="en-US" dirty="0"/>
              <a:t>Found kidney and liver toxicity starting at 90 days</a:t>
            </a:r>
          </a:p>
          <a:p>
            <a:pPr lvl="1"/>
            <a:r>
              <a:rPr lang="en-US" dirty="0"/>
              <a:t>And escalating to kidney and liver relate deaths</a:t>
            </a:r>
          </a:p>
          <a:p>
            <a:pPr lvl="1"/>
            <a:endParaRPr lang="en-IL" dirty="0"/>
          </a:p>
        </p:txBody>
      </p:sp>
      <p:pic>
        <p:nvPicPr>
          <p:cNvPr id="6" name="Picture 5">
            <a:extLst>
              <a:ext uri="{FF2B5EF4-FFF2-40B4-BE49-F238E27FC236}">
                <a16:creationId xmlns:a16="http://schemas.microsoft.com/office/drawing/2014/main" id="{E7715D8B-1234-F99A-8A25-C0AD09053201}"/>
              </a:ext>
            </a:extLst>
          </p:cNvPr>
          <p:cNvPicPr>
            <a:picLocks noChangeAspect="1"/>
          </p:cNvPicPr>
          <p:nvPr/>
        </p:nvPicPr>
        <p:blipFill>
          <a:blip r:embed="rId2"/>
          <a:stretch>
            <a:fillRect/>
          </a:stretch>
        </p:blipFill>
        <p:spPr>
          <a:xfrm>
            <a:off x="6967728" y="1316012"/>
            <a:ext cx="4971723" cy="5051912"/>
          </a:xfrm>
          <a:prstGeom prst="rect">
            <a:avLst/>
          </a:prstGeom>
        </p:spPr>
      </p:pic>
      <p:sp>
        <p:nvSpPr>
          <p:cNvPr id="7" name="TextBox 9">
            <a:extLst>
              <a:ext uri="{FF2B5EF4-FFF2-40B4-BE49-F238E27FC236}">
                <a16:creationId xmlns:a16="http://schemas.microsoft.com/office/drawing/2014/main" id="{68E029DB-1441-D600-A221-96DF562B5D3C}"/>
              </a:ext>
            </a:extLst>
          </p:cNvPr>
          <p:cNvSpPr txBox="1"/>
          <p:nvPr/>
        </p:nvSpPr>
        <p:spPr bwMode="auto">
          <a:xfrm>
            <a:off x="4121018" y="111578"/>
            <a:ext cx="78870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rgbClr val="0F9ED5"/>
                </a:solidFill>
                <a:effectLst/>
                <a:uLnTx/>
                <a:uFillTx/>
                <a:latin typeface="Aptos"/>
                <a:cs typeface="Arial"/>
              </a:rPr>
              <a:t>Séralini</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Environmental Science Europe </a:t>
            </a:r>
            <a:r>
              <a:rPr kumimoji="0" lang="en-US" sz="1800" b="0" i="0" u="none" strike="noStrike" kern="0" cap="none" spc="0" normalizeH="0" baseline="0" noProof="0" dirty="0">
                <a:ln>
                  <a:noFill/>
                </a:ln>
                <a:solidFill>
                  <a:srgbClr val="0F9ED5"/>
                </a:solidFill>
                <a:effectLst/>
                <a:uLnTx/>
                <a:uFillTx/>
                <a:latin typeface="Aptos"/>
                <a:cs typeface="Arial"/>
              </a:rPr>
              <a:t>201</a:t>
            </a:r>
            <a:r>
              <a:rPr lang="en-US" kern="0" dirty="0">
                <a:solidFill>
                  <a:srgbClr val="0F9ED5"/>
                </a:solidFill>
                <a:latin typeface="Aptos"/>
                <a:cs typeface="Arial"/>
              </a:rPr>
              <a:t>4</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pt-BR" sz="1800" b="0" i="0" u="none" strike="noStrike" kern="0" cap="none" spc="0" normalizeH="0" baseline="0" noProof="0" dirty="0">
                <a:ln>
                  <a:noFill/>
                </a:ln>
                <a:solidFill>
                  <a:srgbClr val="0F9ED5"/>
                </a:solidFill>
                <a:effectLst/>
                <a:uLnTx/>
                <a:uFillTx/>
                <a:latin typeface="Aptos"/>
                <a:cs typeface="Arial"/>
              </a:rPr>
              <a:t>doi:</a:t>
            </a:r>
            <a:r>
              <a:rPr kumimoji="0" lang="pt-BR" sz="1800" b="0" i="0" u="none" strike="noStrike" kern="0" cap="none" spc="0" normalizeH="0" baseline="0" noProof="0" dirty="0">
                <a:ln>
                  <a:noFill/>
                </a:ln>
                <a:solidFill>
                  <a:srgbClr val="0F9ED5"/>
                </a:solidFill>
                <a:effectLst/>
                <a:uLnTx/>
                <a:uFillTx/>
                <a:latin typeface="Aptos"/>
                <a:ea typeface="Aptos"/>
                <a:cs typeface="Aptos"/>
              </a:rPr>
              <a:t>10.1186/s12302-014-0014-5</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2639292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1E84-7E91-61DD-D146-07960A699EAA}"/>
              </a:ext>
            </a:extLst>
          </p:cNvPr>
          <p:cNvSpPr>
            <a:spLocks noGrp="1"/>
          </p:cNvSpPr>
          <p:nvPr>
            <p:ph type="title"/>
          </p:nvPr>
        </p:nvSpPr>
        <p:spPr>
          <a:xfrm>
            <a:off x="358219" y="515954"/>
            <a:ext cx="11566688" cy="850933"/>
          </a:xfrm>
        </p:spPr>
        <p:txBody>
          <a:bodyPr>
            <a:noAutofit/>
          </a:bodyPr>
          <a:lstStyle/>
          <a:p>
            <a:r>
              <a:rPr lang="en-US" sz="3600" dirty="0"/>
              <a:t>Design is fragile: low power and a large number of measures</a:t>
            </a:r>
            <a:endParaRPr lang="en-IL" sz="3600" dirty="0"/>
          </a:p>
        </p:txBody>
      </p:sp>
      <p:sp>
        <p:nvSpPr>
          <p:cNvPr id="3" name="Content Placeholder 2">
            <a:extLst>
              <a:ext uri="{FF2B5EF4-FFF2-40B4-BE49-F238E27FC236}">
                <a16:creationId xmlns:a16="http://schemas.microsoft.com/office/drawing/2014/main" id="{8D508EC4-1605-511B-8C3D-C35BC71A92E9}"/>
              </a:ext>
            </a:extLst>
          </p:cNvPr>
          <p:cNvSpPr>
            <a:spLocks noGrp="1"/>
          </p:cNvSpPr>
          <p:nvPr>
            <p:ph idx="1"/>
          </p:nvPr>
        </p:nvSpPr>
        <p:spPr>
          <a:xfrm>
            <a:off x="838200" y="1571101"/>
            <a:ext cx="10515600" cy="4351338"/>
          </a:xfrm>
        </p:spPr>
        <p:txBody>
          <a:bodyPr/>
          <a:lstStyle/>
          <a:p>
            <a:r>
              <a:rPr lang="en-US" dirty="0"/>
              <a:t>Small number of rats per group</a:t>
            </a:r>
          </a:p>
          <a:p>
            <a:r>
              <a:rPr lang="en-US" dirty="0"/>
              <a:t>Large number of measures</a:t>
            </a:r>
          </a:p>
          <a:p>
            <a:pPr lvl="1"/>
            <a:r>
              <a:rPr lang="en-US" dirty="0"/>
              <a:t>Called a ‘fishing trip’</a:t>
            </a:r>
          </a:p>
          <a:p>
            <a:r>
              <a:rPr lang="en-US" dirty="0"/>
              <a:t>Use of a strain that develops tumors with age naturally</a:t>
            </a:r>
          </a:p>
          <a:p>
            <a:r>
              <a:rPr lang="en-US" dirty="0"/>
              <a:t>Inadequate statistical methods</a:t>
            </a:r>
          </a:p>
          <a:p>
            <a:r>
              <a:rPr lang="en-US" dirty="0"/>
              <a:t>Lack of full reporting</a:t>
            </a:r>
          </a:p>
          <a:p>
            <a:endParaRPr lang="en-US" dirty="0"/>
          </a:p>
          <a:p>
            <a:r>
              <a:rPr lang="en-US" dirty="0"/>
              <a:t>Paper originally retracted and then republished</a:t>
            </a:r>
          </a:p>
          <a:p>
            <a:pPr lvl="1"/>
            <a:r>
              <a:rPr lang="en-US" dirty="0"/>
              <a:t>But still derided</a:t>
            </a:r>
          </a:p>
          <a:p>
            <a:endParaRPr lang="en-US" dirty="0"/>
          </a:p>
          <a:p>
            <a:pPr marL="0" indent="0">
              <a:buNone/>
            </a:pPr>
            <a:endParaRPr lang="en-US" dirty="0"/>
          </a:p>
        </p:txBody>
      </p:sp>
      <p:sp>
        <p:nvSpPr>
          <p:cNvPr id="4" name="TextBox 9">
            <a:extLst>
              <a:ext uri="{FF2B5EF4-FFF2-40B4-BE49-F238E27FC236}">
                <a16:creationId xmlns:a16="http://schemas.microsoft.com/office/drawing/2014/main" id="{7B9D0D02-3561-A9F9-726A-9B2847016FB5}"/>
              </a:ext>
            </a:extLst>
          </p:cNvPr>
          <p:cNvSpPr txBox="1"/>
          <p:nvPr/>
        </p:nvSpPr>
        <p:spPr bwMode="auto">
          <a:xfrm>
            <a:off x="6141563" y="146622"/>
            <a:ext cx="5609228" cy="369332"/>
          </a:xfrm>
          <a:prstGeom prst="rect">
            <a:avLst/>
          </a:prstGeom>
          <a:noFill/>
        </p:spPr>
        <p:txBody>
          <a:bodyPr wrap="none" rtlCol="0">
            <a:spAutoFit/>
          </a:bodyPr>
          <a:lstStyle/>
          <a:p>
            <a:pPr lvl="0">
              <a:defRPr/>
            </a:pPr>
            <a:r>
              <a:rPr lang="en-US" kern="0" dirty="0">
                <a:solidFill>
                  <a:srgbClr val="0F9ED5"/>
                </a:solidFill>
                <a:latin typeface="Aptos"/>
                <a:cs typeface="Arial"/>
              </a:rPr>
              <a:t>EFSA</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EFSA Journal </a:t>
            </a:r>
            <a:r>
              <a:rPr kumimoji="0" lang="en-US" sz="1800" b="0" i="0" u="none" strike="noStrike" kern="0" cap="none" spc="0" normalizeH="0" baseline="0" noProof="0" dirty="0">
                <a:ln>
                  <a:noFill/>
                </a:ln>
                <a:solidFill>
                  <a:srgbClr val="0F9ED5"/>
                </a:solidFill>
                <a:effectLst/>
                <a:uLnTx/>
                <a:uFillTx/>
                <a:latin typeface="Aptos"/>
                <a:cs typeface="Arial"/>
              </a:rPr>
              <a:t>2012,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10.2903/j.efsa.2012.2986</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1815155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F7F55-BC0C-0E88-CD6D-91BD172A61EB}"/>
              </a:ext>
            </a:extLst>
          </p:cNvPr>
          <p:cNvSpPr>
            <a:spLocks noGrp="1"/>
          </p:cNvSpPr>
          <p:nvPr>
            <p:ph type="title"/>
          </p:nvPr>
        </p:nvSpPr>
        <p:spPr/>
        <p:txBody>
          <a:bodyPr/>
          <a:lstStyle/>
          <a:p>
            <a:r>
              <a:rPr lang="en-US" dirty="0"/>
              <a:t>Poor design through pseudo-replication</a:t>
            </a:r>
            <a:endParaRPr lang="en-IL" dirty="0"/>
          </a:p>
        </p:txBody>
      </p:sp>
      <p:sp>
        <p:nvSpPr>
          <p:cNvPr id="3" name="Content Placeholder 2">
            <a:extLst>
              <a:ext uri="{FF2B5EF4-FFF2-40B4-BE49-F238E27FC236}">
                <a16:creationId xmlns:a16="http://schemas.microsoft.com/office/drawing/2014/main" id="{9ECA6A92-9359-FACE-BFDE-EBC5DAEF102C}"/>
              </a:ext>
            </a:extLst>
          </p:cNvPr>
          <p:cNvSpPr>
            <a:spLocks noGrp="1"/>
          </p:cNvSpPr>
          <p:nvPr>
            <p:ph idx="1"/>
          </p:nvPr>
        </p:nvSpPr>
        <p:spPr>
          <a:xfrm>
            <a:off x="838200" y="1825625"/>
            <a:ext cx="4392168" cy="4351338"/>
          </a:xfrm>
        </p:spPr>
        <p:txBody>
          <a:bodyPr>
            <a:normAutofit/>
          </a:bodyPr>
          <a:lstStyle/>
          <a:p>
            <a:r>
              <a:rPr lang="en-US" sz="2400" dirty="0"/>
              <a:t>Inappropriate pooling</a:t>
            </a:r>
          </a:p>
          <a:p>
            <a:pPr lvl="1"/>
            <a:r>
              <a:rPr lang="en-US" sz="2000" dirty="0"/>
              <a:t>Can lead to false confidence</a:t>
            </a:r>
          </a:p>
          <a:p>
            <a:r>
              <a:rPr lang="en-US" sz="2400" dirty="0"/>
              <a:t>These are different:</a:t>
            </a:r>
          </a:p>
          <a:p>
            <a:pPr lvl="1"/>
            <a:r>
              <a:rPr lang="en-US" sz="1800" dirty="0"/>
              <a:t>5 cells measured in 3 rats</a:t>
            </a:r>
          </a:p>
          <a:p>
            <a:pPr lvl="1"/>
            <a:r>
              <a:rPr lang="en-US" sz="1800" dirty="0"/>
              <a:t>1 measure in each of 15 cells</a:t>
            </a:r>
          </a:p>
          <a:p>
            <a:pPr lvl="1"/>
            <a:endParaRPr lang="en-US" sz="1800" dirty="0"/>
          </a:p>
          <a:p>
            <a:r>
              <a:rPr lang="en-US" sz="2200" dirty="0"/>
              <a:t>Very common in neuroscience</a:t>
            </a:r>
          </a:p>
          <a:p>
            <a:pPr lvl="1"/>
            <a:r>
              <a:rPr lang="en-US" sz="1800" dirty="0"/>
              <a:t>Record 500 neurons in each of 2 monkeys</a:t>
            </a:r>
            <a:endParaRPr lang="en-IL" sz="1800" dirty="0"/>
          </a:p>
        </p:txBody>
      </p:sp>
      <p:pic>
        <p:nvPicPr>
          <p:cNvPr id="6" name="Picture 5">
            <a:extLst>
              <a:ext uri="{FF2B5EF4-FFF2-40B4-BE49-F238E27FC236}">
                <a16:creationId xmlns:a16="http://schemas.microsoft.com/office/drawing/2014/main" id="{93A06B5B-7294-9716-DC8B-8CE4D552D86E}"/>
              </a:ext>
            </a:extLst>
          </p:cNvPr>
          <p:cNvPicPr>
            <a:picLocks noChangeAspect="1"/>
          </p:cNvPicPr>
          <p:nvPr/>
        </p:nvPicPr>
        <p:blipFill>
          <a:blip r:embed="rId2"/>
          <a:stretch>
            <a:fillRect/>
          </a:stretch>
        </p:blipFill>
        <p:spPr>
          <a:xfrm>
            <a:off x="5554119" y="1825625"/>
            <a:ext cx="6229258" cy="2674048"/>
          </a:xfrm>
          <a:prstGeom prst="rect">
            <a:avLst/>
          </a:prstGeom>
        </p:spPr>
      </p:pic>
      <p:sp>
        <p:nvSpPr>
          <p:cNvPr id="7" name="TextBox 9">
            <a:extLst>
              <a:ext uri="{FF2B5EF4-FFF2-40B4-BE49-F238E27FC236}">
                <a16:creationId xmlns:a16="http://schemas.microsoft.com/office/drawing/2014/main" id="{93BC5C48-A315-8DC3-3DFE-6A10D91E230F}"/>
              </a:ext>
            </a:extLst>
          </p:cNvPr>
          <p:cNvSpPr txBox="1"/>
          <p:nvPr/>
        </p:nvSpPr>
        <p:spPr bwMode="auto">
          <a:xfrm>
            <a:off x="5440941" y="180459"/>
            <a:ext cx="6455613" cy="369332"/>
          </a:xfrm>
          <a:prstGeom prst="rect">
            <a:avLst/>
          </a:prstGeom>
          <a:noFill/>
        </p:spPr>
        <p:txBody>
          <a:bodyPr wrap="none" rtlCol="0">
            <a:spAutoFit/>
          </a:bodyPr>
          <a:lstStyle/>
          <a:p>
            <a:pPr lvl="0">
              <a:defRPr/>
            </a:pPr>
            <a:r>
              <a:rPr lang="en-US" kern="0" dirty="0">
                <a:solidFill>
                  <a:srgbClr val="0F9ED5"/>
                </a:solidFill>
                <a:latin typeface="Aptos"/>
                <a:cs typeface="Arial"/>
              </a:rPr>
              <a:t>Eisner</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J General Physiology </a:t>
            </a:r>
            <a:r>
              <a:rPr kumimoji="0" lang="en-US" sz="1800" b="0" i="0" u="none" strike="noStrike" kern="0" cap="none" spc="0" normalizeH="0" baseline="0" noProof="0" dirty="0">
                <a:ln>
                  <a:noFill/>
                </a:ln>
                <a:solidFill>
                  <a:srgbClr val="0F9ED5"/>
                </a:solidFill>
                <a:effectLst/>
                <a:uLnTx/>
                <a:uFillTx/>
                <a:latin typeface="Aptos"/>
                <a:cs typeface="Arial"/>
              </a:rPr>
              <a:t>2019,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10.1085/jgp.202012826</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2470860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C08CE-3BCB-D4B6-9FE0-0B855D10E9FA}"/>
              </a:ext>
            </a:extLst>
          </p:cNvPr>
          <p:cNvSpPr>
            <a:spLocks noGrp="1"/>
          </p:cNvSpPr>
          <p:nvPr>
            <p:ph type="title"/>
          </p:nvPr>
        </p:nvSpPr>
        <p:spPr/>
        <p:txBody>
          <a:bodyPr/>
          <a:lstStyle/>
          <a:p>
            <a:r>
              <a:rPr lang="en-US" dirty="0"/>
              <a:t>Selection bias in study design</a:t>
            </a:r>
            <a:endParaRPr lang="en-IL" dirty="0"/>
          </a:p>
        </p:txBody>
      </p:sp>
      <p:sp>
        <p:nvSpPr>
          <p:cNvPr id="3" name="Content Placeholder 2">
            <a:extLst>
              <a:ext uri="{FF2B5EF4-FFF2-40B4-BE49-F238E27FC236}">
                <a16:creationId xmlns:a16="http://schemas.microsoft.com/office/drawing/2014/main" id="{BC80E489-6835-D12E-F147-9073EBBC914D}"/>
              </a:ext>
            </a:extLst>
          </p:cNvPr>
          <p:cNvSpPr>
            <a:spLocks noGrp="1"/>
          </p:cNvSpPr>
          <p:nvPr>
            <p:ph idx="1"/>
          </p:nvPr>
        </p:nvSpPr>
        <p:spPr>
          <a:xfrm>
            <a:off x="838200" y="1825625"/>
            <a:ext cx="5782056" cy="2490343"/>
          </a:xfrm>
        </p:spPr>
        <p:txBody>
          <a:bodyPr>
            <a:normAutofit fontScale="77500" lnSpcReduction="20000"/>
          </a:bodyPr>
          <a:lstStyle/>
          <a:p>
            <a:r>
              <a:rPr lang="en-US" dirty="0"/>
              <a:t>59,336 women</a:t>
            </a:r>
          </a:p>
          <a:p>
            <a:pPr lvl="1"/>
            <a:r>
              <a:rPr lang="en-US" dirty="0"/>
              <a:t>Followed for up to 16 years</a:t>
            </a:r>
          </a:p>
          <a:p>
            <a:r>
              <a:rPr lang="en-US" dirty="0"/>
              <a:t>Women who took estrogen with progestin</a:t>
            </a:r>
          </a:p>
          <a:p>
            <a:pPr lvl="1"/>
            <a:r>
              <a:rPr lang="en-US" dirty="0"/>
              <a:t>Lower risk of heart disease</a:t>
            </a:r>
          </a:p>
          <a:p>
            <a:pPr lvl="1"/>
            <a:endParaRPr lang="en-US" dirty="0"/>
          </a:p>
          <a:p>
            <a:r>
              <a:rPr lang="en-US" dirty="0"/>
              <a:t>Strong encouragement to use these drugs</a:t>
            </a:r>
          </a:p>
          <a:p>
            <a:pPr lvl="1"/>
            <a:r>
              <a:rPr lang="en-US" dirty="0"/>
              <a:t>What question could there be?</a:t>
            </a:r>
            <a:endParaRPr lang="en-IL" dirty="0"/>
          </a:p>
        </p:txBody>
      </p:sp>
      <p:pic>
        <p:nvPicPr>
          <p:cNvPr id="4" name="Picture 3">
            <a:extLst>
              <a:ext uri="{FF2B5EF4-FFF2-40B4-BE49-F238E27FC236}">
                <a16:creationId xmlns:a16="http://schemas.microsoft.com/office/drawing/2014/main" id="{022F6393-A0B1-0DF6-551A-6CB3D0D17338}"/>
              </a:ext>
            </a:extLst>
          </p:cNvPr>
          <p:cNvPicPr>
            <a:picLocks noChangeAspect="1"/>
          </p:cNvPicPr>
          <p:nvPr/>
        </p:nvPicPr>
        <p:blipFill>
          <a:blip r:embed="rId2"/>
          <a:stretch>
            <a:fillRect/>
          </a:stretch>
        </p:blipFill>
        <p:spPr>
          <a:xfrm>
            <a:off x="6912864" y="1690688"/>
            <a:ext cx="4988052" cy="3416816"/>
          </a:xfrm>
          <a:prstGeom prst="rect">
            <a:avLst/>
          </a:prstGeom>
        </p:spPr>
      </p:pic>
      <p:sp>
        <p:nvSpPr>
          <p:cNvPr id="5" name="TextBox 9">
            <a:extLst>
              <a:ext uri="{FF2B5EF4-FFF2-40B4-BE49-F238E27FC236}">
                <a16:creationId xmlns:a16="http://schemas.microsoft.com/office/drawing/2014/main" id="{23F71B16-C4E3-6E00-42AC-C33D524059EE}"/>
              </a:ext>
            </a:extLst>
          </p:cNvPr>
          <p:cNvSpPr txBox="1"/>
          <p:nvPr/>
        </p:nvSpPr>
        <p:spPr bwMode="auto">
          <a:xfrm>
            <a:off x="5440941" y="180459"/>
            <a:ext cx="6086923" cy="369332"/>
          </a:xfrm>
          <a:prstGeom prst="rect">
            <a:avLst/>
          </a:prstGeom>
          <a:noFill/>
        </p:spPr>
        <p:txBody>
          <a:bodyPr wrap="none" rtlCol="0">
            <a:spAutoFit/>
          </a:bodyPr>
          <a:lstStyle/>
          <a:p>
            <a:pPr lvl="0">
              <a:defRPr/>
            </a:pPr>
            <a:r>
              <a:rPr lang="en-US" kern="0" dirty="0" err="1">
                <a:solidFill>
                  <a:srgbClr val="0F9ED5"/>
                </a:solidFill>
                <a:latin typeface="Aptos"/>
                <a:cs typeface="Arial"/>
              </a:rPr>
              <a:t>Grodstein</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NEJM </a:t>
            </a:r>
            <a:r>
              <a:rPr kumimoji="0" lang="en-US" sz="1800" b="0" i="0" u="none" strike="noStrike" kern="0" cap="none" spc="0" normalizeH="0" baseline="0" noProof="0" dirty="0">
                <a:ln>
                  <a:noFill/>
                </a:ln>
                <a:solidFill>
                  <a:srgbClr val="0F9ED5"/>
                </a:solidFill>
                <a:effectLst/>
                <a:uLnTx/>
                <a:uFillTx/>
                <a:latin typeface="Aptos"/>
                <a:cs typeface="Arial"/>
              </a:rPr>
              <a:t>1996,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10.1056/NEJM199608153350701</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362311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FC5D9-A0DF-FDDF-4F67-D01357AD72F9}"/>
              </a:ext>
            </a:extLst>
          </p:cNvPr>
          <p:cNvSpPr>
            <a:spLocks noGrp="1"/>
          </p:cNvSpPr>
          <p:nvPr>
            <p:ph type="title"/>
          </p:nvPr>
        </p:nvSpPr>
        <p:spPr/>
        <p:txBody>
          <a:bodyPr/>
          <a:lstStyle/>
          <a:p>
            <a:r>
              <a:rPr lang="en-US" dirty="0"/>
              <a:t>Randomized trial sees opposite result</a:t>
            </a:r>
            <a:endParaRPr lang="en-IL" dirty="0"/>
          </a:p>
        </p:txBody>
      </p:sp>
      <p:sp>
        <p:nvSpPr>
          <p:cNvPr id="3" name="Content Placeholder 2">
            <a:extLst>
              <a:ext uri="{FF2B5EF4-FFF2-40B4-BE49-F238E27FC236}">
                <a16:creationId xmlns:a16="http://schemas.microsoft.com/office/drawing/2014/main" id="{3BDE6258-5D28-5824-D109-DEDAC7D9E42E}"/>
              </a:ext>
            </a:extLst>
          </p:cNvPr>
          <p:cNvSpPr>
            <a:spLocks noGrp="1"/>
          </p:cNvSpPr>
          <p:nvPr>
            <p:ph idx="1"/>
          </p:nvPr>
        </p:nvSpPr>
        <p:spPr>
          <a:xfrm>
            <a:off x="838200" y="1825625"/>
            <a:ext cx="5809488" cy="3148711"/>
          </a:xfrm>
        </p:spPr>
        <p:txBody>
          <a:bodyPr>
            <a:normAutofit fontScale="85000" lnSpcReduction="20000"/>
          </a:bodyPr>
          <a:lstStyle/>
          <a:p>
            <a:r>
              <a:rPr lang="en-US" dirty="0"/>
              <a:t>Estrogen plus progestin increases cardiac risk</a:t>
            </a:r>
          </a:p>
          <a:p>
            <a:r>
              <a:rPr lang="en-US" dirty="0"/>
              <a:t>Observational study was not well randomized</a:t>
            </a:r>
          </a:p>
          <a:p>
            <a:pPr lvl="1"/>
            <a:r>
              <a:rPr lang="en-US" dirty="0"/>
              <a:t>Women who choose hormone therapy are not random</a:t>
            </a:r>
          </a:p>
          <a:p>
            <a:pPr lvl="2"/>
            <a:r>
              <a:rPr lang="en-US" dirty="0"/>
              <a:t>Health status</a:t>
            </a:r>
          </a:p>
          <a:p>
            <a:pPr lvl="2"/>
            <a:r>
              <a:rPr lang="en-US" dirty="0"/>
              <a:t>Medical access</a:t>
            </a:r>
          </a:p>
          <a:p>
            <a:pPr lvl="2"/>
            <a:r>
              <a:rPr lang="en-US" dirty="0"/>
              <a:t>Socioeconomic factors</a:t>
            </a:r>
          </a:p>
          <a:p>
            <a:pPr lvl="2"/>
            <a:r>
              <a:rPr lang="en-US" dirty="0"/>
              <a:t>Behavioral differences</a:t>
            </a:r>
          </a:p>
          <a:p>
            <a:pPr lvl="2"/>
            <a:r>
              <a:rPr lang="en-US" dirty="0"/>
              <a:t>Time since menopause</a:t>
            </a:r>
            <a:endParaRPr lang="en-IL" dirty="0"/>
          </a:p>
        </p:txBody>
      </p:sp>
      <p:pic>
        <p:nvPicPr>
          <p:cNvPr id="4" name="Picture 3">
            <a:extLst>
              <a:ext uri="{FF2B5EF4-FFF2-40B4-BE49-F238E27FC236}">
                <a16:creationId xmlns:a16="http://schemas.microsoft.com/office/drawing/2014/main" id="{DDED0A66-D2C5-6E3F-45DA-85935DE76C7C}"/>
              </a:ext>
            </a:extLst>
          </p:cNvPr>
          <p:cNvPicPr>
            <a:picLocks noChangeAspect="1"/>
          </p:cNvPicPr>
          <p:nvPr/>
        </p:nvPicPr>
        <p:blipFill>
          <a:blip r:embed="rId2"/>
          <a:stretch>
            <a:fillRect/>
          </a:stretch>
        </p:blipFill>
        <p:spPr>
          <a:xfrm>
            <a:off x="7015287" y="1690688"/>
            <a:ext cx="4746280" cy="4652073"/>
          </a:xfrm>
          <a:prstGeom prst="rect">
            <a:avLst/>
          </a:prstGeom>
        </p:spPr>
      </p:pic>
      <p:sp>
        <p:nvSpPr>
          <p:cNvPr id="5" name="TextBox 9">
            <a:extLst>
              <a:ext uri="{FF2B5EF4-FFF2-40B4-BE49-F238E27FC236}">
                <a16:creationId xmlns:a16="http://schemas.microsoft.com/office/drawing/2014/main" id="{18A2D13F-A35A-5576-A8AC-075492E42336}"/>
              </a:ext>
            </a:extLst>
          </p:cNvPr>
          <p:cNvSpPr txBox="1"/>
          <p:nvPr/>
        </p:nvSpPr>
        <p:spPr bwMode="auto">
          <a:xfrm>
            <a:off x="6428493" y="230188"/>
            <a:ext cx="5036956" cy="369332"/>
          </a:xfrm>
          <a:prstGeom prst="rect">
            <a:avLst/>
          </a:prstGeom>
          <a:noFill/>
        </p:spPr>
        <p:txBody>
          <a:bodyPr wrap="none" rtlCol="0">
            <a:spAutoFit/>
          </a:bodyPr>
          <a:lstStyle/>
          <a:p>
            <a:pPr lvl="0">
              <a:defRPr/>
            </a:pPr>
            <a:r>
              <a:rPr lang="en-US" kern="0" dirty="0">
                <a:solidFill>
                  <a:srgbClr val="0F9ED5"/>
                </a:solidFill>
                <a:latin typeface="Aptos"/>
                <a:cs typeface="Arial"/>
              </a:rPr>
              <a:t>Manson</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NEJM </a:t>
            </a:r>
            <a:r>
              <a:rPr kumimoji="0" lang="en-US" sz="1800" b="0" i="0" u="none" strike="noStrike" kern="0" cap="none" spc="0" normalizeH="0" baseline="0" noProof="0" dirty="0">
                <a:ln>
                  <a:noFill/>
                </a:ln>
                <a:solidFill>
                  <a:srgbClr val="0F9ED5"/>
                </a:solidFill>
                <a:effectLst/>
                <a:uLnTx/>
                <a:uFillTx/>
                <a:latin typeface="Aptos"/>
                <a:cs typeface="Arial"/>
              </a:rPr>
              <a:t>2003,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10.1056/NEJMoa030808</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2965568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DAF18-F59B-1CA1-0A5C-64E640526BB1}"/>
              </a:ext>
            </a:extLst>
          </p:cNvPr>
          <p:cNvSpPr>
            <a:spLocks noGrp="1"/>
          </p:cNvSpPr>
          <p:nvPr>
            <p:ph type="title"/>
          </p:nvPr>
        </p:nvSpPr>
        <p:spPr/>
        <p:txBody>
          <a:bodyPr/>
          <a:lstStyle/>
          <a:p>
            <a:r>
              <a:rPr lang="en-US" dirty="0"/>
              <a:t>Confounding variables in study design</a:t>
            </a:r>
            <a:endParaRPr lang="en-IL" dirty="0"/>
          </a:p>
        </p:txBody>
      </p:sp>
      <p:sp>
        <p:nvSpPr>
          <p:cNvPr id="3" name="Content Placeholder 2">
            <a:extLst>
              <a:ext uri="{FF2B5EF4-FFF2-40B4-BE49-F238E27FC236}">
                <a16:creationId xmlns:a16="http://schemas.microsoft.com/office/drawing/2014/main" id="{29A040BC-7CB7-23E2-F3BF-C969F823F34A}"/>
              </a:ext>
            </a:extLst>
          </p:cNvPr>
          <p:cNvSpPr>
            <a:spLocks noGrp="1"/>
          </p:cNvSpPr>
          <p:nvPr>
            <p:ph idx="1"/>
          </p:nvPr>
        </p:nvSpPr>
        <p:spPr>
          <a:xfrm>
            <a:off x="838200" y="1825624"/>
            <a:ext cx="4495800" cy="4802187"/>
          </a:xfrm>
        </p:spPr>
        <p:txBody>
          <a:bodyPr>
            <a:normAutofit fontScale="77500" lnSpcReduction="20000"/>
          </a:bodyPr>
          <a:lstStyle/>
          <a:p>
            <a:r>
              <a:rPr lang="en-US" dirty="0"/>
              <a:t>Participants did a distractor task</a:t>
            </a:r>
          </a:p>
          <a:p>
            <a:pPr lvl="1"/>
            <a:r>
              <a:rPr lang="en-US" dirty="0"/>
              <a:t>Unscramble sentences</a:t>
            </a:r>
          </a:p>
          <a:p>
            <a:r>
              <a:rPr lang="en-US" dirty="0"/>
              <a:t>Two groups</a:t>
            </a:r>
          </a:p>
          <a:p>
            <a:pPr lvl="1"/>
            <a:r>
              <a:rPr lang="en-US" dirty="0"/>
              <a:t>Sentences with neutral words</a:t>
            </a:r>
          </a:p>
          <a:p>
            <a:pPr lvl="1"/>
            <a:r>
              <a:rPr lang="en-US" dirty="0"/>
              <a:t>Sentences with words relevant to being old</a:t>
            </a:r>
          </a:p>
          <a:p>
            <a:pPr lvl="2"/>
            <a:r>
              <a:rPr lang="en-US" dirty="0"/>
              <a:t>But not slow</a:t>
            </a:r>
          </a:p>
          <a:p>
            <a:r>
              <a:rPr lang="en-US" dirty="0"/>
              <a:t>After the task, walking out of the lab</a:t>
            </a:r>
          </a:p>
          <a:p>
            <a:pPr lvl="1"/>
            <a:r>
              <a:rPr lang="en-US" dirty="0"/>
              <a:t>Subject in the elderly group walked more slowly</a:t>
            </a:r>
          </a:p>
          <a:p>
            <a:r>
              <a:rPr lang="en-US" dirty="0"/>
              <a:t>Results replicated </a:t>
            </a:r>
          </a:p>
          <a:p>
            <a:pPr lvl="1"/>
            <a:r>
              <a:rPr lang="en-US" dirty="0"/>
              <a:t>Across labs</a:t>
            </a:r>
          </a:p>
          <a:p>
            <a:pPr lvl="1"/>
            <a:r>
              <a:rPr lang="en-US" dirty="0"/>
              <a:t>Across modalities</a:t>
            </a:r>
          </a:p>
          <a:p>
            <a:pPr lvl="1"/>
            <a:r>
              <a:rPr lang="en-US" dirty="0"/>
              <a:t>Across experimental conditions</a:t>
            </a:r>
          </a:p>
          <a:p>
            <a:r>
              <a:rPr lang="en-US" dirty="0"/>
              <a:t>Priming was an active area of research for 15 years</a:t>
            </a:r>
            <a:endParaRPr lang="en-IL" dirty="0"/>
          </a:p>
        </p:txBody>
      </p:sp>
      <p:pic>
        <p:nvPicPr>
          <p:cNvPr id="4" name="Picture 3">
            <a:extLst>
              <a:ext uri="{FF2B5EF4-FFF2-40B4-BE49-F238E27FC236}">
                <a16:creationId xmlns:a16="http://schemas.microsoft.com/office/drawing/2014/main" id="{906A14C8-8FAD-6803-AC27-5AEF9CCCD170}"/>
              </a:ext>
            </a:extLst>
          </p:cNvPr>
          <p:cNvPicPr>
            <a:picLocks noChangeAspect="1"/>
          </p:cNvPicPr>
          <p:nvPr/>
        </p:nvPicPr>
        <p:blipFill>
          <a:blip r:embed="rId2"/>
          <a:stretch>
            <a:fillRect/>
          </a:stretch>
        </p:blipFill>
        <p:spPr>
          <a:xfrm>
            <a:off x="6387692" y="1690687"/>
            <a:ext cx="5134702" cy="4414837"/>
          </a:xfrm>
          <a:prstGeom prst="rect">
            <a:avLst/>
          </a:prstGeom>
        </p:spPr>
      </p:pic>
      <p:sp>
        <p:nvSpPr>
          <p:cNvPr id="5" name="TextBox 9">
            <a:extLst>
              <a:ext uri="{FF2B5EF4-FFF2-40B4-BE49-F238E27FC236}">
                <a16:creationId xmlns:a16="http://schemas.microsoft.com/office/drawing/2014/main" id="{418F23C4-5D3B-233F-D31C-FAA8F0A721A3}"/>
              </a:ext>
            </a:extLst>
          </p:cNvPr>
          <p:cNvSpPr txBox="1"/>
          <p:nvPr/>
        </p:nvSpPr>
        <p:spPr bwMode="auto">
          <a:xfrm>
            <a:off x="4155066" y="230188"/>
            <a:ext cx="7800533" cy="369332"/>
          </a:xfrm>
          <a:prstGeom prst="rect">
            <a:avLst/>
          </a:prstGeom>
          <a:noFill/>
        </p:spPr>
        <p:txBody>
          <a:bodyPr wrap="none" rtlCol="0">
            <a:spAutoFit/>
          </a:bodyPr>
          <a:lstStyle/>
          <a:p>
            <a:pPr lvl="0">
              <a:defRPr/>
            </a:pPr>
            <a:r>
              <a:rPr lang="en-US" kern="0" dirty="0" err="1">
                <a:solidFill>
                  <a:srgbClr val="0F9ED5"/>
                </a:solidFill>
                <a:latin typeface="Aptos"/>
                <a:cs typeface="Arial"/>
              </a:rPr>
              <a:t>Bargh</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J Personality Social Psychology </a:t>
            </a:r>
            <a:r>
              <a:rPr kumimoji="0" lang="en-US" sz="1800" b="0" i="0" u="none" strike="noStrike" kern="0" cap="none" spc="0" normalizeH="0" baseline="0" noProof="0" dirty="0">
                <a:ln>
                  <a:noFill/>
                </a:ln>
                <a:solidFill>
                  <a:srgbClr val="0F9ED5"/>
                </a:solidFill>
                <a:effectLst/>
                <a:uLnTx/>
                <a:uFillTx/>
                <a:latin typeface="Aptos"/>
                <a:cs typeface="Arial"/>
              </a:rPr>
              <a:t>1996,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10.1037/0022-3514.71.2.230</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266005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C9F87-1861-BBF3-8ECA-68ACCABDB47D}"/>
              </a:ext>
            </a:extLst>
          </p:cNvPr>
          <p:cNvSpPr>
            <a:spLocks noGrp="1"/>
          </p:cNvSpPr>
          <p:nvPr>
            <p:ph type="title"/>
          </p:nvPr>
        </p:nvSpPr>
        <p:spPr>
          <a:xfrm>
            <a:off x="435864" y="483095"/>
            <a:ext cx="10515600" cy="771169"/>
          </a:xfrm>
        </p:spPr>
        <p:txBody>
          <a:bodyPr/>
          <a:lstStyle/>
          <a:p>
            <a:r>
              <a:rPr lang="en-US" dirty="0"/>
              <a:t>Priming was in the mind of the experimenter</a:t>
            </a:r>
            <a:endParaRPr lang="en-IL" dirty="0"/>
          </a:p>
        </p:txBody>
      </p:sp>
      <p:sp>
        <p:nvSpPr>
          <p:cNvPr id="3" name="Content Placeholder 2">
            <a:extLst>
              <a:ext uri="{FF2B5EF4-FFF2-40B4-BE49-F238E27FC236}">
                <a16:creationId xmlns:a16="http://schemas.microsoft.com/office/drawing/2014/main" id="{6E39340C-9C7B-C75F-0950-51476EE98483}"/>
              </a:ext>
            </a:extLst>
          </p:cNvPr>
          <p:cNvSpPr>
            <a:spLocks noGrp="1"/>
          </p:cNvSpPr>
          <p:nvPr>
            <p:ph idx="1"/>
          </p:nvPr>
        </p:nvSpPr>
        <p:spPr>
          <a:xfrm>
            <a:off x="838200" y="1825625"/>
            <a:ext cx="4575048" cy="4163695"/>
          </a:xfrm>
        </p:spPr>
        <p:txBody>
          <a:bodyPr>
            <a:normAutofit fontScale="92500" lnSpcReduction="20000"/>
          </a:bodyPr>
          <a:lstStyle/>
          <a:p>
            <a:r>
              <a:rPr lang="en-US" dirty="0"/>
              <a:t>No effect </a:t>
            </a:r>
          </a:p>
          <a:p>
            <a:pPr lvl="1"/>
            <a:r>
              <a:rPr lang="en-US" dirty="0"/>
              <a:t>If walking time measured objectively</a:t>
            </a:r>
          </a:p>
          <a:p>
            <a:pPr lvl="1"/>
            <a:r>
              <a:rPr lang="en-US" dirty="0"/>
              <a:t>Not by experimenter</a:t>
            </a:r>
          </a:p>
          <a:p>
            <a:r>
              <a:rPr lang="en-US" dirty="0"/>
              <a:t>Opposite effects </a:t>
            </a:r>
          </a:p>
          <a:p>
            <a:pPr lvl="1"/>
            <a:r>
              <a:rPr lang="en-US" dirty="0"/>
              <a:t>If time measured by experimenter</a:t>
            </a:r>
          </a:p>
          <a:p>
            <a:pPr lvl="1"/>
            <a:r>
              <a:rPr lang="en-US" dirty="0"/>
              <a:t>But experimenter had opposite expectations </a:t>
            </a:r>
          </a:p>
          <a:p>
            <a:endParaRPr lang="en-US" dirty="0"/>
          </a:p>
          <a:p>
            <a:r>
              <a:rPr lang="en-US" dirty="0"/>
              <a:t>Outcome:</a:t>
            </a:r>
          </a:p>
          <a:p>
            <a:pPr lvl="1"/>
            <a:r>
              <a:rPr lang="en-US" dirty="0"/>
              <a:t>the implosion of an entire scientific field</a:t>
            </a:r>
            <a:endParaRPr lang="en-IL" dirty="0"/>
          </a:p>
        </p:txBody>
      </p:sp>
      <p:pic>
        <p:nvPicPr>
          <p:cNvPr id="4" name="Picture 3">
            <a:extLst>
              <a:ext uri="{FF2B5EF4-FFF2-40B4-BE49-F238E27FC236}">
                <a16:creationId xmlns:a16="http://schemas.microsoft.com/office/drawing/2014/main" id="{0AEE66B4-2F6C-27FE-EE6D-D0C28EC9A346}"/>
              </a:ext>
            </a:extLst>
          </p:cNvPr>
          <p:cNvPicPr>
            <a:picLocks noChangeAspect="1"/>
          </p:cNvPicPr>
          <p:nvPr/>
        </p:nvPicPr>
        <p:blipFill>
          <a:blip r:embed="rId2"/>
          <a:stretch>
            <a:fillRect/>
          </a:stretch>
        </p:blipFill>
        <p:spPr>
          <a:xfrm>
            <a:off x="5713430" y="1254264"/>
            <a:ext cx="4672609" cy="2718003"/>
          </a:xfrm>
          <a:prstGeom prst="rect">
            <a:avLst/>
          </a:prstGeom>
        </p:spPr>
      </p:pic>
      <p:pic>
        <p:nvPicPr>
          <p:cNvPr id="5" name="Picture 4">
            <a:extLst>
              <a:ext uri="{FF2B5EF4-FFF2-40B4-BE49-F238E27FC236}">
                <a16:creationId xmlns:a16="http://schemas.microsoft.com/office/drawing/2014/main" id="{2E9A22F7-D7EF-F102-0D49-7B8D8890B243}"/>
              </a:ext>
            </a:extLst>
          </p:cNvPr>
          <p:cNvPicPr>
            <a:picLocks noChangeAspect="1"/>
          </p:cNvPicPr>
          <p:nvPr/>
        </p:nvPicPr>
        <p:blipFill>
          <a:blip r:embed="rId3"/>
          <a:stretch>
            <a:fillRect/>
          </a:stretch>
        </p:blipFill>
        <p:spPr>
          <a:xfrm>
            <a:off x="5666258" y="4087368"/>
            <a:ext cx="4757161" cy="2718003"/>
          </a:xfrm>
          <a:prstGeom prst="rect">
            <a:avLst/>
          </a:prstGeom>
        </p:spPr>
      </p:pic>
      <p:sp>
        <p:nvSpPr>
          <p:cNvPr id="6" name="TextBox 9">
            <a:extLst>
              <a:ext uri="{FF2B5EF4-FFF2-40B4-BE49-F238E27FC236}">
                <a16:creationId xmlns:a16="http://schemas.microsoft.com/office/drawing/2014/main" id="{CC99FE09-E19D-8721-FD5D-B6FA7145E5BE}"/>
              </a:ext>
            </a:extLst>
          </p:cNvPr>
          <p:cNvSpPr txBox="1"/>
          <p:nvPr/>
        </p:nvSpPr>
        <p:spPr bwMode="auto">
          <a:xfrm>
            <a:off x="6096000" y="240879"/>
            <a:ext cx="5992346" cy="369332"/>
          </a:xfrm>
          <a:prstGeom prst="rect">
            <a:avLst/>
          </a:prstGeom>
          <a:noFill/>
        </p:spPr>
        <p:txBody>
          <a:bodyPr wrap="none" rtlCol="0">
            <a:spAutoFit/>
          </a:bodyPr>
          <a:lstStyle/>
          <a:p>
            <a:pPr lvl="0">
              <a:defRPr/>
            </a:pPr>
            <a:r>
              <a:rPr lang="en-US" kern="0" dirty="0">
                <a:solidFill>
                  <a:srgbClr val="0F9ED5"/>
                </a:solidFill>
                <a:latin typeface="Aptos"/>
                <a:cs typeface="Arial"/>
              </a:rPr>
              <a:t>Doyen</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PLOS One </a:t>
            </a:r>
            <a:r>
              <a:rPr kumimoji="0" lang="en-US" sz="1800" b="0" i="0" u="none" strike="noStrike" kern="0" cap="none" spc="0" normalizeH="0" baseline="0" noProof="0" dirty="0">
                <a:ln>
                  <a:noFill/>
                </a:ln>
                <a:solidFill>
                  <a:srgbClr val="0F9ED5"/>
                </a:solidFill>
                <a:effectLst/>
                <a:uLnTx/>
                <a:uFillTx/>
                <a:latin typeface="Aptos"/>
                <a:cs typeface="Arial"/>
              </a:rPr>
              <a:t>2012,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10.1371/journal.pone.0029081</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335933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D4A6C-0C5D-CFF9-A58D-C924A73D7025}"/>
              </a:ext>
            </a:extLst>
          </p:cNvPr>
          <p:cNvSpPr>
            <a:spLocks noGrp="1"/>
          </p:cNvSpPr>
          <p:nvPr>
            <p:ph type="title"/>
          </p:nvPr>
        </p:nvSpPr>
        <p:spPr/>
        <p:txBody>
          <a:bodyPr/>
          <a:lstStyle/>
          <a:p>
            <a:r>
              <a:rPr lang="en-US" dirty="0"/>
              <a:t>Bad design is hard to fix after data is collected</a:t>
            </a:r>
            <a:endParaRPr lang="en-IL" dirty="0"/>
          </a:p>
        </p:txBody>
      </p:sp>
      <p:sp>
        <p:nvSpPr>
          <p:cNvPr id="3" name="Content Placeholder 2">
            <a:extLst>
              <a:ext uri="{FF2B5EF4-FFF2-40B4-BE49-F238E27FC236}">
                <a16:creationId xmlns:a16="http://schemas.microsoft.com/office/drawing/2014/main" id="{A66E011F-0A2F-9F8B-AE4D-09C8D5CBF67F}"/>
              </a:ext>
            </a:extLst>
          </p:cNvPr>
          <p:cNvSpPr>
            <a:spLocks noGrp="1"/>
          </p:cNvSpPr>
          <p:nvPr>
            <p:ph idx="1"/>
          </p:nvPr>
        </p:nvSpPr>
        <p:spPr>
          <a:xfrm>
            <a:off x="838200" y="1825625"/>
            <a:ext cx="10515600" cy="2179447"/>
          </a:xfrm>
        </p:spPr>
        <p:txBody>
          <a:bodyPr/>
          <a:lstStyle/>
          <a:p>
            <a:r>
              <a:rPr lang="en-US" dirty="0"/>
              <a:t>Scientific groups spend a lot of time thinking about design</a:t>
            </a:r>
          </a:p>
          <a:p>
            <a:pPr lvl="1"/>
            <a:r>
              <a:rPr lang="en-US" dirty="0"/>
              <a:t>Lab meeting discussions</a:t>
            </a:r>
          </a:p>
          <a:p>
            <a:pPr lvl="1"/>
            <a:r>
              <a:rPr lang="en-US" dirty="0"/>
              <a:t>Discussions with other groups</a:t>
            </a:r>
          </a:p>
          <a:p>
            <a:pPr lvl="1"/>
            <a:r>
              <a:rPr lang="en-US" dirty="0"/>
              <a:t>Preliminary / pilot data</a:t>
            </a:r>
          </a:p>
          <a:p>
            <a:pPr lvl="1"/>
            <a:r>
              <a:rPr lang="en-US" dirty="0"/>
              <a:t>Research proposals</a:t>
            </a:r>
            <a:endParaRPr lang="en-IL" dirty="0"/>
          </a:p>
        </p:txBody>
      </p:sp>
      <p:pic>
        <p:nvPicPr>
          <p:cNvPr id="6" name="Picture 5">
            <a:extLst>
              <a:ext uri="{FF2B5EF4-FFF2-40B4-BE49-F238E27FC236}">
                <a16:creationId xmlns:a16="http://schemas.microsoft.com/office/drawing/2014/main" id="{3F68A7CD-C135-25BD-FC30-AE2E2E49250D}"/>
              </a:ext>
            </a:extLst>
          </p:cNvPr>
          <p:cNvPicPr>
            <a:picLocks noChangeAspect="1"/>
          </p:cNvPicPr>
          <p:nvPr/>
        </p:nvPicPr>
        <p:blipFill>
          <a:blip r:embed="rId2"/>
          <a:stretch>
            <a:fillRect/>
          </a:stretch>
        </p:blipFill>
        <p:spPr>
          <a:xfrm>
            <a:off x="6096000" y="2656755"/>
            <a:ext cx="5357728" cy="3995972"/>
          </a:xfrm>
          <a:prstGeom prst="rect">
            <a:avLst/>
          </a:prstGeom>
        </p:spPr>
      </p:pic>
    </p:spTree>
    <p:extLst>
      <p:ext uri="{BB962C8B-B14F-4D97-AF65-F5344CB8AC3E}">
        <p14:creationId xmlns:p14="http://schemas.microsoft.com/office/powerpoint/2010/main" val="346765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77435296-A5ED-FED5-45E4-BACFB6882282}"/>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E9A0A9C4-F7B9-30C5-F993-DC02424FA83A}"/>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12.4 The significance filter</a:t>
            </a:r>
            <a:endParaRPr dirty="0"/>
          </a:p>
        </p:txBody>
      </p:sp>
      <p:sp>
        <p:nvSpPr>
          <p:cNvPr id="1591332286" name="Text Placeholder 2">
            <a:extLst>
              <a:ext uri="{FF2B5EF4-FFF2-40B4-BE49-F238E27FC236}">
                <a16:creationId xmlns:a16="http://schemas.microsoft.com/office/drawing/2014/main" id="{90E43A87-CE98-8DDC-787E-C03756FE4A4D}"/>
              </a:ext>
            </a:extLst>
          </p:cNvPr>
          <p:cNvSpPr>
            <a:spLocks noGrp="1"/>
          </p:cNvSpPr>
          <p:nvPr>
            <p:ph type="body" idx="1"/>
          </p:nvPr>
        </p:nvSpPr>
        <p:spPr bwMode="auto">
          <a:xfrm>
            <a:off x="888999" y="2717799"/>
            <a:ext cx="10040663" cy="855439"/>
          </a:xfrm>
        </p:spPr>
        <p:txBody>
          <a:bodyPr wrap="none" anchor="t">
            <a:normAutofit fontScale="92500" lnSpcReduction="20000"/>
          </a:bodyPr>
          <a:lstStyle/>
          <a:p>
            <a:pPr algn="l">
              <a:defRPr sz="3000">
                <a:solidFill>
                  <a:srgbClr val="888888"/>
                </a:solidFill>
                <a:latin typeface="Arial"/>
                <a:cs typeface="Arial"/>
              </a:defRPr>
            </a:pPr>
            <a:r>
              <a:rPr lang="en-US" dirty="0"/>
              <a:t>Much of the scientific literature has a significance threshold</a:t>
            </a:r>
          </a:p>
          <a:p>
            <a:pPr algn="l">
              <a:defRPr sz="3000">
                <a:solidFill>
                  <a:srgbClr val="888888"/>
                </a:solidFill>
                <a:latin typeface="Arial"/>
                <a:cs typeface="Arial"/>
              </a:defRPr>
            </a:pPr>
            <a:r>
              <a:rPr lang="en-US" dirty="0"/>
              <a:t>and this biases results.</a:t>
            </a:r>
            <a:endParaRPr dirty="0"/>
          </a:p>
        </p:txBody>
      </p:sp>
    </p:spTree>
    <p:extLst>
      <p:ext uri="{BB962C8B-B14F-4D97-AF65-F5344CB8AC3E}">
        <p14:creationId xmlns:p14="http://schemas.microsoft.com/office/powerpoint/2010/main" val="1017822014"/>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CA2BFB-1BFE-FA2E-06DE-55CC86AB795A}"/>
              </a:ext>
            </a:extLst>
          </p:cNvPr>
          <p:cNvSpPr>
            <a:spLocks noGrp="1"/>
          </p:cNvSpPr>
          <p:nvPr>
            <p:ph type="title"/>
          </p:nvPr>
        </p:nvSpPr>
        <p:spPr>
          <a:xfrm>
            <a:off x="838200" y="365125"/>
            <a:ext cx="10515600" cy="988187"/>
          </a:xfrm>
        </p:spPr>
        <p:txBody>
          <a:bodyPr/>
          <a:lstStyle/>
          <a:p>
            <a:r>
              <a:rPr lang="en-US" dirty="0"/>
              <a:t>Significance turns an estimate into a finding</a:t>
            </a:r>
            <a:endParaRPr lang="en-IL" dirty="0"/>
          </a:p>
        </p:txBody>
      </p:sp>
      <p:sp>
        <p:nvSpPr>
          <p:cNvPr id="5" name="Content Placeholder 4">
            <a:extLst>
              <a:ext uri="{FF2B5EF4-FFF2-40B4-BE49-F238E27FC236}">
                <a16:creationId xmlns:a16="http://schemas.microsoft.com/office/drawing/2014/main" id="{6D92694E-4423-014F-E5A6-DC5A4E4B6283}"/>
              </a:ext>
            </a:extLst>
          </p:cNvPr>
          <p:cNvSpPr>
            <a:spLocks noGrp="1"/>
          </p:cNvSpPr>
          <p:nvPr>
            <p:ph idx="1"/>
          </p:nvPr>
        </p:nvSpPr>
        <p:spPr>
          <a:xfrm>
            <a:off x="838200" y="1514729"/>
            <a:ext cx="4035552" cy="3203575"/>
          </a:xfrm>
        </p:spPr>
        <p:txBody>
          <a:bodyPr/>
          <a:lstStyle/>
          <a:p>
            <a:r>
              <a:rPr lang="en-US" dirty="0"/>
              <a:t>Thresholding makes an arbitrary boundary between</a:t>
            </a:r>
          </a:p>
          <a:p>
            <a:pPr lvl="1"/>
            <a:r>
              <a:rPr lang="en-US" dirty="0"/>
              <a:t>“real” findings</a:t>
            </a:r>
          </a:p>
          <a:p>
            <a:pPr lvl="1"/>
            <a:r>
              <a:rPr lang="en-US" dirty="0"/>
              <a:t>“null” findings</a:t>
            </a:r>
            <a:endParaRPr lang="en-IL" dirty="0"/>
          </a:p>
        </p:txBody>
      </p:sp>
      <p:pic>
        <p:nvPicPr>
          <p:cNvPr id="7" name="Graphic 6">
            <a:extLst>
              <a:ext uri="{FF2B5EF4-FFF2-40B4-BE49-F238E27FC236}">
                <a16:creationId xmlns:a16="http://schemas.microsoft.com/office/drawing/2014/main" id="{BB6AF0A6-4F15-C5C1-8A76-8957C0E68B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6925" y="4517137"/>
            <a:ext cx="10178149" cy="1793812"/>
          </a:xfrm>
          <a:prstGeom prst="rect">
            <a:avLst/>
          </a:prstGeom>
        </p:spPr>
      </p:pic>
    </p:spTree>
    <p:extLst>
      <p:ext uri="{BB962C8B-B14F-4D97-AF65-F5344CB8AC3E}">
        <p14:creationId xmlns:p14="http://schemas.microsoft.com/office/powerpoint/2010/main" val="1992629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BE5B-4C98-F0CE-63FD-BCC0BB883B48}"/>
              </a:ext>
            </a:extLst>
          </p:cNvPr>
          <p:cNvSpPr>
            <a:spLocks noGrp="1"/>
          </p:cNvSpPr>
          <p:nvPr>
            <p:ph type="title"/>
          </p:nvPr>
        </p:nvSpPr>
        <p:spPr/>
        <p:txBody>
          <a:bodyPr/>
          <a:lstStyle/>
          <a:p>
            <a:r>
              <a:rPr lang="en-US" dirty="0"/>
              <a:t>There are excess studies at p &lt; 0.05</a:t>
            </a:r>
            <a:endParaRPr lang="en-IL" dirty="0"/>
          </a:p>
        </p:txBody>
      </p:sp>
      <p:sp>
        <p:nvSpPr>
          <p:cNvPr id="3" name="Content Placeholder 2">
            <a:extLst>
              <a:ext uri="{FF2B5EF4-FFF2-40B4-BE49-F238E27FC236}">
                <a16:creationId xmlns:a16="http://schemas.microsoft.com/office/drawing/2014/main" id="{2C1589FC-D4E5-4618-A49D-C6CF358E44BE}"/>
              </a:ext>
            </a:extLst>
          </p:cNvPr>
          <p:cNvSpPr>
            <a:spLocks noGrp="1"/>
          </p:cNvSpPr>
          <p:nvPr>
            <p:ph idx="1"/>
          </p:nvPr>
        </p:nvSpPr>
        <p:spPr>
          <a:xfrm>
            <a:off x="838200" y="1825625"/>
            <a:ext cx="10515600" cy="853567"/>
          </a:xfrm>
        </p:spPr>
        <p:txBody>
          <a:bodyPr/>
          <a:lstStyle/>
          <a:p>
            <a:r>
              <a:rPr lang="en-US" dirty="0"/>
              <a:t>Too many published papers have p just below 0.05</a:t>
            </a:r>
            <a:endParaRPr lang="en-IL" dirty="0"/>
          </a:p>
        </p:txBody>
      </p:sp>
      <p:pic>
        <p:nvPicPr>
          <p:cNvPr id="4" name="Picture 3">
            <a:extLst>
              <a:ext uri="{FF2B5EF4-FFF2-40B4-BE49-F238E27FC236}">
                <a16:creationId xmlns:a16="http://schemas.microsoft.com/office/drawing/2014/main" id="{E1BE0DB1-D6F9-8178-044A-14B87FE1912D}"/>
              </a:ext>
            </a:extLst>
          </p:cNvPr>
          <p:cNvPicPr>
            <a:picLocks noChangeAspect="1"/>
          </p:cNvPicPr>
          <p:nvPr/>
        </p:nvPicPr>
        <p:blipFill>
          <a:blip r:embed="rId2"/>
          <a:stretch>
            <a:fillRect/>
          </a:stretch>
        </p:blipFill>
        <p:spPr>
          <a:xfrm>
            <a:off x="3200399" y="2623594"/>
            <a:ext cx="6775323" cy="3869281"/>
          </a:xfrm>
          <a:prstGeom prst="rect">
            <a:avLst/>
          </a:prstGeom>
        </p:spPr>
      </p:pic>
      <p:sp>
        <p:nvSpPr>
          <p:cNvPr id="5" name="TextBox 9">
            <a:extLst>
              <a:ext uri="{FF2B5EF4-FFF2-40B4-BE49-F238E27FC236}">
                <a16:creationId xmlns:a16="http://schemas.microsoft.com/office/drawing/2014/main" id="{81795682-22CD-CBE4-06FB-E25292996F69}"/>
              </a:ext>
            </a:extLst>
          </p:cNvPr>
          <p:cNvSpPr txBox="1"/>
          <p:nvPr/>
        </p:nvSpPr>
        <p:spPr bwMode="auto">
          <a:xfrm>
            <a:off x="4267200" y="240879"/>
            <a:ext cx="7016664" cy="369332"/>
          </a:xfrm>
          <a:prstGeom prst="rect">
            <a:avLst/>
          </a:prstGeom>
          <a:noFill/>
        </p:spPr>
        <p:txBody>
          <a:bodyPr wrap="none" rtlCol="0">
            <a:spAutoFit/>
          </a:bodyPr>
          <a:lstStyle/>
          <a:p>
            <a:pPr lvl="0">
              <a:defRPr/>
            </a:pPr>
            <a:r>
              <a:rPr lang="en-US" kern="0" dirty="0" err="1">
                <a:solidFill>
                  <a:srgbClr val="0F9ED5"/>
                </a:solidFill>
                <a:latin typeface="Aptos"/>
                <a:cs typeface="Arial"/>
              </a:rPr>
              <a:t>Masicampo</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Q J Exp Psych </a:t>
            </a:r>
            <a:r>
              <a:rPr kumimoji="0" lang="en-US" sz="1800" b="0" i="0" u="none" strike="noStrike" kern="0" cap="none" spc="0" normalizeH="0" baseline="0" noProof="0" dirty="0">
                <a:ln>
                  <a:noFill/>
                </a:ln>
                <a:solidFill>
                  <a:srgbClr val="0F9ED5"/>
                </a:solidFill>
                <a:effectLst/>
                <a:uLnTx/>
                <a:uFillTx/>
                <a:latin typeface="Aptos"/>
                <a:cs typeface="Arial"/>
              </a:rPr>
              <a:t>2012,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10.1080/17470218.2012.711335</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923237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5ECF2-3AF1-6786-1447-95CC85B450A9}"/>
              </a:ext>
            </a:extLst>
          </p:cNvPr>
          <p:cNvSpPr>
            <a:spLocks noGrp="1"/>
          </p:cNvSpPr>
          <p:nvPr>
            <p:ph type="title"/>
          </p:nvPr>
        </p:nvSpPr>
        <p:spPr/>
        <p:txBody>
          <a:bodyPr/>
          <a:lstStyle/>
          <a:p>
            <a:r>
              <a:rPr lang="en-US" dirty="0"/>
              <a:t>Failed drug trials do not get published</a:t>
            </a:r>
            <a:endParaRPr lang="en-IL" dirty="0"/>
          </a:p>
        </p:txBody>
      </p:sp>
      <p:sp>
        <p:nvSpPr>
          <p:cNvPr id="3" name="Content Placeholder 2">
            <a:extLst>
              <a:ext uri="{FF2B5EF4-FFF2-40B4-BE49-F238E27FC236}">
                <a16:creationId xmlns:a16="http://schemas.microsoft.com/office/drawing/2014/main" id="{917330C8-8906-3A8A-193F-ACFB9462F315}"/>
              </a:ext>
            </a:extLst>
          </p:cNvPr>
          <p:cNvSpPr>
            <a:spLocks noGrp="1"/>
          </p:cNvSpPr>
          <p:nvPr>
            <p:ph idx="1"/>
          </p:nvPr>
        </p:nvSpPr>
        <p:spPr>
          <a:xfrm>
            <a:off x="838200" y="1825625"/>
            <a:ext cx="5096256" cy="3861943"/>
          </a:xfrm>
        </p:spPr>
        <p:txBody>
          <a:bodyPr/>
          <a:lstStyle/>
          <a:p>
            <a:r>
              <a:rPr lang="en-US" dirty="0"/>
              <a:t>Examined 74 submissions to FDA</a:t>
            </a:r>
          </a:p>
          <a:p>
            <a:pPr lvl="1"/>
            <a:r>
              <a:rPr lang="en-US" dirty="0"/>
              <a:t>Almost all the approved studies were published</a:t>
            </a:r>
          </a:p>
          <a:p>
            <a:pPr lvl="1"/>
            <a:r>
              <a:rPr lang="en-US" dirty="0"/>
              <a:t>Very few that were not </a:t>
            </a:r>
            <a:r>
              <a:rPr lang="en-US" dirty="0" err="1"/>
              <a:t>approvded</a:t>
            </a:r>
            <a:r>
              <a:rPr lang="en-US" dirty="0"/>
              <a:t> were published</a:t>
            </a:r>
            <a:endParaRPr lang="en-IL" dirty="0"/>
          </a:p>
        </p:txBody>
      </p:sp>
      <p:pic>
        <p:nvPicPr>
          <p:cNvPr id="4" name="Picture 3">
            <a:extLst>
              <a:ext uri="{FF2B5EF4-FFF2-40B4-BE49-F238E27FC236}">
                <a16:creationId xmlns:a16="http://schemas.microsoft.com/office/drawing/2014/main" id="{BA83A93D-C84C-876B-63D1-8D8E12EE5CA3}"/>
              </a:ext>
            </a:extLst>
          </p:cNvPr>
          <p:cNvPicPr>
            <a:picLocks noChangeAspect="1"/>
          </p:cNvPicPr>
          <p:nvPr/>
        </p:nvPicPr>
        <p:blipFill>
          <a:blip r:embed="rId2"/>
          <a:stretch>
            <a:fillRect/>
          </a:stretch>
        </p:blipFill>
        <p:spPr>
          <a:xfrm>
            <a:off x="6812280" y="1472184"/>
            <a:ext cx="4882692" cy="5211932"/>
          </a:xfrm>
          <a:prstGeom prst="rect">
            <a:avLst/>
          </a:prstGeom>
        </p:spPr>
      </p:pic>
      <p:sp>
        <p:nvSpPr>
          <p:cNvPr id="5" name="TextBox 9">
            <a:extLst>
              <a:ext uri="{FF2B5EF4-FFF2-40B4-BE49-F238E27FC236}">
                <a16:creationId xmlns:a16="http://schemas.microsoft.com/office/drawing/2014/main" id="{826BBE2B-8A5E-DF65-631E-575311C3B2FB}"/>
              </a:ext>
            </a:extLst>
          </p:cNvPr>
          <p:cNvSpPr txBox="1"/>
          <p:nvPr/>
        </p:nvSpPr>
        <p:spPr bwMode="auto">
          <a:xfrm>
            <a:off x="6955536" y="230188"/>
            <a:ext cx="4865434" cy="369332"/>
          </a:xfrm>
          <a:prstGeom prst="rect">
            <a:avLst/>
          </a:prstGeom>
          <a:noFill/>
        </p:spPr>
        <p:txBody>
          <a:bodyPr wrap="none" rtlCol="0">
            <a:spAutoFit/>
          </a:bodyPr>
          <a:lstStyle/>
          <a:p>
            <a:pPr lvl="0">
              <a:defRPr/>
            </a:pPr>
            <a:r>
              <a:rPr lang="en-US" kern="0" dirty="0">
                <a:solidFill>
                  <a:srgbClr val="0F9ED5"/>
                </a:solidFill>
                <a:latin typeface="Aptos"/>
                <a:cs typeface="Arial"/>
              </a:rPr>
              <a:t>Turner</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NEJM </a:t>
            </a:r>
            <a:r>
              <a:rPr kumimoji="0" lang="en-US" sz="1800" b="0" i="0" u="none" strike="noStrike" kern="0" cap="none" spc="0" normalizeH="0" baseline="0" noProof="0" dirty="0">
                <a:ln>
                  <a:noFill/>
                </a:ln>
                <a:solidFill>
                  <a:srgbClr val="0F9ED5"/>
                </a:solidFill>
                <a:effectLst/>
                <a:uLnTx/>
                <a:uFillTx/>
                <a:latin typeface="Aptos"/>
                <a:cs typeface="Arial"/>
              </a:rPr>
              <a:t>2008,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10.1056/NEJMsa065779</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857132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FEF24-E817-0CE3-82A5-DB54A9357CD6}"/>
              </a:ext>
            </a:extLst>
          </p:cNvPr>
          <p:cNvSpPr>
            <a:spLocks noGrp="1"/>
          </p:cNvSpPr>
          <p:nvPr>
            <p:ph type="title"/>
          </p:nvPr>
        </p:nvSpPr>
        <p:spPr>
          <a:xfrm>
            <a:off x="338328" y="365125"/>
            <a:ext cx="11015472" cy="1325563"/>
          </a:xfrm>
        </p:spPr>
        <p:txBody>
          <a:bodyPr/>
          <a:lstStyle/>
          <a:p>
            <a:r>
              <a:rPr lang="en-US" dirty="0"/>
              <a:t>Selection biases which estimates get published</a:t>
            </a:r>
            <a:endParaRPr lang="en-IL" dirty="0"/>
          </a:p>
        </p:txBody>
      </p:sp>
      <p:sp>
        <p:nvSpPr>
          <p:cNvPr id="3" name="Content Placeholder 2">
            <a:extLst>
              <a:ext uri="{FF2B5EF4-FFF2-40B4-BE49-F238E27FC236}">
                <a16:creationId xmlns:a16="http://schemas.microsoft.com/office/drawing/2014/main" id="{0B0C548B-CC7D-609A-3308-51BA73BA4C1D}"/>
              </a:ext>
            </a:extLst>
          </p:cNvPr>
          <p:cNvSpPr>
            <a:spLocks noGrp="1"/>
          </p:cNvSpPr>
          <p:nvPr>
            <p:ph idx="1"/>
          </p:nvPr>
        </p:nvSpPr>
        <p:spPr>
          <a:xfrm>
            <a:off x="458423" y="1506022"/>
            <a:ext cx="9604248" cy="1738312"/>
          </a:xfrm>
        </p:spPr>
        <p:txBody>
          <a:bodyPr>
            <a:normAutofit fontScale="55000" lnSpcReduction="20000"/>
          </a:bodyPr>
          <a:lstStyle/>
          <a:p>
            <a:r>
              <a:rPr lang="en-US" dirty="0"/>
              <a:t>The worse the estimate</a:t>
            </a:r>
          </a:p>
          <a:p>
            <a:pPr lvl="1"/>
            <a:r>
              <a:rPr lang="en-US" dirty="0"/>
              <a:t>The larger the effect needed</a:t>
            </a:r>
          </a:p>
          <a:p>
            <a:r>
              <a:rPr lang="en-US" dirty="0"/>
              <a:t>Studies with:</a:t>
            </a:r>
          </a:p>
          <a:p>
            <a:pPr lvl="1"/>
            <a:r>
              <a:rPr lang="en-US" dirty="0"/>
              <a:t>Low power</a:t>
            </a:r>
          </a:p>
          <a:p>
            <a:pPr lvl="1"/>
            <a:r>
              <a:rPr lang="en-US" dirty="0"/>
              <a:t>Large noise</a:t>
            </a:r>
          </a:p>
          <a:p>
            <a:pPr lvl="1"/>
            <a:r>
              <a:rPr lang="en-US" dirty="0"/>
              <a:t>Small true effect</a:t>
            </a:r>
          </a:p>
          <a:p>
            <a:r>
              <a:rPr lang="en-US" dirty="0"/>
              <a:t>Only pass threshold with extreme datasets</a:t>
            </a:r>
            <a:endParaRPr lang="en-IL" dirty="0"/>
          </a:p>
        </p:txBody>
      </p:sp>
      <p:pic>
        <p:nvPicPr>
          <p:cNvPr id="4" name="Picture 3">
            <a:extLst>
              <a:ext uri="{FF2B5EF4-FFF2-40B4-BE49-F238E27FC236}">
                <a16:creationId xmlns:a16="http://schemas.microsoft.com/office/drawing/2014/main" id="{F777B371-2E3A-8662-2BA9-1867FE07D6A6}"/>
              </a:ext>
            </a:extLst>
          </p:cNvPr>
          <p:cNvPicPr>
            <a:picLocks noChangeAspect="1"/>
          </p:cNvPicPr>
          <p:nvPr/>
        </p:nvPicPr>
        <p:blipFill>
          <a:blip r:embed="rId2"/>
          <a:stretch>
            <a:fillRect/>
          </a:stretch>
        </p:blipFill>
        <p:spPr>
          <a:xfrm>
            <a:off x="2697480" y="3429000"/>
            <a:ext cx="8397240" cy="2974698"/>
          </a:xfrm>
          <a:prstGeom prst="rect">
            <a:avLst/>
          </a:prstGeom>
        </p:spPr>
      </p:pic>
      <p:sp>
        <p:nvSpPr>
          <p:cNvPr id="5" name="TextBox 4">
            <a:extLst>
              <a:ext uri="{FF2B5EF4-FFF2-40B4-BE49-F238E27FC236}">
                <a16:creationId xmlns:a16="http://schemas.microsoft.com/office/drawing/2014/main" id="{0BDAF742-FC87-DDD6-7A65-8502908ED935}"/>
              </a:ext>
            </a:extLst>
          </p:cNvPr>
          <p:cNvSpPr txBox="1"/>
          <p:nvPr/>
        </p:nvSpPr>
        <p:spPr>
          <a:xfrm>
            <a:off x="5129784" y="6403698"/>
            <a:ext cx="4016741" cy="369332"/>
          </a:xfrm>
          <a:prstGeom prst="rect">
            <a:avLst/>
          </a:prstGeom>
          <a:noFill/>
        </p:spPr>
        <p:txBody>
          <a:bodyPr wrap="none" rtlCol="0">
            <a:spAutoFit/>
          </a:bodyPr>
          <a:lstStyle/>
          <a:p>
            <a:r>
              <a:rPr lang="en-US" dirty="0"/>
              <a:t>Effect size (expected effect is negative)</a:t>
            </a:r>
            <a:endParaRPr lang="en-IL" dirty="0"/>
          </a:p>
        </p:txBody>
      </p:sp>
      <p:sp>
        <p:nvSpPr>
          <p:cNvPr id="6" name="TextBox 5">
            <a:extLst>
              <a:ext uri="{FF2B5EF4-FFF2-40B4-BE49-F238E27FC236}">
                <a16:creationId xmlns:a16="http://schemas.microsoft.com/office/drawing/2014/main" id="{EA0900DC-7039-F9A6-9912-FBF159FDCC56}"/>
              </a:ext>
            </a:extLst>
          </p:cNvPr>
          <p:cNvSpPr txBox="1"/>
          <p:nvPr/>
        </p:nvSpPr>
        <p:spPr>
          <a:xfrm>
            <a:off x="3947270" y="3244334"/>
            <a:ext cx="2148730" cy="369332"/>
          </a:xfrm>
          <a:prstGeom prst="rect">
            <a:avLst/>
          </a:prstGeom>
          <a:noFill/>
        </p:spPr>
        <p:txBody>
          <a:bodyPr wrap="none" rtlCol="0">
            <a:spAutoFit/>
          </a:bodyPr>
          <a:lstStyle/>
          <a:p>
            <a:r>
              <a:rPr lang="en-US" dirty="0"/>
              <a:t>Apparent real effect</a:t>
            </a:r>
            <a:endParaRPr lang="en-IL" dirty="0"/>
          </a:p>
        </p:txBody>
      </p:sp>
      <p:sp>
        <p:nvSpPr>
          <p:cNvPr id="7" name="TextBox 6">
            <a:extLst>
              <a:ext uri="{FF2B5EF4-FFF2-40B4-BE49-F238E27FC236}">
                <a16:creationId xmlns:a16="http://schemas.microsoft.com/office/drawing/2014/main" id="{F516FFC6-C45A-C67A-7F45-6879D325288A}"/>
              </a:ext>
            </a:extLst>
          </p:cNvPr>
          <p:cNvSpPr txBox="1"/>
          <p:nvPr/>
        </p:nvSpPr>
        <p:spPr>
          <a:xfrm>
            <a:off x="8074596" y="3168503"/>
            <a:ext cx="2143857" cy="369332"/>
          </a:xfrm>
          <a:prstGeom prst="rect">
            <a:avLst/>
          </a:prstGeom>
          <a:noFill/>
        </p:spPr>
        <p:txBody>
          <a:bodyPr wrap="none" rtlCol="0">
            <a:spAutoFit/>
          </a:bodyPr>
          <a:lstStyle/>
          <a:p>
            <a:r>
              <a:rPr lang="en-US" dirty="0"/>
              <a:t>Apparent null effect</a:t>
            </a:r>
            <a:endParaRPr lang="en-IL" dirty="0"/>
          </a:p>
        </p:txBody>
      </p:sp>
      <p:sp>
        <p:nvSpPr>
          <p:cNvPr id="8" name="TextBox 9">
            <a:extLst>
              <a:ext uri="{FF2B5EF4-FFF2-40B4-BE49-F238E27FC236}">
                <a16:creationId xmlns:a16="http://schemas.microsoft.com/office/drawing/2014/main" id="{3387DCF8-1C0F-F298-1B1E-B170A585D8D0}"/>
              </a:ext>
            </a:extLst>
          </p:cNvPr>
          <p:cNvSpPr txBox="1"/>
          <p:nvPr/>
        </p:nvSpPr>
        <p:spPr bwMode="auto">
          <a:xfrm>
            <a:off x="4267200" y="240879"/>
            <a:ext cx="7250703" cy="369332"/>
          </a:xfrm>
          <a:prstGeom prst="rect">
            <a:avLst/>
          </a:prstGeom>
          <a:noFill/>
        </p:spPr>
        <p:txBody>
          <a:bodyPr wrap="none" rtlCol="0">
            <a:spAutoFit/>
          </a:bodyPr>
          <a:lstStyle/>
          <a:p>
            <a:pPr lvl="0">
              <a:defRPr/>
            </a:pPr>
            <a:r>
              <a:rPr lang="en-US" kern="0" dirty="0">
                <a:solidFill>
                  <a:srgbClr val="0F9ED5"/>
                </a:solidFill>
                <a:latin typeface="Aptos"/>
                <a:cs typeface="Arial"/>
              </a:rPr>
              <a:t>Peters</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J Clinical Epidemiology </a:t>
            </a:r>
            <a:r>
              <a:rPr kumimoji="0" lang="en-US" sz="1800" b="0" i="0" u="none" strike="noStrike" kern="0" cap="none" spc="0" normalizeH="0" baseline="0" noProof="0" dirty="0">
                <a:ln>
                  <a:noFill/>
                </a:ln>
                <a:solidFill>
                  <a:srgbClr val="0F9ED5"/>
                </a:solidFill>
                <a:effectLst/>
                <a:uLnTx/>
                <a:uFillTx/>
                <a:latin typeface="Aptos"/>
                <a:cs typeface="Arial"/>
              </a:rPr>
              <a:t>2008,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10.1016/j.jclinepi.2007.11.010</a:t>
            </a:r>
            <a:endParaRPr kumimoji="0" sz="1800" b="0" i="0" u="none" strike="noStrike" kern="0" cap="none" spc="0" normalizeH="0" baseline="0" noProof="0" dirty="0">
              <a:ln>
                <a:noFill/>
              </a:ln>
              <a:solidFill>
                <a:srgbClr val="0F9ED5"/>
              </a:solidFill>
              <a:effectLst/>
              <a:uLnTx/>
              <a:uFillTx/>
              <a:latin typeface="Aptos"/>
              <a:cs typeface="Arial"/>
            </a:endParaRPr>
          </a:p>
        </p:txBody>
      </p:sp>
      <p:sp>
        <p:nvSpPr>
          <p:cNvPr id="9" name="TextBox 8">
            <a:extLst>
              <a:ext uri="{FF2B5EF4-FFF2-40B4-BE49-F238E27FC236}">
                <a16:creationId xmlns:a16="http://schemas.microsoft.com/office/drawing/2014/main" id="{8DCB492D-366C-B56B-9957-2ED1AAD02F72}"/>
              </a:ext>
            </a:extLst>
          </p:cNvPr>
          <p:cNvSpPr txBox="1"/>
          <p:nvPr/>
        </p:nvSpPr>
        <p:spPr>
          <a:xfrm>
            <a:off x="240903" y="4140145"/>
            <a:ext cx="2520586" cy="923330"/>
          </a:xfrm>
          <a:prstGeom prst="rect">
            <a:avLst/>
          </a:prstGeom>
          <a:noFill/>
          <a:ln>
            <a:solidFill>
              <a:schemeClr val="accent6"/>
            </a:solidFill>
          </a:ln>
        </p:spPr>
        <p:txBody>
          <a:bodyPr wrap="square" rtlCol="0">
            <a:spAutoFit/>
          </a:bodyPr>
          <a:lstStyle/>
          <a:p>
            <a:r>
              <a:rPr lang="en-US" dirty="0">
                <a:solidFill>
                  <a:schemeClr val="accent6"/>
                </a:solidFill>
              </a:rPr>
              <a:t>Green ellipses show “missing” non-significant studies</a:t>
            </a:r>
            <a:endParaRPr lang="en-IL" dirty="0">
              <a:solidFill>
                <a:schemeClr val="accent6"/>
              </a:solidFill>
            </a:endParaRPr>
          </a:p>
        </p:txBody>
      </p:sp>
    </p:spTree>
    <p:extLst>
      <p:ext uri="{BB962C8B-B14F-4D97-AF65-F5344CB8AC3E}">
        <p14:creationId xmlns:p14="http://schemas.microsoft.com/office/powerpoint/2010/main" val="168225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7DBC1-3264-9912-90BB-DE08FD67BEAB}"/>
              </a:ext>
            </a:extLst>
          </p:cNvPr>
          <p:cNvSpPr>
            <a:spLocks noGrp="1"/>
          </p:cNvSpPr>
          <p:nvPr>
            <p:ph type="title"/>
          </p:nvPr>
        </p:nvSpPr>
        <p:spPr/>
        <p:txBody>
          <a:bodyPr/>
          <a:lstStyle/>
          <a:p>
            <a:r>
              <a:rPr lang="en-US" dirty="0"/>
              <a:t>Small effects lead to inflated estimates</a:t>
            </a:r>
            <a:endParaRPr lang="en-IL" dirty="0"/>
          </a:p>
        </p:txBody>
      </p:sp>
      <p:sp>
        <p:nvSpPr>
          <p:cNvPr id="3" name="Content Placeholder 2">
            <a:extLst>
              <a:ext uri="{FF2B5EF4-FFF2-40B4-BE49-F238E27FC236}">
                <a16:creationId xmlns:a16="http://schemas.microsoft.com/office/drawing/2014/main" id="{17D8B4DF-3488-27C9-F40C-B4C0475220A5}"/>
              </a:ext>
            </a:extLst>
          </p:cNvPr>
          <p:cNvSpPr>
            <a:spLocks noGrp="1"/>
          </p:cNvSpPr>
          <p:nvPr>
            <p:ph idx="1"/>
          </p:nvPr>
        </p:nvSpPr>
        <p:spPr>
          <a:xfrm>
            <a:off x="838200" y="1825625"/>
            <a:ext cx="7620000" cy="4351338"/>
          </a:xfrm>
        </p:spPr>
        <p:txBody>
          <a:bodyPr/>
          <a:lstStyle/>
          <a:p>
            <a:r>
              <a:rPr lang="en-US" dirty="0"/>
              <a:t>Some fields have very small effects and low power</a:t>
            </a:r>
          </a:p>
          <a:p>
            <a:pPr lvl="1"/>
            <a:r>
              <a:rPr lang="en-US" dirty="0"/>
              <a:t>fMRI</a:t>
            </a:r>
          </a:p>
          <a:p>
            <a:pPr lvl="1"/>
            <a:r>
              <a:rPr lang="en-US" dirty="0"/>
              <a:t>Talk therapy</a:t>
            </a:r>
          </a:p>
          <a:p>
            <a:r>
              <a:rPr lang="en-US" dirty="0"/>
              <a:t>Without very large samples</a:t>
            </a:r>
          </a:p>
          <a:p>
            <a:pPr lvl="1"/>
            <a:r>
              <a:rPr lang="en-US" dirty="0"/>
              <a:t>Effect sizes will be overestimated</a:t>
            </a:r>
          </a:p>
          <a:p>
            <a:pPr lvl="1"/>
            <a:endParaRPr lang="en-IL" dirty="0"/>
          </a:p>
        </p:txBody>
      </p:sp>
      <p:pic>
        <p:nvPicPr>
          <p:cNvPr id="4" name="Picture 3">
            <a:extLst>
              <a:ext uri="{FF2B5EF4-FFF2-40B4-BE49-F238E27FC236}">
                <a16:creationId xmlns:a16="http://schemas.microsoft.com/office/drawing/2014/main" id="{E4D285C6-01D9-2DDA-A9D1-84F8BD22488B}"/>
              </a:ext>
            </a:extLst>
          </p:cNvPr>
          <p:cNvPicPr>
            <a:picLocks noChangeAspect="1"/>
          </p:cNvPicPr>
          <p:nvPr/>
        </p:nvPicPr>
        <p:blipFill>
          <a:blip r:embed="rId2"/>
          <a:stretch>
            <a:fillRect/>
          </a:stretch>
        </p:blipFill>
        <p:spPr>
          <a:xfrm>
            <a:off x="7471048" y="2391754"/>
            <a:ext cx="4379262" cy="3920146"/>
          </a:xfrm>
          <a:prstGeom prst="rect">
            <a:avLst/>
          </a:prstGeom>
        </p:spPr>
      </p:pic>
      <p:sp>
        <p:nvSpPr>
          <p:cNvPr id="5" name="TextBox 9">
            <a:extLst>
              <a:ext uri="{FF2B5EF4-FFF2-40B4-BE49-F238E27FC236}">
                <a16:creationId xmlns:a16="http://schemas.microsoft.com/office/drawing/2014/main" id="{9E180F74-7DFD-522A-F0B9-DB32431C3037}"/>
              </a:ext>
            </a:extLst>
          </p:cNvPr>
          <p:cNvSpPr txBox="1"/>
          <p:nvPr/>
        </p:nvSpPr>
        <p:spPr bwMode="auto">
          <a:xfrm>
            <a:off x="2506085" y="212942"/>
            <a:ext cx="9344225" cy="369332"/>
          </a:xfrm>
          <a:prstGeom prst="rect">
            <a:avLst/>
          </a:prstGeom>
          <a:noFill/>
        </p:spPr>
        <p:txBody>
          <a:bodyPr wrap="none" rtlCol="0">
            <a:spAutoFit/>
          </a:bodyPr>
          <a:lstStyle/>
          <a:p>
            <a:pPr lvl="0">
              <a:defRPr/>
            </a:pPr>
            <a:r>
              <a:rPr lang="en-US" kern="0" dirty="0">
                <a:solidFill>
                  <a:srgbClr val="0F9ED5"/>
                </a:solidFill>
                <a:latin typeface="Aptos"/>
                <a:cs typeface="Arial"/>
              </a:rPr>
              <a:t>Yarkoni</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Perspectives on Psychological Science </a:t>
            </a:r>
            <a:r>
              <a:rPr kumimoji="0" lang="en-US" sz="1800" b="0" i="0" u="none" strike="noStrike" kern="0" cap="none" spc="0" normalizeH="0" baseline="0" noProof="0" dirty="0">
                <a:ln>
                  <a:noFill/>
                </a:ln>
                <a:solidFill>
                  <a:srgbClr val="0F9ED5"/>
                </a:solidFill>
                <a:effectLst/>
                <a:uLnTx/>
                <a:uFillTx/>
                <a:latin typeface="Aptos"/>
                <a:cs typeface="Arial"/>
              </a:rPr>
              <a:t>2009,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10.1111/j.1745-6924.2009.01127.x</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3692829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98C4B-1ABB-994A-0C23-7C76CFB0D186}"/>
              </a:ext>
            </a:extLst>
          </p:cNvPr>
          <p:cNvSpPr>
            <a:spLocks noGrp="1"/>
          </p:cNvSpPr>
          <p:nvPr>
            <p:ph type="title"/>
          </p:nvPr>
        </p:nvSpPr>
        <p:spPr/>
        <p:txBody>
          <a:bodyPr/>
          <a:lstStyle/>
          <a:p>
            <a:r>
              <a:rPr lang="en-US" dirty="0"/>
              <a:t>Multiple tests multiply false positives</a:t>
            </a:r>
            <a:endParaRPr lang="en-IL" dirty="0"/>
          </a:p>
        </p:txBody>
      </p:sp>
      <p:sp>
        <p:nvSpPr>
          <p:cNvPr id="3" name="Content Placeholder 2">
            <a:extLst>
              <a:ext uri="{FF2B5EF4-FFF2-40B4-BE49-F238E27FC236}">
                <a16:creationId xmlns:a16="http://schemas.microsoft.com/office/drawing/2014/main" id="{F48C41B5-BED9-A4CC-3573-4A86AEE2C30C}"/>
              </a:ext>
            </a:extLst>
          </p:cNvPr>
          <p:cNvSpPr>
            <a:spLocks noGrp="1"/>
          </p:cNvSpPr>
          <p:nvPr>
            <p:ph idx="1"/>
          </p:nvPr>
        </p:nvSpPr>
        <p:spPr>
          <a:xfrm>
            <a:off x="838200" y="1825625"/>
            <a:ext cx="5383491" cy="4351338"/>
          </a:xfrm>
        </p:spPr>
        <p:txBody>
          <a:bodyPr>
            <a:normAutofit fontScale="85000" lnSpcReduction="20000"/>
          </a:bodyPr>
          <a:lstStyle/>
          <a:p>
            <a:r>
              <a:rPr lang="en-US" dirty="0"/>
              <a:t>An experiment can involve</a:t>
            </a:r>
          </a:p>
          <a:p>
            <a:pPr lvl="1"/>
            <a:r>
              <a:rPr lang="en-US" dirty="0"/>
              <a:t>Many voxels</a:t>
            </a:r>
          </a:p>
          <a:p>
            <a:pPr lvl="1"/>
            <a:r>
              <a:rPr lang="en-US" dirty="0"/>
              <a:t>Many electrodes</a:t>
            </a:r>
          </a:p>
          <a:p>
            <a:pPr lvl="1"/>
            <a:r>
              <a:rPr lang="en-US" dirty="0"/>
              <a:t>Many cells</a:t>
            </a:r>
          </a:p>
          <a:p>
            <a:pPr lvl="1"/>
            <a:r>
              <a:rPr lang="en-US" dirty="0"/>
              <a:t>Many hypotheses</a:t>
            </a:r>
          </a:p>
          <a:p>
            <a:r>
              <a:rPr lang="en-US" dirty="0"/>
              <a:t>Correcting the significance is called multiple comparison testing</a:t>
            </a:r>
          </a:p>
          <a:p>
            <a:r>
              <a:rPr lang="en-US" dirty="0"/>
              <a:t>Many methods</a:t>
            </a:r>
          </a:p>
          <a:p>
            <a:pPr lvl="1"/>
            <a:r>
              <a:rPr lang="en-US" dirty="0"/>
              <a:t>Bonferroni / Sidak</a:t>
            </a:r>
          </a:p>
          <a:p>
            <a:pPr lvl="1"/>
            <a:r>
              <a:rPr lang="en-US" dirty="0"/>
              <a:t>Random field theory</a:t>
            </a:r>
          </a:p>
          <a:p>
            <a:pPr lvl="1"/>
            <a:r>
              <a:rPr lang="en-US" dirty="0"/>
              <a:t>Permutation analysis</a:t>
            </a:r>
          </a:p>
          <a:p>
            <a:pPr lvl="1"/>
            <a:r>
              <a:rPr lang="en-US" dirty="0"/>
              <a:t>False discovery rate</a:t>
            </a:r>
          </a:p>
          <a:p>
            <a:r>
              <a:rPr lang="en-US" dirty="0"/>
              <a:t>Different answers depending on the method chosen</a:t>
            </a:r>
          </a:p>
          <a:p>
            <a:pPr lvl="1"/>
            <a:endParaRPr lang="en-US" dirty="0"/>
          </a:p>
          <a:p>
            <a:pPr lvl="1"/>
            <a:endParaRPr lang="en-IL" dirty="0"/>
          </a:p>
        </p:txBody>
      </p:sp>
      <p:pic>
        <p:nvPicPr>
          <p:cNvPr id="4" name="Picture 3" descr="What Is fMRI? Uses, How It Works, Duration, and What to Expect">
            <a:extLst>
              <a:ext uri="{FF2B5EF4-FFF2-40B4-BE49-F238E27FC236}">
                <a16:creationId xmlns:a16="http://schemas.microsoft.com/office/drawing/2014/main" id="{8152A576-7AE6-24CB-1A61-62EC9EC0A56B}"/>
              </a:ext>
            </a:extLst>
          </p:cNvPr>
          <p:cNvPicPr>
            <a:picLocks noChangeAspect="1"/>
          </p:cNvPicPr>
          <p:nvPr/>
        </p:nvPicPr>
        <p:blipFill>
          <a:blip r:embed="rId2"/>
          <a:stretch>
            <a:fillRect/>
          </a:stretch>
        </p:blipFill>
        <p:spPr>
          <a:xfrm>
            <a:off x="8078771" y="1488250"/>
            <a:ext cx="3576292" cy="1871592"/>
          </a:xfrm>
          <a:prstGeom prst="rect">
            <a:avLst/>
          </a:prstGeom>
        </p:spPr>
      </p:pic>
      <p:pic>
        <p:nvPicPr>
          <p:cNvPr id="5" name="Picture 4">
            <a:extLst>
              <a:ext uri="{FF2B5EF4-FFF2-40B4-BE49-F238E27FC236}">
                <a16:creationId xmlns:a16="http://schemas.microsoft.com/office/drawing/2014/main" id="{DC3C0D56-C68E-0934-C69E-2DCCB4D0F168}"/>
              </a:ext>
            </a:extLst>
          </p:cNvPr>
          <p:cNvPicPr>
            <a:picLocks noChangeAspect="1"/>
          </p:cNvPicPr>
          <p:nvPr/>
        </p:nvPicPr>
        <p:blipFill>
          <a:blip r:embed="rId3"/>
          <a:stretch>
            <a:fillRect/>
          </a:stretch>
        </p:blipFill>
        <p:spPr>
          <a:xfrm>
            <a:off x="7232753" y="3498159"/>
            <a:ext cx="4253592" cy="3359841"/>
          </a:xfrm>
          <a:prstGeom prst="rect">
            <a:avLst/>
          </a:prstGeom>
        </p:spPr>
      </p:pic>
      <p:sp>
        <p:nvSpPr>
          <p:cNvPr id="6" name="TextBox 9">
            <a:extLst>
              <a:ext uri="{FF2B5EF4-FFF2-40B4-BE49-F238E27FC236}">
                <a16:creationId xmlns:a16="http://schemas.microsoft.com/office/drawing/2014/main" id="{C9FBE6CA-69AF-E031-3F54-A62590C41C72}"/>
              </a:ext>
            </a:extLst>
          </p:cNvPr>
          <p:cNvSpPr txBox="1"/>
          <p:nvPr/>
        </p:nvSpPr>
        <p:spPr bwMode="auto">
          <a:xfrm>
            <a:off x="6467424" y="230188"/>
            <a:ext cx="5187639" cy="369332"/>
          </a:xfrm>
          <a:prstGeom prst="rect">
            <a:avLst/>
          </a:prstGeom>
          <a:noFill/>
        </p:spPr>
        <p:txBody>
          <a:bodyPr wrap="none" rtlCol="0">
            <a:spAutoFit/>
          </a:bodyPr>
          <a:lstStyle/>
          <a:p>
            <a:pPr lvl="0">
              <a:defRPr/>
            </a:pPr>
            <a:r>
              <a:rPr lang="en-US" kern="0" dirty="0">
                <a:solidFill>
                  <a:srgbClr val="0F9ED5"/>
                </a:solidFill>
                <a:latin typeface="Aptos"/>
                <a:cs typeface="Arial"/>
              </a:rPr>
              <a:t>Eklund</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PNAS </a:t>
            </a:r>
            <a:r>
              <a:rPr kumimoji="0" lang="en-US" sz="1800" b="0" i="0" u="none" strike="noStrike" kern="0" cap="none" spc="0" normalizeH="0" baseline="0" noProof="0" dirty="0">
                <a:ln>
                  <a:noFill/>
                </a:ln>
                <a:solidFill>
                  <a:srgbClr val="0F9ED5"/>
                </a:solidFill>
                <a:effectLst/>
                <a:uLnTx/>
                <a:uFillTx/>
                <a:latin typeface="Aptos"/>
                <a:cs typeface="Arial"/>
              </a:rPr>
              <a:t>2012,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10.1073/pnas.1602413113</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374945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18CA963B-8E7B-B30B-4D3A-2BED6F89AE64}"/>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D8C74F21-8FB8-10BC-7144-C363839D99D4}"/>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12.5 The garden of forking paths</a:t>
            </a:r>
            <a:endParaRPr dirty="0"/>
          </a:p>
        </p:txBody>
      </p:sp>
      <p:sp>
        <p:nvSpPr>
          <p:cNvPr id="1591332286" name="Text Placeholder 2">
            <a:extLst>
              <a:ext uri="{FF2B5EF4-FFF2-40B4-BE49-F238E27FC236}">
                <a16:creationId xmlns:a16="http://schemas.microsoft.com/office/drawing/2014/main" id="{DFC08949-07C1-5719-3E81-530A49933F19}"/>
              </a:ext>
            </a:extLst>
          </p:cNvPr>
          <p:cNvSpPr>
            <a:spLocks noGrp="1"/>
          </p:cNvSpPr>
          <p:nvPr>
            <p:ph type="body" idx="1"/>
          </p:nvPr>
        </p:nvSpPr>
        <p:spPr bwMode="auto">
          <a:xfrm>
            <a:off x="888999" y="2717799"/>
            <a:ext cx="10040663" cy="855439"/>
          </a:xfrm>
        </p:spPr>
        <p:txBody>
          <a:bodyPr wrap="none" anchor="t">
            <a:normAutofit fontScale="92500" lnSpcReduction="20000"/>
          </a:bodyPr>
          <a:lstStyle/>
          <a:p>
            <a:pPr algn="l">
              <a:defRPr sz="3000">
                <a:solidFill>
                  <a:srgbClr val="888888"/>
                </a:solidFill>
                <a:latin typeface="Arial"/>
                <a:cs typeface="Arial"/>
              </a:defRPr>
            </a:pPr>
            <a:r>
              <a:rPr lang="en-US" dirty="0"/>
              <a:t>Researchers make many choices in their analyses and </a:t>
            </a:r>
          </a:p>
          <a:p>
            <a:pPr algn="l">
              <a:defRPr sz="3000">
                <a:solidFill>
                  <a:srgbClr val="888888"/>
                </a:solidFill>
                <a:latin typeface="Arial"/>
                <a:cs typeface="Arial"/>
              </a:defRPr>
            </a:pPr>
            <a:r>
              <a:rPr lang="en-US" dirty="0"/>
              <a:t>this can lead to getting </a:t>
            </a:r>
            <a:r>
              <a:rPr lang="en-US"/>
              <a:t>many different results.</a:t>
            </a:r>
            <a:endParaRPr dirty="0"/>
          </a:p>
        </p:txBody>
      </p:sp>
    </p:spTree>
    <p:extLst>
      <p:ext uri="{BB962C8B-B14F-4D97-AF65-F5344CB8AC3E}">
        <p14:creationId xmlns:p14="http://schemas.microsoft.com/office/powerpoint/2010/main" val="2238635405"/>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AD29C-F484-E487-F29C-36CF8B773F80}"/>
              </a:ext>
            </a:extLst>
          </p:cNvPr>
          <p:cNvSpPr>
            <a:spLocks noGrp="1"/>
          </p:cNvSpPr>
          <p:nvPr>
            <p:ph type="title"/>
          </p:nvPr>
        </p:nvSpPr>
        <p:spPr/>
        <p:txBody>
          <a:bodyPr/>
          <a:lstStyle/>
          <a:p>
            <a:r>
              <a:rPr lang="en-US" dirty="0"/>
              <a:t>Data is analysis involves choices</a:t>
            </a:r>
            <a:endParaRPr lang="en-IL" dirty="0"/>
          </a:p>
        </p:txBody>
      </p:sp>
      <p:sp>
        <p:nvSpPr>
          <p:cNvPr id="5" name="Content Placeholder 4">
            <a:extLst>
              <a:ext uri="{FF2B5EF4-FFF2-40B4-BE49-F238E27FC236}">
                <a16:creationId xmlns:a16="http://schemas.microsoft.com/office/drawing/2014/main" id="{B66A3FF0-0BCF-5741-5B22-D44E2E2CDDD8}"/>
              </a:ext>
            </a:extLst>
          </p:cNvPr>
          <p:cNvSpPr>
            <a:spLocks noGrp="1"/>
          </p:cNvSpPr>
          <p:nvPr>
            <p:ph idx="1"/>
          </p:nvPr>
        </p:nvSpPr>
        <p:spPr>
          <a:xfrm>
            <a:off x="838200" y="1825625"/>
            <a:ext cx="3776133" cy="2441575"/>
          </a:xfrm>
        </p:spPr>
        <p:txBody>
          <a:bodyPr/>
          <a:lstStyle/>
          <a:p>
            <a:r>
              <a:rPr lang="en-US" dirty="0"/>
              <a:t>There isn’t only one way to analyze the data</a:t>
            </a:r>
            <a:endParaRPr lang="en-IL" dirty="0"/>
          </a:p>
        </p:txBody>
      </p:sp>
      <p:pic>
        <p:nvPicPr>
          <p:cNvPr id="7" name="Graphic 6">
            <a:extLst>
              <a:ext uri="{FF2B5EF4-FFF2-40B4-BE49-F238E27FC236}">
                <a16:creationId xmlns:a16="http://schemas.microsoft.com/office/drawing/2014/main" id="{CF536BC2-2ACF-B704-D78B-1AF1C8671F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4946" y="1262063"/>
            <a:ext cx="11077575" cy="4914900"/>
          </a:xfrm>
          <a:prstGeom prst="rect">
            <a:avLst/>
          </a:prstGeom>
        </p:spPr>
      </p:pic>
    </p:spTree>
    <p:extLst>
      <p:ext uri="{BB962C8B-B14F-4D97-AF65-F5344CB8AC3E}">
        <p14:creationId xmlns:p14="http://schemas.microsoft.com/office/powerpoint/2010/main" val="2222708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F35A-1865-95FE-6790-03B7B26152BD}"/>
              </a:ext>
            </a:extLst>
          </p:cNvPr>
          <p:cNvSpPr>
            <a:spLocks noGrp="1"/>
          </p:cNvSpPr>
          <p:nvPr>
            <p:ph type="title"/>
          </p:nvPr>
        </p:nvSpPr>
        <p:spPr/>
        <p:txBody>
          <a:bodyPr/>
          <a:lstStyle/>
          <a:p>
            <a:r>
              <a:rPr lang="en-US" dirty="0"/>
              <a:t>Forking paths in EEG analysis</a:t>
            </a:r>
            <a:endParaRPr lang="en-IL" dirty="0"/>
          </a:p>
        </p:txBody>
      </p:sp>
      <p:pic>
        <p:nvPicPr>
          <p:cNvPr id="4" name="Picture 3">
            <a:extLst>
              <a:ext uri="{FF2B5EF4-FFF2-40B4-BE49-F238E27FC236}">
                <a16:creationId xmlns:a16="http://schemas.microsoft.com/office/drawing/2014/main" id="{3AD80566-505F-EC7C-9F5B-07C2F056E49D}"/>
              </a:ext>
            </a:extLst>
          </p:cNvPr>
          <p:cNvPicPr>
            <a:picLocks noChangeAspect="1"/>
          </p:cNvPicPr>
          <p:nvPr/>
        </p:nvPicPr>
        <p:blipFill>
          <a:blip r:embed="rId2"/>
          <a:stretch>
            <a:fillRect/>
          </a:stretch>
        </p:blipFill>
        <p:spPr>
          <a:xfrm>
            <a:off x="338666" y="1428007"/>
            <a:ext cx="10414000" cy="5345326"/>
          </a:xfrm>
          <a:prstGeom prst="rect">
            <a:avLst/>
          </a:prstGeom>
        </p:spPr>
      </p:pic>
      <p:sp>
        <p:nvSpPr>
          <p:cNvPr id="5" name="TextBox 9">
            <a:extLst>
              <a:ext uri="{FF2B5EF4-FFF2-40B4-BE49-F238E27FC236}">
                <a16:creationId xmlns:a16="http://schemas.microsoft.com/office/drawing/2014/main" id="{2FDE4C16-2ADB-7065-3221-82476520ED7E}"/>
              </a:ext>
            </a:extLst>
          </p:cNvPr>
          <p:cNvSpPr txBox="1"/>
          <p:nvPr/>
        </p:nvSpPr>
        <p:spPr bwMode="auto">
          <a:xfrm>
            <a:off x="5764691" y="180459"/>
            <a:ext cx="5743880" cy="369332"/>
          </a:xfrm>
          <a:prstGeom prst="rect">
            <a:avLst/>
          </a:prstGeom>
          <a:noFill/>
        </p:spPr>
        <p:txBody>
          <a:bodyPr wrap="none" rtlCol="0">
            <a:spAutoFit/>
          </a:bodyPr>
          <a:lstStyle/>
          <a:p>
            <a:pPr lvl="0">
              <a:defRPr/>
            </a:pPr>
            <a:r>
              <a:rPr lang="en-US" kern="0" dirty="0" err="1">
                <a:solidFill>
                  <a:srgbClr val="0F9ED5"/>
                </a:solidFill>
              </a:rPr>
              <a:t>Šoškić</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Psychophysiology </a:t>
            </a:r>
            <a:r>
              <a:rPr kumimoji="0" lang="en-US" sz="1800" b="0" i="0" u="none" strike="noStrike" kern="0" cap="none" spc="0" normalizeH="0" baseline="0" noProof="0" dirty="0">
                <a:ln>
                  <a:noFill/>
                </a:ln>
                <a:solidFill>
                  <a:srgbClr val="0F9ED5"/>
                </a:solidFill>
                <a:effectLst/>
                <a:uLnTx/>
                <a:uFillTx/>
                <a:latin typeface="Aptos"/>
                <a:cs typeface="Arial"/>
              </a:rPr>
              <a:t>2024,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10.1111/psyp.14628</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2293520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58352-E15E-1848-7E66-88C0E0A096C5}"/>
              </a:ext>
            </a:extLst>
          </p:cNvPr>
          <p:cNvSpPr>
            <a:spLocks noGrp="1"/>
          </p:cNvSpPr>
          <p:nvPr>
            <p:ph type="title"/>
          </p:nvPr>
        </p:nvSpPr>
        <p:spPr>
          <a:xfrm>
            <a:off x="838200" y="618067"/>
            <a:ext cx="10515600" cy="1072621"/>
          </a:xfrm>
        </p:spPr>
        <p:txBody>
          <a:bodyPr/>
          <a:lstStyle/>
          <a:p>
            <a:r>
              <a:rPr lang="en-US" dirty="0"/>
              <a:t>Forking paths make a difference</a:t>
            </a:r>
            <a:endParaRPr lang="en-IL" dirty="0"/>
          </a:p>
        </p:txBody>
      </p:sp>
      <p:pic>
        <p:nvPicPr>
          <p:cNvPr id="3" name="Picture 2">
            <a:extLst>
              <a:ext uri="{FF2B5EF4-FFF2-40B4-BE49-F238E27FC236}">
                <a16:creationId xmlns:a16="http://schemas.microsoft.com/office/drawing/2014/main" id="{00F28C3E-D425-91EB-7B50-832C1F6360DC}"/>
              </a:ext>
            </a:extLst>
          </p:cNvPr>
          <p:cNvPicPr>
            <a:picLocks noChangeAspect="1"/>
          </p:cNvPicPr>
          <p:nvPr/>
        </p:nvPicPr>
        <p:blipFill>
          <a:blip r:embed="rId2"/>
          <a:stretch>
            <a:fillRect/>
          </a:stretch>
        </p:blipFill>
        <p:spPr>
          <a:xfrm>
            <a:off x="838200" y="1788859"/>
            <a:ext cx="10320867" cy="4896047"/>
          </a:xfrm>
          <a:prstGeom prst="rect">
            <a:avLst/>
          </a:prstGeom>
        </p:spPr>
      </p:pic>
      <p:sp>
        <p:nvSpPr>
          <p:cNvPr id="4" name="TextBox 9">
            <a:extLst>
              <a:ext uri="{FF2B5EF4-FFF2-40B4-BE49-F238E27FC236}">
                <a16:creationId xmlns:a16="http://schemas.microsoft.com/office/drawing/2014/main" id="{73FE1B76-4687-981E-93FE-F24C32C601B2}"/>
              </a:ext>
            </a:extLst>
          </p:cNvPr>
          <p:cNvSpPr txBox="1"/>
          <p:nvPr/>
        </p:nvSpPr>
        <p:spPr bwMode="auto">
          <a:xfrm>
            <a:off x="5764691" y="180459"/>
            <a:ext cx="5743880" cy="369332"/>
          </a:xfrm>
          <a:prstGeom prst="rect">
            <a:avLst/>
          </a:prstGeom>
          <a:noFill/>
        </p:spPr>
        <p:txBody>
          <a:bodyPr wrap="none" rtlCol="0">
            <a:spAutoFit/>
          </a:bodyPr>
          <a:lstStyle/>
          <a:p>
            <a:pPr lvl="0">
              <a:defRPr/>
            </a:pPr>
            <a:r>
              <a:rPr lang="en-US" kern="0" dirty="0" err="1">
                <a:solidFill>
                  <a:srgbClr val="0F9ED5"/>
                </a:solidFill>
              </a:rPr>
              <a:t>Šoškić</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Psychophysiology </a:t>
            </a:r>
            <a:r>
              <a:rPr kumimoji="0" lang="en-US" sz="1800" b="0" i="0" u="none" strike="noStrike" kern="0" cap="none" spc="0" normalizeH="0" baseline="0" noProof="0" dirty="0">
                <a:ln>
                  <a:noFill/>
                </a:ln>
                <a:solidFill>
                  <a:srgbClr val="0F9ED5"/>
                </a:solidFill>
                <a:effectLst/>
                <a:uLnTx/>
                <a:uFillTx/>
                <a:latin typeface="Aptos"/>
                <a:cs typeface="Arial"/>
              </a:rPr>
              <a:t>2024,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10.1111/psyp.14628</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2636214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56641-96C1-0E12-57D6-689DC34F4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AC3D0-DBCD-2C6C-3C25-0AB74DC40BC4}"/>
              </a:ext>
            </a:extLst>
          </p:cNvPr>
          <p:cNvSpPr>
            <a:spLocks noGrp="1"/>
          </p:cNvSpPr>
          <p:nvPr>
            <p:ph type="title"/>
          </p:nvPr>
        </p:nvSpPr>
        <p:spPr/>
        <p:txBody>
          <a:bodyPr/>
          <a:lstStyle/>
          <a:p>
            <a:r>
              <a:rPr lang="en-US" dirty="0"/>
              <a:t>Forking paths affect power and significance</a:t>
            </a:r>
            <a:endParaRPr lang="en-IL" dirty="0"/>
          </a:p>
        </p:txBody>
      </p:sp>
      <p:sp>
        <p:nvSpPr>
          <p:cNvPr id="6" name="Content Placeholder 5">
            <a:extLst>
              <a:ext uri="{FF2B5EF4-FFF2-40B4-BE49-F238E27FC236}">
                <a16:creationId xmlns:a16="http://schemas.microsoft.com/office/drawing/2014/main" id="{2C190DB8-8E80-207B-FE7B-D8C3307C5E87}"/>
              </a:ext>
            </a:extLst>
          </p:cNvPr>
          <p:cNvSpPr>
            <a:spLocks noGrp="1"/>
          </p:cNvSpPr>
          <p:nvPr>
            <p:ph idx="1"/>
          </p:nvPr>
        </p:nvSpPr>
        <p:spPr>
          <a:xfrm>
            <a:off x="838200" y="1825625"/>
            <a:ext cx="4926491" cy="4351338"/>
          </a:xfrm>
        </p:spPr>
        <p:txBody>
          <a:bodyPr/>
          <a:lstStyle/>
          <a:p>
            <a:r>
              <a:rPr lang="en-US" dirty="0"/>
              <a:t>Choice of analyses can give a power of 0.8 with</a:t>
            </a:r>
          </a:p>
          <a:p>
            <a:pPr lvl="1"/>
            <a:r>
              <a:rPr lang="en-US" dirty="0"/>
              <a:t>30 trials per condition</a:t>
            </a:r>
          </a:p>
          <a:p>
            <a:pPr lvl="1"/>
            <a:r>
              <a:rPr lang="en-US" dirty="0"/>
              <a:t>70 trials per condition</a:t>
            </a:r>
            <a:endParaRPr lang="en-IL" dirty="0"/>
          </a:p>
        </p:txBody>
      </p:sp>
      <p:sp>
        <p:nvSpPr>
          <p:cNvPr id="4" name="TextBox 9">
            <a:extLst>
              <a:ext uri="{FF2B5EF4-FFF2-40B4-BE49-F238E27FC236}">
                <a16:creationId xmlns:a16="http://schemas.microsoft.com/office/drawing/2014/main" id="{62D714E4-2E1B-2127-618F-70A9C2D501D5}"/>
              </a:ext>
            </a:extLst>
          </p:cNvPr>
          <p:cNvSpPr txBox="1"/>
          <p:nvPr/>
        </p:nvSpPr>
        <p:spPr bwMode="auto">
          <a:xfrm>
            <a:off x="5764691" y="180459"/>
            <a:ext cx="5743880" cy="369332"/>
          </a:xfrm>
          <a:prstGeom prst="rect">
            <a:avLst/>
          </a:prstGeom>
          <a:noFill/>
        </p:spPr>
        <p:txBody>
          <a:bodyPr wrap="none" rtlCol="0">
            <a:spAutoFit/>
          </a:bodyPr>
          <a:lstStyle/>
          <a:p>
            <a:pPr lvl="0">
              <a:defRPr/>
            </a:pPr>
            <a:r>
              <a:rPr lang="en-US" kern="0" dirty="0" err="1">
                <a:solidFill>
                  <a:srgbClr val="0F9ED5"/>
                </a:solidFill>
              </a:rPr>
              <a:t>Šoškić</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Psychophysiology </a:t>
            </a:r>
            <a:r>
              <a:rPr kumimoji="0" lang="en-US" sz="1800" b="0" i="0" u="none" strike="noStrike" kern="0" cap="none" spc="0" normalizeH="0" baseline="0" noProof="0" dirty="0">
                <a:ln>
                  <a:noFill/>
                </a:ln>
                <a:solidFill>
                  <a:srgbClr val="0F9ED5"/>
                </a:solidFill>
                <a:effectLst/>
                <a:uLnTx/>
                <a:uFillTx/>
                <a:latin typeface="Aptos"/>
                <a:cs typeface="Arial"/>
              </a:rPr>
              <a:t>2024,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10.1111/psyp.14628</a:t>
            </a:r>
            <a:endParaRPr kumimoji="0" sz="1800" b="0" i="0" u="none" strike="noStrike" kern="0" cap="none" spc="0" normalizeH="0" baseline="0" noProof="0" dirty="0">
              <a:ln>
                <a:noFill/>
              </a:ln>
              <a:solidFill>
                <a:srgbClr val="0F9ED5"/>
              </a:solidFill>
              <a:effectLst/>
              <a:uLnTx/>
              <a:uFillTx/>
              <a:latin typeface="Aptos"/>
              <a:cs typeface="Arial"/>
            </a:endParaRPr>
          </a:p>
        </p:txBody>
      </p:sp>
      <p:pic>
        <p:nvPicPr>
          <p:cNvPr id="5" name="Picture 4">
            <a:extLst>
              <a:ext uri="{FF2B5EF4-FFF2-40B4-BE49-F238E27FC236}">
                <a16:creationId xmlns:a16="http://schemas.microsoft.com/office/drawing/2014/main" id="{68D5DE8D-E753-08FE-35B3-DEAD64F0ECA6}"/>
              </a:ext>
            </a:extLst>
          </p:cNvPr>
          <p:cNvPicPr>
            <a:picLocks noChangeAspect="1"/>
          </p:cNvPicPr>
          <p:nvPr/>
        </p:nvPicPr>
        <p:blipFill>
          <a:blip r:embed="rId2"/>
          <a:stretch>
            <a:fillRect/>
          </a:stretch>
        </p:blipFill>
        <p:spPr>
          <a:xfrm>
            <a:off x="6096000" y="1478883"/>
            <a:ext cx="5412571" cy="4936205"/>
          </a:xfrm>
          <a:prstGeom prst="rect">
            <a:avLst/>
          </a:prstGeom>
        </p:spPr>
      </p:pic>
    </p:spTree>
    <p:extLst>
      <p:ext uri="{BB962C8B-B14F-4D97-AF65-F5344CB8AC3E}">
        <p14:creationId xmlns:p14="http://schemas.microsoft.com/office/powerpoint/2010/main" val="36309315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2ED9-0BD0-3515-290B-032E2F2CC6AB}"/>
              </a:ext>
            </a:extLst>
          </p:cNvPr>
          <p:cNvSpPr>
            <a:spLocks noGrp="1"/>
          </p:cNvSpPr>
          <p:nvPr>
            <p:ph type="title"/>
          </p:nvPr>
        </p:nvSpPr>
        <p:spPr/>
        <p:txBody>
          <a:bodyPr/>
          <a:lstStyle/>
          <a:p>
            <a:r>
              <a:rPr lang="en-US" dirty="0"/>
              <a:t>Experts make different choices</a:t>
            </a:r>
            <a:endParaRPr lang="en-IL" dirty="0"/>
          </a:p>
        </p:txBody>
      </p:sp>
      <p:sp>
        <p:nvSpPr>
          <p:cNvPr id="3" name="Content Placeholder 2">
            <a:extLst>
              <a:ext uri="{FF2B5EF4-FFF2-40B4-BE49-F238E27FC236}">
                <a16:creationId xmlns:a16="http://schemas.microsoft.com/office/drawing/2014/main" id="{ED1F11A8-763E-197D-FB0F-727D883FEECE}"/>
              </a:ext>
            </a:extLst>
          </p:cNvPr>
          <p:cNvSpPr>
            <a:spLocks noGrp="1"/>
          </p:cNvSpPr>
          <p:nvPr>
            <p:ph idx="1"/>
          </p:nvPr>
        </p:nvSpPr>
        <p:spPr>
          <a:xfrm>
            <a:off x="838200" y="1825625"/>
            <a:ext cx="5799667" cy="4041775"/>
          </a:xfrm>
        </p:spPr>
        <p:txBody>
          <a:bodyPr>
            <a:normAutofit fontScale="92500"/>
          </a:bodyPr>
          <a:lstStyle/>
          <a:p>
            <a:r>
              <a:rPr lang="en-US" dirty="0"/>
              <a:t>Gave raw MRI data to 70 teams</a:t>
            </a:r>
          </a:p>
          <a:p>
            <a:pPr lvl="1"/>
            <a:r>
              <a:rPr lang="en-US" dirty="0"/>
              <a:t>Each team tested 9 hypotheses</a:t>
            </a:r>
          </a:p>
          <a:p>
            <a:pPr lvl="1"/>
            <a:r>
              <a:rPr lang="en-US" dirty="0"/>
              <a:t>Each team bet on whether each hypothesis was correct</a:t>
            </a:r>
          </a:p>
          <a:p>
            <a:pPr lvl="1"/>
            <a:r>
              <a:rPr lang="en-US" dirty="0"/>
              <a:t>Non team members also bet</a:t>
            </a:r>
          </a:p>
          <a:p>
            <a:r>
              <a:rPr lang="en-US" dirty="0"/>
              <a:t>Each team used a different pipeline</a:t>
            </a:r>
          </a:p>
          <a:p>
            <a:r>
              <a:rPr lang="en-US" dirty="0"/>
              <a:t>For most hypotheses</a:t>
            </a:r>
          </a:p>
          <a:p>
            <a:pPr lvl="1"/>
            <a:r>
              <a:rPr lang="en-US" dirty="0"/>
              <a:t>Disagreement on significance</a:t>
            </a:r>
          </a:p>
          <a:p>
            <a:r>
              <a:rPr lang="en-US" dirty="0"/>
              <a:t>For all researchers </a:t>
            </a:r>
          </a:p>
          <a:p>
            <a:pPr lvl="1"/>
            <a:r>
              <a:rPr lang="en-US" dirty="0"/>
              <a:t>Overly optimistic about results</a:t>
            </a:r>
            <a:endParaRPr lang="en-IL" dirty="0"/>
          </a:p>
        </p:txBody>
      </p:sp>
      <p:pic>
        <p:nvPicPr>
          <p:cNvPr id="6" name="Picture 5">
            <a:extLst>
              <a:ext uri="{FF2B5EF4-FFF2-40B4-BE49-F238E27FC236}">
                <a16:creationId xmlns:a16="http://schemas.microsoft.com/office/drawing/2014/main" id="{338D0F61-E346-C736-83D7-F4D11DCDFAB4}"/>
              </a:ext>
            </a:extLst>
          </p:cNvPr>
          <p:cNvPicPr>
            <a:picLocks noChangeAspect="1"/>
          </p:cNvPicPr>
          <p:nvPr/>
        </p:nvPicPr>
        <p:blipFill>
          <a:blip r:embed="rId2"/>
          <a:stretch>
            <a:fillRect/>
          </a:stretch>
        </p:blipFill>
        <p:spPr>
          <a:xfrm>
            <a:off x="6558984" y="2105891"/>
            <a:ext cx="4858801" cy="4386984"/>
          </a:xfrm>
          <a:prstGeom prst="rect">
            <a:avLst/>
          </a:prstGeom>
        </p:spPr>
      </p:pic>
      <p:sp>
        <p:nvSpPr>
          <p:cNvPr id="7" name="TextBox 9">
            <a:extLst>
              <a:ext uri="{FF2B5EF4-FFF2-40B4-BE49-F238E27FC236}">
                <a16:creationId xmlns:a16="http://schemas.microsoft.com/office/drawing/2014/main" id="{279B98C9-1EBF-85CB-1286-FF7EE944CB02}"/>
              </a:ext>
            </a:extLst>
          </p:cNvPr>
          <p:cNvSpPr txBox="1"/>
          <p:nvPr/>
        </p:nvSpPr>
        <p:spPr bwMode="auto">
          <a:xfrm>
            <a:off x="5764691" y="180459"/>
            <a:ext cx="6239209" cy="369332"/>
          </a:xfrm>
          <a:prstGeom prst="rect">
            <a:avLst/>
          </a:prstGeom>
          <a:noFill/>
        </p:spPr>
        <p:txBody>
          <a:bodyPr wrap="none" rtlCol="0">
            <a:spAutoFit/>
          </a:bodyPr>
          <a:lstStyle/>
          <a:p>
            <a:pPr lvl="0">
              <a:defRPr/>
            </a:pPr>
            <a:r>
              <a:rPr lang="en-US" kern="0" dirty="0" err="1">
                <a:solidFill>
                  <a:srgbClr val="0F9ED5"/>
                </a:solidFill>
              </a:rPr>
              <a:t>Botvinik</a:t>
            </a:r>
            <a:r>
              <a:rPr lang="en-US" kern="0" dirty="0">
                <a:solidFill>
                  <a:srgbClr val="0F9ED5"/>
                </a:solidFill>
              </a:rPr>
              <a:t>-Nezer</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Nature </a:t>
            </a:r>
            <a:r>
              <a:rPr kumimoji="0" lang="en-US" sz="1800" b="0" i="0" u="none" strike="noStrike" kern="0" cap="none" spc="0" normalizeH="0" baseline="0" noProof="0" dirty="0">
                <a:ln>
                  <a:noFill/>
                </a:ln>
                <a:solidFill>
                  <a:srgbClr val="0F9ED5"/>
                </a:solidFill>
                <a:effectLst/>
                <a:uLnTx/>
                <a:uFillTx/>
                <a:latin typeface="Aptos"/>
                <a:cs typeface="Arial"/>
              </a:rPr>
              <a:t>2020,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10.1038/s41586-020-2314-9</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556349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0D4B5-A80E-07F9-4F77-CF61A7EF9356}"/>
              </a:ext>
            </a:extLst>
          </p:cNvPr>
          <p:cNvSpPr>
            <a:spLocks noGrp="1"/>
          </p:cNvSpPr>
          <p:nvPr>
            <p:ph type="title"/>
          </p:nvPr>
        </p:nvSpPr>
        <p:spPr/>
        <p:txBody>
          <a:bodyPr/>
          <a:lstStyle/>
          <a:p>
            <a:r>
              <a:rPr lang="en-US" dirty="0"/>
              <a:t>In traditional reporting all the unused paths are invisible</a:t>
            </a:r>
            <a:endParaRPr lang="en-IL" dirty="0"/>
          </a:p>
        </p:txBody>
      </p:sp>
      <p:pic>
        <p:nvPicPr>
          <p:cNvPr id="5" name="Content Placeholder 4">
            <a:extLst>
              <a:ext uri="{FF2B5EF4-FFF2-40B4-BE49-F238E27FC236}">
                <a16:creationId xmlns:a16="http://schemas.microsoft.com/office/drawing/2014/main" id="{F533E16C-E043-9D39-B5B9-0C6A54FC6E21}"/>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bwMode="auto">
          <a:xfrm>
            <a:off x="2228850" y="2062956"/>
            <a:ext cx="7734300" cy="3876675"/>
          </a:xfrm>
          <a:prstGeom prst="rect">
            <a:avLst/>
          </a:prstGeom>
        </p:spPr>
      </p:pic>
    </p:spTree>
    <p:extLst>
      <p:ext uri="{BB962C8B-B14F-4D97-AF65-F5344CB8AC3E}">
        <p14:creationId xmlns:p14="http://schemas.microsoft.com/office/powerpoint/2010/main" val="1431123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AF77-FDE0-A1AA-4BBF-EB98B174FDD9}"/>
              </a:ext>
            </a:extLst>
          </p:cNvPr>
          <p:cNvSpPr>
            <a:spLocks noGrp="1"/>
          </p:cNvSpPr>
          <p:nvPr>
            <p:ph type="title"/>
          </p:nvPr>
        </p:nvSpPr>
        <p:spPr>
          <a:xfrm>
            <a:off x="838200" y="365126"/>
            <a:ext cx="10515600" cy="724766"/>
          </a:xfrm>
        </p:spPr>
        <p:txBody>
          <a:bodyPr>
            <a:normAutofit/>
          </a:bodyPr>
          <a:lstStyle/>
          <a:p>
            <a:r>
              <a:rPr lang="en-US" sz="3600" dirty="0"/>
              <a:t>Specification curves can make forking paths visible</a:t>
            </a:r>
            <a:endParaRPr lang="en-IL" sz="3600" dirty="0"/>
          </a:p>
        </p:txBody>
      </p:sp>
      <p:sp>
        <p:nvSpPr>
          <p:cNvPr id="3" name="Content Placeholder 2">
            <a:extLst>
              <a:ext uri="{FF2B5EF4-FFF2-40B4-BE49-F238E27FC236}">
                <a16:creationId xmlns:a16="http://schemas.microsoft.com/office/drawing/2014/main" id="{8B9AF0A2-9CEF-F103-42CE-FDC65C982496}"/>
              </a:ext>
            </a:extLst>
          </p:cNvPr>
          <p:cNvSpPr>
            <a:spLocks noGrp="1"/>
          </p:cNvSpPr>
          <p:nvPr>
            <p:ph idx="1"/>
          </p:nvPr>
        </p:nvSpPr>
        <p:spPr>
          <a:xfrm>
            <a:off x="838200" y="988291"/>
            <a:ext cx="11095182" cy="944130"/>
          </a:xfrm>
        </p:spPr>
        <p:txBody>
          <a:bodyPr>
            <a:normAutofit lnSpcReduction="10000"/>
          </a:bodyPr>
          <a:lstStyle/>
          <a:p>
            <a:r>
              <a:rPr lang="en-US" dirty="0"/>
              <a:t>Also called a multiverse analysis</a:t>
            </a:r>
          </a:p>
          <a:p>
            <a:r>
              <a:rPr lang="en-US" dirty="0"/>
              <a:t>Try all combinations and explore mean and variability</a:t>
            </a:r>
            <a:endParaRPr lang="en-IL" dirty="0"/>
          </a:p>
        </p:txBody>
      </p:sp>
      <p:pic>
        <p:nvPicPr>
          <p:cNvPr id="4" name="Picture 3">
            <a:extLst>
              <a:ext uri="{FF2B5EF4-FFF2-40B4-BE49-F238E27FC236}">
                <a16:creationId xmlns:a16="http://schemas.microsoft.com/office/drawing/2014/main" id="{3617CDAA-02EB-B652-E40D-97440638D009}"/>
              </a:ext>
            </a:extLst>
          </p:cNvPr>
          <p:cNvPicPr>
            <a:picLocks noChangeAspect="1"/>
          </p:cNvPicPr>
          <p:nvPr/>
        </p:nvPicPr>
        <p:blipFill>
          <a:blip r:embed="rId2"/>
          <a:stretch>
            <a:fillRect/>
          </a:stretch>
        </p:blipFill>
        <p:spPr>
          <a:xfrm>
            <a:off x="1739202" y="1932421"/>
            <a:ext cx="8005161" cy="4771866"/>
          </a:xfrm>
          <a:prstGeom prst="rect">
            <a:avLst/>
          </a:prstGeom>
        </p:spPr>
      </p:pic>
      <p:sp>
        <p:nvSpPr>
          <p:cNvPr id="5" name="TextBox 9">
            <a:extLst>
              <a:ext uri="{FF2B5EF4-FFF2-40B4-BE49-F238E27FC236}">
                <a16:creationId xmlns:a16="http://schemas.microsoft.com/office/drawing/2014/main" id="{D6F15348-EFF4-CFC1-F977-DFE3C6BA9E66}"/>
              </a:ext>
            </a:extLst>
          </p:cNvPr>
          <p:cNvSpPr txBox="1"/>
          <p:nvPr/>
        </p:nvSpPr>
        <p:spPr bwMode="auto">
          <a:xfrm>
            <a:off x="4570469" y="120073"/>
            <a:ext cx="7362913" cy="369332"/>
          </a:xfrm>
          <a:prstGeom prst="rect">
            <a:avLst/>
          </a:prstGeom>
          <a:noFill/>
        </p:spPr>
        <p:txBody>
          <a:bodyPr wrap="none" rtlCol="0">
            <a:spAutoFit/>
          </a:bodyPr>
          <a:lstStyle/>
          <a:p>
            <a:pPr lvl="0">
              <a:defRPr/>
            </a:pPr>
            <a:r>
              <a:rPr lang="en-US" kern="0" dirty="0" err="1">
                <a:solidFill>
                  <a:srgbClr val="0F9ED5"/>
                </a:solidFill>
              </a:rPr>
              <a:t>Simonsohn</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Nature Hum Behavior </a:t>
            </a:r>
            <a:r>
              <a:rPr kumimoji="0" lang="en-US" sz="1800" b="0" i="0" u="none" strike="noStrike" kern="0" cap="none" spc="0" normalizeH="0" baseline="0" noProof="0" dirty="0">
                <a:ln>
                  <a:noFill/>
                </a:ln>
                <a:solidFill>
                  <a:srgbClr val="0F9ED5"/>
                </a:solidFill>
                <a:effectLst/>
                <a:uLnTx/>
                <a:uFillTx/>
                <a:latin typeface="Aptos"/>
                <a:cs typeface="Arial"/>
              </a:rPr>
              <a:t>2020,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10.1038/s41562-020-0912-z</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4090235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BEF24973-8D79-EBC3-4704-99546FD93141}"/>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9A334E4A-594F-76E8-1938-26E81FEC4178}"/>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12.6 Questionable Research Practices</a:t>
            </a:r>
            <a:endParaRPr dirty="0"/>
          </a:p>
        </p:txBody>
      </p:sp>
      <p:sp>
        <p:nvSpPr>
          <p:cNvPr id="1591332286" name="Text Placeholder 2">
            <a:extLst>
              <a:ext uri="{FF2B5EF4-FFF2-40B4-BE49-F238E27FC236}">
                <a16:creationId xmlns:a16="http://schemas.microsoft.com/office/drawing/2014/main" id="{52FCEE17-F65F-C5E0-7634-124EFD79C971}"/>
              </a:ext>
            </a:extLst>
          </p:cNvPr>
          <p:cNvSpPr>
            <a:spLocks noGrp="1"/>
          </p:cNvSpPr>
          <p:nvPr>
            <p:ph type="body" idx="1"/>
          </p:nvPr>
        </p:nvSpPr>
        <p:spPr bwMode="auto">
          <a:xfrm>
            <a:off x="962890" y="2135908"/>
            <a:ext cx="10040663" cy="855439"/>
          </a:xfrm>
        </p:spPr>
        <p:txBody>
          <a:bodyPr wrap="none" anchor="t">
            <a:normAutofit/>
          </a:bodyPr>
          <a:lstStyle/>
          <a:p>
            <a:pPr algn="l">
              <a:defRPr sz="3000">
                <a:solidFill>
                  <a:srgbClr val="888888"/>
                </a:solidFill>
                <a:latin typeface="Arial"/>
                <a:cs typeface="Arial"/>
              </a:defRPr>
            </a:pPr>
            <a:r>
              <a:rPr lang="en-US" dirty="0"/>
              <a:t>There are so many ways of doing things wrong</a:t>
            </a:r>
            <a:endParaRPr dirty="0"/>
          </a:p>
        </p:txBody>
      </p:sp>
    </p:spTree>
    <p:extLst>
      <p:ext uri="{BB962C8B-B14F-4D97-AF65-F5344CB8AC3E}">
        <p14:creationId xmlns:p14="http://schemas.microsoft.com/office/powerpoint/2010/main" val="475710529"/>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C6FB6-040A-6AB9-02D9-26DFE61AC933}"/>
              </a:ext>
            </a:extLst>
          </p:cNvPr>
          <p:cNvSpPr>
            <a:spLocks noGrp="1"/>
          </p:cNvSpPr>
          <p:nvPr>
            <p:ph type="title"/>
          </p:nvPr>
        </p:nvSpPr>
        <p:spPr/>
        <p:txBody>
          <a:bodyPr>
            <a:normAutofit/>
          </a:bodyPr>
          <a:lstStyle/>
          <a:p>
            <a:r>
              <a:rPr lang="en-US" dirty="0"/>
              <a:t>Bad research can be unintentional</a:t>
            </a:r>
            <a:endParaRPr lang="he-IL" dirty="0"/>
          </a:p>
        </p:txBody>
      </p:sp>
      <p:sp>
        <p:nvSpPr>
          <p:cNvPr id="3" name="Content Placeholder 2">
            <a:extLst>
              <a:ext uri="{FF2B5EF4-FFF2-40B4-BE49-F238E27FC236}">
                <a16:creationId xmlns:a16="http://schemas.microsoft.com/office/drawing/2014/main" id="{F87913CD-7520-1E61-B7FD-98606E6AFE56}"/>
              </a:ext>
            </a:extLst>
          </p:cNvPr>
          <p:cNvSpPr>
            <a:spLocks noGrp="1"/>
          </p:cNvSpPr>
          <p:nvPr>
            <p:ph idx="1"/>
          </p:nvPr>
        </p:nvSpPr>
        <p:spPr/>
        <p:txBody>
          <a:bodyPr/>
          <a:lstStyle/>
          <a:p>
            <a:endParaRPr lang="he-IL"/>
          </a:p>
        </p:txBody>
      </p:sp>
      <p:pic>
        <p:nvPicPr>
          <p:cNvPr id="2050" name="Picture 2" descr="Questionable Research Practices range from errors, misunderstandings, sloppiness, incompetence, through to falsification, fabrication, and criminality. The former are often due to mistakes and time pressure, the latter are more often deliberate and due to financial pressure. Credit Kolstoe, S. E. 2023.">
            <a:extLst>
              <a:ext uri="{FF2B5EF4-FFF2-40B4-BE49-F238E27FC236}">
                <a16:creationId xmlns:a16="http://schemas.microsoft.com/office/drawing/2014/main" id="{8E6BCAC6-D178-A5C8-3266-D8B093A5DF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516" y="1820862"/>
            <a:ext cx="7620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1619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F80693-0888-2BAF-2232-6E92525C3189}"/>
              </a:ext>
            </a:extLst>
          </p:cNvPr>
          <p:cNvSpPr>
            <a:spLocks noGrp="1"/>
          </p:cNvSpPr>
          <p:nvPr>
            <p:ph type="title"/>
          </p:nvPr>
        </p:nvSpPr>
        <p:spPr/>
        <p:txBody>
          <a:bodyPr/>
          <a:lstStyle/>
          <a:p>
            <a:r>
              <a:rPr lang="en-US" dirty="0"/>
              <a:t>Central scientific values</a:t>
            </a:r>
            <a:endParaRPr lang="en-IL" dirty="0"/>
          </a:p>
        </p:txBody>
      </p:sp>
      <p:sp>
        <p:nvSpPr>
          <p:cNvPr id="5" name="Content Placeholder 4">
            <a:extLst>
              <a:ext uri="{FF2B5EF4-FFF2-40B4-BE49-F238E27FC236}">
                <a16:creationId xmlns:a16="http://schemas.microsoft.com/office/drawing/2014/main" id="{DB58490F-6D48-6A20-BFEB-49ADC8506C49}"/>
              </a:ext>
            </a:extLst>
          </p:cNvPr>
          <p:cNvSpPr>
            <a:spLocks noGrp="1"/>
          </p:cNvSpPr>
          <p:nvPr>
            <p:ph idx="1"/>
          </p:nvPr>
        </p:nvSpPr>
        <p:spPr>
          <a:xfrm>
            <a:off x="838200" y="1825625"/>
            <a:ext cx="10515600" cy="603539"/>
          </a:xfrm>
        </p:spPr>
        <p:txBody>
          <a:bodyPr/>
          <a:lstStyle/>
          <a:p>
            <a:r>
              <a:rPr lang="en-US" dirty="0"/>
              <a:t>And the questionable practices they guard against</a:t>
            </a:r>
            <a:endParaRPr lang="en-IL" dirty="0"/>
          </a:p>
        </p:txBody>
      </p:sp>
      <p:pic>
        <p:nvPicPr>
          <p:cNvPr id="9" name="Graphic 8">
            <a:extLst>
              <a:ext uri="{FF2B5EF4-FFF2-40B4-BE49-F238E27FC236}">
                <a16:creationId xmlns:a16="http://schemas.microsoft.com/office/drawing/2014/main" id="{55AD41D4-389D-7B82-9929-EA8F5B7CA9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05199" y="2299855"/>
            <a:ext cx="5966690" cy="1228436"/>
          </a:xfrm>
          <a:prstGeom prst="rect">
            <a:avLst/>
          </a:prstGeom>
        </p:spPr>
      </p:pic>
      <p:pic>
        <p:nvPicPr>
          <p:cNvPr id="11" name="Graphic 10">
            <a:extLst>
              <a:ext uri="{FF2B5EF4-FFF2-40B4-BE49-F238E27FC236}">
                <a16:creationId xmlns:a16="http://schemas.microsoft.com/office/drawing/2014/main" id="{BC43E302-EE24-F31D-6B9D-97F2AD5ECA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3176" y="3528291"/>
            <a:ext cx="6800271" cy="1228436"/>
          </a:xfrm>
          <a:prstGeom prst="rect">
            <a:avLst/>
          </a:prstGeom>
        </p:spPr>
      </p:pic>
      <p:pic>
        <p:nvPicPr>
          <p:cNvPr id="13" name="Graphic 12">
            <a:extLst>
              <a:ext uri="{FF2B5EF4-FFF2-40B4-BE49-F238E27FC236}">
                <a16:creationId xmlns:a16="http://schemas.microsoft.com/office/drawing/2014/main" id="{03C86EB7-8EFB-77AE-A6C2-CD1380B676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31899" y="4815969"/>
            <a:ext cx="10320447" cy="1325562"/>
          </a:xfrm>
          <a:prstGeom prst="rect">
            <a:avLst/>
          </a:prstGeom>
        </p:spPr>
      </p:pic>
      <p:sp>
        <p:nvSpPr>
          <p:cNvPr id="14" name="Rectangle 13">
            <a:extLst>
              <a:ext uri="{FF2B5EF4-FFF2-40B4-BE49-F238E27FC236}">
                <a16:creationId xmlns:a16="http://schemas.microsoft.com/office/drawing/2014/main" id="{CAC7C366-AE88-59AC-72A9-D9BF33D5C235}"/>
              </a:ext>
            </a:extLst>
          </p:cNvPr>
          <p:cNvSpPr/>
          <p:nvPr/>
        </p:nvSpPr>
        <p:spPr>
          <a:xfrm>
            <a:off x="3505199" y="2761673"/>
            <a:ext cx="5966690" cy="76661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Rectangle 14">
            <a:extLst>
              <a:ext uri="{FF2B5EF4-FFF2-40B4-BE49-F238E27FC236}">
                <a16:creationId xmlns:a16="http://schemas.microsoft.com/office/drawing/2014/main" id="{A346BEE4-C73F-37D2-AABB-9A8D7BD51364}"/>
              </a:ext>
            </a:extLst>
          </p:cNvPr>
          <p:cNvSpPr/>
          <p:nvPr/>
        </p:nvSpPr>
        <p:spPr>
          <a:xfrm>
            <a:off x="2780144" y="4013200"/>
            <a:ext cx="7278255" cy="76661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6" name="Rectangle 15">
            <a:extLst>
              <a:ext uri="{FF2B5EF4-FFF2-40B4-BE49-F238E27FC236}">
                <a16:creationId xmlns:a16="http://schemas.microsoft.com/office/drawing/2014/main" id="{2576DC47-CB62-AFDA-75A8-7D2395CA28C5}"/>
              </a:ext>
            </a:extLst>
          </p:cNvPr>
          <p:cNvSpPr/>
          <p:nvPr/>
        </p:nvSpPr>
        <p:spPr>
          <a:xfrm>
            <a:off x="1231899" y="5329381"/>
            <a:ext cx="10320447" cy="76661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18535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Questionable Research Methods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dirty="0"/>
              <a:t>Data analysis, Semester 2018-1, Lecture 6</a:t>
            </a:r>
          </a:p>
        </p:txBody>
      </p:sp>
      <p:sp>
        <p:nvSpPr>
          <p:cNvPr id="5" name="Slide Number Placeholder 4"/>
          <p:cNvSpPr>
            <a:spLocks noGrp="1"/>
          </p:cNvSpPr>
          <p:nvPr>
            <p:ph type="sldNum" sz="quarter" idx="12"/>
          </p:nvPr>
        </p:nvSpPr>
        <p:spPr/>
        <p:txBody>
          <a:bodyPr/>
          <a:lstStyle/>
          <a:p>
            <a:fld id="{767B4884-FD23-4324-BDBB-2FD6E7CB99B9}" type="slidenum">
              <a:rPr lang="he-IL" smtClean="0"/>
              <a:pPr/>
              <a:t>46</a:t>
            </a:fld>
            <a:endParaRPr lang="en-US"/>
          </a:p>
        </p:txBody>
      </p:sp>
      <p:pic>
        <p:nvPicPr>
          <p:cNvPr id="2018306" name="Picture 2" descr="http://pps.sagepub.com/content/7/6/643/F1.larg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95800" y="1032889"/>
            <a:ext cx="5968032" cy="5492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1423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7CCFD-DFB3-5722-9EC5-DEFAD00BE322}"/>
              </a:ext>
            </a:extLst>
          </p:cNvPr>
          <p:cNvSpPr>
            <a:spLocks noGrp="1"/>
          </p:cNvSpPr>
          <p:nvPr>
            <p:ph type="title"/>
          </p:nvPr>
        </p:nvSpPr>
        <p:spPr/>
        <p:txBody>
          <a:bodyPr/>
          <a:lstStyle/>
          <a:p>
            <a:r>
              <a:rPr lang="en-US" dirty="0"/>
              <a:t>How prevalent are QRPs?</a:t>
            </a:r>
            <a:endParaRPr lang="en-IL" dirty="0"/>
          </a:p>
        </p:txBody>
      </p:sp>
      <p:sp>
        <p:nvSpPr>
          <p:cNvPr id="3" name="Content Placeholder 2">
            <a:extLst>
              <a:ext uri="{FF2B5EF4-FFF2-40B4-BE49-F238E27FC236}">
                <a16:creationId xmlns:a16="http://schemas.microsoft.com/office/drawing/2014/main" id="{0E5A2A6E-8E4F-09BE-155B-B2B210809F20}"/>
              </a:ext>
            </a:extLst>
          </p:cNvPr>
          <p:cNvSpPr>
            <a:spLocks noGrp="1"/>
          </p:cNvSpPr>
          <p:nvPr>
            <p:ph idx="1"/>
          </p:nvPr>
        </p:nvSpPr>
        <p:spPr>
          <a:xfrm>
            <a:off x="838200" y="1539298"/>
            <a:ext cx="10515600" cy="705139"/>
          </a:xfrm>
        </p:spPr>
        <p:txBody>
          <a:bodyPr/>
          <a:lstStyle/>
          <a:p>
            <a:r>
              <a:rPr lang="en-US" dirty="0"/>
              <a:t>Some are much more prevalent than others</a:t>
            </a:r>
            <a:endParaRPr lang="en-IL" dirty="0"/>
          </a:p>
        </p:txBody>
      </p:sp>
      <p:pic>
        <p:nvPicPr>
          <p:cNvPr id="4" name="Picture 3">
            <a:extLst>
              <a:ext uri="{FF2B5EF4-FFF2-40B4-BE49-F238E27FC236}">
                <a16:creationId xmlns:a16="http://schemas.microsoft.com/office/drawing/2014/main" id="{3F3C69BA-65AD-62CD-DA0B-8D9412581A49}"/>
              </a:ext>
            </a:extLst>
          </p:cNvPr>
          <p:cNvPicPr>
            <a:picLocks noChangeAspect="1"/>
          </p:cNvPicPr>
          <p:nvPr/>
        </p:nvPicPr>
        <p:blipFill>
          <a:blip r:embed="rId2"/>
          <a:stretch>
            <a:fillRect/>
          </a:stretch>
        </p:blipFill>
        <p:spPr>
          <a:xfrm>
            <a:off x="2927927" y="2339125"/>
            <a:ext cx="6724074" cy="4320004"/>
          </a:xfrm>
          <a:prstGeom prst="rect">
            <a:avLst/>
          </a:prstGeom>
        </p:spPr>
      </p:pic>
      <p:sp>
        <p:nvSpPr>
          <p:cNvPr id="5" name="TextBox 9">
            <a:extLst>
              <a:ext uri="{FF2B5EF4-FFF2-40B4-BE49-F238E27FC236}">
                <a16:creationId xmlns:a16="http://schemas.microsoft.com/office/drawing/2014/main" id="{8C4C8783-1FA6-8C26-9E03-3D81C5D9A636}"/>
              </a:ext>
            </a:extLst>
          </p:cNvPr>
          <p:cNvSpPr txBox="1"/>
          <p:nvPr/>
        </p:nvSpPr>
        <p:spPr bwMode="auto">
          <a:xfrm>
            <a:off x="4570469" y="120073"/>
            <a:ext cx="6758581" cy="369332"/>
          </a:xfrm>
          <a:prstGeom prst="rect">
            <a:avLst/>
          </a:prstGeom>
          <a:noFill/>
        </p:spPr>
        <p:txBody>
          <a:bodyPr wrap="none" rtlCol="0">
            <a:spAutoFit/>
          </a:bodyPr>
          <a:lstStyle/>
          <a:p>
            <a:pPr lvl="0">
              <a:defRPr/>
            </a:pPr>
            <a:r>
              <a:rPr lang="en-US" kern="0" dirty="0">
                <a:solidFill>
                  <a:srgbClr val="0F9ED5"/>
                </a:solidFill>
              </a:rPr>
              <a:t>John</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Psychological Science </a:t>
            </a:r>
            <a:r>
              <a:rPr kumimoji="0" lang="en-US" sz="1800" b="0" i="0" u="none" strike="noStrike" kern="0" cap="none" spc="0" normalizeH="0" baseline="0" noProof="0" dirty="0">
                <a:ln>
                  <a:noFill/>
                </a:ln>
                <a:solidFill>
                  <a:srgbClr val="0F9ED5"/>
                </a:solidFill>
                <a:effectLst/>
                <a:uLnTx/>
                <a:uFillTx/>
                <a:latin typeface="Aptos"/>
                <a:cs typeface="Arial"/>
              </a:rPr>
              <a:t>2012,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10.1177/0956797611430953</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22473785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F6270-458D-48CE-831F-2B0739DF9C4C}"/>
              </a:ext>
            </a:extLst>
          </p:cNvPr>
          <p:cNvSpPr>
            <a:spLocks noGrp="1"/>
          </p:cNvSpPr>
          <p:nvPr>
            <p:ph type="title"/>
          </p:nvPr>
        </p:nvSpPr>
        <p:spPr>
          <a:xfrm>
            <a:off x="323273" y="365125"/>
            <a:ext cx="11030527" cy="1325563"/>
          </a:xfrm>
        </p:spPr>
        <p:txBody>
          <a:bodyPr/>
          <a:lstStyle/>
          <a:p>
            <a:r>
              <a:rPr lang="en-US" dirty="0"/>
              <a:t>p-hacking is one of the most problematic QRPs</a:t>
            </a:r>
            <a:endParaRPr lang="en-IL" dirty="0"/>
          </a:p>
        </p:txBody>
      </p:sp>
      <p:sp>
        <p:nvSpPr>
          <p:cNvPr id="3" name="Content Placeholder 2">
            <a:extLst>
              <a:ext uri="{FF2B5EF4-FFF2-40B4-BE49-F238E27FC236}">
                <a16:creationId xmlns:a16="http://schemas.microsoft.com/office/drawing/2014/main" id="{F943D3E4-4BED-DE06-D26A-C77A7BB090B4}"/>
              </a:ext>
            </a:extLst>
          </p:cNvPr>
          <p:cNvSpPr>
            <a:spLocks noGrp="1"/>
          </p:cNvSpPr>
          <p:nvPr>
            <p:ph idx="1"/>
          </p:nvPr>
        </p:nvSpPr>
        <p:spPr>
          <a:xfrm>
            <a:off x="323273" y="3833091"/>
            <a:ext cx="10515600" cy="2261178"/>
          </a:xfrm>
        </p:spPr>
        <p:txBody>
          <a:bodyPr/>
          <a:lstStyle/>
          <a:p>
            <a:r>
              <a:rPr lang="en-US" dirty="0"/>
              <a:t>Problematic because:</a:t>
            </a:r>
          </a:p>
          <a:p>
            <a:pPr lvl="1"/>
            <a:r>
              <a:rPr lang="en-US" dirty="0"/>
              <a:t>Widespread</a:t>
            </a:r>
          </a:p>
          <a:p>
            <a:pPr lvl="1"/>
            <a:r>
              <a:rPr lang="en-US" dirty="0"/>
              <a:t>Hard to catch</a:t>
            </a:r>
          </a:p>
          <a:p>
            <a:pPr lvl="1"/>
            <a:r>
              <a:rPr lang="en-US" dirty="0"/>
              <a:t>Easy to do</a:t>
            </a:r>
          </a:p>
          <a:p>
            <a:pPr lvl="1"/>
            <a:r>
              <a:rPr lang="en-US" dirty="0"/>
              <a:t>The damage is under-appreciated</a:t>
            </a:r>
          </a:p>
          <a:p>
            <a:pPr lvl="1"/>
            <a:endParaRPr lang="en-IL" dirty="0"/>
          </a:p>
        </p:txBody>
      </p:sp>
      <p:pic>
        <p:nvPicPr>
          <p:cNvPr id="7" name="Graphic 6">
            <a:extLst>
              <a:ext uri="{FF2B5EF4-FFF2-40B4-BE49-F238E27FC236}">
                <a16:creationId xmlns:a16="http://schemas.microsoft.com/office/drawing/2014/main" id="{2C2E2A74-6157-5E75-44E9-F593398648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3273" y="2190233"/>
            <a:ext cx="11822546" cy="664900"/>
          </a:xfrm>
          <a:prstGeom prst="rect">
            <a:avLst/>
          </a:prstGeom>
        </p:spPr>
      </p:pic>
    </p:spTree>
    <p:extLst>
      <p:ext uri="{BB962C8B-B14F-4D97-AF65-F5344CB8AC3E}">
        <p14:creationId xmlns:p14="http://schemas.microsoft.com/office/powerpoint/2010/main" val="841528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ED62-2EDF-5C05-6474-2F52496D7FEA}"/>
              </a:ext>
            </a:extLst>
          </p:cNvPr>
          <p:cNvSpPr>
            <a:spLocks noGrp="1"/>
          </p:cNvSpPr>
          <p:nvPr>
            <p:ph type="title"/>
          </p:nvPr>
        </p:nvSpPr>
        <p:spPr/>
        <p:txBody>
          <a:bodyPr/>
          <a:lstStyle/>
          <a:p>
            <a:r>
              <a:rPr lang="en-US" dirty="0"/>
              <a:t>Simulation of p-hacking and significance</a:t>
            </a:r>
            <a:endParaRPr lang="en-IL" dirty="0"/>
          </a:p>
        </p:txBody>
      </p:sp>
      <p:sp>
        <p:nvSpPr>
          <p:cNvPr id="3" name="Content Placeholder 2">
            <a:extLst>
              <a:ext uri="{FF2B5EF4-FFF2-40B4-BE49-F238E27FC236}">
                <a16:creationId xmlns:a16="http://schemas.microsoft.com/office/drawing/2014/main" id="{5EBA73C1-0F51-B81D-918A-5993462D3ADE}"/>
              </a:ext>
            </a:extLst>
          </p:cNvPr>
          <p:cNvSpPr>
            <a:spLocks noGrp="1"/>
          </p:cNvSpPr>
          <p:nvPr>
            <p:ph idx="1"/>
          </p:nvPr>
        </p:nvSpPr>
        <p:spPr>
          <a:xfrm>
            <a:off x="838200" y="4498109"/>
            <a:ext cx="10515600" cy="1678854"/>
          </a:xfrm>
        </p:spPr>
        <p:txBody>
          <a:bodyPr/>
          <a:lstStyle/>
          <a:p>
            <a:endParaRPr lang="en-IL"/>
          </a:p>
        </p:txBody>
      </p:sp>
      <p:pic>
        <p:nvPicPr>
          <p:cNvPr id="4" name="Picture 3">
            <a:extLst>
              <a:ext uri="{FF2B5EF4-FFF2-40B4-BE49-F238E27FC236}">
                <a16:creationId xmlns:a16="http://schemas.microsoft.com/office/drawing/2014/main" id="{3B690145-7E27-070B-20DD-4AF56B272C25}"/>
              </a:ext>
            </a:extLst>
          </p:cNvPr>
          <p:cNvPicPr>
            <a:picLocks noChangeAspect="1"/>
          </p:cNvPicPr>
          <p:nvPr/>
        </p:nvPicPr>
        <p:blipFill>
          <a:blip r:embed="rId2"/>
          <a:stretch>
            <a:fillRect/>
          </a:stretch>
        </p:blipFill>
        <p:spPr>
          <a:xfrm>
            <a:off x="2024156" y="1776664"/>
            <a:ext cx="9013612" cy="4836572"/>
          </a:xfrm>
          <a:prstGeom prst="rect">
            <a:avLst/>
          </a:prstGeom>
        </p:spPr>
      </p:pic>
      <p:sp>
        <p:nvSpPr>
          <p:cNvPr id="5" name="TextBox 9">
            <a:extLst>
              <a:ext uri="{FF2B5EF4-FFF2-40B4-BE49-F238E27FC236}">
                <a16:creationId xmlns:a16="http://schemas.microsoft.com/office/drawing/2014/main" id="{B04C915E-3F5E-DFBD-6598-F8F60B52B157}"/>
              </a:ext>
            </a:extLst>
          </p:cNvPr>
          <p:cNvSpPr txBox="1"/>
          <p:nvPr/>
        </p:nvSpPr>
        <p:spPr bwMode="auto">
          <a:xfrm>
            <a:off x="4570469" y="120073"/>
            <a:ext cx="7225055" cy="369332"/>
          </a:xfrm>
          <a:prstGeom prst="rect">
            <a:avLst/>
          </a:prstGeom>
          <a:noFill/>
        </p:spPr>
        <p:txBody>
          <a:bodyPr wrap="none" rtlCol="0">
            <a:spAutoFit/>
          </a:bodyPr>
          <a:lstStyle/>
          <a:p>
            <a:pPr lvl="0">
              <a:defRPr/>
            </a:pPr>
            <a:r>
              <a:rPr lang="en-US" kern="0" dirty="0">
                <a:solidFill>
                  <a:srgbClr val="0F9ED5"/>
                </a:solidFill>
              </a:rPr>
              <a:t>Simmons</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Psychological Science </a:t>
            </a:r>
            <a:r>
              <a:rPr kumimoji="0" lang="en-US" sz="1800" b="0" i="0" u="none" strike="noStrike" kern="0" cap="none" spc="0" normalizeH="0" baseline="0" noProof="0" dirty="0">
                <a:ln>
                  <a:noFill/>
                </a:ln>
                <a:solidFill>
                  <a:srgbClr val="0F9ED5"/>
                </a:solidFill>
                <a:effectLst/>
                <a:uLnTx/>
                <a:uFillTx/>
                <a:latin typeface="Aptos"/>
                <a:cs typeface="Arial"/>
              </a:rPr>
              <a:t>2011, </a:t>
            </a:r>
            <a:r>
              <a:rPr lang="pt-BR" kern="0" dirty="0">
                <a:solidFill>
                  <a:srgbClr val="0F9ED5"/>
                </a:solidFill>
              </a:rPr>
              <a:t>doi:10.1177/0956797611417632</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35077710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D04B3-A6C0-3069-95A9-6D5A7DAB34F6}"/>
              </a:ext>
            </a:extLst>
          </p:cNvPr>
          <p:cNvSpPr>
            <a:spLocks noGrp="1"/>
          </p:cNvSpPr>
          <p:nvPr>
            <p:ph type="title"/>
          </p:nvPr>
        </p:nvSpPr>
        <p:spPr/>
        <p:txBody>
          <a:bodyPr/>
          <a:lstStyle/>
          <a:p>
            <a:r>
              <a:rPr lang="en-US" dirty="0"/>
              <a:t>Prevalence of p-hacking</a:t>
            </a:r>
            <a:endParaRPr lang="en-IL" dirty="0"/>
          </a:p>
        </p:txBody>
      </p:sp>
      <p:sp>
        <p:nvSpPr>
          <p:cNvPr id="3" name="Content Placeholder 2">
            <a:extLst>
              <a:ext uri="{FF2B5EF4-FFF2-40B4-BE49-F238E27FC236}">
                <a16:creationId xmlns:a16="http://schemas.microsoft.com/office/drawing/2014/main" id="{66542C2F-F8F8-1228-CF8D-7D57CE143AC5}"/>
              </a:ext>
            </a:extLst>
          </p:cNvPr>
          <p:cNvSpPr>
            <a:spLocks noGrp="1"/>
          </p:cNvSpPr>
          <p:nvPr>
            <p:ph idx="1"/>
          </p:nvPr>
        </p:nvSpPr>
        <p:spPr>
          <a:xfrm>
            <a:off x="838200" y="1825625"/>
            <a:ext cx="10515600" cy="982230"/>
          </a:xfrm>
        </p:spPr>
        <p:txBody>
          <a:bodyPr>
            <a:normAutofit lnSpcReduction="10000"/>
          </a:bodyPr>
          <a:lstStyle/>
          <a:p>
            <a:r>
              <a:rPr lang="en-US" dirty="0"/>
              <a:t>Discussed already regarding a biased literature</a:t>
            </a:r>
          </a:p>
          <a:p>
            <a:r>
              <a:rPr lang="en-US" dirty="0"/>
              <a:t>Now seen as violation of scientific values</a:t>
            </a:r>
            <a:endParaRPr lang="en-IL" dirty="0"/>
          </a:p>
        </p:txBody>
      </p:sp>
      <p:pic>
        <p:nvPicPr>
          <p:cNvPr id="4" name="Picture 3">
            <a:extLst>
              <a:ext uri="{FF2B5EF4-FFF2-40B4-BE49-F238E27FC236}">
                <a16:creationId xmlns:a16="http://schemas.microsoft.com/office/drawing/2014/main" id="{06E3BA59-0F44-07A1-7E21-DC2079C9B810}"/>
              </a:ext>
            </a:extLst>
          </p:cNvPr>
          <p:cNvPicPr>
            <a:picLocks noChangeAspect="1"/>
          </p:cNvPicPr>
          <p:nvPr/>
        </p:nvPicPr>
        <p:blipFill>
          <a:blip r:embed="rId2"/>
          <a:stretch>
            <a:fillRect/>
          </a:stretch>
        </p:blipFill>
        <p:spPr>
          <a:xfrm>
            <a:off x="5015345" y="2740031"/>
            <a:ext cx="6338455" cy="4041067"/>
          </a:xfrm>
          <a:prstGeom prst="rect">
            <a:avLst/>
          </a:prstGeom>
        </p:spPr>
      </p:pic>
      <p:sp>
        <p:nvSpPr>
          <p:cNvPr id="5" name="TextBox 9">
            <a:extLst>
              <a:ext uri="{FF2B5EF4-FFF2-40B4-BE49-F238E27FC236}">
                <a16:creationId xmlns:a16="http://schemas.microsoft.com/office/drawing/2014/main" id="{170E903F-BEB4-C9D8-4AE7-AC026691DE1F}"/>
              </a:ext>
            </a:extLst>
          </p:cNvPr>
          <p:cNvSpPr txBox="1"/>
          <p:nvPr/>
        </p:nvSpPr>
        <p:spPr bwMode="auto">
          <a:xfrm>
            <a:off x="4570469" y="120073"/>
            <a:ext cx="6135013" cy="369332"/>
          </a:xfrm>
          <a:prstGeom prst="rect">
            <a:avLst/>
          </a:prstGeom>
          <a:noFill/>
        </p:spPr>
        <p:txBody>
          <a:bodyPr wrap="none" rtlCol="0">
            <a:spAutoFit/>
          </a:bodyPr>
          <a:lstStyle/>
          <a:p>
            <a:pPr lvl="0">
              <a:defRPr/>
            </a:pPr>
            <a:r>
              <a:rPr lang="en-US" kern="0" dirty="0">
                <a:solidFill>
                  <a:srgbClr val="0F9ED5"/>
                </a:solidFill>
              </a:rPr>
              <a:t>Head</a:t>
            </a:r>
            <a:r>
              <a:rPr kumimoji="0" lang="en-US" sz="1800" b="0" i="0" u="none" strike="noStrike" kern="0" cap="none" spc="0" normalizeH="0" baseline="0" noProof="0" dirty="0">
                <a:ln>
                  <a:noFill/>
                </a:ln>
                <a:solidFill>
                  <a:srgbClr val="0F9ED5"/>
                </a:solidFill>
                <a:effectLst/>
                <a:uLnTx/>
                <a:uFillTx/>
                <a:latin typeface="Aptos"/>
                <a:cs typeface="Arial"/>
              </a:rPr>
              <a:t> </a:t>
            </a:r>
            <a:r>
              <a:rPr kumimoji="0" lang="en-US" sz="1800" b="0" i="1" u="none" strike="noStrike" kern="0" cap="none" spc="0" normalizeH="0" baseline="0" noProof="0" dirty="0">
                <a:ln>
                  <a:noFill/>
                </a:ln>
                <a:solidFill>
                  <a:srgbClr val="0F9ED5"/>
                </a:solidFill>
                <a:effectLst/>
                <a:uLnTx/>
                <a:uFillTx/>
                <a:latin typeface="Aptos"/>
                <a:cs typeface="Arial"/>
              </a:rPr>
              <a:t>PLOS Biology </a:t>
            </a:r>
            <a:r>
              <a:rPr kumimoji="0" lang="en-US" sz="1800" b="0" i="0" u="none" strike="noStrike" kern="0" cap="none" spc="0" normalizeH="0" baseline="0" noProof="0" dirty="0">
                <a:ln>
                  <a:noFill/>
                </a:ln>
                <a:solidFill>
                  <a:srgbClr val="0F9ED5"/>
                </a:solidFill>
                <a:effectLst/>
                <a:uLnTx/>
                <a:uFillTx/>
                <a:latin typeface="Aptos"/>
                <a:cs typeface="Arial"/>
              </a:rPr>
              <a:t>2015, </a:t>
            </a:r>
            <a:r>
              <a:rPr kumimoji="0" lang="pt-BR" sz="1800" b="0" i="0" u="none" strike="noStrike" kern="0" cap="none" spc="0" normalizeH="0" baseline="0" noProof="0" dirty="0">
                <a:ln>
                  <a:noFill/>
                </a:ln>
                <a:solidFill>
                  <a:srgbClr val="0F9ED5"/>
                </a:solidFill>
                <a:effectLst/>
                <a:uLnTx/>
                <a:uFillTx/>
                <a:latin typeface="Aptos"/>
                <a:cs typeface="Arial"/>
              </a:rPr>
              <a:t>doi:</a:t>
            </a:r>
            <a:r>
              <a:rPr lang="pt-BR" kern="0" dirty="0">
                <a:solidFill>
                  <a:srgbClr val="0F9ED5"/>
                </a:solidFill>
                <a:ea typeface="Aptos"/>
                <a:cs typeface="Aptos"/>
              </a:rPr>
              <a:t>10.1371/journal.pbio.1002106</a:t>
            </a:r>
            <a:endParaRPr kumimoji="0" sz="1800" b="0" i="0" u="none" strike="noStrike" kern="0" cap="none" spc="0" normalizeH="0" baseline="0" noProof="0" dirty="0">
              <a:ln>
                <a:noFill/>
              </a:ln>
              <a:solidFill>
                <a:srgbClr val="0F9ED5"/>
              </a:solidFill>
              <a:effectLst/>
              <a:uLnTx/>
              <a:uFillTx/>
              <a:latin typeface="Aptos"/>
              <a:cs typeface="Arial"/>
            </a:endParaRPr>
          </a:p>
        </p:txBody>
      </p:sp>
    </p:spTree>
    <p:extLst>
      <p:ext uri="{BB962C8B-B14F-4D97-AF65-F5344CB8AC3E}">
        <p14:creationId xmlns:p14="http://schemas.microsoft.com/office/powerpoint/2010/main" val="17005329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9B1F-3813-79AA-D70C-7FE79AE9E021}"/>
              </a:ext>
            </a:extLst>
          </p:cNvPr>
          <p:cNvSpPr>
            <a:spLocks noGrp="1"/>
          </p:cNvSpPr>
          <p:nvPr>
            <p:ph type="title"/>
          </p:nvPr>
        </p:nvSpPr>
        <p:spPr>
          <a:xfrm>
            <a:off x="120073" y="365125"/>
            <a:ext cx="11739418" cy="1325563"/>
          </a:xfrm>
        </p:spPr>
        <p:txBody>
          <a:bodyPr/>
          <a:lstStyle/>
          <a:p>
            <a:r>
              <a:rPr lang="en-US" dirty="0" err="1"/>
              <a:t>HARKing</a:t>
            </a:r>
            <a:r>
              <a:rPr lang="en-US" dirty="0"/>
              <a:t> is QRP to some but not to others </a:t>
            </a:r>
            <a:endParaRPr lang="en-IL" dirty="0"/>
          </a:p>
        </p:txBody>
      </p:sp>
      <p:sp>
        <p:nvSpPr>
          <p:cNvPr id="3" name="Content Placeholder 2">
            <a:extLst>
              <a:ext uri="{FF2B5EF4-FFF2-40B4-BE49-F238E27FC236}">
                <a16:creationId xmlns:a16="http://schemas.microsoft.com/office/drawing/2014/main" id="{EA20AF53-2964-C315-CD20-A7AE0A35E978}"/>
              </a:ext>
            </a:extLst>
          </p:cNvPr>
          <p:cNvSpPr>
            <a:spLocks noGrp="1"/>
          </p:cNvSpPr>
          <p:nvPr>
            <p:ph idx="1"/>
          </p:nvPr>
        </p:nvSpPr>
        <p:spPr/>
        <p:txBody>
          <a:bodyPr/>
          <a:lstStyle/>
          <a:p>
            <a:r>
              <a:rPr lang="en-US" dirty="0">
                <a:solidFill>
                  <a:srgbClr val="FF0000"/>
                </a:solidFill>
              </a:rPr>
              <a:t>H</a:t>
            </a:r>
            <a:r>
              <a:rPr lang="en-US" dirty="0"/>
              <a:t>ypothesizing </a:t>
            </a:r>
            <a:r>
              <a:rPr lang="en-US" dirty="0">
                <a:solidFill>
                  <a:srgbClr val="FF0000"/>
                </a:solidFill>
              </a:rPr>
              <a:t>A</a:t>
            </a:r>
            <a:r>
              <a:rPr lang="en-US" dirty="0"/>
              <a:t>fter the </a:t>
            </a:r>
            <a:r>
              <a:rPr lang="en-US" dirty="0">
                <a:solidFill>
                  <a:srgbClr val="FF0000"/>
                </a:solidFill>
              </a:rPr>
              <a:t>R</a:t>
            </a:r>
            <a:r>
              <a:rPr lang="en-US" dirty="0"/>
              <a:t>esults are </a:t>
            </a:r>
            <a:r>
              <a:rPr lang="en-US" dirty="0">
                <a:solidFill>
                  <a:srgbClr val="FF0000"/>
                </a:solidFill>
              </a:rPr>
              <a:t>K</a:t>
            </a:r>
            <a:r>
              <a:rPr lang="en-US" dirty="0"/>
              <a:t>nown</a:t>
            </a:r>
          </a:p>
          <a:p>
            <a:pPr lvl="1"/>
            <a:r>
              <a:rPr lang="en-US" dirty="0"/>
              <a:t>Maybe it is good storytelling and smart framing</a:t>
            </a:r>
          </a:p>
          <a:p>
            <a:pPr lvl="1"/>
            <a:r>
              <a:rPr lang="en-US" dirty="0"/>
              <a:t>Maybe it is trying to give your story unwarranted support</a:t>
            </a:r>
          </a:p>
          <a:p>
            <a:r>
              <a:rPr lang="en-US" dirty="0"/>
              <a:t>Storytelling is honest</a:t>
            </a:r>
          </a:p>
          <a:p>
            <a:r>
              <a:rPr lang="en-US" dirty="0"/>
              <a:t>Lying is not</a:t>
            </a:r>
            <a:endParaRPr lang="en-IL" dirty="0"/>
          </a:p>
        </p:txBody>
      </p:sp>
      <p:pic>
        <p:nvPicPr>
          <p:cNvPr id="4" name="Picture 2" descr="http://pps.sagepub.com/content/7/6/643/F1.large.jpg">
            <a:extLst>
              <a:ext uri="{FF2B5EF4-FFF2-40B4-BE49-F238E27FC236}">
                <a16:creationId xmlns:a16="http://schemas.microsoft.com/office/drawing/2014/main" id="{94A9597B-E86E-935C-9436-5DBAFC8FB00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 t="29626" r="192" b="61461"/>
          <a:stretch>
            <a:fillRect/>
          </a:stretch>
        </p:blipFill>
        <p:spPr bwMode="auto">
          <a:xfrm>
            <a:off x="1311564" y="4867564"/>
            <a:ext cx="7868336" cy="646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7485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8637941F-C30F-4A39-B36D-9ACD577459B9}"/>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D51F1B94-0BA0-2946-9657-F3B1AD398754}"/>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12.7 Exploration and Confirmation</a:t>
            </a:r>
            <a:endParaRPr dirty="0"/>
          </a:p>
        </p:txBody>
      </p:sp>
      <p:sp>
        <p:nvSpPr>
          <p:cNvPr id="1591332286" name="Text Placeholder 2">
            <a:extLst>
              <a:ext uri="{FF2B5EF4-FFF2-40B4-BE49-F238E27FC236}">
                <a16:creationId xmlns:a16="http://schemas.microsoft.com/office/drawing/2014/main" id="{A148F322-61BC-D02C-55C1-8021F9544EEF}"/>
              </a:ext>
            </a:extLst>
          </p:cNvPr>
          <p:cNvSpPr>
            <a:spLocks noGrp="1"/>
          </p:cNvSpPr>
          <p:nvPr>
            <p:ph type="body" idx="1"/>
          </p:nvPr>
        </p:nvSpPr>
        <p:spPr bwMode="auto">
          <a:xfrm>
            <a:off x="962890" y="2135908"/>
            <a:ext cx="10040663" cy="855439"/>
          </a:xfrm>
        </p:spPr>
        <p:txBody>
          <a:bodyPr wrap="none" anchor="t">
            <a:normAutofit/>
          </a:bodyPr>
          <a:lstStyle/>
          <a:p>
            <a:pPr algn="l">
              <a:defRPr sz="3000">
                <a:solidFill>
                  <a:srgbClr val="888888"/>
                </a:solidFill>
                <a:latin typeface="Arial"/>
                <a:cs typeface="Arial"/>
              </a:defRPr>
            </a:pPr>
            <a:r>
              <a:rPr lang="en-US" dirty="0"/>
              <a:t>Two extreme models of science provide a bit of clarity</a:t>
            </a:r>
            <a:endParaRPr dirty="0"/>
          </a:p>
        </p:txBody>
      </p:sp>
    </p:spTree>
    <p:extLst>
      <p:ext uri="{BB962C8B-B14F-4D97-AF65-F5344CB8AC3E}">
        <p14:creationId xmlns:p14="http://schemas.microsoft.com/office/powerpoint/2010/main" val="37241350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18B1AC-79F1-650A-E64A-9A3DBA760756}"/>
              </a:ext>
            </a:extLst>
          </p:cNvPr>
          <p:cNvSpPr>
            <a:spLocks noGrp="1"/>
          </p:cNvSpPr>
          <p:nvPr>
            <p:ph type="title"/>
          </p:nvPr>
        </p:nvSpPr>
        <p:spPr/>
        <p:txBody>
          <a:bodyPr/>
          <a:lstStyle/>
          <a:p>
            <a:r>
              <a:rPr lang="en-US" dirty="0"/>
              <a:t>Science can be categorized as </a:t>
            </a:r>
            <a:r>
              <a:rPr lang="en-US" dirty="0" err="1"/>
              <a:t>exploratoration</a:t>
            </a:r>
            <a:r>
              <a:rPr lang="en-US" dirty="0"/>
              <a:t> or confirmation</a:t>
            </a:r>
            <a:endParaRPr lang="en-IL" dirty="0"/>
          </a:p>
        </p:txBody>
      </p:sp>
      <p:sp>
        <p:nvSpPr>
          <p:cNvPr id="7" name="Content Placeholder 6">
            <a:extLst>
              <a:ext uri="{FF2B5EF4-FFF2-40B4-BE49-F238E27FC236}">
                <a16:creationId xmlns:a16="http://schemas.microsoft.com/office/drawing/2014/main" id="{9360E777-9F49-AAA4-B973-1CD821B11247}"/>
              </a:ext>
            </a:extLst>
          </p:cNvPr>
          <p:cNvSpPr>
            <a:spLocks noGrp="1"/>
          </p:cNvSpPr>
          <p:nvPr>
            <p:ph sz="half" idx="1"/>
          </p:nvPr>
        </p:nvSpPr>
        <p:spPr>
          <a:xfrm>
            <a:off x="838200" y="3980871"/>
            <a:ext cx="5181600" cy="2196091"/>
          </a:xfrm>
        </p:spPr>
        <p:txBody>
          <a:bodyPr>
            <a:normAutofit fontScale="92500"/>
          </a:bodyPr>
          <a:lstStyle/>
          <a:p>
            <a:r>
              <a:rPr lang="en-US" dirty="0"/>
              <a:t>Exploratory science</a:t>
            </a:r>
          </a:p>
          <a:p>
            <a:pPr lvl="1"/>
            <a:r>
              <a:rPr lang="en-US" dirty="0"/>
              <a:t>Don’t know what we expect to find</a:t>
            </a:r>
          </a:p>
          <a:p>
            <a:pPr lvl="1"/>
            <a:r>
              <a:rPr lang="en-US" dirty="0"/>
              <a:t>Don’t know how to do the analysis</a:t>
            </a:r>
          </a:p>
          <a:p>
            <a:pPr lvl="1"/>
            <a:r>
              <a:rPr lang="en-US" dirty="0"/>
              <a:t>Willing to make up a story afterwords</a:t>
            </a:r>
          </a:p>
        </p:txBody>
      </p:sp>
      <p:sp>
        <p:nvSpPr>
          <p:cNvPr id="8" name="Content Placeholder 7">
            <a:extLst>
              <a:ext uri="{FF2B5EF4-FFF2-40B4-BE49-F238E27FC236}">
                <a16:creationId xmlns:a16="http://schemas.microsoft.com/office/drawing/2014/main" id="{BF449DDA-6DA0-DEBC-1B9F-FA20C86536B6}"/>
              </a:ext>
            </a:extLst>
          </p:cNvPr>
          <p:cNvSpPr>
            <a:spLocks noGrp="1"/>
          </p:cNvSpPr>
          <p:nvPr>
            <p:ph sz="half" idx="2"/>
          </p:nvPr>
        </p:nvSpPr>
        <p:spPr>
          <a:xfrm>
            <a:off x="6172200" y="3980873"/>
            <a:ext cx="5181600" cy="2196090"/>
          </a:xfrm>
        </p:spPr>
        <p:txBody>
          <a:bodyPr>
            <a:normAutofit fontScale="92500"/>
          </a:bodyPr>
          <a:lstStyle/>
          <a:p>
            <a:r>
              <a:rPr lang="en-US" dirty="0"/>
              <a:t>Confirmatory science</a:t>
            </a:r>
          </a:p>
          <a:p>
            <a:pPr lvl="1"/>
            <a:r>
              <a:rPr lang="en-US" dirty="0"/>
              <a:t>Strong evidence already exists</a:t>
            </a:r>
          </a:p>
          <a:p>
            <a:pPr lvl="1"/>
            <a:r>
              <a:rPr lang="en-US" dirty="0"/>
              <a:t>Analysis well established</a:t>
            </a:r>
          </a:p>
          <a:p>
            <a:pPr lvl="1"/>
            <a:r>
              <a:rPr lang="en-US" dirty="0"/>
              <a:t>Story already public knowledge</a:t>
            </a:r>
            <a:endParaRPr lang="en-IL" dirty="0"/>
          </a:p>
          <a:p>
            <a:endParaRPr lang="en-IL" dirty="0"/>
          </a:p>
        </p:txBody>
      </p:sp>
      <p:pic>
        <p:nvPicPr>
          <p:cNvPr id="6" name="Graphic 5">
            <a:extLst>
              <a:ext uri="{FF2B5EF4-FFF2-40B4-BE49-F238E27FC236}">
                <a16:creationId xmlns:a16="http://schemas.microsoft.com/office/drawing/2014/main" id="{A8CC5A54-EA60-78F6-D895-3B7980B57F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7378" y="2385291"/>
            <a:ext cx="11557244" cy="1325562"/>
          </a:xfrm>
          <a:prstGeom prst="rect">
            <a:avLst/>
          </a:prstGeom>
        </p:spPr>
      </p:pic>
    </p:spTree>
    <p:extLst>
      <p:ext uri="{BB962C8B-B14F-4D97-AF65-F5344CB8AC3E}">
        <p14:creationId xmlns:p14="http://schemas.microsoft.com/office/powerpoint/2010/main" val="2747903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5DD44-E79E-27C7-282F-55C8C86475D7}"/>
              </a:ext>
            </a:extLst>
          </p:cNvPr>
          <p:cNvSpPr>
            <a:spLocks noGrp="1"/>
          </p:cNvSpPr>
          <p:nvPr>
            <p:ph type="title"/>
          </p:nvPr>
        </p:nvSpPr>
        <p:spPr/>
        <p:txBody>
          <a:bodyPr/>
          <a:lstStyle/>
          <a:p>
            <a:r>
              <a:rPr lang="en-US" dirty="0"/>
              <a:t>Exploration, confirmation and harking</a:t>
            </a:r>
            <a:endParaRPr lang="en-IL" dirty="0"/>
          </a:p>
        </p:txBody>
      </p:sp>
      <p:pic>
        <p:nvPicPr>
          <p:cNvPr id="4" name="Graphic 3">
            <a:extLst>
              <a:ext uri="{FF2B5EF4-FFF2-40B4-BE49-F238E27FC236}">
                <a16:creationId xmlns:a16="http://schemas.microsoft.com/office/drawing/2014/main" id="{AFCA30F9-0F9B-73C0-56B3-06708C69588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146298" y="2246185"/>
            <a:ext cx="5295900" cy="3590925"/>
          </a:xfrm>
          <a:prstGeom prst="rect">
            <a:avLst/>
          </a:prstGeom>
        </p:spPr>
      </p:pic>
    </p:spTree>
    <p:extLst>
      <p:ext uri="{BB962C8B-B14F-4D97-AF65-F5344CB8AC3E}">
        <p14:creationId xmlns:p14="http://schemas.microsoft.com/office/powerpoint/2010/main" val="1830703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Pre-registration may reduce forking paths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a:defRPr/>
            </a:pPr>
            <a:r>
              <a:rPr lang="en-US"/>
              <a:t>Data analysis, 2020-2</a:t>
            </a:r>
            <a:endParaRPr lang="en-US" dirty="0"/>
          </a:p>
        </p:txBody>
      </p:sp>
      <p:sp>
        <p:nvSpPr>
          <p:cNvPr id="5" name="Slide Number Placeholder 4"/>
          <p:cNvSpPr>
            <a:spLocks noGrp="1"/>
          </p:cNvSpPr>
          <p:nvPr>
            <p:ph type="sldNum" sz="quarter" idx="12"/>
          </p:nvPr>
        </p:nvSpPr>
        <p:spPr/>
        <p:txBody>
          <a:bodyPr/>
          <a:lstStyle/>
          <a:p>
            <a:pPr>
              <a:defRPr/>
            </a:pPr>
            <a:fld id="{3469EAC8-EFAD-49DA-A425-6225312A328A}" type="slidenum">
              <a:rPr lang="he-IL" altLang="en-US" smtClean="0"/>
              <a:pPr>
                <a:defRPr/>
              </a:pPr>
              <a:t>55</a:t>
            </a:fld>
            <a:r>
              <a:rPr lang="en-US" altLang="en-US"/>
              <a:t> /  72</a:t>
            </a:r>
          </a:p>
        </p:txBody>
      </p:sp>
      <p:pic>
        <p:nvPicPr>
          <p:cNvPr id="6" name="Picture 5"/>
          <p:cNvPicPr>
            <a:picLocks noChangeAspect="1"/>
          </p:cNvPicPr>
          <p:nvPr/>
        </p:nvPicPr>
        <p:blipFill>
          <a:blip r:embed="rId2"/>
          <a:stretch>
            <a:fillRect/>
          </a:stretch>
        </p:blipFill>
        <p:spPr>
          <a:xfrm>
            <a:off x="1691004" y="1720755"/>
            <a:ext cx="8519797" cy="4191190"/>
          </a:xfrm>
          <a:prstGeom prst="rect">
            <a:avLst/>
          </a:prstGeom>
        </p:spPr>
      </p:pic>
    </p:spTree>
    <p:extLst>
      <p:ext uri="{BB962C8B-B14F-4D97-AF65-F5344CB8AC3E}">
        <p14:creationId xmlns:p14="http://schemas.microsoft.com/office/powerpoint/2010/main" val="17532978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Preregistration is a way of creating a timestamp </a:t>
            </a:r>
          </a:p>
        </p:txBody>
      </p:sp>
      <p:sp>
        <p:nvSpPr>
          <p:cNvPr id="3" name="Content Placeholder 2"/>
          <p:cNvSpPr>
            <a:spLocks noGrp="1"/>
          </p:cNvSpPr>
          <p:nvPr>
            <p:ph idx="1"/>
          </p:nvPr>
        </p:nvSpPr>
        <p:spPr/>
        <p:txBody>
          <a:bodyPr/>
          <a:lstStyle/>
          <a:p>
            <a:r>
              <a:rPr lang="en-US" dirty="0"/>
              <a:t>Stage 1 review</a:t>
            </a:r>
          </a:p>
          <a:p>
            <a:pPr lvl="1"/>
            <a:r>
              <a:rPr lang="en-US" dirty="0"/>
              <a:t>Review science without knowing results</a:t>
            </a:r>
          </a:p>
          <a:p>
            <a:r>
              <a:rPr lang="en-US" dirty="0"/>
              <a:t>Stage 2 review</a:t>
            </a:r>
          </a:p>
          <a:p>
            <a:pPr lvl="1"/>
            <a:r>
              <a:rPr lang="en-US" dirty="0"/>
              <a:t>Check that methods have </a:t>
            </a:r>
            <a:r>
              <a:rPr lang="en-US"/>
              <a:t>been followed</a:t>
            </a:r>
            <a:endParaRPr lang="en-US" dirty="0"/>
          </a:p>
        </p:txBody>
      </p:sp>
      <p:sp>
        <p:nvSpPr>
          <p:cNvPr id="4" name="Footer Placeholder 3"/>
          <p:cNvSpPr>
            <a:spLocks noGrp="1"/>
          </p:cNvSpPr>
          <p:nvPr>
            <p:ph type="ftr" sz="quarter" idx="11"/>
          </p:nvPr>
        </p:nvSpPr>
        <p:spPr/>
        <p:txBody>
          <a:bodyPr/>
          <a:lstStyle/>
          <a:p>
            <a:r>
              <a:rPr lang="en-US"/>
              <a:t>Data analysis, 2020-2, Lecture 10</a:t>
            </a:r>
            <a:endParaRPr lang="en-US" dirty="0"/>
          </a:p>
        </p:txBody>
      </p:sp>
      <p:sp>
        <p:nvSpPr>
          <p:cNvPr id="5" name="Slide Number Placeholder 4"/>
          <p:cNvSpPr>
            <a:spLocks noGrp="1"/>
          </p:cNvSpPr>
          <p:nvPr>
            <p:ph type="sldNum" sz="quarter" idx="12"/>
          </p:nvPr>
        </p:nvSpPr>
        <p:spPr/>
        <p:txBody>
          <a:bodyPr/>
          <a:lstStyle/>
          <a:p>
            <a:fld id="{B4F1B7A0-8675-4194-8AB0-C4261F8204C1}" type="slidenum">
              <a:rPr lang="he-IL" smtClean="0"/>
              <a:pPr/>
              <a:t>56</a:t>
            </a:fld>
            <a:r>
              <a:rPr lang="en-US"/>
              <a:t>/ 86</a:t>
            </a:r>
            <a:endParaRPr lang="en-US" dirty="0"/>
          </a:p>
        </p:txBody>
      </p:sp>
      <p:pic>
        <p:nvPicPr>
          <p:cNvPr id="6" name="Picture 5"/>
          <p:cNvPicPr>
            <a:picLocks noChangeAspect="1"/>
          </p:cNvPicPr>
          <p:nvPr/>
        </p:nvPicPr>
        <p:blipFill>
          <a:blip r:embed="rId2"/>
          <a:stretch>
            <a:fillRect/>
          </a:stretch>
        </p:blipFill>
        <p:spPr>
          <a:xfrm>
            <a:off x="1827662" y="3719170"/>
            <a:ext cx="8154538" cy="2457793"/>
          </a:xfrm>
          <a:prstGeom prst="rect">
            <a:avLst/>
          </a:prstGeom>
        </p:spPr>
      </p:pic>
    </p:spTree>
    <p:extLst>
      <p:ext uri="{BB962C8B-B14F-4D97-AF65-F5344CB8AC3E}">
        <p14:creationId xmlns:p14="http://schemas.microsoft.com/office/powerpoint/2010/main" val="27383270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0540-BABC-FCB7-A4D8-1456523D1E50}"/>
              </a:ext>
            </a:extLst>
          </p:cNvPr>
          <p:cNvSpPr>
            <a:spLocks noGrp="1"/>
          </p:cNvSpPr>
          <p:nvPr>
            <p:ph type="title"/>
          </p:nvPr>
        </p:nvSpPr>
        <p:spPr/>
        <p:txBody>
          <a:bodyPr/>
          <a:lstStyle/>
          <a:p>
            <a:r>
              <a:rPr lang="en-US" dirty="0"/>
              <a:t>Deviations are common in pre-registered reports</a:t>
            </a:r>
            <a:endParaRPr lang="en-IL" dirty="0"/>
          </a:p>
        </p:txBody>
      </p:sp>
      <p:sp>
        <p:nvSpPr>
          <p:cNvPr id="3" name="Content Placeholder 2">
            <a:extLst>
              <a:ext uri="{FF2B5EF4-FFF2-40B4-BE49-F238E27FC236}">
                <a16:creationId xmlns:a16="http://schemas.microsoft.com/office/drawing/2014/main" id="{99D88E1D-DA18-37B9-3221-EC2037E42B29}"/>
              </a:ext>
            </a:extLst>
          </p:cNvPr>
          <p:cNvSpPr>
            <a:spLocks noGrp="1"/>
          </p:cNvSpPr>
          <p:nvPr>
            <p:ph idx="1"/>
          </p:nvPr>
        </p:nvSpPr>
        <p:spPr>
          <a:xfrm>
            <a:off x="838200" y="1825625"/>
            <a:ext cx="10515600" cy="963295"/>
          </a:xfrm>
        </p:spPr>
        <p:txBody>
          <a:bodyPr>
            <a:normAutofit/>
          </a:bodyPr>
          <a:lstStyle/>
          <a:p>
            <a:r>
              <a:rPr lang="en-US" dirty="0"/>
              <a:t>It is allowed if it is disclosed</a:t>
            </a:r>
          </a:p>
          <a:p>
            <a:pPr lvl="1"/>
            <a:r>
              <a:rPr lang="en-US" dirty="0"/>
              <a:t>Shifting the study more towards exploration</a:t>
            </a:r>
            <a:endParaRPr lang="en-IL" dirty="0"/>
          </a:p>
        </p:txBody>
      </p:sp>
      <p:pic>
        <p:nvPicPr>
          <p:cNvPr id="4" name="Picture 3">
            <a:extLst>
              <a:ext uri="{FF2B5EF4-FFF2-40B4-BE49-F238E27FC236}">
                <a16:creationId xmlns:a16="http://schemas.microsoft.com/office/drawing/2014/main" id="{E5F02E0B-A466-8FE1-96E3-7EDE83EF0005}"/>
              </a:ext>
            </a:extLst>
          </p:cNvPr>
          <p:cNvPicPr>
            <a:picLocks noChangeAspect="1"/>
          </p:cNvPicPr>
          <p:nvPr/>
        </p:nvPicPr>
        <p:blipFill>
          <a:blip r:embed="rId2"/>
          <a:stretch>
            <a:fillRect/>
          </a:stretch>
        </p:blipFill>
        <p:spPr>
          <a:xfrm>
            <a:off x="969264" y="3086156"/>
            <a:ext cx="10061448" cy="3251271"/>
          </a:xfrm>
          <a:prstGeom prst="rect">
            <a:avLst/>
          </a:prstGeom>
        </p:spPr>
      </p:pic>
    </p:spTree>
    <p:extLst>
      <p:ext uri="{BB962C8B-B14F-4D97-AF65-F5344CB8AC3E}">
        <p14:creationId xmlns:p14="http://schemas.microsoft.com/office/powerpoint/2010/main" val="16095280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18BB0EF7-B11D-C55B-82B7-66CCAA82ACD7}"/>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3D998A8E-00C1-604E-FF25-8C568E0125E8}"/>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12.8 Creating the literature</a:t>
            </a:r>
            <a:endParaRPr dirty="0"/>
          </a:p>
        </p:txBody>
      </p:sp>
      <p:sp>
        <p:nvSpPr>
          <p:cNvPr id="1591332286" name="Text Placeholder 2">
            <a:extLst>
              <a:ext uri="{FF2B5EF4-FFF2-40B4-BE49-F238E27FC236}">
                <a16:creationId xmlns:a16="http://schemas.microsoft.com/office/drawing/2014/main" id="{00DE31A2-9CB4-1AEC-2FFB-C62464935682}"/>
              </a:ext>
            </a:extLst>
          </p:cNvPr>
          <p:cNvSpPr>
            <a:spLocks noGrp="1"/>
          </p:cNvSpPr>
          <p:nvPr>
            <p:ph type="body" idx="1"/>
          </p:nvPr>
        </p:nvSpPr>
        <p:spPr bwMode="auto">
          <a:xfrm>
            <a:off x="962890" y="2135908"/>
            <a:ext cx="10040663" cy="855439"/>
          </a:xfrm>
        </p:spPr>
        <p:txBody>
          <a:bodyPr wrap="none" anchor="t">
            <a:normAutofit fontScale="92500" lnSpcReduction="20000"/>
          </a:bodyPr>
          <a:lstStyle/>
          <a:p>
            <a:pPr algn="l">
              <a:defRPr sz="3000">
                <a:solidFill>
                  <a:srgbClr val="888888"/>
                </a:solidFill>
                <a:latin typeface="Arial"/>
                <a:cs typeface="Arial"/>
              </a:defRPr>
            </a:pPr>
            <a:r>
              <a:rPr lang="en-US" dirty="0"/>
              <a:t>Once a study is complete: how do other scientists learn </a:t>
            </a:r>
          </a:p>
          <a:p>
            <a:pPr algn="l">
              <a:defRPr sz="3000">
                <a:solidFill>
                  <a:srgbClr val="888888"/>
                </a:solidFill>
                <a:latin typeface="Arial"/>
                <a:cs typeface="Arial"/>
              </a:defRPr>
            </a:pPr>
            <a:r>
              <a:rPr lang="en-US" dirty="0"/>
              <a:t>about it?</a:t>
            </a:r>
            <a:endParaRPr dirty="0"/>
          </a:p>
        </p:txBody>
      </p:sp>
    </p:spTree>
    <p:extLst>
      <p:ext uri="{BB962C8B-B14F-4D97-AF65-F5344CB8AC3E}">
        <p14:creationId xmlns:p14="http://schemas.microsoft.com/office/powerpoint/2010/main" val="3980873633"/>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B27B-4F1F-C91C-7773-522F11468C00}"/>
              </a:ext>
            </a:extLst>
          </p:cNvPr>
          <p:cNvSpPr>
            <a:spLocks noGrp="1"/>
          </p:cNvSpPr>
          <p:nvPr>
            <p:ph type="title"/>
          </p:nvPr>
        </p:nvSpPr>
        <p:spPr/>
        <p:txBody>
          <a:bodyPr/>
          <a:lstStyle/>
          <a:p>
            <a:r>
              <a:rPr lang="en-US" dirty="0"/>
              <a:t>A long path leads from results to acceptance</a:t>
            </a:r>
            <a:endParaRPr lang="en-IL" dirty="0"/>
          </a:p>
        </p:txBody>
      </p:sp>
      <p:pic>
        <p:nvPicPr>
          <p:cNvPr id="4" name="Graphic 3">
            <a:extLst>
              <a:ext uri="{FF2B5EF4-FFF2-40B4-BE49-F238E27FC236}">
                <a16:creationId xmlns:a16="http://schemas.microsoft.com/office/drawing/2014/main" id="{5DFCE237-88CD-B5C2-B294-DA0C756BB73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058297"/>
            <a:ext cx="12192000" cy="741405"/>
          </a:xfrm>
          <a:prstGeom prst="rect">
            <a:avLst/>
          </a:prstGeom>
        </p:spPr>
      </p:pic>
    </p:spTree>
    <p:extLst>
      <p:ext uri="{BB962C8B-B14F-4D97-AF65-F5344CB8AC3E}">
        <p14:creationId xmlns:p14="http://schemas.microsoft.com/office/powerpoint/2010/main" val="18669057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E238CF-AD82-2050-4E13-F5B2C7372F14}"/>
              </a:ext>
            </a:extLst>
          </p:cNvPr>
          <p:cNvSpPr>
            <a:spLocks noGrp="1"/>
          </p:cNvSpPr>
          <p:nvPr>
            <p:ph type="title"/>
          </p:nvPr>
        </p:nvSpPr>
        <p:spPr/>
        <p:txBody>
          <a:bodyPr/>
          <a:lstStyle/>
          <a:p>
            <a:r>
              <a:rPr lang="en-US" dirty="0"/>
              <a:t>There are many forms of ‘literature’</a:t>
            </a:r>
            <a:endParaRPr lang="en-IL" dirty="0"/>
          </a:p>
        </p:txBody>
      </p:sp>
      <p:pic>
        <p:nvPicPr>
          <p:cNvPr id="6" name="Graphic 5">
            <a:extLst>
              <a:ext uri="{FF2B5EF4-FFF2-40B4-BE49-F238E27FC236}">
                <a16:creationId xmlns:a16="http://schemas.microsoft.com/office/drawing/2014/main" id="{95296468-9FC1-DEBD-02A6-29B6C630958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3887" y="2090737"/>
            <a:ext cx="10944225" cy="2676525"/>
          </a:xfrm>
          <a:prstGeom prst="rect">
            <a:avLst/>
          </a:prstGeom>
        </p:spPr>
      </p:pic>
    </p:spTree>
    <p:extLst>
      <p:ext uri="{BB962C8B-B14F-4D97-AF65-F5344CB8AC3E}">
        <p14:creationId xmlns:p14="http://schemas.microsoft.com/office/powerpoint/2010/main" val="37229630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CF11-6F76-228A-5CB7-777A1A567B52}"/>
              </a:ext>
            </a:extLst>
          </p:cNvPr>
          <p:cNvSpPr>
            <a:spLocks noGrp="1"/>
          </p:cNvSpPr>
          <p:nvPr>
            <p:ph type="title"/>
          </p:nvPr>
        </p:nvSpPr>
        <p:spPr/>
        <p:txBody>
          <a:bodyPr/>
          <a:lstStyle/>
          <a:p>
            <a:r>
              <a:rPr lang="en-US" dirty="0"/>
              <a:t>Peer review</a:t>
            </a:r>
            <a:endParaRPr lang="en-IL" dirty="0"/>
          </a:p>
        </p:txBody>
      </p:sp>
      <p:sp>
        <p:nvSpPr>
          <p:cNvPr id="3" name="Content Placeholder 2">
            <a:extLst>
              <a:ext uri="{FF2B5EF4-FFF2-40B4-BE49-F238E27FC236}">
                <a16:creationId xmlns:a16="http://schemas.microsoft.com/office/drawing/2014/main" id="{0BFD490E-6DB8-1EAE-8063-64289A36A89B}"/>
              </a:ext>
            </a:extLst>
          </p:cNvPr>
          <p:cNvSpPr>
            <a:spLocks noGrp="1"/>
          </p:cNvSpPr>
          <p:nvPr>
            <p:ph idx="1"/>
          </p:nvPr>
        </p:nvSpPr>
        <p:spPr/>
        <p:txBody>
          <a:bodyPr/>
          <a:lstStyle/>
          <a:p>
            <a:r>
              <a:rPr lang="en-US" dirty="0"/>
              <a:t>Paper sent to 2-3 readers</a:t>
            </a:r>
          </a:p>
          <a:p>
            <a:pPr lvl="1"/>
            <a:r>
              <a:rPr lang="en-US" dirty="0"/>
              <a:t>They send comments</a:t>
            </a:r>
          </a:p>
          <a:p>
            <a:pPr lvl="1"/>
            <a:r>
              <a:rPr lang="en-US" dirty="0"/>
              <a:t>Authors fix comments</a:t>
            </a:r>
          </a:p>
          <a:p>
            <a:pPr lvl="1"/>
            <a:r>
              <a:rPr lang="en-US" dirty="0"/>
              <a:t>They send comments again</a:t>
            </a:r>
          </a:p>
          <a:p>
            <a:pPr lvl="1"/>
            <a:r>
              <a:rPr lang="en-US" dirty="0"/>
              <a:t>Authors fix comments</a:t>
            </a:r>
          </a:p>
          <a:p>
            <a:r>
              <a:rPr lang="en-US" dirty="0"/>
              <a:t>Eventually someone gets tired</a:t>
            </a:r>
          </a:p>
          <a:p>
            <a:pPr lvl="1"/>
            <a:r>
              <a:rPr lang="en-US" dirty="0"/>
              <a:t>Author can go to a different journal</a:t>
            </a:r>
          </a:p>
          <a:p>
            <a:pPr lvl="2"/>
            <a:r>
              <a:rPr lang="en-US" dirty="0"/>
              <a:t>It may send to the same referee</a:t>
            </a:r>
          </a:p>
          <a:p>
            <a:pPr lvl="2"/>
            <a:r>
              <a:rPr lang="en-US" dirty="0"/>
              <a:t>It may go to someone worse</a:t>
            </a:r>
          </a:p>
          <a:p>
            <a:pPr lvl="1"/>
            <a:r>
              <a:rPr lang="en-US" dirty="0"/>
              <a:t>Referee can ask not to receive the paper again</a:t>
            </a:r>
          </a:p>
          <a:p>
            <a:pPr lvl="2"/>
            <a:endParaRPr lang="en-IL" dirty="0"/>
          </a:p>
        </p:txBody>
      </p:sp>
    </p:spTree>
    <p:extLst>
      <p:ext uri="{BB962C8B-B14F-4D97-AF65-F5344CB8AC3E}">
        <p14:creationId xmlns:p14="http://schemas.microsoft.com/office/powerpoint/2010/main" val="2152395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5636F-7E74-AA66-F28E-E30523C74C5C}"/>
              </a:ext>
            </a:extLst>
          </p:cNvPr>
          <p:cNvSpPr>
            <a:spLocks noGrp="1"/>
          </p:cNvSpPr>
          <p:nvPr>
            <p:ph type="title"/>
          </p:nvPr>
        </p:nvSpPr>
        <p:spPr/>
        <p:txBody>
          <a:bodyPr/>
          <a:lstStyle/>
          <a:p>
            <a:r>
              <a:rPr lang="en-US" dirty="0"/>
              <a:t>Reviews</a:t>
            </a:r>
            <a:endParaRPr lang="en-IL" dirty="0"/>
          </a:p>
        </p:txBody>
      </p:sp>
      <p:sp>
        <p:nvSpPr>
          <p:cNvPr id="3" name="Content Placeholder 2">
            <a:extLst>
              <a:ext uri="{FF2B5EF4-FFF2-40B4-BE49-F238E27FC236}">
                <a16:creationId xmlns:a16="http://schemas.microsoft.com/office/drawing/2014/main" id="{A707F089-58C3-41E0-602D-493E3F22BDFD}"/>
              </a:ext>
            </a:extLst>
          </p:cNvPr>
          <p:cNvSpPr>
            <a:spLocks noGrp="1"/>
          </p:cNvSpPr>
          <p:nvPr>
            <p:ph idx="1"/>
          </p:nvPr>
        </p:nvSpPr>
        <p:spPr/>
        <p:txBody>
          <a:bodyPr>
            <a:normAutofit lnSpcReduction="10000"/>
          </a:bodyPr>
          <a:lstStyle/>
          <a:p>
            <a:r>
              <a:rPr lang="en-US" dirty="0"/>
              <a:t>Review papers can serve different purposes</a:t>
            </a:r>
          </a:p>
          <a:p>
            <a:pPr lvl="1"/>
            <a:r>
              <a:rPr lang="en-US" dirty="0"/>
              <a:t>Organize the literature</a:t>
            </a:r>
          </a:p>
          <a:p>
            <a:pPr lvl="2"/>
            <a:r>
              <a:rPr lang="en-US" dirty="0"/>
              <a:t>MSc or PhD project to get oriented</a:t>
            </a:r>
          </a:p>
          <a:p>
            <a:pPr lvl="1"/>
            <a:r>
              <a:rPr lang="en-US" dirty="0"/>
              <a:t>Make a point</a:t>
            </a:r>
          </a:p>
          <a:p>
            <a:pPr lvl="2"/>
            <a:r>
              <a:rPr lang="en-US" dirty="0"/>
              <a:t>Researcher trying to convince the community</a:t>
            </a:r>
          </a:p>
          <a:p>
            <a:pPr lvl="1"/>
            <a:r>
              <a:rPr lang="en-US" dirty="0"/>
              <a:t>Sell oneself</a:t>
            </a:r>
          </a:p>
          <a:p>
            <a:pPr lvl="2"/>
            <a:r>
              <a:rPr lang="en-US" dirty="0"/>
              <a:t>Researcher trying to have a larger impact</a:t>
            </a:r>
          </a:p>
          <a:p>
            <a:pPr lvl="1"/>
            <a:r>
              <a:rPr lang="en-US" dirty="0"/>
              <a:t>Establish a narrative</a:t>
            </a:r>
          </a:p>
          <a:p>
            <a:pPr lvl="2"/>
            <a:r>
              <a:rPr lang="en-US" dirty="0"/>
              <a:t>A reference to use in making the case for feasibility or scientific interest</a:t>
            </a:r>
          </a:p>
          <a:p>
            <a:r>
              <a:rPr lang="en-US" dirty="0"/>
              <a:t>Modern reviews are often meta-analysis</a:t>
            </a:r>
          </a:p>
          <a:p>
            <a:pPr lvl="1"/>
            <a:r>
              <a:rPr lang="en-US" dirty="0"/>
              <a:t>Quantitative review of the literature</a:t>
            </a:r>
          </a:p>
          <a:p>
            <a:pPr lvl="1"/>
            <a:r>
              <a:rPr lang="en-US" dirty="0"/>
              <a:t>Aggregation of significance and effect sizes across studies</a:t>
            </a:r>
            <a:endParaRPr lang="en-IL" dirty="0"/>
          </a:p>
        </p:txBody>
      </p:sp>
    </p:spTree>
    <p:extLst>
      <p:ext uri="{BB962C8B-B14F-4D97-AF65-F5344CB8AC3E}">
        <p14:creationId xmlns:p14="http://schemas.microsoft.com/office/powerpoint/2010/main" val="13003507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59132166-4678-B496-5ECD-8C39D86C77ED}"/>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39FEBD93-2630-036E-E91D-62DE4BDEE924}"/>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12.9 Incentives and publication bias</a:t>
            </a:r>
            <a:endParaRPr dirty="0"/>
          </a:p>
        </p:txBody>
      </p:sp>
      <p:sp>
        <p:nvSpPr>
          <p:cNvPr id="1591332286" name="Text Placeholder 2">
            <a:extLst>
              <a:ext uri="{FF2B5EF4-FFF2-40B4-BE49-F238E27FC236}">
                <a16:creationId xmlns:a16="http://schemas.microsoft.com/office/drawing/2014/main" id="{3F7D91CB-6C18-EE1B-31E1-C7F08B2E140F}"/>
              </a:ext>
            </a:extLst>
          </p:cNvPr>
          <p:cNvSpPr>
            <a:spLocks noGrp="1"/>
          </p:cNvSpPr>
          <p:nvPr>
            <p:ph type="body" idx="1"/>
          </p:nvPr>
        </p:nvSpPr>
        <p:spPr bwMode="auto">
          <a:xfrm>
            <a:off x="962890" y="2135908"/>
            <a:ext cx="10040663" cy="855439"/>
          </a:xfrm>
        </p:spPr>
        <p:txBody>
          <a:bodyPr wrap="none" anchor="t">
            <a:normAutofit fontScale="92500" lnSpcReduction="20000"/>
          </a:bodyPr>
          <a:lstStyle/>
          <a:p>
            <a:pPr algn="l">
              <a:defRPr sz="3000">
                <a:solidFill>
                  <a:srgbClr val="888888"/>
                </a:solidFill>
                <a:latin typeface="Arial"/>
                <a:cs typeface="Arial"/>
              </a:defRPr>
            </a:pPr>
            <a:r>
              <a:rPr lang="en-US" dirty="0"/>
              <a:t>How does the structure and the incentives of the system </a:t>
            </a:r>
          </a:p>
          <a:p>
            <a:pPr algn="l">
              <a:defRPr sz="3000">
                <a:solidFill>
                  <a:srgbClr val="888888"/>
                </a:solidFill>
                <a:latin typeface="Arial"/>
                <a:cs typeface="Arial"/>
              </a:defRPr>
            </a:pPr>
            <a:r>
              <a:rPr lang="en-US" dirty="0"/>
              <a:t>bias the literature?</a:t>
            </a:r>
            <a:endParaRPr dirty="0"/>
          </a:p>
        </p:txBody>
      </p:sp>
    </p:spTree>
    <p:extLst>
      <p:ext uri="{BB962C8B-B14F-4D97-AF65-F5344CB8AC3E}">
        <p14:creationId xmlns:p14="http://schemas.microsoft.com/office/powerpoint/2010/main" val="31252443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A0A1A8-C4E1-62B4-123F-A85C3CF356E7}"/>
              </a:ext>
            </a:extLst>
          </p:cNvPr>
          <p:cNvSpPr>
            <a:spLocks noGrp="1"/>
          </p:cNvSpPr>
          <p:nvPr>
            <p:ph type="title"/>
          </p:nvPr>
        </p:nvSpPr>
        <p:spPr/>
        <p:txBody>
          <a:bodyPr/>
          <a:lstStyle/>
          <a:p>
            <a:r>
              <a:rPr lang="en-US" dirty="0"/>
              <a:t>It is always easier to publish positive results</a:t>
            </a:r>
            <a:endParaRPr lang="en-IL" dirty="0"/>
          </a:p>
        </p:txBody>
      </p:sp>
      <p:sp>
        <p:nvSpPr>
          <p:cNvPr id="7" name="Content Placeholder 6">
            <a:extLst>
              <a:ext uri="{FF2B5EF4-FFF2-40B4-BE49-F238E27FC236}">
                <a16:creationId xmlns:a16="http://schemas.microsoft.com/office/drawing/2014/main" id="{A1FAFB42-6D0E-02BD-5559-4023305AFB4B}"/>
              </a:ext>
            </a:extLst>
          </p:cNvPr>
          <p:cNvSpPr>
            <a:spLocks noGrp="1"/>
          </p:cNvSpPr>
          <p:nvPr>
            <p:ph idx="1"/>
          </p:nvPr>
        </p:nvSpPr>
        <p:spPr>
          <a:xfrm>
            <a:off x="838200" y="4480559"/>
            <a:ext cx="10515600" cy="1696403"/>
          </a:xfrm>
        </p:spPr>
        <p:txBody>
          <a:bodyPr>
            <a:normAutofit fontScale="92500" lnSpcReduction="10000"/>
          </a:bodyPr>
          <a:lstStyle/>
          <a:p>
            <a:r>
              <a:rPr lang="en-US" dirty="0"/>
              <a:t>The literature needs to be interesting to scientists</a:t>
            </a:r>
          </a:p>
          <a:p>
            <a:r>
              <a:rPr lang="en-US" dirty="0"/>
              <a:t>Our understanding needs a story</a:t>
            </a:r>
          </a:p>
          <a:p>
            <a:r>
              <a:rPr lang="en-US" dirty="0"/>
              <a:t>Negative results can be poor technique</a:t>
            </a:r>
          </a:p>
          <a:p>
            <a:pPr lvl="1"/>
            <a:r>
              <a:rPr lang="en-US" dirty="0"/>
              <a:t>Harder to prove the lack of an effect</a:t>
            </a:r>
            <a:endParaRPr lang="en-IL" dirty="0"/>
          </a:p>
        </p:txBody>
      </p:sp>
      <p:pic>
        <p:nvPicPr>
          <p:cNvPr id="6" name="Graphic 5">
            <a:extLst>
              <a:ext uri="{FF2B5EF4-FFF2-40B4-BE49-F238E27FC236}">
                <a16:creationId xmlns:a16="http://schemas.microsoft.com/office/drawing/2014/main" id="{D32FB8A0-963D-0827-81E9-824AC067A3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8700" y="2290762"/>
            <a:ext cx="10134600" cy="2276475"/>
          </a:xfrm>
          <a:prstGeom prst="rect">
            <a:avLst/>
          </a:prstGeom>
        </p:spPr>
      </p:pic>
    </p:spTree>
    <p:extLst>
      <p:ext uri="{BB962C8B-B14F-4D97-AF65-F5344CB8AC3E}">
        <p14:creationId xmlns:p14="http://schemas.microsoft.com/office/powerpoint/2010/main" val="13026706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742DE-F2C7-0F51-7BEC-7808E855AAA2}"/>
              </a:ext>
            </a:extLst>
          </p:cNvPr>
          <p:cNvSpPr>
            <a:spLocks noGrp="1"/>
          </p:cNvSpPr>
          <p:nvPr>
            <p:ph type="title"/>
          </p:nvPr>
        </p:nvSpPr>
        <p:spPr/>
        <p:txBody>
          <a:bodyPr/>
          <a:lstStyle/>
          <a:p>
            <a:r>
              <a:rPr lang="en-US" dirty="0"/>
              <a:t>Preregistration may change literature bias</a:t>
            </a:r>
            <a:endParaRPr lang="en-IL" dirty="0"/>
          </a:p>
        </p:txBody>
      </p:sp>
      <p:pic>
        <p:nvPicPr>
          <p:cNvPr id="4" name="Graphic 3">
            <a:extLst>
              <a:ext uri="{FF2B5EF4-FFF2-40B4-BE49-F238E27FC236}">
                <a16:creationId xmlns:a16="http://schemas.microsoft.com/office/drawing/2014/main" id="{4F372B4E-064E-CE75-D089-916A88F569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76412" y="2266950"/>
            <a:ext cx="8639175" cy="2324100"/>
          </a:xfrm>
          <a:prstGeom prst="rect">
            <a:avLst/>
          </a:prstGeom>
        </p:spPr>
      </p:pic>
    </p:spTree>
    <p:extLst>
      <p:ext uri="{BB962C8B-B14F-4D97-AF65-F5344CB8AC3E}">
        <p14:creationId xmlns:p14="http://schemas.microsoft.com/office/powerpoint/2010/main" val="20368079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87FE-B1FB-4235-77AA-5DFA58BF8894}"/>
              </a:ext>
            </a:extLst>
          </p:cNvPr>
          <p:cNvSpPr>
            <a:spLocks noGrp="1"/>
          </p:cNvSpPr>
          <p:nvPr>
            <p:ph type="title"/>
          </p:nvPr>
        </p:nvSpPr>
        <p:spPr/>
        <p:txBody>
          <a:bodyPr/>
          <a:lstStyle/>
          <a:p>
            <a:r>
              <a:rPr lang="en-US" dirty="0"/>
              <a:t>Incentives for the scientist</a:t>
            </a:r>
            <a:endParaRPr lang="en-IL" dirty="0"/>
          </a:p>
        </p:txBody>
      </p:sp>
      <p:sp>
        <p:nvSpPr>
          <p:cNvPr id="3" name="Content Placeholder 2">
            <a:extLst>
              <a:ext uri="{FF2B5EF4-FFF2-40B4-BE49-F238E27FC236}">
                <a16:creationId xmlns:a16="http://schemas.microsoft.com/office/drawing/2014/main" id="{1809282C-E3FF-748F-02E9-0C67C20EDE51}"/>
              </a:ext>
            </a:extLst>
          </p:cNvPr>
          <p:cNvSpPr>
            <a:spLocks noGrp="1"/>
          </p:cNvSpPr>
          <p:nvPr>
            <p:ph idx="1"/>
          </p:nvPr>
        </p:nvSpPr>
        <p:spPr/>
        <p:txBody>
          <a:bodyPr/>
          <a:lstStyle/>
          <a:p>
            <a:r>
              <a:rPr lang="en-US" dirty="0"/>
              <a:t>Everything depends on publications</a:t>
            </a:r>
          </a:p>
          <a:p>
            <a:pPr lvl="1"/>
            <a:r>
              <a:rPr lang="en-US" dirty="0"/>
              <a:t>Getting hired</a:t>
            </a:r>
          </a:p>
          <a:p>
            <a:pPr lvl="1"/>
            <a:r>
              <a:rPr lang="en-US" dirty="0"/>
              <a:t>Getting promoted</a:t>
            </a:r>
          </a:p>
          <a:p>
            <a:pPr lvl="1"/>
            <a:r>
              <a:rPr lang="en-US" dirty="0"/>
              <a:t>Getting funded</a:t>
            </a:r>
          </a:p>
          <a:p>
            <a:pPr lvl="1"/>
            <a:r>
              <a:rPr lang="en-US" dirty="0"/>
              <a:t>Getting students</a:t>
            </a:r>
          </a:p>
          <a:p>
            <a:pPr lvl="2"/>
            <a:r>
              <a:rPr lang="en-US" dirty="0"/>
              <a:t>Who can do experiments so that there can be more papers</a:t>
            </a:r>
          </a:p>
          <a:p>
            <a:r>
              <a:rPr lang="en-US" dirty="0"/>
              <a:t>Institutions are also incentivized</a:t>
            </a:r>
          </a:p>
          <a:p>
            <a:pPr lvl="1"/>
            <a:r>
              <a:rPr lang="en-US" dirty="0"/>
              <a:t>Budgets</a:t>
            </a:r>
          </a:p>
          <a:p>
            <a:pPr lvl="1"/>
            <a:r>
              <a:rPr lang="en-US" dirty="0"/>
              <a:t>Special projects</a:t>
            </a:r>
          </a:p>
          <a:p>
            <a:pPr lvl="1"/>
            <a:r>
              <a:rPr lang="en-US" dirty="0"/>
              <a:t>Hiring quality faculty</a:t>
            </a:r>
            <a:endParaRPr lang="en-IL" dirty="0"/>
          </a:p>
        </p:txBody>
      </p:sp>
    </p:spTree>
    <p:extLst>
      <p:ext uri="{BB962C8B-B14F-4D97-AF65-F5344CB8AC3E}">
        <p14:creationId xmlns:p14="http://schemas.microsoft.com/office/powerpoint/2010/main" val="38524922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5C5B650F-9B6C-5711-2F1F-2990FCE2B6D6}"/>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4C3EFF0F-C581-C93A-F15E-5A0123924632}"/>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12.10 Transparent reporting</a:t>
            </a:r>
            <a:endParaRPr dirty="0"/>
          </a:p>
        </p:txBody>
      </p:sp>
      <p:sp>
        <p:nvSpPr>
          <p:cNvPr id="1591332286" name="Text Placeholder 2">
            <a:extLst>
              <a:ext uri="{FF2B5EF4-FFF2-40B4-BE49-F238E27FC236}">
                <a16:creationId xmlns:a16="http://schemas.microsoft.com/office/drawing/2014/main" id="{EA14AF3F-4390-0467-F261-F01500A65626}"/>
              </a:ext>
            </a:extLst>
          </p:cNvPr>
          <p:cNvSpPr>
            <a:spLocks noGrp="1"/>
          </p:cNvSpPr>
          <p:nvPr>
            <p:ph type="body" idx="1"/>
          </p:nvPr>
        </p:nvSpPr>
        <p:spPr bwMode="auto">
          <a:xfrm>
            <a:off x="962890" y="2135908"/>
            <a:ext cx="10040663" cy="855439"/>
          </a:xfrm>
        </p:spPr>
        <p:txBody>
          <a:bodyPr wrap="none" anchor="t">
            <a:normAutofit/>
          </a:bodyPr>
          <a:lstStyle/>
          <a:p>
            <a:pPr algn="l">
              <a:defRPr sz="3000">
                <a:solidFill>
                  <a:srgbClr val="888888"/>
                </a:solidFill>
                <a:latin typeface="Arial"/>
                <a:cs typeface="Arial"/>
              </a:defRPr>
            </a:pPr>
            <a:r>
              <a:rPr lang="en-US" dirty="0"/>
              <a:t>Contributing to the literature in a way that makes it better</a:t>
            </a:r>
            <a:endParaRPr dirty="0"/>
          </a:p>
        </p:txBody>
      </p:sp>
    </p:spTree>
    <p:extLst>
      <p:ext uri="{BB962C8B-B14F-4D97-AF65-F5344CB8AC3E}">
        <p14:creationId xmlns:p14="http://schemas.microsoft.com/office/powerpoint/2010/main" val="2567903546"/>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DC1D48-F87E-3DEA-93B5-3F80885F4F7F}"/>
              </a:ext>
            </a:extLst>
          </p:cNvPr>
          <p:cNvSpPr>
            <a:spLocks noGrp="1"/>
          </p:cNvSpPr>
          <p:nvPr>
            <p:ph type="title"/>
          </p:nvPr>
        </p:nvSpPr>
        <p:spPr/>
        <p:txBody>
          <a:bodyPr/>
          <a:lstStyle/>
          <a:p>
            <a:r>
              <a:rPr lang="en-US" dirty="0"/>
              <a:t>When do you need to report statistics?</a:t>
            </a:r>
            <a:endParaRPr lang="en-IL" dirty="0"/>
          </a:p>
        </p:txBody>
      </p:sp>
      <p:sp>
        <p:nvSpPr>
          <p:cNvPr id="6" name="Content Placeholder 5">
            <a:extLst>
              <a:ext uri="{FF2B5EF4-FFF2-40B4-BE49-F238E27FC236}">
                <a16:creationId xmlns:a16="http://schemas.microsoft.com/office/drawing/2014/main" id="{2DF8C43F-7EE7-A262-A6D0-74E33E8122AC}"/>
              </a:ext>
            </a:extLst>
          </p:cNvPr>
          <p:cNvSpPr>
            <a:spLocks noGrp="1"/>
          </p:cNvSpPr>
          <p:nvPr>
            <p:ph idx="1"/>
          </p:nvPr>
        </p:nvSpPr>
        <p:spPr/>
        <p:txBody>
          <a:bodyPr>
            <a:normAutofit lnSpcReduction="10000"/>
          </a:bodyPr>
          <a:lstStyle/>
          <a:p>
            <a:r>
              <a:rPr lang="en-US" dirty="0"/>
              <a:t>Scientific reporting</a:t>
            </a:r>
          </a:p>
          <a:p>
            <a:pPr lvl="1"/>
            <a:r>
              <a:rPr lang="en-US" dirty="0"/>
              <a:t>Scientific paper</a:t>
            </a:r>
          </a:p>
          <a:p>
            <a:pPr lvl="1"/>
            <a:r>
              <a:rPr lang="en-US" dirty="0"/>
              <a:t>Grant application</a:t>
            </a:r>
          </a:p>
          <a:p>
            <a:pPr lvl="1"/>
            <a:r>
              <a:rPr lang="en-US" dirty="0"/>
              <a:t>Pre-registered research</a:t>
            </a:r>
          </a:p>
          <a:p>
            <a:pPr lvl="1"/>
            <a:r>
              <a:rPr lang="en-US" dirty="0"/>
              <a:t>Ethical approval</a:t>
            </a:r>
          </a:p>
          <a:p>
            <a:r>
              <a:rPr lang="en-US" dirty="0"/>
              <a:t>Medical reporting</a:t>
            </a:r>
          </a:p>
          <a:p>
            <a:pPr lvl="1"/>
            <a:r>
              <a:rPr lang="en-US" dirty="0"/>
              <a:t>Approval for drug or treatment</a:t>
            </a:r>
          </a:p>
          <a:p>
            <a:pPr lvl="1"/>
            <a:r>
              <a:rPr lang="en-US" dirty="0"/>
              <a:t>Ethical approval</a:t>
            </a:r>
          </a:p>
          <a:p>
            <a:r>
              <a:rPr lang="en-US" dirty="0"/>
              <a:t>Engineering</a:t>
            </a:r>
          </a:p>
          <a:p>
            <a:pPr lvl="1"/>
            <a:r>
              <a:rPr lang="en-US" dirty="0"/>
              <a:t>Patent application</a:t>
            </a:r>
          </a:p>
          <a:p>
            <a:pPr lvl="1"/>
            <a:r>
              <a:rPr lang="en-US" dirty="0"/>
              <a:t>Ethical approval</a:t>
            </a:r>
          </a:p>
        </p:txBody>
      </p:sp>
      <p:sp>
        <p:nvSpPr>
          <p:cNvPr id="4" name="Slide Number Placeholder 3">
            <a:extLst>
              <a:ext uri="{FF2B5EF4-FFF2-40B4-BE49-F238E27FC236}">
                <a16:creationId xmlns:a16="http://schemas.microsoft.com/office/drawing/2014/main" id="{ACBDD316-1324-CD8C-C065-7B1E9A11170F}"/>
              </a:ext>
            </a:extLst>
          </p:cNvPr>
          <p:cNvSpPr>
            <a:spLocks noGrp="1"/>
          </p:cNvSpPr>
          <p:nvPr>
            <p:ph type="sldNum" sz="quarter" idx="12"/>
          </p:nvPr>
        </p:nvSpPr>
        <p:spPr/>
        <p:txBody>
          <a:bodyPr/>
          <a:lstStyle/>
          <a:p>
            <a:fld id="{E0DC7AD3-7C2E-418B-8082-788996B615FB}" type="slidenum">
              <a:rPr lang="en-GB" smtClean="0"/>
              <a:t>68</a:t>
            </a:fld>
            <a:endParaRPr lang="en-GB"/>
          </a:p>
        </p:txBody>
      </p:sp>
    </p:spTree>
    <p:extLst>
      <p:ext uri="{BB962C8B-B14F-4D97-AF65-F5344CB8AC3E}">
        <p14:creationId xmlns:p14="http://schemas.microsoft.com/office/powerpoint/2010/main" val="57297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A733D-FBD5-4FD7-721E-2E51F5A82AF2}"/>
              </a:ext>
            </a:extLst>
          </p:cNvPr>
          <p:cNvSpPr>
            <a:spLocks noGrp="1"/>
          </p:cNvSpPr>
          <p:nvPr>
            <p:ph type="title"/>
          </p:nvPr>
        </p:nvSpPr>
        <p:spPr/>
        <p:txBody>
          <a:bodyPr/>
          <a:lstStyle/>
          <a:p>
            <a:r>
              <a:rPr lang="en-US" dirty="0"/>
              <a:t>Different reporting standards</a:t>
            </a:r>
            <a:endParaRPr lang="en-IL" dirty="0"/>
          </a:p>
        </p:txBody>
      </p:sp>
      <p:sp>
        <p:nvSpPr>
          <p:cNvPr id="3" name="Content Placeholder 2">
            <a:extLst>
              <a:ext uri="{FF2B5EF4-FFF2-40B4-BE49-F238E27FC236}">
                <a16:creationId xmlns:a16="http://schemas.microsoft.com/office/drawing/2014/main" id="{42FA5B17-2188-18C3-6401-3A349C9EC36E}"/>
              </a:ext>
            </a:extLst>
          </p:cNvPr>
          <p:cNvSpPr>
            <a:spLocks noGrp="1"/>
          </p:cNvSpPr>
          <p:nvPr>
            <p:ph idx="1"/>
          </p:nvPr>
        </p:nvSpPr>
        <p:spPr/>
        <p:txBody>
          <a:bodyPr/>
          <a:lstStyle/>
          <a:p>
            <a:r>
              <a:rPr lang="en-US" dirty="0"/>
              <a:t>There are often strict rules about statistical reporting</a:t>
            </a:r>
          </a:p>
          <a:p>
            <a:pPr lvl="1"/>
            <a:r>
              <a:rPr lang="en-US" dirty="0"/>
              <a:t>Always check</a:t>
            </a:r>
          </a:p>
          <a:p>
            <a:r>
              <a:rPr lang="en-US" dirty="0"/>
              <a:t>When there are no rules, there are norms</a:t>
            </a:r>
          </a:p>
          <a:p>
            <a:pPr lvl="1"/>
            <a:r>
              <a:rPr lang="en-US" dirty="0"/>
              <a:t>Reporting for clinical trials is strict</a:t>
            </a:r>
          </a:p>
          <a:p>
            <a:pPr lvl="1"/>
            <a:r>
              <a:rPr lang="en-US" dirty="0"/>
              <a:t>Reporting for registering experiments is relaxed</a:t>
            </a:r>
          </a:p>
          <a:p>
            <a:r>
              <a:rPr lang="en-US" dirty="0"/>
              <a:t>Rules and norms change over time</a:t>
            </a:r>
          </a:p>
          <a:p>
            <a:pPr lvl="1"/>
            <a:r>
              <a:rPr lang="en-US" dirty="0"/>
              <a:t>Check recent publications or applications</a:t>
            </a:r>
            <a:endParaRPr lang="en-IL" dirty="0"/>
          </a:p>
        </p:txBody>
      </p:sp>
      <p:sp>
        <p:nvSpPr>
          <p:cNvPr id="4" name="Slide Number Placeholder 3">
            <a:extLst>
              <a:ext uri="{FF2B5EF4-FFF2-40B4-BE49-F238E27FC236}">
                <a16:creationId xmlns:a16="http://schemas.microsoft.com/office/drawing/2014/main" id="{9224EF4A-CBCE-32AB-783B-E95C83D4CCAC}"/>
              </a:ext>
            </a:extLst>
          </p:cNvPr>
          <p:cNvSpPr>
            <a:spLocks noGrp="1"/>
          </p:cNvSpPr>
          <p:nvPr>
            <p:ph type="sldNum" sz="quarter" idx="12"/>
          </p:nvPr>
        </p:nvSpPr>
        <p:spPr/>
        <p:txBody>
          <a:bodyPr/>
          <a:lstStyle/>
          <a:p>
            <a:fld id="{E0DC7AD3-7C2E-418B-8082-788996B615FB}" type="slidenum">
              <a:rPr lang="en-GB" smtClean="0"/>
              <a:t>69</a:t>
            </a:fld>
            <a:endParaRPr lang="en-GB"/>
          </a:p>
        </p:txBody>
      </p:sp>
    </p:spTree>
    <p:extLst>
      <p:ext uri="{BB962C8B-B14F-4D97-AF65-F5344CB8AC3E}">
        <p14:creationId xmlns:p14="http://schemas.microsoft.com/office/powerpoint/2010/main" val="26176296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634D-F1AB-37CB-F958-4CD9DEA43ACE}"/>
              </a:ext>
            </a:extLst>
          </p:cNvPr>
          <p:cNvSpPr>
            <a:spLocks noGrp="1"/>
          </p:cNvSpPr>
          <p:nvPr>
            <p:ph type="title"/>
          </p:nvPr>
        </p:nvSpPr>
        <p:spPr/>
        <p:txBody>
          <a:bodyPr/>
          <a:lstStyle/>
          <a:p>
            <a:r>
              <a:rPr lang="en-US" dirty="0"/>
              <a:t>General reporting guidelines</a:t>
            </a:r>
            <a:endParaRPr lang="en-IL" dirty="0"/>
          </a:p>
        </p:txBody>
      </p:sp>
      <p:sp>
        <p:nvSpPr>
          <p:cNvPr id="3" name="Content Placeholder 2">
            <a:extLst>
              <a:ext uri="{FF2B5EF4-FFF2-40B4-BE49-F238E27FC236}">
                <a16:creationId xmlns:a16="http://schemas.microsoft.com/office/drawing/2014/main" id="{50851580-5454-1C81-80B0-4B7DDDC12E8D}"/>
              </a:ext>
            </a:extLst>
          </p:cNvPr>
          <p:cNvSpPr>
            <a:spLocks noGrp="1"/>
          </p:cNvSpPr>
          <p:nvPr>
            <p:ph idx="1"/>
          </p:nvPr>
        </p:nvSpPr>
        <p:spPr>
          <a:xfrm>
            <a:off x="838200" y="1825625"/>
            <a:ext cx="2838061" cy="1943942"/>
          </a:xfrm>
        </p:spPr>
        <p:txBody>
          <a:bodyPr/>
          <a:lstStyle/>
          <a:p>
            <a:r>
              <a:rPr lang="en-US" dirty="0"/>
              <a:t>Three levels</a:t>
            </a:r>
          </a:p>
          <a:p>
            <a:pPr lvl="1"/>
            <a:r>
              <a:rPr lang="en-US" dirty="0"/>
              <a:t>Document</a:t>
            </a:r>
          </a:p>
          <a:p>
            <a:pPr lvl="1"/>
            <a:r>
              <a:rPr lang="en-US" dirty="0"/>
              <a:t>Appendix</a:t>
            </a:r>
          </a:p>
          <a:p>
            <a:pPr lvl="1"/>
            <a:r>
              <a:rPr lang="en-US" dirty="0"/>
              <a:t>Repository</a:t>
            </a:r>
          </a:p>
          <a:p>
            <a:pPr lvl="1"/>
            <a:endParaRPr lang="en-IL" dirty="0"/>
          </a:p>
        </p:txBody>
      </p:sp>
      <p:sp>
        <p:nvSpPr>
          <p:cNvPr id="4" name="Slide Number Placeholder 3">
            <a:extLst>
              <a:ext uri="{FF2B5EF4-FFF2-40B4-BE49-F238E27FC236}">
                <a16:creationId xmlns:a16="http://schemas.microsoft.com/office/drawing/2014/main" id="{091C44A3-EA7B-72CC-0B3A-DA7C293E5255}"/>
              </a:ext>
            </a:extLst>
          </p:cNvPr>
          <p:cNvSpPr>
            <a:spLocks noGrp="1"/>
          </p:cNvSpPr>
          <p:nvPr>
            <p:ph type="sldNum" sz="quarter" idx="12"/>
          </p:nvPr>
        </p:nvSpPr>
        <p:spPr/>
        <p:txBody>
          <a:bodyPr/>
          <a:lstStyle/>
          <a:p>
            <a:fld id="{E0DC7AD3-7C2E-418B-8082-788996B615FB}" type="slidenum">
              <a:rPr lang="en-GB" smtClean="0"/>
              <a:t>70</a:t>
            </a:fld>
            <a:endParaRPr lang="en-GB"/>
          </a:p>
        </p:txBody>
      </p:sp>
    </p:spTree>
    <p:extLst>
      <p:ext uri="{BB962C8B-B14F-4D97-AF65-F5344CB8AC3E}">
        <p14:creationId xmlns:p14="http://schemas.microsoft.com/office/powerpoint/2010/main" val="32193989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FFC6E-2C34-8074-BBAF-1BDB6AD2D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3CCB2-EDE9-3058-CB2C-B9634E5DADF8}"/>
              </a:ext>
            </a:extLst>
          </p:cNvPr>
          <p:cNvSpPr>
            <a:spLocks noGrp="1"/>
          </p:cNvSpPr>
          <p:nvPr>
            <p:ph type="title"/>
          </p:nvPr>
        </p:nvSpPr>
        <p:spPr/>
        <p:txBody>
          <a:bodyPr/>
          <a:lstStyle/>
          <a:p>
            <a:r>
              <a:rPr lang="en-US" dirty="0"/>
              <a:t>General reporting guidelines</a:t>
            </a:r>
            <a:endParaRPr lang="en-IL" dirty="0"/>
          </a:p>
        </p:txBody>
      </p:sp>
      <p:sp>
        <p:nvSpPr>
          <p:cNvPr id="3" name="Content Placeholder 2">
            <a:extLst>
              <a:ext uri="{FF2B5EF4-FFF2-40B4-BE49-F238E27FC236}">
                <a16:creationId xmlns:a16="http://schemas.microsoft.com/office/drawing/2014/main" id="{A6779776-B201-8107-7E97-99D97D3B6F0E}"/>
              </a:ext>
            </a:extLst>
          </p:cNvPr>
          <p:cNvSpPr>
            <a:spLocks noGrp="1"/>
          </p:cNvSpPr>
          <p:nvPr>
            <p:ph idx="1"/>
          </p:nvPr>
        </p:nvSpPr>
        <p:spPr>
          <a:xfrm>
            <a:off x="838200" y="1825624"/>
            <a:ext cx="2838061" cy="3940693"/>
          </a:xfrm>
        </p:spPr>
        <p:txBody>
          <a:bodyPr>
            <a:normAutofit/>
          </a:bodyPr>
          <a:lstStyle/>
          <a:p>
            <a:r>
              <a:rPr lang="en-US" dirty="0"/>
              <a:t>Three levels</a:t>
            </a:r>
          </a:p>
          <a:p>
            <a:pPr lvl="1"/>
            <a:r>
              <a:rPr lang="en-US" dirty="0">
                <a:solidFill>
                  <a:schemeClr val="accent1"/>
                </a:solidFill>
              </a:rPr>
              <a:t>Document</a:t>
            </a:r>
          </a:p>
          <a:p>
            <a:pPr lvl="2"/>
            <a:r>
              <a:rPr lang="en-US" dirty="0">
                <a:solidFill>
                  <a:schemeClr val="accent1"/>
                </a:solidFill>
              </a:rPr>
              <a:t>Methods</a:t>
            </a:r>
          </a:p>
          <a:p>
            <a:pPr lvl="2"/>
            <a:r>
              <a:rPr lang="en-US" dirty="0">
                <a:solidFill>
                  <a:schemeClr val="accent1"/>
                </a:solidFill>
              </a:rPr>
              <a:t>Results</a:t>
            </a:r>
          </a:p>
          <a:p>
            <a:pPr lvl="1"/>
            <a:r>
              <a:rPr lang="en-US" dirty="0"/>
              <a:t>Appendix</a:t>
            </a:r>
          </a:p>
          <a:p>
            <a:pPr lvl="1"/>
            <a:r>
              <a:rPr lang="en-US" dirty="0"/>
              <a:t>Repository</a:t>
            </a:r>
          </a:p>
          <a:p>
            <a:pPr lvl="1"/>
            <a:endParaRPr lang="en-IL" dirty="0"/>
          </a:p>
        </p:txBody>
      </p:sp>
      <p:sp>
        <p:nvSpPr>
          <p:cNvPr id="4" name="Slide Number Placeholder 3">
            <a:extLst>
              <a:ext uri="{FF2B5EF4-FFF2-40B4-BE49-F238E27FC236}">
                <a16:creationId xmlns:a16="http://schemas.microsoft.com/office/drawing/2014/main" id="{BF09908D-0816-2D4F-85B1-F8B42091884E}"/>
              </a:ext>
            </a:extLst>
          </p:cNvPr>
          <p:cNvSpPr>
            <a:spLocks noGrp="1"/>
          </p:cNvSpPr>
          <p:nvPr>
            <p:ph type="sldNum" sz="quarter" idx="12"/>
          </p:nvPr>
        </p:nvSpPr>
        <p:spPr/>
        <p:txBody>
          <a:bodyPr/>
          <a:lstStyle/>
          <a:p>
            <a:fld id="{E0DC7AD3-7C2E-418B-8082-788996B615FB}" type="slidenum">
              <a:rPr lang="en-GB" smtClean="0"/>
              <a:t>71</a:t>
            </a:fld>
            <a:endParaRPr lang="en-GB"/>
          </a:p>
        </p:txBody>
      </p:sp>
      <p:sp>
        <p:nvSpPr>
          <p:cNvPr id="5" name="TextBox 4">
            <a:extLst>
              <a:ext uri="{FF2B5EF4-FFF2-40B4-BE49-F238E27FC236}">
                <a16:creationId xmlns:a16="http://schemas.microsoft.com/office/drawing/2014/main" id="{44BDE251-7D12-61F0-6B2A-CED440E3BDB4}"/>
              </a:ext>
            </a:extLst>
          </p:cNvPr>
          <p:cNvSpPr txBox="1"/>
          <p:nvPr/>
        </p:nvSpPr>
        <p:spPr>
          <a:xfrm>
            <a:off x="4460033" y="1825624"/>
            <a:ext cx="7025951" cy="1477328"/>
          </a:xfrm>
          <a:prstGeom prst="rect">
            <a:avLst/>
          </a:prstGeom>
          <a:noFill/>
        </p:spPr>
        <p:txBody>
          <a:bodyPr wrap="square" rtlCol="0">
            <a:spAutoFit/>
          </a:bodyPr>
          <a:lstStyle/>
          <a:p>
            <a:r>
              <a:rPr lang="en-US" dirty="0">
                <a:solidFill>
                  <a:schemeClr val="accent1"/>
                </a:solidFill>
              </a:rPr>
              <a:t>Methods:</a:t>
            </a:r>
          </a:p>
          <a:p>
            <a:pPr marL="285750" indent="-285750">
              <a:buFontTx/>
              <a:buChar char="-"/>
            </a:pPr>
            <a:r>
              <a:rPr lang="en-US" dirty="0"/>
              <a:t>Brief description of model</a:t>
            </a:r>
          </a:p>
          <a:p>
            <a:pPr marL="285750" indent="-285750">
              <a:buFontTx/>
              <a:buChar char="-"/>
            </a:pPr>
            <a:r>
              <a:rPr lang="en-US" dirty="0"/>
              <a:t>Brief statement on prior selection</a:t>
            </a:r>
          </a:p>
          <a:p>
            <a:pPr marL="285750" indent="-285750">
              <a:buFontTx/>
              <a:buChar char="-"/>
            </a:pPr>
            <a:r>
              <a:rPr lang="en-US" dirty="0"/>
              <a:t>Statement of diagnostics used </a:t>
            </a:r>
          </a:p>
          <a:p>
            <a:pPr marL="285750" indent="-285750">
              <a:buFontTx/>
              <a:buChar char="-"/>
            </a:pPr>
            <a:r>
              <a:rPr lang="en-US" dirty="0"/>
              <a:t>Methods for model comparison or hypothesis test</a:t>
            </a:r>
            <a:endParaRPr lang="en-IL" dirty="0"/>
          </a:p>
        </p:txBody>
      </p:sp>
      <p:sp>
        <p:nvSpPr>
          <p:cNvPr id="6" name="TextBox 5">
            <a:extLst>
              <a:ext uri="{FF2B5EF4-FFF2-40B4-BE49-F238E27FC236}">
                <a16:creationId xmlns:a16="http://schemas.microsoft.com/office/drawing/2014/main" id="{93B8BCE3-CACF-8A99-6B9E-DB78FDCDDC99}"/>
              </a:ext>
            </a:extLst>
          </p:cNvPr>
          <p:cNvSpPr txBox="1"/>
          <p:nvPr/>
        </p:nvSpPr>
        <p:spPr>
          <a:xfrm>
            <a:off x="4460033" y="3753982"/>
            <a:ext cx="7025951" cy="1477328"/>
          </a:xfrm>
          <a:prstGeom prst="rect">
            <a:avLst/>
          </a:prstGeom>
          <a:noFill/>
        </p:spPr>
        <p:txBody>
          <a:bodyPr wrap="square" rtlCol="0">
            <a:spAutoFit/>
          </a:bodyPr>
          <a:lstStyle/>
          <a:p>
            <a:r>
              <a:rPr lang="en-US" dirty="0">
                <a:solidFill>
                  <a:schemeClr val="accent1"/>
                </a:solidFill>
              </a:rPr>
              <a:t>Results:</a:t>
            </a:r>
          </a:p>
          <a:p>
            <a:pPr marL="285750" indent="-285750">
              <a:buFontTx/>
              <a:buChar char="-"/>
            </a:pPr>
            <a:r>
              <a:rPr lang="en-US" dirty="0"/>
              <a:t>HDI for each important parameter</a:t>
            </a:r>
          </a:p>
          <a:p>
            <a:pPr marL="285750" indent="-285750">
              <a:buFontTx/>
              <a:buChar char="-"/>
            </a:pPr>
            <a:r>
              <a:rPr lang="en-US" dirty="0"/>
              <a:t>HDI, ROPE (if applicable), and effect size for important comparisons</a:t>
            </a:r>
          </a:p>
          <a:p>
            <a:pPr marL="285750" indent="-285750">
              <a:buFontTx/>
              <a:buChar char="-"/>
            </a:pPr>
            <a:r>
              <a:rPr lang="en-US" dirty="0"/>
              <a:t>Model comparison table if appropriate</a:t>
            </a:r>
          </a:p>
          <a:p>
            <a:pPr marL="285750" indent="-285750">
              <a:buFontTx/>
              <a:buChar char="-"/>
            </a:pPr>
            <a:endParaRPr lang="en-IL" dirty="0"/>
          </a:p>
        </p:txBody>
      </p:sp>
    </p:spTree>
    <p:extLst>
      <p:ext uri="{BB962C8B-B14F-4D97-AF65-F5344CB8AC3E}">
        <p14:creationId xmlns:p14="http://schemas.microsoft.com/office/powerpoint/2010/main" val="18319395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CAC81-B644-9D42-8B96-01A1E715C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21772-CD3E-31B1-9614-ECC2FFE69BE3}"/>
              </a:ext>
            </a:extLst>
          </p:cNvPr>
          <p:cNvSpPr>
            <a:spLocks noGrp="1"/>
          </p:cNvSpPr>
          <p:nvPr>
            <p:ph type="title"/>
          </p:nvPr>
        </p:nvSpPr>
        <p:spPr/>
        <p:txBody>
          <a:bodyPr/>
          <a:lstStyle/>
          <a:p>
            <a:r>
              <a:rPr lang="en-US" dirty="0"/>
              <a:t>General reporting guidelines</a:t>
            </a:r>
            <a:endParaRPr lang="en-IL" dirty="0"/>
          </a:p>
        </p:txBody>
      </p:sp>
      <p:sp>
        <p:nvSpPr>
          <p:cNvPr id="3" name="Content Placeholder 2">
            <a:extLst>
              <a:ext uri="{FF2B5EF4-FFF2-40B4-BE49-F238E27FC236}">
                <a16:creationId xmlns:a16="http://schemas.microsoft.com/office/drawing/2014/main" id="{FF453F44-0EE2-835C-D63C-F5587E092396}"/>
              </a:ext>
            </a:extLst>
          </p:cNvPr>
          <p:cNvSpPr>
            <a:spLocks noGrp="1"/>
          </p:cNvSpPr>
          <p:nvPr>
            <p:ph idx="1"/>
          </p:nvPr>
        </p:nvSpPr>
        <p:spPr>
          <a:xfrm>
            <a:off x="838200" y="1825624"/>
            <a:ext cx="3257939" cy="3940693"/>
          </a:xfrm>
        </p:spPr>
        <p:txBody>
          <a:bodyPr>
            <a:normAutofit/>
          </a:bodyPr>
          <a:lstStyle/>
          <a:p>
            <a:r>
              <a:rPr lang="en-US" dirty="0"/>
              <a:t>Three levels</a:t>
            </a:r>
          </a:p>
          <a:p>
            <a:pPr lvl="1"/>
            <a:r>
              <a:rPr lang="en-US" dirty="0"/>
              <a:t>Document</a:t>
            </a:r>
          </a:p>
          <a:p>
            <a:pPr lvl="2"/>
            <a:r>
              <a:rPr lang="en-US" dirty="0"/>
              <a:t>Methods</a:t>
            </a:r>
          </a:p>
          <a:p>
            <a:pPr lvl="2"/>
            <a:r>
              <a:rPr lang="en-US" dirty="0"/>
              <a:t>Results</a:t>
            </a:r>
          </a:p>
          <a:p>
            <a:pPr lvl="1"/>
            <a:r>
              <a:rPr lang="en-US" dirty="0">
                <a:solidFill>
                  <a:schemeClr val="accent1"/>
                </a:solidFill>
              </a:rPr>
              <a:t>Appendix</a:t>
            </a:r>
          </a:p>
          <a:p>
            <a:pPr lvl="2"/>
            <a:r>
              <a:rPr lang="en-US" dirty="0">
                <a:solidFill>
                  <a:schemeClr val="accent1"/>
                </a:solidFill>
              </a:rPr>
              <a:t>Model description</a:t>
            </a:r>
          </a:p>
          <a:p>
            <a:pPr lvl="2"/>
            <a:r>
              <a:rPr lang="en-US" dirty="0">
                <a:solidFill>
                  <a:schemeClr val="accent1"/>
                </a:solidFill>
              </a:rPr>
              <a:t>Diagnostics</a:t>
            </a:r>
          </a:p>
          <a:p>
            <a:pPr lvl="2"/>
            <a:r>
              <a:rPr lang="en-US" dirty="0">
                <a:solidFill>
                  <a:schemeClr val="accent1"/>
                </a:solidFill>
              </a:rPr>
              <a:t>Results</a:t>
            </a:r>
          </a:p>
          <a:p>
            <a:pPr lvl="1"/>
            <a:r>
              <a:rPr lang="en-US" dirty="0"/>
              <a:t>Repository</a:t>
            </a:r>
          </a:p>
          <a:p>
            <a:pPr lvl="1"/>
            <a:endParaRPr lang="en-IL" dirty="0"/>
          </a:p>
        </p:txBody>
      </p:sp>
      <p:sp>
        <p:nvSpPr>
          <p:cNvPr id="4" name="Slide Number Placeholder 3">
            <a:extLst>
              <a:ext uri="{FF2B5EF4-FFF2-40B4-BE49-F238E27FC236}">
                <a16:creationId xmlns:a16="http://schemas.microsoft.com/office/drawing/2014/main" id="{551D92C7-2F6C-70BD-F5E5-8EF007BB4AA2}"/>
              </a:ext>
            </a:extLst>
          </p:cNvPr>
          <p:cNvSpPr>
            <a:spLocks noGrp="1"/>
          </p:cNvSpPr>
          <p:nvPr>
            <p:ph type="sldNum" sz="quarter" idx="12"/>
          </p:nvPr>
        </p:nvSpPr>
        <p:spPr/>
        <p:txBody>
          <a:bodyPr/>
          <a:lstStyle/>
          <a:p>
            <a:fld id="{E0DC7AD3-7C2E-418B-8082-788996B615FB}" type="slidenum">
              <a:rPr lang="en-GB" smtClean="0"/>
              <a:t>72</a:t>
            </a:fld>
            <a:endParaRPr lang="en-GB"/>
          </a:p>
        </p:txBody>
      </p:sp>
      <p:sp>
        <p:nvSpPr>
          <p:cNvPr id="5" name="TextBox 4">
            <a:extLst>
              <a:ext uri="{FF2B5EF4-FFF2-40B4-BE49-F238E27FC236}">
                <a16:creationId xmlns:a16="http://schemas.microsoft.com/office/drawing/2014/main" id="{89BFEBAF-7ED9-7FCE-05E0-C8EA376845F3}"/>
              </a:ext>
            </a:extLst>
          </p:cNvPr>
          <p:cNvSpPr txBox="1"/>
          <p:nvPr/>
        </p:nvSpPr>
        <p:spPr>
          <a:xfrm>
            <a:off x="4460030" y="1617445"/>
            <a:ext cx="7025951" cy="1200329"/>
          </a:xfrm>
          <a:prstGeom prst="rect">
            <a:avLst/>
          </a:prstGeom>
          <a:noFill/>
        </p:spPr>
        <p:txBody>
          <a:bodyPr wrap="square" rtlCol="0">
            <a:spAutoFit/>
          </a:bodyPr>
          <a:lstStyle/>
          <a:p>
            <a:r>
              <a:rPr lang="en-US" dirty="0">
                <a:solidFill>
                  <a:schemeClr val="accent1"/>
                </a:solidFill>
              </a:rPr>
              <a:t>Model description:</a:t>
            </a:r>
          </a:p>
          <a:p>
            <a:pPr marL="285750" indent="-285750">
              <a:buFontTx/>
              <a:buChar char="-"/>
            </a:pPr>
            <a:r>
              <a:rPr lang="en-US" dirty="0"/>
              <a:t>Model description with equations and diagram</a:t>
            </a:r>
          </a:p>
          <a:p>
            <a:pPr marL="285750" indent="-285750">
              <a:buFontTx/>
              <a:buChar char="-"/>
            </a:pPr>
            <a:r>
              <a:rPr lang="en-US" dirty="0"/>
              <a:t>Full specification of priors with statement on prior selection</a:t>
            </a:r>
          </a:p>
          <a:p>
            <a:pPr marL="285750" indent="-285750">
              <a:buFontTx/>
              <a:buChar char="-"/>
            </a:pPr>
            <a:r>
              <a:rPr lang="en-US" dirty="0"/>
              <a:t>Sampling algorithms and parameters of those algorithms</a:t>
            </a:r>
          </a:p>
        </p:txBody>
      </p:sp>
      <p:sp>
        <p:nvSpPr>
          <p:cNvPr id="6" name="TextBox 5">
            <a:extLst>
              <a:ext uri="{FF2B5EF4-FFF2-40B4-BE49-F238E27FC236}">
                <a16:creationId xmlns:a16="http://schemas.microsoft.com/office/drawing/2014/main" id="{9E458564-431B-69E7-0A9D-A4BE947B7552}"/>
              </a:ext>
            </a:extLst>
          </p:cNvPr>
          <p:cNvSpPr txBox="1"/>
          <p:nvPr/>
        </p:nvSpPr>
        <p:spPr>
          <a:xfrm>
            <a:off x="4460028" y="4507587"/>
            <a:ext cx="7025951" cy="2031325"/>
          </a:xfrm>
          <a:prstGeom prst="rect">
            <a:avLst/>
          </a:prstGeom>
          <a:noFill/>
        </p:spPr>
        <p:txBody>
          <a:bodyPr wrap="square" rtlCol="0">
            <a:spAutoFit/>
          </a:bodyPr>
          <a:lstStyle/>
          <a:p>
            <a:r>
              <a:rPr lang="en-US" dirty="0">
                <a:solidFill>
                  <a:schemeClr val="accent1"/>
                </a:solidFill>
              </a:rPr>
              <a:t>Results:</a:t>
            </a:r>
          </a:p>
          <a:p>
            <a:pPr marL="285750" indent="-285750">
              <a:buFontTx/>
              <a:buChar char="-"/>
            </a:pPr>
            <a:r>
              <a:rPr lang="en-US" dirty="0"/>
              <a:t>Table of parameters with</a:t>
            </a:r>
          </a:p>
          <a:p>
            <a:pPr marL="742950" lvl="1" indent="-285750">
              <a:buFontTx/>
              <a:buChar char="-"/>
            </a:pPr>
            <a:r>
              <a:rPr lang="en-US" dirty="0"/>
              <a:t>Mean</a:t>
            </a:r>
          </a:p>
          <a:p>
            <a:pPr marL="742950" lvl="1" indent="-285750">
              <a:buFontTx/>
              <a:buChar char="-"/>
            </a:pPr>
            <a:r>
              <a:rPr lang="en-US" dirty="0"/>
              <a:t>HDI</a:t>
            </a:r>
          </a:p>
          <a:p>
            <a:pPr marL="742950" lvl="1" indent="-285750">
              <a:buFontTx/>
              <a:buChar char="-"/>
            </a:pPr>
            <a:r>
              <a:rPr lang="en-US" dirty="0"/>
              <a:t>ESS and MCSE</a:t>
            </a:r>
          </a:p>
          <a:p>
            <a:pPr marL="742950" lvl="1" indent="-285750">
              <a:buFontTx/>
              <a:buChar char="-"/>
            </a:pPr>
            <a:r>
              <a:rPr lang="en-US" dirty="0"/>
              <a:t>Prior or prior HDI (if applicable)</a:t>
            </a:r>
          </a:p>
          <a:p>
            <a:pPr marL="285750" indent="-285750">
              <a:buFontTx/>
              <a:buChar char="-"/>
            </a:pPr>
            <a:endParaRPr lang="en-IL" dirty="0"/>
          </a:p>
        </p:txBody>
      </p:sp>
      <p:sp>
        <p:nvSpPr>
          <p:cNvPr id="7" name="TextBox 6">
            <a:extLst>
              <a:ext uri="{FF2B5EF4-FFF2-40B4-BE49-F238E27FC236}">
                <a16:creationId xmlns:a16="http://schemas.microsoft.com/office/drawing/2014/main" id="{3BB87E4F-A1F3-25F0-32CC-7E6DECC473E9}"/>
              </a:ext>
            </a:extLst>
          </p:cNvPr>
          <p:cNvSpPr txBox="1"/>
          <p:nvPr/>
        </p:nvSpPr>
        <p:spPr>
          <a:xfrm>
            <a:off x="4460029" y="3037185"/>
            <a:ext cx="7025951" cy="1200329"/>
          </a:xfrm>
          <a:prstGeom prst="rect">
            <a:avLst/>
          </a:prstGeom>
          <a:noFill/>
        </p:spPr>
        <p:txBody>
          <a:bodyPr wrap="square" rtlCol="0">
            <a:spAutoFit/>
          </a:bodyPr>
          <a:lstStyle/>
          <a:p>
            <a:r>
              <a:rPr lang="en-US" dirty="0">
                <a:solidFill>
                  <a:schemeClr val="accent1"/>
                </a:solidFill>
              </a:rPr>
              <a:t>Diagnostics:</a:t>
            </a:r>
          </a:p>
          <a:p>
            <a:pPr marL="285750" indent="-285750">
              <a:buFontTx/>
              <a:buChar char="-"/>
            </a:pPr>
            <a:r>
              <a:rPr lang="en-US" dirty="0"/>
              <a:t>Prior predictive plots and statistics</a:t>
            </a:r>
          </a:p>
          <a:p>
            <a:pPr marL="285750" indent="-285750">
              <a:buFontTx/>
              <a:buChar char="-"/>
            </a:pPr>
            <a:r>
              <a:rPr lang="en-US" dirty="0"/>
              <a:t>Diagnostic plots and statistics</a:t>
            </a:r>
          </a:p>
          <a:p>
            <a:pPr marL="285750" indent="-285750">
              <a:buFontTx/>
              <a:buChar char="-"/>
            </a:pPr>
            <a:r>
              <a:rPr lang="en-US" dirty="0"/>
              <a:t>Posterior predictive plots and statistics</a:t>
            </a:r>
          </a:p>
        </p:txBody>
      </p:sp>
    </p:spTree>
    <p:extLst>
      <p:ext uri="{BB962C8B-B14F-4D97-AF65-F5344CB8AC3E}">
        <p14:creationId xmlns:p14="http://schemas.microsoft.com/office/powerpoint/2010/main" val="33207192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62131-01CA-1771-7DAE-D19137D0F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1E153F-AE33-7C24-F3D5-195E3A6AAC5F}"/>
              </a:ext>
            </a:extLst>
          </p:cNvPr>
          <p:cNvSpPr>
            <a:spLocks noGrp="1"/>
          </p:cNvSpPr>
          <p:nvPr>
            <p:ph type="title"/>
          </p:nvPr>
        </p:nvSpPr>
        <p:spPr/>
        <p:txBody>
          <a:bodyPr/>
          <a:lstStyle/>
          <a:p>
            <a:r>
              <a:rPr lang="en-US" dirty="0"/>
              <a:t>General reporting guidelines</a:t>
            </a:r>
            <a:endParaRPr lang="en-IL" dirty="0"/>
          </a:p>
        </p:txBody>
      </p:sp>
      <p:sp>
        <p:nvSpPr>
          <p:cNvPr id="3" name="Content Placeholder 2">
            <a:extLst>
              <a:ext uri="{FF2B5EF4-FFF2-40B4-BE49-F238E27FC236}">
                <a16:creationId xmlns:a16="http://schemas.microsoft.com/office/drawing/2014/main" id="{AC94CF34-F82D-5F3E-2DC0-F0017F730AA5}"/>
              </a:ext>
            </a:extLst>
          </p:cNvPr>
          <p:cNvSpPr>
            <a:spLocks noGrp="1"/>
          </p:cNvSpPr>
          <p:nvPr>
            <p:ph idx="1"/>
          </p:nvPr>
        </p:nvSpPr>
        <p:spPr>
          <a:xfrm>
            <a:off x="838200" y="1825624"/>
            <a:ext cx="3489649" cy="4530726"/>
          </a:xfrm>
        </p:spPr>
        <p:txBody>
          <a:bodyPr>
            <a:normAutofit/>
          </a:bodyPr>
          <a:lstStyle/>
          <a:p>
            <a:r>
              <a:rPr lang="en-US" dirty="0"/>
              <a:t>Three levels</a:t>
            </a:r>
          </a:p>
          <a:p>
            <a:pPr lvl="1"/>
            <a:r>
              <a:rPr lang="en-US" dirty="0"/>
              <a:t>Document</a:t>
            </a:r>
          </a:p>
          <a:p>
            <a:pPr lvl="2"/>
            <a:r>
              <a:rPr lang="en-US" dirty="0"/>
              <a:t>Methods</a:t>
            </a:r>
          </a:p>
          <a:p>
            <a:pPr lvl="2"/>
            <a:r>
              <a:rPr lang="en-US" dirty="0"/>
              <a:t>Results</a:t>
            </a:r>
          </a:p>
          <a:p>
            <a:pPr lvl="1"/>
            <a:r>
              <a:rPr lang="en-US" dirty="0"/>
              <a:t>Appendix</a:t>
            </a:r>
          </a:p>
          <a:p>
            <a:pPr lvl="2"/>
            <a:r>
              <a:rPr lang="en-US" dirty="0"/>
              <a:t>Model description</a:t>
            </a:r>
          </a:p>
          <a:p>
            <a:pPr lvl="2"/>
            <a:r>
              <a:rPr lang="en-US" dirty="0"/>
              <a:t>Diagnostics</a:t>
            </a:r>
          </a:p>
          <a:p>
            <a:pPr lvl="2"/>
            <a:r>
              <a:rPr lang="en-US" dirty="0"/>
              <a:t>Results</a:t>
            </a:r>
          </a:p>
          <a:p>
            <a:pPr lvl="1"/>
            <a:r>
              <a:rPr lang="en-US" dirty="0">
                <a:solidFill>
                  <a:schemeClr val="accent1"/>
                </a:solidFill>
              </a:rPr>
              <a:t>Repository</a:t>
            </a:r>
          </a:p>
          <a:p>
            <a:pPr lvl="2"/>
            <a:r>
              <a:rPr lang="en-US" dirty="0">
                <a:solidFill>
                  <a:schemeClr val="accent1"/>
                </a:solidFill>
              </a:rPr>
              <a:t>Data</a:t>
            </a:r>
          </a:p>
          <a:p>
            <a:pPr lvl="2"/>
            <a:r>
              <a:rPr lang="en-US" dirty="0">
                <a:solidFill>
                  <a:schemeClr val="accent1"/>
                </a:solidFill>
              </a:rPr>
              <a:t>Code</a:t>
            </a:r>
          </a:p>
          <a:p>
            <a:pPr lvl="2"/>
            <a:r>
              <a:rPr lang="en-US" dirty="0">
                <a:solidFill>
                  <a:schemeClr val="accent1"/>
                </a:solidFill>
              </a:rPr>
              <a:t>Additional analyses</a:t>
            </a:r>
          </a:p>
          <a:p>
            <a:pPr lvl="1"/>
            <a:endParaRPr lang="en-IL" dirty="0"/>
          </a:p>
        </p:txBody>
      </p:sp>
      <p:sp>
        <p:nvSpPr>
          <p:cNvPr id="4" name="Slide Number Placeholder 3">
            <a:extLst>
              <a:ext uri="{FF2B5EF4-FFF2-40B4-BE49-F238E27FC236}">
                <a16:creationId xmlns:a16="http://schemas.microsoft.com/office/drawing/2014/main" id="{75CC8193-5004-9CA7-045F-203412F8B649}"/>
              </a:ext>
            </a:extLst>
          </p:cNvPr>
          <p:cNvSpPr>
            <a:spLocks noGrp="1"/>
          </p:cNvSpPr>
          <p:nvPr>
            <p:ph type="sldNum" sz="quarter" idx="12"/>
          </p:nvPr>
        </p:nvSpPr>
        <p:spPr/>
        <p:txBody>
          <a:bodyPr/>
          <a:lstStyle/>
          <a:p>
            <a:fld id="{E0DC7AD3-7C2E-418B-8082-788996B615FB}" type="slidenum">
              <a:rPr lang="en-GB" smtClean="0"/>
              <a:t>73</a:t>
            </a:fld>
            <a:endParaRPr lang="en-GB"/>
          </a:p>
        </p:txBody>
      </p:sp>
      <p:sp>
        <p:nvSpPr>
          <p:cNvPr id="5" name="TextBox 4">
            <a:extLst>
              <a:ext uri="{FF2B5EF4-FFF2-40B4-BE49-F238E27FC236}">
                <a16:creationId xmlns:a16="http://schemas.microsoft.com/office/drawing/2014/main" id="{18B00741-3EF7-78EA-DA3C-E93E97A72ADB}"/>
              </a:ext>
            </a:extLst>
          </p:cNvPr>
          <p:cNvSpPr txBox="1"/>
          <p:nvPr/>
        </p:nvSpPr>
        <p:spPr>
          <a:xfrm>
            <a:off x="4460030" y="1617445"/>
            <a:ext cx="7025951" cy="646331"/>
          </a:xfrm>
          <a:prstGeom prst="rect">
            <a:avLst/>
          </a:prstGeom>
          <a:noFill/>
        </p:spPr>
        <p:txBody>
          <a:bodyPr wrap="square" rtlCol="0">
            <a:spAutoFit/>
          </a:bodyPr>
          <a:lstStyle/>
          <a:p>
            <a:r>
              <a:rPr lang="en-US" dirty="0">
                <a:solidFill>
                  <a:schemeClr val="accent1"/>
                </a:solidFill>
              </a:rPr>
              <a:t>Data:</a:t>
            </a:r>
          </a:p>
          <a:p>
            <a:pPr marL="285750" indent="-285750">
              <a:buFontTx/>
              <a:buChar char="-"/>
            </a:pPr>
            <a:r>
              <a:rPr lang="en-US" dirty="0"/>
              <a:t>Raw or preprocessed data should be in a public repository</a:t>
            </a:r>
          </a:p>
        </p:txBody>
      </p:sp>
      <p:sp>
        <p:nvSpPr>
          <p:cNvPr id="6" name="TextBox 5">
            <a:extLst>
              <a:ext uri="{FF2B5EF4-FFF2-40B4-BE49-F238E27FC236}">
                <a16:creationId xmlns:a16="http://schemas.microsoft.com/office/drawing/2014/main" id="{3AB649B4-9E8B-D509-4A82-439049E99A69}"/>
              </a:ext>
            </a:extLst>
          </p:cNvPr>
          <p:cNvSpPr txBox="1"/>
          <p:nvPr/>
        </p:nvSpPr>
        <p:spPr>
          <a:xfrm>
            <a:off x="4460028" y="4599919"/>
            <a:ext cx="7025951" cy="1477328"/>
          </a:xfrm>
          <a:prstGeom prst="rect">
            <a:avLst/>
          </a:prstGeom>
          <a:noFill/>
        </p:spPr>
        <p:txBody>
          <a:bodyPr wrap="square" rtlCol="0">
            <a:spAutoFit/>
          </a:bodyPr>
          <a:lstStyle/>
          <a:p>
            <a:r>
              <a:rPr lang="en-US" dirty="0">
                <a:solidFill>
                  <a:schemeClr val="accent1"/>
                </a:solidFill>
              </a:rPr>
              <a:t>Additional analyses</a:t>
            </a:r>
          </a:p>
          <a:p>
            <a:pPr marL="285750" indent="-285750">
              <a:buFontTx/>
              <a:buChar char="-"/>
            </a:pPr>
            <a:r>
              <a:rPr lang="en-US" dirty="0"/>
              <a:t>Analyses that did not make the paper</a:t>
            </a:r>
          </a:p>
          <a:p>
            <a:pPr marL="742950" lvl="1" indent="-285750">
              <a:buFontTx/>
              <a:buChar char="-"/>
            </a:pPr>
            <a:r>
              <a:rPr lang="en-US" dirty="0"/>
              <a:t>Additional models</a:t>
            </a:r>
          </a:p>
          <a:p>
            <a:pPr marL="742950" lvl="1" indent="-285750">
              <a:buFontTx/>
              <a:buChar char="-"/>
            </a:pPr>
            <a:r>
              <a:rPr lang="en-US" dirty="0"/>
              <a:t>Alternative prior</a:t>
            </a:r>
          </a:p>
          <a:p>
            <a:pPr marL="285750" indent="-285750">
              <a:buFontTx/>
              <a:buChar char="-"/>
            </a:pPr>
            <a:endParaRPr lang="en-IL" dirty="0"/>
          </a:p>
        </p:txBody>
      </p:sp>
      <p:sp>
        <p:nvSpPr>
          <p:cNvPr id="7" name="TextBox 6">
            <a:extLst>
              <a:ext uri="{FF2B5EF4-FFF2-40B4-BE49-F238E27FC236}">
                <a16:creationId xmlns:a16="http://schemas.microsoft.com/office/drawing/2014/main" id="{2B331CB8-A29B-9D8B-D725-8C31CBF69D99}"/>
              </a:ext>
            </a:extLst>
          </p:cNvPr>
          <p:cNvSpPr txBox="1"/>
          <p:nvPr/>
        </p:nvSpPr>
        <p:spPr>
          <a:xfrm>
            <a:off x="4460028" y="2498973"/>
            <a:ext cx="7025951" cy="2308324"/>
          </a:xfrm>
          <a:prstGeom prst="rect">
            <a:avLst/>
          </a:prstGeom>
          <a:noFill/>
        </p:spPr>
        <p:txBody>
          <a:bodyPr wrap="square" rtlCol="0">
            <a:spAutoFit/>
          </a:bodyPr>
          <a:lstStyle/>
          <a:p>
            <a:r>
              <a:rPr lang="en-US" dirty="0">
                <a:solidFill>
                  <a:schemeClr val="accent1"/>
                </a:solidFill>
              </a:rPr>
              <a:t>Code:</a:t>
            </a:r>
          </a:p>
          <a:p>
            <a:pPr marL="285750" indent="-285750">
              <a:buFontTx/>
              <a:buChar char="-"/>
            </a:pPr>
            <a:r>
              <a:rPr lang="en-US" dirty="0"/>
              <a:t>A Python notebook or script that runs all relevant analyses</a:t>
            </a:r>
          </a:p>
          <a:p>
            <a:pPr marL="742950" lvl="1" indent="-285750">
              <a:buFontTx/>
              <a:buChar char="-"/>
            </a:pPr>
            <a:r>
              <a:rPr lang="en-US" dirty="0"/>
              <a:t>From raw data</a:t>
            </a:r>
          </a:p>
          <a:p>
            <a:pPr marL="742950" lvl="1" indent="-285750">
              <a:buFontTx/>
              <a:buChar char="-"/>
            </a:pPr>
            <a:r>
              <a:rPr lang="en-US" dirty="0"/>
              <a:t>Through modeling and diagnostics</a:t>
            </a:r>
          </a:p>
          <a:p>
            <a:pPr marL="742950" lvl="1" indent="-285750">
              <a:buFontTx/>
              <a:buChar char="-"/>
            </a:pPr>
            <a:r>
              <a:rPr lang="en-US" dirty="0"/>
              <a:t>And through posterior plotting and interpretation</a:t>
            </a:r>
          </a:p>
          <a:p>
            <a:pPr marL="742950" lvl="1" indent="-285750">
              <a:buFontTx/>
              <a:buChar char="-"/>
            </a:pPr>
            <a:r>
              <a:rPr lang="en-US" dirty="0"/>
              <a:t>To statistical inference and model comparison</a:t>
            </a:r>
          </a:p>
          <a:p>
            <a:pPr marL="285750" indent="-285750">
              <a:buFontTx/>
              <a:buChar char="-"/>
            </a:pPr>
            <a:r>
              <a:rPr lang="en-US" dirty="0"/>
              <a:t>Notebook should reproduce all figures and computations in the paper</a:t>
            </a:r>
          </a:p>
          <a:p>
            <a:pPr marL="742950" lvl="1" indent="-285750">
              <a:buFontTx/>
              <a:buChar char="-"/>
            </a:pPr>
            <a:endParaRPr lang="en-US" dirty="0"/>
          </a:p>
        </p:txBody>
      </p:sp>
    </p:spTree>
    <p:extLst>
      <p:ext uri="{BB962C8B-B14F-4D97-AF65-F5344CB8AC3E}">
        <p14:creationId xmlns:p14="http://schemas.microsoft.com/office/powerpoint/2010/main" val="9365160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DF16D6-3703-93BB-4449-B00CB5813842}"/>
              </a:ext>
            </a:extLst>
          </p:cNvPr>
          <p:cNvSpPr>
            <a:spLocks noGrp="1"/>
          </p:cNvSpPr>
          <p:nvPr>
            <p:ph type="title"/>
          </p:nvPr>
        </p:nvSpPr>
        <p:spPr/>
        <p:txBody>
          <a:bodyPr/>
          <a:lstStyle/>
          <a:p>
            <a:r>
              <a:rPr lang="en-US" dirty="0"/>
              <a:t>A summary of the role of each part</a:t>
            </a:r>
            <a:endParaRPr lang="en-IL" dirty="0"/>
          </a:p>
        </p:txBody>
      </p:sp>
      <p:pic>
        <p:nvPicPr>
          <p:cNvPr id="6" name="Graphic 5">
            <a:extLst>
              <a:ext uri="{FF2B5EF4-FFF2-40B4-BE49-F238E27FC236}">
                <a16:creationId xmlns:a16="http://schemas.microsoft.com/office/drawing/2014/main" id="{348E4DEC-EE64-F766-FA75-899CAFCB40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81018" y="1938470"/>
            <a:ext cx="8285018" cy="4554406"/>
          </a:xfrm>
          <a:prstGeom prst="rect">
            <a:avLst/>
          </a:prstGeom>
        </p:spPr>
      </p:pic>
    </p:spTree>
    <p:extLst>
      <p:ext uri="{BB962C8B-B14F-4D97-AF65-F5344CB8AC3E}">
        <p14:creationId xmlns:p14="http://schemas.microsoft.com/office/powerpoint/2010/main" val="9186425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bg>
      <p:bgPr>
        <a:gradFill>
          <a:gsLst>
            <a:gs pos="0">
              <a:srgbClr val="F2F7FC"/>
            </a:gs>
            <a:gs pos="100000">
              <a:srgbClr val="B8D3EA"/>
            </a:gs>
          </a:gsLst>
          <a:lin ang="5400000" scaled="1"/>
        </a:gradFill>
        <a:effectLst/>
      </p:bgPr>
    </p:bg>
    <p:spTree>
      <p:nvGrpSpPr>
        <p:cNvPr id="1" name="">
          <a:extLst>
            <a:ext uri="{FF2B5EF4-FFF2-40B4-BE49-F238E27FC236}">
              <a16:creationId xmlns:a16="http://schemas.microsoft.com/office/drawing/2014/main" id="{1E6EA9BD-C8A3-25AE-809E-EC19325AC27B}"/>
            </a:ext>
          </a:extLst>
        </p:cNvPr>
        <p:cNvGrpSpPr/>
        <p:nvPr/>
      </p:nvGrpSpPr>
      <p:grpSpPr bwMode="auto">
        <a:xfrm>
          <a:off x="0" y="0"/>
          <a:ext cx="0" cy="0"/>
          <a:chOff x="0" y="0"/>
          <a:chExt cx="0" cy="0"/>
        </a:xfrm>
      </p:grpSpPr>
      <p:sp>
        <p:nvSpPr>
          <p:cNvPr id="651710383" name="Title 1">
            <a:extLst>
              <a:ext uri="{FF2B5EF4-FFF2-40B4-BE49-F238E27FC236}">
                <a16:creationId xmlns:a16="http://schemas.microsoft.com/office/drawing/2014/main" id="{29B93491-8FA7-26C0-F153-96E7B5158158}"/>
              </a:ext>
            </a:extLst>
          </p:cNvPr>
          <p:cNvSpPr>
            <a:spLocks noGrp="1"/>
          </p:cNvSpPr>
          <p:nvPr>
            <p:ph type="title"/>
          </p:nvPr>
        </p:nvSpPr>
        <p:spPr bwMode="auto">
          <a:xfrm>
            <a:off x="558799" y="609599"/>
            <a:ext cx="10066061" cy="1184599"/>
          </a:xfrm>
        </p:spPr>
        <p:txBody>
          <a:bodyPr wrap="none" anchor="t"/>
          <a:lstStyle/>
          <a:p>
            <a:pPr algn="l">
              <a:defRPr sz="5000">
                <a:solidFill>
                  <a:srgbClr val="000000"/>
                </a:solidFill>
                <a:latin typeface="Arial"/>
                <a:cs typeface="Arial"/>
              </a:defRPr>
            </a:pPr>
            <a:r>
              <a:rPr lang="en-US" sz="5000" dirty="0">
                <a:solidFill>
                  <a:srgbClr val="000000"/>
                </a:solidFill>
                <a:latin typeface="Arial"/>
                <a:cs typeface="Arial"/>
              </a:rPr>
              <a:t>12.11 Ownership of the workflow</a:t>
            </a:r>
            <a:endParaRPr dirty="0"/>
          </a:p>
        </p:txBody>
      </p:sp>
      <p:sp>
        <p:nvSpPr>
          <p:cNvPr id="1591332286" name="Text Placeholder 2">
            <a:extLst>
              <a:ext uri="{FF2B5EF4-FFF2-40B4-BE49-F238E27FC236}">
                <a16:creationId xmlns:a16="http://schemas.microsoft.com/office/drawing/2014/main" id="{29E8F7A4-FF8D-0034-28E0-9F6C6B584636}"/>
              </a:ext>
            </a:extLst>
          </p:cNvPr>
          <p:cNvSpPr>
            <a:spLocks noGrp="1"/>
          </p:cNvSpPr>
          <p:nvPr>
            <p:ph type="body" idx="1"/>
          </p:nvPr>
        </p:nvSpPr>
        <p:spPr bwMode="auto">
          <a:xfrm>
            <a:off x="962890" y="2135908"/>
            <a:ext cx="10040663" cy="1706419"/>
          </a:xfrm>
        </p:spPr>
        <p:txBody>
          <a:bodyPr wrap="none" anchor="t">
            <a:normAutofit/>
          </a:bodyPr>
          <a:lstStyle/>
          <a:p>
            <a:pPr algn="l">
              <a:defRPr sz="3000">
                <a:solidFill>
                  <a:srgbClr val="888888"/>
                </a:solidFill>
                <a:latin typeface="Arial"/>
                <a:cs typeface="Arial"/>
              </a:defRPr>
            </a:pPr>
            <a:r>
              <a:rPr lang="en-US" dirty="0"/>
              <a:t>Understanding the process of science allows one to work</a:t>
            </a:r>
          </a:p>
          <a:p>
            <a:pPr algn="l">
              <a:defRPr sz="3000">
                <a:solidFill>
                  <a:srgbClr val="888888"/>
                </a:solidFill>
                <a:latin typeface="Arial"/>
                <a:cs typeface="Arial"/>
              </a:defRPr>
            </a:pPr>
            <a:r>
              <a:rPr lang="en-US" dirty="0"/>
              <a:t>effectively and meaningfully, but it requires taking ownership of</a:t>
            </a:r>
          </a:p>
          <a:p>
            <a:pPr algn="l">
              <a:defRPr sz="3000">
                <a:solidFill>
                  <a:srgbClr val="888888"/>
                </a:solidFill>
                <a:latin typeface="Arial"/>
                <a:cs typeface="Arial"/>
              </a:defRPr>
            </a:pPr>
            <a:r>
              <a:rPr lang="en-US" dirty="0"/>
              <a:t>the entire process</a:t>
            </a:r>
            <a:endParaRPr dirty="0"/>
          </a:p>
        </p:txBody>
      </p:sp>
    </p:spTree>
    <p:extLst>
      <p:ext uri="{BB962C8B-B14F-4D97-AF65-F5344CB8AC3E}">
        <p14:creationId xmlns:p14="http://schemas.microsoft.com/office/powerpoint/2010/main" val="3258611944"/>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0E951-7D04-3CB6-AD39-EC0AFB5B71E0}"/>
              </a:ext>
            </a:extLst>
          </p:cNvPr>
          <p:cNvSpPr>
            <a:spLocks noGrp="1"/>
          </p:cNvSpPr>
          <p:nvPr>
            <p:ph type="title"/>
          </p:nvPr>
        </p:nvSpPr>
        <p:spPr/>
        <p:txBody>
          <a:bodyPr/>
          <a:lstStyle/>
          <a:p>
            <a:r>
              <a:rPr lang="en-US" dirty="0"/>
              <a:t>A complete workflow</a:t>
            </a:r>
            <a:endParaRPr lang="en-IL" dirty="0"/>
          </a:p>
        </p:txBody>
      </p:sp>
      <p:pic>
        <p:nvPicPr>
          <p:cNvPr id="8" name="Graphic 7">
            <a:extLst>
              <a:ext uri="{FF2B5EF4-FFF2-40B4-BE49-F238E27FC236}">
                <a16:creationId xmlns:a16="http://schemas.microsoft.com/office/drawing/2014/main" id="{B28448DD-A232-F84A-E89A-74A691910E74}"/>
              </a:ext>
            </a:extLst>
          </p:cNvPr>
          <p:cNvPicPr>
            <a:picLocks noChangeAspect="1"/>
          </p:cNvPicPr>
          <p:nvPr/>
        </p:nvPicPr>
        <p:blipFill>
          <a:blip>
            <a:extLst>
              <a:ext uri="{96DAC541-7B7A-43D3-8B79-37D633B846F1}">
                <asvg:svgBlip xmlns:asvg="http://schemas.microsoft.com/office/drawing/2016/SVG/main" r:embed="rId2"/>
              </a:ext>
            </a:extLst>
          </a:blip>
          <a:srcRect t="34711" b="18088"/>
          <a:stretch>
            <a:fillRect/>
          </a:stretch>
        </p:blipFill>
        <p:spPr>
          <a:xfrm>
            <a:off x="2923606" y="2115312"/>
            <a:ext cx="1584386" cy="3834490"/>
          </a:xfrm>
          <a:prstGeom prst="rect">
            <a:avLst/>
          </a:prstGeom>
        </p:spPr>
      </p:pic>
      <p:pic>
        <p:nvPicPr>
          <p:cNvPr id="9" name="Graphic 8">
            <a:extLst>
              <a:ext uri="{FF2B5EF4-FFF2-40B4-BE49-F238E27FC236}">
                <a16:creationId xmlns:a16="http://schemas.microsoft.com/office/drawing/2014/main" id="{BE1492DE-F7DD-16F2-5DF6-4F15C4C4C82F}"/>
              </a:ext>
            </a:extLst>
          </p:cNvPr>
          <p:cNvPicPr>
            <a:picLocks noChangeAspect="1"/>
          </p:cNvPicPr>
          <p:nvPr/>
        </p:nvPicPr>
        <p:blipFill>
          <a:blip>
            <a:extLst>
              <a:ext uri="{96DAC541-7B7A-43D3-8B79-37D633B846F1}">
                <asvg:svgBlip xmlns:asvg="http://schemas.microsoft.com/office/drawing/2016/SVG/main" r:embed="rId2"/>
              </a:ext>
            </a:extLst>
          </a:blip>
          <a:srcRect b="63689"/>
          <a:stretch>
            <a:fillRect/>
          </a:stretch>
        </p:blipFill>
        <p:spPr>
          <a:xfrm>
            <a:off x="0" y="2115312"/>
            <a:ext cx="1911295" cy="3558540"/>
          </a:xfrm>
          <a:prstGeom prst="rect">
            <a:avLst/>
          </a:prstGeom>
        </p:spPr>
      </p:pic>
      <p:pic>
        <p:nvPicPr>
          <p:cNvPr id="11" name="Graphic 10">
            <a:extLst>
              <a:ext uri="{FF2B5EF4-FFF2-40B4-BE49-F238E27FC236}">
                <a16:creationId xmlns:a16="http://schemas.microsoft.com/office/drawing/2014/main" id="{A0A86F1D-27B3-4260-649C-250F9090A4E2}"/>
              </a:ext>
            </a:extLst>
          </p:cNvPr>
          <p:cNvPicPr>
            <a:picLocks noChangeAspect="1"/>
          </p:cNvPicPr>
          <p:nvPr/>
        </p:nvPicPr>
        <p:blipFill>
          <a:blip>
            <a:extLst>
              <a:ext uri="{96DAC541-7B7A-43D3-8B79-37D633B846F1}">
                <asvg:svgBlip xmlns:asvg="http://schemas.microsoft.com/office/drawing/2016/SVG/main" r:embed="rId2"/>
              </a:ext>
            </a:extLst>
          </a:blip>
          <a:srcRect t="81910"/>
          <a:stretch>
            <a:fillRect/>
          </a:stretch>
        </p:blipFill>
        <p:spPr>
          <a:xfrm>
            <a:off x="5427251" y="2313432"/>
            <a:ext cx="1715267" cy="1591056"/>
          </a:xfrm>
          <a:prstGeom prst="rect">
            <a:avLst/>
          </a:prstGeom>
        </p:spPr>
      </p:pic>
      <p:cxnSp>
        <p:nvCxnSpPr>
          <p:cNvPr id="13" name="Connector: Elbow 12">
            <a:extLst>
              <a:ext uri="{FF2B5EF4-FFF2-40B4-BE49-F238E27FC236}">
                <a16:creationId xmlns:a16="http://schemas.microsoft.com/office/drawing/2014/main" id="{08E16E5F-B8AD-ABA5-843B-2BE4CDC2C2DF}"/>
              </a:ext>
            </a:extLst>
          </p:cNvPr>
          <p:cNvCxnSpPr>
            <a:cxnSpLocks/>
            <a:endCxn id="8" idx="0"/>
          </p:cNvCxnSpPr>
          <p:nvPr/>
        </p:nvCxnSpPr>
        <p:spPr bwMode="auto">
          <a:xfrm rot="5400000" flipH="1" flipV="1">
            <a:off x="1039485" y="3169802"/>
            <a:ext cx="3730804" cy="1621824"/>
          </a:xfrm>
          <a:prstGeom prst="bentConnector3">
            <a:avLst>
              <a:gd name="adj1" fmla="val 106127"/>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or: Elbow 15">
            <a:extLst>
              <a:ext uri="{FF2B5EF4-FFF2-40B4-BE49-F238E27FC236}">
                <a16:creationId xmlns:a16="http://schemas.microsoft.com/office/drawing/2014/main" id="{9D9F702F-FEF7-27BC-6C8E-110A62737FB0}"/>
              </a:ext>
            </a:extLst>
          </p:cNvPr>
          <p:cNvCxnSpPr>
            <a:cxnSpLocks/>
            <a:stCxn id="9" idx="2"/>
          </p:cNvCxnSpPr>
          <p:nvPr/>
        </p:nvCxnSpPr>
        <p:spPr bwMode="auto">
          <a:xfrm rot="16200000" flipH="1">
            <a:off x="1438680" y="5190819"/>
            <a:ext cx="172264" cy="11383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C9125CF9-522C-D444-5664-47F671C54CA1}"/>
              </a:ext>
            </a:extLst>
          </p:cNvPr>
          <p:cNvCxnSpPr>
            <a:cxnSpLocks/>
            <a:stCxn id="8" idx="2"/>
          </p:cNvCxnSpPr>
          <p:nvPr/>
        </p:nvCxnSpPr>
        <p:spPr bwMode="auto">
          <a:xfrm rot="5400000" flipH="1" flipV="1">
            <a:off x="3317841" y="4192721"/>
            <a:ext cx="2155039" cy="1359124"/>
          </a:xfrm>
          <a:prstGeom prst="bentConnector3">
            <a:avLst>
              <a:gd name="adj1" fmla="val -1060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606014BD-C42B-C7E0-D2F7-7B9D5D943942}"/>
              </a:ext>
            </a:extLst>
          </p:cNvPr>
          <p:cNvCxnSpPr>
            <a:cxnSpLocks/>
            <a:endCxn id="11" idx="0"/>
          </p:cNvCxnSpPr>
          <p:nvPr/>
        </p:nvCxnSpPr>
        <p:spPr bwMode="auto">
          <a:xfrm rot="5400000" flipH="1" flipV="1">
            <a:off x="4939239" y="2449116"/>
            <a:ext cx="1481330" cy="1209962"/>
          </a:xfrm>
          <a:prstGeom prst="bentConnector3">
            <a:avLst>
              <a:gd name="adj1" fmla="val 11543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8763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5">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FAD7C81-72DA-46A9-8301-217C3FDC2A01}">
  <we:reference id="WA200010725" version="1.0.0.1" store="Omex" storeType="OMEX"/>
  <we:alternateReferences>
    <we:reference id="WA200010725" version="1.0.0.1" store="WA200010725" storeType="OMEX"/>
  </we:alternateReferences>
  <we:properties>
    <we:property name="claude.fileId" value="&quot;0d42b379-dcad-4863-88ce-6ea692a6f6b4&quot;"/>
  </we:properties>
  <we:bindings/>
  <we:snapshot xmlns:r="http://schemas.openxmlformats.org/officeDocument/2006/relationships"/>
</we:webextension>
</file>

<file path=ppt/webextensions/webextension2.xml><?xml version="1.0" encoding="utf-8"?>
<we:webextension xmlns:we="http://schemas.microsoft.com/office/webextensions/webextension/2010/11" id="{496D6D80-71FE-4AE5-B69C-A6BCB768FD78}">
  <we:reference id="WA200010215" version="2.0.0.0" store="Omex" storeType="OMEX"/>
  <we:alternateReferences>
    <we:reference id="WA200010215" version="2.0.0.0" store="WA20001021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2396</TotalTime>
  <Words>2643</Words>
  <Application>Microsoft Office PowerPoint</Application>
  <PresentationFormat>Widescreen</PresentationFormat>
  <Paragraphs>521</Paragraphs>
  <Slides>76</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76</vt:i4>
      </vt:variant>
    </vt:vector>
  </HeadingPairs>
  <TitlesOfParts>
    <vt:vector size="81" baseType="lpstr">
      <vt:lpstr>Aptos</vt:lpstr>
      <vt:lpstr>Aptos Display</vt:lpstr>
      <vt:lpstr>Arial</vt:lpstr>
      <vt:lpstr>Office Theme</vt:lpstr>
      <vt:lpstr>1_Office Theme</vt:lpstr>
      <vt:lpstr>Statistics 367-1-4361 Lecture 12: Reproducibility</vt:lpstr>
      <vt:lpstr>12.1 Scientific knowledge</vt:lpstr>
      <vt:lpstr>Science is not perfect</vt:lpstr>
      <vt:lpstr>Sometimes it takes a long time to fix</vt:lpstr>
      <vt:lpstr>And continue to be influential after retraction</vt:lpstr>
      <vt:lpstr>The Ioannadis bombshell, 2005</vt:lpstr>
      <vt:lpstr>Reproducibility of Psychological Science</vt:lpstr>
      <vt:lpstr>Reproducibility of psychological science</vt:lpstr>
      <vt:lpstr>The replication crisis is also in biomedical science</vt:lpstr>
      <vt:lpstr>Scientific knowledge is the result of a long pipeline</vt:lpstr>
      <vt:lpstr>12.2 Where do studies come from?</vt:lpstr>
      <vt:lpstr>The idealized view of scientific logic is simple</vt:lpstr>
      <vt:lpstr>Many factors influence the decision to do a study</vt:lpstr>
      <vt:lpstr>What counts as a scientific question?</vt:lpstr>
      <vt:lpstr>What counts as an engineering question?</vt:lpstr>
      <vt:lpstr>What counts as a clinical question?</vt:lpstr>
      <vt:lpstr>Criteria for good study design</vt:lpstr>
      <vt:lpstr>Pilot data drives studies that drive new pilot data</vt:lpstr>
      <vt:lpstr>12.3 Fragile design</vt:lpstr>
      <vt:lpstr>Does genetically modified food cause cancer?</vt:lpstr>
      <vt:lpstr>Design is fragile: low power and a large number of measures</vt:lpstr>
      <vt:lpstr>Poor design through pseudo-replication</vt:lpstr>
      <vt:lpstr>Selection bias in study design</vt:lpstr>
      <vt:lpstr>Randomized trial sees opposite result</vt:lpstr>
      <vt:lpstr>Confounding variables in study design</vt:lpstr>
      <vt:lpstr>Priming was in the mind of the experimenter</vt:lpstr>
      <vt:lpstr>Bad design is hard to fix after data is collected</vt:lpstr>
      <vt:lpstr>12.4 The significance filter</vt:lpstr>
      <vt:lpstr>Significance turns an estimate into a finding</vt:lpstr>
      <vt:lpstr>There are excess studies at p &lt; 0.05</vt:lpstr>
      <vt:lpstr>Failed drug trials do not get published</vt:lpstr>
      <vt:lpstr>Selection biases which estimates get published</vt:lpstr>
      <vt:lpstr>Small effects lead to inflated estimates</vt:lpstr>
      <vt:lpstr>Multiple tests multiply false positives</vt:lpstr>
      <vt:lpstr>12.5 The garden of forking paths</vt:lpstr>
      <vt:lpstr>Data is analysis involves choices</vt:lpstr>
      <vt:lpstr>Forking paths in EEG analysis</vt:lpstr>
      <vt:lpstr>Forking paths make a difference</vt:lpstr>
      <vt:lpstr>Forking paths affect power and significance</vt:lpstr>
      <vt:lpstr>Experts make different choices</vt:lpstr>
      <vt:lpstr>In traditional reporting all the unused paths are invisible</vt:lpstr>
      <vt:lpstr>Specification curves can make forking paths visible</vt:lpstr>
      <vt:lpstr>12.6 Questionable Research Practices</vt:lpstr>
      <vt:lpstr>Bad research can be unintentional</vt:lpstr>
      <vt:lpstr>Central scientific values</vt:lpstr>
      <vt:lpstr>Questionable Research Methods</vt:lpstr>
      <vt:lpstr>How prevalent are QRPs?</vt:lpstr>
      <vt:lpstr>p-hacking is one of the most problematic QRPs</vt:lpstr>
      <vt:lpstr>Simulation of p-hacking and significance</vt:lpstr>
      <vt:lpstr>Prevalence of p-hacking</vt:lpstr>
      <vt:lpstr>HARKing is QRP to some but not to others </vt:lpstr>
      <vt:lpstr>12.7 Exploration and Confirmation</vt:lpstr>
      <vt:lpstr>Science can be categorized as exploratoration or confirmation</vt:lpstr>
      <vt:lpstr>Exploration, confirmation and harking</vt:lpstr>
      <vt:lpstr>Pre-registration may reduce forking paths</vt:lpstr>
      <vt:lpstr>Preregistration is a way of creating a timestamp </vt:lpstr>
      <vt:lpstr>Deviations are common in pre-registered reports</vt:lpstr>
      <vt:lpstr>12.8 Creating the literature</vt:lpstr>
      <vt:lpstr>A long path leads from results to acceptance</vt:lpstr>
      <vt:lpstr>There are many forms of ‘literature’</vt:lpstr>
      <vt:lpstr>Peer review</vt:lpstr>
      <vt:lpstr>Reviews</vt:lpstr>
      <vt:lpstr>12.9 Incentives and publication bias</vt:lpstr>
      <vt:lpstr>It is always easier to publish positive results</vt:lpstr>
      <vt:lpstr>Preregistration may change literature bias</vt:lpstr>
      <vt:lpstr>Incentives for the scientist</vt:lpstr>
      <vt:lpstr>12.10 Transparent reporting</vt:lpstr>
      <vt:lpstr>When do you need to report statistics?</vt:lpstr>
      <vt:lpstr>Different reporting standards</vt:lpstr>
      <vt:lpstr>General reporting guidelines</vt:lpstr>
      <vt:lpstr>General reporting guidelines</vt:lpstr>
      <vt:lpstr>General reporting guidelines</vt:lpstr>
      <vt:lpstr>General reporting guidelines</vt:lpstr>
      <vt:lpstr>A summary of the role of each part</vt:lpstr>
      <vt:lpstr>12.11 Ownership of the workflow</vt:lpstr>
      <vt:lpstr>A complete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Opher Donchin</dc:creator>
  <cp:lastModifiedBy>Opher Donchin</cp:lastModifiedBy>
  <cp:revision>69</cp:revision>
  <dcterms:created xsi:type="dcterms:W3CDTF">2026-06-22T17:52:38Z</dcterms:created>
  <dcterms:modified xsi:type="dcterms:W3CDTF">2026-07-01T07:43:25Z</dcterms:modified>
</cp:coreProperties>
</file>