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9"/>
  </p:notesMasterIdLst>
  <p:sldIdLst>
    <p:sldId id="256" r:id="rId3"/>
    <p:sldId id="257" r:id="rId4"/>
    <p:sldId id="745" r:id="rId5"/>
    <p:sldId id="746" r:id="rId6"/>
    <p:sldId id="748" r:id="rId7"/>
    <p:sldId id="747" r:id="rId8"/>
    <p:sldId id="750" r:id="rId9"/>
    <p:sldId id="751" r:id="rId10"/>
    <p:sldId id="749" r:id="rId11"/>
    <p:sldId id="752" r:id="rId12"/>
    <p:sldId id="753" r:id="rId13"/>
    <p:sldId id="536" r:id="rId14"/>
    <p:sldId id="537" r:id="rId15"/>
    <p:sldId id="754" r:id="rId16"/>
    <p:sldId id="755" r:id="rId17"/>
    <p:sldId id="573" r:id="rId18"/>
    <p:sldId id="759" r:id="rId19"/>
    <p:sldId id="760" r:id="rId20"/>
    <p:sldId id="761" r:id="rId21"/>
    <p:sldId id="762" r:id="rId22"/>
    <p:sldId id="756" r:id="rId23"/>
    <p:sldId id="772" r:id="rId24"/>
    <p:sldId id="538" r:id="rId25"/>
    <p:sldId id="757" r:id="rId26"/>
    <p:sldId id="311" r:id="rId27"/>
    <p:sldId id="758" r:id="rId28"/>
    <p:sldId id="763" r:id="rId29"/>
    <p:sldId id="561" r:id="rId30"/>
    <p:sldId id="564" r:id="rId31"/>
    <p:sldId id="764" r:id="rId32"/>
    <p:sldId id="773" r:id="rId33"/>
    <p:sldId id="774" r:id="rId34"/>
    <p:sldId id="765" r:id="rId35"/>
    <p:sldId id="766" r:id="rId36"/>
    <p:sldId id="768" r:id="rId37"/>
    <p:sldId id="567" r:id="rId38"/>
    <p:sldId id="568" r:id="rId39"/>
    <p:sldId id="770" r:id="rId40"/>
    <p:sldId id="767" r:id="rId41"/>
    <p:sldId id="563" r:id="rId42"/>
    <p:sldId id="515" r:id="rId43"/>
    <p:sldId id="517" r:id="rId44"/>
    <p:sldId id="775" r:id="rId45"/>
    <p:sldId id="776" r:id="rId46"/>
    <p:sldId id="777" r:id="rId47"/>
    <p:sldId id="528" r:id="rId48"/>
    <p:sldId id="529" r:id="rId49"/>
    <p:sldId id="778" r:id="rId50"/>
    <p:sldId id="780" r:id="rId51"/>
    <p:sldId id="782" r:id="rId52"/>
    <p:sldId id="783" r:id="rId53"/>
    <p:sldId id="784" r:id="rId54"/>
    <p:sldId id="785" r:id="rId55"/>
    <p:sldId id="786" r:id="rId56"/>
    <p:sldId id="788" r:id="rId57"/>
    <p:sldId id="787" r:id="rId58"/>
    <p:sldId id="789" r:id="rId59"/>
    <p:sldId id="790" r:id="rId60"/>
    <p:sldId id="791" r:id="rId61"/>
    <p:sldId id="792" r:id="rId62"/>
    <p:sldId id="793" r:id="rId63"/>
    <p:sldId id="794" r:id="rId64"/>
    <p:sldId id="795" r:id="rId65"/>
    <p:sldId id="796" r:id="rId66"/>
    <p:sldId id="797" r:id="rId67"/>
    <p:sldId id="798" r:id="rId68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FF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pher Donchin" userId="37446733-118c-46f6-b903-027425f2ef02" providerId="ADAL" clId="{D6F36CC6-EA83-4168-9CF6-23779B26BF1A}"/>
    <pc:docChg chg="undo custSel addSld delSld modSld sldOrd">
      <pc:chgData name="Opher Donchin" userId="37446733-118c-46f6-b903-027425f2ef02" providerId="ADAL" clId="{D6F36CC6-EA83-4168-9CF6-23779B26BF1A}" dt="2026-05-19T07:03:19.160" v="747" actId="21"/>
      <pc:docMkLst>
        <pc:docMk/>
      </pc:docMkLst>
      <pc:sldChg chg="add del">
        <pc:chgData name="Opher Donchin" userId="37446733-118c-46f6-b903-027425f2ef02" providerId="ADAL" clId="{D6F36CC6-EA83-4168-9CF6-23779B26BF1A}" dt="2026-05-19T06:58:45.592" v="453" actId="2696"/>
        <pc:sldMkLst>
          <pc:docMk/>
          <pc:sldMk cId="1541978291" sldId="514"/>
        </pc:sldMkLst>
      </pc:sldChg>
      <pc:sldChg chg="add ord">
        <pc:chgData name="Opher Donchin" userId="37446733-118c-46f6-b903-027425f2ef02" providerId="ADAL" clId="{D6F36CC6-EA83-4168-9CF6-23779B26BF1A}" dt="2026-05-19T06:58:59.868" v="454" actId="1076"/>
        <pc:sldMkLst>
          <pc:docMk/>
          <pc:sldMk cId="572975805" sldId="567"/>
        </pc:sldMkLst>
      </pc:sldChg>
      <pc:sldChg chg="add ord">
        <pc:chgData name="Opher Donchin" userId="37446733-118c-46f6-b903-027425f2ef02" providerId="ADAL" clId="{D6F36CC6-EA83-4168-9CF6-23779B26BF1A}" dt="2026-05-19T06:59:10.066" v="455" actId="1076"/>
        <pc:sldMkLst>
          <pc:docMk/>
          <pc:sldMk cId="2617629677" sldId="568"/>
        </pc:sldMkLst>
      </pc:sldChg>
      <pc:sldChg chg="add del">
        <pc:chgData name="Opher Donchin" userId="37446733-118c-46f6-b903-027425f2ef02" providerId="ADAL" clId="{D6F36CC6-EA83-4168-9CF6-23779B26BF1A}" dt="2026-05-19T06:59:20.195" v="456" actId="2696"/>
        <pc:sldMkLst>
          <pc:docMk/>
          <pc:sldMk cId="3219398935" sldId="569"/>
        </pc:sldMkLst>
      </pc:sldChg>
      <pc:sldChg chg="add del">
        <pc:chgData name="Opher Donchin" userId="37446733-118c-46f6-b903-027425f2ef02" providerId="ADAL" clId="{D6F36CC6-EA83-4168-9CF6-23779B26BF1A}" dt="2026-05-19T06:59:20.778" v="457" actId="2696"/>
        <pc:sldMkLst>
          <pc:docMk/>
          <pc:sldMk cId="1831939552" sldId="570"/>
        </pc:sldMkLst>
      </pc:sldChg>
      <pc:sldChg chg="add del">
        <pc:chgData name="Opher Donchin" userId="37446733-118c-46f6-b903-027425f2ef02" providerId="ADAL" clId="{D6F36CC6-EA83-4168-9CF6-23779B26BF1A}" dt="2026-05-19T06:59:21.338" v="458" actId="2696"/>
        <pc:sldMkLst>
          <pc:docMk/>
          <pc:sldMk cId="3320719229" sldId="571"/>
        </pc:sldMkLst>
      </pc:sldChg>
      <pc:sldChg chg="add del">
        <pc:chgData name="Opher Donchin" userId="37446733-118c-46f6-b903-027425f2ef02" providerId="ADAL" clId="{D6F36CC6-EA83-4168-9CF6-23779B26BF1A}" dt="2026-05-19T06:59:22.051" v="459" actId="2696"/>
        <pc:sldMkLst>
          <pc:docMk/>
          <pc:sldMk cId="936516009" sldId="572"/>
        </pc:sldMkLst>
      </pc:sldChg>
      <pc:sldChg chg="modSp mod">
        <pc:chgData name="Opher Donchin" userId="37446733-118c-46f6-b903-027425f2ef02" providerId="ADAL" clId="{D6F36CC6-EA83-4168-9CF6-23779B26BF1A}" dt="2026-05-19T06:37:37.781" v="164" actId="20577"/>
        <pc:sldMkLst>
          <pc:docMk/>
          <pc:sldMk cId="373249260" sldId="766"/>
        </pc:sldMkLst>
        <pc:spChg chg="mod">
          <ac:chgData name="Opher Donchin" userId="37446733-118c-46f6-b903-027425f2ef02" providerId="ADAL" clId="{D6F36CC6-EA83-4168-9CF6-23779B26BF1A}" dt="2026-05-19T06:37:37.781" v="164" actId="20577"/>
          <ac:spMkLst>
            <pc:docMk/>
            <pc:sldMk cId="373249260" sldId="766"/>
            <ac:spMk id="896357917" creationId="{50216E03-17CC-5FD8-03D2-3847DCAE9C4B}"/>
          </ac:spMkLst>
        </pc:spChg>
        <pc:spChg chg="mod">
          <ac:chgData name="Opher Donchin" userId="37446733-118c-46f6-b903-027425f2ef02" providerId="ADAL" clId="{D6F36CC6-EA83-4168-9CF6-23779B26BF1A}" dt="2026-05-19T06:36:52.559" v="57" actId="20577"/>
          <ac:spMkLst>
            <pc:docMk/>
            <pc:sldMk cId="373249260" sldId="766"/>
            <ac:spMk id="1262648823" creationId="{5995988F-8D65-70D1-CC04-642B046BB8D6}"/>
          </ac:spMkLst>
        </pc:spChg>
      </pc:sldChg>
      <pc:sldChg chg="add">
        <pc:chgData name="Opher Donchin" userId="37446733-118c-46f6-b903-027425f2ef02" providerId="ADAL" clId="{D6F36CC6-EA83-4168-9CF6-23779B26BF1A}" dt="2026-05-19T06:36:37.087" v="2" actId="571"/>
        <pc:sldMkLst>
          <pc:docMk/>
          <pc:sldMk cId="3721580901" sldId="767"/>
        </pc:sldMkLst>
      </pc:sldChg>
      <pc:sldChg chg="addSp delSp modSp add mod">
        <pc:chgData name="Opher Donchin" userId="37446733-118c-46f6-b903-027425f2ef02" providerId="ADAL" clId="{D6F36CC6-EA83-4168-9CF6-23779B26BF1A}" dt="2026-05-19T06:59:34.310" v="460" actId="21"/>
        <pc:sldMkLst>
          <pc:docMk/>
          <pc:sldMk cId="1878480504" sldId="768"/>
        </pc:sldMkLst>
        <pc:spChg chg="mod">
          <ac:chgData name="Opher Donchin" userId="37446733-118c-46f6-b903-027425f2ef02" providerId="ADAL" clId="{D6F36CC6-EA83-4168-9CF6-23779B26BF1A}" dt="2026-05-19T06:50:11.362" v="451" actId="20577"/>
          <ac:spMkLst>
            <pc:docMk/>
            <pc:sldMk cId="1878480504" sldId="768"/>
            <ac:spMk id="49156" creationId="{00000000-0000-0000-0000-000000000000}"/>
          </ac:spMkLst>
        </pc:spChg>
        <pc:spChg chg="mod">
          <ac:chgData name="Opher Donchin" userId="37446733-118c-46f6-b903-027425f2ef02" providerId="ADAL" clId="{D6F36CC6-EA83-4168-9CF6-23779B26BF1A}" dt="2026-05-19T06:39:50.913" v="424" actId="20577"/>
          <ac:spMkLst>
            <pc:docMk/>
            <pc:sldMk cId="1878480504" sldId="768"/>
            <ac:spMk id="375811" creationId="{00000000-0000-0000-0000-000000000000}"/>
          </ac:spMkLst>
        </pc:spChg>
        <pc:picChg chg="add del mod">
          <ac:chgData name="Opher Donchin" userId="37446733-118c-46f6-b903-027425f2ef02" providerId="ADAL" clId="{D6F36CC6-EA83-4168-9CF6-23779B26BF1A}" dt="2026-05-19T06:59:34.310" v="460" actId="21"/>
          <ac:picMkLst>
            <pc:docMk/>
            <pc:sldMk cId="1878480504" sldId="768"/>
            <ac:picMk id="5" creationId="{35F26CEC-F77E-166A-7DA6-7AFAC822BDDB}"/>
          </ac:picMkLst>
        </pc:picChg>
      </pc:sldChg>
      <pc:sldChg chg="add del">
        <pc:chgData name="Opher Donchin" userId="37446733-118c-46f6-b903-027425f2ef02" providerId="ADAL" clId="{D6F36CC6-EA83-4168-9CF6-23779B26BF1A}" dt="2026-05-19T07:03:19.160" v="747" actId="21"/>
        <pc:sldMkLst>
          <pc:docMk/>
          <pc:sldMk cId="961004161" sldId="769"/>
        </pc:sldMkLst>
      </pc:sldChg>
      <pc:sldChg chg="modSp add mod">
        <pc:chgData name="Opher Donchin" userId="37446733-118c-46f6-b903-027425f2ef02" providerId="ADAL" clId="{D6F36CC6-EA83-4168-9CF6-23779B26BF1A}" dt="2026-05-19T07:02:56.804" v="746" actId="20577"/>
        <pc:sldMkLst>
          <pc:docMk/>
          <pc:sldMk cId="82452459" sldId="770"/>
        </pc:sldMkLst>
        <pc:spChg chg="mod">
          <ac:chgData name="Opher Donchin" userId="37446733-118c-46f6-b903-027425f2ef02" providerId="ADAL" clId="{D6F36CC6-EA83-4168-9CF6-23779B26BF1A}" dt="2026-05-19T07:00:00.843" v="518" actId="20577"/>
          <ac:spMkLst>
            <pc:docMk/>
            <pc:sldMk cId="82452459" sldId="770"/>
            <ac:spMk id="49156" creationId="{00000000-0000-0000-0000-000000000000}"/>
          </ac:spMkLst>
        </pc:spChg>
        <pc:spChg chg="mod">
          <ac:chgData name="Opher Donchin" userId="37446733-118c-46f6-b903-027425f2ef02" providerId="ADAL" clId="{D6F36CC6-EA83-4168-9CF6-23779B26BF1A}" dt="2026-05-19T07:02:56.804" v="746" actId="20577"/>
          <ac:spMkLst>
            <pc:docMk/>
            <pc:sldMk cId="82452459" sldId="770"/>
            <ac:spMk id="375811" creationId="{00000000-0000-0000-0000-000000000000}"/>
          </ac:spMkLst>
        </pc:spChg>
        <pc:picChg chg="mod">
          <ac:chgData name="Opher Donchin" userId="37446733-118c-46f6-b903-027425f2ef02" providerId="ADAL" clId="{D6F36CC6-EA83-4168-9CF6-23779B26BF1A}" dt="2026-05-19T07:01:24.422" v="653" actId="1076"/>
          <ac:picMkLst>
            <pc:docMk/>
            <pc:sldMk cId="82452459" sldId="770"/>
            <ac:picMk id="5" creationId="{35F26CEC-F77E-166A-7DA6-7AFAC822BD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9CF176CD-15D1-4787-BBAA-B7F61FF9E39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204755F2-1724-4A9A-9963-AF329A7390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7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E6D4-AB84-FEA5-8DBA-C28019CDF2F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7A469190-D536-BFD1-00B6-ED9B7F7D1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5F9D597A-2EEB-9E9E-0BEB-C9F0F73A80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9390591C-2353-4B9C-33AF-03A935DD69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318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755F2-1724-4A9A-9963-AF329A73906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272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C03F-5DD4-D784-8982-99ED9A0A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90328-DE7C-F10A-1E9B-784661AC3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3C548-21BE-D46B-6551-310B3B7A7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19254-F61F-2E69-6BE6-8516BE4A0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755F2-1724-4A9A-9963-AF329A73906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500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CE16-A5AB-A3A7-A6E4-1307BF8542D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55DF0012-EE75-54A7-694C-F6E93D14F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E08F573B-0715-A1C6-954A-E760161A89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F0302CF1-790A-9E00-F282-1AD073384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3286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E7E32-2DEC-5B71-F705-639F0D5F8DF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CF334D95-C4EA-44B8-B2F7-A51D838CB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3D49A8AA-E12D-ED4F-2CD9-D0A194FF74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80B1B3A6-13AC-1021-8572-9426FBE09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9584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C6E6-5033-7054-0EDA-AB7E9DFBE3E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F19A82EE-26B5-C500-60B0-E53DE6FD6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312F47F2-0DF8-0E20-50D6-997E50F010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40073BC0-DFB5-FB07-74AE-FF7F40539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684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E218A1-F77E-4CC0-B6D0-91781F72E886}" type="slidenum">
              <a:rPr lang="he-IL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204159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05264C-92EF-4594-8D2D-0CC4A70FDC84}" type="slidenum">
              <a:rPr lang="he-IL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804521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309F-8613-24BC-C78E-8FEA3FD7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6CE21990-4507-454D-FC6C-7FC9FA785C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05264C-92EF-4594-8D2D-0CC4A70FDC84}" type="slidenum">
              <a:rPr lang="he-IL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FA0E2B77-DE91-DCAF-0DBA-3AD65D3BED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A0FE3F19-5F71-4C88-ADD7-3CE300731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506976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C5209-FEA5-449B-ABB2-9B3F3400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CE665751-EF7F-323D-8AE0-011E1C0657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05264C-92EF-4594-8D2D-0CC4A70FDC84}" type="slidenum">
              <a:rPr lang="he-IL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50AB14A3-61B9-F4B0-C030-E4E1F66292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000A2722-047E-C7D0-DCDA-5AE37E392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670083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E734-E6E8-E8A0-460E-24396D27532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5F552397-BEAC-F799-E354-86E8A7586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83FA8D3F-D7DF-4349-8212-6D63F195B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5C11B06F-71A7-35B5-C8B7-0D92D6076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201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DF090B-D0D9-4F9E-970D-AFD966E87253}" type="slidenum">
              <a:rPr lang="he-IL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774199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DF090B-D0D9-4F9E-970D-AFD966E87253}" type="slidenum">
              <a:rPr lang="he-IL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774199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E734-E6E8-E8A0-460E-24396D27532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5F552397-BEAC-F799-E354-86E8A7586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83FA8D3F-D7DF-4349-8212-6D63F195B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5C11B06F-71A7-35B5-C8B7-0D92D6076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201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DF090B-D0D9-4F9E-970D-AFD966E87253}" type="slidenum">
              <a:rPr lang="he-IL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254915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972866-9C17-49F7-A7E0-0C8B7939C803}" type="slidenum">
              <a:rPr lang="he-IL"/>
              <a:pPr/>
              <a:t>42</a:t>
            </a:fld>
            <a:endParaRPr lang="en-US"/>
          </a:p>
        </p:txBody>
      </p:sp>
      <p:sp>
        <p:nvSpPr>
          <p:cNvPr id="90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65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90F8-51F5-5EC4-2640-A05214FB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759614C-5489-94E9-AF6F-C893720BFB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972866-9C17-49F7-A7E0-0C8B7939C803}" type="slidenum">
              <a:rPr lang="he-IL"/>
              <a:pPr/>
              <a:t>43</a:t>
            </a:fld>
            <a:endParaRPr lang="en-US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4597B570-579E-C761-C6F1-E5FF672C2B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1BE31E61-9144-39AD-19CC-4275ED0A9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40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7B7A-AAEC-D327-E423-44736F23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7082623-87E8-758D-A8D4-333B49EF9D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972866-9C17-49F7-A7E0-0C8B7939C803}" type="slidenum">
              <a:rPr lang="he-IL"/>
              <a:pPr/>
              <a:t>44</a:t>
            </a:fld>
            <a:endParaRPr lang="en-US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7FBDA546-580B-1442-B24A-BF769FADEA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6C11878D-F475-7A66-91FA-2DBFBA364F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4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CF98-4557-E7D5-36A5-0F735A67269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C1E6EBE6-6FA4-23BF-2C19-7184A91C3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F9CAF85E-0B3F-284D-F109-A1F515D55E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C4997FFA-987A-FB92-B9BB-4E07FDE840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407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98A7EB-30D6-4E62-BA18-F88C470B380E}" type="slidenum">
              <a:rPr lang="he-IL"/>
              <a:pPr/>
              <a:t>46</a:t>
            </a:fld>
            <a:endParaRPr lang="en-US"/>
          </a:p>
        </p:txBody>
      </p:sp>
      <p:sp>
        <p:nvSpPr>
          <p:cNvPr id="91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38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5916-104F-BA7B-DF82-2747FCEB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E92073A-C85C-E955-C2A4-4A871597A3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98A7EB-30D6-4E62-BA18-F88C470B380E}" type="slidenum">
              <a:rPr lang="he-IL"/>
              <a:pPr/>
              <a:t>49</a:t>
            </a:fld>
            <a:endParaRPr lang="en-US"/>
          </a:p>
        </p:txBody>
      </p:sp>
      <p:sp>
        <p:nvSpPr>
          <p:cNvPr id="910338" name="Rectangle 2">
            <a:extLst>
              <a:ext uri="{FF2B5EF4-FFF2-40B4-BE49-F238E27FC236}">
                <a16:creationId xmlns:a16="http://schemas.microsoft.com/office/drawing/2014/main" id="{E65B0C26-BB0C-4F07-1527-C198FEAAA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12FA4E68-87C9-854D-58E6-50C298C04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36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79E6-58A8-2CA4-F6BB-A7468456D20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052B2BE7-FEC2-A098-D13F-6FA678F03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016639E1-4C94-1D96-BF93-1A07C9C231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93ED1CA2-561B-1819-1724-33901C62BF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357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28323-BC22-8967-2842-8492BF2D26C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>
            <a:extLst>
              <a:ext uri="{FF2B5EF4-FFF2-40B4-BE49-F238E27FC236}">
                <a16:creationId xmlns:a16="http://schemas.microsoft.com/office/drawing/2014/main" id="{3A474EC8-6CC1-AF12-102D-6C68B6382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>
            <a:extLst>
              <a:ext uri="{FF2B5EF4-FFF2-40B4-BE49-F238E27FC236}">
                <a16:creationId xmlns:a16="http://schemas.microsoft.com/office/drawing/2014/main" id="{C4C18564-4432-CB53-3666-5723B945BF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>
            <a:extLst>
              <a:ext uri="{FF2B5EF4-FFF2-40B4-BE49-F238E27FC236}">
                <a16:creationId xmlns:a16="http://schemas.microsoft.com/office/drawing/2014/main" id="{C1AEBD8C-B939-5699-549B-E95300D60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CD189B-C584-69B3-87C9-075E42831F2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24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A8F5-E68A-4115-9C25-E96C286CB035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2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02B-C763-46C3-A636-9DFD853B4605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90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E87C-49EE-449B-BBE1-C8D9F03709E3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F79F-283F-4921-8EFE-03DC0706D514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93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B75B-49C2-4C52-A9AA-29208F1CA2A2}" type="datetime1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B34-9D44-4B11-81FA-362E39680C1C}" type="datetime1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3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A9AC-502E-4271-B4D2-4510E701B0BB}" type="datetime1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0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C0ED-09ED-410F-BE71-C5A0E5CAF45C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0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F426-D937-485B-A737-9052C677CC14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65654-1D4B-4B33-B8CE-F5581D9C13AC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2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557C-D1F8-4213-9381-806C9A51FC91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652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7475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414087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956607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6918576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874330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885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2324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979574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16873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97479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35809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192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94211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130721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1241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4220955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998459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765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5867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269635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810528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068093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2184542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530246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076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40432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248639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87211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4844774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811201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111445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10925008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2188095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8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449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249937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42026803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5902043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462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31262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372808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986206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7234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3187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1835242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36766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58643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8982075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771405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20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1519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2747399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8805931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86235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5536512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680632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123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5692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719371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92395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3481000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18322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028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6458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667701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76050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4965690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239092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95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9E2CA-F4BC-40A0-B78C-A9A7478F92E3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35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95237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470173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2078483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3AF1EE-65BA-4140-B6B9-7F82C437F84A}" type="datetimeFigureOut">
              <a:rPr lang="en-GB"/>
              <a:t>19/05/2026</a:t>
            </a:fld>
            <a:endParaRPr lang="en-GB"/>
          </a:p>
        </p:txBody>
      </p:sp>
      <p:sp>
        <p:nvSpPr>
          <p:cNvPr id="16775930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4817213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8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3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4.png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7.png"/><Relationship Id="rId9" Type="http://schemas.openxmlformats.org/officeDocument/2006/relationships/image" Target="../media/image40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7" Type="http://schemas.openxmlformats.org/officeDocument/2006/relationships/image" Target="../media/image4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png"/><Relationship Id="rId5" Type="http://schemas.openxmlformats.org/officeDocument/2006/relationships/image" Target="../media/image68.wmf"/><Relationship Id="rId4" Type="http://schemas.openxmlformats.org/officeDocument/2006/relationships/oleObject" Target="../embeddings/oleObject13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png"/><Relationship Id="rId5" Type="http://schemas.openxmlformats.org/officeDocument/2006/relationships/image" Target="../media/image72.wmf"/><Relationship Id="rId4" Type="http://schemas.openxmlformats.org/officeDocument/2006/relationships/oleObject" Target="../embeddings/oleObject14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9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Statistics</a:t>
            </a:r>
            <a:br>
              <a:rPr lang="en-US" dirty="0"/>
            </a:br>
            <a:r>
              <a:rPr lang="en-US" dirty="0"/>
              <a:t>367-1-4361</a:t>
            </a:r>
            <a:br>
              <a:rPr lang="en-US" dirty="0"/>
            </a:br>
            <a:r>
              <a:rPr lang="en-US" dirty="0"/>
              <a:t>Linear Models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/>
              <a:t>Opher Donchin</a:t>
            </a:r>
            <a:endParaRPr lang="en-GB" sz="5400"/>
          </a:p>
        </p:txBody>
      </p:sp>
    </p:spTree>
    <p:extLst>
      <p:ext uri="{BB962C8B-B14F-4D97-AF65-F5344CB8AC3E}">
        <p14:creationId xmlns:p14="http://schemas.microsoft.com/office/powerpoint/2010/main" val="209587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2"/>
    </mc:Choice>
    <mc:Fallback xmlns="">
      <p:transition spd="slow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6.1 Effect sizes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The null hypothesis, raw effect sizes, normalized effect sizes</a:t>
            </a:r>
            <a:endParaRPr sz="4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0CDFE6-0F94-C0AB-3E3A-0AC4BEF4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null model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6A3EAA-6775-6AB6-E9BD-81CE5166F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126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default or naïve model</a:t>
            </a:r>
          </a:p>
          <a:p>
            <a:pPr lvl="1"/>
            <a:r>
              <a:rPr lang="en-US" dirty="0"/>
              <a:t>Usually:</a:t>
            </a:r>
          </a:p>
          <a:p>
            <a:pPr lvl="2"/>
            <a:r>
              <a:rPr lang="en-US" dirty="0"/>
              <a:t>No effect</a:t>
            </a:r>
          </a:p>
          <a:p>
            <a:pPr lvl="2"/>
            <a:r>
              <a:rPr lang="en-US" dirty="0"/>
              <a:t>No difference</a:t>
            </a:r>
          </a:p>
          <a:p>
            <a:pPr lvl="2"/>
            <a:r>
              <a:rPr lang="en-US" dirty="0"/>
              <a:t>No relationship</a:t>
            </a:r>
          </a:p>
          <a:p>
            <a:pPr lvl="2"/>
            <a:r>
              <a:rPr lang="en-US" dirty="0"/>
              <a:t>No influence</a:t>
            </a:r>
          </a:p>
          <a:p>
            <a:pPr lvl="1"/>
            <a:r>
              <a:rPr lang="en-US" dirty="0"/>
              <a:t>Can also be:</a:t>
            </a:r>
          </a:p>
          <a:p>
            <a:pPr lvl="2"/>
            <a:r>
              <a:rPr lang="en-US" dirty="0"/>
              <a:t>Any other state we want to test against</a:t>
            </a:r>
          </a:p>
          <a:p>
            <a:endParaRPr lang="en-US" dirty="0"/>
          </a:p>
          <a:p>
            <a:r>
              <a:rPr lang="en-US" dirty="0"/>
              <a:t>For a coin:</a:t>
            </a:r>
          </a:p>
          <a:p>
            <a:pPr lvl="1"/>
            <a:r>
              <a:rPr lang="en-US" dirty="0"/>
              <a:t>The coin has p=0.5</a:t>
            </a:r>
            <a:endParaRPr lang="en-IL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7BF1F36-44FB-8145-2B39-80523E1BF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641472"/>
              </p:ext>
            </p:extLst>
          </p:nvPr>
        </p:nvGraphicFramePr>
        <p:xfrm>
          <a:off x="7696199" y="2491845"/>
          <a:ext cx="2248957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28600" progId="Equation.DSMT4">
                  <p:embed/>
                </p:oleObj>
              </mc:Choice>
              <mc:Fallback>
                <p:oleObj name="Equation" r:id="rId2" imgW="761760" imgH="228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7BF1F36-44FB-8145-2B39-80523E1BFF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96199" y="2491845"/>
                        <a:ext cx="2248957" cy="674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610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0EBC7-CD5E-E42D-C242-87E97B7D0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AEB64-6846-B977-A3ED-BBC0859A2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49655" cy="34760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difference between reality and the null hypothesis</a:t>
            </a:r>
          </a:p>
          <a:p>
            <a:pPr lvl="1"/>
            <a:r>
              <a:rPr lang="en-US" dirty="0"/>
              <a:t>Raw effect size</a:t>
            </a:r>
          </a:p>
          <a:p>
            <a:pPr lvl="2"/>
            <a:r>
              <a:rPr lang="en-US" dirty="0"/>
              <a:t>In actual units of the data</a:t>
            </a:r>
          </a:p>
          <a:p>
            <a:pPr lvl="2"/>
            <a:r>
              <a:rPr lang="en-US" dirty="0"/>
              <a:t>Useful when there is domain knowledge</a:t>
            </a:r>
          </a:p>
          <a:p>
            <a:pPr lvl="2"/>
            <a:endParaRPr lang="en-US" dirty="0"/>
          </a:p>
          <a:p>
            <a:r>
              <a:rPr lang="en-US" dirty="0"/>
              <a:t>For a coin: </a:t>
            </a:r>
          </a:p>
          <a:p>
            <a:pPr lvl="1"/>
            <a:r>
              <a:rPr lang="en-US" dirty="0"/>
              <a:t>A difference between 0.5 and 0.45 looks impressive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33834-08DA-3B2B-549B-BC0FAE204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38" y="4037605"/>
            <a:ext cx="4728668" cy="2455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9668D-785C-BD19-0B93-FC475278683A}"/>
              </a:ext>
            </a:extLst>
          </p:cNvPr>
          <p:cNvSpPr txBox="1"/>
          <p:nvPr/>
        </p:nvSpPr>
        <p:spPr>
          <a:xfrm>
            <a:off x="7640076" y="2494891"/>
            <a:ext cx="4294909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Important distinction: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True effect size: reality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Measured effect size: data</a:t>
            </a:r>
            <a:endParaRPr lang="en-IL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F17EE-127D-F868-17E7-5F9890E32D67}"/>
              </a:ext>
            </a:extLst>
          </p:cNvPr>
          <p:cNvSpPr txBox="1"/>
          <p:nvPr/>
        </p:nvSpPr>
        <p:spPr>
          <a:xfrm>
            <a:off x="341745" y="5920509"/>
            <a:ext cx="214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Barto </a:t>
            </a:r>
            <a:r>
              <a:rPr lang="en-US" dirty="0" err="1"/>
              <a:t>arXiv</a:t>
            </a:r>
            <a:r>
              <a:rPr lang="en-US" dirty="0"/>
              <a:t> 2024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053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B1F9-E7BB-8EBF-DC6E-E6501238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Normalized effect size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8738C4-2CA0-F399-9D25-475BBFCAE7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34745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parameter or statistic designed to be comparable:</a:t>
                </a:r>
              </a:p>
              <a:p>
                <a:pPr lvl="1"/>
                <a:r>
                  <a:rPr lang="en-US" dirty="0"/>
                  <a:t>Across experiments and domains</a:t>
                </a:r>
              </a:p>
              <a:p>
                <a:pPr lvl="1"/>
                <a:r>
                  <a:rPr lang="en-US" dirty="0"/>
                  <a:t>Usually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Usually with table of effect sizes</a:t>
                </a:r>
              </a:p>
              <a:p>
                <a:pPr lvl="2"/>
                <a:r>
                  <a:rPr lang="en-US" dirty="0"/>
                  <a:t>Small</a:t>
                </a:r>
              </a:p>
              <a:p>
                <a:pPr lvl="2"/>
                <a:r>
                  <a:rPr lang="en-US" dirty="0"/>
                  <a:t>Medium</a:t>
                </a:r>
              </a:p>
              <a:p>
                <a:pPr lvl="2"/>
                <a:r>
                  <a:rPr lang="en-US" dirty="0"/>
                  <a:t>Large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For proportions or probabilities</a:t>
                </a:r>
              </a:p>
              <a:p>
                <a:pPr lvl="1"/>
                <a:r>
                  <a:rPr lang="en-US" dirty="0"/>
                  <a:t>Cohen’s h: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ra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e>
                    </m:func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8738C4-2CA0-F399-9D25-475BBFCAE7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34745" cy="4351338"/>
              </a:xfrm>
              <a:blipFill>
                <a:blip r:embed="rId2"/>
                <a:stretch>
                  <a:fillRect l="-1401" t="-30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2EA1265-AEB1-C0CA-B57F-4F277E17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27" y="2516596"/>
            <a:ext cx="2656842" cy="169710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3D5F5D-1D6F-8C74-9A4E-E77C5D364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995679"/>
              </p:ext>
            </p:extLst>
          </p:nvPr>
        </p:nvGraphicFramePr>
        <p:xfrm>
          <a:off x="7897091" y="4701309"/>
          <a:ext cx="4017818" cy="179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909">
                  <a:extLst>
                    <a:ext uri="{9D8B030D-6E8A-4147-A177-3AD203B41FA5}">
                      <a16:colId xmlns:a16="http://schemas.microsoft.com/office/drawing/2014/main" val="1297009625"/>
                    </a:ext>
                  </a:extLst>
                </a:gridCol>
                <a:gridCol w="2008909">
                  <a:extLst>
                    <a:ext uri="{9D8B030D-6E8A-4147-A177-3AD203B41FA5}">
                      <a16:colId xmlns:a16="http://schemas.microsoft.com/office/drawing/2014/main" val="3165029512"/>
                    </a:ext>
                  </a:extLst>
                </a:gridCol>
              </a:tblGrid>
              <a:tr h="447892">
                <a:tc>
                  <a:txBody>
                    <a:bodyPr/>
                    <a:lstStyle/>
                    <a:p>
                      <a:r>
                        <a:rPr lang="en-US" dirty="0"/>
                        <a:t>|Cohen’s h| 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 size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041023"/>
                  </a:ext>
                </a:extLst>
              </a:tr>
              <a:tr h="447892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5859"/>
                  </a:ext>
                </a:extLst>
              </a:tr>
              <a:tr h="447892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339789"/>
                  </a:ext>
                </a:extLst>
              </a:tr>
              <a:tr h="447892"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92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55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D0D29-2239-C149-9461-A2FF33876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E578-B9D8-BC22-EEE1-4BE8743B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vs normalized effect sizes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0B3A0-2297-098C-B483-D8D001FFC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effect size</a:t>
            </a:r>
          </a:p>
          <a:p>
            <a:pPr lvl="1"/>
            <a:r>
              <a:rPr lang="en-US" dirty="0"/>
              <a:t>Depends on domain knowledge</a:t>
            </a:r>
          </a:p>
          <a:p>
            <a:pPr lvl="1"/>
            <a:r>
              <a:rPr lang="en-US" dirty="0"/>
              <a:t>Useful for comparing similar experiments</a:t>
            </a:r>
          </a:p>
          <a:p>
            <a:pPr lvl="1"/>
            <a:r>
              <a:rPr lang="en-US" dirty="0"/>
              <a:t>Meaningful in application and impact</a:t>
            </a:r>
          </a:p>
          <a:p>
            <a:pPr lvl="1"/>
            <a:r>
              <a:rPr lang="en-US" dirty="0"/>
              <a:t>Carries greater weight for experts</a:t>
            </a:r>
          </a:p>
          <a:p>
            <a:r>
              <a:rPr lang="en-US" dirty="0"/>
              <a:t>Normalized effect size</a:t>
            </a:r>
          </a:p>
          <a:p>
            <a:pPr lvl="1"/>
            <a:r>
              <a:rPr lang="en-US" dirty="0"/>
              <a:t>Convenient for non-experts</a:t>
            </a:r>
          </a:p>
          <a:p>
            <a:pPr lvl="1"/>
            <a:r>
              <a:rPr lang="en-US" dirty="0"/>
              <a:t>Useful for comparing across fields</a:t>
            </a:r>
          </a:p>
          <a:p>
            <a:pPr lvl="1"/>
            <a:r>
              <a:rPr lang="en-US" dirty="0"/>
              <a:t>Helpful as a rule of thumb</a:t>
            </a:r>
          </a:p>
        </p:txBody>
      </p:sp>
    </p:spTree>
    <p:extLst>
      <p:ext uri="{BB962C8B-B14F-4D97-AF65-F5344CB8AC3E}">
        <p14:creationId xmlns:p14="http://schemas.microsoft.com/office/powerpoint/2010/main" val="105220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BFB6-43B5-F910-2DDC-3800748A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possible effect sizes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D8AB6F-3535-F90A-FF26-C2A01E2399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4988986"/>
                  </p:ext>
                </p:extLst>
              </p:nvPr>
            </p:nvGraphicFramePr>
            <p:xfrm>
              <a:off x="1706491" y="1861820"/>
              <a:ext cx="8619762" cy="4351339"/>
            </p:xfrm>
            <a:graphic>
              <a:graphicData uri="http://schemas.openxmlformats.org/drawingml/2006/table">
                <a:tbl>
                  <a:tblPr firstRow="1"/>
                  <a:tblGrid>
                    <a:gridCol w="2873254">
                      <a:extLst>
                        <a:ext uri="{9D8B030D-6E8A-4147-A177-3AD203B41FA5}">
                          <a16:colId xmlns:a16="http://schemas.microsoft.com/office/drawing/2014/main" val="2295296400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194194411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4127651150"/>
                        </a:ext>
                      </a:extLst>
                    </a:gridCol>
                  </a:tblGrid>
                  <a:tr h="3053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Effect-size scale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Formula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Commonly used for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7506464"/>
                      </a:ext>
                    </a:extLst>
                  </a:tr>
                  <a:tr h="12214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Risk difference / proportion difference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sv-SE" sz="1500" i="1" dirty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m:rPr>
                                    <m:nor/>
                                  </m:rPr>
                                  <a:rPr lang="en-US" sz="1500" b="0" i="0" dirty="0" smtClean="0"/>
                                  <m:t> = </m:t>
                                </m:r>
                                <m:r>
                                  <a:rPr lang="en-US" sz="15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5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far from 0 or 1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8685495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Risk ratio / relative risk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𝑅𝑅</m:t>
                                </m:r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sv-SE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Small probabilities, clinical applications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7838833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Odds ratio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𝑂𝑅</m:t>
                                </m:r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den>
                                    </m:f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den>
                                </m:f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near 0 or 1, statistics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369376"/>
                      </a:ext>
                    </a:extLst>
                  </a:tr>
                  <a:tr h="534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Log odds ratio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𝑂𝑅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Transformation of odds ratio to additive domain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9802139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Cohen’s (h)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arcsin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rad>
                                  </m:e>
                                </m:func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arcsin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e>
                                </m:func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Normalized effect size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42638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D8AB6F-3535-F90A-FF26-C2A01E2399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4988986"/>
                  </p:ext>
                </p:extLst>
              </p:nvPr>
            </p:nvGraphicFramePr>
            <p:xfrm>
              <a:off x="1706491" y="1861820"/>
              <a:ext cx="8619762" cy="4351339"/>
            </p:xfrm>
            <a:graphic>
              <a:graphicData uri="http://schemas.openxmlformats.org/drawingml/2006/table">
                <a:tbl>
                  <a:tblPr firstRow="1"/>
                  <a:tblGrid>
                    <a:gridCol w="2873254">
                      <a:extLst>
                        <a:ext uri="{9D8B030D-6E8A-4147-A177-3AD203B41FA5}">
                          <a16:colId xmlns:a16="http://schemas.microsoft.com/office/drawing/2014/main" val="2295296400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194194411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4127651150"/>
                        </a:ext>
                      </a:extLst>
                    </a:gridCol>
                  </a:tblGrid>
                  <a:tr h="3053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Effect-size scale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Formula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Commonly used for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7506464"/>
                      </a:ext>
                    </a:extLst>
                  </a:tr>
                  <a:tr h="12214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Risk difference / proportion difference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12" t="-26368" r="-100425" b="-230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far from 0 or 1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8685495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Risk ratio / relative risk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12" t="-203200" r="-100425" b="-271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Small probabilities, clinical applications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7838833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Odds ratio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12" t="-300794" r="-100425" b="-16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near 0 or 1, statistics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369376"/>
                      </a:ext>
                    </a:extLst>
                  </a:tr>
                  <a:tr h="534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Log odds ratio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12" t="-573864" r="-100425" b="-142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Transformation of odds ratio to additive domain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9802139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Cohen’s (h)</a:t>
                          </a:r>
                          <a:endParaRPr lang="en-US" sz="150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12" t="-474400" r="-1004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Normalized effect size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42638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053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90D8-420F-7522-8C11-49648D48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effect sizes can vary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4F31BD-5A56-8AA5-0B9A-750B9759C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15736" cy="1203902"/>
          </a:xfrm>
        </p:spPr>
        <p:txBody>
          <a:bodyPr/>
          <a:lstStyle/>
          <a:p>
            <a:r>
              <a:rPr lang="en-US" dirty="0"/>
              <a:t>The size of the estimated effect doesn’t depend on the amount of data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8EFA4-7B07-6404-0FDB-5CD558229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72" y="3215930"/>
            <a:ext cx="7605264" cy="15118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DDEF4C5-ABE8-6ECC-E956-2F084B0F3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058141"/>
                  </p:ext>
                </p:extLst>
              </p:nvPr>
            </p:nvGraphicFramePr>
            <p:xfrm>
              <a:off x="8866910" y="1589088"/>
              <a:ext cx="2976418" cy="4351339"/>
            </p:xfrm>
            <a:graphic>
              <a:graphicData uri="http://schemas.openxmlformats.org/drawingml/2006/table">
                <a:tbl>
                  <a:tblPr firstRow="1"/>
                  <a:tblGrid>
                    <a:gridCol w="2976418">
                      <a:extLst>
                        <a:ext uri="{9D8B030D-6E8A-4147-A177-3AD203B41FA5}">
                          <a16:colId xmlns:a16="http://schemas.microsoft.com/office/drawing/2014/main" val="194194411"/>
                        </a:ext>
                      </a:extLst>
                    </a:gridCol>
                  </a:tblGrid>
                  <a:tr h="3053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Effect sizes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7506464"/>
                      </a:ext>
                    </a:extLst>
                  </a:tr>
                  <a:tr h="12214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sv-SE" sz="1500" i="1" dirty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m:rPr>
                                    <m:nor/>
                                  </m:rPr>
                                  <a:rPr lang="en-US" sz="1500" b="0" i="0" dirty="0" smtClean="0"/>
                                  <m:t> = </m:t>
                                </m:r>
                                <m:r>
                                  <a:rPr lang="en-US" sz="15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5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8685495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𝑅𝑅</m:t>
                                </m:r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sv-SE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7838833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𝑂𝑅</m:t>
                                </m:r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den>
                                    </m:f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den>
                                </m:f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369376"/>
                      </a:ext>
                    </a:extLst>
                  </a:tr>
                  <a:tr h="534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𝑂𝑅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9802139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arcsin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rad>
                                  </m:e>
                                </m:func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arcsin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e>
                                </m:func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42638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DDEF4C5-ABE8-6ECC-E956-2F084B0F3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058141"/>
                  </p:ext>
                </p:extLst>
              </p:nvPr>
            </p:nvGraphicFramePr>
            <p:xfrm>
              <a:off x="8866910" y="1589088"/>
              <a:ext cx="2976418" cy="4351339"/>
            </p:xfrm>
            <a:graphic>
              <a:graphicData uri="http://schemas.openxmlformats.org/drawingml/2006/table">
                <a:tbl>
                  <a:tblPr firstRow="1"/>
                  <a:tblGrid>
                    <a:gridCol w="2976418">
                      <a:extLst>
                        <a:ext uri="{9D8B030D-6E8A-4147-A177-3AD203B41FA5}">
                          <a16:colId xmlns:a16="http://schemas.microsoft.com/office/drawing/2014/main" val="194194411"/>
                        </a:ext>
                      </a:extLst>
                    </a:gridCol>
                  </a:tblGrid>
                  <a:tr h="3053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Effect sizes</a:t>
                          </a:r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7506464"/>
                      </a:ext>
                    </a:extLst>
                  </a:tr>
                  <a:tr h="1221428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6368" r="-204" b="-230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8685495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03200" r="-204" b="-2712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838833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00794" r="-204" b="-16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369376"/>
                      </a:ext>
                    </a:extLst>
                  </a:tr>
                  <a:tr h="534375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73864" r="-204" b="-142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9802139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marL="76339" marR="76339" marT="38170" marB="381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74400" r="-2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2638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597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657BB-3888-FC31-1E32-E2B437EF279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FF3F6CC7-E28C-ACE8-7063-D80F32263AFB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6.2 Hypothesis tests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47665017-5C50-D9F5-4B51-FB39763EDC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53523" y="4691063"/>
            <a:ext cx="10515600" cy="15001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What is a hypothesis test, Savage-Dickey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48852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A530AC-D130-0A36-4D26-CD27BB65C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null hypothesis and hypothesis testing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C95A44-AB14-676C-D376-286B4801B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447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null hypothesis is the hypothesis that the null model is true</a:t>
            </a:r>
          </a:p>
          <a:p>
            <a:pPr lvl="1"/>
            <a:r>
              <a:rPr lang="en-US" dirty="0"/>
              <a:t>“The effect size is 0”</a:t>
            </a:r>
          </a:p>
          <a:p>
            <a:r>
              <a:rPr lang="en-US" dirty="0"/>
              <a:t>If we can reject the null hypothesis</a:t>
            </a:r>
          </a:p>
          <a:p>
            <a:pPr lvl="1"/>
            <a:r>
              <a:rPr lang="en-US" dirty="0"/>
              <a:t>“Having seen the data, I doubt the null hypothesis”</a:t>
            </a:r>
          </a:p>
          <a:p>
            <a:r>
              <a:rPr lang="en-US" dirty="0"/>
              <a:t>Then there must be some effect</a:t>
            </a:r>
          </a:p>
          <a:p>
            <a:pPr lvl="1"/>
            <a:r>
              <a:rPr lang="en-US" dirty="0"/>
              <a:t>It may be small</a:t>
            </a:r>
          </a:p>
          <a:p>
            <a:pPr lvl="1"/>
            <a:r>
              <a:rPr lang="en-US" dirty="0"/>
              <a:t>It may not be interesting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DD010-6C2C-8DED-AA65-E32AD488E2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5385" y="3429000"/>
            <a:ext cx="5745176" cy="329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0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8D8D-BF1A-820D-64C9-07227090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90" y="134216"/>
            <a:ext cx="11189710" cy="1325563"/>
          </a:xfrm>
        </p:spPr>
        <p:txBody>
          <a:bodyPr/>
          <a:lstStyle/>
          <a:p>
            <a:r>
              <a:rPr lang="en-US" dirty="0"/>
              <a:t>For hypothesis tests, the amount of data matters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F7455-3F84-9C98-BBF3-DF9541BB2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473"/>
            <a:ext cx="10515600" cy="140392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With 1,000 coin tosses</a:t>
            </a:r>
          </a:p>
          <a:p>
            <a:pPr lvl="1"/>
            <a:r>
              <a:rPr lang="en-US" dirty="0"/>
              <a:t>The null hypothesis looks unlikely</a:t>
            </a:r>
          </a:p>
          <a:p>
            <a:r>
              <a:rPr lang="en-US" dirty="0"/>
              <a:t>With only 200</a:t>
            </a:r>
          </a:p>
          <a:p>
            <a:pPr lvl="1"/>
            <a:r>
              <a:rPr lang="en-US" dirty="0"/>
              <a:t>The null hypothesis is more credible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6DB65-88DB-4D71-9814-63C6BF21BB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030" y="3429000"/>
            <a:ext cx="5534543" cy="3173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535DE0-4DEE-E5CB-667E-B13AE52438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2546" y="3465241"/>
            <a:ext cx="5548424" cy="310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50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699B-178C-4B05-DDB9-87F6CAA6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Savage-Dickey density ratio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309F0-E3F7-40C7-CBFC-DD2A29798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702"/>
            <a:ext cx="10515600" cy="1027365"/>
          </a:xfrm>
        </p:spPr>
        <p:txBody>
          <a:bodyPr>
            <a:normAutofit/>
          </a:bodyPr>
          <a:lstStyle/>
          <a:p>
            <a:r>
              <a:rPr lang="en-US" dirty="0"/>
              <a:t>Ratio of prior and posterior density at a reference value</a:t>
            </a:r>
          </a:p>
          <a:p>
            <a:r>
              <a:rPr lang="en-US" dirty="0"/>
              <a:t>Measures evidence in data for or against that value</a:t>
            </a:r>
            <a:endParaRPr lang="en-IL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AA91430-BA49-03E9-1CB4-7EF7F3A2A4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861229"/>
              </p:ext>
            </p:extLst>
          </p:nvPr>
        </p:nvGraphicFramePr>
        <p:xfrm>
          <a:off x="568037" y="2892091"/>
          <a:ext cx="2175163" cy="93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469800" progId="Equation.DSMT4">
                  <p:embed/>
                </p:oleObj>
              </mc:Choice>
              <mc:Fallback>
                <p:oleObj name="Equation" r:id="rId2" imgW="1091880" imgH="469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AA91430-BA49-03E9-1CB4-7EF7F3A2A4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8037" y="2892091"/>
                        <a:ext cx="2175163" cy="93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BA68628-E09A-44A2-3B02-D6873104E92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2510" y="3281829"/>
            <a:ext cx="5855854" cy="35101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7FD657-9D18-8559-4B7B-C5FDC691B8C7}"/>
              </a:ext>
            </a:extLst>
          </p:cNvPr>
          <p:cNvSpPr txBox="1"/>
          <p:nvPr/>
        </p:nvSpPr>
        <p:spPr>
          <a:xfrm>
            <a:off x="401782" y="4196940"/>
            <a:ext cx="468283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plot_bf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"theta"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382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6F61-47B4-C4C9-E408-846E6360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434B-3BD2-F689-3199-4E545283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Interpreting the Savage-Dickey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54AC96-132E-762E-846D-D07FFD084F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5702"/>
                <a:ext cx="10515600" cy="178320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Savage-Dickey is bidirectional</a:t>
                </a:r>
              </a:p>
              <a:p>
                <a:pPr lvl="1"/>
                <a:r>
                  <a:rPr lang="en-US" dirty="0"/>
                  <a:t>Show null hypothesis is contradicted by data: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Show null hypothesis is supported by data: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strong evidence: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0.1&lt;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54AC96-132E-762E-846D-D07FFD084F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5702"/>
                <a:ext cx="10515600" cy="1783207"/>
              </a:xfrm>
              <a:blipFill>
                <a:blip r:embed="rId2"/>
                <a:stretch>
                  <a:fillRect l="-1043" t="-5461" b="-3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D1D72F0-49BD-0726-F2C4-797310874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454706"/>
              </p:ext>
            </p:extLst>
          </p:nvPr>
        </p:nvGraphicFramePr>
        <p:xfrm>
          <a:off x="1093705" y="3667827"/>
          <a:ext cx="2126035" cy="914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469800" progId="Equation.DSMT4">
                  <p:embed/>
                </p:oleObj>
              </mc:Choice>
              <mc:Fallback>
                <p:oleObj name="Equation" r:id="rId3" imgW="1091880" imgH="469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D1D72F0-49BD-0726-F2C4-797310874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3705" y="3667827"/>
                        <a:ext cx="2126035" cy="9146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AEA6B74-75E9-1EC2-1176-C5D36D9312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094963"/>
                  </p:ext>
                </p:extLst>
              </p:nvPr>
            </p:nvGraphicFramePr>
            <p:xfrm>
              <a:off x="5978236" y="4174068"/>
              <a:ext cx="361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000">
                      <a:extLst>
                        <a:ext uri="{9D8B030D-6E8A-4147-A177-3AD203B41FA5}">
                          <a16:colId xmlns:a16="http://schemas.microsoft.com/office/drawing/2014/main" val="4235226041"/>
                        </a:ext>
                      </a:extLst>
                    </a:gridCol>
                    <a:gridCol w="2394000">
                      <a:extLst>
                        <a:ext uri="{9D8B030D-6E8A-4147-A177-3AD203B41FA5}">
                          <a16:colId xmlns:a16="http://schemas.microsoft.com/office/drawing/2014/main" val="2583990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BF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Interpretation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801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&lt; 3.2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Not worth mentioning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905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3.2 to 10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029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 to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Strong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1653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Wingdings" panose="05000000000000000000" pitchFamily="2" charset="2"/>
                            <a:buNone/>
                          </a:pPr>
                          <a:r>
                            <a:rPr lang="en-US"/>
                            <a:t>&gt;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Decisive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19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AEA6B74-75E9-1EC2-1176-C5D36D9312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094963"/>
                  </p:ext>
                </p:extLst>
              </p:nvPr>
            </p:nvGraphicFramePr>
            <p:xfrm>
              <a:off x="5978236" y="4174068"/>
              <a:ext cx="361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000">
                      <a:extLst>
                        <a:ext uri="{9D8B030D-6E8A-4147-A177-3AD203B41FA5}">
                          <a16:colId xmlns:a16="http://schemas.microsoft.com/office/drawing/2014/main" val="4235226041"/>
                        </a:ext>
                      </a:extLst>
                    </a:gridCol>
                    <a:gridCol w="2394000">
                      <a:extLst>
                        <a:ext uri="{9D8B030D-6E8A-4147-A177-3AD203B41FA5}">
                          <a16:colId xmlns:a16="http://schemas.microsoft.com/office/drawing/2014/main" val="2583990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5"/>
                          <a:stretch>
                            <a:fillRect l="-498" t="-8197" r="-198010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Interpretation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801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&lt; 3.2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Not worth mentioning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905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3.2 to 10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029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 to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Strong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1653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Wingdings" panose="05000000000000000000" pitchFamily="2" charset="2"/>
                            <a:buNone/>
                          </a:pPr>
                          <a:r>
                            <a:rPr lang="en-US"/>
                            <a:t>&gt;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Decisive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1903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15AD09E-2908-9221-409D-B3FEB6E24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924786"/>
              </p:ext>
            </p:extLst>
          </p:nvPr>
        </p:nvGraphicFramePr>
        <p:xfrm>
          <a:off x="1093706" y="5075386"/>
          <a:ext cx="2126034" cy="914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469800" progId="Equation.DSMT4">
                  <p:embed/>
                </p:oleObj>
              </mc:Choice>
              <mc:Fallback>
                <p:oleObj name="Equation" r:id="rId6" imgW="1091880" imgH="469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15AD09E-2908-9221-409D-B3FEB6E243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3706" y="5075386"/>
                        <a:ext cx="2126034" cy="9146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4004-CF0B-55F7-3E88-BF5AD1CD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365125"/>
            <a:ext cx="11049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Savage-Dickey depends on effect size and sample size</a:t>
            </a:r>
            <a:endParaRPr lang="en-IL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A9FE6-E1A1-E53A-6DDA-021D47D8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02035-5A41-E59E-F5B7-DB374259D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23" y="1690688"/>
            <a:ext cx="5099746" cy="1738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F014C9-FE62-1986-1AB4-D0E7C8BA7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137" y="1300019"/>
            <a:ext cx="4272215" cy="2496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087C05-FBD8-B28F-81A2-0AF93E8FD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136" y="4027114"/>
            <a:ext cx="4272216" cy="2560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C3F4A4-D850-9B11-3CFD-6D3F2E3A83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5068" y="4027114"/>
            <a:ext cx="4272216" cy="25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5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29222-730C-F0ED-F51C-3779FB54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BB54-789F-F88A-9B59-55F25FDA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365125"/>
            <a:ext cx="11049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Savage-Dickey strongly affected by the prior</a:t>
            </a:r>
            <a:endParaRPr lang="en-IL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62186-6995-06F2-2435-6915C603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A97BC-A9B0-5C50-1E05-397D491705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732301"/>
            <a:ext cx="5303347" cy="1696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5F620-CF12-72DF-4610-040BAB1200A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6395" y="1300019"/>
            <a:ext cx="4213698" cy="2496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AF5777-2DDC-3123-FBEA-E8F77808535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17136" y="4042152"/>
            <a:ext cx="4272216" cy="2530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8C3E9B-BBE1-C4AA-6F21-97391FB62D4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5068" y="4042152"/>
            <a:ext cx="4272216" cy="2530790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E244507-0BCF-31D4-08DE-743D25895B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97648"/>
              </p:ext>
            </p:extLst>
          </p:nvPr>
        </p:nvGraphicFramePr>
        <p:xfrm>
          <a:off x="538703" y="4572721"/>
          <a:ext cx="1266392" cy="876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240" imgH="457200" progId="Equation.DSMT4">
                  <p:embed/>
                </p:oleObj>
              </mc:Choice>
              <mc:Fallback>
                <p:oleObj name="Equation" r:id="rId7" imgW="660240" imgH="4572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AE244507-0BCF-31D4-08DE-743D25895B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8703" y="4572721"/>
                        <a:ext cx="1266392" cy="876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542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F2B7E4-1971-D578-145A-14A44910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tests don’t measure effect size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025CE-375B-A5D5-BC59-CCECD965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Reject null hypothesis despite meaningless effects</a:t>
            </a:r>
          </a:p>
          <a:p>
            <a:pPr lvl="1"/>
            <a:r>
              <a:rPr lang="en-US" dirty="0"/>
              <a:t>Increasing life expectancy by a day</a:t>
            </a:r>
          </a:p>
          <a:p>
            <a:pPr lvl="1"/>
            <a:r>
              <a:rPr lang="en-US" dirty="0"/>
              <a:t>Affecting height by 2 mm</a:t>
            </a:r>
          </a:p>
          <a:p>
            <a:r>
              <a:rPr lang="en-US" dirty="0"/>
              <a:t>Fail to reject null hypothesis despite large effects</a:t>
            </a:r>
          </a:p>
          <a:p>
            <a:pPr lvl="1"/>
            <a:r>
              <a:rPr lang="en-US" dirty="0"/>
              <a:t>If N is small or data is noisy, null may be credible</a:t>
            </a:r>
          </a:p>
          <a:p>
            <a:pPr lvl="1"/>
            <a:r>
              <a:rPr lang="en-US" dirty="0"/>
              <a:t>But other possibilities may also be credible</a:t>
            </a:r>
          </a:p>
          <a:p>
            <a:pPr lvl="2"/>
            <a:r>
              <a:rPr lang="en-US" dirty="0"/>
              <a:t>And may be important</a:t>
            </a:r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7D1CE-9737-6227-0DC7-DD581666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analysis, Semester </a:t>
            </a:r>
            <a:r>
              <a:rPr lang="en-150" dirty="0"/>
              <a:t>2024-2</a:t>
            </a:r>
            <a:r>
              <a:rPr lang="en-US" dirty="0"/>
              <a:t>, Lecture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0B26B-5620-C538-8653-9F719F56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C311-76E6-4493-A800-03F6BFB61D22}" type="slidenum">
              <a:rPr lang="he-IL" smtClean="0"/>
              <a:pPr/>
              <a:t>16</a:t>
            </a:fld>
            <a:r>
              <a:rPr lang="en-CA"/>
              <a:t>/76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16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B7DB5-D4C3-48DE-60EC-13976A8AE8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B56F0648-F4FD-817D-AA54-071B0175B2AF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6.3 Baye’s factor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B536DB8F-A727-3F04-B748-3E041C7671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Effect of data on model credibility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768992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0255-D1D6-E81D-6864-A0443F48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2B3AE-0B32-99BF-55BE-7CE24754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Baye’s factor is part of the posterior odds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31EFA0-F72A-62FC-96BB-542453722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3255" cy="4510520"/>
          </a:xfrm>
        </p:spPr>
        <p:txBody>
          <a:bodyPr>
            <a:normAutofit/>
          </a:bodyPr>
          <a:lstStyle/>
          <a:p>
            <a:r>
              <a:rPr lang="en-US" sz="2400" dirty="0"/>
              <a:t>Posterior odds</a:t>
            </a:r>
          </a:p>
          <a:p>
            <a:pPr lvl="1"/>
            <a:r>
              <a:rPr lang="en-US" sz="2000" dirty="0"/>
              <a:t>Relative probability for two models</a:t>
            </a:r>
          </a:p>
          <a:p>
            <a:r>
              <a:rPr lang="en-US" sz="2400" dirty="0"/>
              <a:t>Baye’s factor</a:t>
            </a:r>
          </a:p>
          <a:p>
            <a:pPr lvl="1"/>
            <a:r>
              <a:rPr lang="en-US" sz="2000" dirty="0"/>
              <a:t>The part of posterior odds that depends on data</a:t>
            </a:r>
          </a:p>
          <a:p>
            <a:pPr lvl="1"/>
            <a:r>
              <a:rPr lang="en-US" sz="2000" dirty="0"/>
              <a:t>The ratio of the likelihoods</a:t>
            </a:r>
            <a:endParaRPr lang="en-IL" sz="20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288D791-B3F0-F50C-C24E-6C818F30E4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9580" y="2925762"/>
          <a:ext cx="39576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469800" progId="Equation.DSMT4">
                  <p:embed/>
                </p:oleObj>
              </mc:Choice>
              <mc:Fallback>
                <p:oleObj name="Equation" r:id="rId2" imgW="1841400" imgH="469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759B3E6-3014-C857-28AB-E29B228E27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19580" y="2925762"/>
                        <a:ext cx="3957637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058A794-9536-C162-73E3-FFA8DC00AF3A}"/>
              </a:ext>
            </a:extLst>
          </p:cNvPr>
          <p:cNvSpPr txBox="1"/>
          <p:nvPr/>
        </p:nvSpPr>
        <p:spPr>
          <a:xfrm>
            <a:off x="5347510" y="3136387"/>
            <a:ext cx="2072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t>Posterior odds:</a:t>
            </a:r>
            <a:endParaRPr kumimoji="0" lang="en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42BDF9B-EE1E-3E11-456C-DC06A95129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6572" y="4434155"/>
          <a:ext cx="3267228" cy="387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203040" progId="Equation.DSMT4">
                  <p:embed/>
                </p:oleObj>
              </mc:Choice>
              <mc:Fallback>
                <p:oleObj name="Equation" r:id="rId4" imgW="1714320" imgH="203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5BDBFA3-3577-4937-6E94-528384E350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86572" y="4434155"/>
                        <a:ext cx="3267228" cy="387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D9F09A3-502F-2BD2-B897-F91C8EDFC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738" y="5622204"/>
          <a:ext cx="5135262" cy="649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09680" imgH="279360" progId="Equation.DSMT4">
                  <p:embed/>
                </p:oleObj>
              </mc:Choice>
              <mc:Fallback>
                <p:oleObj name="Equation" r:id="rId6" imgW="2209680" imgH="2793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8044602-F99B-EE66-419F-A6C3D7B4F2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60738" y="5622204"/>
                        <a:ext cx="5135262" cy="649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D56788-9430-4C43-8A6B-502EBEC7049D}"/>
              </a:ext>
            </a:extLst>
          </p:cNvPr>
          <p:cNvSpPr txBox="1"/>
          <p:nvPr/>
        </p:nvSpPr>
        <p:spPr>
          <a:xfrm>
            <a:off x="600363" y="5154626"/>
            <a:ext cx="6234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t>Likelihood under a model is averaged over the parameters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269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76945-AFEB-8661-5706-9D24188D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E7B4-8429-1BA4-22C1-806F3DCA0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55" y="365125"/>
            <a:ext cx="1184101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Savage-Dickey is Bayes factor </a:t>
            </a:r>
            <a:r>
              <a:rPr lang="en-US" sz="4000" dirty="0" err="1"/>
              <a:t>unders</a:t>
            </a:r>
            <a:r>
              <a:rPr lang="en-US" sz="4000" dirty="0"/>
              <a:t> specific conditions</a:t>
            </a:r>
            <a:endParaRPr lang="en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FD31C-C86D-8BDC-E06E-76234A013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854" y="1825624"/>
                <a:ext cx="9227127" cy="38639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with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Point null</a:t>
                </a:r>
              </a:p>
              <a:p>
                <a:pPr lvl="2"/>
                <a:r>
                  <a:rPr lang="en-US" dirty="0"/>
                  <a:t>No ROPE</a:t>
                </a:r>
              </a:p>
              <a:p>
                <a:pPr lvl="1"/>
                <a:r>
                  <a:rPr lang="en-US" dirty="0"/>
                  <a:t>Use the same likelihood</a:t>
                </a:r>
              </a:p>
              <a:p>
                <a:pPr lvl="2"/>
                <a:r>
                  <a:rPr lang="en-US" dirty="0"/>
                  <a:t>And hierarchy</a:t>
                </a:r>
              </a:p>
              <a:p>
                <a:pPr lvl="2"/>
                <a:r>
                  <a:rPr lang="en-US" dirty="0"/>
                  <a:t>In fact the same model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Otherwise, Bayes factor can be hard to calculate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3B873-8B02-5B38-E534-96C662BCF4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854" y="1825624"/>
                <a:ext cx="9227127" cy="3863975"/>
              </a:xfrm>
              <a:blipFill>
                <a:blip r:embed="rId2"/>
                <a:stretch>
                  <a:fillRect l="-1189" t="-252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675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0D03-7375-46CD-3B42-A8D85AB5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B362-01C1-3BBA-AA6E-BD209920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factor can be hard to interpret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55E5B8-A302-CA7D-F1CF-E08135A0E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Depends on prior</a:t>
                </a:r>
              </a:p>
              <a:p>
                <a:pPr lvl="1"/>
                <a:r>
                  <a:rPr lang="en-US" dirty="0"/>
                  <a:t>Like Savage-Dickey</a:t>
                </a:r>
              </a:p>
              <a:p>
                <a:r>
                  <a:rPr lang="en-US" dirty="0"/>
                  <a:t>Can be large even if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small</a:t>
                </a:r>
              </a:p>
              <a:p>
                <a:pPr lvl="1"/>
                <a:r>
                  <a:rPr lang="en-US" dirty="0"/>
                  <a:t>That is: </a:t>
                </a:r>
              </a:p>
              <a:p>
                <a:pPr lvl="2"/>
                <a:r>
                  <a:rPr lang="en-US" dirty="0"/>
                  <a:t>Assumes the true hypothesis is in the family of hypotheses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72F14C-2509-C859-379A-ED5D654C8C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7250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BCCB6-0506-8537-2E9A-0D797A540A1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2C346D15-5B97-DD6F-853A-5FFC33CD1B47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6.4 ROPE and HDI test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54BCD4FE-9AC2-9672-1170-1DE2DF82F6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Region of practical equivalence and its use in hypothesis tests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69636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96B1EB-FA35-D44E-08DC-6CE3A9DE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/>
          <a:lstStyle/>
          <a:p>
            <a:r>
              <a:rPr lang="en-US" dirty="0"/>
              <a:t>Point-null models can be unrealistic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85023F6-F42F-3B92-E3DE-6567FD852C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0873"/>
                <a:ext cx="10515600" cy="226272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Does it make sense?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is a fair coin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=0.49999999</m:t>
                    </m:r>
                  </m:oMath>
                </a14:m>
                <a:r>
                  <a:rPr lang="en-US" dirty="0"/>
                  <a:t> is not?</a:t>
                </a:r>
              </a:p>
              <a:p>
                <a:r>
                  <a:rPr lang="en-US" dirty="0"/>
                  <a:t>Even if it made sense</a:t>
                </a:r>
              </a:p>
              <a:p>
                <a:pPr lvl="1"/>
                <a:r>
                  <a:rPr lang="en-US" dirty="0"/>
                  <a:t>Are our measurements so precise?</a:t>
                </a:r>
              </a:p>
              <a:p>
                <a:r>
                  <a:rPr lang="en-US" dirty="0"/>
                  <a:t>Even if we could measure so precisely</a:t>
                </a:r>
              </a:p>
              <a:p>
                <a:pPr lvl="1"/>
                <a:r>
                  <a:rPr lang="en-US" dirty="0"/>
                  <a:t>Do we want to deal with non-continuous functions?</a:t>
                </a:r>
              </a:p>
              <a:p>
                <a:pPr lvl="1"/>
                <a:r>
                  <a:rPr lang="en-US" dirty="0"/>
                  <a:t>And delta functions?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85023F6-F42F-3B92-E3DE-6567FD852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0873"/>
                <a:ext cx="10515600" cy="2262720"/>
              </a:xfrm>
              <a:blipFill>
                <a:blip r:embed="rId2"/>
                <a:stretch>
                  <a:fillRect l="-812" t="-6183" b="-34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3AB3799-D34D-8694-EC82-21E5E2BD296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346704"/>
            <a:ext cx="5887391" cy="334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04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C272-0F5A-FB1B-4D67-81020205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Region of Practical Equivalence (ROPE)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43224-F495-8118-1392-679E807EF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8254"/>
            <a:ext cx="6929582" cy="2000433"/>
          </a:xfrm>
        </p:spPr>
        <p:txBody>
          <a:bodyPr>
            <a:normAutofit/>
          </a:bodyPr>
          <a:lstStyle/>
          <a:p>
            <a:r>
              <a:rPr lang="en-US" dirty="0"/>
              <a:t>Region where null model is practically true</a:t>
            </a:r>
          </a:p>
          <a:p>
            <a:pPr lvl="1"/>
            <a:r>
              <a:rPr lang="en-US" dirty="0"/>
              <a:t>Specified arbitrarily</a:t>
            </a:r>
          </a:p>
          <a:p>
            <a:pPr lvl="1"/>
            <a:r>
              <a:rPr lang="en-US" dirty="0"/>
              <a:t>Domain knowledge is important</a:t>
            </a:r>
          </a:p>
          <a:p>
            <a:pPr lvl="1"/>
            <a:r>
              <a:rPr lang="en-US" dirty="0"/>
              <a:t>Ask: </a:t>
            </a:r>
          </a:p>
          <a:p>
            <a:pPr lvl="2"/>
            <a:r>
              <a:rPr lang="en-US" dirty="0"/>
              <a:t>What effect would be negligible even if real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0DEDF-4F7F-A1F9-3C6B-55D030A0962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6618" y="3132341"/>
            <a:ext cx="5914879" cy="33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61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63BF-340E-088E-FDC8-5E1C6388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30B9-3537-BDDF-E62C-05E61E67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ROPE and HDI can be used for hypothesis test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F4DF7-CE57-4DB6-D897-26F703329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9582" cy="1813502"/>
          </a:xfrm>
        </p:spPr>
        <p:txBody>
          <a:bodyPr/>
          <a:lstStyle/>
          <a:p>
            <a:r>
              <a:rPr lang="en-US" dirty="0"/>
              <a:t>If the HDI is outside the ROPE</a:t>
            </a:r>
          </a:p>
          <a:p>
            <a:pPr lvl="1"/>
            <a:r>
              <a:rPr lang="en-US" dirty="0"/>
              <a:t>Reject the null model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F7520-752B-3052-CB78-6F8C3C458F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9348" y="3132341"/>
            <a:ext cx="5889420" cy="336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07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8B3C-F60E-7145-B1DD-CC83D29E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6A2-9A46-0EE4-98A8-CBCA76D3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many possibilities for HDI / ROPE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7AFEF-8CE3-AD38-C4F7-6B34E9D9E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3727" cy="4351338"/>
          </a:xfrm>
        </p:spPr>
        <p:txBody>
          <a:bodyPr/>
          <a:lstStyle/>
          <a:p>
            <a:r>
              <a:rPr lang="en-US" dirty="0"/>
              <a:t>No overlap</a:t>
            </a:r>
          </a:p>
          <a:p>
            <a:pPr lvl="1"/>
            <a:r>
              <a:rPr lang="en-US" dirty="0"/>
              <a:t>Reject null</a:t>
            </a:r>
          </a:p>
          <a:p>
            <a:r>
              <a:rPr lang="en-US" dirty="0"/>
              <a:t>HDI in ROPE</a:t>
            </a:r>
          </a:p>
          <a:p>
            <a:pPr lvl="1"/>
            <a:r>
              <a:rPr lang="en-US" dirty="0"/>
              <a:t>Accept null</a:t>
            </a:r>
          </a:p>
          <a:p>
            <a:r>
              <a:rPr lang="en-US" dirty="0"/>
              <a:t>All other possibilities</a:t>
            </a:r>
          </a:p>
          <a:p>
            <a:pPr lvl="1"/>
            <a:r>
              <a:rPr lang="en-US" dirty="0"/>
              <a:t>No decision</a:t>
            </a:r>
            <a:endParaRPr lang="en-IL" dirty="0"/>
          </a:p>
        </p:txBody>
      </p:sp>
      <p:pic>
        <p:nvPicPr>
          <p:cNvPr id="160770" name="Picture 2" descr="Image result for rope examples bayes&quot;">
            <a:extLst>
              <a:ext uri="{FF2B5EF4-FFF2-40B4-BE49-F238E27FC236}">
                <a16:creationId xmlns:a16="http://schemas.microsoft.com/office/drawing/2014/main" id="{7AB2FB54-99DC-F731-FC05-94BC427B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382" y="1649700"/>
            <a:ext cx="7684654" cy="479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930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33E7-91E7-7F96-0866-627FC8B9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365125"/>
            <a:ext cx="10993582" cy="1325563"/>
          </a:xfrm>
        </p:spPr>
        <p:txBody>
          <a:bodyPr/>
          <a:lstStyle/>
          <a:p>
            <a:r>
              <a:rPr lang="en-US" dirty="0"/>
              <a:t>ROPE / HDI tests advantages and disadvantages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F7311-60EE-6F19-0899-F33483930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Sensitive to size of data</a:t>
            </a:r>
          </a:p>
          <a:p>
            <a:pPr lvl="1"/>
            <a:r>
              <a:rPr lang="en-US" dirty="0"/>
              <a:t>Additional data reduces uncertainty in the parameter</a:t>
            </a:r>
          </a:p>
          <a:p>
            <a:pPr lvl="2"/>
            <a:r>
              <a:rPr lang="en-US" dirty="0"/>
              <a:t>Reduces HDI</a:t>
            </a:r>
          </a:p>
          <a:p>
            <a:pPr lvl="1"/>
            <a:r>
              <a:rPr lang="en-US" dirty="0"/>
              <a:t>Easier to reject null value</a:t>
            </a:r>
          </a:p>
          <a:p>
            <a:pPr lvl="1"/>
            <a:r>
              <a:rPr lang="en-US" dirty="0"/>
              <a:t>This is true of </a:t>
            </a:r>
            <a:r>
              <a:rPr lang="en-US" b="1" dirty="0"/>
              <a:t>all </a:t>
            </a:r>
            <a:r>
              <a:rPr lang="en-US" dirty="0"/>
              <a:t> hypothesis tests</a:t>
            </a:r>
          </a:p>
          <a:p>
            <a:r>
              <a:rPr lang="en-US" dirty="0"/>
              <a:t>Less sensitive to prior</a:t>
            </a:r>
          </a:p>
          <a:p>
            <a:pPr lvl="1"/>
            <a:r>
              <a:rPr lang="en-US" dirty="0"/>
              <a:t>But dependent on arbitrary ROPE</a:t>
            </a:r>
          </a:p>
          <a:p>
            <a:pPr lvl="1"/>
            <a:r>
              <a:rPr lang="en-US" dirty="0"/>
              <a:t>Also </a:t>
            </a:r>
            <a:r>
              <a:rPr lang="en-US" dirty="0" err="1"/>
              <a:t>aribitrary</a:t>
            </a:r>
            <a:r>
              <a:rPr lang="en-US" dirty="0"/>
              <a:t> HDI percentage</a:t>
            </a:r>
          </a:p>
          <a:p>
            <a:r>
              <a:rPr lang="en-US" dirty="0"/>
              <a:t>More robust to very small effects</a:t>
            </a:r>
          </a:p>
          <a:p>
            <a:pPr lvl="1"/>
            <a:r>
              <a:rPr lang="en-US" dirty="0"/>
              <a:t>Because of ROPE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72ACF-F6D4-1357-84BC-610F1475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B4F33-5292-1466-36EC-06467A163F4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0182" y="3428999"/>
            <a:ext cx="4973065" cy="28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4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69EE0-B484-2C5D-216B-6E366D26104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CD040B7D-9C53-4C41-AEDF-9579E25324E2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6.5 Significance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9F3C1C91-8244-6579-D24E-DB9630E84A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Type 1 error, significance threshold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565697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D037B5-4638-42D8-AC8E-8EDA7495EF28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kinds of error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68414"/>
            <a:ext cx="8229600" cy="4537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Type I error / </a:t>
            </a:r>
            <a:r>
              <a:rPr lang="el-GR" altLang="en-US" sz="3200" dirty="0"/>
              <a:t>α</a:t>
            </a:r>
            <a:r>
              <a:rPr lang="en-US" altLang="en-US" sz="3200" dirty="0"/>
              <a:t> error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Falsely rejecting a true null model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The null model says the coin is fair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Rejecting this: saying the coin is biased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False rejection: saying the coin is biased when it’s fair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Claiming an effect when there is no effect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The probability of type I error is the </a:t>
            </a:r>
            <a:r>
              <a:rPr lang="en-US" altLang="en-US" sz="2800" b="1" dirty="0">
                <a:solidFill>
                  <a:schemeClr val="accent2"/>
                </a:solidFill>
              </a:rPr>
              <a:t>significance</a:t>
            </a:r>
            <a:r>
              <a:rPr lang="en-US" altLang="en-US" sz="2800" dirty="0"/>
              <a:t> of the test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/ 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28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7CC9A6-A4C1-BDB6-A5EC-FCADEED1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63" y="365125"/>
            <a:ext cx="1161934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Significance threshold controls the probability of type 1 error</a:t>
            </a:r>
            <a:endParaRPr lang="en-IL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97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7009" y="1825625"/>
                <a:ext cx="10515600" cy="2452811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dirty="0"/>
                  <a:t>Control type 1 error</a:t>
                </a:r>
              </a:p>
              <a:p>
                <a:pPr lvl="1"/>
                <a:r>
                  <a:rPr lang="en-US" altLang="en-US" dirty="0"/>
                  <a:t>Make sure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type</m:t>
                        </m:r>
                        <m:r>
                          <m:rPr>
                            <m:nor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 1 </m:t>
                        </m:r>
                        <m:r>
                          <m:rPr>
                            <m:nor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error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US" dirty="0"/>
                  <a:t> for some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lang="en-US" alt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US" dirty="0"/>
                  <a:t> is called the </a:t>
                </a:r>
                <a:r>
                  <a:rPr lang="en-US" altLang="en-US" dirty="0">
                    <a:solidFill>
                      <a:schemeClr val="accent2"/>
                    </a:solidFill>
                  </a:rPr>
                  <a:t>significance level </a:t>
                </a:r>
                <a:r>
                  <a:rPr lang="en-US" altLang="en-US" dirty="0"/>
                  <a:t>of the hypothesis test</a:t>
                </a:r>
              </a:p>
              <a:p>
                <a:pPr lvl="2"/>
                <a:r>
                  <a:rPr lang="en-US" altLang="en-US" dirty="0"/>
                  <a:t>We use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=0.06</m:t>
                    </m:r>
                  </m:oMath>
                </a14:m>
                <a:endParaRPr lang="en-US" altLang="en-US" dirty="0"/>
              </a:p>
              <a:p>
                <a:pPr lvl="2"/>
                <a:r>
                  <a:rPr lang="en-US" altLang="en-US" dirty="0"/>
                  <a:t>A little more than 1 in 20 </a:t>
                </a:r>
              </a:p>
              <a:p>
                <a:pPr lvl="3"/>
                <a:r>
                  <a:rPr lang="en-US" altLang="en-US" dirty="0"/>
                  <a:t>We reject the null model even though it’s true</a:t>
                </a:r>
              </a:p>
            </p:txBody>
          </p:sp>
        </mc:Choice>
        <mc:Fallback>
          <p:sp>
            <p:nvSpPr>
              <p:cNvPr id="8397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009" y="1825625"/>
                <a:ext cx="10515600" cy="2452811"/>
              </a:xfrm>
              <a:blipFill>
                <a:blip r:embed="rId3"/>
                <a:stretch>
                  <a:fillRect l="-1043" t="-39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/ 75</a:t>
            </a:r>
            <a:endParaRPr lang="en-US" dirty="0"/>
          </a:p>
        </p:txBody>
      </p:sp>
      <p:sp>
        <p:nvSpPr>
          <p:cNvPr id="839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CD0E23-406D-4EFC-8958-D79114579884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F691D-0332-095D-8A38-97E6DB437A4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1018" y="3768602"/>
            <a:ext cx="4973066" cy="2836603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4203407-0F22-B880-C94D-84EDBD284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631969"/>
              </p:ext>
            </p:extLst>
          </p:nvPr>
        </p:nvGraphicFramePr>
        <p:xfrm>
          <a:off x="7427496" y="3428999"/>
          <a:ext cx="3500109" cy="388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253800" progId="Equation.DSMT4">
                  <p:embed/>
                </p:oleObj>
              </mc:Choice>
              <mc:Fallback>
                <p:oleObj name="Equation" r:id="rId5" imgW="2286000" imgH="2538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4203407-0F22-B880-C94D-84EDBD284E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27496" y="3428999"/>
                        <a:ext cx="3500109" cy="388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790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B846-8430-97FC-D451-B0C7408B5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B29338-05B4-C5D9-2266-42CBF799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64" y="227767"/>
            <a:ext cx="1115983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Overlap of HDI and ROPE implies lack of significance</a:t>
            </a:r>
            <a:endParaRPr lang="en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3" name="Rectangle 3">
                <a:extLst>
                  <a:ext uri="{FF2B5EF4-FFF2-40B4-BE49-F238E27FC236}">
                    <a16:creationId xmlns:a16="http://schemas.microsoft.com/office/drawing/2014/main" id="{3ECE166B-300B-D447-D618-6CC96F011C4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358087"/>
                <a:ext cx="10515600" cy="1603374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dirty="0"/>
                  <a:t>If the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US" dirty="0"/>
                  <a:t>-HDI is to one side of the ROPE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𝑅𝑂𝑃𝐸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en-US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lang="en-US" altLang="en-US" b="0" dirty="0"/>
              </a:p>
            </p:txBody>
          </p:sp>
        </mc:Choice>
        <mc:Fallback xmlns="">
          <p:sp>
            <p:nvSpPr>
              <p:cNvPr id="83973" name="Rectangle 3">
                <a:extLst>
                  <a:ext uri="{FF2B5EF4-FFF2-40B4-BE49-F238E27FC236}">
                    <a16:creationId xmlns:a16="http://schemas.microsoft.com/office/drawing/2014/main" id="{3ECE166B-300B-D447-D618-6CC96F011C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8087"/>
                <a:ext cx="10515600" cy="1603374"/>
              </a:xfrm>
              <a:blipFill>
                <a:blip r:embed="rId3"/>
                <a:stretch>
                  <a:fillRect l="-1043" t="-64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F58090-B5EF-D4A2-A173-9D136605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/ 75</a:t>
            </a:r>
            <a:endParaRPr lang="en-US" dirty="0"/>
          </a:p>
        </p:txBody>
      </p:sp>
      <p:sp>
        <p:nvSpPr>
          <p:cNvPr id="83971" name="Slide Number Placeholder 5">
            <a:extLst>
              <a:ext uri="{FF2B5EF4-FFF2-40B4-BE49-F238E27FC236}">
                <a16:creationId xmlns:a16="http://schemas.microsoft.com/office/drawing/2014/main" id="{BE732F57-8819-582E-F50E-A8B89570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CD0E23-406D-4EFC-8958-D79114579884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63A66-5C1C-83C3-C91E-ECB908C0BFE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4001" y="3768602"/>
            <a:ext cx="4967099" cy="2836603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16723FA-2A8B-E4FA-BD12-AEB51B5D67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811060"/>
              </p:ext>
            </p:extLst>
          </p:nvPr>
        </p:nvGraphicFramePr>
        <p:xfrm>
          <a:off x="7116763" y="3429000"/>
          <a:ext cx="41227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92080" imgH="253800" progId="Equation.DSMT4">
                  <p:embed/>
                </p:oleObj>
              </mc:Choice>
              <mc:Fallback>
                <p:oleObj name="Equation" r:id="rId5" imgW="2692080" imgH="2538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16723FA-2A8B-E4FA-BD12-AEB51B5D6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16763" y="3429000"/>
                        <a:ext cx="4122737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C6F6FF6-2663-E252-05FF-DBAF5CB6AD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850" y="3842605"/>
            <a:ext cx="4967099" cy="2762600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4ADCF57-A6DA-73CF-76A9-06BE7D54A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10664"/>
              </p:ext>
            </p:extLst>
          </p:nvPr>
        </p:nvGraphicFramePr>
        <p:xfrm>
          <a:off x="1874995" y="3453667"/>
          <a:ext cx="4103296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79480" imgH="253800" progId="Equation.DSMT4">
                  <p:embed/>
                </p:oleObj>
              </mc:Choice>
              <mc:Fallback>
                <p:oleObj name="Equation" r:id="rId8" imgW="2679480" imgH="253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4ADCF57-A6DA-73CF-76A9-06BE7D54AA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74995" y="3453667"/>
                        <a:ext cx="4103296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8663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70FD-AFD1-E707-58DC-92EE8C5D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is frequentist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2F0F3-15BF-A2BC-E97C-AB660FC84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42376" cy="474891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Probability of type I error </a:t>
                </a:r>
                <a:r>
                  <a:rPr lang="en-US" b="1" dirty="0"/>
                  <a:t>under repeated samplings</a:t>
                </a:r>
              </a:p>
              <a:p>
                <a:r>
                  <a:rPr lang="en-US" dirty="0"/>
                  <a:t>Is your hypothesis test calibrated?</a:t>
                </a:r>
              </a:p>
              <a:p>
                <a:pPr lvl="1"/>
                <a:r>
                  <a:rPr lang="en-US" dirty="0"/>
                  <a:t>Generate repeated data sets </a:t>
                </a:r>
                <a:r>
                  <a:rPr lang="en-US" b="1" dirty="0"/>
                  <a:t>under the null model</a:t>
                </a:r>
                <a:endParaRPr lang="en-US" dirty="0"/>
              </a:p>
              <a:p>
                <a:pPr lvl="1"/>
                <a:r>
                  <a:rPr lang="en-US" dirty="0"/>
                  <a:t>Do hypothesis test on each dataset</a:t>
                </a:r>
              </a:p>
              <a:p>
                <a:pPr lvl="1"/>
                <a:r>
                  <a:rPr lang="en-US" dirty="0"/>
                  <a:t>Count number of significant tests</a:t>
                </a:r>
              </a:p>
              <a:p>
                <a:pPr lvl="2"/>
                <a:r>
                  <a:rPr lang="en-US" b="0" dirty="0"/>
                  <a:t>Should be significant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2F0F3-15BF-A2BC-E97C-AB660FC84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42376" cy="4748911"/>
              </a:xfrm>
              <a:blipFill>
                <a:blip r:embed="rId2"/>
                <a:stretch>
                  <a:fillRect l="-1316" t="-20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22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E363-26F7-D70C-B343-0A0D0FB2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B91E-7299-5223-A2F1-05DB50BD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443"/>
          </a:xfrm>
        </p:spPr>
        <p:txBody>
          <a:bodyPr/>
          <a:lstStyle/>
          <a:p>
            <a:r>
              <a:rPr lang="en-US" dirty="0"/>
              <a:t>Our HDI / ROPE test is conservative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7D8D6-58C7-C672-DBCF-C5FB54A6C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8056" y="1825625"/>
                <a:ext cx="6035040" cy="474891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Sampling multiple datasets</a:t>
                </a:r>
              </a:p>
              <a:p>
                <a:pPr lvl="1"/>
                <a:r>
                  <a:rPr lang="en-US" dirty="0"/>
                  <a:t>With 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𝑅𝑂𝑃𝐸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find: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𝑅𝑂𝑃𝐸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≈0.01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Note: we used a strong prior!</a:t>
                </a:r>
              </a:p>
              <a:p>
                <a:endParaRPr lang="en-US" dirty="0"/>
              </a:p>
              <a:p>
                <a:r>
                  <a:rPr lang="en-US" dirty="0"/>
                  <a:t>A hypothesis test is:</a:t>
                </a:r>
              </a:p>
              <a:p>
                <a:pPr lvl="1"/>
                <a:r>
                  <a:rPr lang="en-US" dirty="0"/>
                  <a:t>Conservative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type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error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Liberal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type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error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7D8D6-58C7-C672-DBCF-C5FB54A6C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8056" y="1825625"/>
                <a:ext cx="6035040" cy="4748911"/>
              </a:xfrm>
              <a:blipFill>
                <a:blip r:embed="rId2"/>
                <a:stretch>
                  <a:fillRect l="-1818" t="-20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4D3D5DA-4662-920E-230F-6D6822AF44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3992" y="1017216"/>
            <a:ext cx="5079520" cy="57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5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3F1E-299F-2BEC-C9F7-E353974F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2B41D12-7F69-0DA7-039B-0CC4D1C7EC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964" y="227767"/>
                <a:ext cx="11159836" cy="13255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4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40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alt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𝑅𝑂𝑃𝐸</m:t>
                        </m:r>
                      </m:e>
                    </m:d>
                    <m:r>
                      <a:rPr lang="en-US" alt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en-US" sz="4000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4000" dirty="0"/>
                  <a:t> is called equivalence</a:t>
                </a:r>
                <a:endParaRPr lang="en-IL" sz="4000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2B41D12-7F69-0DA7-039B-0CC4D1C7E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964" y="227767"/>
                <a:ext cx="11159836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973" name="Rectangle 3">
                <a:extLst>
                  <a:ext uri="{FF2B5EF4-FFF2-40B4-BE49-F238E27FC236}">
                    <a16:creationId xmlns:a16="http://schemas.microsoft.com/office/drawing/2014/main" id="{ACAAA49D-07DB-F36E-D4B0-D4A5320E565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358086"/>
                <a:ext cx="10515600" cy="207091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dirty="0"/>
                  <a:t>If the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US" dirty="0"/>
                  <a:t>-HDI is contained inside the ROPE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𝑅𝑂𝑃𝐸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en-US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lang="en-US" altLang="en-US" b="0" dirty="0"/>
              </a:p>
              <a:p>
                <a:r>
                  <a:rPr lang="en-US" altLang="en-US" dirty="0"/>
                  <a:t>Taking into account all the coin tosses across all people</a:t>
                </a:r>
              </a:p>
              <a:p>
                <a:pPr lvl="1"/>
                <a:r>
                  <a:rPr lang="en-US" altLang="en-US" b="0" dirty="0"/>
                  <a:t>We see coins are quite fair</a:t>
                </a:r>
              </a:p>
            </p:txBody>
          </p:sp>
        </mc:Choice>
        <mc:Fallback>
          <p:sp>
            <p:nvSpPr>
              <p:cNvPr id="83973" name="Rectangle 3">
                <a:extLst>
                  <a:ext uri="{FF2B5EF4-FFF2-40B4-BE49-F238E27FC236}">
                    <a16:creationId xmlns:a16="http://schemas.microsoft.com/office/drawing/2014/main" id="{ACAAA49D-07DB-F36E-D4B0-D4A5320E56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8086"/>
                <a:ext cx="10515600" cy="2070913"/>
              </a:xfrm>
              <a:blipFill>
                <a:blip r:embed="rId4"/>
                <a:stretch>
                  <a:fillRect l="-1043" t="-50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3A67AE-7136-E1B2-9105-AB63EAD9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/ 75</a:t>
            </a:r>
            <a:endParaRPr lang="en-US" dirty="0"/>
          </a:p>
        </p:txBody>
      </p:sp>
      <p:sp>
        <p:nvSpPr>
          <p:cNvPr id="83971" name="Slide Number Placeholder 5">
            <a:extLst>
              <a:ext uri="{FF2B5EF4-FFF2-40B4-BE49-F238E27FC236}">
                <a16:creationId xmlns:a16="http://schemas.microsoft.com/office/drawing/2014/main" id="{FE8476E6-1698-99C1-48CB-0F45CFB9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CD0E23-406D-4EFC-8958-D79114579884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83A59-4412-70DE-F51F-9C60034AF4B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0425" y="3733884"/>
            <a:ext cx="5726875" cy="2896350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B2CFFAB-7B89-59BD-82F5-F94B2D235E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313436"/>
              </p:ext>
            </p:extLst>
          </p:nvPr>
        </p:nvGraphicFramePr>
        <p:xfrm>
          <a:off x="6854074" y="3344946"/>
          <a:ext cx="42195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55800" imgH="253800" progId="Equation.DSMT4">
                  <p:embed/>
                </p:oleObj>
              </mc:Choice>
              <mc:Fallback>
                <p:oleObj name="Equation" r:id="rId6" imgW="2755800" imgH="2538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B2CFFAB-7B89-59BD-82F5-F94B2D235E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4074" y="3344946"/>
                        <a:ext cx="4219575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53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D86F0-BF8C-A6CF-D72C-3D95636B63A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5995988F-8D65-70D1-CC04-642B046BB8D6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6.6 Basics of statistical reporting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50216E03-17CC-5FD8-03D2-3847DCAE9C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Provide data, interval, effect size, and hypothesis test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73249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9B5ED3-F6B2-469D-98EC-4C408E315CF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Statistical reporting involves expectation</a:t>
            </a:r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68414"/>
            <a:ext cx="8229600" cy="4537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ym typeface="Symbol" panose="05050102010706020507" pitchFamily="18" charset="2"/>
              </a:rPr>
              <a:t>When you read a paper</a:t>
            </a:r>
          </a:p>
          <a:p>
            <a:pPr lvl="1"/>
            <a:r>
              <a:rPr lang="en-US" altLang="en-US" sz="2800" dirty="0">
                <a:sym typeface="Symbol" panose="05050102010706020507" pitchFamily="18" charset="2"/>
              </a:rPr>
              <a:t>What to expect</a:t>
            </a:r>
          </a:p>
          <a:p>
            <a:r>
              <a:rPr lang="en-US" altLang="en-US" sz="3200" dirty="0">
                <a:sym typeface="Symbol" panose="05050102010706020507" pitchFamily="18" charset="2"/>
              </a:rPr>
              <a:t>When you write a paper</a:t>
            </a:r>
          </a:p>
          <a:p>
            <a:pPr lvl="1"/>
            <a:r>
              <a:rPr lang="en-US" altLang="en-US" sz="2800" dirty="0">
                <a:sym typeface="Symbol" panose="05050102010706020507" pitchFamily="18" charset="2"/>
              </a:rPr>
              <a:t>Or a grant or a patent or an ethics request</a:t>
            </a:r>
          </a:p>
          <a:p>
            <a:pPr lvl="1"/>
            <a:r>
              <a:rPr lang="en-US" altLang="en-US" sz="2800" dirty="0">
                <a:sym typeface="Symbol" panose="05050102010706020507" pitchFamily="18" charset="2"/>
              </a:rPr>
              <a:t>What is expected of you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/ 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80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DC1D48-F87E-3DEA-93B5-3F80885F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you need to report statistics?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8C43F-7EE7-A262-A6D0-74E33E812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Scientific reporting</a:t>
            </a:r>
          </a:p>
          <a:p>
            <a:pPr lvl="1"/>
            <a:r>
              <a:rPr lang="en-US" dirty="0"/>
              <a:t>Scientific paper</a:t>
            </a:r>
          </a:p>
          <a:p>
            <a:pPr lvl="1"/>
            <a:r>
              <a:rPr lang="en-US" dirty="0"/>
              <a:t>Grant application</a:t>
            </a:r>
          </a:p>
          <a:p>
            <a:pPr lvl="1"/>
            <a:r>
              <a:rPr lang="en-US" dirty="0"/>
              <a:t>Pre-registered research</a:t>
            </a:r>
          </a:p>
          <a:p>
            <a:pPr lvl="1"/>
            <a:r>
              <a:rPr lang="en-US" dirty="0"/>
              <a:t>Ethical approval</a:t>
            </a:r>
          </a:p>
          <a:p>
            <a:r>
              <a:rPr lang="en-US" dirty="0"/>
              <a:t>Medical reporting</a:t>
            </a:r>
          </a:p>
          <a:p>
            <a:pPr lvl="1"/>
            <a:r>
              <a:rPr lang="en-US" dirty="0"/>
              <a:t>Approval for drug or treatment</a:t>
            </a:r>
          </a:p>
          <a:p>
            <a:pPr lvl="1"/>
            <a:r>
              <a:rPr lang="en-US" dirty="0"/>
              <a:t>Ethical approval</a:t>
            </a:r>
          </a:p>
          <a:p>
            <a:r>
              <a:rPr lang="en-US" dirty="0"/>
              <a:t>Engineering</a:t>
            </a:r>
          </a:p>
          <a:p>
            <a:pPr lvl="1"/>
            <a:r>
              <a:rPr lang="en-US" dirty="0"/>
              <a:t>Patent application</a:t>
            </a:r>
          </a:p>
          <a:p>
            <a:pPr lvl="1"/>
            <a:r>
              <a:rPr lang="en-US" dirty="0"/>
              <a:t>Ethical approval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DD316-1324-CD8C-C065-7B1E9A11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97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733D-FBD5-4FD7-721E-2E51F5A8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reporting standards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A5B17-2188-18C3-6401-3A349C9EC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often strict rules about statistical reporting</a:t>
            </a:r>
          </a:p>
          <a:p>
            <a:pPr lvl="1"/>
            <a:r>
              <a:rPr lang="en-US" dirty="0"/>
              <a:t>Always check</a:t>
            </a:r>
          </a:p>
          <a:p>
            <a:r>
              <a:rPr lang="en-US" dirty="0"/>
              <a:t>When there are no rules, there are norms</a:t>
            </a:r>
          </a:p>
          <a:p>
            <a:pPr lvl="1"/>
            <a:r>
              <a:rPr lang="en-US" dirty="0"/>
              <a:t>Reporting for clinical trials is strict</a:t>
            </a:r>
          </a:p>
          <a:p>
            <a:pPr lvl="1"/>
            <a:r>
              <a:rPr lang="en-US" dirty="0"/>
              <a:t>Reporting for registering experiments is relaxed</a:t>
            </a:r>
          </a:p>
          <a:p>
            <a:r>
              <a:rPr lang="en-US" dirty="0"/>
              <a:t>Rules and norms change over time</a:t>
            </a:r>
          </a:p>
          <a:p>
            <a:pPr lvl="1"/>
            <a:r>
              <a:rPr lang="en-US" dirty="0"/>
              <a:t>Check recent publications or applications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4EF4A-CBCE-32AB-783B-E95C83D4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6296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9B5ED3-F6B2-469D-98EC-4C408E315CF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most basic level of reporting</a:t>
            </a:r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276" y="1690689"/>
            <a:ext cx="9583127" cy="234185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highlight>
                  <a:srgbClr val="FFFF00"/>
                </a:highlight>
                <a:sym typeface="Symbol" panose="05050102010706020507" pitchFamily="18" charset="2"/>
              </a:rPr>
              <a:t>What did you measure?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highlight>
                  <a:srgbClr val="00FFFF"/>
                </a:highlight>
                <a:sym typeface="Symbol" panose="05050102010706020507" pitchFamily="18" charset="2"/>
              </a:rPr>
              <a:t>What is your parameter estimate?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highlight>
                  <a:srgbClr val="00FF00"/>
                </a:highlight>
                <a:sym typeface="Symbol" panose="05050102010706020507" pitchFamily="18" charset="2"/>
              </a:rPr>
              <a:t>How is your interval?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ym typeface="Symbol" panose="05050102010706020507" pitchFamily="18" charset="2"/>
              </a:rPr>
              <a:t>What is the effect size?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highlight>
                  <a:srgbClr val="FF00FF"/>
                </a:highlight>
                <a:sym typeface="Symbol" panose="05050102010706020507" pitchFamily="18" charset="2"/>
              </a:rPr>
              <a:t>Is the effect significant?</a:t>
            </a:r>
            <a:endParaRPr lang="en-US" altLang="en-US" sz="2800" dirty="0">
              <a:highlight>
                <a:srgbClr val="FF00FF"/>
              </a:highlight>
              <a:sym typeface="Symbol" panose="05050102010706020507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/ 75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26CEC-F77E-166A-7DA6-7AFAC822B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73" y="4478932"/>
            <a:ext cx="11673254" cy="14310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0E8FE7-EF3E-2B16-BC6E-903CCD11A36A}"/>
              </a:ext>
            </a:extLst>
          </p:cNvPr>
          <p:cNvSpPr/>
          <p:nvPr/>
        </p:nvSpPr>
        <p:spPr>
          <a:xfrm>
            <a:off x="7459133" y="4478932"/>
            <a:ext cx="3259667" cy="253935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907B5-E14B-2751-3536-BC72B39AB6F6}"/>
              </a:ext>
            </a:extLst>
          </p:cNvPr>
          <p:cNvSpPr/>
          <p:nvPr/>
        </p:nvSpPr>
        <p:spPr>
          <a:xfrm>
            <a:off x="599586" y="4715966"/>
            <a:ext cx="1779547" cy="253935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B8F4D3-6A11-8D41-3396-5D93152CEBF6}"/>
              </a:ext>
            </a:extLst>
          </p:cNvPr>
          <p:cNvSpPr/>
          <p:nvPr/>
        </p:nvSpPr>
        <p:spPr>
          <a:xfrm>
            <a:off x="2379133" y="4715965"/>
            <a:ext cx="2353735" cy="253935"/>
          </a:xfrm>
          <a:prstGeom prst="rect">
            <a:avLst/>
          </a:prstGeom>
          <a:solidFill>
            <a:srgbClr val="00FF00">
              <a:alpha val="25098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B4D82-60E0-EE3A-9D97-575AD546118F}"/>
              </a:ext>
            </a:extLst>
          </p:cNvPr>
          <p:cNvSpPr/>
          <p:nvPr/>
        </p:nvSpPr>
        <p:spPr>
          <a:xfrm>
            <a:off x="599586" y="5416291"/>
            <a:ext cx="1991214" cy="253935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8245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D86F0-BF8C-A6CF-D72C-3D95636B63A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5995988F-8D65-70D1-CC04-642B046BB8D6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6.7 Power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50216E03-17CC-5FD8-03D2-3847DCAE9C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Can we identify a true effect?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72158090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9B5ED3-F6B2-469D-98EC-4C408E315CF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kinds of error</a:t>
            </a:r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68414"/>
            <a:ext cx="8229600" cy="4537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ym typeface="Symbol" panose="05050102010706020507" pitchFamily="18" charset="2"/>
              </a:rPr>
              <a:t>Type I error / α error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Falsely rejecting a true null model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ym typeface="Symbol" panose="05050102010706020507" pitchFamily="18" charset="2"/>
              </a:rPr>
              <a:t>Type II error /  error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Failing to reject a false null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Overlooking a real difference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Being overly cautious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The </a:t>
            </a:r>
            <a:r>
              <a:rPr lang="en-US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power</a:t>
            </a:r>
            <a:r>
              <a:rPr lang="en-US" altLang="en-US" sz="2800" dirty="0">
                <a:sym typeface="Symbol" panose="05050102010706020507" pitchFamily="18" charset="2"/>
              </a:rPr>
              <a:t> of the test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Smaller probability of type II error </a:t>
            </a:r>
          </a:p>
          <a:p>
            <a:pPr lvl="3"/>
            <a:r>
              <a:rPr lang="en-US" altLang="en-US" sz="2200" dirty="0">
                <a:sym typeface="Symbol" panose="05050102010706020507" pitchFamily="18" charset="2"/>
              </a:rPr>
              <a:t>→ more powerful test</a:t>
            </a:r>
          </a:p>
          <a:p>
            <a:pPr eaLnBrk="1" hangingPunct="1">
              <a:lnSpc>
                <a:spcPct val="90000"/>
              </a:lnSpc>
            </a:pPr>
            <a:endParaRPr lang="en-US" altLang="en-US" sz="3200" dirty="0">
              <a:sym typeface="Symbol" panose="05050102010706020507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/ 75</a:t>
            </a:r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689A2F3-0DE0-FD6B-4303-1D41D6603A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709339"/>
              </p:ext>
            </p:extLst>
          </p:nvPr>
        </p:nvGraphicFramePr>
        <p:xfrm>
          <a:off x="8378127" y="5011484"/>
          <a:ext cx="28606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60675" imgH="653976" progId="Equation.DSMT4">
                  <p:embed/>
                </p:oleObj>
              </mc:Choice>
              <mc:Fallback>
                <p:oleObj name="Equation" r:id="rId3" imgW="2860675" imgH="65397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78127" y="5011484"/>
                        <a:ext cx="2860675" cy="65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990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76832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Power depends on effect size, sample size, and significance threshold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873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Power is the probability of successfully identifying a true effect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Three things affect power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The true effect size</a:t>
                </a:r>
              </a:p>
              <a:p>
                <a:pPr lvl="1"/>
                <a:r>
                  <a:rPr lang="en-US" dirty="0"/>
                  <a:t>Larger effects -&gt; HDI farther from ROPE -&gt; easier to reach significance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The amount of data</a:t>
                </a:r>
              </a:p>
              <a:p>
                <a:pPr lvl="1"/>
                <a:r>
                  <a:rPr lang="en-US" dirty="0"/>
                  <a:t>More data -&gt; smaller HDI -&gt; easier to reach significance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The threshold for significance</a:t>
                </a:r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-&gt; smaller HDI -&gt;  easier to reach significance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8737"/>
                <a:ext cx="10515600" cy="4351338"/>
              </a:xfr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analysis, Semester 2018-1, Lecture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C311-76E6-4493-A800-03F6BFB61D22}" type="slidenum">
              <a:rPr lang="he-IL" smtClean="0"/>
              <a:pPr/>
              <a:t>41</a:t>
            </a:fld>
            <a:r>
              <a:rPr lang="en-CA"/>
              <a:t>/76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6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analysis, Semester 2018-1,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37E8-6E61-45F5-8871-C08572B60111}" type="slidenum">
              <a:rPr lang="he-IL"/>
              <a:pPr/>
              <a:t>42</a:t>
            </a:fld>
            <a:r>
              <a:rPr lang="en-CA" dirty="0"/>
              <a:t>/76</a:t>
            </a:r>
            <a:endParaRPr lang="en-US" dirty="0"/>
          </a:p>
        </p:txBody>
      </p:sp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power of a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31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19536" y="1484784"/>
                <a:ext cx="5760640" cy="4824536"/>
              </a:xfrm>
            </p:spPr>
            <p:txBody>
              <a:bodyPr/>
              <a:lstStyle/>
              <a:p>
                <a:r>
                  <a:rPr lang="en-US" sz="2400" dirty="0"/>
                  <a:t>Effect size: 0.05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=0.45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Wiggle by size of ROPE</a:t>
                </a:r>
              </a:p>
              <a:p>
                <a:r>
                  <a:rPr lang="en-US" sz="2000" dirty="0"/>
                  <a:t>Data: 1,000 flips</a:t>
                </a:r>
              </a:p>
              <a:p>
                <a:r>
                  <a:rPr lang="en-US" sz="2000" dirty="0"/>
                  <a:t>Significance threshold: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=0.06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Power is 0.7</a:t>
                </a:r>
              </a:p>
              <a:p>
                <a:pPr lvl="1"/>
                <a:r>
                  <a:rPr lang="en-US" sz="1600" dirty="0"/>
                  <a:t>69 out of 100 HDIs overlap ROPE</a:t>
                </a:r>
              </a:p>
              <a:p>
                <a:r>
                  <a:rPr lang="en-US" sz="2000" dirty="0"/>
                  <a:t>Partly due to strong prior</a:t>
                </a:r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903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19536" y="1484784"/>
                <a:ext cx="5760640" cy="4824536"/>
              </a:xfrm>
              <a:blipFill>
                <a:blip r:embed="rId3"/>
                <a:stretch>
                  <a:fillRect l="-1481" t="-17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D43C9DE-A21D-DF9D-46D5-CC393D271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689311"/>
            <a:ext cx="4823488" cy="541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C6D3-E0CA-D4F1-1350-50519AC5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3E342-9B20-1FE7-49AA-F9B0781C9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analysis, Semester 2018-1, Lecture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E39D5-A34C-3349-170C-DE26DAE5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37E8-6E61-45F5-8871-C08572B60111}" type="slidenum">
              <a:rPr lang="he-IL"/>
              <a:pPr/>
              <a:t>43</a:t>
            </a:fld>
            <a:r>
              <a:rPr lang="en-CA" dirty="0"/>
              <a:t>/76</a:t>
            </a:r>
            <a:endParaRPr lang="en-US" dirty="0"/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77D25DE6-AF61-CBD4-F384-D2C03A54D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70866"/>
          </a:xfrm>
        </p:spPr>
        <p:txBody>
          <a:bodyPr/>
          <a:lstStyle/>
          <a:p>
            <a:r>
              <a:rPr lang="en-US" dirty="0"/>
              <a:t>Power under increased 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3171" name="Rectangle 3">
                <a:extLst>
                  <a:ext uri="{FF2B5EF4-FFF2-40B4-BE49-F238E27FC236}">
                    <a16:creationId xmlns:a16="http://schemas.microsoft.com/office/drawing/2014/main" id="{C2137603-A94A-C0D2-0431-981FCD85890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158280" y="1235992"/>
                <a:ext cx="5760640" cy="949424"/>
              </a:xfrm>
            </p:spPr>
            <p:txBody>
              <a:bodyPr/>
              <a:lstStyle/>
              <a:p>
                <a:pPr lvl="1"/>
                <a:r>
                  <a:rPr lang="en-US" sz="2000" dirty="0"/>
                  <a:t>Increasing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to 1,500</a:t>
                </a:r>
              </a:p>
              <a:p>
                <a:pPr lvl="2"/>
                <a:r>
                  <a:rPr lang="en-US" sz="1600" dirty="0"/>
                  <a:t>Power increases to 0.9</a:t>
                </a:r>
              </a:p>
            </p:txBody>
          </p:sp>
        </mc:Choice>
        <mc:Fallback>
          <p:sp>
            <p:nvSpPr>
              <p:cNvPr id="903171" name="Rectangle 3">
                <a:extLst>
                  <a:ext uri="{FF2B5EF4-FFF2-40B4-BE49-F238E27FC236}">
                    <a16:creationId xmlns:a16="http://schemas.microsoft.com/office/drawing/2014/main" id="{C2137603-A94A-C0D2-0431-981FCD858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58280" y="1235992"/>
                <a:ext cx="5760640" cy="949424"/>
              </a:xfrm>
              <a:blipFill>
                <a:blip r:embed="rId3"/>
                <a:stretch>
                  <a:fillRect t="-70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C56D53B-A670-2ED6-F938-79315086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377440"/>
            <a:ext cx="3779847" cy="42459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6614E2-303C-C741-D5FA-0F8B4AACD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128" y="1330301"/>
            <a:ext cx="4458354" cy="50080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00D4F9-CC8A-6F76-F4A1-16A5560BE0FA}"/>
                  </a:ext>
                </a:extLst>
              </p:cNvPr>
              <p:cNvSpPr txBox="1"/>
              <p:nvPr/>
            </p:nvSpPr>
            <p:spPr>
              <a:xfrm>
                <a:off x="1618488" y="1954583"/>
                <a:ext cx="16278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=1,000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00D4F9-CC8A-6F76-F4A1-16A5560BE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488" y="1954583"/>
                <a:ext cx="1627882" cy="461665"/>
              </a:xfrm>
              <a:prstGeom prst="rect">
                <a:avLst/>
              </a:prstGeom>
              <a:blipFill>
                <a:blip r:embed="rId6"/>
                <a:stretch>
                  <a:fillRect t="-10667" r="-7491" b="-30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7F632C-DD27-EE07-7FB3-FFFC347898D3}"/>
                  </a:ext>
                </a:extLst>
              </p:cNvPr>
              <p:cNvSpPr txBox="1"/>
              <p:nvPr/>
            </p:nvSpPr>
            <p:spPr>
              <a:xfrm>
                <a:off x="8930481" y="792286"/>
                <a:ext cx="16278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=1,500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7F632C-DD27-EE07-7FB3-FFFC34789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481" y="792286"/>
                <a:ext cx="1627882" cy="461665"/>
              </a:xfrm>
              <a:prstGeom prst="rect">
                <a:avLst/>
              </a:prstGeom>
              <a:blipFill>
                <a:blip r:embed="rId7"/>
                <a:stretch>
                  <a:fillRect t="-10526" r="-7491" b="-289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682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649B-64B0-AB67-1C81-94261494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4085F-08AE-AD32-CEB9-ADE7EF3F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analysis, Semester 2018-1, Lecture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FD030-DFAE-1FF9-CA9D-600990F2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837E8-6E61-45F5-8871-C08572B60111}" type="slidenum">
              <a:rPr lang="he-IL"/>
              <a:pPr/>
              <a:t>44</a:t>
            </a:fld>
            <a:r>
              <a:rPr lang="en-CA" dirty="0"/>
              <a:t>/76</a:t>
            </a:r>
            <a:endParaRPr lang="en-US" dirty="0"/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32178C71-C9E2-0D72-BCC3-74EA9C4D5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70866"/>
          </a:xfrm>
        </p:spPr>
        <p:txBody>
          <a:bodyPr/>
          <a:lstStyle/>
          <a:p>
            <a:r>
              <a:rPr lang="en-US" dirty="0"/>
              <a:t>Power under increased effect</a:t>
            </a:r>
          </a:p>
        </p:txBody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B2DCC222-1409-8915-2E2E-3B1F13EA7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8280" y="1235992"/>
            <a:ext cx="5760640" cy="949424"/>
          </a:xfrm>
        </p:spPr>
        <p:txBody>
          <a:bodyPr/>
          <a:lstStyle/>
          <a:p>
            <a:pPr lvl="1"/>
            <a:r>
              <a:rPr lang="en-US" sz="2000" dirty="0"/>
              <a:t>Increasing effect size to 0.06</a:t>
            </a:r>
          </a:p>
          <a:p>
            <a:pPr lvl="2"/>
            <a:r>
              <a:rPr lang="en-US" sz="1600" dirty="0"/>
              <a:t>Power increases to 0.86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B68A4-1428-B2EE-66CE-761539A92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7" y="2743200"/>
            <a:ext cx="3539194" cy="39755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AD29544-51E2-7022-B4E8-63226E833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647" y="2743200"/>
            <a:ext cx="3539194" cy="39755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1C1D78-49D6-A90C-A7B5-889A1B3CB4CC}"/>
                  </a:ext>
                </a:extLst>
              </p:cNvPr>
              <p:cNvSpPr txBox="1"/>
              <p:nvPr/>
            </p:nvSpPr>
            <p:spPr>
              <a:xfrm>
                <a:off x="1591056" y="2233367"/>
                <a:ext cx="16278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=1,000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1C1D78-49D6-A90C-A7B5-889A1B3CB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056" y="2233367"/>
                <a:ext cx="162788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A7B8D3-6747-3C79-E5D2-243FCD4915FA}"/>
                  </a:ext>
                </a:extLst>
              </p:cNvPr>
              <p:cNvSpPr txBox="1"/>
              <p:nvPr/>
            </p:nvSpPr>
            <p:spPr>
              <a:xfrm>
                <a:off x="4959610" y="2233367"/>
                <a:ext cx="16278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=1,500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A7B8D3-6747-3C79-E5D2-243FCD491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610" y="2233367"/>
                <a:ext cx="162788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602B1C9-E220-2D15-C056-07073C2A0E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2842" y="1580336"/>
            <a:ext cx="4574410" cy="51384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361914-E684-8044-9D72-40923925E831}"/>
                  </a:ext>
                </a:extLst>
              </p:cNvPr>
              <p:cNvSpPr txBox="1"/>
              <p:nvPr/>
            </p:nvSpPr>
            <p:spPr>
              <a:xfrm>
                <a:off x="8936106" y="1115988"/>
                <a:ext cx="14087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361914-E684-8044-9D72-40923925E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106" y="1115988"/>
                <a:ext cx="140878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392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8967B-E900-BEE7-AE96-55008E3E403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5C79E11B-C960-D16A-D186-157928242B92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6.8 Pre-hoc and post-hoc power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6486C0BC-D9E1-DD68-FBA9-3AEE806F8F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How much data do we need? How big an effect can we measure?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82506222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BBA1-0C6A-88E4-8C93-D3355FD3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832739"/>
          </a:xfrm>
        </p:spPr>
        <p:txBody>
          <a:bodyPr/>
          <a:lstStyle/>
          <a:p>
            <a:r>
              <a:rPr lang="en-US" dirty="0"/>
              <a:t>Pre-hoc power: choosing N to get enough power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931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54736" y="1253331"/>
                <a:ext cx="5187696" cy="4891437"/>
              </a:xfrm>
            </p:spPr>
            <p:txBody>
              <a:bodyPr/>
              <a:lstStyle/>
              <a:p>
                <a:r>
                  <a:rPr lang="en-US" dirty="0"/>
                  <a:t>How big a sample do we need?</a:t>
                </a:r>
              </a:p>
              <a:p>
                <a:r>
                  <a:rPr lang="en-US" dirty="0"/>
                  <a:t>We want a power of 0.9</a:t>
                </a:r>
              </a:p>
              <a:p>
                <a:pPr lvl="1"/>
                <a:r>
                  <a:rPr lang="en-US" dirty="0"/>
                  <a:t>For very small effects</a:t>
                </a:r>
              </a:p>
              <a:p>
                <a:pPr lvl="2"/>
                <a:r>
                  <a:rPr lang="en-US" dirty="0"/>
                  <a:t>Cohen’s h = 0.1</a:t>
                </a:r>
              </a:p>
              <a:p>
                <a:r>
                  <a:rPr lang="en-US" dirty="0"/>
                  <a:t>How big a dataset do we need?</a:t>
                </a:r>
              </a:p>
              <a:p>
                <a:r>
                  <a:rPr lang="en-US" dirty="0"/>
                  <a:t>Simulate!</a:t>
                </a:r>
              </a:p>
              <a:p>
                <a:pPr lvl="1"/>
                <a:r>
                  <a:rPr lang="en-US" dirty="0"/>
                  <a:t>Measure power</a:t>
                </a:r>
              </a:p>
              <a:p>
                <a:pPr lvl="2"/>
                <a:r>
                  <a:rPr lang="en-US" dirty="0"/>
                  <a:t>As a function of N</a:t>
                </a:r>
              </a:p>
              <a:p>
                <a:pPr lvl="1"/>
                <a:r>
                  <a:rPr lang="en-US" dirty="0"/>
                  <a:t>Find N</a:t>
                </a:r>
              </a:p>
              <a:p>
                <a:pPr lvl="2"/>
                <a:r>
                  <a:rPr lang="en-US" dirty="0"/>
                  <a:t>Where power &gt; 0.9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≈1,600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9093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4736" y="1253331"/>
                <a:ext cx="5187696" cy="4891437"/>
              </a:xfrm>
              <a:blipFill>
                <a:blip r:embed="rId3"/>
                <a:stretch>
                  <a:fillRect l="-2115" t="-212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analysis, Semester 2018-1, Lecture 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149B7-5B78-4D24-8633-B8BDEE815741}" type="slidenum">
              <a:rPr lang="he-IL"/>
              <a:pPr/>
              <a:t>46</a:t>
            </a:fld>
            <a:r>
              <a:rPr lang="en-CA" dirty="0"/>
              <a:t>/76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B361E-08FD-9C43-5D0A-34E0CB56E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35" y="2749551"/>
            <a:ext cx="6378438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0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626"/>
          </a:xfrm>
        </p:spPr>
        <p:txBody>
          <a:bodyPr>
            <a:normAutofit/>
          </a:bodyPr>
          <a:lstStyle/>
          <a:p>
            <a:r>
              <a:rPr lang="en-US" dirty="0"/>
              <a:t>Choosing pre-hoc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816" y="1423862"/>
            <a:ext cx="8229600" cy="4392835"/>
          </a:xfrm>
        </p:spPr>
        <p:txBody>
          <a:bodyPr>
            <a:normAutofit/>
          </a:bodyPr>
          <a:lstStyle/>
          <a:p>
            <a:r>
              <a:rPr lang="en-US" dirty="0"/>
              <a:t>Go to the literature</a:t>
            </a:r>
          </a:p>
          <a:p>
            <a:pPr lvl="1"/>
            <a:r>
              <a:rPr lang="en-US" dirty="0"/>
              <a:t>Look at similar studies </a:t>
            </a:r>
          </a:p>
          <a:p>
            <a:pPr lvl="1"/>
            <a:r>
              <a:rPr lang="en-US" dirty="0"/>
              <a:t>What sort of effects do people get</a:t>
            </a:r>
          </a:p>
          <a:p>
            <a:r>
              <a:rPr lang="en-US" dirty="0"/>
              <a:t>Conduct a preliminary study</a:t>
            </a:r>
          </a:p>
          <a:p>
            <a:pPr lvl="1"/>
            <a:r>
              <a:rPr lang="en-US" dirty="0"/>
              <a:t>Get data from a small number of people </a:t>
            </a:r>
          </a:p>
          <a:p>
            <a:pPr lvl="1"/>
            <a:r>
              <a:rPr lang="en-US" dirty="0"/>
              <a:t>Estimate the effect size</a:t>
            </a:r>
          </a:p>
          <a:p>
            <a:r>
              <a:rPr lang="en-US" dirty="0"/>
              <a:t>What is a meaningful minimal effect?</a:t>
            </a:r>
          </a:p>
          <a:p>
            <a:pPr lvl="1"/>
            <a:r>
              <a:rPr lang="en-US" dirty="0"/>
              <a:t>Think about what’s important</a:t>
            </a:r>
          </a:p>
          <a:p>
            <a:pPr lvl="1"/>
            <a:r>
              <a:rPr lang="en-US" dirty="0"/>
              <a:t>Leads to larger (and more appropriate) sample sizes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analysis, Semester </a:t>
            </a:r>
            <a:r>
              <a:rPr lang="en-150"/>
              <a:t>2020-2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6C311-76E6-4493-A800-03F6BFB61D22}" type="slidenum">
              <a:rPr lang="he-IL" smtClean="0"/>
              <a:pPr/>
              <a:t>47</a:t>
            </a:fld>
            <a:r>
              <a:rPr lang="en-CA"/>
              <a:t>/76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4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0747-214E-D525-AB73-073D9597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thumb for ROPEs and minimal effects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D454D-F390-3075-532F-985ED423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Set minimal effect size to half of a small effect</a:t>
            </a:r>
          </a:p>
          <a:p>
            <a:r>
              <a:rPr lang="en-US" dirty="0"/>
              <a:t>Set ROPE to half of the minimal effect size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C3FD1-2AA1-5AA9-128D-FB75692F8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95787" y="3768008"/>
            <a:ext cx="4744781" cy="249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59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97B1-33A8-42BF-6B6C-5A4C286A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8AD1-8776-B684-D4CF-FE6A54CF8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832739"/>
          </a:xfrm>
        </p:spPr>
        <p:txBody>
          <a:bodyPr>
            <a:normAutofit/>
          </a:bodyPr>
          <a:lstStyle/>
          <a:p>
            <a:r>
              <a:rPr lang="en-US" dirty="0"/>
              <a:t>Post-hoc power: how big an effect do we need?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9315" name="Rectangle 3">
                <a:extLst>
                  <a:ext uri="{FF2B5EF4-FFF2-40B4-BE49-F238E27FC236}">
                    <a16:creationId xmlns:a16="http://schemas.microsoft.com/office/drawing/2014/main" id="{00273D0F-0577-379D-6F53-8A0A952B58C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54736" y="1253331"/>
                <a:ext cx="5187696" cy="4891437"/>
              </a:xfrm>
            </p:spPr>
            <p:txBody>
              <a:bodyPr/>
              <a:lstStyle/>
              <a:p>
                <a:r>
                  <a:rPr lang="en-US" dirty="0"/>
                  <a:t>We’ve done the experiment</a:t>
                </a:r>
              </a:p>
              <a:p>
                <a:pPr lvl="1"/>
                <a:r>
                  <a:rPr lang="en-US" dirty="0"/>
                  <a:t>N is fixed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is known</a:t>
                </a:r>
              </a:p>
              <a:p>
                <a:r>
                  <a:rPr lang="en-US" dirty="0"/>
                  <a:t>We want to know how sensitive our experiment is</a:t>
                </a:r>
              </a:p>
              <a:p>
                <a:pPr lvl="1"/>
                <a:r>
                  <a:rPr lang="en-US" dirty="0"/>
                  <a:t>If the effect had been small</a:t>
                </a:r>
              </a:p>
              <a:p>
                <a:pPr lvl="2"/>
                <a:r>
                  <a:rPr lang="en-US" dirty="0"/>
                  <a:t>Would it be significant?</a:t>
                </a:r>
              </a:p>
              <a:p>
                <a:r>
                  <a:rPr lang="en-US" dirty="0"/>
                  <a:t>Simulate!</a:t>
                </a:r>
              </a:p>
              <a:p>
                <a:pPr lvl="1"/>
                <a:r>
                  <a:rPr lang="en-US" dirty="0"/>
                  <a:t>Measure power</a:t>
                </a:r>
              </a:p>
              <a:p>
                <a:pPr lvl="2"/>
                <a:r>
                  <a:rPr lang="en-US" dirty="0"/>
                  <a:t>As a function of effect size</a:t>
                </a:r>
              </a:p>
              <a:p>
                <a:pPr lvl="1"/>
                <a:r>
                  <a:rPr lang="en-US" dirty="0"/>
                  <a:t>Find smallest effect size</a:t>
                </a:r>
              </a:p>
              <a:p>
                <a:pPr lvl="2"/>
                <a:r>
                  <a:rPr lang="en-US" dirty="0"/>
                  <a:t>Where power &gt; 0.9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909315" name="Rectangle 3">
                <a:extLst>
                  <a:ext uri="{FF2B5EF4-FFF2-40B4-BE49-F238E27FC236}">
                    <a16:creationId xmlns:a16="http://schemas.microsoft.com/office/drawing/2014/main" id="{00273D0F-0577-379D-6F53-8A0A952B58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4736" y="1253331"/>
                <a:ext cx="5187696" cy="4891437"/>
              </a:xfrm>
              <a:blipFill>
                <a:blip r:embed="rId3"/>
                <a:stretch>
                  <a:fillRect l="-2115" t="-2120" r="-823" b="-18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D8BEA8-48BE-B913-C117-86760EB2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analysis, Semester 2018-1, Lecture 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B86F37-ACD3-6E6E-04EC-8BB107C8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149B7-5B78-4D24-8633-B8BDEE815741}" type="slidenum">
              <a:rPr lang="he-IL"/>
              <a:pPr/>
              <a:t>49</a:t>
            </a:fld>
            <a:r>
              <a:rPr lang="en-CA" dirty="0"/>
              <a:t>/76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E04E6-AD03-F6BC-5DAC-6CBA92616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927" y="2304288"/>
            <a:ext cx="5761457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269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A7A3D-342C-EA63-B9BB-D783C5FF134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BFB43E1F-66BB-F6F3-F246-0FC35A66B539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6.9 Frequentist methods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AEF22440-BD60-D71B-097D-8D86C74EE5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The z statistic. Its sampling distribution. Frequentist power analysis.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43435292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9EDDFC-5640-2A1A-A587-1CD7673C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hypothesis tests use a statistic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E2F134-3C9A-D5BE-2224-EA0043F42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825625"/>
            <a:ext cx="5586984" cy="4351338"/>
          </a:xfrm>
        </p:spPr>
        <p:txBody>
          <a:bodyPr/>
          <a:lstStyle/>
          <a:p>
            <a:r>
              <a:rPr lang="en-US" dirty="0"/>
              <a:t>Find a statistic</a:t>
            </a:r>
          </a:p>
          <a:p>
            <a:pPr lvl="1"/>
            <a:r>
              <a:rPr lang="en-US" dirty="0"/>
              <a:t>Whose sampling distribution is known</a:t>
            </a:r>
          </a:p>
          <a:p>
            <a:pPr lvl="2"/>
            <a:r>
              <a:rPr lang="en-US" dirty="0"/>
              <a:t>Under the null hypothesis</a:t>
            </a:r>
          </a:p>
          <a:p>
            <a:pPr lvl="1"/>
            <a:r>
              <a:rPr lang="en-US" dirty="0"/>
              <a:t>Test whether calculating the statistic on our data is consistent</a:t>
            </a:r>
          </a:p>
          <a:p>
            <a:pPr lvl="2"/>
            <a:r>
              <a:rPr lang="en-US" dirty="0"/>
              <a:t>With the null sampling distribution</a:t>
            </a:r>
          </a:p>
          <a:p>
            <a:pPr lvl="2"/>
            <a:r>
              <a:rPr lang="en-US" dirty="0"/>
              <a:t>That means:</a:t>
            </a:r>
          </a:p>
          <a:p>
            <a:pPr lvl="3"/>
            <a:r>
              <a:rPr lang="en-US" dirty="0"/>
              <a:t>Is measured statistic </a:t>
            </a:r>
          </a:p>
          <a:p>
            <a:pPr lvl="3"/>
            <a:r>
              <a:rPr lang="en-US" dirty="0"/>
              <a:t>Is in tail </a:t>
            </a:r>
          </a:p>
          <a:p>
            <a:pPr lvl="3"/>
            <a:r>
              <a:rPr lang="en-US" dirty="0"/>
              <a:t>Of null sampling distribution</a:t>
            </a:r>
          </a:p>
          <a:p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1F309-5CCB-E536-054E-F4F13531DD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6720" y="2484582"/>
            <a:ext cx="5177919" cy="41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90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282E603-7984-73EB-F94B-3E479094FD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956636" cy="854075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statistic is approximately normally distributed</a:t>
                </a:r>
                <a:endParaRPr lang="en-IL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282E603-7984-73EB-F94B-3E479094FD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956636" cy="854075"/>
              </a:xfrm>
              <a:blipFill>
                <a:blip r:embed="rId2"/>
                <a:stretch>
                  <a:fillRect l="-2003" t="-7857" b="-178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8CD98-86B3-FC7D-D242-311443DDA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12855" cy="3910157"/>
              </a:xfrm>
            </p:spPr>
            <p:txBody>
              <a:bodyPr/>
              <a:lstStyle/>
              <a:p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the number of successes</a:t>
                </a:r>
              </a:p>
              <a:p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large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8CD98-86B3-FC7D-D242-311443DDA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12855" cy="3910157"/>
              </a:xfrm>
              <a:blipFill>
                <a:blip r:embed="rId3"/>
                <a:stretch>
                  <a:fillRect l="-2329" t="-10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16AF967-2995-53F1-2CB0-847882439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489664"/>
              </p:ext>
            </p:extLst>
          </p:nvPr>
        </p:nvGraphicFramePr>
        <p:xfrm>
          <a:off x="7056582" y="1469161"/>
          <a:ext cx="2403764" cy="1373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660240" progId="Equation.DSMT4">
                  <p:embed/>
                </p:oleObj>
              </mc:Choice>
              <mc:Fallback>
                <p:oleObj name="Equation" r:id="rId4" imgW="115560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6582" y="1469161"/>
                        <a:ext cx="2403764" cy="1373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522100F-DDAF-12F4-D227-15C10787F68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3656" y="2966111"/>
            <a:ext cx="4556307" cy="360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1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2900-8556-3A35-E9D6-5C4394CB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70D83E2-0D37-D2A2-9D2E-7829FF25EE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20073" y="365125"/>
                <a:ext cx="11979563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/>
                  <a:t>Use the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4000" dirty="0"/>
                  <a:t> statistic to test if data is consistent with null</a:t>
                </a:r>
                <a:endParaRPr lang="en-IL" sz="40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70D83E2-0D37-D2A2-9D2E-7829FF25EE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0073" y="365125"/>
                <a:ext cx="11979563" cy="1325563"/>
              </a:xfrm>
              <a:blipFill>
                <a:blip r:embed="rId2"/>
                <a:stretch>
                  <a:fillRect l="-18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4E57-14F9-D1C8-EE7E-F954EB0FCC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12855" cy="3910157"/>
              </a:xfrm>
            </p:spPr>
            <p:txBody>
              <a:bodyPr/>
              <a:lstStyle/>
              <a:p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the number of successes</a:t>
                </a:r>
              </a:p>
              <a:p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large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So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&lt;−1.88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&gt;1.88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Reject null hypothesis</a:t>
                </a:r>
              </a:p>
              <a:p>
                <a:pPr lvl="1"/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4E57-14F9-D1C8-EE7E-F954EB0FC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12855" cy="3910157"/>
              </a:xfrm>
              <a:blipFill>
                <a:blip r:embed="rId3"/>
                <a:stretch>
                  <a:fillRect l="-2329" t="-10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B0FF9E2-D0EC-F27A-7A0D-0C169D24A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281810"/>
              </p:ext>
            </p:extLst>
          </p:nvPr>
        </p:nvGraphicFramePr>
        <p:xfrm>
          <a:off x="1896052" y="5554806"/>
          <a:ext cx="15827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320" imgH="228600" progId="Equation.DSMT4">
                  <p:embed/>
                </p:oleObj>
              </mc:Choice>
              <mc:Fallback>
                <p:oleObj name="Equation" r:id="rId4" imgW="57132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C306E7D-D392-6D60-2F48-654A9C7D9C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96052" y="5554806"/>
                        <a:ext cx="1582738" cy="631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54A5FB8-838F-6960-CF84-5552559053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8989" y="2499275"/>
            <a:ext cx="5255704" cy="416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520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1251-95F1-9832-E1E2-B0DDAD76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hypothesis tests don’t always agree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86ADB-83E8-4332-FA8D-D8A89AA75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6339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TianqiPeng</a:t>
            </a:r>
            <a:r>
              <a:rPr lang="en-US" dirty="0"/>
              <a:t> was significant for z test and HDI / ROPE</a:t>
            </a:r>
          </a:p>
          <a:p>
            <a:r>
              <a:rPr lang="en-US" dirty="0"/>
              <a:t>EJ was not significant for either z test or HDI / ROPE</a:t>
            </a:r>
          </a:p>
          <a:p>
            <a:r>
              <a:rPr lang="en-US" dirty="0" err="1"/>
              <a:t>DavidV</a:t>
            </a:r>
            <a:r>
              <a:rPr lang="en-US" dirty="0"/>
              <a:t> was significant for z test but not for HDI / ROPE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7B322-8FD0-DE18-AC4D-50E4F94EC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16" y="4488874"/>
            <a:ext cx="10384568" cy="16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78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64A0A5-A1EC-66C7-499B-A19680E7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365125"/>
            <a:ext cx="11767127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 values measure how unlikely data is under the null</a:t>
            </a:r>
            <a:endParaRPr lang="en-IL" sz="4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533E3B-7C25-A6BA-428A-65CC9FC27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0079" cy="2883677"/>
          </a:xfrm>
        </p:spPr>
        <p:txBody>
          <a:bodyPr/>
          <a:lstStyle/>
          <a:p>
            <a:r>
              <a:rPr lang="en-US" dirty="0"/>
              <a:t>The integral of the tails</a:t>
            </a:r>
          </a:p>
          <a:p>
            <a:pPr lvl="1"/>
            <a:r>
              <a:rPr lang="en-US" dirty="0"/>
              <a:t>The probability of getting data</a:t>
            </a:r>
          </a:p>
          <a:p>
            <a:pPr lvl="1"/>
            <a:r>
              <a:rPr lang="en-US" dirty="0"/>
              <a:t>As extreme as the real data</a:t>
            </a:r>
          </a:p>
          <a:p>
            <a:pPr lvl="1"/>
            <a:r>
              <a:rPr lang="en-US" dirty="0"/>
              <a:t>Or more extreme</a:t>
            </a:r>
          </a:p>
          <a:p>
            <a:pPr lvl="1"/>
            <a:r>
              <a:rPr lang="en-US" dirty="0"/>
              <a:t>Under the null model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71B93B-AFE1-2967-B5AF-566E41B8A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91" y="4955075"/>
            <a:ext cx="9017000" cy="14676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97AB81-D14A-EA49-E075-40E45C9C3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33" y="1341983"/>
            <a:ext cx="5000613" cy="33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3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C629-6DA2-E774-CE9A-BFDD3454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hypothesis tests</a:t>
            </a:r>
            <a:endParaRPr lang="en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2613D-2A25-4214-D271-D15A13F2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9CF0BA2-6C5D-2A4D-E57A-32BB54A1568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Can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Can use interval null</a:t>
                </a:r>
              </a:p>
              <a:p>
                <a:r>
                  <a:rPr lang="en-US" dirty="0"/>
                  <a:t>Focused on what we know given data and prior</a:t>
                </a:r>
              </a:p>
              <a:p>
                <a:r>
                  <a:rPr lang="en-US" dirty="0"/>
                  <a:t>Requires fitting a model</a:t>
                </a:r>
              </a:p>
              <a:p>
                <a:r>
                  <a:rPr lang="en-US" dirty="0"/>
                  <a:t>Appropriateness check by Bayesian workflow</a:t>
                </a:r>
                <a:endParaRPr lang="en-IL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9CF0BA2-6C5D-2A4D-E57A-32BB54A15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28" t="-2815" r="-29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1F8E2A-1241-9B6A-E27A-90E5E2318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Frequentist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26CAB3-6D7F-D134-07C1-38F153675DA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Must use sampling distributions</a:t>
            </a:r>
          </a:p>
          <a:p>
            <a:r>
              <a:rPr lang="en-US" dirty="0"/>
              <a:t>Uses point null</a:t>
            </a:r>
          </a:p>
          <a:p>
            <a:r>
              <a:rPr lang="en-US" dirty="0"/>
              <a:t>Focused on sampling distribution of statistic under null model</a:t>
            </a:r>
          </a:p>
          <a:p>
            <a:r>
              <a:rPr lang="en-US" dirty="0"/>
              <a:t>Requires calculating a statistic</a:t>
            </a:r>
          </a:p>
          <a:p>
            <a:r>
              <a:rPr lang="en-US" dirty="0"/>
              <a:t>Appropriateness checked by explicit conditions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88483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273C81-0B5F-6265-53C0-6149B82E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4148"/>
          </a:xfrm>
        </p:spPr>
        <p:txBody>
          <a:bodyPr/>
          <a:lstStyle/>
          <a:p>
            <a:r>
              <a:rPr lang="en-US" dirty="0"/>
              <a:t>Power analysis 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E50F21-183D-8F83-6A19-DE675F9D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734"/>
            <a:ext cx="10515600" cy="2053648"/>
          </a:xfrm>
        </p:spPr>
        <p:txBody>
          <a:bodyPr/>
          <a:lstStyle/>
          <a:p>
            <a:r>
              <a:rPr lang="en-US" dirty="0"/>
              <a:t>Frequentist power analysis is the same as Bayesian power analysis</a:t>
            </a:r>
          </a:p>
          <a:p>
            <a:r>
              <a:rPr lang="en-US" dirty="0"/>
              <a:t>Using a specific value for the parameter, not a distribution</a:t>
            </a:r>
          </a:p>
          <a:p>
            <a:r>
              <a:rPr lang="en-US" dirty="0"/>
              <a:t>Using a frequentist hypothesis test</a:t>
            </a:r>
          </a:p>
          <a:p>
            <a:pPr lvl="1"/>
            <a:r>
              <a:rPr lang="en-US" dirty="0"/>
              <a:t>Against a point null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470284-891A-7BF2-141D-A6416467D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8" y="3629891"/>
            <a:ext cx="5245009" cy="29658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3F7C77-7368-9207-A8E1-0230DBF2D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191" y="3629891"/>
            <a:ext cx="5201586" cy="296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695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D6902-A85B-02F1-86BB-60C67F58706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>
            <a:extLst>
              <a:ext uri="{FF2B5EF4-FFF2-40B4-BE49-F238E27FC236}">
                <a16:creationId xmlns:a16="http://schemas.microsoft.com/office/drawing/2014/main" id="{92E88C52-85E6-86C4-6416-BF2FCD8EBA49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Source Sans Pro"/>
                <a:ea typeface="Source Sans Pro"/>
              </a:rPr>
              <a:t>6.10 Comparing two groups</a:t>
            </a:r>
            <a:endParaRPr dirty="0">
              <a:latin typeface="Source Sans Pro"/>
              <a:ea typeface="Source Sans Pro"/>
            </a:endParaRPr>
          </a:p>
        </p:txBody>
      </p:sp>
      <p:sp>
        <p:nvSpPr>
          <p:cNvPr id="896357917" name="Text Placeholder 2">
            <a:extLst>
              <a:ext uri="{FF2B5EF4-FFF2-40B4-BE49-F238E27FC236}">
                <a16:creationId xmlns:a16="http://schemas.microsoft.com/office/drawing/2014/main" id="{7F96418C-6EAD-E139-2090-2DCB4526B5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Effect size, hypothesis test, and power analysis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071416950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CA47E4-4CB8-15CB-AA92-76EE8BA9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365125"/>
            <a:ext cx="11794836" cy="1325563"/>
          </a:xfrm>
        </p:spPr>
        <p:txBody>
          <a:bodyPr>
            <a:normAutofit/>
          </a:bodyPr>
          <a:lstStyle/>
          <a:p>
            <a:r>
              <a:rPr lang="en-US" sz="4800" dirty="0"/>
              <a:t>Does PCI improve outcomes?</a:t>
            </a:r>
            <a:endParaRPr lang="en-IL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076ED-0C9B-9C2E-77BC-AE3B2A1AB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3255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Some NYC hospitals have percutaneous coronary intervention (PCI) capabilities</a:t>
            </a:r>
          </a:p>
          <a:p>
            <a:r>
              <a:rPr lang="en-US" dirty="0"/>
              <a:t>More common in larger hospitals</a:t>
            </a:r>
          </a:p>
          <a:p>
            <a:pPr lvl="1"/>
            <a:r>
              <a:rPr lang="en-US" dirty="0"/>
              <a:t>Do they actually improve outcome?</a:t>
            </a:r>
          </a:p>
          <a:p>
            <a:endParaRPr lang="en-IL" dirty="0"/>
          </a:p>
        </p:txBody>
      </p:sp>
      <p:pic>
        <p:nvPicPr>
          <p:cNvPr id="6" name="Picture 5" descr="Percutaneous Coronary Intervention (PCI): 💙 (2026)">
            <a:extLst>
              <a:ext uri="{FF2B5EF4-FFF2-40B4-BE49-F238E27FC236}">
                <a16:creationId xmlns:a16="http://schemas.microsoft.com/office/drawing/2014/main" id="{5DBF4055-48E0-B045-2E5B-6F97480A5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3" y="3315855"/>
            <a:ext cx="5440219" cy="2720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DD46FC-C1BC-E2D4-C3E9-C3D50407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309" y="3283872"/>
            <a:ext cx="5745018" cy="320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9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5DAB-0FCA-40E5-56EC-D94CB03F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use a hierarchical model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DCDF-AB07-A63B-E062-14E02718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4418" cy="1878157"/>
          </a:xfrm>
        </p:spPr>
        <p:txBody>
          <a:bodyPr/>
          <a:lstStyle/>
          <a:p>
            <a:r>
              <a:rPr lang="en-US" dirty="0"/>
              <a:t>The same model used last lecture</a:t>
            </a:r>
          </a:p>
          <a:p>
            <a:pPr lvl="1"/>
            <a:r>
              <a:rPr lang="en-US" dirty="0"/>
              <a:t>Last lecture for neighborhoods</a:t>
            </a:r>
          </a:p>
          <a:p>
            <a:pPr lvl="1"/>
            <a:r>
              <a:rPr lang="en-US" dirty="0"/>
              <a:t>Here for PCI / non-PCI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8D76A-FB9E-3F92-5CB6-840203D14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27" y="1502117"/>
            <a:ext cx="3549073" cy="524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742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A3FA-7CA3-FEC4-5D02-27C643ED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B49D-3B15-0976-594A-A7D22CB27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the model to calculate the difference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25570-DE5F-AE55-600D-04B141E5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6024418" cy="1194666"/>
          </a:xfrm>
        </p:spPr>
        <p:txBody>
          <a:bodyPr/>
          <a:lstStyle/>
          <a:p>
            <a:r>
              <a:rPr lang="en-US" dirty="0"/>
              <a:t>We can use calculations inside the model to get quantities of interest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4E10E-83A6-4B90-E053-708ED7BD988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79431" y="1419125"/>
            <a:ext cx="4655127" cy="5438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99FC18-C2F4-E6DA-E82F-2075C15214B5}"/>
              </a:ext>
            </a:extLst>
          </p:cNvPr>
          <p:cNvSpPr txBox="1"/>
          <p:nvPr/>
        </p:nvSpPr>
        <p:spPr>
          <a:xfrm>
            <a:off x="239414" y="3642120"/>
            <a:ext cx="7221989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mu_nonpci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mu_nonpci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mu_type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mu_pci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mu_pci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mu_type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mu_difference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Deterministic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mu_difference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mu_pci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mu_nonpci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0BEE59-DC85-1776-6268-0E890E456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99" y="5254479"/>
            <a:ext cx="7193832" cy="1164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2FD2BE-F9E0-CD9A-634D-AC19237FBCA2}"/>
              </a:ext>
            </a:extLst>
          </p:cNvPr>
          <p:cNvSpPr txBox="1"/>
          <p:nvPr/>
        </p:nvSpPr>
        <p:spPr>
          <a:xfrm>
            <a:off x="185599" y="4810944"/>
            <a:ext cx="4797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Deterministic parameters go into the </a:t>
            </a:r>
            <a:r>
              <a:rPr lang="en-US" dirty="0" err="1"/>
              <a:t>idata</a:t>
            </a:r>
            <a:r>
              <a:rPr lang="en-US" dirty="0"/>
              <a:t> object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11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A042-B759-3FBD-C857-0E06A561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sizes are very small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01DD-0A42-C80E-75BE-16C51F7C1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6048"/>
          </a:xfrm>
        </p:spPr>
        <p:txBody>
          <a:bodyPr/>
          <a:lstStyle/>
          <a:p>
            <a:r>
              <a:rPr lang="en-US" dirty="0"/>
              <a:t>Indeed, the HDI of the effect sizes contains null value</a:t>
            </a:r>
          </a:p>
          <a:p>
            <a:pPr lvl="1"/>
            <a:r>
              <a:rPr lang="en-US" dirty="0"/>
              <a:t>So HDI of effect size will overlap ROPE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ADBEA-52E8-4D05-4857-AA20C9B9F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78" y="3272117"/>
            <a:ext cx="9775450" cy="299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281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ABF7-ADCE-6D11-EC67-76AA0B99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09" y="365125"/>
            <a:ext cx="1167476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Comparing HDI to ROPE does not allow conclusions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1ABE-E588-2C5B-5142-ACD4A7A6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9637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HDI intersects with ROPE</a:t>
            </a:r>
          </a:p>
          <a:p>
            <a:r>
              <a:rPr lang="en-US" dirty="0"/>
              <a:t>ROPE does not contain HDI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CD0F4-F52A-B7E8-E3D4-68D55EA0F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62" y="2873086"/>
            <a:ext cx="661987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057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B91A-4486-63B1-8557-8C594D66C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365125"/>
            <a:ext cx="11132127" cy="1325563"/>
          </a:xfrm>
        </p:spPr>
        <p:txBody>
          <a:bodyPr/>
          <a:lstStyle/>
          <a:p>
            <a:r>
              <a:rPr lang="en-US" dirty="0"/>
              <a:t>A pre hoc power analysis to determine precision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8DD4-453D-6459-C20D-DA05A7DBE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55" y="1825625"/>
            <a:ext cx="10984345" cy="1508702"/>
          </a:xfrm>
        </p:spPr>
        <p:txBody>
          <a:bodyPr/>
          <a:lstStyle/>
          <a:p>
            <a:r>
              <a:rPr lang="en-US" dirty="0"/>
              <a:t>Instead of asking about significance</a:t>
            </a:r>
          </a:p>
          <a:p>
            <a:pPr lvl="1"/>
            <a:r>
              <a:rPr lang="en-US" dirty="0"/>
              <a:t>Ask about width of HDI</a:t>
            </a:r>
          </a:p>
          <a:p>
            <a:r>
              <a:rPr lang="en-US" dirty="0"/>
              <a:t>How does width of HDI change as number of hospitals grows?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F56E5-5CE7-C8D1-E6B4-4E1986FD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81" y="3314513"/>
            <a:ext cx="5985163" cy="3385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05F4B9-470B-91A4-F266-E6BB301BB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34327"/>
            <a:ext cx="5550895" cy="31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442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199C-B03C-DB3A-144E-7172DBDE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post hoc power analysis for sensitivity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39B2A-1F85-FDC9-A825-53B0DBFFD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29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big would the effect need to be for us to see it</a:t>
            </a:r>
          </a:p>
          <a:p>
            <a:pPr lvl="1"/>
            <a:r>
              <a:rPr lang="en-US" dirty="0"/>
              <a:t>We have enough hospitals to see even very small effects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49D33-0537-C851-71D0-E92AFE0B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21" y="3044680"/>
            <a:ext cx="658177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952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3674-813C-80CD-ED67-0FC2B810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27" y="365125"/>
            <a:ext cx="11711709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Frequentist hypothesis test for comparison of two groups</a:t>
            </a:r>
            <a:endParaRPr lang="en-I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C3E9D-8AAB-3360-9427-5E1A9F494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01" y="1460726"/>
            <a:ext cx="10515600" cy="1037648"/>
          </a:xfrm>
        </p:spPr>
        <p:txBody>
          <a:bodyPr/>
          <a:lstStyle/>
          <a:p>
            <a:r>
              <a:rPr lang="en-US" dirty="0"/>
              <a:t>Based on same normal approximation</a:t>
            </a:r>
            <a:endParaRPr lang="en-IL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A6A41A-D5FC-B7E4-0966-69D8DCCCD6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55795"/>
              </p:ext>
            </p:extLst>
          </p:nvPr>
        </p:nvGraphicFramePr>
        <p:xfrm>
          <a:off x="3574473" y="3127088"/>
          <a:ext cx="2964873" cy="1565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698400" progId="Equation.DSMT4">
                  <p:embed/>
                </p:oleObj>
              </mc:Choice>
              <mc:Fallback>
                <p:oleObj name="Equation" r:id="rId2" imgW="132048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74473" y="3127088"/>
                        <a:ext cx="2964873" cy="1565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06D6D4B-8FF3-8154-65F1-169FFF5D8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420193"/>
              </p:ext>
            </p:extLst>
          </p:nvPr>
        </p:nvGraphicFramePr>
        <p:xfrm>
          <a:off x="655782" y="3909850"/>
          <a:ext cx="2075294" cy="1037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431640" progId="Equation.DSMT4">
                  <p:embed/>
                </p:oleObj>
              </mc:Choice>
              <mc:Fallback>
                <p:oleObj name="Equation" r:id="rId4" imgW="863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5782" y="3909850"/>
                        <a:ext cx="2075294" cy="1037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C2B85FF-F45E-1B3D-9F66-2E8EF4783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302605"/>
              </p:ext>
            </p:extLst>
          </p:nvPr>
        </p:nvGraphicFramePr>
        <p:xfrm>
          <a:off x="655782" y="2969331"/>
          <a:ext cx="2163148" cy="91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31640" progId="Equation.DSMT4">
                  <p:embed/>
                </p:oleObj>
              </mc:Choice>
              <mc:Fallback>
                <p:oleObj name="Equation" r:id="rId6" imgW="1015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5782" y="2969331"/>
                        <a:ext cx="2163148" cy="919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8065EC1-7455-D0F3-3248-98AC04EDA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074185"/>
              </p:ext>
            </p:extLst>
          </p:nvPr>
        </p:nvGraphicFramePr>
        <p:xfrm>
          <a:off x="655782" y="5206294"/>
          <a:ext cx="2075294" cy="94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431640" progId="Equation.DSMT4">
                  <p:embed/>
                </p:oleObj>
              </mc:Choice>
              <mc:Fallback>
                <p:oleObj name="Equation" r:id="rId8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5782" y="5206294"/>
                        <a:ext cx="2075294" cy="94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6246FAE-7BE2-6F26-6A76-09EA9D6DDA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553072"/>
              </p:ext>
            </p:extLst>
          </p:nvPr>
        </p:nvGraphicFramePr>
        <p:xfrm>
          <a:off x="6564317" y="3314512"/>
          <a:ext cx="1636852" cy="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560" imgH="177480" progId="Equation.DSMT4">
                  <p:embed/>
                </p:oleObj>
              </mc:Choice>
              <mc:Fallback>
                <p:oleObj name="Equation" r:id="rId10" imgW="5205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64317" y="3314512"/>
                        <a:ext cx="1636852" cy="55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662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12803</TotalTime>
  <Words>2475</Words>
  <Application>Microsoft Office PowerPoint</Application>
  <PresentationFormat>Widescreen</PresentationFormat>
  <Paragraphs>494</Paragraphs>
  <Slides>66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8" baseType="lpstr">
      <vt:lpstr>Arial</vt:lpstr>
      <vt:lpstr>Calibri</vt:lpstr>
      <vt:lpstr>Calibri Light</vt:lpstr>
      <vt:lpstr>Cambria Math</vt:lpstr>
      <vt:lpstr>Consolas</vt:lpstr>
      <vt:lpstr>Source Sans Pro</vt:lpstr>
      <vt:lpstr>Symbol</vt:lpstr>
      <vt:lpstr>Wingdings</vt:lpstr>
      <vt:lpstr>Office Theme</vt:lpstr>
      <vt:lpstr>1_Office Theme</vt:lpstr>
      <vt:lpstr>Equation</vt:lpstr>
      <vt:lpstr>MathType 7.0 Equation</vt:lpstr>
      <vt:lpstr>Statistics 367-1-4361 Linear Models</vt:lpstr>
      <vt:lpstr>6.1 Effect sizes</vt:lpstr>
      <vt:lpstr>The null model</vt:lpstr>
      <vt:lpstr>Effect size</vt:lpstr>
      <vt:lpstr>Normalized effect size</vt:lpstr>
      <vt:lpstr>Raw vs normalized effect sizes</vt:lpstr>
      <vt:lpstr>Many possible effect sizes</vt:lpstr>
      <vt:lpstr>Estimated effect sizes can vary</vt:lpstr>
      <vt:lpstr>6.2 Hypothesis tests</vt:lpstr>
      <vt:lpstr>The null hypothesis and hypothesis testing</vt:lpstr>
      <vt:lpstr>For hypothesis tests, the amount of data matters</vt:lpstr>
      <vt:lpstr>The Savage-Dickey density ratio</vt:lpstr>
      <vt:lpstr>Interpreting the Savage-Dickey</vt:lpstr>
      <vt:lpstr>Savage-Dickey depends on effect size and sample size</vt:lpstr>
      <vt:lpstr>Savage-Dickey strongly affected by the prior</vt:lpstr>
      <vt:lpstr>Hypothesis tests don’t measure effect size</vt:lpstr>
      <vt:lpstr>6.3 Baye’s factor</vt:lpstr>
      <vt:lpstr>Baye’s factor is part of the posterior odds</vt:lpstr>
      <vt:lpstr>Savage-Dickey is Bayes factor unders specific conditions</vt:lpstr>
      <vt:lpstr>Bayes factor can be hard to interpret</vt:lpstr>
      <vt:lpstr>6.4 ROPE and HDI test</vt:lpstr>
      <vt:lpstr>Point-null models can be unrealistic</vt:lpstr>
      <vt:lpstr>Region of Practical Equivalence (ROPE)</vt:lpstr>
      <vt:lpstr>ROPE and HDI can be used for hypothesis test</vt:lpstr>
      <vt:lpstr>There are many possibilities for HDI / ROPE overlap</vt:lpstr>
      <vt:lpstr>ROPE / HDI tests advantages and disadvantages</vt:lpstr>
      <vt:lpstr>6.5 Significance</vt:lpstr>
      <vt:lpstr>Two kinds of error</vt:lpstr>
      <vt:lpstr>Significance threshold controls the probability of type 1 error</vt:lpstr>
      <vt:lpstr>Overlap of HDI and ROPE implies lack of significance</vt:lpstr>
      <vt:lpstr>Significance is frequentist</vt:lpstr>
      <vt:lpstr>Our HDI / ROPE test is conservative</vt:lpstr>
      <vt:lpstr>p(θϵROPE)&gt;α is called equivalence</vt:lpstr>
      <vt:lpstr>6.6 Basics of statistical reporting</vt:lpstr>
      <vt:lpstr>Statistical reporting involves expectation</vt:lpstr>
      <vt:lpstr>When do you need to report statistics?</vt:lpstr>
      <vt:lpstr>Different reporting standards</vt:lpstr>
      <vt:lpstr>The most basic level of reporting</vt:lpstr>
      <vt:lpstr>6.7 Power</vt:lpstr>
      <vt:lpstr>Two kinds of error</vt:lpstr>
      <vt:lpstr>Power depends on effect size, sample size, and significance threshold</vt:lpstr>
      <vt:lpstr>Example: power of a test</vt:lpstr>
      <vt:lpstr>Power under increased N</vt:lpstr>
      <vt:lpstr>Power under increased effect</vt:lpstr>
      <vt:lpstr>6.8 Pre-hoc and post-hoc power</vt:lpstr>
      <vt:lpstr>Pre-hoc power: choosing N to get enough power</vt:lpstr>
      <vt:lpstr>Choosing pre-hoc effect size</vt:lpstr>
      <vt:lpstr>Rule of thumb for ROPEs and minimal effects</vt:lpstr>
      <vt:lpstr>Post-hoc power: how big an effect do we need?</vt:lpstr>
      <vt:lpstr>6.9 Frequentist methods</vt:lpstr>
      <vt:lpstr>Frequentist hypothesis tests use a statistic</vt:lpstr>
      <vt:lpstr>The z statistic is approximately normally distributed</vt:lpstr>
      <vt:lpstr>Use the z statistic to test if data is consistent with null</vt:lpstr>
      <vt:lpstr>Different hypothesis tests don’t always agree</vt:lpstr>
      <vt:lpstr>p values measure how unlikely data is under the null</vt:lpstr>
      <vt:lpstr>Differences between hypothesis tests</vt:lpstr>
      <vt:lpstr>Power analysis </vt:lpstr>
      <vt:lpstr>6.10 Comparing two groups</vt:lpstr>
      <vt:lpstr>Does PCI improve outcomes?</vt:lpstr>
      <vt:lpstr>We can use a hierarchical model </vt:lpstr>
      <vt:lpstr>Extend the model to calculate the difference</vt:lpstr>
      <vt:lpstr>Effect sizes are very small</vt:lpstr>
      <vt:lpstr>Comparing HDI to ROPE does not allow conclusions</vt:lpstr>
      <vt:lpstr>A pre hoc power analysis to determine precision</vt:lpstr>
      <vt:lpstr>A post hoc power analysis for sensitivity</vt:lpstr>
      <vt:lpstr>Frequentist hypothesis test for comparison of two groups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142</cp:revision>
  <cp:lastPrinted>2025-04-07T06:44:01Z</cp:lastPrinted>
  <dcterms:created xsi:type="dcterms:W3CDTF">2016-03-07T06:16:50Z</dcterms:created>
  <dcterms:modified xsi:type="dcterms:W3CDTF">2026-05-20T04:55:14Z</dcterms:modified>
</cp:coreProperties>
</file>