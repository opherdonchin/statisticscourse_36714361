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57" r:id="rId2"/>
    <p:sldId id="259" r:id="rId3"/>
    <p:sldId id="261" r:id="rId4"/>
    <p:sldId id="286" r:id="rId5"/>
    <p:sldId id="262" r:id="rId6"/>
    <p:sldId id="288" r:id="rId7"/>
    <p:sldId id="289" r:id="rId8"/>
    <p:sldId id="290" r:id="rId9"/>
    <p:sldId id="291" r:id="rId10"/>
    <p:sldId id="287" r:id="rId11"/>
    <p:sldId id="295" r:id="rId12"/>
    <p:sldId id="296" r:id="rId13"/>
    <p:sldId id="293" r:id="rId14"/>
    <p:sldId id="292" r:id="rId15"/>
    <p:sldId id="294" r:id="rId16"/>
    <p:sldId id="265" r:id="rId17"/>
    <p:sldId id="298" r:id="rId18"/>
    <p:sldId id="325" r:id="rId19"/>
    <p:sldId id="300" r:id="rId20"/>
    <p:sldId id="266" r:id="rId21"/>
    <p:sldId id="303" r:id="rId22"/>
    <p:sldId id="301" r:id="rId23"/>
    <p:sldId id="302" r:id="rId24"/>
    <p:sldId id="269" r:id="rId25"/>
    <p:sldId id="270" r:id="rId26"/>
    <p:sldId id="271" r:id="rId27"/>
    <p:sldId id="273" r:id="rId28"/>
    <p:sldId id="274" r:id="rId29"/>
    <p:sldId id="307" r:id="rId30"/>
    <p:sldId id="309" r:id="rId31"/>
    <p:sldId id="305" r:id="rId32"/>
    <p:sldId id="306" r:id="rId33"/>
    <p:sldId id="310" r:id="rId34"/>
    <p:sldId id="320" r:id="rId35"/>
    <p:sldId id="278" r:id="rId36"/>
    <p:sldId id="280" r:id="rId37"/>
    <p:sldId id="281" r:id="rId38"/>
    <p:sldId id="319" r:id="rId39"/>
    <p:sldId id="327" r:id="rId40"/>
    <p:sldId id="318" r:id="rId41"/>
    <p:sldId id="308" r:id="rId42"/>
    <p:sldId id="323" r:id="rId43"/>
    <p:sldId id="329" r:id="rId44"/>
    <p:sldId id="275" r:id="rId45"/>
    <p:sldId id="276" r:id="rId46"/>
    <p:sldId id="311" r:id="rId47"/>
    <p:sldId id="277" r:id="rId48"/>
    <p:sldId id="279" r:id="rId49"/>
    <p:sldId id="324" r:id="rId50"/>
    <p:sldId id="314" r:id="rId51"/>
    <p:sldId id="321" r:id="rId52"/>
    <p:sldId id="315" r:id="rId53"/>
    <p:sldId id="322" r:id="rId54"/>
    <p:sldId id="316" r:id="rId55"/>
    <p:sldId id="328" r:id="rId56"/>
    <p:sldId id="284" r:id="rId57"/>
    <p:sldId id="282" r:id="rId58"/>
    <p:sldId id="283" r:id="rId59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512DC50-7644-4B30-92CA-E94E0A423229}">
          <p14:sldIdLst>
            <p14:sldId id="257"/>
            <p14:sldId id="259"/>
            <p14:sldId id="261"/>
            <p14:sldId id="286"/>
            <p14:sldId id="262"/>
            <p14:sldId id="288"/>
            <p14:sldId id="289"/>
            <p14:sldId id="290"/>
            <p14:sldId id="291"/>
            <p14:sldId id="287"/>
            <p14:sldId id="295"/>
            <p14:sldId id="296"/>
            <p14:sldId id="293"/>
            <p14:sldId id="292"/>
            <p14:sldId id="294"/>
            <p14:sldId id="265"/>
            <p14:sldId id="298"/>
            <p14:sldId id="325"/>
            <p14:sldId id="300"/>
            <p14:sldId id="266"/>
            <p14:sldId id="303"/>
            <p14:sldId id="301"/>
            <p14:sldId id="302"/>
            <p14:sldId id="269"/>
            <p14:sldId id="270"/>
            <p14:sldId id="271"/>
            <p14:sldId id="273"/>
            <p14:sldId id="274"/>
            <p14:sldId id="307"/>
            <p14:sldId id="309"/>
            <p14:sldId id="305"/>
            <p14:sldId id="306"/>
            <p14:sldId id="310"/>
            <p14:sldId id="320"/>
            <p14:sldId id="278"/>
            <p14:sldId id="280"/>
            <p14:sldId id="281"/>
            <p14:sldId id="319"/>
            <p14:sldId id="327"/>
            <p14:sldId id="318"/>
            <p14:sldId id="308"/>
            <p14:sldId id="323"/>
            <p14:sldId id="329"/>
            <p14:sldId id="275"/>
            <p14:sldId id="276"/>
            <p14:sldId id="311"/>
            <p14:sldId id="277"/>
            <p14:sldId id="279"/>
            <p14:sldId id="324"/>
            <p14:sldId id="314"/>
            <p14:sldId id="321"/>
            <p14:sldId id="315"/>
            <p14:sldId id="322"/>
            <p14:sldId id="316"/>
            <p14:sldId id="328"/>
            <p14:sldId id="284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DB461C-499A-576D-0443-DBB7779AB8DD}" name="נעם גונן" initials="נג" userId="S::noamgone@post.bgu.ac.il::8d52d1e2-da1c-4400-a582-b852ce743e9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281" autoAdjust="0"/>
  </p:normalViewPr>
  <p:slideViewPr>
    <p:cSldViewPr snapToGrid="0">
      <p:cViewPr varScale="1">
        <p:scale>
          <a:sx n="50" d="100"/>
          <a:sy n="50" d="100"/>
        </p:scale>
        <p:origin x="110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David" panose="020E0502060401010101" pitchFamily="34" charset="-79"/>
              </a:defRPr>
            </a:lvl1pPr>
          </a:lstStyle>
          <a:p>
            <a:endParaRPr lang="he-I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David" panose="020E0502060401010101" pitchFamily="34" charset="-79"/>
              </a:defRPr>
            </a:lvl1pPr>
          </a:lstStyle>
          <a:p>
            <a:fld id="{D5868442-A5D1-49ED-AB8B-D67C5D264ED3}" type="datetimeFigureOut">
              <a:rPr lang="he-IL" smtClean="0"/>
              <a:pPr/>
              <a:t>ט"ז/סיון/תשפ"ו</a:t>
            </a:fld>
            <a:endParaRPr lang="he-I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David" panose="020E0502060401010101" pitchFamily="34" charset="-79"/>
              </a:defRPr>
            </a:lvl1pPr>
          </a:lstStyle>
          <a:p>
            <a:endParaRPr lang="he-I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David" panose="020E0502060401010101" pitchFamily="34" charset="-79"/>
              </a:defRPr>
            </a:lvl1pPr>
          </a:lstStyle>
          <a:p>
            <a:fld id="{D5E2C206-B79F-4FAD-948A-1F55E500568F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475713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David" panose="020E0502060401010101" pitchFamily="34" charset="-79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6652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 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 </m:t>
                      </m:r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200" dirty="0"/>
              </a:p>
              <a:p>
                <a:endParaRPr lang="en-US" sz="1200" dirty="0"/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0" i="0">
                    <a:latin typeface="Cambria Math" panose="02040503050406030204" pitchFamily="18" charset="0"/>
                  </a:rPr>
                  <a:t>𝐻_0: </a:t>
                </a:r>
                <a:r>
                  <a:rPr lang="en-US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∆ =0</a:t>
                </a:r>
                <a:endParaRPr lang="en-US" sz="1200" dirty="0"/>
              </a:p>
              <a:p>
                <a:pPr marL="0" indent="0">
                  <a:buNone/>
                </a:pPr>
                <a:r>
                  <a:rPr lang="en-US" sz="1200" i="0">
                    <a:latin typeface="Cambria Math" panose="02040503050406030204" pitchFamily="18" charset="0"/>
                  </a:rPr>
                  <a:t>𝐻_</a:t>
                </a:r>
                <a:r>
                  <a:rPr lang="en-US" sz="1200" b="0" i="0">
                    <a:latin typeface="Cambria Math" panose="02040503050406030204" pitchFamily="18" charset="0"/>
                  </a:rPr>
                  <a:t>1</a:t>
                </a:r>
                <a:r>
                  <a:rPr lang="en-US" sz="1200" i="0">
                    <a:latin typeface="Cambria Math" panose="02040503050406030204" pitchFamily="18" charset="0"/>
                  </a:rPr>
                  <a:t>: </a:t>
                </a:r>
                <a:r>
                  <a:rPr lang="en-US" sz="120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∆ ≠0</a:t>
                </a:r>
                <a:endParaRPr lang="en-US" sz="1200" dirty="0"/>
              </a:p>
              <a:p>
                <a:endParaRPr lang="en-US" sz="1200" dirty="0"/>
              </a:p>
              <a:p>
                <a:endParaRPr lang="he-I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9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380051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Effect size answers:</a:t>
            </a:r>
          </a:p>
          <a:p>
            <a:r>
              <a:rPr lang="he-IL" dirty="0"/>
              <a:t>How large is the observed difference?</a:t>
            </a:r>
          </a:p>
          <a:p>
            <a:r>
              <a:rPr lang="he-IL" dirty="0"/>
              <a:t>Hypothesis testing answers:</a:t>
            </a:r>
          </a:p>
          <a:p>
            <a:r>
              <a:rPr lang="he-IL" dirty="0"/>
              <a:t>Are the data difficult to explain under the null model?</a:t>
            </a:r>
            <a:endParaRPr lang="en-US" dirty="0"/>
          </a:p>
          <a:p>
            <a:endParaRPr lang="en-US" dirty="0"/>
          </a:p>
          <a:p>
            <a:r>
              <a:rPr lang="en-US" dirty="0"/>
              <a:t>Raw effect size</a:t>
            </a:r>
          </a:p>
          <a:p>
            <a:pPr lvl="1"/>
            <a:r>
              <a:rPr lang="en-US" dirty="0"/>
              <a:t>Depends on domain knowledge</a:t>
            </a:r>
          </a:p>
          <a:p>
            <a:pPr lvl="1"/>
            <a:r>
              <a:rPr lang="en-US" dirty="0"/>
              <a:t>Useful for comparing similar experiments</a:t>
            </a:r>
          </a:p>
          <a:p>
            <a:pPr lvl="1"/>
            <a:r>
              <a:rPr lang="en-US" dirty="0"/>
              <a:t>Meaningful in application and impact</a:t>
            </a:r>
          </a:p>
          <a:p>
            <a:pPr lvl="1"/>
            <a:r>
              <a:rPr lang="en-US" dirty="0"/>
              <a:t>Carries greater weight for experts</a:t>
            </a:r>
          </a:p>
          <a:p>
            <a:r>
              <a:rPr lang="en-US" dirty="0"/>
              <a:t>Normalized effect size</a:t>
            </a:r>
          </a:p>
          <a:p>
            <a:pPr lvl="1"/>
            <a:r>
              <a:rPr lang="en-US" dirty="0"/>
              <a:t>Convenient for non-experts</a:t>
            </a:r>
          </a:p>
          <a:p>
            <a:pPr lvl="1"/>
            <a:r>
              <a:rPr lang="en-US" dirty="0"/>
              <a:t>Useful for comparing across fields</a:t>
            </a:r>
          </a:p>
          <a:p>
            <a:pPr lvl="1"/>
            <a:r>
              <a:rPr lang="en-US" dirty="0"/>
              <a:t>Helpful as a rule of thumb</a:t>
            </a:r>
          </a:p>
          <a:p>
            <a:endParaRPr lang="he-IL" dirty="0"/>
          </a:p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10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797643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11AC2-A9A3-C3EE-C131-EB51CB179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EFB85E-AF67-FCDF-1689-C989003EF1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27474B-2132-EDB2-FBBA-FA9AEF380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Effect size answers:</a:t>
            </a:r>
          </a:p>
          <a:p>
            <a:r>
              <a:rPr lang="he-IL" dirty="0"/>
              <a:t>How large is the observed difference?</a:t>
            </a:r>
          </a:p>
          <a:p>
            <a:r>
              <a:rPr lang="he-IL" dirty="0"/>
              <a:t>Hypothesis testing answers:</a:t>
            </a:r>
          </a:p>
          <a:p>
            <a:r>
              <a:rPr lang="en-US" dirty="0"/>
              <a:t>Is</a:t>
            </a:r>
            <a:r>
              <a:rPr lang="he-IL" dirty="0"/>
              <a:t> the data difficult to explain under the null model?</a:t>
            </a:r>
            <a:endParaRPr lang="en-US" dirty="0"/>
          </a:p>
          <a:p>
            <a:endParaRPr lang="en-US" dirty="0"/>
          </a:p>
          <a:p>
            <a:endParaRPr lang="he-IL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161C6-1EA3-4362-B4E4-74DA5F426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11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052132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5AE26-33D6-E5B6-5B01-F02BAFDDA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BE1FE-EA91-1BD0-D5C4-36FAA1E73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B08EE7-35FF-2520-FA22-D8A989C5F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Effect size answers:</a:t>
            </a:r>
          </a:p>
          <a:p>
            <a:r>
              <a:rPr lang="he-IL" dirty="0"/>
              <a:t>How large is the observed difference?</a:t>
            </a:r>
          </a:p>
          <a:p>
            <a:r>
              <a:rPr lang="he-IL" dirty="0"/>
              <a:t>Hypothesis testing answers:</a:t>
            </a:r>
          </a:p>
          <a:p>
            <a:r>
              <a:rPr lang="he-IL" dirty="0"/>
              <a:t>Are the data difficult to explain under the null model?</a:t>
            </a:r>
            <a:endParaRPr lang="en-US" dirty="0"/>
          </a:p>
          <a:p>
            <a:endParaRPr lang="en-US" dirty="0"/>
          </a:p>
          <a:p>
            <a:endParaRPr lang="he-IL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E4511-682A-B3C4-752E-D2DCBB508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12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9055836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Effect size answers:</a:t>
            </a:r>
          </a:p>
          <a:p>
            <a:r>
              <a:rPr lang="he-IL" dirty="0"/>
              <a:t>How large is the observed difference?</a:t>
            </a:r>
          </a:p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13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723844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FBC8B-87A0-3E78-118E-A7F1E9C5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60CDD3-EA7E-7C50-E87F-6CE100903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E43259-84F2-6E3D-6F5F-80AEF3832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EFBB3-7F54-382F-7AAE-6C7F4BE2FD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16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3604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C1EF2-BD00-9047-D6B8-7AF0FDD24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FE9BDE-FFBF-9018-D50B-C3E02FB69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AEC32918-7876-36C3-4592-F2F233C8F13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he-IL" sz="1200" dirty="0"/>
                  <a:t>To </a:t>
                </a:r>
                <a:r>
                  <a:rPr lang="he-IL" sz="1200" dirty="0" err="1"/>
                  <a:t>answer</a:t>
                </a:r>
                <a:r>
                  <a:rPr lang="he-IL" sz="1200" dirty="0"/>
                  <a:t> these </a:t>
                </a:r>
                <a:r>
                  <a:rPr lang="he-IL" sz="1200" dirty="0" err="1"/>
                  <a:t>questions</a:t>
                </a:r>
                <a:r>
                  <a:rPr lang="he-IL" sz="1200" dirty="0"/>
                  <a:t>, we </a:t>
                </a:r>
                <a:r>
                  <a:rPr lang="he-IL" sz="1200" dirty="0" err="1"/>
                  <a:t>first</a:t>
                </a:r>
                <a:r>
                  <a:rPr lang="he-IL" sz="1200" dirty="0"/>
                  <a:t> </a:t>
                </a:r>
                <a:r>
                  <a:rPr lang="he-IL" sz="1200" dirty="0" err="1"/>
                  <a:t>need</a:t>
                </a:r>
                <a:r>
                  <a:rPr lang="he-IL" sz="1200" dirty="0"/>
                  <a:t> a </a:t>
                </a:r>
                <a:r>
                  <a:rPr lang="he-IL" sz="1200" dirty="0" err="1"/>
                  <a:t>Bayesian</a:t>
                </a:r>
                <a:r>
                  <a:rPr lang="he-IL" sz="1200" dirty="0"/>
                  <a:t> model </a:t>
                </a:r>
                <a:r>
                  <a:rPr lang="he-IL" sz="1200" dirty="0" err="1"/>
                  <a:t>that</a:t>
                </a:r>
                <a:r>
                  <a:rPr lang="he-IL" sz="1200" dirty="0"/>
                  <a:t> </a:t>
                </a:r>
                <a:r>
                  <a:rPr lang="he-IL" sz="1200" dirty="0" err="1"/>
                  <a:t>estimates</a:t>
                </a:r>
                <a:r>
                  <a:rPr lang="he-IL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he-IL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he-IL" sz="1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he-IL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he-IL" sz="1200" dirty="0"/>
                  <a:t>, and </a:t>
                </a:r>
                <a:r>
                  <a:rPr lang="he-IL" sz="1200" dirty="0" err="1"/>
                  <a:t>their</a:t>
                </a:r>
                <a:r>
                  <a:rPr lang="he-IL" sz="1200" dirty="0"/>
                  <a:t> </a:t>
                </a:r>
                <a:r>
                  <a:rPr lang="he-IL" sz="1200" dirty="0" err="1"/>
                  <a:t>difference</a:t>
                </a:r>
                <a:r>
                  <a:rPr lang="he-IL" sz="12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e-IL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he-IL" sz="1200" dirty="0"/>
                  <a:t>.</a:t>
                </a:r>
                <a:endParaRPr lang="en-US" sz="1200" dirty="0">
                  <a:cs typeface="David" panose="020E0502060401010101" pitchFamily="34" charset="-79"/>
                </a:endParaRPr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AEC32918-7876-36C3-4592-F2F233C8F13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he-IL" sz="1200" dirty="0"/>
                  <a:t>To </a:t>
                </a:r>
                <a:r>
                  <a:rPr lang="he-IL" sz="1200" dirty="0" err="1"/>
                  <a:t>answer</a:t>
                </a:r>
                <a:r>
                  <a:rPr lang="he-IL" sz="1200" dirty="0"/>
                  <a:t> these </a:t>
                </a:r>
                <a:r>
                  <a:rPr lang="he-IL" sz="1200" dirty="0" err="1"/>
                  <a:t>questions</a:t>
                </a:r>
                <a:r>
                  <a:rPr lang="he-IL" sz="1200" dirty="0"/>
                  <a:t>, we </a:t>
                </a:r>
                <a:r>
                  <a:rPr lang="he-IL" sz="1200" dirty="0" err="1"/>
                  <a:t>first</a:t>
                </a:r>
                <a:r>
                  <a:rPr lang="he-IL" sz="1200" dirty="0"/>
                  <a:t> </a:t>
                </a:r>
                <a:r>
                  <a:rPr lang="he-IL" sz="1200" dirty="0" err="1"/>
                  <a:t>need</a:t>
                </a:r>
                <a:r>
                  <a:rPr lang="he-IL" sz="1200" dirty="0"/>
                  <a:t> a </a:t>
                </a:r>
                <a:r>
                  <a:rPr lang="he-IL" sz="1200" dirty="0" err="1"/>
                  <a:t>Bayesian</a:t>
                </a:r>
                <a:r>
                  <a:rPr lang="he-IL" sz="1200" dirty="0"/>
                  <a:t> model </a:t>
                </a:r>
                <a:r>
                  <a:rPr lang="he-IL" sz="1200" dirty="0" err="1"/>
                  <a:t>that</a:t>
                </a:r>
                <a:r>
                  <a:rPr lang="he-IL" sz="1200" dirty="0"/>
                  <a:t> </a:t>
                </a:r>
                <a:r>
                  <a:rPr lang="he-IL" sz="1200" dirty="0" err="1"/>
                  <a:t>estimates</a:t>
                </a:r>
                <a:r>
                  <a:rPr lang="he-IL" sz="1200" dirty="0"/>
                  <a:t> </a:t>
                </a:r>
                <a:r>
                  <a:rPr lang="he-IL" i="0">
                    <a:latin typeface="Cambria Math" panose="02040503050406030204" pitchFamily="18" charset="0"/>
                  </a:rPr>
                  <a:t>𝜃_𝐴</a:t>
                </a:r>
                <a:r>
                  <a:rPr lang="he-IL" sz="1200" dirty="0"/>
                  <a:t>, </a:t>
                </a:r>
                <a:r>
                  <a:rPr lang="he-IL" i="0">
                    <a:latin typeface="Cambria Math" panose="02040503050406030204" pitchFamily="18" charset="0"/>
                  </a:rPr>
                  <a:t>𝜃_𝐵</a:t>
                </a:r>
                <a:r>
                  <a:rPr lang="he-IL" sz="1200" dirty="0"/>
                  <a:t>, and </a:t>
                </a:r>
                <a:r>
                  <a:rPr lang="he-IL" sz="1200" dirty="0" err="1"/>
                  <a:t>their</a:t>
                </a:r>
                <a:r>
                  <a:rPr lang="he-IL" sz="1200" dirty="0"/>
                  <a:t> </a:t>
                </a:r>
                <a:r>
                  <a:rPr lang="he-IL" sz="1200" dirty="0" err="1"/>
                  <a:t>difference</a:t>
                </a:r>
                <a:r>
                  <a:rPr lang="he-IL" sz="1200" dirty="0"/>
                  <a:t> </a:t>
                </a:r>
                <a:r>
                  <a:rPr lang="he-IL" i="0">
                    <a:latin typeface="Cambria Math" panose="02040503050406030204" pitchFamily="18" charset="0"/>
                  </a:rPr>
                  <a:t>Δ</a:t>
                </a:r>
                <a:r>
                  <a:rPr lang="he-IL" sz="1200" dirty="0"/>
                  <a:t>.</a:t>
                </a:r>
                <a:endParaRPr lang="en-US" sz="1200" dirty="0">
                  <a:cs typeface="David" panose="020E0502060401010101" pitchFamily="34" charset="-79"/>
                </a:endParaRPr>
              </a:p>
              <a:p>
                <a:endParaRPr lang="he-IL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54D6B-3DAE-2E54-185B-C5390FFA94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17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7208341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85038-4BE7-E4F9-5FA3-4E07ACBE3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FC2FFC-D669-AB8C-F6F9-AD8B61A195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1C319B-EDBE-EDEC-232D-E5AED65CD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C630D-1138-BE67-8A2F-2771E7E49B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18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547000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17A4E-B3A3-C407-D2A7-2A3D70E6E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25BEFB-7A30-3F75-CE8F-120409A70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D15EDD-A788-2131-A244-71CECB382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This gives a </a:t>
            </a:r>
            <a:r>
              <a:rPr lang="he-IL" dirty="0" err="1"/>
              <a:t>full</a:t>
            </a:r>
            <a:r>
              <a:rPr lang="he-IL" dirty="0"/>
              <a:t> posterior distribution </a:t>
            </a:r>
            <a:r>
              <a:rPr lang="he-IL" dirty="0" err="1"/>
              <a:t>for</a:t>
            </a:r>
            <a:r>
              <a:rPr lang="he-IL" dirty="0"/>
              <a:t> the difference.</a:t>
            </a:r>
          </a:p>
          <a:p>
            <a:r>
              <a:rPr lang="he-IL" dirty="0" err="1"/>
              <a:t>That</a:t>
            </a:r>
            <a:r>
              <a:rPr lang="he-IL" dirty="0"/>
              <a:t> posterior can </a:t>
            </a:r>
            <a:r>
              <a:rPr lang="he-IL" dirty="0" err="1"/>
              <a:t>then</a:t>
            </a:r>
            <a:r>
              <a:rPr lang="he-IL" dirty="0"/>
              <a:t> </a:t>
            </a:r>
            <a:r>
              <a:rPr lang="he-IL" dirty="0" err="1"/>
              <a:t>be</a:t>
            </a:r>
            <a:r>
              <a:rPr lang="he-IL" dirty="0"/>
              <a:t> </a:t>
            </a:r>
            <a:r>
              <a:rPr lang="he-IL" dirty="0" err="1"/>
              <a:t>used</a:t>
            </a:r>
            <a:r>
              <a:rPr lang="he-IL" dirty="0"/>
              <a:t> </a:t>
            </a:r>
            <a:r>
              <a:rPr lang="he-IL" dirty="0" err="1"/>
              <a:t>for</a:t>
            </a:r>
            <a:r>
              <a:rPr lang="he-IL" dirty="0"/>
              <a:t>:</a:t>
            </a:r>
          </a:p>
          <a:p>
            <a:r>
              <a:rPr lang="he-IL" dirty="0"/>
              <a:t>posterior </a:t>
            </a:r>
            <a:r>
              <a:rPr lang="he-IL" dirty="0" err="1"/>
              <a:t>mean</a:t>
            </a:r>
            <a:r>
              <a:rPr lang="he-IL" dirty="0"/>
              <a:t> and </a:t>
            </a:r>
            <a:r>
              <a:rPr lang="he-IL" dirty="0" err="1"/>
              <a:t>median</a:t>
            </a:r>
            <a:endParaRPr lang="he-IL" dirty="0"/>
          </a:p>
          <a:p>
            <a:r>
              <a:rPr lang="he-IL" dirty="0"/>
              <a:t>HDI</a:t>
            </a:r>
          </a:p>
          <a:p>
            <a:r>
              <a:rPr lang="he-IL" dirty="0"/>
              <a:t>ROPE/HDI </a:t>
            </a:r>
            <a:r>
              <a:rPr lang="he-IL" dirty="0" err="1"/>
              <a:t>test</a:t>
            </a:r>
            <a:endParaRPr lang="he-IL" dirty="0"/>
          </a:p>
          <a:p>
            <a:r>
              <a:rPr lang="he-IL" dirty="0"/>
              <a:t>Savage-Dickey / Bayes factor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8211E-BBAA-E7E0-767D-60C68FFE57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19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6248923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9DB14-39B5-2423-7C93-9CDC89E8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AE8562-02A3-24DF-2217-B349CF203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D3051F-A8F0-F4EF-D880-014AE0E9B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FA426-4F5C-53E4-F539-CCF70271E6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20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2582414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18F7E-5CC6-8ABF-8F10-2A07F60B8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600DA-54A2-62F5-24DC-AAA8583FC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18033F-5DCE-A18B-AA91-6D58F46B5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25"/>
              </a:lnSpc>
              <a:buNone/>
            </a:pPr>
            <a:r>
              <a:rPr lang="he-IL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country_A</a:t>
            </a:r>
            <a:r>
              <a:rPr lang="he-IL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he-IL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"IND"</a:t>
            </a:r>
            <a:endParaRPr lang="he-IL" sz="1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he-IL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country_B</a:t>
            </a:r>
            <a:r>
              <a:rPr lang="he-IL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he-IL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"CHN"</a:t>
            </a:r>
            <a:endParaRPr lang="he-IL" sz="12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D634D-9A3C-6623-289A-D85142F27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21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1267728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5F8F5-C533-0E9E-73D0-B4CECD9EC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E22715-33F3-4D6E-98DB-DC0FE4C3E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4294EFE2-E714-AB18-8E1E-B07DC4BC565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he-IL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69C51EE-6357-2D20-3394-07FD0873EE9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he-IL" dirty="0" err="1"/>
                  <a:t>This</a:t>
                </a:r>
                <a:r>
                  <a:rPr lang="he-IL" dirty="0"/>
                  <a:t> </a:t>
                </a:r>
                <a:r>
                  <a:rPr lang="he-IL" dirty="0" err="1"/>
                  <a:t>is</a:t>
                </a:r>
                <a:r>
                  <a:rPr lang="he-IL" dirty="0"/>
                  <a:t> a </a:t>
                </a:r>
                <a:r>
                  <a:rPr lang="he-IL" dirty="0" err="1"/>
                  <a:t>direct</a:t>
                </a:r>
                <a:r>
                  <a:rPr lang="he-IL" dirty="0"/>
                  <a:t> </a:t>
                </a:r>
                <a:r>
                  <a:rPr lang="he-IL" dirty="0" err="1"/>
                  <a:t>Bayesian</a:t>
                </a:r>
                <a:r>
                  <a:rPr lang="he-IL" dirty="0"/>
                  <a:t> </a:t>
                </a:r>
                <a:r>
                  <a:rPr lang="he-IL" dirty="0" err="1"/>
                  <a:t>statement</a:t>
                </a:r>
                <a:r>
                  <a:rPr lang="he-IL" dirty="0"/>
                  <a:t> </a:t>
                </a:r>
                <a:r>
                  <a:rPr lang="he-IL" dirty="0" err="1"/>
                  <a:t>about</a:t>
                </a:r>
                <a:r>
                  <a:rPr lang="he-IL" dirty="0"/>
                  <a:t> the </a:t>
                </a:r>
                <a:r>
                  <a:rPr lang="he-IL" dirty="0" err="1"/>
                  <a:t>parameter</a:t>
                </a:r>
                <a:r>
                  <a:rPr lang="he-IL" dirty="0"/>
                  <a:t>.</a:t>
                </a:r>
              </a:p>
              <a:p>
                <a:r>
                  <a:rPr lang="he-IL" dirty="0" err="1"/>
                  <a:t>For</a:t>
                </a:r>
                <a:r>
                  <a:rPr lang="he-IL" dirty="0"/>
                  <a:t> </a:t>
                </a:r>
                <a:r>
                  <a:rPr lang="he-IL" dirty="0" err="1"/>
                  <a:t>example</a:t>
                </a:r>
                <a:r>
                  <a:rPr lang="he-IL" dirty="0"/>
                  <a:t>:</a:t>
                </a:r>
              </a:p>
              <a:p>
                <a:r>
                  <a:rPr lang="he-IL" sz="1200" i="0" kern="120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𝑃(Δ&gt;0∣𝑑𝑎𝑡𝑎)=0.92</a:t>
                </a:r>
                <a:endParaRPr lang="he-IL" dirty="0"/>
              </a:p>
              <a:p>
                <a:r>
                  <a:rPr lang="he-IL" dirty="0" err="1"/>
                  <a:t>means</a:t>
                </a:r>
                <a:r>
                  <a:rPr lang="he-IL" dirty="0"/>
                  <a:t>:</a:t>
                </a:r>
              </a:p>
              <a:p>
                <a:r>
                  <a:rPr lang="he-IL" dirty="0"/>
                  <a:t>Under </a:t>
                </a:r>
                <a:r>
                  <a:rPr lang="he-IL" dirty="0" err="1"/>
                  <a:t>this</a:t>
                </a:r>
                <a:r>
                  <a:rPr lang="he-IL" dirty="0"/>
                  <a:t> model, </a:t>
                </a:r>
                <a:r>
                  <a:rPr lang="he-IL" dirty="0" err="1"/>
                  <a:t>given</a:t>
                </a:r>
                <a:r>
                  <a:rPr lang="he-IL" dirty="0"/>
                  <a:t> the data, 92% of </a:t>
                </a:r>
                <a:r>
                  <a:rPr lang="he-IL" dirty="0" err="1"/>
                  <a:t>posterior</a:t>
                </a:r>
                <a:r>
                  <a:rPr lang="he-IL" dirty="0"/>
                  <a:t> </a:t>
                </a:r>
                <a:r>
                  <a:rPr lang="he-IL" dirty="0" err="1"/>
                  <a:t>draws</a:t>
                </a:r>
                <a:r>
                  <a:rPr lang="he-IL" dirty="0"/>
                  <a:t> </a:t>
                </a:r>
                <a:r>
                  <a:rPr lang="he-IL" dirty="0" err="1"/>
                  <a:t>suggest</a:t>
                </a:r>
                <a:r>
                  <a:rPr lang="he-IL" dirty="0"/>
                  <a:t> </a:t>
                </a:r>
                <a:r>
                  <a:rPr lang="he-IL" dirty="0" err="1"/>
                  <a:t>that</a:t>
                </a:r>
                <a:r>
                  <a:rPr lang="he-IL" dirty="0"/>
                  <a:t> </a:t>
                </a:r>
                <a:r>
                  <a:rPr lang="he-IL" dirty="0" err="1"/>
                  <a:t>country</a:t>
                </a:r>
                <a:r>
                  <a:rPr lang="he-IL" dirty="0"/>
                  <a:t> A </a:t>
                </a:r>
                <a:r>
                  <a:rPr lang="he-IL" dirty="0" err="1"/>
                  <a:t>has</a:t>
                </a:r>
                <a:r>
                  <a:rPr lang="he-IL" dirty="0"/>
                  <a:t> a </a:t>
                </a:r>
                <a:r>
                  <a:rPr lang="he-IL" dirty="0" err="1"/>
                  <a:t>higher</a:t>
                </a:r>
                <a:r>
                  <a:rPr lang="he-IL" dirty="0"/>
                  <a:t> </a:t>
                </a:r>
                <a:r>
                  <a:rPr lang="he-IL" dirty="0" err="1"/>
                  <a:t>Biotechnology</a:t>
                </a:r>
                <a:r>
                  <a:rPr lang="he-IL" dirty="0"/>
                  <a:t> </a:t>
                </a:r>
                <a:r>
                  <a:rPr lang="he-IL" dirty="0" err="1"/>
                  <a:t>startup</a:t>
                </a:r>
                <a:r>
                  <a:rPr lang="he-IL" dirty="0"/>
                  <a:t> </a:t>
                </a:r>
                <a:r>
                  <a:rPr lang="he-IL" dirty="0" err="1"/>
                  <a:t>probability</a:t>
                </a:r>
                <a:r>
                  <a:rPr lang="he-IL" dirty="0"/>
                  <a:t> </a:t>
                </a:r>
                <a:r>
                  <a:rPr lang="he-IL" dirty="0" err="1"/>
                  <a:t>than</a:t>
                </a:r>
                <a:r>
                  <a:rPr lang="he-IL" dirty="0"/>
                  <a:t> </a:t>
                </a:r>
                <a:r>
                  <a:rPr lang="he-IL" dirty="0" err="1"/>
                  <a:t>country</a:t>
                </a:r>
                <a:r>
                  <a:rPr lang="he-IL" dirty="0"/>
                  <a:t> B.</a:t>
                </a:r>
                <a:r>
                  <a:rPr lang="en-US" dirty="0"/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he-IL" dirty="0" err="1"/>
                  <a:t>This</a:t>
                </a:r>
                <a:r>
                  <a:rPr lang="he-IL" dirty="0"/>
                  <a:t> </a:t>
                </a:r>
                <a:r>
                  <a:rPr lang="he-IL" dirty="0" err="1"/>
                  <a:t>is</a:t>
                </a:r>
                <a:r>
                  <a:rPr lang="he-IL" dirty="0"/>
                  <a:t> </a:t>
                </a:r>
                <a:r>
                  <a:rPr lang="he-IL" dirty="0" err="1"/>
                  <a:t>not</a:t>
                </a:r>
                <a:r>
                  <a:rPr lang="he-IL" dirty="0"/>
                  <a:t> a p-</a:t>
                </a:r>
                <a:r>
                  <a:rPr lang="he-IL" dirty="0" err="1"/>
                  <a:t>value</a:t>
                </a:r>
                <a:r>
                  <a:rPr lang="en-US" dirty="0"/>
                  <a:t>!</a:t>
                </a:r>
                <a:endParaRPr lang="he-IL" dirty="0"/>
              </a:p>
              <a:p>
                <a:endParaRPr lang="he-IL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2A5E2-D01F-2849-A696-8C4AEB56BF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22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011375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926A4-E4FB-433A-7E90-827631682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0C7A38-9E21-BF2F-3282-30362CC60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66B451C7-16F8-79D4-B296-90D2298AB9D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he-IL" dirty="0"/>
                  <a:t>This is a </a:t>
                </a:r>
                <a:r>
                  <a:rPr lang="he-IL" dirty="0" err="1"/>
                  <a:t>direct</a:t>
                </a:r>
                <a:r>
                  <a:rPr lang="he-IL" dirty="0"/>
                  <a:t> Bayesian </a:t>
                </a:r>
                <a:r>
                  <a:rPr lang="he-IL" dirty="0" err="1"/>
                  <a:t>statement</a:t>
                </a:r>
                <a:r>
                  <a:rPr lang="he-IL" dirty="0"/>
                  <a:t> </a:t>
                </a:r>
                <a:r>
                  <a:rPr lang="he-IL" dirty="0" err="1"/>
                  <a:t>about</a:t>
                </a:r>
                <a:r>
                  <a:rPr lang="he-IL" dirty="0"/>
                  <a:t> the </a:t>
                </a:r>
                <a:r>
                  <a:rPr lang="he-IL" dirty="0" err="1"/>
                  <a:t>parameter</a:t>
                </a:r>
                <a:r>
                  <a:rPr lang="he-IL" dirty="0"/>
                  <a:t>.</a:t>
                </a:r>
              </a:p>
              <a:p>
                <a:r>
                  <a:rPr lang="he-IL" dirty="0" err="1"/>
                  <a:t>For</a:t>
                </a:r>
                <a:r>
                  <a:rPr lang="he-IL" dirty="0"/>
                  <a:t> </a:t>
                </a:r>
                <a:r>
                  <a:rPr lang="he-IL" dirty="0" err="1"/>
                  <a:t>example</a:t>
                </a:r>
                <a:r>
                  <a:rPr lang="he-IL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d>
                        <m:dPr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Δ</m:t>
                          </m:r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&gt;</m:t>
                          </m:r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∣</m:t>
                          </m:r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𝑑𝑎𝑡𝑎</m:t>
                          </m:r>
                        </m:e>
                      </m:d>
                      <m:r>
                        <a:rPr lang="he-IL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he-IL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  <m:r>
                        <a:rPr lang="he-IL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  <m:r>
                        <a:rPr lang="he-IL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92</m:t>
                      </m:r>
                    </m:oMath>
                  </m:oMathPara>
                </a14:m>
                <a:endParaRPr lang="he-IL" dirty="0"/>
              </a:p>
              <a:p>
                <a:r>
                  <a:rPr lang="he-IL" dirty="0" err="1"/>
                  <a:t>means</a:t>
                </a:r>
                <a:r>
                  <a:rPr lang="he-IL" dirty="0"/>
                  <a:t>:</a:t>
                </a:r>
              </a:p>
              <a:p>
                <a:r>
                  <a:rPr lang="he-IL" dirty="0"/>
                  <a:t>Under </a:t>
                </a:r>
                <a:r>
                  <a:rPr lang="he-IL" dirty="0" err="1"/>
                  <a:t>this</a:t>
                </a:r>
                <a:r>
                  <a:rPr lang="he-IL" dirty="0"/>
                  <a:t> model, </a:t>
                </a:r>
                <a:r>
                  <a:rPr lang="he-IL" dirty="0" err="1"/>
                  <a:t>given</a:t>
                </a:r>
                <a:r>
                  <a:rPr lang="he-IL" dirty="0"/>
                  <a:t> the data, 92% of posterior </a:t>
                </a:r>
                <a:r>
                  <a:rPr lang="he-IL" dirty="0" err="1"/>
                  <a:t>draws</a:t>
                </a:r>
                <a:r>
                  <a:rPr lang="he-IL" dirty="0"/>
                  <a:t> </a:t>
                </a:r>
                <a:r>
                  <a:rPr lang="he-IL" dirty="0" err="1"/>
                  <a:t>suggest</a:t>
                </a:r>
                <a:r>
                  <a:rPr lang="he-IL" dirty="0"/>
                  <a:t> </a:t>
                </a:r>
                <a:r>
                  <a:rPr lang="he-IL" dirty="0" err="1"/>
                  <a:t>that</a:t>
                </a:r>
                <a:r>
                  <a:rPr lang="he-IL" dirty="0"/>
                  <a:t> country A </a:t>
                </a:r>
                <a:r>
                  <a:rPr lang="he-IL" dirty="0" err="1"/>
                  <a:t>has</a:t>
                </a:r>
                <a:r>
                  <a:rPr lang="he-IL" dirty="0"/>
                  <a:t> a </a:t>
                </a:r>
                <a:r>
                  <a:rPr lang="he-IL" dirty="0" err="1"/>
                  <a:t>higher</a:t>
                </a:r>
                <a:r>
                  <a:rPr lang="he-IL" dirty="0"/>
                  <a:t> Biotechnology startup probability </a:t>
                </a:r>
                <a:r>
                  <a:rPr lang="he-IL" dirty="0" err="1"/>
                  <a:t>than</a:t>
                </a:r>
                <a:r>
                  <a:rPr lang="he-IL" dirty="0"/>
                  <a:t> country B.</a:t>
                </a:r>
                <a:r>
                  <a:rPr lang="en-US" dirty="0"/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he-IL" dirty="0"/>
                  <a:t>This is not a p-</a:t>
                </a:r>
                <a:r>
                  <a:rPr lang="he-IL" dirty="0" err="1"/>
                  <a:t>value</a:t>
                </a:r>
                <a:r>
                  <a:rPr lang="en-US" dirty="0"/>
                  <a:t>!</a:t>
                </a:r>
                <a:endParaRPr lang="he-IL" dirty="0"/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66B451C7-16F8-79D4-B296-90D2298AB9D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he-IL" dirty="0"/>
                  <a:t>This is a </a:t>
                </a:r>
                <a:r>
                  <a:rPr lang="he-IL" dirty="0" err="1"/>
                  <a:t>direct</a:t>
                </a:r>
                <a:r>
                  <a:rPr lang="he-IL" dirty="0"/>
                  <a:t> Bayesian </a:t>
                </a:r>
                <a:r>
                  <a:rPr lang="he-IL" dirty="0" err="1"/>
                  <a:t>statement</a:t>
                </a:r>
                <a:r>
                  <a:rPr lang="he-IL" dirty="0"/>
                  <a:t> </a:t>
                </a:r>
                <a:r>
                  <a:rPr lang="he-IL" dirty="0" err="1"/>
                  <a:t>about</a:t>
                </a:r>
                <a:r>
                  <a:rPr lang="he-IL" dirty="0"/>
                  <a:t> the </a:t>
                </a:r>
                <a:r>
                  <a:rPr lang="he-IL" dirty="0" err="1"/>
                  <a:t>parameter</a:t>
                </a:r>
                <a:r>
                  <a:rPr lang="he-IL" dirty="0"/>
                  <a:t>.</a:t>
                </a:r>
              </a:p>
              <a:p>
                <a:r>
                  <a:rPr lang="he-IL" dirty="0" err="1"/>
                  <a:t>For</a:t>
                </a:r>
                <a:r>
                  <a:rPr lang="he-IL" dirty="0"/>
                  <a:t> </a:t>
                </a:r>
                <a:r>
                  <a:rPr lang="he-IL" dirty="0" err="1"/>
                  <a:t>example</a:t>
                </a:r>
                <a:r>
                  <a:rPr lang="he-IL" dirty="0"/>
                  <a:t>:</a:t>
                </a:r>
              </a:p>
              <a:p>
                <a:pPr/>
                <a:r>
                  <a:rPr lang="he-IL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𝑃(Δ&gt;0∣𝑑𝑎𝑡𝑎)=0.92</a:t>
                </a:r>
                <a:endParaRPr lang="he-IL" dirty="0"/>
              </a:p>
              <a:p>
                <a:r>
                  <a:rPr lang="he-IL" dirty="0" err="1"/>
                  <a:t>means</a:t>
                </a:r>
                <a:r>
                  <a:rPr lang="he-IL" dirty="0"/>
                  <a:t>:</a:t>
                </a:r>
              </a:p>
              <a:p>
                <a:r>
                  <a:rPr lang="he-IL" dirty="0"/>
                  <a:t>Under </a:t>
                </a:r>
                <a:r>
                  <a:rPr lang="he-IL" dirty="0" err="1"/>
                  <a:t>this</a:t>
                </a:r>
                <a:r>
                  <a:rPr lang="he-IL" dirty="0"/>
                  <a:t> model, </a:t>
                </a:r>
                <a:r>
                  <a:rPr lang="he-IL" dirty="0" err="1"/>
                  <a:t>given</a:t>
                </a:r>
                <a:r>
                  <a:rPr lang="he-IL" dirty="0"/>
                  <a:t> the data, 92% of posterior </a:t>
                </a:r>
                <a:r>
                  <a:rPr lang="he-IL" dirty="0" err="1"/>
                  <a:t>draws</a:t>
                </a:r>
                <a:r>
                  <a:rPr lang="he-IL" dirty="0"/>
                  <a:t> </a:t>
                </a:r>
                <a:r>
                  <a:rPr lang="he-IL" dirty="0" err="1"/>
                  <a:t>suggest</a:t>
                </a:r>
                <a:r>
                  <a:rPr lang="he-IL" dirty="0"/>
                  <a:t> </a:t>
                </a:r>
                <a:r>
                  <a:rPr lang="he-IL" dirty="0" err="1"/>
                  <a:t>that</a:t>
                </a:r>
                <a:r>
                  <a:rPr lang="he-IL" dirty="0"/>
                  <a:t> country A </a:t>
                </a:r>
                <a:r>
                  <a:rPr lang="he-IL" dirty="0" err="1"/>
                  <a:t>has</a:t>
                </a:r>
                <a:r>
                  <a:rPr lang="he-IL" dirty="0"/>
                  <a:t> a </a:t>
                </a:r>
                <a:r>
                  <a:rPr lang="he-IL" dirty="0" err="1"/>
                  <a:t>higher</a:t>
                </a:r>
                <a:r>
                  <a:rPr lang="he-IL" dirty="0"/>
                  <a:t> Biotechnology startup probability </a:t>
                </a:r>
                <a:r>
                  <a:rPr lang="he-IL" dirty="0" err="1"/>
                  <a:t>than</a:t>
                </a:r>
                <a:r>
                  <a:rPr lang="he-IL" dirty="0"/>
                  <a:t> country B.</a:t>
                </a:r>
                <a:r>
                  <a:rPr lang="en-US" dirty="0"/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he-IL" dirty="0"/>
                  <a:t>This is not a p-</a:t>
                </a:r>
                <a:r>
                  <a:rPr lang="he-IL" dirty="0" err="1"/>
                  <a:t>value</a:t>
                </a:r>
                <a:r>
                  <a:rPr lang="en-US" dirty="0"/>
                  <a:t>!</a:t>
                </a:r>
                <a:endParaRPr lang="he-IL" dirty="0"/>
              </a:p>
              <a:p>
                <a:endParaRPr lang="he-IL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4C35E-CDAC-FF6A-2556-C333EBB800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23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5449525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C2CAA-639B-90BB-46CD-144360CC4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0D5B59-5276-0635-C596-13DBD81752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69C51EE-6357-2D20-3394-07FD0873EE9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he-IL" dirty="0"/>
                  <a:t>This is a </a:t>
                </a:r>
                <a:r>
                  <a:rPr lang="he-IL" dirty="0" err="1"/>
                  <a:t>direct</a:t>
                </a:r>
                <a:r>
                  <a:rPr lang="he-IL" dirty="0"/>
                  <a:t> Bayesian </a:t>
                </a:r>
                <a:r>
                  <a:rPr lang="he-IL" dirty="0" err="1"/>
                  <a:t>statement</a:t>
                </a:r>
                <a:r>
                  <a:rPr lang="he-IL" dirty="0"/>
                  <a:t> </a:t>
                </a:r>
                <a:r>
                  <a:rPr lang="he-IL" dirty="0" err="1"/>
                  <a:t>about</a:t>
                </a:r>
                <a:r>
                  <a:rPr lang="he-IL" dirty="0"/>
                  <a:t> the </a:t>
                </a:r>
                <a:r>
                  <a:rPr lang="he-IL" dirty="0" err="1"/>
                  <a:t>parameter</a:t>
                </a:r>
                <a:r>
                  <a:rPr lang="he-IL" dirty="0"/>
                  <a:t>.</a:t>
                </a:r>
              </a:p>
              <a:p>
                <a:r>
                  <a:rPr lang="he-IL" dirty="0" err="1"/>
                  <a:t>For</a:t>
                </a:r>
                <a:r>
                  <a:rPr lang="he-IL" dirty="0"/>
                  <a:t> </a:t>
                </a:r>
                <a:r>
                  <a:rPr lang="he-IL" dirty="0" err="1"/>
                  <a:t>example</a:t>
                </a:r>
                <a:r>
                  <a:rPr lang="he-IL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𝑃</m:t>
                      </m:r>
                      <m:d>
                        <m:dPr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Δ</m:t>
                          </m:r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&gt;</m:t>
                          </m:r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∣</m:t>
                          </m:r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𝑑𝑎𝑡𝑎</m:t>
                          </m:r>
                        </m:e>
                      </m:d>
                      <m:r>
                        <a:rPr lang="he-IL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1200" b="0" i="0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  <m:r>
                        <a:rPr lang="en-US" sz="1200" b="0" i="0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  <m:r>
                        <a:rPr lang="en-US" sz="1200" b="0" i="0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001</m:t>
                      </m:r>
                    </m:oMath>
                  </m:oMathPara>
                </a14:m>
                <a:endParaRPr lang="he-IL" dirty="0"/>
              </a:p>
              <a:p>
                <a:r>
                  <a:rPr lang="he-IL" dirty="0" err="1"/>
                  <a:t>means</a:t>
                </a:r>
                <a:r>
                  <a:rPr lang="he-IL" dirty="0"/>
                  <a:t>:</a:t>
                </a:r>
              </a:p>
              <a:p>
                <a:r>
                  <a:rPr lang="he-IL" dirty="0"/>
                  <a:t>Under </a:t>
                </a:r>
                <a:r>
                  <a:rPr lang="he-IL" dirty="0" err="1"/>
                  <a:t>this</a:t>
                </a:r>
                <a:r>
                  <a:rPr lang="he-IL" dirty="0"/>
                  <a:t> model, </a:t>
                </a:r>
                <a:r>
                  <a:rPr lang="he-IL" dirty="0" err="1"/>
                  <a:t>given</a:t>
                </a:r>
                <a:r>
                  <a:rPr lang="he-IL" dirty="0"/>
                  <a:t> the data, </a:t>
                </a:r>
                <a:r>
                  <a:rPr lang="en-US" dirty="0"/>
                  <a:t>0.1</a:t>
                </a:r>
                <a:r>
                  <a:rPr lang="he-IL" dirty="0"/>
                  <a:t>% of posterior </a:t>
                </a:r>
                <a:r>
                  <a:rPr lang="he-IL" dirty="0" err="1"/>
                  <a:t>draws</a:t>
                </a:r>
                <a:r>
                  <a:rPr lang="he-IL" dirty="0"/>
                  <a:t> </a:t>
                </a:r>
                <a:r>
                  <a:rPr lang="he-IL" dirty="0" err="1"/>
                  <a:t>suggest</a:t>
                </a:r>
                <a:r>
                  <a:rPr lang="he-IL" dirty="0"/>
                  <a:t> </a:t>
                </a:r>
                <a:r>
                  <a:rPr lang="he-IL" dirty="0" err="1"/>
                  <a:t>that</a:t>
                </a:r>
                <a:r>
                  <a:rPr lang="he-IL" dirty="0"/>
                  <a:t> country A </a:t>
                </a:r>
                <a:r>
                  <a:rPr lang="he-IL" dirty="0" err="1"/>
                  <a:t>has</a:t>
                </a:r>
                <a:r>
                  <a:rPr lang="he-IL" dirty="0"/>
                  <a:t> a </a:t>
                </a:r>
                <a:r>
                  <a:rPr lang="he-IL" dirty="0" err="1"/>
                  <a:t>higher</a:t>
                </a:r>
                <a:r>
                  <a:rPr lang="he-IL" dirty="0"/>
                  <a:t> Biotechnology startup probability </a:t>
                </a:r>
                <a:r>
                  <a:rPr lang="he-IL" dirty="0" err="1"/>
                  <a:t>than</a:t>
                </a:r>
                <a:r>
                  <a:rPr lang="he-IL" dirty="0"/>
                  <a:t> country B.</a:t>
                </a:r>
                <a:r>
                  <a:rPr lang="en-US" dirty="0"/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he-IL" b="1" dirty="0"/>
                  <a:t>This is not a p-</a:t>
                </a:r>
                <a:r>
                  <a:rPr lang="he-IL" b="1" dirty="0" err="1"/>
                  <a:t>value</a:t>
                </a:r>
                <a:r>
                  <a:rPr lang="en-US" b="1" dirty="0"/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he-IL" sz="1200" b="0" i="0" kern="1200" dirty="0">
                    <a:solidFill>
                      <a:schemeClr val="tx1"/>
                    </a:solidFill>
                    <a:effectLst/>
                    <a:latin typeface="David" panose="020E0502060401010101" pitchFamily="34" charset="-79"/>
                    <a:ea typeface="+mn-ea"/>
                    <a:cs typeface="+mn-cs"/>
                  </a:rPr>
                  <a:t>The </a:t>
                </a:r>
                <a:r>
                  <a:rPr lang="he-IL" sz="1200" b="0" i="0" kern="1200" dirty="0" err="1">
                    <a:solidFill>
                      <a:schemeClr val="tx1"/>
                    </a:solidFill>
                    <a:effectLst/>
                    <a:latin typeface="David" panose="020E0502060401010101" pitchFamily="34" charset="-79"/>
                    <a:ea typeface="+mn-ea"/>
                    <a:cs typeface="+mn-cs"/>
                  </a:rPr>
                  <a:t>code</a:t>
                </a:r>
                <a:r>
                  <a:rPr lang="he-IL" sz="1200" b="0" i="0" kern="1200" dirty="0">
                    <a:solidFill>
                      <a:schemeClr val="tx1"/>
                    </a:solidFill>
                    <a:effectLst/>
                    <a:latin typeface="David" panose="020E0502060401010101" pitchFamily="34" charset="-79"/>
                    <a:ea typeface="+mn-ea"/>
                    <a:cs typeface="+mn-cs"/>
                  </a:rPr>
                  <a:t>  .</a:t>
                </a:r>
                <a:r>
                  <a:rPr lang="he-IL" sz="1200" b="0" i="0" kern="1200" dirty="0" err="1">
                    <a:solidFill>
                      <a:schemeClr val="tx1"/>
                    </a:solidFill>
                    <a:effectLst/>
                    <a:latin typeface="David" panose="020E0502060401010101" pitchFamily="34" charset="-79"/>
                    <a:ea typeface="+mn-ea"/>
                    <a:cs typeface="+mn-cs"/>
                  </a:rPr>
                  <a:t>values.ravel</a:t>
                </a:r>
                <a:r>
                  <a:rPr lang="he-IL" sz="1200" b="0" i="0" kern="1200" dirty="0">
                    <a:solidFill>
                      <a:schemeClr val="tx1"/>
                    </a:solidFill>
                    <a:effectLst/>
                    <a:latin typeface="David" panose="020E0502060401010101" pitchFamily="34" charset="-79"/>
                    <a:ea typeface="+mn-ea"/>
                    <a:cs typeface="+mn-cs"/>
                  </a:rPr>
                  <a:t>() is a </a:t>
                </a:r>
                <a:r>
                  <a:rPr lang="he-IL" sz="1200" b="0" i="0" kern="1200" dirty="0" err="1">
                    <a:solidFill>
                      <a:schemeClr val="tx1"/>
                    </a:solidFill>
                    <a:effectLst/>
                    <a:latin typeface="David" panose="020E0502060401010101" pitchFamily="34" charset="-79"/>
                    <a:ea typeface="+mn-ea"/>
                    <a:cs typeface="+mn-cs"/>
                  </a:rPr>
                  <a:t>common</a:t>
                </a:r>
                <a:r>
                  <a:rPr lang="he-IL" sz="1200" b="0" i="0" kern="1200" dirty="0">
                    <a:solidFill>
                      <a:schemeClr val="tx1"/>
                    </a:solidFill>
                    <a:effectLst/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b="0" i="0" kern="1200" dirty="0" err="1">
                    <a:solidFill>
                      <a:schemeClr val="tx1"/>
                    </a:solidFill>
                    <a:effectLst/>
                    <a:latin typeface="David" panose="020E0502060401010101" pitchFamily="34" charset="-79"/>
                    <a:ea typeface="+mn-ea"/>
                    <a:cs typeface="+mn-cs"/>
                  </a:rPr>
                  <a:t>pattern</a:t>
                </a:r>
                <a:r>
                  <a:rPr lang="he-IL" sz="1200" b="0" i="0" kern="1200" dirty="0">
                    <a:solidFill>
                      <a:schemeClr val="tx1"/>
                    </a:solidFill>
                    <a:effectLst/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b="0" i="0" kern="1200" dirty="0" err="1">
                    <a:solidFill>
                      <a:schemeClr val="tx1"/>
                    </a:solidFill>
                    <a:effectLst/>
                    <a:latin typeface="David" panose="020E0502060401010101" pitchFamily="34" charset="-79"/>
                    <a:ea typeface="+mn-ea"/>
                    <a:cs typeface="+mn-cs"/>
                  </a:rPr>
                  <a:t>used</a:t>
                </a:r>
                <a:r>
                  <a:rPr lang="he-IL" sz="1200" b="0" i="0" kern="1200" dirty="0">
                    <a:solidFill>
                      <a:schemeClr val="tx1"/>
                    </a:solidFill>
                    <a:effectLst/>
                    <a:latin typeface="David" panose="020E0502060401010101" pitchFamily="34" charset="-79"/>
                    <a:ea typeface="+mn-ea"/>
                    <a:cs typeface="+mn-cs"/>
                  </a:rPr>
                  <a:t> in </a:t>
                </a:r>
                <a:r>
                  <a:rPr lang="he-IL" sz="1200" b="0" i="0" kern="1200" dirty="0" err="1">
                    <a:solidFill>
                      <a:schemeClr val="tx1"/>
                    </a:solidFill>
                    <a:effectLst/>
                    <a:latin typeface="David" panose="020E0502060401010101" pitchFamily="34" charset="-79"/>
                    <a:ea typeface="+mn-ea"/>
                    <a:cs typeface="+mn-cs"/>
                  </a:rPr>
                  <a:t>Python</a:t>
                </a:r>
                <a:r>
                  <a:rPr lang="he-IL" sz="1200" b="0" i="0" kern="1200" dirty="0">
                    <a:solidFill>
                      <a:schemeClr val="tx1"/>
                    </a:solidFill>
                    <a:effectLst/>
                    <a:latin typeface="David" panose="020E0502060401010101" pitchFamily="34" charset="-79"/>
                    <a:ea typeface="+mn-ea"/>
                    <a:cs typeface="+mn-cs"/>
                  </a:rPr>
                  <a:t> (</a:t>
                </a:r>
                <a:r>
                  <a:rPr lang="he-IL" sz="1200" b="0" i="0" kern="1200" dirty="0" err="1">
                    <a:solidFill>
                      <a:schemeClr val="tx1"/>
                    </a:solidFill>
                    <a:effectLst/>
                    <a:latin typeface="David" panose="020E0502060401010101" pitchFamily="34" charset="-79"/>
                    <a:ea typeface="+mn-ea"/>
                    <a:cs typeface="+mn-cs"/>
                  </a:rPr>
                  <a:t>specifically</a:t>
                </a:r>
                <a:r>
                  <a:rPr lang="he-IL" sz="1200" b="0" i="0" kern="1200" dirty="0">
                    <a:solidFill>
                      <a:schemeClr val="tx1"/>
                    </a:solidFill>
                    <a:effectLst/>
                    <a:latin typeface="David" panose="020E0502060401010101" pitchFamily="34" charset="-79"/>
                    <a:ea typeface="+mn-ea"/>
                    <a:cs typeface="+mn-cs"/>
                  </a:rPr>
                  <a:t> with the </a:t>
                </a:r>
                <a:r>
                  <a:rPr lang="he-IL" sz="1200" b="1" i="0" kern="1200" dirty="0" err="1">
                    <a:solidFill>
                      <a:schemeClr val="tx1"/>
                    </a:solidFill>
                    <a:effectLst/>
                    <a:latin typeface="David" panose="020E0502060401010101" pitchFamily="34" charset="-79"/>
                    <a:ea typeface="+mn-ea"/>
                    <a:cs typeface="+mn-cs"/>
                  </a:rPr>
                  <a:t>Pandas</a:t>
                </a:r>
                <a:r>
                  <a:rPr lang="he-IL" sz="1200" b="0" i="0" kern="1200" dirty="0">
                    <a:solidFill>
                      <a:schemeClr val="tx1"/>
                    </a:solidFill>
                    <a:effectLst/>
                    <a:latin typeface="David" panose="020E0502060401010101" pitchFamily="34" charset="-79"/>
                    <a:ea typeface="+mn-ea"/>
                    <a:cs typeface="+mn-cs"/>
                  </a:rPr>
                  <a:t> and </a:t>
                </a:r>
                <a:r>
                  <a:rPr lang="he-IL" sz="1200" b="1" i="0" kern="1200" dirty="0" err="1">
                    <a:solidFill>
                      <a:schemeClr val="tx1"/>
                    </a:solidFill>
                    <a:effectLst/>
                    <a:latin typeface="David" panose="020E0502060401010101" pitchFamily="34" charset="-79"/>
                    <a:ea typeface="+mn-ea"/>
                    <a:cs typeface="+mn-cs"/>
                  </a:rPr>
                  <a:t>NumPy</a:t>
                </a:r>
                <a:r>
                  <a:rPr lang="he-IL" sz="1200" b="0" i="0" kern="1200" dirty="0">
                    <a:solidFill>
                      <a:schemeClr val="tx1"/>
                    </a:solidFill>
                    <a:effectLst/>
                    <a:latin typeface="David" panose="020E0502060401010101" pitchFamily="34" charset="-79"/>
                    <a:ea typeface="+mn-ea"/>
                    <a:cs typeface="+mn-cs"/>
                  </a:rPr>
                  <a:t> </a:t>
                </a:r>
                <a:r>
                  <a:rPr lang="he-IL" sz="1200" b="0" i="0" kern="1200" dirty="0" err="1">
                    <a:solidFill>
                      <a:schemeClr val="tx1"/>
                    </a:solidFill>
                    <a:effectLst/>
                    <a:latin typeface="David" panose="020E0502060401010101" pitchFamily="34" charset="-79"/>
                    <a:ea typeface="+mn-ea"/>
                    <a:cs typeface="+mn-cs"/>
                  </a:rPr>
                  <a:t>libraries</a:t>
                </a:r>
                <a:r>
                  <a:rPr lang="he-IL" sz="1200" b="0" i="0" kern="1200" dirty="0">
                    <a:solidFill>
                      <a:schemeClr val="tx1"/>
                    </a:solidFill>
                    <a:effectLst/>
                    <a:latin typeface="David" panose="020E0502060401010101" pitchFamily="34" charset="-79"/>
                    <a:ea typeface="+mn-ea"/>
                    <a:cs typeface="+mn-cs"/>
                  </a:rPr>
                  <a:t>) to </a:t>
                </a:r>
                <a:r>
                  <a:rPr lang="he-IL" dirty="0" err="1"/>
                  <a:t>convert</a:t>
                </a:r>
                <a:r>
                  <a:rPr lang="he-IL" dirty="0"/>
                  <a:t> a </a:t>
                </a:r>
                <a:r>
                  <a:rPr lang="he-IL" dirty="0" err="1"/>
                  <a:t>high-dimensional</a:t>
                </a:r>
                <a:r>
                  <a:rPr lang="he-IL" dirty="0"/>
                  <a:t> data </a:t>
                </a:r>
                <a:r>
                  <a:rPr lang="he-IL" dirty="0" err="1"/>
                  <a:t>structure</a:t>
                </a:r>
                <a:r>
                  <a:rPr lang="he-IL" dirty="0"/>
                  <a:t>, </a:t>
                </a:r>
                <a:r>
                  <a:rPr lang="he-IL" dirty="0" err="1"/>
                  <a:t>like</a:t>
                </a:r>
                <a:r>
                  <a:rPr lang="he-IL" dirty="0"/>
                  <a:t> a </a:t>
                </a:r>
                <a:r>
                  <a:rPr lang="he-IL" dirty="0" err="1"/>
                  <a:t>DataFrame</a:t>
                </a:r>
                <a:r>
                  <a:rPr lang="he-IL" dirty="0"/>
                  <a:t> or </a:t>
                </a:r>
                <a:r>
                  <a:rPr lang="he-IL" dirty="0" err="1"/>
                  <a:t>Series</a:t>
                </a:r>
                <a:r>
                  <a:rPr lang="he-IL" dirty="0"/>
                  <a:t>, </a:t>
                </a:r>
                <a:r>
                  <a:rPr lang="he-IL" dirty="0" err="1"/>
                  <a:t>into</a:t>
                </a:r>
                <a:r>
                  <a:rPr lang="he-IL" dirty="0"/>
                  <a:t> a </a:t>
                </a:r>
                <a:r>
                  <a:rPr lang="he-IL" b="1" dirty="0" err="1">
                    <a:effectLst/>
                  </a:rPr>
                  <a:t>flat</a:t>
                </a:r>
                <a:r>
                  <a:rPr lang="he-IL" b="1" dirty="0">
                    <a:effectLst/>
                  </a:rPr>
                  <a:t>, 1D </a:t>
                </a:r>
                <a:r>
                  <a:rPr lang="he-IL" b="1" dirty="0" err="1">
                    <a:effectLst/>
                  </a:rPr>
                  <a:t>array</a:t>
                </a:r>
                <a:endParaRPr lang="he-IL" dirty="0"/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69C51EE-6357-2D20-3394-07FD0873EE9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he-IL" dirty="0" err="1"/>
                  <a:t>This</a:t>
                </a:r>
                <a:r>
                  <a:rPr lang="he-IL" dirty="0"/>
                  <a:t> </a:t>
                </a:r>
                <a:r>
                  <a:rPr lang="he-IL" dirty="0" err="1"/>
                  <a:t>is</a:t>
                </a:r>
                <a:r>
                  <a:rPr lang="he-IL" dirty="0"/>
                  <a:t> a </a:t>
                </a:r>
                <a:r>
                  <a:rPr lang="he-IL" dirty="0" err="1"/>
                  <a:t>direct</a:t>
                </a:r>
                <a:r>
                  <a:rPr lang="he-IL" dirty="0"/>
                  <a:t> </a:t>
                </a:r>
                <a:r>
                  <a:rPr lang="he-IL" dirty="0" err="1"/>
                  <a:t>Bayesian</a:t>
                </a:r>
                <a:r>
                  <a:rPr lang="he-IL" dirty="0"/>
                  <a:t> </a:t>
                </a:r>
                <a:r>
                  <a:rPr lang="he-IL" dirty="0" err="1"/>
                  <a:t>statement</a:t>
                </a:r>
                <a:r>
                  <a:rPr lang="he-IL" dirty="0"/>
                  <a:t> </a:t>
                </a:r>
                <a:r>
                  <a:rPr lang="he-IL" dirty="0" err="1"/>
                  <a:t>about</a:t>
                </a:r>
                <a:r>
                  <a:rPr lang="he-IL" dirty="0"/>
                  <a:t> the </a:t>
                </a:r>
                <a:r>
                  <a:rPr lang="he-IL" dirty="0" err="1"/>
                  <a:t>parameter</a:t>
                </a:r>
                <a:r>
                  <a:rPr lang="he-IL" dirty="0"/>
                  <a:t>.</a:t>
                </a:r>
              </a:p>
              <a:p>
                <a:r>
                  <a:rPr lang="he-IL" dirty="0" err="1"/>
                  <a:t>For</a:t>
                </a:r>
                <a:r>
                  <a:rPr lang="he-IL" dirty="0"/>
                  <a:t> </a:t>
                </a:r>
                <a:r>
                  <a:rPr lang="he-IL" dirty="0" err="1"/>
                  <a:t>example</a:t>
                </a:r>
                <a:r>
                  <a:rPr lang="he-IL" dirty="0"/>
                  <a:t>:</a:t>
                </a:r>
              </a:p>
              <a:p>
                <a:r>
                  <a:rPr lang="he-IL" sz="1200" i="0" kern="120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𝑃(Δ&gt;0∣𝑑𝑎𝑡𝑎)=0.92</a:t>
                </a:r>
                <a:endParaRPr lang="he-IL" dirty="0"/>
              </a:p>
              <a:p>
                <a:r>
                  <a:rPr lang="he-IL" dirty="0" err="1"/>
                  <a:t>means</a:t>
                </a:r>
                <a:r>
                  <a:rPr lang="he-IL" dirty="0"/>
                  <a:t>:</a:t>
                </a:r>
              </a:p>
              <a:p>
                <a:r>
                  <a:rPr lang="he-IL" dirty="0"/>
                  <a:t>Under </a:t>
                </a:r>
                <a:r>
                  <a:rPr lang="he-IL" dirty="0" err="1"/>
                  <a:t>this</a:t>
                </a:r>
                <a:r>
                  <a:rPr lang="he-IL" dirty="0"/>
                  <a:t> model, </a:t>
                </a:r>
                <a:r>
                  <a:rPr lang="he-IL" dirty="0" err="1"/>
                  <a:t>given</a:t>
                </a:r>
                <a:r>
                  <a:rPr lang="he-IL" dirty="0"/>
                  <a:t> the data, 92% of </a:t>
                </a:r>
                <a:r>
                  <a:rPr lang="he-IL" dirty="0" err="1"/>
                  <a:t>posterior</a:t>
                </a:r>
                <a:r>
                  <a:rPr lang="he-IL" dirty="0"/>
                  <a:t> </a:t>
                </a:r>
                <a:r>
                  <a:rPr lang="he-IL" dirty="0" err="1"/>
                  <a:t>draws</a:t>
                </a:r>
                <a:r>
                  <a:rPr lang="he-IL" dirty="0"/>
                  <a:t> </a:t>
                </a:r>
                <a:r>
                  <a:rPr lang="he-IL" dirty="0" err="1"/>
                  <a:t>suggest</a:t>
                </a:r>
                <a:r>
                  <a:rPr lang="he-IL" dirty="0"/>
                  <a:t> </a:t>
                </a:r>
                <a:r>
                  <a:rPr lang="he-IL" dirty="0" err="1"/>
                  <a:t>that</a:t>
                </a:r>
                <a:r>
                  <a:rPr lang="he-IL" dirty="0"/>
                  <a:t> </a:t>
                </a:r>
                <a:r>
                  <a:rPr lang="he-IL" dirty="0" err="1"/>
                  <a:t>country</a:t>
                </a:r>
                <a:r>
                  <a:rPr lang="he-IL" dirty="0"/>
                  <a:t> A </a:t>
                </a:r>
                <a:r>
                  <a:rPr lang="he-IL" dirty="0" err="1"/>
                  <a:t>has</a:t>
                </a:r>
                <a:r>
                  <a:rPr lang="he-IL" dirty="0"/>
                  <a:t> a </a:t>
                </a:r>
                <a:r>
                  <a:rPr lang="he-IL" dirty="0" err="1"/>
                  <a:t>higher</a:t>
                </a:r>
                <a:r>
                  <a:rPr lang="he-IL" dirty="0"/>
                  <a:t> </a:t>
                </a:r>
                <a:r>
                  <a:rPr lang="he-IL" dirty="0" err="1"/>
                  <a:t>Biotechnology</a:t>
                </a:r>
                <a:r>
                  <a:rPr lang="he-IL" dirty="0"/>
                  <a:t> </a:t>
                </a:r>
                <a:r>
                  <a:rPr lang="he-IL" dirty="0" err="1"/>
                  <a:t>startup</a:t>
                </a:r>
                <a:r>
                  <a:rPr lang="he-IL" dirty="0"/>
                  <a:t> </a:t>
                </a:r>
                <a:r>
                  <a:rPr lang="he-IL" dirty="0" err="1"/>
                  <a:t>probability</a:t>
                </a:r>
                <a:r>
                  <a:rPr lang="he-IL" dirty="0"/>
                  <a:t> </a:t>
                </a:r>
                <a:r>
                  <a:rPr lang="he-IL" dirty="0" err="1"/>
                  <a:t>than</a:t>
                </a:r>
                <a:r>
                  <a:rPr lang="he-IL" dirty="0"/>
                  <a:t> </a:t>
                </a:r>
                <a:r>
                  <a:rPr lang="he-IL" dirty="0" err="1"/>
                  <a:t>country</a:t>
                </a:r>
                <a:r>
                  <a:rPr lang="he-IL" dirty="0"/>
                  <a:t> B.</a:t>
                </a:r>
                <a:r>
                  <a:rPr lang="en-US" dirty="0"/>
                  <a:t>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he-IL" dirty="0" err="1"/>
                  <a:t>This</a:t>
                </a:r>
                <a:r>
                  <a:rPr lang="he-IL" dirty="0"/>
                  <a:t> </a:t>
                </a:r>
                <a:r>
                  <a:rPr lang="he-IL" dirty="0" err="1"/>
                  <a:t>is</a:t>
                </a:r>
                <a:r>
                  <a:rPr lang="he-IL" dirty="0"/>
                  <a:t> </a:t>
                </a:r>
                <a:r>
                  <a:rPr lang="he-IL" dirty="0" err="1"/>
                  <a:t>not</a:t>
                </a:r>
                <a:r>
                  <a:rPr lang="he-IL" dirty="0"/>
                  <a:t> a p-</a:t>
                </a:r>
                <a:r>
                  <a:rPr lang="he-IL" dirty="0" err="1"/>
                  <a:t>value</a:t>
                </a:r>
                <a:r>
                  <a:rPr lang="en-US" dirty="0"/>
                  <a:t>!</a:t>
                </a:r>
                <a:endParaRPr lang="he-IL" dirty="0"/>
              </a:p>
              <a:p>
                <a:endParaRPr lang="he-IL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5A99C-4418-8495-7425-64A5F94B24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24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95998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5371F-8334-BCE8-E725-96D5851F7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9F7922-C728-EAC6-7871-34FACC1D2A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0B6B8-51DC-0979-212A-456E330AC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The ROPE is not a </a:t>
            </a:r>
            <a:r>
              <a:rPr lang="he-IL" dirty="0" err="1"/>
              <a:t>mathematical</a:t>
            </a:r>
            <a:r>
              <a:rPr lang="he-IL" dirty="0"/>
              <a:t> </a:t>
            </a:r>
            <a:r>
              <a:rPr lang="he-IL" dirty="0" err="1"/>
              <a:t>default</a:t>
            </a:r>
            <a:r>
              <a:rPr lang="he-IL" dirty="0"/>
              <a:t>.</a:t>
            </a:r>
            <a:br>
              <a:rPr lang="he-IL" dirty="0"/>
            </a:br>
            <a:r>
              <a:rPr lang="he-IL" dirty="0"/>
              <a:t>It is a </a:t>
            </a:r>
            <a:r>
              <a:rPr lang="he-IL" dirty="0" err="1"/>
              <a:t>domain-based</a:t>
            </a:r>
            <a:r>
              <a:rPr lang="he-IL" dirty="0"/>
              <a:t> </a:t>
            </a:r>
            <a:r>
              <a:rPr lang="he-IL" dirty="0" err="1"/>
              <a:t>choice</a:t>
            </a:r>
            <a:r>
              <a:rPr lang="he-IL" dirty="0"/>
              <a:t>.</a:t>
            </a:r>
          </a:p>
          <a:p>
            <a:r>
              <a:rPr lang="he-IL" b="1" dirty="0"/>
              <a:t>Decision </a:t>
            </a:r>
            <a:r>
              <a:rPr lang="he-IL" b="1" dirty="0" err="1"/>
              <a:t>logic</a:t>
            </a:r>
            <a:endParaRPr lang="he-IL" b="1" dirty="0"/>
          </a:p>
          <a:p>
            <a:r>
              <a:rPr lang="he-IL" dirty="0"/>
              <a:t>HDI </a:t>
            </a:r>
            <a:r>
              <a:rPr lang="he-IL" dirty="0" err="1"/>
              <a:t>completely</a:t>
            </a:r>
            <a:r>
              <a:rPr lang="he-IL" dirty="0"/>
              <a:t> </a:t>
            </a:r>
            <a:r>
              <a:rPr lang="he-IL" dirty="0" err="1"/>
              <a:t>outside</a:t>
            </a:r>
            <a:r>
              <a:rPr lang="he-IL" dirty="0"/>
              <a:t> ROPE → </a:t>
            </a:r>
            <a:r>
              <a:rPr lang="he-IL" dirty="0" err="1"/>
              <a:t>reject</a:t>
            </a:r>
            <a:r>
              <a:rPr lang="he-IL" dirty="0"/>
              <a:t> the </a:t>
            </a:r>
            <a:r>
              <a:rPr lang="he-IL" dirty="0" err="1"/>
              <a:t>practical</a:t>
            </a:r>
            <a:r>
              <a:rPr lang="he-IL" dirty="0"/>
              <a:t> null. </a:t>
            </a:r>
          </a:p>
          <a:p>
            <a:r>
              <a:rPr lang="he-IL" dirty="0"/>
              <a:t>HDI </a:t>
            </a:r>
            <a:r>
              <a:rPr lang="he-IL" dirty="0" err="1"/>
              <a:t>completely</a:t>
            </a:r>
            <a:r>
              <a:rPr lang="he-IL" dirty="0"/>
              <a:t> </a:t>
            </a:r>
            <a:r>
              <a:rPr lang="he-IL" dirty="0" err="1"/>
              <a:t>inside</a:t>
            </a:r>
            <a:r>
              <a:rPr lang="he-IL" dirty="0"/>
              <a:t> ROPE → </a:t>
            </a:r>
            <a:r>
              <a:rPr lang="he-IL" dirty="0" err="1"/>
              <a:t>accept</a:t>
            </a:r>
            <a:r>
              <a:rPr lang="he-IL" dirty="0"/>
              <a:t> the </a:t>
            </a:r>
            <a:r>
              <a:rPr lang="he-IL" dirty="0" err="1"/>
              <a:t>practical</a:t>
            </a:r>
            <a:r>
              <a:rPr lang="he-IL" dirty="0"/>
              <a:t> null. </a:t>
            </a:r>
          </a:p>
          <a:p>
            <a:r>
              <a:rPr lang="he-IL" dirty="0"/>
              <a:t>HDI </a:t>
            </a:r>
            <a:r>
              <a:rPr lang="he-IL" dirty="0" err="1"/>
              <a:t>partly</a:t>
            </a:r>
            <a:r>
              <a:rPr lang="he-IL" dirty="0"/>
              <a:t> </a:t>
            </a:r>
            <a:r>
              <a:rPr lang="he-IL" dirty="0" err="1"/>
              <a:t>overlaps</a:t>
            </a:r>
            <a:r>
              <a:rPr lang="he-IL" dirty="0"/>
              <a:t> ROPE → </a:t>
            </a:r>
            <a:r>
              <a:rPr lang="he-IL" dirty="0" err="1"/>
              <a:t>no</a:t>
            </a:r>
            <a:r>
              <a:rPr lang="he-IL" dirty="0"/>
              <a:t> </a:t>
            </a:r>
            <a:r>
              <a:rPr lang="he-IL" dirty="0" err="1"/>
              <a:t>clear</a:t>
            </a:r>
            <a:r>
              <a:rPr lang="he-IL" dirty="0"/>
              <a:t> decision.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C8F0A-8E51-EA5B-03D3-D835CCD621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25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1767466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81E72-11B6-C88C-0537-8D461B383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1961AD-112B-E6A3-82F3-9E3274D59F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DD778B-CACD-829D-1E1F-E0959F034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F78D7C-3A35-CC57-B3CE-6B25110E0A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26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607350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2B68C-0944-D397-846A-AED3F6C0D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0AAB2C-25FA-68F5-355E-5F9D6744E0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D5092E-7017-D17C-6E9C-35FC931F6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65E2A-565F-E52E-989D-EA7CE9080E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27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7022102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7741C-8DDD-7131-40A9-D8371D84B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1FAF12-9505-ECB1-421E-7B082C314A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C17BFB-8975-FF88-3AEB-C2412DAE7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Bayes factor is </a:t>
            </a:r>
            <a:r>
              <a:rPr lang="he-IL" dirty="0" err="1"/>
              <a:t>sensitive</a:t>
            </a:r>
            <a:r>
              <a:rPr lang="he-IL" dirty="0"/>
              <a:t> to the </a:t>
            </a:r>
            <a:r>
              <a:rPr lang="he-IL" dirty="0" err="1"/>
              <a:t>prior</a:t>
            </a:r>
            <a:r>
              <a:rPr lang="he-IL" dirty="0"/>
              <a:t>. </a:t>
            </a:r>
          </a:p>
          <a:p>
            <a:r>
              <a:rPr lang="he-IL" dirty="0"/>
              <a:t>It </a:t>
            </a:r>
            <a:r>
              <a:rPr lang="he-IL" dirty="0" err="1"/>
              <a:t>should</a:t>
            </a:r>
            <a:r>
              <a:rPr lang="he-IL" dirty="0"/>
              <a:t> not </a:t>
            </a:r>
            <a:r>
              <a:rPr lang="he-IL" dirty="0" err="1"/>
              <a:t>be</a:t>
            </a:r>
            <a:r>
              <a:rPr lang="he-IL" dirty="0"/>
              <a:t> </a:t>
            </a:r>
            <a:r>
              <a:rPr lang="he-IL" dirty="0" err="1"/>
              <a:t>interpreted</a:t>
            </a:r>
            <a:r>
              <a:rPr lang="he-IL" dirty="0"/>
              <a:t> </a:t>
            </a:r>
            <a:r>
              <a:rPr lang="he-IL" dirty="0" err="1"/>
              <a:t>alone</a:t>
            </a:r>
            <a:r>
              <a:rPr lang="he-IL" dirty="0"/>
              <a:t>. </a:t>
            </a:r>
          </a:p>
          <a:p>
            <a:r>
              <a:rPr lang="he-IL" dirty="0"/>
              <a:t>It </a:t>
            </a:r>
            <a:r>
              <a:rPr lang="he-IL" dirty="0" err="1"/>
              <a:t>should</a:t>
            </a:r>
            <a:r>
              <a:rPr lang="he-IL" dirty="0"/>
              <a:t> </a:t>
            </a:r>
            <a:r>
              <a:rPr lang="he-IL" dirty="0" err="1"/>
              <a:t>be</a:t>
            </a:r>
            <a:r>
              <a:rPr lang="he-IL" dirty="0"/>
              <a:t> </a:t>
            </a:r>
            <a:r>
              <a:rPr lang="he-IL" dirty="0" err="1"/>
              <a:t>read</a:t>
            </a:r>
            <a:r>
              <a:rPr lang="he-IL" dirty="0"/>
              <a:t> </a:t>
            </a:r>
            <a:r>
              <a:rPr lang="he-IL" dirty="0" err="1"/>
              <a:t>together</a:t>
            </a:r>
            <a:r>
              <a:rPr lang="he-IL" dirty="0"/>
              <a:t> with the posterior </a:t>
            </a:r>
            <a:r>
              <a:rPr lang="he-IL" dirty="0" err="1"/>
              <a:t>plot</a:t>
            </a:r>
            <a:r>
              <a:rPr lang="he-IL" dirty="0"/>
              <a:t>, HDI, and ROPE decision. </a:t>
            </a:r>
          </a:p>
          <a:p>
            <a:r>
              <a:rPr lang="he-IL" dirty="0"/>
              <a:t>This </a:t>
            </a:r>
            <a:r>
              <a:rPr lang="he-IL" dirty="0" err="1"/>
              <a:t>section</a:t>
            </a:r>
            <a:r>
              <a:rPr lang="he-IL" dirty="0"/>
              <a:t> </a:t>
            </a:r>
            <a:r>
              <a:rPr lang="he-IL" dirty="0" err="1"/>
              <a:t>should</a:t>
            </a:r>
            <a:r>
              <a:rPr lang="he-IL" dirty="0"/>
              <a:t> </a:t>
            </a:r>
            <a:r>
              <a:rPr lang="he-IL" dirty="0" err="1"/>
              <a:t>be</a:t>
            </a:r>
            <a:r>
              <a:rPr lang="he-IL" dirty="0"/>
              <a:t> </a:t>
            </a:r>
            <a:r>
              <a:rPr lang="he-IL" dirty="0" err="1"/>
              <a:t>shorter</a:t>
            </a:r>
            <a:r>
              <a:rPr lang="he-IL" dirty="0"/>
              <a:t> </a:t>
            </a:r>
            <a:r>
              <a:rPr lang="he-IL" dirty="0" err="1"/>
              <a:t>than</a:t>
            </a:r>
            <a:r>
              <a:rPr lang="he-IL" dirty="0"/>
              <a:t> the ROPE/HDI </a:t>
            </a:r>
            <a:r>
              <a:rPr lang="he-IL" dirty="0" err="1"/>
              <a:t>section</a:t>
            </a:r>
            <a:r>
              <a:rPr lang="he-IL" dirty="0"/>
              <a:t>. </a:t>
            </a:r>
          </a:p>
          <a:p>
            <a:r>
              <a:rPr lang="he-IL" b="1" dirty="0" err="1"/>
              <a:t>Code</a:t>
            </a:r>
            <a:r>
              <a:rPr lang="he-IL" b="1" dirty="0"/>
              <a:t> </a:t>
            </a:r>
            <a:r>
              <a:rPr lang="he-IL" b="1" dirty="0" err="1"/>
              <a:t>reference</a:t>
            </a:r>
            <a:endParaRPr lang="he-IL" b="1" dirty="0"/>
          </a:p>
          <a:p>
            <a:r>
              <a:rPr lang="he-IL" dirty="0"/>
              <a:t>The </a:t>
            </a:r>
            <a:r>
              <a:rPr lang="he-IL" dirty="0" err="1"/>
              <a:t>code</a:t>
            </a:r>
            <a:r>
              <a:rPr lang="he-IL" dirty="0"/>
              <a:t> </a:t>
            </a:r>
            <a:r>
              <a:rPr lang="he-IL" dirty="0" err="1"/>
              <a:t>computes</a:t>
            </a:r>
            <a:r>
              <a:rPr lang="he-IL" dirty="0"/>
              <a:t> the density at </a:t>
            </a:r>
            <a:r>
              <a:rPr lang="he-IL" dirty="0" err="1"/>
              <a:t>zero</a:t>
            </a:r>
            <a:r>
              <a:rPr lang="he-IL" dirty="0"/>
              <a:t> </a:t>
            </a:r>
            <a:r>
              <a:rPr lang="he-IL" dirty="0" err="1"/>
              <a:t>using</a:t>
            </a:r>
            <a:r>
              <a:rPr lang="he-IL" dirty="0"/>
              <a:t> KDE and </a:t>
            </a:r>
            <a:r>
              <a:rPr lang="he-IL" dirty="0" err="1"/>
              <a:t>also</a:t>
            </a:r>
            <a:r>
              <a:rPr lang="he-IL" dirty="0"/>
              <a:t> uses </a:t>
            </a:r>
            <a:r>
              <a:rPr lang="he-IL" sz="1200" kern="1200" dirty="0" err="1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rPr>
              <a:t>az.plot_bf</a:t>
            </a:r>
            <a:r>
              <a:rPr lang="he-IL" dirty="0"/>
              <a:t>.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649D1-E80B-EB1A-39BA-A72303999A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28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2621682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FCEFB-6B47-5A43-589C-C2861FFA9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F673FE-556F-66D5-261C-6E16D7BE8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1BAD64-707E-D993-7D3A-2D182E9E3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Savage-Dickey is a useful way to compute a Bayes factor for a point null, but it is sensitive to the prior and to numerical density estimation. </a:t>
            </a:r>
          </a:p>
          <a:p>
            <a:r>
              <a:rPr lang="en-US" dirty="0"/>
              <a:t>Therefore, it should be interpreted together with the posterior, HDI, and ROPE.</a:t>
            </a:r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7A074-DA7F-E1C2-2D2C-8C4E0041DB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29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2015267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792D0-12F8-2A4C-61EC-BC308169B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26FB2E-7C35-5092-D460-2C50A470A8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CDF2AF-AB9F-DC0D-9BEA-85F5F8B53F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Bayes factor is </a:t>
            </a:r>
            <a:r>
              <a:rPr lang="he-IL" dirty="0" err="1"/>
              <a:t>sensitive</a:t>
            </a:r>
            <a:r>
              <a:rPr lang="he-IL" dirty="0"/>
              <a:t> to the </a:t>
            </a:r>
            <a:r>
              <a:rPr lang="he-IL" dirty="0" err="1"/>
              <a:t>prior</a:t>
            </a:r>
            <a:r>
              <a:rPr lang="he-IL" dirty="0"/>
              <a:t>. </a:t>
            </a:r>
          </a:p>
          <a:p>
            <a:r>
              <a:rPr lang="he-IL" dirty="0"/>
              <a:t>It </a:t>
            </a:r>
            <a:r>
              <a:rPr lang="he-IL" dirty="0" err="1"/>
              <a:t>should</a:t>
            </a:r>
            <a:r>
              <a:rPr lang="he-IL" dirty="0"/>
              <a:t> not </a:t>
            </a:r>
            <a:r>
              <a:rPr lang="he-IL" dirty="0" err="1"/>
              <a:t>be</a:t>
            </a:r>
            <a:r>
              <a:rPr lang="he-IL" dirty="0"/>
              <a:t> </a:t>
            </a:r>
            <a:r>
              <a:rPr lang="he-IL" dirty="0" err="1"/>
              <a:t>interpreted</a:t>
            </a:r>
            <a:r>
              <a:rPr lang="he-IL" dirty="0"/>
              <a:t> </a:t>
            </a:r>
            <a:r>
              <a:rPr lang="he-IL" dirty="0" err="1"/>
              <a:t>alone</a:t>
            </a:r>
            <a:r>
              <a:rPr lang="he-IL" dirty="0"/>
              <a:t>. </a:t>
            </a:r>
          </a:p>
          <a:p>
            <a:r>
              <a:rPr lang="he-IL" dirty="0"/>
              <a:t>It </a:t>
            </a:r>
            <a:r>
              <a:rPr lang="he-IL" dirty="0" err="1"/>
              <a:t>should</a:t>
            </a:r>
            <a:r>
              <a:rPr lang="he-IL" dirty="0"/>
              <a:t> </a:t>
            </a:r>
            <a:r>
              <a:rPr lang="he-IL" dirty="0" err="1"/>
              <a:t>be</a:t>
            </a:r>
            <a:r>
              <a:rPr lang="he-IL" dirty="0"/>
              <a:t> </a:t>
            </a:r>
            <a:r>
              <a:rPr lang="he-IL" dirty="0" err="1"/>
              <a:t>read</a:t>
            </a:r>
            <a:r>
              <a:rPr lang="he-IL" dirty="0"/>
              <a:t> </a:t>
            </a:r>
            <a:r>
              <a:rPr lang="he-IL" dirty="0" err="1"/>
              <a:t>together</a:t>
            </a:r>
            <a:r>
              <a:rPr lang="he-IL" dirty="0"/>
              <a:t> with the posterior </a:t>
            </a:r>
            <a:r>
              <a:rPr lang="he-IL" dirty="0" err="1"/>
              <a:t>plot</a:t>
            </a:r>
            <a:r>
              <a:rPr lang="he-IL" dirty="0"/>
              <a:t>, HDI, and ROPE decision. </a:t>
            </a:r>
          </a:p>
          <a:p>
            <a:r>
              <a:rPr lang="he-IL" dirty="0"/>
              <a:t>This </a:t>
            </a:r>
            <a:r>
              <a:rPr lang="he-IL" dirty="0" err="1"/>
              <a:t>section</a:t>
            </a:r>
            <a:r>
              <a:rPr lang="he-IL" dirty="0"/>
              <a:t> </a:t>
            </a:r>
            <a:r>
              <a:rPr lang="he-IL" dirty="0" err="1"/>
              <a:t>should</a:t>
            </a:r>
            <a:r>
              <a:rPr lang="he-IL" dirty="0"/>
              <a:t> </a:t>
            </a:r>
            <a:r>
              <a:rPr lang="he-IL" dirty="0" err="1"/>
              <a:t>be</a:t>
            </a:r>
            <a:r>
              <a:rPr lang="he-IL" dirty="0"/>
              <a:t> </a:t>
            </a:r>
            <a:r>
              <a:rPr lang="he-IL" dirty="0" err="1"/>
              <a:t>shorter</a:t>
            </a:r>
            <a:r>
              <a:rPr lang="he-IL" dirty="0"/>
              <a:t> </a:t>
            </a:r>
            <a:r>
              <a:rPr lang="he-IL" dirty="0" err="1"/>
              <a:t>than</a:t>
            </a:r>
            <a:r>
              <a:rPr lang="he-IL" dirty="0"/>
              <a:t> the ROPE/HDI </a:t>
            </a:r>
            <a:r>
              <a:rPr lang="he-IL" dirty="0" err="1"/>
              <a:t>section</a:t>
            </a:r>
            <a:r>
              <a:rPr lang="he-IL" dirty="0"/>
              <a:t>. </a:t>
            </a:r>
          </a:p>
          <a:p>
            <a:r>
              <a:rPr lang="he-IL" b="1" dirty="0" err="1"/>
              <a:t>Code</a:t>
            </a:r>
            <a:r>
              <a:rPr lang="he-IL" b="1" dirty="0"/>
              <a:t> </a:t>
            </a:r>
            <a:r>
              <a:rPr lang="he-IL" b="1" dirty="0" err="1"/>
              <a:t>reference</a:t>
            </a:r>
            <a:endParaRPr lang="he-IL" b="1" dirty="0"/>
          </a:p>
          <a:p>
            <a:r>
              <a:rPr lang="he-IL" dirty="0"/>
              <a:t>The </a:t>
            </a:r>
            <a:r>
              <a:rPr lang="he-IL" dirty="0" err="1"/>
              <a:t>code</a:t>
            </a:r>
            <a:r>
              <a:rPr lang="he-IL" dirty="0"/>
              <a:t> </a:t>
            </a:r>
            <a:r>
              <a:rPr lang="he-IL" dirty="0" err="1"/>
              <a:t>computes</a:t>
            </a:r>
            <a:r>
              <a:rPr lang="he-IL" dirty="0"/>
              <a:t> the density at </a:t>
            </a:r>
            <a:r>
              <a:rPr lang="he-IL" dirty="0" err="1"/>
              <a:t>zero</a:t>
            </a:r>
            <a:r>
              <a:rPr lang="he-IL" dirty="0"/>
              <a:t> </a:t>
            </a:r>
            <a:r>
              <a:rPr lang="he-IL" dirty="0" err="1"/>
              <a:t>using</a:t>
            </a:r>
            <a:r>
              <a:rPr lang="he-IL" dirty="0"/>
              <a:t> KDE and </a:t>
            </a:r>
            <a:r>
              <a:rPr lang="he-IL" dirty="0" err="1"/>
              <a:t>also</a:t>
            </a:r>
            <a:r>
              <a:rPr lang="he-IL" dirty="0"/>
              <a:t> uses </a:t>
            </a:r>
            <a:r>
              <a:rPr lang="he-IL" sz="1200" kern="1200" dirty="0" err="1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rPr>
              <a:t>az.plot_bf</a:t>
            </a:r>
            <a:r>
              <a:rPr lang="he-IL" dirty="0"/>
              <a:t>.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2F38E-631B-58CE-D2D2-3BB0433D44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30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0928929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07D72-75F3-9F91-5D86-C71902BF4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D8AFD0-A6C7-6B5D-110A-151BAD842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41E99C-1F6E-3342-BB4C-7A9044E95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Bayes factor is </a:t>
            </a:r>
            <a:r>
              <a:rPr lang="he-IL" dirty="0" err="1"/>
              <a:t>sensitive</a:t>
            </a:r>
            <a:r>
              <a:rPr lang="he-IL" dirty="0"/>
              <a:t> to the </a:t>
            </a:r>
            <a:r>
              <a:rPr lang="he-IL" dirty="0" err="1"/>
              <a:t>prior</a:t>
            </a:r>
            <a:r>
              <a:rPr lang="he-IL" dirty="0"/>
              <a:t>. </a:t>
            </a:r>
          </a:p>
          <a:p>
            <a:r>
              <a:rPr lang="he-IL" dirty="0"/>
              <a:t>It </a:t>
            </a:r>
            <a:r>
              <a:rPr lang="he-IL" dirty="0" err="1"/>
              <a:t>should</a:t>
            </a:r>
            <a:r>
              <a:rPr lang="he-IL" dirty="0"/>
              <a:t> not </a:t>
            </a:r>
            <a:r>
              <a:rPr lang="he-IL" dirty="0" err="1"/>
              <a:t>be</a:t>
            </a:r>
            <a:r>
              <a:rPr lang="he-IL" dirty="0"/>
              <a:t> </a:t>
            </a:r>
            <a:r>
              <a:rPr lang="he-IL" dirty="0" err="1"/>
              <a:t>interpreted</a:t>
            </a:r>
            <a:r>
              <a:rPr lang="he-IL" dirty="0"/>
              <a:t> </a:t>
            </a:r>
            <a:r>
              <a:rPr lang="he-IL" dirty="0" err="1"/>
              <a:t>alone</a:t>
            </a:r>
            <a:r>
              <a:rPr lang="he-IL" dirty="0"/>
              <a:t>. </a:t>
            </a:r>
          </a:p>
          <a:p>
            <a:r>
              <a:rPr lang="he-IL" dirty="0"/>
              <a:t>It </a:t>
            </a:r>
            <a:r>
              <a:rPr lang="he-IL" dirty="0" err="1"/>
              <a:t>should</a:t>
            </a:r>
            <a:r>
              <a:rPr lang="he-IL" dirty="0"/>
              <a:t> </a:t>
            </a:r>
            <a:r>
              <a:rPr lang="he-IL" dirty="0" err="1"/>
              <a:t>be</a:t>
            </a:r>
            <a:r>
              <a:rPr lang="he-IL" dirty="0"/>
              <a:t> </a:t>
            </a:r>
            <a:r>
              <a:rPr lang="he-IL" dirty="0" err="1"/>
              <a:t>read</a:t>
            </a:r>
            <a:r>
              <a:rPr lang="he-IL" dirty="0"/>
              <a:t> </a:t>
            </a:r>
            <a:r>
              <a:rPr lang="he-IL" dirty="0" err="1"/>
              <a:t>together</a:t>
            </a:r>
            <a:r>
              <a:rPr lang="he-IL" dirty="0"/>
              <a:t> with the posterior </a:t>
            </a:r>
            <a:r>
              <a:rPr lang="he-IL" dirty="0" err="1"/>
              <a:t>plot</a:t>
            </a:r>
            <a:r>
              <a:rPr lang="he-IL" dirty="0"/>
              <a:t>, HDI, and ROPE decision. </a:t>
            </a:r>
          </a:p>
          <a:p>
            <a:r>
              <a:rPr lang="he-IL" dirty="0"/>
              <a:t>This </a:t>
            </a:r>
            <a:r>
              <a:rPr lang="he-IL" dirty="0" err="1"/>
              <a:t>section</a:t>
            </a:r>
            <a:r>
              <a:rPr lang="he-IL" dirty="0"/>
              <a:t> </a:t>
            </a:r>
            <a:r>
              <a:rPr lang="he-IL" dirty="0" err="1"/>
              <a:t>should</a:t>
            </a:r>
            <a:r>
              <a:rPr lang="he-IL" dirty="0"/>
              <a:t> </a:t>
            </a:r>
            <a:r>
              <a:rPr lang="he-IL" dirty="0" err="1"/>
              <a:t>be</a:t>
            </a:r>
            <a:r>
              <a:rPr lang="he-IL" dirty="0"/>
              <a:t> </a:t>
            </a:r>
            <a:r>
              <a:rPr lang="he-IL" dirty="0" err="1"/>
              <a:t>shorter</a:t>
            </a:r>
            <a:r>
              <a:rPr lang="he-IL" dirty="0"/>
              <a:t> </a:t>
            </a:r>
            <a:r>
              <a:rPr lang="he-IL" dirty="0" err="1"/>
              <a:t>than</a:t>
            </a:r>
            <a:r>
              <a:rPr lang="he-IL" dirty="0"/>
              <a:t> the ROPE/HDI </a:t>
            </a:r>
            <a:r>
              <a:rPr lang="he-IL" dirty="0" err="1"/>
              <a:t>section</a:t>
            </a:r>
            <a:r>
              <a:rPr lang="he-IL" dirty="0"/>
              <a:t>. </a:t>
            </a:r>
          </a:p>
          <a:p>
            <a:r>
              <a:rPr lang="he-IL" b="1" dirty="0" err="1"/>
              <a:t>Code</a:t>
            </a:r>
            <a:r>
              <a:rPr lang="he-IL" b="1" dirty="0"/>
              <a:t> </a:t>
            </a:r>
            <a:r>
              <a:rPr lang="he-IL" b="1" dirty="0" err="1"/>
              <a:t>reference</a:t>
            </a:r>
            <a:endParaRPr lang="he-IL" b="1" dirty="0"/>
          </a:p>
          <a:p>
            <a:r>
              <a:rPr lang="he-IL" dirty="0"/>
              <a:t>The </a:t>
            </a:r>
            <a:r>
              <a:rPr lang="he-IL" dirty="0" err="1"/>
              <a:t>code</a:t>
            </a:r>
            <a:r>
              <a:rPr lang="he-IL" dirty="0"/>
              <a:t> </a:t>
            </a:r>
            <a:r>
              <a:rPr lang="he-IL" dirty="0" err="1"/>
              <a:t>computes</a:t>
            </a:r>
            <a:r>
              <a:rPr lang="he-IL" dirty="0"/>
              <a:t> the density at </a:t>
            </a:r>
            <a:r>
              <a:rPr lang="he-IL" dirty="0" err="1"/>
              <a:t>zero</a:t>
            </a:r>
            <a:r>
              <a:rPr lang="he-IL" dirty="0"/>
              <a:t> </a:t>
            </a:r>
            <a:r>
              <a:rPr lang="he-IL" dirty="0" err="1"/>
              <a:t>using</a:t>
            </a:r>
            <a:r>
              <a:rPr lang="he-IL" dirty="0"/>
              <a:t> KDE and </a:t>
            </a:r>
            <a:r>
              <a:rPr lang="he-IL" dirty="0" err="1"/>
              <a:t>also</a:t>
            </a:r>
            <a:r>
              <a:rPr lang="he-IL" dirty="0"/>
              <a:t> uses </a:t>
            </a:r>
            <a:r>
              <a:rPr lang="he-IL" sz="1200" kern="1200" dirty="0" err="1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rPr>
              <a:t>az.plot_bf</a:t>
            </a:r>
            <a:r>
              <a:rPr lang="he-IL" dirty="0"/>
              <a:t>.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AFC0E-D5C2-7766-1BDF-A5C5B40FA3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31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560588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8B689-BFC7-D0B4-C1A2-42A8E516C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F1FEB1-A0B2-5595-5961-A5FDB6EF4D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9A392D-E49C-A3FF-F509-A9821061B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Bayes factor is </a:t>
            </a:r>
            <a:r>
              <a:rPr lang="he-IL" dirty="0" err="1"/>
              <a:t>sensitive</a:t>
            </a:r>
            <a:r>
              <a:rPr lang="he-IL" dirty="0"/>
              <a:t> to the </a:t>
            </a:r>
            <a:r>
              <a:rPr lang="he-IL" dirty="0" err="1"/>
              <a:t>prior</a:t>
            </a:r>
            <a:r>
              <a:rPr lang="he-IL" dirty="0"/>
              <a:t>. </a:t>
            </a:r>
          </a:p>
          <a:p>
            <a:r>
              <a:rPr lang="he-IL" dirty="0"/>
              <a:t>It </a:t>
            </a:r>
            <a:r>
              <a:rPr lang="he-IL" dirty="0" err="1"/>
              <a:t>should</a:t>
            </a:r>
            <a:r>
              <a:rPr lang="he-IL" dirty="0"/>
              <a:t> not </a:t>
            </a:r>
            <a:r>
              <a:rPr lang="he-IL" dirty="0" err="1"/>
              <a:t>be</a:t>
            </a:r>
            <a:r>
              <a:rPr lang="he-IL" dirty="0"/>
              <a:t> </a:t>
            </a:r>
            <a:r>
              <a:rPr lang="he-IL" dirty="0" err="1"/>
              <a:t>interpreted</a:t>
            </a:r>
            <a:r>
              <a:rPr lang="he-IL" dirty="0"/>
              <a:t> </a:t>
            </a:r>
            <a:r>
              <a:rPr lang="he-IL" dirty="0" err="1"/>
              <a:t>alone</a:t>
            </a:r>
            <a:r>
              <a:rPr lang="he-IL" dirty="0"/>
              <a:t>. </a:t>
            </a:r>
          </a:p>
          <a:p>
            <a:r>
              <a:rPr lang="he-IL" dirty="0"/>
              <a:t>It </a:t>
            </a:r>
            <a:r>
              <a:rPr lang="he-IL" dirty="0" err="1"/>
              <a:t>should</a:t>
            </a:r>
            <a:r>
              <a:rPr lang="he-IL" dirty="0"/>
              <a:t> </a:t>
            </a:r>
            <a:r>
              <a:rPr lang="he-IL" dirty="0" err="1"/>
              <a:t>be</a:t>
            </a:r>
            <a:r>
              <a:rPr lang="he-IL" dirty="0"/>
              <a:t> </a:t>
            </a:r>
            <a:r>
              <a:rPr lang="he-IL" dirty="0" err="1"/>
              <a:t>read</a:t>
            </a:r>
            <a:r>
              <a:rPr lang="he-IL" dirty="0"/>
              <a:t> </a:t>
            </a:r>
            <a:r>
              <a:rPr lang="he-IL" dirty="0" err="1"/>
              <a:t>together</a:t>
            </a:r>
            <a:r>
              <a:rPr lang="he-IL" dirty="0"/>
              <a:t> with the posterior </a:t>
            </a:r>
            <a:r>
              <a:rPr lang="he-IL" dirty="0" err="1"/>
              <a:t>plot</a:t>
            </a:r>
            <a:r>
              <a:rPr lang="he-IL" dirty="0"/>
              <a:t>, HDI, and ROPE decision. </a:t>
            </a:r>
          </a:p>
          <a:p>
            <a:r>
              <a:rPr lang="he-IL" dirty="0"/>
              <a:t>This </a:t>
            </a:r>
            <a:r>
              <a:rPr lang="he-IL" dirty="0" err="1"/>
              <a:t>section</a:t>
            </a:r>
            <a:r>
              <a:rPr lang="he-IL" dirty="0"/>
              <a:t> </a:t>
            </a:r>
            <a:r>
              <a:rPr lang="he-IL" dirty="0" err="1"/>
              <a:t>should</a:t>
            </a:r>
            <a:r>
              <a:rPr lang="he-IL" dirty="0"/>
              <a:t> </a:t>
            </a:r>
            <a:r>
              <a:rPr lang="he-IL" dirty="0" err="1"/>
              <a:t>be</a:t>
            </a:r>
            <a:r>
              <a:rPr lang="he-IL" dirty="0"/>
              <a:t> </a:t>
            </a:r>
            <a:r>
              <a:rPr lang="he-IL" dirty="0" err="1"/>
              <a:t>shorter</a:t>
            </a:r>
            <a:r>
              <a:rPr lang="he-IL" dirty="0"/>
              <a:t> </a:t>
            </a:r>
            <a:r>
              <a:rPr lang="he-IL" dirty="0" err="1"/>
              <a:t>than</a:t>
            </a:r>
            <a:r>
              <a:rPr lang="he-IL" dirty="0"/>
              <a:t> the ROPE/HDI </a:t>
            </a:r>
            <a:r>
              <a:rPr lang="he-IL" dirty="0" err="1"/>
              <a:t>section</a:t>
            </a:r>
            <a:r>
              <a:rPr lang="he-IL" dirty="0"/>
              <a:t>. </a:t>
            </a:r>
          </a:p>
          <a:p>
            <a:r>
              <a:rPr lang="he-IL" b="1" dirty="0" err="1"/>
              <a:t>Code</a:t>
            </a:r>
            <a:r>
              <a:rPr lang="he-IL" b="1" dirty="0"/>
              <a:t> </a:t>
            </a:r>
            <a:r>
              <a:rPr lang="he-IL" b="1" dirty="0" err="1"/>
              <a:t>reference</a:t>
            </a:r>
            <a:endParaRPr lang="he-IL" b="1" dirty="0"/>
          </a:p>
          <a:p>
            <a:r>
              <a:rPr lang="he-IL" dirty="0"/>
              <a:t>The </a:t>
            </a:r>
            <a:r>
              <a:rPr lang="he-IL" dirty="0" err="1"/>
              <a:t>code</a:t>
            </a:r>
            <a:r>
              <a:rPr lang="he-IL" dirty="0"/>
              <a:t> </a:t>
            </a:r>
            <a:r>
              <a:rPr lang="he-IL" dirty="0" err="1"/>
              <a:t>computes</a:t>
            </a:r>
            <a:r>
              <a:rPr lang="he-IL" dirty="0"/>
              <a:t> the density at </a:t>
            </a:r>
            <a:r>
              <a:rPr lang="he-IL" dirty="0" err="1"/>
              <a:t>zero</a:t>
            </a:r>
            <a:r>
              <a:rPr lang="he-IL" dirty="0"/>
              <a:t> </a:t>
            </a:r>
            <a:r>
              <a:rPr lang="he-IL" dirty="0" err="1"/>
              <a:t>using</a:t>
            </a:r>
            <a:r>
              <a:rPr lang="he-IL" dirty="0"/>
              <a:t> KDE and </a:t>
            </a:r>
            <a:r>
              <a:rPr lang="he-IL" dirty="0" err="1"/>
              <a:t>also</a:t>
            </a:r>
            <a:r>
              <a:rPr lang="he-IL" dirty="0"/>
              <a:t> uses </a:t>
            </a:r>
            <a:r>
              <a:rPr lang="he-IL" sz="1200" kern="1200" dirty="0" err="1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rPr>
              <a:t>az.plot_bf</a:t>
            </a:r>
            <a:r>
              <a:rPr lang="he-IL" dirty="0"/>
              <a:t>.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DCCC5-0A57-E856-615C-8B81FF160F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32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9809610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F267D-20BA-DEA2-0042-DE1D7EE9E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DC35FD-4488-58C9-7A47-B3560B48B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504E3A-9C30-0DA0-86ED-EDE22BC27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Savage-Dickey is a useful way to compute a Bayes factor for a point null, but it is sensitive to the prior and to numerical density estimation. </a:t>
            </a:r>
          </a:p>
          <a:p>
            <a:r>
              <a:rPr lang="en-US" dirty="0"/>
              <a:t>Therefore, it should be interpreted together with the posterior, HDI, and ROPE.</a:t>
            </a:r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EE821-9775-C1AD-E494-3B12FE56C7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33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9277182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34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1595162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0EE6C-2C05-1858-1CEA-3C6844504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03573F-704A-18A0-3A88-4B8BF58E1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015F82-DF59-A356-ABB9-A36625288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5C0C4-D218-61BF-95A8-7B6A6898AE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35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915284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16416-2D60-8274-9033-65DFBEBE2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F780B2-4856-6AEE-4E5D-9D89E5E69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F1288E-5B0F-A1B8-B563-E8A4896DE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במילים: ההסתברות לא לזהות אפקט למרות שבאמת יש אפקט. מתכתב עם טעות מסוג 2.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B1A84-B432-F83E-D7F2-996431FAA8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36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614107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D25AA-944D-A20B-942F-81E5701AA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E7A488-F7FC-3292-325A-61888A4FE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32E476-916D-4F04-46EC-04B0CFDF28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code, the observed effect is used as an example effect size for </a:t>
            </a:r>
            <a:r>
              <a:rPr lang="en-US" dirty="0" err="1"/>
              <a:t>simulation.This</a:t>
            </a:r>
            <a:r>
              <a:rPr lang="en-US" dirty="0"/>
              <a:t> is for teaching only. In a real study, pre-hoc power should ideally be based on a scientifically meaningful effect size, not only on the observed effect.</a:t>
            </a:r>
          </a:p>
          <a:p>
            <a:endParaRPr lang="en-US" dirty="0"/>
          </a:p>
          <a:p>
            <a:r>
              <a:rPr lang="en-US" dirty="0"/>
              <a:t>The power curve shows </a:t>
            </a:r>
            <a:r>
              <a:rPr lang="en-US" dirty="0" err="1"/>
              <a:t>that:larger</a:t>
            </a:r>
            <a:r>
              <a:rPr lang="en-US" dirty="0"/>
              <a:t> samples increase </a:t>
            </a:r>
            <a:r>
              <a:rPr lang="en-US" dirty="0" err="1"/>
              <a:t>powersmall</a:t>
            </a:r>
            <a:r>
              <a:rPr lang="en-US" dirty="0"/>
              <a:t> effects require larger </a:t>
            </a:r>
            <a:r>
              <a:rPr lang="en-US" dirty="0" err="1"/>
              <a:t>samplesa</a:t>
            </a:r>
            <a:r>
              <a:rPr lang="en-US" dirty="0"/>
              <a:t> non-significant result can happen because the test had low power</a:t>
            </a:r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1675B-E966-74EB-0BFC-26A8042465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37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7585343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C2FAB-7392-96E3-4E8A-99602C158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761FD2-376B-D4E0-88A3-771C49AB2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302DB6-3882-3C6D-4BED-837F884D9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F0000"/>
                </a:solidFill>
              </a:rPr>
              <a:t>Using the simulation, we see that we need more than ~1,200 samples per group to get power &gt; 0.8.</a:t>
            </a:r>
          </a:p>
          <a:p>
            <a:endParaRPr lang="en-US" dirty="0"/>
          </a:p>
          <a:p>
            <a:r>
              <a:rPr lang="en-US" dirty="0"/>
              <a:t>In the code, the observed effect is used as an example effect size for simulation. This is for teaching only. In a real study, pre-hoc power should ideally be based on a scientifically meaningful effect size, not only on the observed effect.</a:t>
            </a:r>
          </a:p>
          <a:p>
            <a:endParaRPr lang="en-US" dirty="0"/>
          </a:p>
          <a:p>
            <a:r>
              <a:rPr lang="en-US" dirty="0"/>
              <a:t>The power curve shows </a:t>
            </a:r>
            <a:r>
              <a:rPr lang="en-US" dirty="0" err="1"/>
              <a:t>that:l</a:t>
            </a:r>
            <a:r>
              <a:rPr lang="en-US" dirty="0"/>
              <a:t> </a:t>
            </a:r>
            <a:r>
              <a:rPr lang="en-US" dirty="0" err="1"/>
              <a:t>arger</a:t>
            </a:r>
            <a:r>
              <a:rPr lang="en-US" dirty="0"/>
              <a:t> samples increase power. small effects require larger samples. a non-significant result can happen because the test had low power</a:t>
            </a:r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1B13D-8590-3443-FA3E-A333D0B245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38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818573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D624F-480A-EA61-4E17-A0B7D15A8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DB7CF9-D4AD-BC4F-934D-D9C0CB6CB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9219FE-1667-2C62-8342-6A5AFE02F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F0000"/>
                </a:solidFill>
              </a:rPr>
              <a:t>Using the simulation, we see that we need more than ~1,200 samples per group to get power &gt; 0.8.</a:t>
            </a:r>
          </a:p>
          <a:p>
            <a:endParaRPr lang="en-US" dirty="0"/>
          </a:p>
          <a:p>
            <a:r>
              <a:rPr lang="en-US" dirty="0"/>
              <a:t>In the code, the observed effect is used as an example effect size for simulation. This is for teaching only. In a real study, pre-hoc power should ideally be based on a scientifically meaningful effect size, not only on the observed effect.</a:t>
            </a:r>
          </a:p>
          <a:p>
            <a:endParaRPr lang="en-US" dirty="0"/>
          </a:p>
          <a:p>
            <a:r>
              <a:rPr lang="en-US" dirty="0"/>
              <a:t>The power curve shows </a:t>
            </a:r>
            <a:r>
              <a:rPr lang="en-US" dirty="0" err="1"/>
              <a:t>that:l</a:t>
            </a:r>
            <a:r>
              <a:rPr lang="en-US" dirty="0"/>
              <a:t> </a:t>
            </a:r>
            <a:r>
              <a:rPr lang="en-US" dirty="0" err="1"/>
              <a:t>arger</a:t>
            </a:r>
            <a:r>
              <a:rPr lang="en-US" dirty="0"/>
              <a:t> samples increase power. small effects require larger samples. a non-significant result can happen because the test had low power</a:t>
            </a:r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77105-9201-FD7D-A5A2-53412147E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39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5898742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1C513-94C1-8810-A590-45D660859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59FBB2-E130-2D3D-DC21-371EF0052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26BFBF-2B83-E453-7FBB-9F5799A4A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More </a:t>
            </a:r>
            <a:r>
              <a:rPr lang="he-IL" dirty="0" err="1"/>
              <a:t>powerful</a:t>
            </a:r>
            <a:r>
              <a:rPr lang="he-IL" dirty="0"/>
              <a:t> </a:t>
            </a:r>
            <a:r>
              <a:rPr lang="he-IL" dirty="0" err="1"/>
              <a:t>test</a:t>
            </a:r>
            <a:r>
              <a:rPr lang="he-IL" dirty="0"/>
              <a:t> </a:t>
            </a:r>
            <a:r>
              <a:rPr lang="en-US" dirty="0"/>
              <a:t>-</a:t>
            </a:r>
            <a:r>
              <a:rPr lang="he-IL" dirty="0"/>
              <a:t> a </a:t>
            </a:r>
            <a:r>
              <a:rPr lang="he-IL" dirty="0" err="1"/>
              <a:t>test</a:t>
            </a:r>
            <a:r>
              <a:rPr lang="he-IL" dirty="0"/>
              <a:t> with a </a:t>
            </a:r>
            <a:r>
              <a:rPr lang="he-IL" dirty="0" err="1"/>
              <a:t>smaller</a:t>
            </a:r>
            <a:r>
              <a:rPr lang="he-IL" dirty="0"/>
              <a:t> probability of </a:t>
            </a:r>
            <a:r>
              <a:rPr lang="he-IL" dirty="0" err="1"/>
              <a:t>type</a:t>
            </a:r>
            <a:r>
              <a:rPr lang="he-IL" dirty="0"/>
              <a:t> II </a:t>
            </a:r>
            <a:r>
              <a:rPr lang="he-IL" dirty="0" err="1"/>
              <a:t>error</a:t>
            </a:r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D4410-7A97-B38F-7055-0B975DD14B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40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2831148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he-IL" dirty="0">
                <a:latin typeface="Arial" panose="020B0604020202020204" pitchFamily="34" charset="0"/>
              </a:rPr>
              <a:t>null hypothesis</a:t>
            </a:r>
            <a:endParaRPr lang="he-IL" altLang="he-IL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he-IL" dirty="0">
                <a:latin typeface="Arial" panose="020B0604020202020204" pitchFamily="34" charset="0"/>
              </a:rPr>
              <a:t>test statistic</a:t>
            </a:r>
            <a:endParaRPr lang="he-IL" altLang="he-IL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he-IL" dirty="0">
                <a:latin typeface="Arial" panose="020B0604020202020204" pitchFamily="34" charset="0"/>
              </a:rPr>
              <a:t>p-value</a:t>
            </a:r>
            <a:endParaRPr lang="he-IL" altLang="he-IL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he-IL" dirty="0">
                <a:latin typeface="Arial" panose="020B0604020202020204" pitchFamily="34" charset="0"/>
              </a:rPr>
              <a:t>rejection / failure to reject</a:t>
            </a:r>
            <a:endParaRPr lang="he-IL" altLang="he-IL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he-IL" dirty="0">
                <a:latin typeface="Arial" panose="020B0604020202020204" pitchFamily="34" charset="0"/>
              </a:rPr>
              <a:t>confidence interval</a:t>
            </a:r>
            <a:endParaRPr kumimoji="0" lang="he-IL" altLang="he-IL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41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5483771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B6A03-F0C9-E578-E67E-486E754F4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6379CC-6AF3-CCE8-21C4-B7A55BFEF1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CCA808-85C6-08F0-78FA-ADB9F2F28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E3A00-BC8A-237C-F801-6EC8063473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42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8883603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F4829-DC8E-D89D-D5E4-5E2A2BB36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577B8B-B56E-A8D4-2F36-FEB96365B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C133FE-D28A-8A04-38BB-3334A5C15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בדרך כלל משתמשים במבחן z כאשר:</a:t>
            </a:r>
          </a:p>
          <a:p>
            <a:pPr marL="228600" indent="-228600" algn="r" rtl="1">
              <a:buFont typeface="+mj-lt"/>
              <a:buAutoNum type="arabicPeriod"/>
            </a:pPr>
            <a:r>
              <a:rPr lang="he-IL" dirty="0"/>
              <a:t>יש לנו מדגם גדול מספיק. </a:t>
            </a:r>
          </a:p>
          <a:p>
            <a:pPr marL="228600" indent="-228600" algn="r" rtl="1">
              <a:buFont typeface="+mj-lt"/>
              <a:buAutoNum type="arabicPeriod"/>
            </a:pPr>
            <a:r>
              <a:rPr lang="he-IL" dirty="0"/>
              <a:t>התפלגות הדגימה של </a:t>
            </a:r>
            <a:r>
              <a:rPr lang="he-IL" dirty="0" err="1"/>
              <a:t>האומד</a:t>
            </a:r>
            <a:r>
              <a:rPr lang="he-IL" dirty="0"/>
              <a:t> בקירוב נורמלית. </a:t>
            </a:r>
          </a:p>
          <a:p>
            <a:pPr marL="228600" indent="-228600" algn="r" rtl="1">
              <a:buFont typeface="+mj-lt"/>
              <a:buAutoNum type="arabicPeriod"/>
            </a:pPr>
            <a:r>
              <a:rPr lang="he-IL" dirty="0"/>
              <a:t>סטיית התקן של התפלגות הדגימה ידועה או ניתנת להערכה טובה. </a:t>
            </a:r>
          </a:p>
          <a:p>
            <a:pPr marL="228600" indent="-228600" algn="r" rtl="1">
              <a:buFont typeface="+mj-lt"/>
              <a:buAutoNum type="arabicPeriod"/>
            </a:pPr>
            <a:r>
              <a:rPr lang="he-IL" dirty="0"/>
              <a:t>במבחני פרופורציות, משתמשים בקירוב נורמלי להתפלגות הבינומית.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14CB9-F8E4-A9D4-FAB3-136519F110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43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8914318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BE136-ADFA-ABCA-4AFD-0EABBCCC9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D4FE4D-A939-A7E0-26F5-2214BC080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F05A1E-6B5A-3C6F-FC31-1882A6973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A8900-C506-97CC-088A-D7B25EFCF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44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7360798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CAE27-9B2E-59F6-CEDB-A6461FD1B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685348-7453-610E-0DCF-07E81E7A2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5FB6B-1901-4120-AAC9-8557DC3AD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“Pooled” means that under the null hypothesis, we combine the two groups and estimate one shared probability for both groups. </a:t>
            </a:r>
          </a:p>
          <a:p>
            <a:r>
              <a:rPr lang="en-US" dirty="0"/>
              <a:t>This shared probability is then used to calculate the standard error of the difference under H0	​.</a:t>
            </a:r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13828-5518-BFE4-2D26-5D03B4123C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45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211101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29C06-BE07-9D6C-9990-864192052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BAE003-AF2B-16FE-C95D-A9CD7F4195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302E6F9-8FCF-0D41-4F57-309E7069596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he-IL" sz="1200" dirty="0"/>
                  <a:t>The p-</a:t>
                </a:r>
                <a:r>
                  <a:rPr lang="he-IL" sz="1200" dirty="0" err="1"/>
                  <a:t>value</a:t>
                </a:r>
                <a:r>
                  <a:rPr lang="he-IL" sz="1200" dirty="0"/>
                  <a:t> is not the probability </a:t>
                </a:r>
                <a:r>
                  <a:rPr lang="he-IL" sz="1200" dirty="0" err="1"/>
                  <a:t>that</a:t>
                </a:r>
                <a:r>
                  <a:rPr lang="he-IL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12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he-IL" sz="12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he-IL" sz="1200" dirty="0"/>
                  <a:t>is </a:t>
                </a:r>
                <a:r>
                  <a:rPr lang="he-IL" sz="1200" dirty="0" err="1"/>
                  <a:t>true</a:t>
                </a:r>
                <a:r>
                  <a:rPr lang="en-US" sz="1200" dirty="0"/>
                  <a:t>!</a:t>
                </a: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302E6F9-8FCF-0D41-4F57-309E7069596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he-IL" sz="1200" dirty="0"/>
                  <a:t>The p-</a:t>
                </a:r>
                <a:r>
                  <a:rPr lang="he-IL" sz="1200" dirty="0" err="1"/>
                  <a:t>value</a:t>
                </a:r>
                <a:r>
                  <a:rPr lang="he-IL" sz="1200" dirty="0"/>
                  <a:t> is not the probability </a:t>
                </a:r>
                <a:r>
                  <a:rPr lang="he-IL" sz="1200" dirty="0" err="1"/>
                  <a:t>that</a:t>
                </a:r>
                <a:r>
                  <a:rPr lang="he-IL" sz="1200" dirty="0"/>
                  <a:t> </a:t>
                </a:r>
                <a:r>
                  <a:rPr lang="he-IL" sz="1200" i="0">
                    <a:latin typeface="Cambria Math" panose="02040503050406030204" pitchFamily="18" charset="0"/>
                  </a:rPr>
                  <a:t>𝐻_0</a:t>
                </a:r>
                <a:r>
                  <a:rPr lang="he-IL" sz="1200" dirty="0"/>
                  <a:t>is </a:t>
                </a:r>
                <a:r>
                  <a:rPr lang="he-IL" sz="1200" dirty="0" err="1"/>
                  <a:t>true</a:t>
                </a:r>
                <a:r>
                  <a:rPr lang="en-US" sz="1200" dirty="0"/>
                  <a:t>!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7570E-90D9-551D-2323-4BC7898137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46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1011639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D6F1A-1E78-2642-43C1-3CA39669F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25A019-550F-CEB9-170E-A8780F567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CE5A27-E8E5-4148-1119-0FEA6AE5C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Type I error </a:t>
            </a:r>
            <a:r>
              <a:rPr lang="en-US" dirty="0"/>
              <a:t>- rejecting the null hypothesis when the null hypothesis is true.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CB9C6-EAB7-C9E8-3DD4-24C52C74D0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47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68355754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67AE8-F400-AABE-237F-2C3A67406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2586B4-D73D-872C-F9B0-0434BECD4C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4B3BC9-F912-F700-CE75-4F0C40C628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61555-7610-D7B1-2746-E0B1D354B4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48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75148681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BFBA0-031F-20BD-47EE-51D35E801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1EC03D-ED45-BEC3-F5A2-3BF0FCA9E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7BF776-1DDD-5C47-C19D-E82CEEBE7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observed </a:t>
            </a:r>
            <a:r>
              <a:rPr lang="en-US" dirty="0" err="1"/>
              <a:t>z_statistic</a:t>
            </a:r>
            <a:r>
              <a:rPr lang="en-US" dirty="0"/>
              <a:t> is in the “rejection zone” we will reject the null h</a:t>
            </a:r>
            <a:r>
              <a:rPr lang="he-IL" dirty="0"/>
              <a:t>ypothesis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F9B70-8985-0816-4304-8A64C6C08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49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67211681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C6602-5FFD-E1A1-8FBC-D2B91CBD1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090081-F2C1-61AF-57F8-ACA119E38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6BD659-BF3E-1755-6BA7-A7E3F65915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0FB86-6DDB-341B-8019-F1FBA48976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56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08052035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4B6C5-B13E-9B59-68A5-0B02B67AE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F25C38-CDDD-828C-398C-054416CE3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D5C2BC-BE60-F494-1760-59ACF36444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94344-B2F2-2A75-4BF1-2FDD2B2A41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57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05598288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E1FAA-6A60-2170-9385-D6C34F783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3C7332-F7DA-61F3-6CA1-AB35303172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72E1E0-A3E6-5BA6-3292-A53D22F3F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47165-351C-B443-68F9-B22AC263E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E2C206-B79F-4FAD-948A-1F55E500568F}" type="slidenum">
              <a:rPr lang="he-IL" smtClean="0"/>
              <a:pPr/>
              <a:t>58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860201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9F09E-E624-A6D2-5F1D-7A885462E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8DF84D-8776-9A5E-A084-C243706C5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28705-C6A8-AB74-4FAD-C8A929C33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D93A0-5B73-441B-94AB-EBD495CFCE2C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45146-E235-BBA6-8D17-E6F69A390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9073F-BFAB-44CA-2178-808529538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56074-C8D2-4F44-B530-A1A5D1CF9F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51878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BD748-2090-89F0-2F0C-8712A331E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A3A5C-0935-10DA-CD12-67EBB6D62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B03C9-3E32-AB40-F63A-69212808A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D93A0-5B73-441B-94AB-EBD495CFCE2C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B429D-682D-1F71-DD3B-334504496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BAA21-C558-2A41-D538-7BB3942DE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56074-C8D2-4F44-B530-A1A5D1CF9F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0161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75215-6051-D4C8-C9D0-10F08F767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235EC-8D63-F307-F2AC-3B1C7D87F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2B0DE-D319-FAF1-DC19-D464A8705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D93A0-5B73-441B-94AB-EBD495CFCE2C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832B8-51ED-F78E-A220-2BA3417C5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0FEB4-36BA-8FA9-9388-E690C6CC8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56074-C8D2-4F44-B530-A1A5D1CF9F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14918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27F4E-214D-6ED3-A18A-787A0913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32637-F913-B786-0A95-EC3BDDEC56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4548D7-158B-8FFC-105B-710C104EBD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AB3E2-AE3C-64BC-BB41-4DB3C1BEF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D93A0-5B73-441B-94AB-EBD495CFCE2C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1E4BC-C34E-06D9-D9DD-40D927DC7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EBC10C-A68B-6760-A3B4-398C89E07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56074-C8D2-4F44-B530-A1A5D1CF9F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6928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1D4A-267E-5C92-E97F-664A533AE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FEAB0-018F-3676-C399-165662FC6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E71C15-9C60-BFC5-2284-CA704E7824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EA8149-E338-2844-5A7D-E1713B0975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6FC64C-1482-CBC9-C9BC-3661F4497E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44C896-292E-AC5D-71F4-EBD0EC065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D93A0-5B73-441B-94AB-EBD495CFCE2C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C2C7C4-135B-0746-313A-C8946D1BC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7F6CF1-D428-5512-4F16-C206B4F12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56074-C8D2-4F44-B530-A1A5D1CF9F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28960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7A78C-73C4-E0F3-2DC6-638A666DD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8C5245-B2E2-E216-42D2-11D2FD9E6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D93A0-5B73-441B-94AB-EBD495CFCE2C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17C68-A587-B736-7128-743FBE304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0529B-95C8-4246-E6FE-41B04B5BB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56074-C8D2-4F44-B530-A1A5D1CF9F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9361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386D8D-CFDB-E9D1-C68D-B4FDCD7A6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D93A0-5B73-441B-94AB-EBD495CFCE2C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B3A763-9139-650D-13C4-C7563D1DF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3FBF7-17BE-0DED-2D50-67201130B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56074-C8D2-4F44-B530-A1A5D1CF9F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97732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A2521-137D-2100-90F8-D43E5404D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B4D79-7353-7FB8-216C-91487F719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B51AF6-5EE4-5410-64B2-BEEC37A39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12E84-E281-2A19-F892-22E42C8C7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D93A0-5B73-441B-94AB-EBD495CFCE2C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6EF76-CDA9-D812-0175-F991166C3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C2E34-758F-6163-5C85-D913D2FD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56074-C8D2-4F44-B530-A1A5D1CF9F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49464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971B7-EFE9-D83F-258E-DB0AAAAD6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FA2E87-B342-1B95-32AF-1156CB922B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C8578C-5274-1322-DC8D-66AB15104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07DB0-3D00-5348-AC68-65B84FC3F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D93A0-5B73-441B-94AB-EBD495CFCE2C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5728C-D37B-AFB2-2921-B389D186E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99958-F7DF-AB24-E606-D9C5DF846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56074-C8D2-4F44-B530-A1A5D1CF9F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19404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744F5-2F2C-5211-FE22-E0966785D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FDC66A-F171-1A5E-DCC4-36F77FB095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AEBDF-35F8-0836-7AB8-EBEC75C67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D93A0-5B73-441B-94AB-EBD495CFCE2C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3498D-E125-9685-E67A-2A6C881D1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7E52D-D42B-8D99-6261-7E4A13048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56074-C8D2-4F44-B530-A1A5D1CF9F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45732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4A9913-7A24-ECBA-FAAB-B449D925D7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D7C2C4-30A3-94FC-D3D8-2F96D9972A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94FE5-E4AA-16FF-F1D0-E17897CE3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D93A0-5B73-441B-94AB-EBD495CFCE2C}" type="datetimeFigureOut">
              <a:rPr lang="he-IL" smtClean="0"/>
              <a:t>ט"ז/סיון/תשפ"ו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F618A-00FA-E6B4-71F0-FD7BF99C7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5E0C7-4C3A-CF4F-E21C-D91629A7E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56074-C8D2-4F44-B530-A1A5D1CF9F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7049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0FED1A-5E78-19B2-8151-13BE3C53E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D8411-DCA4-F73A-F7F8-364D034F7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9488E-D203-EC7E-6384-D0E6448811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David" panose="020E0502060401010101" pitchFamily="34" charset="-79"/>
              </a:defRPr>
            </a:lvl1pPr>
          </a:lstStyle>
          <a:p>
            <a:fld id="{750D93A0-5B73-441B-94AB-EBD495CFCE2C}" type="datetimeFigureOut">
              <a:rPr lang="he-IL" smtClean="0"/>
              <a:pPr/>
              <a:t>ט"ז/סיון/תשפ"ו</a:t>
            </a:fld>
            <a:endParaRPr lang="he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A20FF-DF06-999F-8909-C89E7B6C78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David" panose="020E0502060401010101" pitchFamily="34" charset="-79"/>
              </a:defRPr>
            </a:lvl1pPr>
          </a:lstStyle>
          <a:p>
            <a:endParaRPr lang="he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9CDBD-A511-280B-1051-F6746E1E5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David" panose="020E0502060401010101" pitchFamily="34" charset="-79"/>
              </a:defRPr>
            </a:lvl1pPr>
          </a:lstStyle>
          <a:p>
            <a:fld id="{64256074-C8D2-4F44-B530-A1A5D1CF9F3F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714963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David" panose="020E0502060401010101" pitchFamily="34" charset="-79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David" panose="020E0502060401010101" pitchFamily="34" charset="-79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David" panose="020E0502060401010101" pitchFamily="34" charset="-79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David" panose="020E0502060401010101" pitchFamily="34" charset="-79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David" panose="020E0502060401010101" pitchFamily="34" charset="-79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David" panose="020E0502060401010101" pitchFamily="34" charset="-79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39AA4-DC6F-AC25-85E9-23B70AA84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15332"/>
            <a:ext cx="9144000" cy="1267695"/>
          </a:xfrm>
        </p:spPr>
        <p:txBody>
          <a:bodyPr/>
          <a:lstStyle/>
          <a:p>
            <a:r>
              <a:rPr lang="en-US" dirty="0"/>
              <a:t>Tutorial 5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ABFF89-9CAA-78A3-9827-25C0441AF8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Statistical Computation and Analysis</a:t>
            </a:r>
          </a:p>
          <a:p>
            <a:r>
              <a:rPr lang="en-US" dirty="0"/>
              <a:t>Spring 2026</a:t>
            </a:r>
            <a:endParaRPr lang="LID4096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A626382-5653-EECD-4173-5FECADC55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1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633777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61A04-C626-C5E4-A3C2-591358CD9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pPr algn="l" rtl="0"/>
            <a:r>
              <a:rPr lang="en-US" dirty="0"/>
              <a:t>Tutorial Outline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0153A-0E02-CB25-A797-F3303E236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2771"/>
            <a:ext cx="10445496" cy="480199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The null model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ea typeface="Source Sans Pro"/>
              </a:rPr>
              <a:t>Effect sizes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ea typeface="Source Sans Pro"/>
              </a:rPr>
              <a:t>Bayesian hypothesis testing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ea typeface="Source Sans Pro"/>
              </a:rPr>
              <a:t>ROPE and HDI test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ea typeface="Source Sans Pro"/>
              </a:rPr>
              <a:t>Type I and II errors</a:t>
            </a:r>
            <a:endParaRPr lang="he-IL" sz="2400" dirty="0">
              <a:ea typeface="Source Sans Pro"/>
            </a:endParaRPr>
          </a:p>
          <a:p>
            <a:pPr lvl="1">
              <a:lnSpc>
                <a:spcPct val="150000"/>
              </a:lnSpc>
            </a:pPr>
            <a:r>
              <a:rPr lang="en-US" sz="2000" dirty="0">
                <a:ea typeface="Source Sans Pro"/>
              </a:rPr>
              <a:t>Significance </a:t>
            </a:r>
            <a:endParaRPr lang="he-IL" sz="2000" dirty="0">
              <a:ea typeface="Source Sans Pro"/>
            </a:endParaRPr>
          </a:p>
          <a:p>
            <a:pPr lvl="1">
              <a:lnSpc>
                <a:spcPct val="150000"/>
              </a:lnSpc>
            </a:pPr>
            <a:r>
              <a:rPr lang="en-US" sz="2000" dirty="0">
                <a:ea typeface="Source Sans Pro"/>
              </a:rPr>
              <a:t>Power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ea typeface="Source Sans Pro"/>
              </a:rPr>
              <a:t>Frequentist hypothesis testing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ea typeface="Source Sans Pro"/>
              </a:rPr>
              <a:t>Z test</a:t>
            </a:r>
            <a:endParaRPr lang="en-US" sz="2400" dirty="0">
              <a:ea typeface="Source Sans Pro" panose="020B0503030403020204" pitchFamily="34" charset="0"/>
            </a:endParaRPr>
          </a:p>
          <a:p>
            <a:pPr algn="l" rtl="0">
              <a:lnSpc>
                <a:spcPct val="150000"/>
              </a:lnSpc>
            </a:pPr>
            <a:endParaRPr lang="en-US" sz="2400" dirty="0">
              <a:ea typeface="Source Sans Pro" panose="020B0503030403020204" pitchFamily="34" charset="0"/>
            </a:endParaRPr>
          </a:p>
          <a:p>
            <a:pPr algn="l" rtl="0">
              <a:lnSpc>
                <a:spcPct val="150000"/>
              </a:lnSpc>
            </a:pPr>
            <a:endParaRPr lang="en-US" sz="2400" dirty="0">
              <a:cs typeface="David" panose="020E0502060401010101" pitchFamily="34" charset="-79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49FB8A29-817C-0AE9-3536-E610EF5AE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32639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9D625-5144-3618-E728-37E8DF3EE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A462-8782-EE83-C45A-114A5316C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he-IL" dirty="0"/>
              <a:t>From estimation to hypothesis testing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320BE-4DD2-9A45-0B8A-6A54691D1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2771"/>
            <a:ext cx="10445496" cy="48019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Until now we talked about data, modeling &amp; </a:t>
            </a:r>
            <a:r>
              <a:rPr lang="he-IL" sz="2400" dirty="0"/>
              <a:t>estimation</a:t>
            </a:r>
            <a:r>
              <a:rPr lang="en-US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Today we’ll discuss the null model and h</a:t>
            </a:r>
            <a:r>
              <a:rPr lang="he-IL" sz="2400" dirty="0"/>
              <a:t>ypothesis testing </a:t>
            </a:r>
            <a:r>
              <a:rPr lang="en-US" sz="2400" dirty="0"/>
              <a:t>as</a:t>
            </a:r>
            <a:r>
              <a:rPr lang="he-IL" sz="2400" dirty="0"/>
              <a:t> a </a:t>
            </a:r>
            <a:r>
              <a:rPr lang="en-US" sz="2400" dirty="0"/>
              <a:t>way</a:t>
            </a:r>
            <a:r>
              <a:rPr lang="he-IL" sz="2400" dirty="0"/>
              <a:t> to decide whether data contradict, support, or fail to resolve a null model</a:t>
            </a:r>
            <a:r>
              <a:rPr lang="en-US" sz="2400" dirty="0"/>
              <a:t>.</a:t>
            </a:r>
            <a:endParaRPr lang="en-US" sz="2400" dirty="0">
              <a:cs typeface="David" panose="020E0502060401010101" pitchFamily="34" charset="-79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80E555D-BAF8-B63B-B6EE-142866DBC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62063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DEDBB-988F-B2C0-E1EF-15FE21745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7CD8C-B535-E099-9BA0-F0FE77112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The Null Model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D23356-56E5-8946-0349-02D5B21846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b="1" dirty="0"/>
                  <a:t>Null model </a:t>
                </a:r>
                <a:r>
                  <a:rPr lang="en-US" sz="2400" dirty="0"/>
                  <a:t>- a default or naive model, often assuming no effect, no difference, no relationship, or no influence.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b="1" dirty="0"/>
                  <a:t>Null hypothesis </a:t>
                </a:r>
                <a:r>
                  <a:rPr lang="en-US" sz="2400" dirty="0"/>
                  <a:t>- the hypothesis that the null model is true.</a:t>
                </a:r>
                <a:endParaRPr lang="he-IL" sz="2400" dirty="0"/>
              </a:p>
              <a:p>
                <a:pPr lvl="1">
                  <a:lnSpc>
                    <a:spcPct val="150000"/>
                  </a:lnSpc>
                </a:pPr>
                <a:r>
                  <a:rPr lang="en-US" sz="2000" dirty="0"/>
                  <a:t>Referred to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D23356-56E5-8946-0349-02D5B21846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  <a:blipFill>
                <a:blip r:embed="rId2"/>
                <a:stretch>
                  <a:fillRect l="-817" r="-17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C95350C-F8EA-5157-D9FF-A126DA754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73939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D084B-4FD1-3D51-E6E8-ED29D65EA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397F0-905F-8BE9-BD0C-84DCB38E8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514" y="136525"/>
            <a:ext cx="10515600" cy="1325563"/>
          </a:xfrm>
        </p:spPr>
        <p:txBody>
          <a:bodyPr/>
          <a:lstStyle/>
          <a:p>
            <a:r>
              <a:rPr lang="he-IL" dirty="0"/>
              <a:t>Dataset</a:t>
            </a:r>
            <a:endParaRPr lang="LID4096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3D62C6A5-C728-0958-E5E5-D242DF2AD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5</a:t>
            </a:fld>
            <a:endParaRPr lang="LID4096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DD246A8-ECF1-0412-D628-B4200F7594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2800" y="1759964"/>
            <a:ext cx="5237486" cy="377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012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8F122-944F-EF5A-2AA8-AB488CD87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E5709-4CC8-CE69-D25F-3E078FF13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he-IL" dirty="0"/>
              <a:t>Dataset</a:t>
            </a:r>
            <a:r>
              <a:rPr lang="en-US" dirty="0"/>
              <a:t> - The Null Model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848BCD-AFFD-3360-3639-BF9B9DEF3B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Until now, we mostly asked:</a:t>
                </a:r>
              </a:p>
              <a:p>
                <a:pPr lvl="1"/>
                <a:r>
                  <a:rPr lang="en-US" sz="2000" dirty="0"/>
                  <a:t>What values of the parameter are plausible?</a:t>
                </a:r>
              </a:p>
              <a:p>
                <a:r>
                  <a:rPr lang="en-US" sz="2400" dirty="0"/>
                  <a:t>Now we ask:</a:t>
                </a:r>
              </a:p>
              <a:p>
                <a:pPr lvl="1"/>
                <a:r>
                  <a:rPr lang="en-US" sz="2000" dirty="0"/>
                  <a:t>Is the data compatible with a null model?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he-IL" sz="2400" dirty="0"/>
                  <a:t>The country-level data are: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he-IL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 sz="2000" dirty="0"/>
                  <a:t>: number of startups in country 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he-IL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he-IL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 sz="2000" dirty="0"/>
                  <a:t>: number of Biotechnology startups in country 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he-IL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he-IL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he-IL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he-IL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he-IL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he-IL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he-IL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he-IL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 sz="2000" dirty="0"/>
                  <a:t>: observed Biotechnology startup rate</a:t>
                </a:r>
              </a:p>
              <a:p>
                <a:pPr>
                  <a:lnSpc>
                    <a:spcPct val="150000"/>
                  </a:lnSpc>
                </a:pPr>
                <a:endParaRPr lang="en-US" sz="2400" dirty="0">
                  <a:cs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848BCD-AFFD-3360-3639-BF9B9DEF3B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  <a:blipFill>
                <a:blip r:embed="rId2"/>
                <a:stretch>
                  <a:fillRect l="-817" t="-165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3CC37AB5-CE7C-59AB-419D-F81045ECF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6</a:t>
            </a:fld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2682D2-E257-BCB3-2B1B-5DB12BD13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571" y="2038794"/>
            <a:ext cx="4823429" cy="347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409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16B8F-1049-C498-3938-E3A0A4A3B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B553B-ED0C-2321-6609-42F58F15D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he-IL" dirty="0"/>
              <a:t>Dataset</a:t>
            </a:r>
            <a:r>
              <a:rPr lang="en-US" dirty="0"/>
              <a:t> - The Null Model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465B0B-4D8F-DB2E-B499-7B14359BC8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Our </a:t>
                </a:r>
                <a:r>
                  <a:rPr lang="en-US" sz="2400" dirty="0">
                    <a:cs typeface="David" panose="020E0502060401010101" pitchFamily="34" charset="-79"/>
                  </a:rPr>
                  <a:t>question: </a:t>
                </a:r>
                <a:r>
                  <a:rPr lang="he-IL" sz="2400" dirty="0">
                    <a:cs typeface="David" panose="020E0502060401010101" pitchFamily="34" charset="-79"/>
                  </a:rPr>
                  <a:t>Is the Biotechnology startup probability different between two </a:t>
                </a:r>
                <a:r>
                  <a:rPr lang="he-IL" sz="2400" dirty="0" err="1">
                    <a:cs typeface="David" panose="020E0502060401010101" pitchFamily="34" charset="-79"/>
                  </a:rPr>
                  <a:t>countries</a:t>
                </a:r>
                <a:r>
                  <a:rPr lang="he-IL" sz="2400" dirty="0">
                    <a:cs typeface="David" panose="020E0502060401010101" pitchFamily="34" charset="-79"/>
                  </a:rPr>
                  <a:t>?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For two countries, the parameter of interest is:</a:t>
                </a:r>
              </a:p>
              <a:p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000" dirty="0"/>
                  <a:t> = Biotechnology startup probability in country A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= Biotechnology startup probability in country B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 </m:t>
                    </m:r>
                  </m:oMath>
                </a14:m>
                <a:r>
                  <a:rPr lang="en-US" sz="2000" dirty="0"/>
                  <a:t>= difference between the two probabilities</a:t>
                </a:r>
                <a:endParaRPr lang="en-US" sz="2000" dirty="0">
                  <a:cs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465B0B-4D8F-DB2E-B499-7B14359BC8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  <a:blipFill>
                <a:blip r:embed="rId2"/>
                <a:stretch>
                  <a:fillRect l="-817" t="-165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81824CB-0A9B-50B9-C29D-5917A5E0E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81321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F5DAC-EE56-556B-0907-443B62402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85334-4615-9C7D-AD65-78F655D9D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he-IL" dirty="0"/>
              <a:t>Dataset</a:t>
            </a:r>
            <a:r>
              <a:rPr lang="en-US" dirty="0"/>
              <a:t> - The Null Model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FE90E9-8FEC-BA8D-2E45-91CDCC556F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The null model represents no difference between the two countries.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 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or equivalently: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sz="2400" dirty="0"/>
                  <a:t>The alternative model asks whether the two countries differ: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 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This is </a:t>
                </a:r>
                <a:r>
                  <a:rPr lang="en-US" sz="2400" b="1" dirty="0"/>
                  <a:t>a two-sided question </a:t>
                </a:r>
                <a:r>
                  <a:rPr lang="en-US" sz="2400" dirty="0"/>
                  <a:t>because we are interested in either direction.</a:t>
                </a:r>
              </a:p>
              <a:p>
                <a:pPr lvl="1"/>
                <a:r>
                  <a:rPr lang="en-US" sz="2000" dirty="0">
                    <a:cs typeface="David" panose="020E0502060401010101" pitchFamily="34" charset="-79"/>
                  </a:rPr>
                  <a:t>What would a one-sided question be? </a:t>
                </a:r>
                <a:endParaRPr lang="en-US" sz="1600" dirty="0">
                  <a:cs typeface="David" panose="020E0502060401010101" pitchFamily="34" charset="-79"/>
                </a:endParaRPr>
              </a:p>
              <a:p>
                <a:endParaRPr lang="en-US" sz="1600" dirty="0">
                  <a:cs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FE90E9-8FEC-BA8D-2E45-91CDCC556F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  <a:blipFill>
                <a:blip r:embed="rId2"/>
                <a:stretch>
                  <a:fillRect l="-817" t="-165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3B4BBD7-F6EC-851F-4723-046015B2D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5300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F967D-9012-F4F0-4698-D07A510D8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30F7C-DD78-1334-CA32-8535C8EE3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he-IL" dirty="0"/>
              <a:t>Dataset</a:t>
            </a:r>
            <a:r>
              <a:rPr lang="en-US" dirty="0"/>
              <a:t> - The Null Model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F7CF2-2159-0B5D-25D1-F6A225E93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2771"/>
            <a:ext cx="10445496" cy="480199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dirty="0">
              <a:cs typeface="David" panose="020E0502060401010101" pitchFamily="34" charset="-79"/>
            </a:endParaRPr>
          </a:p>
          <a:p>
            <a:r>
              <a:rPr lang="en-US" sz="2400" dirty="0"/>
              <a:t>Let’s choose 2 countries and describe the data</a:t>
            </a:r>
            <a:br>
              <a:rPr lang="he-IL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he-IL" sz="2400" dirty="0"/>
          </a:p>
          <a:p>
            <a:pPr marL="457200" lvl="1" indent="0">
              <a:buNone/>
            </a:pPr>
            <a:r>
              <a:rPr lang="he-IL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country_A</a:t>
            </a:r>
            <a:r>
              <a:rPr lang="he-IL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he-IL" sz="1800" dirty="0">
                <a:solidFill>
                  <a:srgbClr val="A31515"/>
                </a:solidFill>
                <a:latin typeface="Courier New" panose="02070309020205020404" pitchFamily="49" charset="0"/>
              </a:rPr>
              <a:t>"IND"</a:t>
            </a:r>
            <a:endParaRPr lang="en-US" sz="1800" dirty="0">
              <a:solidFill>
                <a:srgbClr val="A31515"/>
              </a:solidFill>
              <a:latin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he-IL" sz="1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country</a:t>
            </a:r>
            <a:r>
              <a:rPr lang="he-IL" sz="1800" dirty="0">
                <a:solidFill>
                  <a:srgbClr val="000000"/>
                </a:solidFill>
                <a:latin typeface="Courier New" panose="02070309020205020404" pitchFamily="49" charset="0"/>
              </a:rPr>
              <a:t>_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B</a:t>
            </a:r>
            <a:r>
              <a:rPr lang="he-IL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he-IL" sz="1800" dirty="0">
                <a:solidFill>
                  <a:srgbClr val="A31515"/>
                </a:solidFill>
                <a:latin typeface="Courier New" panose="02070309020205020404" pitchFamily="49" charset="0"/>
              </a:rPr>
              <a:t>"</a:t>
            </a:r>
            <a:r>
              <a:rPr lang="en-US" sz="1800" dirty="0">
                <a:solidFill>
                  <a:srgbClr val="A31515"/>
                </a:solidFill>
                <a:latin typeface="Courier New" panose="02070309020205020404" pitchFamily="49" charset="0"/>
              </a:rPr>
              <a:t>CHN</a:t>
            </a:r>
            <a:r>
              <a:rPr lang="he-IL" sz="1800" dirty="0">
                <a:solidFill>
                  <a:srgbClr val="A31515"/>
                </a:solidFill>
                <a:latin typeface="Courier New" panose="02070309020205020404" pitchFamily="49" charset="0"/>
              </a:rPr>
              <a:t>"</a:t>
            </a:r>
            <a:endParaRPr lang="he-IL" sz="18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970ECD3-2F37-A22B-EF12-016F8B612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9</a:t>
            </a:fld>
            <a:endParaRPr lang="LID4096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9D54FC-940C-0566-641F-EAD4694FF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089" y="4193017"/>
            <a:ext cx="5410955" cy="123842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4FFE0B9-DF65-61D8-D351-17D996F86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8508" y="2986071"/>
            <a:ext cx="4695778" cy="3158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316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34233-564A-0FD1-34F2-DACE76E48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C6AA4-796B-3BAE-46C7-DA961425A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Effect Size - Terms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65744-90E4-8ABF-FF8A-0F5048946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2771"/>
            <a:ext cx="10445496" cy="48019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Effect size </a:t>
            </a:r>
            <a:r>
              <a:rPr lang="en-US" sz="2400" dirty="0"/>
              <a:t>- the difference between reality and the null hypothesis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True effect size </a:t>
            </a:r>
            <a:r>
              <a:rPr lang="en-US" sz="2400" dirty="0"/>
              <a:t>- the effect size in reality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Measured effect size</a:t>
            </a:r>
            <a:r>
              <a:rPr lang="en-US" sz="2400" dirty="0"/>
              <a:t> - the effect size estimated from data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Normalized effect size </a:t>
            </a:r>
            <a:r>
              <a:rPr lang="en-US" sz="2400" dirty="0"/>
              <a:t>- an effect-size statistic designed to be comparable across experiments and domains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400909DB-A784-727F-9938-129DC0459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7994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8DDD1-8984-E50D-FBCE-3CAF206F1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2C45B-F131-014F-E595-E846B6061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Effect Size - Terms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FBE37-A7F6-8F9F-F5AC-733B4FA8E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9579429" cy="499088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Raw effect size </a:t>
            </a:r>
            <a:r>
              <a:rPr lang="en-US" sz="2400" dirty="0"/>
              <a:t>- an effect size expressed in the actual units of the data</a:t>
            </a:r>
          </a:p>
          <a:p>
            <a:pPr lvl="1"/>
            <a:r>
              <a:rPr lang="en-US" sz="2000" dirty="0"/>
              <a:t>Useful for comparing similar experiments</a:t>
            </a:r>
          </a:p>
          <a:p>
            <a:pPr lvl="1"/>
            <a:r>
              <a:rPr lang="en-US" sz="2000" dirty="0"/>
              <a:t>Depends on domain knowledge</a:t>
            </a:r>
          </a:p>
          <a:p>
            <a:pPr lvl="1"/>
            <a:r>
              <a:rPr lang="en-US" sz="2000" dirty="0"/>
              <a:t>Meaningful in application and impact</a:t>
            </a:r>
          </a:p>
          <a:p>
            <a:pPr lvl="1"/>
            <a:r>
              <a:rPr lang="en-US" sz="2000" dirty="0"/>
              <a:t>Carries greater weight for experts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Normalized effect size </a:t>
            </a:r>
            <a:r>
              <a:rPr lang="en-US" sz="2400" dirty="0"/>
              <a:t>- an effect-size statistic designed to be comparable across experiments and domains.</a:t>
            </a:r>
          </a:p>
          <a:p>
            <a:pPr lvl="1"/>
            <a:r>
              <a:rPr lang="en-US" sz="2000" dirty="0"/>
              <a:t>Convenient for non-experts</a:t>
            </a:r>
          </a:p>
          <a:p>
            <a:pPr lvl="1"/>
            <a:r>
              <a:rPr lang="en-US" sz="2000" dirty="0"/>
              <a:t>Useful for comparing across fields</a:t>
            </a:r>
          </a:p>
          <a:p>
            <a:pPr lvl="1"/>
            <a:r>
              <a:rPr lang="en-US" sz="2000" dirty="0"/>
              <a:t>Helpful as a rule of thumb</a:t>
            </a:r>
          </a:p>
          <a:p>
            <a:pPr lvl="1"/>
            <a:endParaRPr lang="en-US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F5000234-E9DE-7EB6-A251-7261DAEB6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33826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EE5C2-8AB2-753E-6D59-ADE600441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12676-8F0B-05FE-0795-1127C6887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Effect Size - Terms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890C9A-3AD8-C9A8-6948-0603F9B407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65467"/>
                <a:ext cx="10515600" cy="4990883"/>
              </a:xfrm>
            </p:spPr>
            <p:txBody>
              <a:bodyPr>
                <a:normAutofit/>
              </a:bodyPr>
              <a:lstStyle/>
              <a:p>
                <a:r>
                  <a:rPr lang="en-US" sz="2400" b="1" dirty="0"/>
                  <a:t>Cohen’s h</a:t>
                </a:r>
                <a:r>
                  <a:rPr lang="en-US" sz="2400" dirty="0"/>
                  <a:t> - a normalized effect size for comparing proportions or probabilities.</a:t>
                </a:r>
              </a:p>
              <a:p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Cohen</m:t>
                          </m:r>
                        </m:e>
                        <m:sup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2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arcsin</m:t>
                          </m:r>
                        </m:fName>
                        <m:e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rad>
                        </m:e>
                      </m:func>
                      <m:r>
                        <a:rPr lang="en-US" sz="240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2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arcsin</m:t>
                          </m:r>
                        </m:fName>
                        <m:e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rad>
                        </m:e>
                      </m:func>
                    </m:oMath>
                  </m:oMathPara>
                </a14:m>
                <a:endParaRPr lang="en-US" sz="2400" dirty="0">
                  <a:cs typeface="David" panose="020E0502060401010101" pitchFamily="34" charset="-79"/>
                </a:endParaRPr>
              </a:p>
              <a:p>
                <a:pPr lvl="1"/>
                <a:endParaRPr lang="en-US" dirty="0"/>
              </a:p>
              <a:p>
                <a:pPr>
                  <a:lnSpc>
                    <a:spcPct val="150000"/>
                  </a:lnSpc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890C9A-3AD8-C9A8-6948-0603F9B407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65467"/>
                <a:ext cx="10515600" cy="4990883"/>
              </a:xfrm>
              <a:blipFill>
                <a:blip r:embed="rId3"/>
                <a:stretch>
                  <a:fillRect l="-812" t="-158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59E05EE-0948-76B3-7AF1-18C6C4C3F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12</a:t>
            </a:fld>
            <a:endParaRPr lang="LID4096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942424F-0BC2-00D5-130B-D3A71D298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002280"/>
              </p:ext>
            </p:extLst>
          </p:nvPr>
        </p:nvGraphicFramePr>
        <p:xfrm>
          <a:off x="4139046" y="3429000"/>
          <a:ext cx="3260766" cy="146367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630383">
                  <a:extLst>
                    <a:ext uri="{9D8B030D-6E8A-4147-A177-3AD203B41FA5}">
                      <a16:colId xmlns:a16="http://schemas.microsoft.com/office/drawing/2014/main" val="1297009625"/>
                    </a:ext>
                  </a:extLst>
                </a:gridCol>
                <a:gridCol w="1630383">
                  <a:extLst>
                    <a:ext uri="{9D8B030D-6E8A-4147-A177-3AD203B41FA5}">
                      <a16:colId xmlns:a16="http://schemas.microsoft.com/office/drawing/2014/main" val="3165029512"/>
                    </a:ext>
                  </a:extLst>
                </a:gridCol>
              </a:tblGrid>
              <a:tr h="365919">
                <a:tc>
                  <a:txBody>
                    <a:bodyPr/>
                    <a:lstStyle/>
                    <a:p>
                      <a:r>
                        <a:rPr lang="en-US" dirty="0"/>
                        <a:t>|Cohen’s h| 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Effect size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8041023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en-US" dirty="0"/>
                        <a:t>0.2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Small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25859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en-US" dirty="0"/>
                        <a:t>0.5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339789"/>
                  </a:ext>
                </a:extLst>
              </a:tr>
              <a:tr h="365919"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Large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292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963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8754D-18A5-E4FA-D01A-633233D3A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A4BA4-F3D4-E2ED-74EF-8EDF362D7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Effect Size Measures</a:t>
            </a:r>
            <a:endParaRPr lang="LID4096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823E0E4-ABD1-62DA-5EFB-F2C514DCE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13</a:t>
            </a:fld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42BD4FA-3116-1C7B-9458-98FC154E00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9289967"/>
                  </p:ext>
                </p:extLst>
              </p:nvPr>
            </p:nvGraphicFramePr>
            <p:xfrm>
              <a:off x="1706491" y="1861820"/>
              <a:ext cx="8619762" cy="4351339"/>
            </p:xfrm>
            <a:graphic>
              <a:graphicData uri="http://schemas.openxmlformats.org/drawingml/2006/table">
                <a:tbl>
                  <a:tblPr firstRow="1">
                    <a:tableStyleId>{9D7B26C5-4107-4FEC-AEDC-1716B250A1EF}</a:tableStyleId>
                  </a:tblPr>
                  <a:tblGrid>
                    <a:gridCol w="2873254">
                      <a:extLst>
                        <a:ext uri="{9D8B030D-6E8A-4147-A177-3AD203B41FA5}">
                          <a16:colId xmlns:a16="http://schemas.microsoft.com/office/drawing/2014/main" val="2295296400"/>
                        </a:ext>
                      </a:extLst>
                    </a:gridCol>
                    <a:gridCol w="2873254">
                      <a:extLst>
                        <a:ext uri="{9D8B030D-6E8A-4147-A177-3AD203B41FA5}">
                          <a16:colId xmlns:a16="http://schemas.microsoft.com/office/drawing/2014/main" val="194194411"/>
                        </a:ext>
                      </a:extLst>
                    </a:gridCol>
                    <a:gridCol w="2873254">
                      <a:extLst>
                        <a:ext uri="{9D8B030D-6E8A-4147-A177-3AD203B41FA5}">
                          <a16:colId xmlns:a16="http://schemas.microsoft.com/office/drawing/2014/main" val="4127651150"/>
                        </a:ext>
                      </a:extLst>
                    </a:gridCol>
                  </a:tblGrid>
                  <a:tr h="30535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 dirty="0"/>
                            <a:t>Effect-size scale</a:t>
                          </a:r>
                        </a:p>
                      </a:txBody>
                      <a:tcPr marL="76339" marR="76339" marT="38170" marB="3817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/>
                            <a:t>Formula</a:t>
                          </a:r>
                        </a:p>
                      </a:txBody>
                      <a:tcPr marL="76339" marR="76339" marT="38170" marB="3817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 dirty="0"/>
                            <a:t>Commonly used for</a:t>
                          </a:r>
                        </a:p>
                      </a:txBody>
                      <a:tcPr marL="76339" marR="76339" marT="38170" marB="38170" anchor="ctr"/>
                    </a:tc>
                    <a:extLst>
                      <a:ext uri="{0D108BD9-81ED-4DB2-BD59-A6C34878D82A}">
                        <a16:rowId xmlns:a16="http://schemas.microsoft.com/office/drawing/2014/main" val="4217506464"/>
                      </a:ext>
                    </a:extLst>
                  </a:tr>
                  <a:tr h="122142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 dirty="0"/>
                            <a:t>Risk difference / proportion difference</a:t>
                          </a:r>
                          <a:endParaRPr lang="en-US" sz="1500" dirty="0"/>
                        </a:p>
                      </a:txBody>
                      <a:tcPr marL="76339" marR="76339" marT="38170" marB="3817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sv-SE" sz="1500" dirty="0" smtClean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m:rPr>
                                    <m:nor/>
                                  </m:rPr>
                                  <a:rPr lang="en-US" sz="1500" b="0" dirty="0" smtClean="0"/>
                                  <m:t> = </m:t>
                                </m:r>
                                <m:r>
                                  <a:rPr lang="en-US" sz="1500" b="0" dirty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en-US" sz="1500" b="0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5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b="0" dirty="0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1500" b="0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sz="1500" dirty="0"/>
                        </a:p>
                      </a:txBody>
                      <a:tcPr marL="76339" marR="76339" marT="38170" marB="3817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/>
                            <a:t>Probabilities far from 0 or 1</a:t>
                          </a:r>
                        </a:p>
                      </a:txBody>
                      <a:tcPr marL="76339" marR="76339" marT="38170" marB="38170" anchor="ctr"/>
                    </a:tc>
                    <a:extLst>
                      <a:ext uri="{0D108BD9-81ED-4DB2-BD59-A6C34878D82A}">
                        <a16:rowId xmlns:a16="http://schemas.microsoft.com/office/drawing/2014/main" val="2128685495"/>
                      </a:ext>
                    </a:extLst>
                  </a:tr>
                  <a:tr h="76339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/>
                            <a:t>Risk ratio / relative risk</a:t>
                          </a:r>
                          <a:endParaRPr lang="en-US" sz="1500"/>
                        </a:p>
                      </a:txBody>
                      <a:tcPr marL="76339" marR="76339" marT="38170" marB="3817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smtClean="0">
                                    <a:latin typeface="Cambria Math" panose="02040503050406030204" pitchFamily="18" charset="0"/>
                                  </a:rPr>
                                  <m:t>𝑅𝑅</m:t>
                                </m:r>
                                <m:r>
                                  <a:rPr lang="en-US" sz="15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500" b="0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5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500" b="0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1500" b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sv-SE" sz="1500" dirty="0"/>
                        </a:p>
                      </a:txBody>
                      <a:tcPr marL="76339" marR="76339" marT="38170" marB="3817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/>
                            <a:t>Small probabilities, clinical applications</a:t>
                          </a:r>
                        </a:p>
                      </a:txBody>
                      <a:tcPr marL="76339" marR="76339" marT="38170" marB="38170" anchor="ctr"/>
                    </a:tc>
                    <a:extLst>
                      <a:ext uri="{0D108BD9-81ED-4DB2-BD59-A6C34878D82A}">
                        <a16:rowId xmlns:a16="http://schemas.microsoft.com/office/drawing/2014/main" val="1557838833"/>
                      </a:ext>
                    </a:extLst>
                  </a:tr>
                  <a:tr h="76339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/>
                            <a:t>Odds ratio</a:t>
                          </a:r>
                          <a:endParaRPr lang="en-US" sz="1500"/>
                        </a:p>
                      </a:txBody>
                      <a:tcPr marL="76339" marR="76339" marT="38170" marB="3817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0" smtClean="0">
                                    <a:latin typeface="Cambria Math" panose="02040503050406030204" pitchFamily="18" charset="0"/>
                                  </a:rPr>
                                  <m:t>𝑂𝑅</m:t>
                                </m:r>
                                <m:r>
                                  <a:rPr lang="en-US" sz="15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type m:val="lin"/>
                                    <m:ctrlP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>
                                      <m:fPr>
                                        <m:ctrlPr>
                                          <a:rPr lang="en-US" sz="15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500" b="0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num>
                                      <m:den>
                                        <m:r>
                                          <a:rPr lang="en-US" sz="1500" b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1500" b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1500" b="0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den>
                                    </m:f>
                                  </m:num>
                                  <m:den>
                                    <m:f>
                                      <m:fPr>
                                        <m:ctrlPr>
                                          <a:rPr lang="en-US" sz="15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sz="15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500" b="0" smtClean="0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sz="1500" b="0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500" b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1500" b="0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5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500" b="0" smtClean="0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sz="1500" b="0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den>
                                </m:f>
                                <m:r>
                                  <a:rPr lang="en-US" sz="1500" b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76339" marR="76339" marT="38170" marB="3817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/>
                            <a:t>Probabilities near 0 or 1, statistics</a:t>
                          </a:r>
                        </a:p>
                      </a:txBody>
                      <a:tcPr marL="76339" marR="76339" marT="38170" marB="38170" anchor="ctr"/>
                    </a:tc>
                    <a:extLst>
                      <a:ext uri="{0D108BD9-81ED-4DB2-BD59-A6C34878D82A}">
                        <a16:rowId xmlns:a16="http://schemas.microsoft.com/office/drawing/2014/main" val="317369376"/>
                      </a:ext>
                    </a:extLst>
                  </a:tr>
                  <a:tr h="53437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/>
                            <a:t>Log odds ratio</a:t>
                          </a:r>
                          <a:endParaRPr lang="en-US" sz="1500"/>
                        </a:p>
                      </a:txBody>
                      <a:tcPr marL="76339" marR="76339" marT="38170" marB="3817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1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500" b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1500" b="0" smtClean="0">
                                        <a:latin typeface="Cambria Math" panose="02040503050406030204" pitchFamily="18" charset="0"/>
                                      </a:rPr>
                                      <m:t>𝑂𝑅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76339" marR="76339" marT="38170" marB="3817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/>
                            <a:t>Transformation of odds ratio to additive domain</a:t>
                          </a:r>
                        </a:p>
                      </a:txBody>
                      <a:tcPr marL="76339" marR="76339" marT="38170" marB="38170" anchor="ctr"/>
                    </a:tc>
                    <a:extLst>
                      <a:ext uri="{0D108BD9-81ED-4DB2-BD59-A6C34878D82A}">
                        <a16:rowId xmlns:a16="http://schemas.microsoft.com/office/drawing/2014/main" val="1269802139"/>
                      </a:ext>
                    </a:extLst>
                  </a:tr>
                  <a:tr h="76339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 dirty="0"/>
                            <a:t>Cohen’s (h)</a:t>
                          </a:r>
                          <a:endParaRPr lang="en-US" sz="1500" dirty="0"/>
                        </a:p>
                      </a:txBody>
                      <a:tcPr marL="76339" marR="76339" marT="38170" marB="3817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func>
                                  <m:func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arcsin</m:t>
                                    </m:r>
                                  </m:fName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600" b="0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rad>
                                  </m:e>
                                </m:func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b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func>
                                  <m:func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600" b="0" smtClean="0">
                                        <a:latin typeface="Cambria Math" panose="02040503050406030204" pitchFamily="18" charset="0"/>
                                      </a:rPr>
                                      <m:t>arcsin</m:t>
                                    </m:r>
                                  </m:fName>
                                  <m:e>
                                    <m:rad>
                                      <m:radPr>
                                        <m:degHide m:val="on"/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>
                                          <m:sSubPr>
                                            <m:ctrlPr>
                                              <a:rPr lang="en-US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0" smtClean="0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b="0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e>
                                </m:func>
                              </m:oMath>
                            </m:oMathPara>
                          </a14:m>
                          <a:endParaRPr lang="en-US" sz="1500" dirty="0"/>
                        </a:p>
                      </a:txBody>
                      <a:tcPr marL="76339" marR="76339" marT="38170" marB="3817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/>
                            <a:t>Normalized effect size</a:t>
                          </a:r>
                        </a:p>
                      </a:txBody>
                      <a:tcPr marL="76339" marR="76339" marT="38170" marB="38170" anchor="ctr"/>
                    </a:tc>
                    <a:extLst>
                      <a:ext uri="{0D108BD9-81ED-4DB2-BD59-A6C34878D82A}">
                        <a16:rowId xmlns:a16="http://schemas.microsoft.com/office/drawing/2014/main" val="26842638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42BD4FA-3116-1C7B-9458-98FC154E00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29289967"/>
                  </p:ext>
                </p:extLst>
              </p:nvPr>
            </p:nvGraphicFramePr>
            <p:xfrm>
              <a:off x="1706491" y="1861820"/>
              <a:ext cx="8619762" cy="4351339"/>
            </p:xfrm>
            <a:graphic>
              <a:graphicData uri="http://schemas.openxmlformats.org/drawingml/2006/table">
                <a:tbl>
                  <a:tblPr firstRow="1">
                    <a:tableStyleId>{9D7B26C5-4107-4FEC-AEDC-1716B250A1EF}</a:tableStyleId>
                  </a:tblPr>
                  <a:tblGrid>
                    <a:gridCol w="2873254">
                      <a:extLst>
                        <a:ext uri="{9D8B030D-6E8A-4147-A177-3AD203B41FA5}">
                          <a16:colId xmlns:a16="http://schemas.microsoft.com/office/drawing/2014/main" val="2295296400"/>
                        </a:ext>
                      </a:extLst>
                    </a:gridCol>
                    <a:gridCol w="2873254">
                      <a:extLst>
                        <a:ext uri="{9D8B030D-6E8A-4147-A177-3AD203B41FA5}">
                          <a16:colId xmlns:a16="http://schemas.microsoft.com/office/drawing/2014/main" val="194194411"/>
                        </a:ext>
                      </a:extLst>
                    </a:gridCol>
                    <a:gridCol w="2873254">
                      <a:extLst>
                        <a:ext uri="{9D8B030D-6E8A-4147-A177-3AD203B41FA5}">
                          <a16:colId xmlns:a16="http://schemas.microsoft.com/office/drawing/2014/main" val="4127651150"/>
                        </a:ext>
                      </a:extLst>
                    </a:gridCol>
                  </a:tblGrid>
                  <a:tr h="30535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 dirty="0"/>
                            <a:t>Effect-size scale</a:t>
                          </a:r>
                        </a:p>
                      </a:txBody>
                      <a:tcPr marL="76339" marR="76339" marT="38170" marB="3817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/>
                            <a:t>Formula</a:t>
                          </a:r>
                        </a:p>
                      </a:txBody>
                      <a:tcPr marL="76339" marR="76339" marT="38170" marB="38170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 dirty="0"/>
                            <a:t>Commonly used for</a:t>
                          </a:r>
                        </a:p>
                      </a:txBody>
                      <a:tcPr marL="76339" marR="76339" marT="38170" marB="38170" anchor="ctr"/>
                    </a:tc>
                    <a:extLst>
                      <a:ext uri="{0D108BD9-81ED-4DB2-BD59-A6C34878D82A}">
                        <a16:rowId xmlns:a16="http://schemas.microsoft.com/office/drawing/2014/main" val="4217506464"/>
                      </a:ext>
                    </a:extLst>
                  </a:tr>
                  <a:tr h="122142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 dirty="0"/>
                            <a:t>Risk difference / proportion difference</a:t>
                          </a:r>
                          <a:endParaRPr lang="en-US" sz="1500" dirty="0"/>
                        </a:p>
                      </a:txBody>
                      <a:tcPr marL="76339" marR="76339" marT="38170" marB="38170" anchor="ctr"/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marL="76339" marR="76339" marT="38170" marB="38170" anchor="ctr">
                        <a:blipFill>
                          <a:blip r:embed="rId3"/>
                          <a:stretch>
                            <a:fillRect l="-100212" t="-25871" r="-100425" b="-2313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/>
                            <a:t>Probabilities far from 0 or 1</a:t>
                          </a:r>
                        </a:p>
                      </a:txBody>
                      <a:tcPr marL="76339" marR="76339" marT="38170" marB="38170" anchor="ctr"/>
                    </a:tc>
                    <a:extLst>
                      <a:ext uri="{0D108BD9-81ED-4DB2-BD59-A6C34878D82A}">
                        <a16:rowId xmlns:a16="http://schemas.microsoft.com/office/drawing/2014/main" val="2128685495"/>
                      </a:ext>
                    </a:extLst>
                  </a:tr>
                  <a:tr h="76339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/>
                            <a:t>Risk ratio / relative risk</a:t>
                          </a:r>
                          <a:endParaRPr lang="en-US" sz="1500"/>
                        </a:p>
                      </a:txBody>
                      <a:tcPr marL="76339" marR="76339" marT="38170" marB="38170" anchor="ctr"/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marL="76339" marR="76339" marT="38170" marB="38170" anchor="ctr">
                        <a:blipFill>
                          <a:blip r:embed="rId3"/>
                          <a:stretch>
                            <a:fillRect l="-100212" t="-202400" r="-100425" b="-2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/>
                            <a:t>Small probabilities, clinical applications</a:t>
                          </a:r>
                        </a:p>
                      </a:txBody>
                      <a:tcPr marL="76339" marR="76339" marT="38170" marB="38170" anchor="ctr"/>
                    </a:tc>
                    <a:extLst>
                      <a:ext uri="{0D108BD9-81ED-4DB2-BD59-A6C34878D82A}">
                        <a16:rowId xmlns:a16="http://schemas.microsoft.com/office/drawing/2014/main" val="1557838833"/>
                      </a:ext>
                    </a:extLst>
                  </a:tr>
                  <a:tr h="76339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/>
                            <a:t>Odds ratio</a:t>
                          </a:r>
                          <a:endParaRPr lang="en-US" sz="1500"/>
                        </a:p>
                      </a:txBody>
                      <a:tcPr marL="76339" marR="76339" marT="38170" marB="38170" anchor="ctr"/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marL="76339" marR="76339" marT="38170" marB="38170" anchor="ctr">
                        <a:blipFill>
                          <a:blip r:embed="rId3"/>
                          <a:stretch>
                            <a:fillRect l="-100212" t="-300000" r="-100425" b="-169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/>
                            <a:t>Probabilities near 0 or 1, statistics</a:t>
                          </a:r>
                        </a:p>
                      </a:txBody>
                      <a:tcPr marL="76339" marR="76339" marT="38170" marB="38170" anchor="ctr"/>
                    </a:tc>
                    <a:extLst>
                      <a:ext uri="{0D108BD9-81ED-4DB2-BD59-A6C34878D82A}">
                        <a16:rowId xmlns:a16="http://schemas.microsoft.com/office/drawing/2014/main" val="317369376"/>
                      </a:ext>
                    </a:extLst>
                  </a:tr>
                  <a:tr h="53437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/>
                            <a:t>Log odds ratio</a:t>
                          </a:r>
                          <a:endParaRPr lang="en-US" sz="1500"/>
                        </a:p>
                      </a:txBody>
                      <a:tcPr marL="76339" marR="76339" marT="38170" marB="38170" anchor="ctr"/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marL="76339" marR="76339" marT="38170" marB="38170" anchor="ctr">
                        <a:blipFill>
                          <a:blip r:embed="rId3"/>
                          <a:stretch>
                            <a:fillRect l="-100212" t="-572727" r="-100425" b="-143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/>
                            <a:t>Transformation of odds ratio to additive domain</a:t>
                          </a:r>
                        </a:p>
                      </a:txBody>
                      <a:tcPr marL="76339" marR="76339" marT="38170" marB="38170" anchor="ctr"/>
                    </a:tc>
                    <a:extLst>
                      <a:ext uri="{0D108BD9-81ED-4DB2-BD59-A6C34878D82A}">
                        <a16:rowId xmlns:a16="http://schemas.microsoft.com/office/drawing/2014/main" val="1269802139"/>
                      </a:ext>
                    </a:extLst>
                  </a:tr>
                  <a:tr h="76339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b="1" dirty="0"/>
                            <a:t>Cohen’s (h)</a:t>
                          </a:r>
                          <a:endParaRPr lang="en-US" sz="1500" dirty="0"/>
                        </a:p>
                      </a:txBody>
                      <a:tcPr marL="76339" marR="76339" marT="38170" marB="38170" anchor="ctr"/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marL="76339" marR="76339" marT="38170" marB="38170" anchor="ctr">
                        <a:blipFill>
                          <a:blip r:embed="rId3"/>
                          <a:stretch>
                            <a:fillRect l="-100212" t="-473600" r="-100425" b="-8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500" dirty="0"/>
                            <a:t>Normalized effect size</a:t>
                          </a:r>
                        </a:p>
                      </a:txBody>
                      <a:tcPr marL="76339" marR="76339" marT="38170" marB="38170" anchor="ctr"/>
                    </a:tc>
                    <a:extLst>
                      <a:ext uri="{0D108BD9-81ED-4DB2-BD59-A6C34878D82A}">
                        <a16:rowId xmlns:a16="http://schemas.microsoft.com/office/drawing/2014/main" val="26842638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47273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3DC04-2661-E073-7377-6F150FAE8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F0A3-EE2B-CACF-AF77-AE930655E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Data - Measured</a:t>
            </a:r>
            <a:r>
              <a:rPr lang="he-IL" dirty="0"/>
              <a:t> effect sizes</a:t>
            </a:r>
            <a:endParaRPr lang="LID4096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8C4210C-8549-FDA4-4C7E-D4B9150E2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14</a:t>
            </a:fld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E0C887-EA38-C8F4-A53A-4B0DA5B48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42771"/>
            <a:ext cx="6296181" cy="480199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2FB1C20-1017-651D-2BAC-6815AAF751ED}"/>
              </a:ext>
            </a:extLst>
          </p:cNvPr>
          <p:cNvCxnSpPr/>
          <p:nvPr/>
        </p:nvCxnSpPr>
        <p:spPr>
          <a:xfrm flipV="1">
            <a:off x="5034013" y="4129238"/>
            <a:ext cx="3253339" cy="121278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B64326-CBBA-4F43-44F3-4A835CC8B668}"/>
                  </a:ext>
                </a:extLst>
              </p:cNvPr>
              <p:cNvSpPr txBox="1"/>
              <p:nvPr/>
            </p:nvSpPr>
            <p:spPr>
              <a:xfrm>
                <a:off x="5813659" y="2290813"/>
                <a:ext cx="5950818" cy="1551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>
                    <a:latin typeface="David" panose="020E0502060401010101" pitchFamily="34" charset="-79"/>
                    <a:cs typeface="David" panose="020E0502060401010101" pitchFamily="34" charset="-79"/>
                  </a:rPr>
                  <a:t>When comparing two observed groups, there is no separate theoretical null value.</a:t>
                </a:r>
                <a:br>
                  <a:rPr lang="en-US" dirty="0">
                    <a:latin typeface="David" panose="020E0502060401010101" pitchFamily="34" charset="-79"/>
                    <a:cs typeface="David" panose="020E0502060401010101" pitchFamily="34" charset="-79"/>
                  </a:rPr>
                </a:br>
                <a:r>
                  <a:rPr lang="en-US" dirty="0">
                    <a:latin typeface="David" panose="020E0502060401010101" pitchFamily="34" charset="-79"/>
                    <a:cs typeface="David" panose="020E0502060401010101" pitchFamily="34" charset="-79"/>
                  </a:rPr>
                  <a:t>Instead, the second group is used as the reference group</a:t>
                </a:r>
                <a:r>
                  <a:rPr lang="he-IL" dirty="0">
                    <a:latin typeface="David" panose="020E0502060401010101" pitchFamily="34" charset="-79"/>
                    <a:cs typeface="David" panose="020E0502060401010101" pitchFamily="34" charset="-79"/>
                  </a:rPr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e-IL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he-IL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e-IL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he-IL" i="0">
                          <a:latin typeface="Cambria Math" panose="02040503050406030204" pitchFamily="18" charset="0"/>
                        </a:rPr>
                        <m:t>arcsin</m:t>
                      </m:r>
                      <m:r>
                        <a:rPr lang="he-IL" i="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he-I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he-IL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he-I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he-I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he-IL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he-IL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rad>
                        </m:e>
                      </m:d>
                      <m:r>
                        <a:rPr lang="he-IL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e-IL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he-IL" i="0">
                          <a:latin typeface="Cambria Math" panose="02040503050406030204" pitchFamily="18" charset="0"/>
                        </a:rPr>
                        <m:t>arcsin</m:t>
                      </m:r>
                      <m:r>
                        <a:rPr lang="he-IL" i="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he-I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he-IL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he-I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he-I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he-IL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he-IL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rad>
                        </m:e>
                      </m:d>
                    </m:oMath>
                  </m:oMathPara>
                </a14:m>
                <a:endParaRPr lang="he-IL" dirty="0">
                  <a:latin typeface="David" panose="020E0502060401010101" pitchFamily="34" charset="-79"/>
                  <a:cs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B64326-CBBA-4F43-44F3-4A835CC8B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659" y="2290813"/>
                <a:ext cx="5950818" cy="1551194"/>
              </a:xfrm>
              <a:prstGeom prst="rect">
                <a:avLst/>
              </a:prstGeom>
              <a:blipFill>
                <a:blip r:embed="rId3"/>
                <a:stretch>
                  <a:fillRect l="-922" t="-236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7224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142C2-B818-97B4-FC89-BF8175EE1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35DB4-2B10-EE6B-A317-F35B3EA2D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Data - Measured</a:t>
            </a:r>
            <a:r>
              <a:rPr lang="he-IL" dirty="0"/>
              <a:t> effect sizes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84C11-E25A-800D-528D-62C2E54BC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2771"/>
            <a:ext cx="10445496" cy="48019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en-US" sz="2000" dirty="0">
              <a:cs typeface="David" panose="020E0502060401010101" pitchFamily="34" charset="-79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8942C6C-3F13-A261-A1E4-2BCE02FE9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15</a:t>
            </a:fld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1DA049-D1BD-3E63-CE9C-CAFF9E0B1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42771"/>
            <a:ext cx="6296181" cy="48019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4229DF-A3C4-1D65-F7B7-D5EA68129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265" y="1710541"/>
            <a:ext cx="4123431" cy="404800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EC0504F-7FD4-A450-D677-A55116C84931}"/>
              </a:ext>
            </a:extLst>
          </p:cNvPr>
          <p:cNvSpPr/>
          <p:nvPr/>
        </p:nvSpPr>
        <p:spPr>
          <a:xfrm>
            <a:off x="838200" y="1324315"/>
            <a:ext cx="6251961" cy="641119"/>
          </a:xfrm>
          <a:prstGeom prst="rect">
            <a:avLst/>
          </a:prstGeom>
          <a:solidFill>
            <a:srgbClr val="FFC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ABF11D-C01E-C51A-C204-03C80DB777DF}"/>
              </a:ext>
            </a:extLst>
          </p:cNvPr>
          <p:cNvSpPr/>
          <p:nvPr/>
        </p:nvSpPr>
        <p:spPr>
          <a:xfrm>
            <a:off x="838199" y="2027215"/>
            <a:ext cx="6251961" cy="641119"/>
          </a:xfrm>
          <a:prstGeom prst="rect">
            <a:avLst/>
          </a:prstGeom>
          <a:solidFill>
            <a:schemeClr val="accent6">
              <a:lumMod val="40000"/>
              <a:lumOff val="6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48C8A3-4717-A473-D63A-18BF5BE3F7EE}"/>
              </a:ext>
            </a:extLst>
          </p:cNvPr>
          <p:cNvSpPr/>
          <p:nvPr/>
        </p:nvSpPr>
        <p:spPr>
          <a:xfrm>
            <a:off x="812316" y="2795108"/>
            <a:ext cx="6251961" cy="1566685"/>
          </a:xfrm>
          <a:prstGeom prst="rect">
            <a:avLst/>
          </a:prstGeom>
          <a:solidFill>
            <a:schemeClr val="accent4">
              <a:lumMod val="40000"/>
              <a:lumOff val="6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C93F9D-E1F2-1BC8-F6E5-4F8D67B57F50}"/>
              </a:ext>
            </a:extLst>
          </p:cNvPr>
          <p:cNvSpPr/>
          <p:nvPr/>
        </p:nvSpPr>
        <p:spPr>
          <a:xfrm>
            <a:off x="812316" y="4488567"/>
            <a:ext cx="6251961" cy="1566685"/>
          </a:xfrm>
          <a:prstGeom prst="rect">
            <a:avLst/>
          </a:prstGeom>
          <a:solidFill>
            <a:schemeClr val="accent5">
              <a:lumMod val="40000"/>
              <a:lumOff val="6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317F72-0AB7-FA42-6D0D-C6C06352BBE3}"/>
              </a:ext>
            </a:extLst>
          </p:cNvPr>
          <p:cNvSpPr/>
          <p:nvPr/>
        </p:nvSpPr>
        <p:spPr>
          <a:xfrm>
            <a:off x="7160265" y="3247698"/>
            <a:ext cx="4123431" cy="460564"/>
          </a:xfrm>
          <a:prstGeom prst="rect">
            <a:avLst/>
          </a:prstGeom>
          <a:solidFill>
            <a:srgbClr val="FFC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55988D-9305-12C0-F071-E29B184F3CB8}"/>
              </a:ext>
            </a:extLst>
          </p:cNvPr>
          <p:cNvSpPr/>
          <p:nvPr/>
        </p:nvSpPr>
        <p:spPr>
          <a:xfrm>
            <a:off x="7160264" y="3708261"/>
            <a:ext cx="4123431" cy="497967"/>
          </a:xfrm>
          <a:prstGeom prst="rect">
            <a:avLst/>
          </a:prstGeom>
          <a:solidFill>
            <a:schemeClr val="accent6">
              <a:lumMod val="40000"/>
              <a:lumOff val="6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0ABFFC-BE4A-B260-88C2-F3B60E10625B}"/>
              </a:ext>
            </a:extLst>
          </p:cNvPr>
          <p:cNvSpPr/>
          <p:nvPr/>
        </p:nvSpPr>
        <p:spPr>
          <a:xfrm>
            <a:off x="7186149" y="4239583"/>
            <a:ext cx="4123431" cy="907876"/>
          </a:xfrm>
          <a:prstGeom prst="rect">
            <a:avLst/>
          </a:prstGeom>
          <a:solidFill>
            <a:schemeClr val="accent4">
              <a:lumMod val="40000"/>
              <a:lumOff val="6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FA4A8D-19F1-4182-3575-863C03C1CD98}"/>
              </a:ext>
            </a:extLst>
          </p:cNvPr>
          <p:cNvSpPr/>
          <p:nvPr/>
        </p:nvSpPr>
        <p:spPr>
          <a:xfrm>
            <a:off x="7173207" y="5218216"/>
            <a:ext cx="4123431" cy="460564"/>
          </a:xfrm>
          <a:prstGeom prst="rect">
            <a:avLst/>
          </a:prstGeom>
          <a:solidFill>
            <a:schemeClr val="accent5">
              <a:lumMod val="40000"/>
              <a:lumOff val="6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4811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72DCB-FEB0-2455-2379-CC90BFDA1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3E18D-F69E-E774-3CA7-9F82B858A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Data - Measured</a:t>
            </a:r>
            <a:r>
              <a:rPr lang="he-IL" dirty="0"/>
              <a:t> effect sizes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FC13F-E2D6-F3BB-8E83-72EE21597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252" y="1450456"/>
            <a:ext cx="10445496" cy="4801998"/>
          </a:xfrm>
        </p:spPr>
        <p:txBody>
          <a:bodyPr>
            <a:normAutofit/>
          </a:bodyPr>
          <a:lstStyle/>
          <a:p>
            <a:r>
              <a:rPr lang="he-IL" sz="2400" dirty="0"/>
              <a:t>Effect size answers:</a:t>
            </a:r>
          </a:p>
          <a:p>
            <a:pPr lvl="1"/>
            <a:r>
              <a:rPr lang="he-IL" sz="2000" dirty="0"/>
              <a:t>How large is the observed difference?</a:t>
            </a:r>
          </a:p>
          <a:p>
            <a:r>
              <a:rPr lang="he-IL" sz="2400" dirty="0"/>
              <a:t>Hypothesis testing answers:</a:t>
            </a:r>
          </a:p>
          <a:p>
            <a:pPr lvl="1"/>
            <a:r>
              <a:rPr lang="en-US" sz="2000" dirty="0"/>
              <a:t>Is</a:t>
            </a:r>
            <a:r>
              <a:rPr lang="he-IL" sz="2000" dirty="0"/>
              <a:t> the data difficult to explain under the null model?</a:t>
            </a:r>
          </a:p>
          <a:p>
            <a:endParaRPr lang="en-US" sz="2400" dirty="0"/>
          </a:p>
          <a:p>
            <a:r>
              <a:rPr lang="he-IL" sz="2400" dirty="0"/>
              <a:t>A small effect can become statistically significant with a very large sample</a:t>
            </a:r>
            <a:r>
              <a:rPr lang="en-US" sz="2400" dirty="0"/>
              <a:t>.</a:t>
            </a:r>
            <a:r>
              <a:rPr lang="he-IL" sz="2400" dirty="0"/>
              <a:t> </a:t>
            </a:r>
          </a:p>
          <a:p>
            <a:r>
              <a:rPr lang="he-IL" sz="2400" dirty="0"/>
              <a:t>A large observed effect can remain uncertain with a small sample.</a:t>
            </a:r>
          </a:p>
          <a:p>
            <a:endParaRPr lang="he-IL" sz="2400" dirty="0"/>
          </a:p>
          <a:p>
            <a:pPr marL="0" indent="0">
              <a:buNone/>
            </a:pPr>
            <a:endParaRPr lang="en-US" sz="2400" dirty="0">
              <a:cs typeface="David" panose="020E0502060401010101" pitchFamily="34" charset="-79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13A5A60-4229-29A4-8AD6-C35DE6C76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12482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89253-7F68-87CA-3791-38A4E2701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3BE72-0DE7-AE9A-3BEC-89BEA227B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Bayesian </a:t>
            </a:r>
            <a:r>
              <a:rPr lang="he-IL" dirty="0"/>
              <a:t>Hypothesis Testing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F822FF-2CB0-A74F-9D69-F8F250A5C1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>
                    <a:cs typeface="David" panose="020E0502060401010101" pitchFamily="34" charset="-79"/>
                  </a:rPr>
                  <a:t>We calculated the observed difference</a:t>
                </a:r>
              </a:p>
              <a:p>
                <a:r>
                  <a:rPr lang="en-US" sz="2400" dirty="0">
                    <a:cs typeface="David" panose="020E0502060401010101" pitchFamily="34" charset="-79"/>
                  </a:rPr>
                  <a:t>let’s see what does the model say about the difference after accounting for uncertainty.</a:t>
                </a:r>
              </a:p>
              <a:p>
                <a:r>
                  <a:rPr lang="en-US" sz="2400" dirty="0">
                    <a:cs typeface="David" panose="020E0502060401010101" pitchFamily="34" charset="-79"/>
                  </a:rPr>
                  <a:t>We do not only compare one observed number to a null value.</a:t>
                </a:r>
                <a:br>
                  <a:rPr lang="en-US" sz="2400" dirty="0">
                    <a:cs typeface="David" panose="020E0502060401010101" pitchFamily="34" charset="-79"/>
                  </a:rPr>
                </a:br>
                <a:r>
                  <a:rPr lang="en-US" sz="2400" dirty="0">
                    <a:cs typeface="David" panose="020E0502060401010101" pitchFamily="34" charset="-79"/>
                  </a:rPr>
                  <a:t>Instead, we examine the posterior distribution of the effect: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0" dirty="0" smtClean="0">
                          <a:latin typeface="Cambria Math" panose="02040503050406030204" pitchFamily="18" charset="0"/>
                          <a:cs typeface="David" panose="020E0502060401010101" pitchFamily="34" charset="-79"/>
                        </a:rPr>
                        <m:t>Δ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cs typeface="David" panose="020E0502060401010101" pitchFamily="34" charset="-79"/>
                        </a:rPr>
                        <m:t>=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cs typeface="David" panose="020E0502060401010101" pitchFamily="34" charset="-79"/>
                            </a:rPr>
                            <m:t>𝜃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 panose="02040503050406030204" pitchFamily="18" charset="0"/>
                              <a:cs typeface="David" panose="020E0502060401010101" pitchFamily="34" charset="-79"/>
                            </a:rPr>
                            <m:t>𝐴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  <a:cs typeface="David" panose="020E0502060401010101" pitchFamily="34" charset="-79"/>
                        </a:rPr>
                        <m:t>−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  <a:cs typeface="David" panose="020E0502060401010101" pitchFamily="34" charset="-79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cs typeface="David" panose="020E0502060401010101" pitchFamily="34" charset="-79"/>
                            </a:rPr>
                            <m:t>𝜃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 panose="02040503050406030204" pitchFamily="18" charset="0"/>
                              <a:cs typeface="David" panose="020E0502060401010101" pitchFamily="34" charset="-79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>
                  <a:cs typeface="David" panose="020E0502060401010101" pitchFamily="34" charset="-79"/>
                </a:endParaRPr>
              </a:p>
              <a:p>
                <a:r>
                  <a:rPr lang="en-US" sz="2400" dirty="0">
                    <a:cs typeface="David" panose="020E0502060401010101" pitchFamily="34" charset="-79"/>
                  </a:rPr>
                  <a:t>This allows us to ask:</a:t>
                </a:r>
              </a:p>
              <a:p>
                <a:pPr lvl="1"/>
                <a:r>
                  <a:rPr lang="en-US" sz="2000" dirty="0">
                    <a:cs typeface="David" panose="020E0502060401010101" pitchFamily="34" charset="-79"/>
                  </a:rPr>
                  <a:t>Is most of the posterior above or below 0? </a:t>
                </a:r>
              </a:p>
              <a:p>
                <a:pPr lvl="1"/>
                <a:r>
                  <a:rPr lang="en-US" sz="2000" dirty="0">
                    <a:cs typeface="David" panose="020E0502060401010101" pitchFamily="34" charset="-79"/>
                  </a:rPr>
                  <a:t>Does the HDI include the null value? </a:t>
                </a:r>
              </a:p>
              <a:p>
                <a:pPr lvl="1"/>
                <a:r>
                  <a:rPr lang="en-US" sz="2000" dirty="0">
                    <a:cs typeface="David" panose="020E0502060401010101" pitchFamily="34" charset="-79"/>
                  </a:rPr>
                  <a:t>Is the difference practically meaningful? </a:t>
                </a:r>
              </a:p>
              <a:p>
                <a:pPr marL="0" indent="0">
                  <a:buNone/>
                </a:pPr>
                <a:endParaRPr lang="en-US" sz="2400" dirty="0">
                  <a:cs typeface="David" panose="020E0502060401010101" pitchFamily="34" charset="-79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F822FF-2CB0-A74F-9D69-F8F250A5C1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  <a:blipFill>
                <a:blip r:embed="rId3"/>
                <a:stretch>
                  <a:fillRect l="-817" t="-165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67F65BBB-8E9B-B42F-EB31-D3080C293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17</a:t>
            </a:fld>
            <a:endParaRPr lang="LID4096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4DBFB1-823B-F2F7-6FD1-A723504F59C9}"/>
              </a:ext>
            </a:extLst>
          </p:cNvPr>
          <p:cNvSpPr txBox="1">
            <a:spLocks/>
          </p:cNvSpPr>
          <p:nvPr/>
        </p:nvSpPr>
        <p:spPr>
          <a:xfrm>
            <a:off x="873252" y="1450456"/>
            <a:ext cx="10445496" cy="4801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10765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53482-6C2D-F9A5-5831-2302F68EC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A0487-9E73-D445-0626-10839972F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Bayesian modeling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44D07-647E-477D-677E-7AE7013BD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2771"/>
            <a:ext cx="10445496" cy="4801998"/>
          </a:xfrm>
        </p:spPr>
        <p:txBody>
          <a:bodyPr>
            <a:normAutofit/>
          </a:bodyPr>
          <a:lstStyle/>
          <a:p>
            <a:endParaRPr lang="he-IL" sz="2400" dirty="0"/>
          </a:p>
          <a:p>
            <a:pPr marL="0" indent="0">
              <a:buNone/>
            </a:pPr>
            <a:endParaRPr lang="en-US" sz="2400" dirty="0">
              <a:cs typeface="David" panose="020E0502060401010101" pitchFamily="34" charset="-79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6CF8115-C864-29DE-ED80-C3FECB466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18</a:t>
            </a:fld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16BA75-B9A0-5EEE-5346-D605DB458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124" y="1733276"/>
            <a:ext cx="7849695" cy="378195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E75AE39-F93C-0A59-4FE2-84894743790F}"/>
              </a:ext>
            </a:extLst>
          </p:cNvPr>
          <p:cNvSpPr/>
          <p:nvPr/>
        </p:nvSpPr>
        <p:spPr>
          <a:xfrm>
            <a:off x="2351314" y="3701143"/>
            <a:ext cx="6389915" cy="979714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13576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1B09E-89EC-F442-FA44-B654F3BA8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9080F-1E01-7E07-273B-E881BE9FE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 err="1"/>
              <a:t>Idata</a:t>
            </a:r>
            <a:r>
              <a:rPr lang="en-US" dirty="0"/>
              <a:t> with </a:t>
            </a:r>
            <a:r>
              <a:rPr lang="he-IL" dirty="0"/>
              <a:t>pm.Deterministic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201C3-85CA-38CF-FC8C-743A3CFBF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661" y="1346560"/>
            <a:ext cx="10445496" cy="4801998"/>
          </a:xfrm>
        </p:spPr>
        <p:txBody>
          <a:bodyPr>
            <a:normAutofit/>
          </a:bodyPr>
          <a:lstStyle/>
          <a:p>
            <a:endParaRPr lang="he-IL" sz="2400" dirty="0"/>
          </a:p>
          <a:p>
            <a:pPr marL="0" indent="0">
              <a:buNone/>
            </a:pPr>
            <a:endParaRPr lang="en-US" sz="2400" dirty="0">
              <a:cs typeface="David" panose="020E0502060401010101" pitchFamily="34" charset="-79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43D206CE-BDB3-BC27-C9B2-DA23F1D58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19</a:t>
            </a:fld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931BCD-1D4C-78A6-932B-6BA7930C5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62294"/>
            <a:ext cx="4820753" cy="509405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371F726-4949-4091-8979-E8FDE63B0AF7}"/>
              </a:ext>
            </a:extLst>
          </p:cNvPr>
          <p:cNvSpPr/>
          <p:nvPr/>
        </p:nvSpPr>
        <p:spPr>
          <a:xfrm>
            <a:off x="2950028" y="3984409"/>
            <a:ext cx="2730695" cy="2517970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9001E0-CB73-A487-50D4-1A6134A56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5592" y="1770199"/>
            <a:ext cx="5732575" cy="331760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E90DFD0-5668-55AE-5BA6-608F4A2CA7A0}"/>
              </a:ext>
            </a:extLst>
          </p:cNvPr>
          <p:cNvSpPr/>
          <p:nvPr/>
        </p:nvSpPr>
        <p:spPr>
          <a:xfrm>
            <a:off x="6484791" y="3838197"/>
            <a:ext cx="5249234" cy="217802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723818-A03E-9003-9EF0-160CC8E01C8C}"/>
              </a:ext>
            </a:extLst>
          </p:cNvPr>
          <p:cNvSpPr/>
          <p:nvPr/>
        </p:nvSpPr>
        <p:spPr>
          <a:xfrm>
            <a:off x="6484792" y="4603856"/>
            <a:ext cx="5249234" cy="406351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56277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1D3E7-6A38-C997-BB84-C75EC832B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58F7F-4C12-B98C-7C15-2F186DF98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he-IL" dirty="0"/>
              <a:t>What comparison are we making?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E3A17D-5C12-7A1F-6897-998DB8CF80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</p:spPr>
            <p:txBody>
              <a:bodyPr>
                <a:normAutofit/>
              </a:bodyPr>
              <a:lstStyle/>
              <a:p>
                <a:r>
                  <a:rPr lang="he-IL" sz="2400" dirty="0"/>
                  <a:t>In the hierarchical model: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he-IL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he-IL" sz="240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he-IL" sz="2400" i="1">
                          <a:latin typeface="Cambria Math" panose="02040503050406030204" pitchFamily="18" charset="0"/>
                        </a:rPr>
                        <m:t>𝐵𝑒𝑡𝑎</m:t>
                      </m:r>
                      <m:d>
                        <m:dPr>
                          <m:sepChr m:val=","/>
                          <m:ctrlPr>
                            <a:rPr lang="he-IL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e-IL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he-IL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he-IL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2400" i="1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b>
                              <m:r>
                                <a:rPr lang="he-IL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he-IL" sz="2400" dirty="0"/>
              </a:p>
              <a:p>
                <a:r>
                  <a:rPr lang="he-IL" sz="2400" dirty="0" err="1"/>
                  <a:t>All</a:t>
                </a:r>
                <a:r>
                  <a:rPr lang="he-IL" sz="2400" dirty="0"/>
                  <a:t> countries are connected through shared hyperparameters: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he-IL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he-IL" sz="240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he-IL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sz="2400" i="1"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he-IL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</m:oMath>
                  </m:oMathPara>
                </a14:m>
                <a:endParaRPr lang="he-IL" sz="2000" dirty="0"/>
              </a:p>
              <a:p>
                <a:r>
                  <a:rPr lang="he-IL" sz="2400" dirty="0"/>
                  <a:t>This creates </a:t>
                </a:r>
                <a:r>
                  <a:rPr lang="he-IL" sz="2400" b="1" dirty="0"/>
                  <a:t>information sharing</a:t>
                </a:r>
                <a:r>
                  <a:rPr lang="he-IL" sz="2400" dirty="0"/>
                  <a:t> across countries.</a:t>
                </a:r>
                <a:endParaRPr lang="en-US" sz="2400" dirty="0"/>
              </a:p>
              <a:p>
                <a:endParaRPr lang="en-US" sz="2400" dirty="0"/>
              </a:p>
              <a:p>
                <a:r>
                  <a:rPr lang="he-IL" sz="2400" dirty="0"/>
                  <a:t>What is the posterior difference between the two countries after partial pooling?</a:t>
                </a:r>
              </a:p>
              <a:p>
                <a:r>
                  <a:rPr lang="he-IL" sz="2400" dirty="0"/>
                  <a:t>It is </a:t>
                </a:r>
                <a:r>
                  <a:rPr lang="he-IL" sz="2400" b="1" dirty="0"/>
                  <a:t>not</a:t>
                </a:r>
                <a:r>
                  <a:rPr lang="he-IL" sz="2400" dirty="0"/>
                  <a:t> the </a:t>
                </a:r>
                <a:r>
                  <a:rPr lang="en-US" sz="2400" dirty="0"/>
                  <a:t>s</a:t>
                </a:r>
                <a:r>
                  <a:rPr lang="he-IL" sz="2400" dirty="0" err="1"/>
                  <a:t>ame</a:t>
                </a:r>
                <a:r>
                  <a:rPr lang="he-IL" sz="2400" dirty="0"/>
                  <a:t> </a:t>
                </a:r>
                <a:r>
                  <a:rPr lang="he-IL" sz="2400" dirty="0" err="1"/>
                  <a:t>as</a:t>
                </a:r>
                <a:r>
                  <a:rPr lang="he-IL" sz="2400" dirty="0"/>
                  <a:t>:</a:t>
                </a:r>
              </a:p>
              <a:p>
                <a:r>
                  <a:rPr lang="he-IL" sz="2400" dirty="0"/>
                  <a:t>What happens if we compare only these two countries independently?</a:t>
                </a:r>
                <a:endParaRPr lang="en-US" sz="2400" dirty="0"/>
              </a:p>
              <a:p>
                <a:r>
                  <a:rPr lang="en-US" sz="2400" dirty="0"/>
                  <a:t>Both are fine - know the difference</a:t>
                </a:r>
                <a:endParaRPr lang="he-IL" sz="2400" dirty="0"/>
              </a:p>
              <a:p>
                <a:endParaRPr lang="he-IL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E3A17D-5C12-7A1F-6897-998DB8CF80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  <a:blipFill>
                <a:blip r:embed="rId3"/>
                <a:stretch>
                  <a:fillRect l="-817" t="-190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CF29D66-FD7E-7BD9-083A-7FDB3A784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20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05535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F0BDC-007B-0C09-CFD1-F2E7F0E76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593BA-FF15-0991-FF5D-0273BD8CC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Bayesian modeling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0F487-BCBC-C4D2-4B33-0950F8921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2771"/>
            <a:ext cx="10445496" cy="4801998"/>
          </a:xfrm>
        </p:spPr>
        <p:txBody>
          <a:bodyPr>
            <a:normAutofit/>
          </a:bodyPr>
          <a:lstStyle/>
          <a:p>
            <a:endParaRPr lang="he-IL" sz="2400" dirty="0"/>
          </a:p>
          <a:p>
            <a:pPr marL="0" indent="0">
              <a:buNone/>
            </a:pPr>
            <a:endParaRPr lang="en-US" sz="2400" dirty="0">
              <a:cs typeface="David" panose="020E0502060401010101" pitchFamily="34" charset="-79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0C18BAA3-E315-5449-77AE-295F7F16C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21</a:t>
            </a:fld>
            <a:endParaRPr lang="LID4096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797F38F-0D64-5E2C-931F-003CF264B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711" y="2590725"/>
            <a:ext cx="11570474" cy="2610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716E5DB-02CD-CFFF-DD24-F6E4C5A32A80}"/>
              </a:ext>
            </a:extLst>
          </p:cNvPr>
          <p:cNvSpPr txBox="1">
            <a:spLocks/>
          </p:cNvSpPr>
          <p:nvPr/>
        </p:nvSpPr>
        <p:spPr>
          <a:xfrm>
            <a:off x="990600" y="1495171"/>
            <a:ext cx="10445496" cy="4801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Posterior results</a:t>
            </a:r>
          </a:p>
          <a:p>
            <a:pPr marL="0" indent="0">
              <a:buNone/>
            </a:pPr>
            <a:endParaRPr lang="en-US" sz="2400" dirty="0"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875010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5E5B7-30CC-8233-902C-434CA6FCB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2CB64-0690-7D21-4F2B-27CF98717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Model - E</a:t>
            </a:r>
            <a:r>
              <a:rPr lang="he-IL" dirty="0"/>
              <a:t>ffect size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6BA21-6C77-B95E-8E6F-9A97A8F0A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2771"/>
            <a:ext cx="10445496" cy="4801998"/>
          </a:xfrm>
        </p:spPr>
        <p:txBody>
          <a:bodyPr>
            <a:normAutofit/>
          </a:bodyPr>
          <a:lstStyle/>
          <a:p>
            <a:r>
              <a:rPr lang="en-US" sz="2400" dirty="0">
                <a:cs typeface="David" panose="020E0502060401010101" pitchFamily="34" charset="-79"/>
              </a:rPr>
              <a:t>We can also calculate the different effect sizes: </a:t>
            </a:r>
          </a:p>
          <a:p>
            <a:endParaRPr lang="he-IL" sz="2000" dirty="0">
              <a:cs typeface="David" panose="020E0502060401010101" pitchFamily="34" charset="-79"/>
            </a:endParaRPr>
          </a:p>
          <a:p>
            <a:endParaRPr lang="he-IL" sz="2400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35D431A-90AB-2B8A-4F54-6A01C3D22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22</a:t>
            </a:fld>
            <a:endParaRPr lang="LID4096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442C2F-C0CB-1E28-4821-06CC4D96B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25" y="2111659"/>
            <a:ext cx="6435321" cy="36231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71C684-138B-CB27-53AC-1462ABEF5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008" y="3113315"/>
            <a:ext cx="5966963" cy="2297056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7AE13CA-76E9-2992-3CFE-24444B4EE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307432"/>
              </p:ext>
            </p:extLst>
          </p:nvPr>
        </p:nvGraphicFramePr>
        <p:xfrm>
          <a:off x="9642187" y="5567451"/>
          <a:ext cx="2163784" cy="1050307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89938">
                  <a:extLst>
                    <a:ext uri="{9D8B030D-6E8A-4147-A177-3AD203B41FA5}">
                      <a16:colId xmlns:a16="http://schemas.microsoft.com/office/drawing/2014/main" val="1297009625"/>
                    </a:ext>
                  </a:extLst>
                </a:gridCol>
                <a:gridCol w="1173846">
                  <a:extLst>
                    <a:ext uri="{9D8B030D-6E8A-4147-A177-3AD203B41FA5}">
                      <a16:colId xmlns:a16="http://schemas.microsoft.com/office/drawing/2014/main" val="3165029512"/>
                    </a:ext>
                  </a:extLst>
                </a:gridCol>
              </a:tblGrid>
              <a:tr h="273067">
                <a:tc>
                  <a:txBody>
                    <a:bodyPr/>
                    <a:lstStyle/>
                    <a:p>
                      <a:r>
                        <a:rPr lang="en-US" sz="1100" dirty="0"/>
                        <a:t>|Cohen’s h| </a:t>
                      </a:r>
                      <a:endParaRPr lang="en-I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Effect size</a:t>
                      </a:r>
                      <a:endParaRPr lang="en-IL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8041023"/>
                  </a:ext>
                </a:extLst>
              </a:tr>
              <a:tr h="219539">
                <a:tc>
                  <a:txBody>
                    <a:bodyPr/>
                    <a:lstStyle/>
                    <a:p>
                      <a:r>
                        <a:rPr lang="en-US" sz="1100" dirty="0"/>
                        <a:t>0.2</a:t>
                      </a:r>
                      <a:endParaRPr lang="en-I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Small</a:t>
                      </a:r>
                      <a:endParaRPr lang="en-IL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25859"/>
                  </a:ext>
                </a:extLst>
              </a:tr>
              <a:tr h="219539">
                <a:tc>
                  <a:txBody>
                    <a:bodyPr/>
                    <a:lstStyle/>
                    <a:p>
                      <a:r>
                        <a:rPr lang="en-US" sz="1100" dirty="0"/>
                        <a:t>0.5</a:t>
                      </a:r>
                      <a:endParaRPr lang="en-I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Medium</a:t>
                      </a:r>
                      <a:endParaRPr lang="en-IL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339789"/>
                  </a:ext>
                </a:extLst>
              </a:tr>
              <a:tr h="219539">
                <a:tc>
                  <a:txBody>
                    <a:bodyPr/>
                    <a:lstStyle/>
                    <a:p>
                      <a:r>
                        <a:rPr lang="en-US" sz="1100" dirty="0"/>
                        <a:t>0.8</a:t>
                      </a:r>
                      <a:endParaRPr lang="en-I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Large</a:t>
                      </a:r>
                      <a:endParaRPr lang="en-IL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292316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84D1D6A0-83BC-574A-5CEE-3859D48D3421}"/>
              </a:ext>
            </a:extLst>
          </p:cNvPr>
          <p:cNvSpPr/>
          <p:nvPr/>
        </p:nvSpPr>
        <p:spPr>
          <a:xfrm>
            <a:off x="315925" y="2058356"/>
            <a:ext cx="6251961" cy="970513"/>
          </a:xfrm>
          <a:prstGeom prst="rect">
            <a:avLst/>
          </a:prstGeom>
          <a:solidFill>
            <a:srgbClr val="FFC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5428EF-667C-97B5-48A8-5F3ED92E3A8F}"/>
              </a:ext>
            </a:extLst>
          </p:cNvPr>
          <p:cNvSpPr/>
          <p:nvPr/>
        </p:nvSpPr>
        <p:spPr>
          <a:xfrm>
            <a:off x="315925" y="3113314"/>
            <a:ext cx="5184169" cy="407289"/>
          </a:xfrm>
          <a:prstGeom prst="rect">
            <a:avLst/>
          </a:prstGeom>
          <a:solidFill>
            <a:schemeClr val="accent6">
              <a:lumMod val="40000"/>
              <a:lumOff val="6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C97144-80E2-CF64-E30C-0DD00579ECB1}"/>
              </a:ext>
            </a:extLst>
          </p:cNvPr>
          <p:cNvSpPr/>
          <p:nvPr/>
        </p:nvSpPr>
        <p:spPr>
          <a:xfrm>
            <a:off x="315925" y="3605048"/>
            <a:ext cx="5184169" cy="1162105"/>
          </a:xfrm>
          <a:prstGeom prst="rect">
            <a:avLst/>
          </a:prstGeom>
          <a:solidFill>
            <a:schemeClr val="accent4">
              <a:lumMod val="40000"/>
              <a:lumOff val="6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55C406-3C98-42AA-F478-0BAED84F7FA0}"/>
              </a:ext>
            </a:extLst>
          </p:cNvPr>
          <p:cNvSpPr/>
          <p:nvPr/>
        </p:nvSpPr>
        <p:spPr>
          <a:xfrm>
            <a:off x="315925" y="4851598"/>
            <a:ext cx="4066889" cy="967680"/>
          </a:xfrm>
          <a:prstGeom prst="rect">
            <a:avLst/>
          </a:prstGeom>
          <a:solidFill>
            <a:schemeClr val="accent5">
              <a:lumMod val="40000"/>
              <a:lumOff val="6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16615C-F0CE-5F09-5FD7-D0CCE8F385C2}"/>
              </a:ext>
            </a:extLst>
          </p:cNvPr>
          <p:cNvSpPr/>
          <p:nvPr/>
        </p:nvSpPr>
        <p:spPr>
          <a:xfrm>
            <a:off x="5891492" y="3584028"/>
            <a:ext cx="5966964" cy="325822"/>
          </a:xfrm>
          <a:prstGeom prst="rect">
            <a:avLst/>
          </a:prstGeom>
          <a:solidFill>
            <a:srgbClr val="FFC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77074-03AD-FEDE-DC1A-9DABC5EC17BE}"/>
              </a:ext>
            </a:extLst>
          </p:cNvPr>
          <p:cNvSpPr/>
          <p:nvPr/>
        </p:nvSpPr>
        <p:spPr>
          <a:xfrm>
            <a:off x="5890718" y="3925039"/>
            <a:ext cx="5966964" cy="325822"/>
          </a:xfrm>
          <a:prstGeom prst="rect">
            <a:avLst/>
          </a:prstGeom>
          <a:solidFill>
            <a:schemeClr val="accent6">
              <a:lumMod val="40000"/>
              <a:lumOff val="6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56AE70-4402-43E8-45F2-42B3A6B07310}"/>
              </a:ext>
            </a:extLst>
          </p:cNvPr>
          <p:cNvSpPr/>
          <p:nvPr/>
        </p:nvSpPr>
        <p:spPr>
          <a:xfrm>
            <a:off x="5909111" y="4308928"/>
            <a:ext cx="5966964" cy="623597"/>
          </a:xfrm>
          <a:prstGeom prst="rect">
            <a:avLst/>
          </a:prstGeom>
          <a:solidFill>
            <a:schemeClr val="accent4">
              <a:lumMod val="40000"/>
              <a:lumOff val="6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8A77A8-A2C1-8531-9429-E5AA58120B32}"/>
              </a:ext>
            </a:extLst>
          </p:cNvPr>
          <p:cNvSpPr/>
          <p:nvPr/>
        </p:nvSpPr>
        <p:spPr>
          <a:xfrm>
            <a:off x="5909111" y="4974582"/>
            <a:ext cx="5966964" cy="325822"/>
          </a:xfrm>
          <a:prstGeom prst="rect">
            <a:avLst/>
          </a:prstGeom>
          <a:solidFill>
            <a:schemeClr val="accent5">
              <a:lumMod val="40000"/>
              <a:lumOff val="6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16232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3AD29-3A09-A706-1F71-C23FDCE9E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FC71D-5D7C-0217-EED8-6C16206E3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he-IL" dirty="0"/>
              <a:t>Bayesian </a:t>
            </a:r>
            <a:r>
              <a:rPr lang="en-US" dirty="0"/>
              <a:t>P</a:t>
            </a:r>
            <a:r>
              <a:rPr lang="he-IL" dirty="0"/>
              <a:t>osterior </a:t>
            </a:r>
            <a:r>
              <a:rPr lang="en-US" dirty="0"/>
              <a:t>C</a:t>
            </a:r>
            <a:r>
              <a:rPr lang="he-IL" dirty="0"/>
              <a:t>omparison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275633-D39F-EC86-E60C-EE3A8E536E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>
                    <a:cs typeface="David" panose="020E0502060401010101" pitchFamily="34" charset="-79"/>
                  </a:rPr>
                  <a:t>Interpret </a:t>
                </a:r>
                <a:r>
                  <a:rPr lang="he-IL" sz="2400" dirty="0">
                    <a:cs typeface="David" panose="020E0502060401010101" pitchFamily="34" charset="-79"/>
                  </a:rPr>
                  <a:t>the posterior distribution of: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he-IL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he-IL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e-I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he-IL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he-IL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he-I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he-IL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dirty="0">
                  <a:cs typeface="David" panose="020E0502060401010101" pitchFamily="34" charset="-79"/>
                </a:endParaRPr>
              </a:p>
              <a:p>
                <a:endParaRPr lang="en-US" sz="2400" dirty="0">
                  <a:cs typeface="David" panose="020E0502060401010101" pitchFamily="34" charset="-79"/>
                </a:endParaRPr>
              </a:p>
              <a:p>
                <a:r>
                  <a:rPr lang="en-US" sz="2400" dirty="0">
                    <a:cs typeface="David" panose="020E0502060401010101" pitchFamily="34" charset="-79"/>
                  </a:rPr>
                  <a:t>S</a:t>
                </a:r>
                <a:r>
                  <a:rPr lang="he-IL" sz="2400" dirty="0">
                    <a:cs typeface="David" panose="020E0502060401010101" pitchFamily="34" charset="-79"/>
                  </a:rPr>
                  <a:t>hould calculate and interpret</a:t>
                </a:r>
                <a:r>
                  <a:rPr lang="en-US" sz="2400" dirty="0">
                    <a:cs typeface="David" panose="020E0502060401010101" pitchFamily="34" charset="-79"/>
                  </a:rPr>
                  <a:t>:</a:t>
                </a:r>
                <a:endParaRPr lang="he-IL" sz="2400" dirty="0">
                  <a:cs typeface="David" panose="020E0502060401010101" pitchFamily="34" charset="-79"/>
                </a:endParaRPr>
              </a:p>
              <a:p>
                <a:pPr lvl="1"/>
                <a:r>
                  <a:rPr lang="he-IL" sz="2000" dirty="0">
                    <a:cs typeface="David" panose="020E0502060401010101" pitchFamily="34" charset="-79"/>
                  </a:rPr>
                  <a:t>Posterior </a:t>
                </a:r>
                <a:r>
                  <a:rPr lang="he-IL" sz="2000" dirty="0" err="1">
                    <a:cs typeface="David" panose="020E0502060401010101" pitchFamily="34" charset="-79"/>
                  </a:rPr>
                  <a:t>mean</a:t>
                </a:r>
                <a:r>
                  <a:rPr lang="he-IL" sz="2000" dirty="0">
                    <a:cs typeface="David" panose="020E0502060401010101" pitchFamily="34" charset="-79"/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e-IL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endParaRPr lang="he-IL" sz="2000" dirty="0">
                  <a:cs typeface="David" panose="020E0502060401010101" pitchFamily="34" charset="-79"/>
                </a:endParaRPr>
              </a:p>
              <a:p>
                <a:pPr lvl="1"/>
                <a:r>
                  <a:rPr lang="he-IL" sz="2000" dirty="0">
                    <a:cs typeface="David" panose="020E0502060401010101" pitchFamily="34" charset="-79"/>
                  </a:rPr>
                  <a:t>Posterior </a:t>
                </a:r>
                <a:r>
                  <a:rPr lang="he-IL" sz="2000" dirty="0" err="1">
                    <a:cs typeface="David" panose="020E0502060401010101" pitchFamily="34" charset="-79"/>
                  </a:rPr>
                  <a:t>median</a:t>
                </a:r>
                <a:r>
                  <a:rPr lang="he-IL" sz="2000" dirty="0">
                    <a:cs typeface="David" panose="020E0502060401010101" pitchFamily="34" charset="-79"/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e-IL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endParaRPr lang="he-IL" sz="2000" dirty="0">
                  <a:cs typeface="David" panose="020E0502060401010101" pitchFamily="34" charset="-79"/>
                </a:endParaRPr>
              </a:p>
              <a:p>
                <a:pPr lvl="1"/>
                <a:r>
                  <a:rPr lang="he-IL" sz="2000" dirty="0">
                    <a:cs typeface="David" panose="020E0502060401010101" pitchFamily="34" charset="-79"/>
                  </a:rPr>
                  <a:t>94% HDI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he-IL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he-IL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he-IL" sz="20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he-IL" sz="200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he-IL" sz="20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he-IL" sz="20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he-IL" sz="2000" i="1">
                            <a:latin typeface="Cambria Math" panose="02040503050406030204" pitchFamily="18" charset="0"/>
                          </a:rPr>
                          <m:t>𝑑𝑎𝑡𝑎</m:t>
                        </m:r>
                      </m:e>
                    </m:d>
                  </m:oMath>
                </a14:m>
                <a:endParaRPr lang="he-IL" sz="1800" dirty="0">
                  <a:cs typeface="David" panose="020E0502060401010101" pitchFamily="34" charset="-79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he-IL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he-IL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he-IL" sz="20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he-IL" sz="200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he-IL" sz="20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he-IL" sz="20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he-IL" sz="2000" i="1">
                            <a:latin typeface="Cambria Math" panose="02040503050406030204" pitchFamily="18" charset="0"/>
                          </a:rPr>
                          <m:t>𝑑𝑎𝑡𝑎</m:t>
                        </m:r>
                      </m:e>
                    </m:d>
                  </m:oMath>
                </a14:m>
                <a:endParaRPr lang="he-IL" sz="2000" dirty="0">
                  <a:cs typeface="David" panose="020E0502060401010101" pitchFamily="34" charset="-79"/>
                </a:endParaRPr>
              </a:p>
              <a:p>
                <a:endParaRPr lang="he-IL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275633-D39F-EC86-E60C-EE3A8E536E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  <a:blipFill>
                <a:blip r:embed="rId3"/>
                <a:stretch>
                  <a:fillRect l="-817" t="-165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4A25EF6B-8735-258C-120D-C84C5E84A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23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13704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B3791-BAC0-66F5-1121-424F777AC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F3B4A-6F7F-6A50-A7A8-61FCAC6F6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he-IL" dirty="0"/>
              <a:t>Bayesian </a:t>
            </a:r>
            <a:r>
              <a:rPr lang="en-US" dirty="0"/>
              <a:t>P</a:t>
            </a:r>
            <a:r>
              <a:rPr lang="he-IL" dirty="0"/>
              <a:t>osterior </a:t>
            </a:r>
            <a:r>
              <a:rPr lang="en-US" dirty="0"/>
              <a:t>C</a:t>
            </a:r>
            <a:r>
              <a:rPr lang="he-IL" dirty="0"/>
              <a:t>omparison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BDD2C-E2DD-C957-1547-DB139C72C9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>
                    <a:cs typeface="David" panose="020E0502060401010101" pitchFamily="34" charset="-79"/>
                  </a:rPr>
                  <a:t>A</a:t>
                </a:r>
                <a:r>
                  <a:rPr lang="he-IL" sz="2400" dirty="0" err="1">
                    <a:cs typeface="David" panose="020E0502060401010101" pitchFamily="34" charset="-79"/>
                  </a:rPr>
                  <a:t>fter</a:t>
                </a:r>
                <a:r>
                  <a:rPr lang="he-IL" sz="2400" dirty="0">
                    <a:cs typeface="David" panose="020E0502060401010101" pitchFamily="34" charset="-79"/>
                  </a:rPr>
                  <a:t> fitting the model, interpret the posterior distribution of: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he-IL" sz="240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he-IL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e-IL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he-IL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he-IL" sz="24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he-IL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he-IL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sz="2400" dirty="0">
                  <a:cs typeface="David" panose="020E0502060401010101" pitchFamily="34" charset="-79"/>
                </a:endParaRPr>
              </a:p>
              <a:p>
                <a:endParaRPr lang="en-US" sz="2400" dirty="0">
                  <a:cs typeface="David" panose="020E0502060401010101" pitchFamily="34" charset="-79"/>
                </a:endParaRPr>
              </a:p>
              <a:p>
                <a:r>
                  <a:rPr lang="en-US" sz="2400" dirty="0">
                    <a:cs typeface="David" panose="020E0502060401010101" pitchFamily="34" charset="-79"/>
                  </a:rPr>
                  <a:t>S</a:t>
                </a:r>
                <a:r>
                  <a:rPr lang="he-IL" sz="2400" dirty="0">
                    <a:cs typeface="David" panose="020E0502060401010101" pitchFamily="34" charset="-79"/>
                  </a:rPr>
                  <a:t>hould calculate and interpret</a:t>
                </a:r>
                <a:r>
                  <a:rPr lang="en-US" sz="2400" dirty="0">
                    <a:cs typeface="David" panose="020E0502060401010101" pitchFamily="34" charset="-79"/>
                  </a:rPr>
                  <a:t>:</a:t>
                </a:r>
                <a:endParaRPr lang="he-IL" sz="2400" dirty="0">
                  <a:cs typeface="David" panose="020E0502060401010101" pitchFamily="34" charset="-79"/>
                </a:endParaRPr>
              </a:p>
              <a:p>
                <a:pPr lvl="1"/>
                <a:r>
                  <a:rPr lang="he-IL" sz="2000" dirty="0">
                    <a:cs typeface="David" panose="020E0502060401010101" pitchFamily="34" charset="-79"/>
                  </a:rPr>
                  <a:t>Posterior </a:t>
                </a:r>
                <a:r>
                  <a:rPr lang="he-IL" sz="2000" dirty="0" err="1">
                    <a:cs typeface="David" panose="020E0502060401010101" pitchFamily="34" charset="-79"/>
                  </a:rPr>
                  <a:t>mean</a:t>
                </a:r>
                <a:r>
                  <a:rPr lang="he-IL" sz="2000" dirty="0">
                    <a:cs typeface="David" panose="020E0502060401010101" pitchFamily="34" charset="-79"/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e-IL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endParaRPr lang="he-IL" sz="2000" dirty="0">
                  <a:cs typeface="David" panose="020E0502060401010101" pitchFamily="34" charset="-79"/>
                </a:endParaRPr>
              </a:p>
              <a:p>
                <a:pPr lvl="1"/>
                <a:r>
                  <a:rPr lang="he-IL" sz="2000" dirty="0">
                    <a:cs typeface="David" panose="020E0502060401010101" pitchFamily="34" charset="-79"/>
                  </a:rPr>
                  <a:t>Posterior </a:t>
                </a:r>
                <a:r>
                  <a:rPr lang="he-IL" sz="2000" dirty="0" err="1">
                    <a:cs typeface="David" panose="020E0502060401010101" pitchFamily="34" charset="-79"/>
                  </a:rPr>
                  <a:t>median</a:t>
                </a:r>
                <a:r>
                  <a:rPr lang="he-IL" sz="2000" dirty="0">
                    <a:cs typeface="David" panose="020E0502060401010101" pitchFamily="34" charset="-79"/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e-IL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endParaRPr lang="he-IL" sz="2000" dirty="0">
                  <a:cs typeface="David" panose="020E0502060401010101" pitchFamily="34" charset="-79"/>
                </a:endParaRPr>
              </a:p>
              <a:p>
                <a:pPr lvl="1"/>
                <a:r>
                  <a:rPr lang="he-IL" sz="2000" dirty="0">
                    <a:cs typeface="David" panose="020E0502060401010101" pitchFamily="34" charset="-79"/>
                  </a:rPr>
                  <a:t>94% HDI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he-IL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he-IL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he-IL" sz="20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he-IL" sz="200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he-IL" sz="20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he-IL" sz="20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he-IL" sz="2000" i="1">
                            <a:latin typeface="Cambria Math" panose="02040503050406030204" pitchFamily="18" charset="0"/>
                          </a:rPr>
                          <m:t>𝑑𝑎𝑡𝑎</m:t>
                        </m:r>
                      </m:e>
                    </m:d>
                  </m:oMath>
                </a14:m>
                <a:endParaRPr lang="he-IL" sz="1800" dirty="0">
                  <a:cs typeface="David" panose="020E0502060401010101" pitchFamily="34" charset="-79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he-IL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he-IL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he-IL" sz="20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he-IL" sz="200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he-IL" sz="20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he-IL" sz="200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he-IL" sz="2000" i="1">
                            <a:latin typeface="Cambria Math" panose="02040503050406030204" pitchFamily="18" charset="0"/>
                          </a:rPr>
                          <m:t>𝑑𝑎𝑡𝑎</m:t>
                        </m:r>
                      </m:e>
                    </m:d>
                  </m:oMath>
                </a14:m>
                <a:endParaRPr lang="he-IL" sz="2000" dirty="0">
                  <a:cs typeface="David" panose="020E0502060401010101" pitchFamily="34" charset="-79"/>
                </a:endParaRPr>
              </a:p>
              <a:p>
                <a:endParaRPr lang="he-IL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BDD2C-E2DD-C957-1547-DB139C72C9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  <a:blipFill>
                <a:blip r:embed="rId3"/>
                <a:stretch>
                  <a:fillRect l="-817" t="-165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48BA08B2-8513-A24F-2173-86FB4D4B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24</a:t>
            </a:fld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32114-BB23-8BCF-9172-7072EE068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636" y="2447531"/>
            <a:ext cx="5791927" cy="25148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A76800-7455-841F-B7AD-93D4D9D595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1404" y="5407058"/>
            <a:ext cx="9621593" cy="88594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6D0AF8E-A8BB-385B-4E7B-E4756EDE3383}"/>
              </a:ext>
            </a:extLst>
          </p:cNvPr>
          <p:cNvSpPr/>
          <p:nvPr/>
        </p:nvSpPr>
        <p:spPr>
          <a:xfrm>
            <a:off x="5714636" y="3140922"/>
            <a:ext cx="4123047" cy="485148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1BA9DA-2571-F2A3-7691-83DA3073489A}"/>
              </a:ext>
            </a:extLst>
          </p:cNvPr>
          <p:cNvSpPr/>
          <p:nvPr/>
        </p:nvSpPr>
        <p:spPr>
          <a:xfrm>
            <a:off x="5714636" y="3647091"/>
            <a:ext cx="4123047" cy="767253"/>
          </a:xfrm>
          <a:prstGeom prst="rect">
            <a:avLst/>
          </a:prstGeom>
          <a:solidFill>
            <a:schemeClr val="accent2">
              <a:lumMod val="40000"/>
              <a:lumOff val="6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AD2EBB-5B00-5F58-4836-83B23F4307CF}"/>
              </a:ext>
            </a:extLst>
          </p:cNvPr>
          <p:cNvSpPr/>
          <p:nvPr/>
        </p:nvSpPr>
        <p:spPr>
          <a:xfrm>
            <a:off x="5714636" y="4435365"/>
            <a:ext cx="4123047" cy="547999"/>
          </a:xfrm>
          <a:prstGeom prst="rect">
            <a:avLst/>
          </a:prstGeom>
          <a:solidFill>
            <a:schemeClr val="bg2">
              <a:lumMod val="9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E552F4-FABD-EECB-4D90-A1F2C99A0176}"/>
              </a:ext>
            </a:extLst>
          </p:cNvPr>
          <p:cNvSpPr/>
          <p:nvPr/>
        </p:nvSpPr>
        <p:spPr>
          <a:xfrm>
            <a:off x="5714636" y="5525754"/>
            <a:ext cx="2546496" cy="767253"/>
          </a:xfrm>
          <a:prstGeom prst="rect">
            <a:avLst/>
          </a:prstGeom>
          <a:solidFill>
            <a:schemeClr val="accent2">
              <a:lumMod val="40000"/>
              <a:lumOff val="6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170C46-1368-5204-624D-BE4A5B360758}"/>
              </a:ext>
            </a:extLst>
          </p:cNvPr>
          <p:cNvSpPr/>
          <p:nvPr/>
        </p:nvSpPr>
        <p:spPr>
          <a:xfrm flipV="1">
            <a:off x="8261132" y="5551501"/>
            <a:ext cx="2721865" cy="741506"/>
          </a:xfrm>
          <a:prstGeom prst="rect">
            <a:avLst/>
          </a:prstGeom>
          <a:solidFill>
            <a:schemeClr val="bg2">
              <a:lumMod val="9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8ED62F-82CE-4DD0-72AB-A49236D6DF82}"/>
              </a:ext>
            </a:extLst>
          </p:cNvPr>
          <p:cNvSpPr/>
          <p:nvPr/>
        </p:nvSpPr>
        <p:spPr>
          <a:xfrm>
            <a:off x="2608829" y="5525753"/>
            <a:ext cx="3105807" cy="767253"/>
          </a:xfrm>
          <a:prstGeom prst="rect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587276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1C0C9-4144-3F69-28AF-05F93B9D7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0DC5B-79A8-5F52-D4EC-E7BEB526D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he-IL" dirty="0"/>
              <a:t>ROPE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12267A-0E5B-CBB3-8F26-C8501B98FC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A point null such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0" dirty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may be too strict.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Instead, define a Region Of Practical Equivalence (ROPE):</a:t>
                </a:r>
              </a:p>
              <a:p>
                <a:pPr marL="0" indent="0" algn="ctr">
                  <a:buNone/>
                </a:pPr>
                <a:r>
                  <a:rPr lang="en-US" sz="2400" dirty="0"/>
                  <a:t>𝑅𝑂𝑃𝐸=[-0.01, 0.01]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This means that differences smaller than one percentage point in either direction are considered practically negligible</a:t>
                </a:r>
                <a:endParaRPr lang="he-IL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12267A-0E5B-CBB3-8F26-C8501B98F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  <a:blipFill>
                <a:blip r:embed="rId3"/>
                <a:stretch>
                  <a:fillRect l="-817" t="-165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33ECF0B-15DA-8888-BF60-7FF17E080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25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373950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1BC7E-E487-3A07-DA11-FC4CFAA33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10F01-67A2-04D5-E66B-E48FB81E0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he-IL" dirty="0"/>
              <a:t>ROPE and HDI </a:t>
            </a:r>
            <a:r>
              <a:rPr lang="en-US" dirty="0"/>
              <a:t>T</a:t>
            </a:r>
            <a:r>
              <a:rPr lang="he-IL" dirty="0" err="1"/>
              <a:t>est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0D5F8-4631-41C7-7278-13A875F19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42771"/>
            <a:ext cx="10428515" cy="4801998"/>
          </a:xfrm>
        </p:spPr>
        <p:txBody>
          <a:bodyPr>
            <a:normAutofit/>
          </a:bodyPr>
          <a:lstStyle/>
          <a:p>
            <a:r>
              <a:rPr lang="en-US" sz="2400" dirty="0"/>
              <a:t>The ROPE is not a mathematical default. It is a domain-based choice.</a:t>
            </a:r>
          </a:p>
          <a:p>
            <a:endParaRPr lang="he-IL" sz="2400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90E34E1-B80A-72DB-8084-3778C548A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26</a:t>
            </a:fld>
            <a:endParaRPr lang="LID4096"/>
          </a:p>
        </p:txBody>
      </p:sp>
      <p:pic>
        <p:nvPicPr>
          <p:cNvPr id="5" name="Picture 2" descr="Image result for rope examples bayes&quot;">
            <a:extLst>
              <a:ext uri="{FF2B5EF4-FFF2-40B4-BE49-F238E27FC236}">
                <a16:creationId xmlns:a16="http://schemas.microsoft.com/office/drawing/2014/main" id="{97D863E7-6153-4059-F98E-5B29B89669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7543" y="2513522"/>
            <a:ext cx="6153145" cy="3842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A2DCE6-DCAD-5EF3-1CB7-85D9987B01D2}"/>
              </a:ext>
            </a:extLst>
          </p:cNvPr>
          <p:cNvSpPr txBox="1"/>
          <p:nvPr/>
        </p:nvSpPr>
        <p:spPr>
          <a:xfrm>
            <a:off x="838198" y="2148397"/>
            <a:ext cx="445225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David" panose="020E0502060401010101" pitchFamily="34" charset="-79"/>
              </a:rPr>
              <a:t>Decision logic: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David" panose="020E0502060401010101" pitchFamily="34" charset="-79"/>
              </a:rPr>
              <a:t>HDI </a:t>
            </a:r>
            <a:r>
              <a:rPr lang="en-US" sz="2000" dirty="0">
                <a:latin typeface="David" panose="020E0502060401010101" pitchFamily="34" charset="-79"/>
              </a:rPr>
              <a:t>completely </a:t>
            </a:r>
            <a:r>
              <a:rPr lang="en-US" sz="2000" b="1" dirty="0">
                <a:latin typeface="David" panose="020E0502060401010101" pitchFamily="34" charset="-79"/>
              </a:rPr>
              <a:t>outside</a:t>
            </a:r>
            <a:r>
              <a:rPr lang="en-US" sz="2000" dirty="0">
                <a:latin typeface="David" panose="020E0502060401010101" pitchFamily="34" charset="-79"/>
              </a:rPr>
              <a:t> ROPE → reject the practical null. </a:t>
            </a:r>
            <a:br>
              <a:rPr lang="en-US" sz="2000" dirty="0">
                <a:latin typeface="David" panose="020E0502060401010101" pitchFamily="34" charset="-79"/>
              </a:rPr>
            </a:br>
            <a:endParaRPr lang="en-US" sz="2000" dirty="0">
              <a:latin typeface="David" panose="020E0502060401010101" pitchFamily="34" charset="-79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David" panose="020E0502060401010101" pitchFamily="34" charset="-79"/>
              </a:rPr>
              <a:t>HDI completely </a:t>
            </a:r>
            <a:r>
              <a:rPr lang="en-US" sz="2000" b="1" dirty="0">
                <a:latin typeface="David" panose="020E0502060401010101" pitchFamily="34" charset="-79"/>
              </a:rPr>
              <a:t>inside</a:t>
            </a:r>
            <a:r>
              <a:rPr lang="en-US" sz="2000" dirty="0">
                <a:latin typeface="David" panose="020E0502060401010101" pitchFamily="34" charset="-79"/>
              </a:rPr>
              <a:t> ROPE → accept the practical null. </a:t>
            </a:r>
            <a:br>
              <a:rPr lang="en-US" sz="2000" dirty="0">
                <a:latin typeface="David" panose="020E0502060401010101" pitchFamily="34" charset="-79"/>
              </a:rPr>
            </a:br>
            <a:endParaRPr lang="en-US" sz="2000" dirty="0">
              <a:latin typeface="David" panose="020E0502060401010101" pitchFamily="34" charset="-79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David" panose="020E0502060401010101" pitchFamily="34" charset="-79"/>
              </a:rPr>
              <a:t>HDI partly </a:t>
            </a:r>
            <a:r>
              <a:rPr lang="en-US" sz="2000" b="1" dirty="0">
                <a:latin typeface="David" panose="020E0502060401010101" pitchFamily="34" charset="-79"/>
              </a:rPr>
              <a:t>overlaps</a:t>
            </a:r>
            <a:r>
              <a:rPr lang="en-US" sz="2000" dirty="0">
                <a:latin typeface="David" panose="020E0502060401010101" pitchFamily="34" charset="-79"/>
              </a:rPr>
              <a:t> ROPE → </a:t>
            </a:r>
            <a:br>
              <a:rPr lang="en-US" sz="2000" dirty="0">
                <a:latin typeface="David" panose="020E0502060401010101" pitchFamily="34" charset="-79"/>
              </a:rPr>
            </a:br>
            <a:r>
              <a:rPr lang="en-US" sz="2000" dirty="0">
                <a:latin typeface="David" panose="020E0502060401010101" pitchFamily="34" charset="-79"/>
              </a:rPr>
              <a:t>no clear decision</a:t>
            </a:r>
            <a:r>
              <a:rPr lang="en-US" sz="2400" dirty="0">
                <a:latin typeface="David" panose="020E0502060401010101" pitchFamily="34" charset="-79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5733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016DB-28F3-3DD7-559F-057ECF856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B4FE9-153A-1AD6-E4C7-FA0D1975A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he-IL" dirty="0"/>
              <a:t>ROPE and HDI </a:t>
            </a:r>
            <a:r>
              <a:rPr lang="en-US" dirty="0"/>
              <a:t>T</a:t>
            </a:r>
            <a:r>
              <a:rPr lang="he-IL" dirty="0" err="1"/>
              <a:t>est</a:t>
            </a:r>
            <a:endParaRPr lang="LID4096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1615133-DEFB-9ADA-60A3-0547180F5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27</a:t>
            </a:fld>
            <a:endParaRPr lang="LID4096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83C9FFB-3C36-48A9-A730-882C4CE1B0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371" y="1346560"/>
            <a:ext cx="7032171" cy="472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7E2F8B-377E-8DDD-9B9C-A3CFE21C27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2450" y="1550539"/>
            <a:ext cx="2362530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7668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E39E1-94C1-2287-3C06-7416BEDC9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08EDC-F5CF-42A3-2B73-AB8A37A7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he-IL" dirty="0"/>
              <a:t>Bayes factor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72D1EC-4679-6D4F-AC89-94E606E17A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400" dirty="0"/>
                  <a:t>The Bayes factor asks whether the data increased or decreased support for the null relative to the alternative.</a:t>
                </a:r>
              </a:p>
              <a:p>
                <a:endParaRPr lang="en-US" sz="2400" dirty="0"/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he-IL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he-IL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he-IL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he-IL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data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 | 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he-IL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he-IL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e-IL" i="1">
                                <a:latin typeface="Cambria Math" panose="02040503050406030204" pitchFamily="18" charset="0"/>
                              </a:rPr>
                              <m:t>𝑑𝑎𝑡𝑎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| 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                </m:t>
                    </m:r>
                    <m:r>
                      <a:rPr lang="he-IL" sz="2400" i="1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he-IL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he-IL" sz="240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01</m:t>
                            </m:r>
                          </m:sub>
                        </m:sSub>
                      </m:den>
                    </m:f>
                  </m:oMath>
                </a14:m>
                <a:endParaRPr lang="he-IL" sz="2400" dirty="0"/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&gt;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Data supports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  <a:r>
                  <a:rPr lang="en-US" sz="2400" dirty="0"/>
                  <a:t>more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Data supports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  <a:r>
                  <a:rPr lang="en-US" sz="2400" dirty="0"/>
                  <a:t>more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*Frequentist methods usually refer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as weak evidence </a:t>
                </a:r>
                <a:endParaRPr lang="he-IL" sz="2400" dirty="0"/>
              </a:p>
              <a:p>
                <a:endParaRPr lang="he-IL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72D1EC-4679-6D4F-AC89-94E606E17A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  <a:blipFill>
                <a:blip r:embed="rId3"/>
                <a:stretch>
                  <a:fillRect l="-817" t="-2157" r="-23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103C618-E674-AA5C-256D-8B444E5B2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28</a:t>
            </a:fld>
            <a:endParaRPr lang="LID4096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4602067-C200-6968-14EA-9A6B14A8A501}"/>
              </a:ext>
            </a:extLst>
          </p:cNvPr>
          <p:cNvCxnSpPr>
            <a:cxnSpLocks/>
          </p:cNvCxnSpPr>
          <p:nvPr/>
        </p:nvCxnSpPr>
        <p:spPr>
          <a:xfrm flipH="1">
            <a:off x="2939141" y="3037114"/>
            <a:ext cx="293914" cy="391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69FB8E7-652F-4D7D-EA67-053D4DA165BD}"/>
              </a:ext>
            </a:extLst>
          </p:cNvPr>
          <p:cNvCxnSpPr>
            <a:cxnSpLocks/>
          </p:cNvCxnSpPr>
          <p:nvPr/>
        </p:nvCxnSpPr>
        <p:spPr>
          <a:xfrm>
            <a:off x="3428998" y="3037114"/>
            <a:ext cx="0" cy="391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990389-6789-3D3F-1941-D788963528E2}"/>
                  </a:ext>
                </a:extLst>
              </p:cNvPr>
              <p:cNvSpPr txBox="1"/>
              <p:nvPr/>
            </p:nvSpPr>
            <p:spPr>
              <a:xfrm>
                <a:off x="3194955" y="3462048"/>
                <a:ext cx="4680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800" i="1" dirty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E990389-6789-3D3F-1941-D78896352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955" y="3462048"/>
                <a:ext cx="46808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600094-5B2E-9BAB-887F-4B8799B81F6C}"/>
                  </a:ext>
                </a:extLst>
              </p:cNvPr>
              <p:cNvSpPr txBox="1"/>
              <p:nvPr/>
            </p:nvSpPr>
            <p:spPr>
              <a:xfrm>
                <a:off x="2618012" y="3461657"/>
                <a:ext cx="4680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800" b="0" i="1" dirty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600094-5B2E-9BAB-887F-4B8799B81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8012" y="3461657"/>
                <a:ext cx="46808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79512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ACF40-D3C9-50AD-A732-42695C180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BB00F-E18B-77E3-F9DE-5BAAABD53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he-IL" dirty="0"/>
              <a:t>Savage-Dickey and Bayes factor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85EFCB-FDE7-C5BF-624D-EA058FC4BC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Savage-Dickey is a specific method for computing a Bayes factor when the null hypothesis is a point value of a continuous parameter.</a:t>
                </a:r>
              </a:p>
              <a:p>
                <a:r>
                  <a:rPr lang="en-US" sz="2400" dirty="0"/>
                  <a:t>It compares the prior and posterior density at the null value: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If the posterior density at the null is lower than the prior density, the data reduced support for the null.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Savage-Dickey</a:t>
                </a:r>
                <a:r>
                  <a:rPr lang="he-IL" sz="2400" dirty="0"/>
                  <a:t> is a density ratio: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he-I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he-IL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he-IL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e-IL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e-IL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he-IL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he-IL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he-IL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he-I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num>
                        <m:den>
                          <m:r>
                            <a:rPr lang="he-IL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he-IL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he-IL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he-IL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he-IL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he-IL">
                                  <a:latin typeface="Cambria Math" panose="02040503050406030204" pitchFamily="18" charset="0"/>
                                </a:rPr>
                                <m:t>∣</m:t>
                              </m:r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𝑑𝑎𝑡𝑎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he-IL" sz="2400" dirty="0"/>
              </a:p>
              <a:p>
                <a:endParaRPr lang="he-IL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85EFCB-FDE7-C5BF-624D-EA058FC4BC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  <a:blipFill>
                <a:blip r:embed="rId3"/>
                <a:stretch>
                  <a:fillRect l="-817" t="-165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9D5DEF8-860F-441B-DEC6-6EF41C2B8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29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382425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586A5-0F35-6461-F4B5-28BE6E3F5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BE8B4-4DB2-5015-8639-E1647623C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he-IL" dirty="0"/>
              <a:t>Savage-Dickey</a:t>
            </a:r>
            <a:endParaRPr lang="LID4096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016FC28-86D6-C8AA-E287-020CD06CC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30</a:t>
            </a:fld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6E290370-05FA-630C-A55E-691B5BFB5A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6029"/>
                <a:ext cx="10428514" cy="475093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Savage</m:t>
                    </m:r>
                    <m:r>
                      <m:rPr>
                        <m:nor/>
                      </m:rPr>
                      <a:rPr lang="en-US" dirty="0"/>
                      <m:t>−</m:t>
                    </m:r>
                    <m:r>
                      <m:rPr>
                        <m:nor/>
                      </m:rPr>
                      <a:rPr lang="en-US" dirty="0"/>
                      <m:t>Dickey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is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bidirectional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Show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null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hypothesis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is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i="1" dirty="0"/>
                      <m:t>contradicted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b="0" i="0" dirty="0" smtClean="0"/>
                      <m:t> </m:t>
                    </m:r>
                    <m:r>
                      <m:rPr>
                        <m:nor/>
                      </m:rPr>
                      <a:rPr lang="en-US" dirty="0"/>
                      <m:t>by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data</m:t>
                    </m:r>
                    <m:r>
                      <m:rPr>
                        <m:nor/>
                      </m:rPr>
                      <a:rPr lang="en-US" b="0" i="0" dirty="0" smtClean="0"/>
                      <m:t>: </m:t>
                    </m:r>
                    <m:r>
                      <m:rPr>
                        <m:nor/>
                      </m:rPr>
                      <a:rPr lang="en-US" dirty="0" smtClean="0"/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𝐵𝐹</m:t>
                        </m:r>
                      </m:e>
                      <m:sub>
                        <m:r>
                          <a:rPr lang="en-US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en-US" sz="280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Show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null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hypothesis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is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i="1" dirty="0"/>
                      <m:t>supported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b="0" i="0" dirty="0" smtClean="0"/>
                      <m:t> </m:t>
                    </m:r>
                    <m:r>
                      <m:rPr>
                        <m:nor/>
                      </m:rPr>
                      <a:rPr lang="en-US" dirty="0"/>
                      <m:t>by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data</m:t>
                    </m:r>
                    <m:r>
                      <m:rPr>
                        <m:nor/>
                      </m:rPr>
                      <a:rPr lang="en-US" dirty="0"/>
                      <m:t>: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𝐵𝐹</m:t>
                        </m:r>
                      </m:e>
                      <m:sub>
                        <m:r>
                          <a:rPr lang="en-US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No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strong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evidence</m:t>
                    </m:r>
                    <m:r>
                      <m:rPr>
                        <m:nor/>
                      </m:rPr>
                      <a:rPr lang="en-US" dirty="0"/>
                      <m:t>: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6E290370-05FA-630C-A55E-691B5BFB5A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6029"/>
                <a:ext cx="10428514" cy="4750934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466F522-5563-43AB-C41B-67C2F36714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5966683"/>
                  </p:ext>
                </p:extLst>
              </p:nvPr>
            </p:nvGraphicFramePr>
            <p:xfrm>
              <a:off x="1705827" y="3801496"/>
              <a:ext cx="3951514" cy="185420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336831">
                      <a:extLst>
                        <a:ext uri="{9D8B030D-6E8A-4147-A177-3AD203B41FA5}">
                          <a16:colId xmlns:a16="http://schemas.microsoft.com/office/drawing/2014/main" val="4235226041"/>
                        </a:ext>
                      </a:extLst>
                    </a:gridCol>
                    <a:gridCol w="2614683">
                      <a:extLst>
                        <a:ext uri="{9D8B030D-6E8A-4147-A177-3AD203B41FA5}">
                          <a16:colId xmlns:a16="http://schemas.microsoft.com/office/drawing/2014/main" val="2583990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b="1" smtClean="0"/>
                                      <m:t>BF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b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Interpretation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38011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&lt; 3.2</a:t>
                          </a:r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Not worth mentioning</a:t>
                          </a:r>
                          <a:endParaRPr lang="en-I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19054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3.2 to 10</a:t>
                          </a:r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Support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90290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10 to 100</a:t>
                          </a:r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Strong support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16538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Wingdings" panose="05000000000000000000" pitchFamily="2" charset="2"/>
                            <a:buNone/>
                          </a:pPr>
                          <a:r>
                            <a:rPr lang="en-US"/>
                            <a:t>&gt; 100</a:t>
                          </a:r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Decisive support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2190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466F522-5563-43AB-C41B-67C2F36714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5966683"/>
                  </p:ext>
                </p:extLst>
              </p:nvPr>
            </p:nvGraphicFramePr>
            <p:xfrm>
              <a:off x="1705827" y="3801496"/>
              <a:ext cx="3951514" cy="185420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336831">
                      <a:extLst>
                        <a:ext uri="{9D8B030D-6E8A-4147-A177-3AD203B41FA5}">
                          <a16:colId xmlns:a16="http://schemas.microsoft.com/office/drawing/2014/main" val="4235226041"/>
                        </a:ext>
                      </a:extLst>
                    </a:gridCol>
                    <a:gridCol w="2614683">
                      <a:extLst>
                        <a:ext uri="{9D8B030D-6E8A-4147-A177-3AD203B41FA5}">
                          <a16:colId xmlns:a16="http://schemas.microsoft.com/office/drawing/2014/main" val="2583990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blipFill>
                          <a:blip r:embed="rId4"/>
                          <a:stretch>
                            <a:fillRect t="-6557" r="-195909" b="-4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Interpretation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38011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&lt; 3.2</a:t>
                          </a:r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Not worth mentioning</a:t>
                          </a:r>
                          <a:endParaRPr lang="en-I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19054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3.2 to 10</a:t>
                          </a:r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Support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90290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10 to 100</a:t>
                          </a:r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Strong support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16538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Wingdings" panose="05000000000000000000" pitchFamily="2" charset="2"/>
                            <a:buNone/>
                          </a:pPr>
                          <a:r>
                            <a:rPr lang="en-US"/>
                            <a:t>&gt; 100</a:t>
                          </a:r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Decisive support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21903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215465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22104-3F42-B55B-8E15-E3515442D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8001C-64C5-7CC0-B2D3-3B547ADCA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he-IL" dirty="0"/>
              <a:t>Savage-Dickey</a:t>
            </a:r>
            <a:endParaRPr lang="LID4096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E84E088-C836-1E28-F523-C03E477E9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31</a:t>
            </a:fld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D4C94D03-320D-95D2-EEAF-5D66B7C598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3704075"/>
                  </p:ext>
                </p:extLst>
              </p:nvPr>
            </p:nvGraphicFramePr>
            <p:xfrm>
              <a:off x="867627" y="2254477"/>
              <a:ext cx="3951514" cy="185420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336831">
                      <a:extLst>
                        <a:ext uri="{9D8B030D-6E8A-4147-A177-3AD203B41FA5}">
                          <a16:colId xmlns:a16="http://schemas.microsoft.com/office/drawing/2014/main" val="4235226041"/>
                        </a:ext>
                      </a:extLst>
                    </a:gridCol>
                    <a:gridCol w="2614683">
                      <a:extLst>
                        <a:ext uri="{9D8B030D-6E8A-4147-A177-3AD203B41FA5}">
                          <a16:colId xmlns:a16="http://schemas.microsoft.com/office/drawing/2014/main" val="2583990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b="1" smtClean="0"/>
                                      <m:t>BF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solidFill>
                                          <a:schemeClr val="accent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b="1" smtClean="0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Interpretation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38011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&lt; 3.2</a:t>
                          </a:r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Not worth mentioning</a:t>
                          </a:r>
                          <a:endParaRPr lang="en-I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19054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3.2 to 10</a:t>
                          </a:r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Support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90290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10 to 100</a:t>
                          </a:r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Strong support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16538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Wingdings" panose="05000000000000000000" pitchFamily="2" charset="2"/>
                            <a:buNone/>
                          </a:pPr>
                          <a:r>
                            <a:rPr lang="en-US"/>
                            <a:t>&gt; 100</a:t>
                          </a:r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Decisive support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2190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D4C94D03-320D-95D2-EEAF-5D66B7C598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3704075"/>
                  </p:ext>
                </p:extLst>
              </p:nvPr>
            </p:nvGraphicFramePr>
            <p:xfrm>
              <a:off x="867627" y="2254477"/>
              <a:ext cx="3951514" cy="185420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1336831">
                      <a:extLst>
                        <a:ext uri="{9D8B030D-6E8A-4147-A177-3AD203B41FA5}">
                          <a16:colId xmlns:a16="http://schemas.microsoft.com/office/drawing/2014/main" val="4235226041"/>
                        </a:ext>
                      </a:extLst>
                    </a:gridCol>
                    <a:gridCol w="2614683">
                      <a:extLst>
                        <a:ext uri="{9D8B030D-6E8A-4147-A177-3AD203B41FA5}">
                          <a16:colId xmlns:a16="http://schemas.microsoft.com/office/drawing/2014/main" val="25839903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blipFill>
                          <a:blip r:embed="rId3"/>
                          <a:stretch>
                            <a:fillRect t="-6557" r="-195455" b="-4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Interpretation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38011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&lt; 3.2</a:t>
                          </a:r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Not worth mentioning</a:t>
                          </a:r>
                          <a:endParaRPr lang="en-I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190545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3.2 to 10</a:t>
                          </a:r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Support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90290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10 to 100</a:t>
                          </a:r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Strong support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16538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Wingdings" panose="05000000000000000000" pitchFamily="2" charset="2"/>
                            <a:buNone/>
                          </a:pPr>
                          <a:r>
                            <a:rPr lang="en-US"/>
                            <a:t>&gt; 100</a:t>
                          </a:r>
                          <a:endParaRPr lang="en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Decisive support</a:t>
                          </a:r>
                          <a:endParaRPr lang="en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21903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488CF221-4428-3003-9903-E26CD6D1D5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899" y="683778"/>
            <a:ext cx="4545806" cy="26559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075D5E-6294-BFF1-FAFF-68AA526A32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821" y="3700374"/>
            <a:ext cx="4430884" cy="2655976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88066B43-64CB-161B-C714-BD4FFD131CE3}"/>
              </a:ext>
            </a:extLst>
          </p:cNvPr>
          <p:cNvSpPr/>
          <p:nvPr/>
        </p:nvSpPr>
        <p:spPr>
          <a:xfrm>
            <a:off x="8823802" y="1609067"/>
            <a:ext cx="284508" cy="914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6456065-BD99-366E-1BDB-5A93BEA51820}"/>
              </a:ext>
            </a:extLst>
          </p:cNvPr>
          <p:cNvSpPr/>
          <p:nvPr/>
        </p:nvSpPr>
        <p:spPr>
          <a:xfrm>
            <a:off x="8881263" y="5012644"/>
            <a:ext cx="284508" cy="116157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06967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D6B39-3E64-CF78-125A-01BA57E9F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4A789-599F-40D8-8A90-315717F9F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he-IL" dirty="0"/>
              <a:t>Savage-Dickey </a:t>
            </a:r>
            <a:r>
              <a:rPr lang="en-US" dirty="0"/>
              <a:t>in our model</a:t>
            </a:r>
            <a:endParaRPr lang="LID4096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2FC484B-3041-649F-87B6-5BC00163D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32</a:t>
            </a:fld>
            <a:endParaRPr lang="LID4096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C839228-0696-AC56-9D56-A957A08AC6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5972" y="2065705"/>
            <a:ext cx="8436428" cy="4275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72E1A5-0076-304C-4DC9-E47C8F63F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44474"/>
            <a:ext cx="2812912" cy="166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1418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D4264-D2B0-FB6D-6CA3-993A7CBE0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A1848-19BE-6C0C-3DEA-9CD65FE6C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Reporting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D66A5-45DB-1EBA-981A-819CAFF3F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2771"/>
            <a:ext cx="10445496" cy="4801998"/>
          </a:xfrm>
        </p:spPr>
        <p:txBody>
          <a:bodyPr>
            <a:normAutofit/>
          </a:bodyPr>
          <a:lstStyle/>
          <a:p>
            <a:r>
              <a:rPr lang="en-US" sz="2400" dirty="0">
                <a:cs typeface="David" panose="020E0502060401010101" pitchFamily="34" charset="-79"/>
              </a:rPr>
              <a:t>The observed Biotechnology startup rate was 0.014 in IND and 0.030 in CHN. The observed difference was -0.017.</a:t>
            </a:r>
          </a:p>
          <a:p>
            <a:r>
              <a:rPr lang="en-US" sz="2400" dirty="0">
                <a:cs typeface="David" panose="020E0502060401010101" pitchFamily="34" charset="-79"/>
              </a:rPr>
              <a:t>Under the hierarchical Bayesian model, the posterior mean difference (IND - CHN) was -0.016, with a 94% HDI from -0.025 to -0.006. </a:t>
            </a:r>
          </a:p>
          <a:p>
            <a:r>
              <a:rPr lang="en-US" sz="2400" dirty="0">
                <a:cs typeface="David" panose="020E0502060401010101" pitchFamily="34" charset="-79"/>
              </a:rPr>
              <a:t>The posterior probability that the difference is positive was 0.001. </a:t>
            </a:r>
          </a:p>
          <a:p>
            <a:r>
              <a:rPr lang="en-US" sz="2400" dirty="0">
                <a:cs typeface="David" panose="020E0502060401010101" pitchFamily="34" charset="-79"/>
              </a:rPr>
              <a:t>The ROPE/HDI decision was: No clear decision.</a:t>
            </a:r>
            <a:endParaRPr lang="he-IL" sz="2400" dirty="0">
              <a:cs typeface="David" panose="020E0502060401010101" pitchFamily="34" charset="-79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0DC0DF0C-6C24-EACA-9B17-751BAFDF9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33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85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C024A-6A40-02BE-EAB6-6671603FF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F16AA-E76F-3163-BE75-3C254F0A9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2408"/>
            <a:ext cx="10515600" cy="1325563"/>
          </a:xfrm>
        </p:spPr>
        <p:txBody>
          <a:bodyPr/>
          <a:lstStyle/>
          <a:p>
            <a:pPr algn="ctr"/>
            <a:r>
              <a:rPr lang="he-IL" dirty="0"/>
              <a:t>Significance</a:t>
            </a:r>
            <a:r>
              <a:rPr lang="en-US" dirty="0"/>
              <a:t>, Power and Errors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6349218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29446-96B6-2400-3845-697D253F6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E5EC-FBB4-1A8C-4FDD-FCC6FD598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Error Types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02BBC-DABC-D7FA-5940-3EACCB8C5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2771"/>
            <a:ext cx="10445496" cy="4801998"/>
          </a:xfrm>
        </p:spPr>
        <p:txBody>
          <a:bodyPr>
            <a:normAutofit/>
          </a:bodyPr>
          <a:lstStyle/>
          <a:p>
            <a:r>
              <a:rPr lang="en-US" b="1" dirty="0"/>
              <a:t>Type I error </a:t>
            </a:r>
            <a:r>
              <a:rPr lang="en-US" dirty="0"/>
              <a:t>- rejecting the null hypothesis when the null hypothesis is true.</a:t>
            </a:r>
          </a:p>
          <a:p>
            <a:r>
              <a:rPr lang="en-US" b="1" dirty="0"/>
              <a:t>Type II error -  </a:t>
            </a:r>
            <a:r>
              <a:rPr lang="en-US" dirty="0"/>
              <a:t>failing to reject a false null model</a:t>
            </a:r>
          </a:p>
          <a:p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E836F125-483C-D433-2400-4F4066BA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B6796F57-8306-40D4-9229-37A3D19F0B5F}" type="slidenum">
              <a:rPr lang="LID4096" smtClean="0"/>
              <a:pPr algn="r"/>
              <a:t>35</a:t>
            </a:fld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BA2215F2-82E8-ADC4-69D2-79BCF59A2E1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812647" y="3264061"/>
              <a:ext cx="6110467" cy="3228553"/>
            </p:xfrm>
            <a:graphic>
              <a:graphicData uri="http://schemas.openxmlformats.org/drawingml/2006/table">
                <a:tbl>
                  <a:tblPr rtl="1">
                    <a:tableStyleId>{5C22544A-7EE6-4342-B048-85BDC9FD1C3A}</a:tableStyleId>
                  </a:tblPr>
                  <a:tblGrid>
                    <a:gridCol w="2040919">
                      <a:extLst>
                        <a:ext uri="{9D8B030D-6E8A-4147-A177-3AD203B41FA5}">
                          <a16:colId xmlns:a16="http://schemas.microsoft.com/office/drawing/2014/main" val="1234378172"/>
                        </a:ext>
                      </a:extLst>
                    </a:gridCol>
                    <a:gridCol w="2040919">
                      <a:extLst>
                        <a:ext uri="{9D8B030D-6E8A-4147-A177-3AD203B41FA5}">
                          <a16:colId xmlns:a16="http://schemas.microsoft.com/office/drawing/2014/main" val="681289708"/>
                        </a:ext>
                      </a:extLst>
                    </a:gridCol>
                    <a:gridCol w="668349">
                      <a:extLst>
                        <a:ext uri="{9D8B030D-6E8A-4147-A177-3AD203B41FA5}">
                          <a16:colId xmlns:a16="http://schemas.microsoft.com/office/drawing/2014/main" val="1993994636"/>
                        </a:ext>
                      </a:extLst>
                    </a:gridCol>
                    <a:gridCol w="1360280">
                      <a:extLst>
                        <a:ext uri="{9D8B030D-6E8A-4147-A177-3AD203B41FA5}">
                          <a16:colId xmlns:a16="http://schemas.microsoft.com/office/drawing/2014/main" val="3783758414"/>
                        </a:ext>
                      </a:extLst>
                    </a:gridCol>
                  </a:tblGrid>
                  <a:tr h="329765">
                    <a:tc gridSpan="2"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he-IL" sz="2000" b="1" u="none" strike="noStrike" dirty="0" err="1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Reality</a:t>
                          </a:r>
                          <a:endParaRPr lang="he-IL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>
                            <a:buNone/>
                          </a:pPr>
                          <a:endParaRPr lang="he-IL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endParaRPr lang="he-IL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82689752"/>
                      </a:ext>
                    </a:extLst>
                  </a:tr>
                  <a:tr h="328528"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he-IL" sz="20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</m:ctrlPr>
                                  </m:sSubPr>
                                  <m:e>
                                    <m:r>
                                      <a:rPr lang="he-IL" sz="20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he-IL" sz="20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he-IL" sz="20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</m:ctrlPr>
                                  </m:sSubPr>
                                  <m:e>
                                    <m:r>
                                      <a:rPr lang="he-IL" sz="20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he-IL" sz="20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endParaRPr lang="he-IL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rtl="0" fontAlgn="b">
                            <a:buNone/>
                          </a:pPr>
                          <a:endParaRPr lang="he-IL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08352088"/>
                      </a:ext>
                    </a:extLst>
                  </a:tr>
                  <a:tr h="1285130"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he-IL" sz="2000" u="none" strike="noStrike" dirty="0" err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Type</a:t>
                          </a:r>
                          <a:r>
                            <a:rPr lang="he-IL" sz="2000" u="none" strike="noStrike" dirty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2 </a:t>
                          </a:r>
                          <a:r>
                            <a:rPr lang="he-IL" sz="2000" u="none" strike="noStrike" dirty="0" err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error</a:t>
                          </a:r>
                          <a:r>
                            <a:rPr lang="he-IL" sz="2000" u="none" strike="noStrike" dirty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(</a:t>
                          </a:r>
                          <a:r>
                            <a:rPr lang="he-IL" sz="2000" u="none" strike="noStrike" dirty="0" err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false</a:t>
                          </a:r>
                          <a:r>
                            <a:rPr lang="he-IL" sz="2000" u="none" strike="noStrike" dirty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en-US" sz="2000" u="none" strike="noStrike" dirty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N</a:t>
                          </a:r>
                          <a:r>
                            <a:rPr lang="he-IL" sz="2000" u="none" strike="noStrike" dirty="0" err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egative</a:t>
                          </a:r>
                          <a:r>
                            <a:rPr lang="en-US" sz="2000" u="none" strike="noStrike" dirty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)</a:t>
                          </a:r>
                          <a:endParaRPr lang="he-IL" sz="2000" b="0" i="0" u="none" strike="noStrike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effectLst/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he-IL" sz="2000" u="none" strike="noStrike" dirty="0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True </a:t>
                          </a:r>
                          <a:r>
                            <a:rPr lang="en-US" sz="2000" u="none" strike="noStrike" dirty="0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P</a:t>
                          </a:r>
                          <a:r>
                            <a:rPr lang="he-IL" sz="2000" u="none" strike="noStrike" dirty="0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osetive</a:t>
                          </a:r>
                          <a:endParaRPr lang="he-IL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he-IL" sz="20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</m:ctrlPr>
                                  </m:sSubPr>
                                  <m:e>
                                    <m:r>
                                      <a:rPr lang="he-IL" sz="20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he-IL" sz="20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he-IL" sz="2000" b="1" u="none" strike="noStrike" dirty="0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Hypothesis testing decision</a:t>
                          </a:r>
                          <a:endParaRPr lang="he-IL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9525" marR="9525" marT="9525" marB="0"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68662715"/>
                      </a:ext>
                    </a:extLst>
                  </a:tr>
                  <a:tr h="1285130"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he-IL" sz="2000" u="none" strike="noStrike" dirty="0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True </a:t>
                          </a:r>
                          <a:r>
                            <a:rPr lang="en-US" sz="2000" u="none" strike="noStrike" dirty="0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N</a:t>
                          </a:r>
                          <a:r>
                            <a:rPr lang="he-IL" sz="2000" u="none" strike="noStrike" dirty="0" err="1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egative</a:t>
                          </a:r>
                          <a:endParaRPr lang="he-IL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he-IL" sz="2000" u="none" strike="noStrike" dirty="0" err="1">
                              <a:solidFill>
                                <a:srgbClr val="FF0000"/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Type</a:t>
                          </a:r>
                          <a:r>
                            <a:rPr lang="he-IL" sz="200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1 </a:t>
                          </a:r>
                          <a:r>
                            <a:rPr lang="he-IL" sz="2000" u="none" strike="noStrike" dirty="0" err="1">
                              <a:solidFill>
                                <a:srgbClr val="FF0000"/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error</a:t>
                          </a:r>
                          <a:r>
                            <a:rPr lang="he-IL" sz="200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(</a:t>
                          </a:r>
                          <a:r>
                            <a:rPr lang="he-IL" sz="2000" u="none" strike="noStrike" dirty="0" err="1">
                              <a:solidFill>
                                <a:srgbClr val="FF0000"/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False</a:t>
                          </a:r>
                          <a:r>
                            <a:rPr lang="he-IL" sz="200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en-US" sz="200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P</a:t>
                          </a:r>
                          <a:r>
                            <a:rPr lang="he-IL" sz="200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osetive</a:t>
                          </a:r>
                          <a:r>
                            <a:rPr lang="en-US" sz="200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)</a:t>
                          </a:r>
                          <a:endParaRPr lang="he-IL" sz="2000" b="0" i="0" u="none" strike="noStrike" dirty="0">
                            <a:solidFill>
                              <a:srgbClr val="FF0000"/>
                            </a:solidFill>
                            <a:effectLst/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he-IL" sz="20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</m:ctrlPr>
                                  </m:sSubPr>
                                  <m:e>
                                    <m:r>
                                      <a:rPr lang="he-IL" sz="20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he-IL" sz="2000" i="1" u="none" strike="noStrike" dirty="0" smtClean="0">
                                        <a:effectLst/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dirty="0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45411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BA2215F2-82E8-ADC4-69D2-79BCF59A2E1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812647" y="3264061"/>
              <a:ext cx="6110467" cy="3228553"/>
            </p:xfrm>
            <a:graphic>
              <a:graphicData uri="http://schemas.openxmlformats.org/drawingml/2006/table">
                <a:tbl>
                  <a:tblPr rtl="1">
                    <a:tableStyleId>{5C22544A-7EE6-4342-B048-85BDC9FD1C3A}</a:tableStyleId>
                  </a:tblPr>
                  <a:tblGrid>
                    <a:gridCol w="2040919">
                      <a:extLst>
                        <a:ext uri="{9D8B030D-6E8A-4147-A177-3AD203B41FA5}">
                          <a16:colId xmlns:a16="http://schemas.microsoft.com/office/drawing/2014/main" val="1234378172"/>
                        </a:ext>
                      </a:extLst>
                    </a:gridCol>
                    <a:gridCol w="2040919">
                      <a:extLst>
                        <a:ext uri="{9D8B030D-6E8A-4147-A177-3AD203B41FA5}">
                          <a16:colId xmlns:a16="http://schemas.microsoft.com/office/drawing/2014/main" val="681289708"/>
                        </a:ext>
                      </a:extLst>
                    </a:gridCol>
                    <a:gridCol w="668349">
                      <a:extLst>
                        <a:ext uri="{9D8B030D-6E8A-4147-A177-3AD203B41FA5}">
                          <a16:colId xmlns:a16="http://schemas.microsoft.com/office/drawing/2014/main" val="1993994636"/>
                        </a:ext>
                      </a:extLst>
                    </a:gridCol>
                    <a:gridCol w="1360280">
                      <a:extLst>
                        <a:ext uri="{9D8B030D-6E8A-4147-A177-3AD203B41FA5}">
                          <a16:colId xmlns:a16="http://schemas.microsoft.com/office/drawing/2014/main" val="3783758414"/>
                        </a:ext>
                      </a:extLst>
                    </a:gridCol>
                  </a:tblGrid>
                  <a:tr h="329765">
                    <a:tc gridSpan="2"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he-IL" sz="2000" b="1" u="none" strike="noStrike" dirty="0" err="1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Reality</a:t>
                          </a:r>
                          <a:endParaRPr lang="he-IL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 fontAlgn="ctr">
                            <a:buNone/>
                          </a:pPr>
                          <a:endParaRPr lang="he-IL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endParaRPr lang="he-IL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82689752"/>
                      </a:ext>
                    </a:extLst>
                  </a:tr>
                  <a:tr h="328528"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9" t="-120370" r="-200000" b="-7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299" t="-120370" r="-100000" b="-78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endParaRPr lang="he-IL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 rtl="0" fontAlgn="b">
                            <a:buNone/>
                          </a:pPr>
                          <a:endParaRPr lang="he-IL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9525" marR="9525" marT="9525" marB="0" anchor="b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08352088"/>
                      </a:ext>
                    </a:extLst>
                  </a:tr>
                  <a:tr h="1285130"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he-IL" sz="2000" u="none" strike="noStrike" dirty="0" err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Type</a:t>
                          </a:r>
                          <a:r>
                            <a:rPr lang="he-IL" sz="2000" u="none" strike="noStrike" dirty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2 </a:t>
                          </a:r>
                          <a:r>
                            <a:rPr lang="he-IL" sz="2000" u="none" strike="noStrike" dirty="0" err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error</a:t>
                          </a:r>
                          <a:r>
                            <a:rPr lang="he-IL" sz="2000" u="none" strike="noStrike" dirty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(</a:t>
                          </a:r>
                          <a:r>
                            <a:rPr lang="he-IL" sz="2000" u="none" strike="noStrike" dirty="0" err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false</a:t>
                          </a:r>
                          <a:r>
                            <a:rPr lang="he-IL" sz="2000" u="none" strike="noStrike" dirty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en-US" sz="2000" u="none" strike="noStrike" dirty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N</a:t>
                          </a:r>
                          <a:r>
                            <a:rPr lang="he-IL" sz="2000" u="none" strike="noStrike" dirty="0" err="1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egative</a:t>
                          </a:r>
                          <a:r>
                            <a:rPr lang="en-US" sz="2000" u="none" strike="noStrike" dirty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)</a:t>
                          </a:r>
                          <a:endParaRPr lang="he-IL" sz="2000" b="0" i="0" u="none" strike="noStrike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effectLst/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he-IL" sz="2000" u="none" strike="noStrike" dirty="0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True </a:t>
                          </a:r>
                          <a:r>
                            <a:rPr lang="en-US" sz="2000" u="none" strike="noStrike" dirty="0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P</a:t>
                          </a:r>
                          <a:r>
                            <a:rPr lang="he-IL" sz="2000" u="none" strike="noStrike" dirty="0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osetive</a:t>
                          </a:r>
                          <a:endParaRPr lang="he-IL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0000" t="-56132" r="-204545" b="-100472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he-IL" sz="2000" b="1" u="none" strike="noStrike" dirty="0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Hypothesis testing decision</a:t>
                          </a:r>
                          <a:endParaRPr lang="he-IL" sz="20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9525" marR="9525" marT="9525" marB="0" vert="vert27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68662715"/>
                      </a:ext>
                    </a:extLst>
                  </a:tr>
                  <a:tr h="1285130"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he-IL" sz="2000" u="none" strike="noStrike" dirty="0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True </a:t>
                          </a:r>
                          <a:r>
                            <a:rPr lang="en-US" sz="2000" u="none" strike="noStrike" dirty="0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N</a:t>
                          </a:r>
                          <a:r>
                            <a:rPr lang="he-IL" sz="2000" u="none" strike="noStrike" dirty="0" err="1"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egative</a:t>
                          </a:r>
                          <a:endParaRPr lang="he-IL" sz="20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>
                            <a:buNone/>
                          </a:pPr>
                          <a:r>
                            <a:rPr lang="he-IL" sz="2000" u="none" strike="noStrike" dirty="0" err="1">
                              <a:solidFill>
                                <a:srgbClr val="FF0000"/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Type</a:t>
                          </a:r>
                          <a:r>
                            <a:rPr lang="he-IL" sz="200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1 </a:t>
                          </a:r>
                          <a:r>
                            <a:rPr lang="he-IL" sz="2000" u="none" strike="noStrike" dirty="0" err="1">
                              <a:solidFill>
                                <a:srgbClr val="FF0000"/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error</a:t>
                          </a:r>
                          <a:r>
                            <a:rPr lang="he-IL" sz="200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(</a:t>
                          </a:r>
                          <a:r>
                            <a:rPr lang="he-IL" sz="2000" u="none" strike="noStrike" dirty="0" err="1">
                              <a:solidFill>
                                <a:srgbClr val="FF0000"/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False</a:t>
                          </a:r>
                          <a:r>
                            <a:rPr lang="he-IL" sz="200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en-US" sz="200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P</a:t>
                          </a:r>
                          <a:r>
                            <a:rPr lang="he-IL" sz="200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osetive</a:t>
                          </a:r>
                          <a:r>
                            <a:rPr lang="en-US" sz="2000" u="none" strike="noStrike" dirty="0">
                              <a:solidFill>
                                <a:srgbClr val="FF0000"/>
                              </a:solidFill>
                              <a:effectLst/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)</a:t>
                          </a:r>
                          <a:endParaRPr lang="he-IL" sz="2000" b="0" i="0" u="none" strike="noStrike" dirty="0">
                            <a:solidFill>
                              <a:srgbClr val="FF0000"/>
                            </a:solidFill>
                            <a:effectLst/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0000" t="-156872" r="-204545" b="-948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rtl="1"/>
                          <a:endParaRPr lang="he-I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45411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541790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66401-FBA5-908B-22F3-8E288E85B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A2D4-2C29-6CD1-A446-B2A4B97CD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Power analysis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C023B7-51FE-4847-6626-EDB58A2DFF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Power asks: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400" i="0" dirty="0" smtClean="0">
                          <a:latin typeface="Cambria Math" panose="02040503050406030204" pitchFamily="18" charset="0"/>
                        </a:rPr>
                        <m:t>reject</m:t>
                      </m:r>
                      <m:r>
                        <m:rPr>
                          <m:nor/>
                        </m:rPr>
                        <a:rPr lang="en-US" sz="2400" i="0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∣"</m:t>
                      </m:r>
                      <m:r>
                        <m:rPr>
                          <m:sty m:val="p"/>
                        </m:rPr>
                        <a:rPr lang="en-US" sz="2400" i="1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i="1" dirty="0" smtClean="0">
                          <a:latin typeface="Cambria Math" panose="02040503050406030204" pitchFamily="18" charset="0"/>
                        </a:rPr>
                        <m:t>real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i="1" dirty="0" smtClean="0">
                          <a:latin typeface="Cambria Math" panose="02040503050406030204" pitchFamily="18" charset="0"/>
                        </a:rPr>
                        <m:t>effect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i="1" dirty="0" smtClean="0">
                          <a:latin typeface="Cambria Math" panose="02040503050406030204" pitchFamily="18" charset="0"/>
                        </a:rPr>
                        <m:t>exists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" )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Power depends on: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b="1" dirty="0"/>
                  <a:t>Effect size:</a:t>
                </a:r>
                <a:br>
                  <a:rPr lang="en-US" dirty="0"/>
                </a:br>
                <a:r>
                  <a:rPr lang="en-US" dirty="0"/>
                  <a:t>Larger true differences are easier to detect.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b="1" dirty="0"/>
                  <a:t>Sample size:</a:t>
                </a:r>
                <a:br>
                  <a:rPr lang="en-US" b="1" dirty="0"/>
                </a:br>
                <a:r>
                  <a:rPr lang="en-US" dirty="0"/>
                  <a:t>Larger samples reduce the standard error and increase power.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b="1" dirty="0"/>
                  <a:t>Significance level:</a:t>
                </a:r>
                <a:br>
                  <a:rPr lang="en-US" b="1" dirty="0"/>
                </a:br>
                <a:r>
                  <a:rPr lang="en-US" dirty="0"/>
                  <a:t>A larger </a:t>
                </a:r>
                <a:r>
                  <a:rPr lang="el-GR" dirty="0"/>
                  <a:t>α </a:t>
                </a:r>
                <a:r>
                  <a:rPr lang="en-US" dirty="0"/>
                  <a:t>makes rejection easier, but increases Type I error.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b="1" dirty="0"/>
                  <a:t>Variability / noise:</a:t>
                </a:r>
                <a:br>
                  <a:rPr lang="en-US" dirty="0"/>
                </a:br>
                <a:r>
                  <a:rPr lang="en-US" dirty="0"/>
                  <a:t>More variability makes the effect harder to detect.</a:t>
                </a:r>
                <a:endParaRPr lang="he-IL" dirty="0"/>
              </a:p>
              <a:p>
                <a:pPr lvl="2"/>
                <a:endParaRPr lang="en-US" sz="1800" dirty="0"/>
              </a:p>
              <a:p>
                <a:endParaRPr lang="he-IL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C023B7-51FE-4847-6626-EDB58A2DFF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  <a:blipFill>
                <a:blip r:embed="rId3"/>
                <a:stretch>
                  <a:fillRect l="-817" t="-165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3FC0B3B-2FEC-CBCA-3E31-4FEB5DDD3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36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027834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49327-C50F-7F06-BABD-A35A418C4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B0715-6DD1-211F-1F00-D209BBB85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Pre-hoc vs post-hoc power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3BA63-DE0D-48D9-965A-3394220D5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2771"/>
            <a:ext cx="10445496" cy="4801998"/>
          </a:xfrm>
        </p:spPr>
        <p:txBody>
          <a:bodyPr>
            <a:normAutofit/>
          </a:bodyPr>
          <a:lstStyle/>
          <a:p>
            <a:r>
              <a:rPr lang="en-US" sz="2400" dirty="0"/>
              <a:t>Pre-hoc power: used before collecting data to plan sample size.</a:t>
            </a:r>
          </a:p>
          <a:p>
            <a:r>
              <a:rPr lang="en-US" sz="2400" dirty="0"/>
              <a:t>Post-hoc power: calculated after seeing the data; often less useful and can be misleading.</a:t>
            </a:r>
            <a:endParaRPr lang="he-IL" sz="2400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A9DF322-5AC3-EEF9-5B3C-FF457D0F7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37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596644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7613F-BC85-E546-959B-BC8DB89A7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F17DA-5B19-2C80-95E6-8BCA56329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he-IL" dirty="0" err="1"/>
              <a:t>Pre-hoc</a:t>
            </a:r>
            <a:r>
              <a:rPr lang="he-IL" dirty="0"/>
              <a:t> </a:t>
            </a:r>
            <a:r>
              <a:rPr lang="en-US" dirty="0"/>
              <a:t>P</a:t>
            </a:r>
            <a:r>
              <a:rPr lang="he-IL" dirty="0" err="1"/>
              <a:t>ower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DDFCAB-0714-FC37-AC9D-EC522CCA7B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We ask: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400" i="0" dirty="0" smtClean="0">
                          <a:latin typeface="Cambria Math" panose="02040503050406030204" pitchFamily="18" charset="0"/>
                        </a:rPr>
                        <m:t>reject</m:t>
                      </m:r>
                      <m:r>
                        <m:rPr>
                          <m:nor/>
                        </m:rPr>
                        <a:rPr lang="en-US" sz="2400" i="0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∣"</m:t>
                      </m:r>
                      <m:r>
                        <m:rPr>
                          <m:sty m:val="p"/>
                        </m:rPr>
                        <a:rPr lang="en-US" sz="2400" i="1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i="1" dirty="0" smtClean="0">
                          <a:latin typeface="Cambria Math" panose="02040503050406030204" pitchFamily="18" charset="0"/>
                        </a:rPr>
                        <m:t>real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i="1" dirty="0" smtClean="0">
                          <a:latin typeface="Cambria Math" panose="02040503050406030204" pitchFamily="18" charset="0"/>
                        </a:rPr>
                        <m:t>effect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i="1" dirty="0" smtClean="0">
                          <a:latin typeface="Cambria Math" panose="02040503050406030204" pitchFamily="18" charset="0"/>
                        </a:rPr>
                        <m:t>exists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" )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In simulation-based power analysis: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Choose an assumed true effect size.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Choose a planned sample size.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Simulate many datasets from that assumed effect.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Run the same hypothesis test on each dataset.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/>
                  <a:t>Estimate power as the proportion of simulations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is rejected. </a:t>
                </a:r>
              </a:p>
              <a:p>
                <a:pPr marL="0" indent="0">
                  <a:buNone/>
                </a:pPr>
                <a:r>
                  <a:rPr lang="en-US" sz="2400" dirty="0"/>
                  <a:t>Interpretation:</a:t>
                </a:r>
              </a:p>
              <a:p>
                <a:pPr marL="0" indent="0">
                  <a:buNone/>
                </a:pPr>
                <a:r>
                  <a:rPr lang="en-US" sz="2400" dirty="0"/>
                  <a:t>If power is 0.8, then under the assumed true effect and sample size, the test would detect the effect in about 80% of repeated studies.</a:t>
                </a:r>
              </a:p>
              <a:p>
                <a:pPr marL="0" indent="0">
                  <a:buNone/>
                </a:pPr>
                <a:endParaRPr lang="he-IL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DDFCAB-0714-FC37-AC9D-EC522CCA7B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  <a:blipFill>
                <a:blip r:embed="rId3"/>
                <a:stretch>
                  <a:fillRect l="-934" t="-1650" b="-152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EF1F79F5-F76F-A4B1-8C80-F570A1691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38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232852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37703-3241-0232-52D6-0E783A6FC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6DC59-C09C-91AA-5760-2D41BD80B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he-IL" dirty="0" err="1"/>
              <a:t>Pre-hoc</a:t>
            </a:r>
            <a:r>
              <a:rPr lang="he-IL" dirty="0"/>
              <a:t> </a:t>
            </a:r>
            <a:r>
              <a:rPr lang="en-US" dirty="0"/>
              <a:t>P</a:t>
            </a:r>
            <a:r>
              <a:rPr lang="he-IL" dirty="0" err="1"/>
              <a:t>ower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DE5CC-2DF6-7F78-510C-61E59A0BB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2771"/>
            <a:ext cx="10445496" cy="4801998"/>
          </a:xfrm>
        </p:spPr>
        <p:txBody>
          <a:bodyPr>
            <a:normAutofit/>
          </a:bodyPr>
          <a:lstStyle/>
          <a:p>
            <a:r>
              <a:rPr lang="en-US" sz="2400" dirty="0"/>
              <a:t>The simulated power curve shows that: </a:t>
            </a:r>
          </a:p>
          <a:p>
            <a:pPr lvl="1"/>
            <a:r>
              <a:rPr lang="en-US" sz="2000" dirty="0"/>
              <a:t>larger samples increase power. </a:t>
            </a:r>
          </a:p>
          <a:p>
            <a:pPr lvl="1"/>
            <a:r>
              <a:rPr lang="en-US" sz="2000" dirty="0"/>
              <a:t>small effects require larger samples. </a:t>
            </a:r>
          </a:p>
          <a:p>
            <a:pPr lvl="1"/>
            <a:r>
              <a:rPr lang="en-US" sz="2000" dirty="0"/>
              <a:t>a non-significant result can happen because the test had low power</a:t>
            </a:r>
            <a:endParaRPr lang="he-IL" sz="2000" dirty="0"/>
          </a:p>
          <a:p>
            <a:endParaRPr lang="he-IL" sz="2400" dirty="0">
              <a:solidFill>
                <a:srgbClr val="FF0000"/>
              </a:solidFill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E6C2F84B-186B-1AF9-3505-88FA6B181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39</a:t>
            </a:fld>
            <a:endParaRPr lang="LID4096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463D7C12-EB03-2147-CD9D-E9A79EB9F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115" y="3020314"/>
            <a:ext cx="7303264" cy="3701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33941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E19F5-4194-2A2B-6964-C94567506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C143E-1B3C-34AA-0D98-0360E748A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he-IL" dirty="0" err="1"/>
              <a:t>Post-hoc</a:t>
            </a:r>
            <a:r>
              <a:rPr lang="he-IL" dirty="0"/>
              <a:t> </a:t>
            </a:r>
            <a:r>
              <a:rPr lang="en-US" dirty="0"/>
              <a:t>P</a:t>
            </a:r>
            <a:r>
              <a:rPr lang="he-IL" dirty="0" err="1"/>
              <a:t>ower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87B11F-E5E2-9ECD-0F31-DA634BC4FE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Post-hoc power: calculated after seeing the data; often less useful and can be misleading.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𝑝𝑜𝑤𝑒𝑟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he-IL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87B11F-E5E2-9ECD-0F31-DA634BC4FE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  <a:blipFill>
                <a:blip r:embed="rId3"/>
                <a:stretch>
                  <a:fillRect l="-817" t="-165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F10A18D-03A0-D8AA-4223-99194BCF2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40</a:t>
            </a:fld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F351138-440B-221D-E71C-46765FB8FE3D}"/>
              </a:ext>
            </a:extLst>
          </p:cNvPr>
          <p:cNvGrpSpPr/>
          <p:nvPr/>
        </p:nvGrpSpPr>
        <p:grpSpPr>
          <a:xfrm>
            <a:off x="1111170" y="2668334"/>
            <a:ext cx="9618561" cy="3971965"/>
            <a:chOff x="1064871" y="1118114"/>
            <a:chExt cx="10695351" cy="5051192"/>
          </a:xfrm>
        </p:grpSpPr>
        <p:pic>
          <p:nvPicPr>
            <p:cNvPr id="6" name="Picture 2" descr="What are Type 1 and Type 2 Errors?">
              <a:extLst>
                <a:ext uri="{FF2B5EF4-FFF2-40B4-BE49-F238E27FC236}">
                  <a16:creationId xmlns:a16="http://schemas.microsoft.com/office/drawing/2014/main" id="{BDF7A504-4E77-9281-3544-6479289605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4871" y="1118114"/>
              <a:ext cx="10695351" cy="50511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3B44EA6-943B-953A-692D-210884247337}"/>
                    </a:ext>
                  </a:extLst>
                </p:cNvPr>
                <p:cNvSpPr txBox="1"/>
                <p:nvPr/>
              </p:nvSpPr>
              <p:spPr>
                <a:xfrm>
                  <a:off x="6096000" y="4877708"/>
                  <a:ext cx="337457" cy="5334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oMath>
                    </m:oMathPara>
                  </a14:m>
                  <a:endParaRPr b="1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3B44EA6-943B-953A-692D-2108842473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4877708"/>
                  <a:ext cx="337457" cy="533415"/>
                </a:xfrm>
                <a:prstGeom prst="rect">
                  <a:avLst/>
                </a:prstGeom>
                <a:blipFill>
                  <a:blip r:embed="rId5"/>
                  <a:stretch>
                    <a:fillRect l="-6122" r="-20408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FC5B017-819E-B0F6-4B72-02FC4DB859B7}"/>
                </a:ext>
              </a:extLst>
            </p:cNvPr>
            <p:cNvSpPr txBox="1"/>
            <p:nvPr/>
          </p:nvSpPr>
          <p:spPr>
            <a:xfrm>
              <a:off x="6797164" y="4877708"/>
              <a:ext cx="337457" cy="9334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𝛼</a:t>
              </a:r>
              <a:endParaRPr lang="he-IL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0F853BF-76B1-09E9-C8A1-7489BBF129B4}"/>
                    </a:ext>
                  </a:extLst>
                </p:cNvPr>
                <p:cNvSpPr txBox="1"/>
                <p:nvPr/>
              </p:nvSpPr>
              <p:spPr>
                <a:xfrm>
                  <a:off x="4124222" y="4358776"/>
                  <a:ext cx="854013" cy="5334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oMath>
                    </m:oMathPara>
                  </a14:m>
                  <a:endParaRPr b="1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0F853BF-76B1-09E9-C8A1-7489BBF129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4222" y="4358776"/>
                  <a:ext cx="854013" cy="533415"/>
                </a:xfrm>
                <a:prstGeom prst="rect">
                  <a:avLst/>
                </a:prstGeom>
                <a:blipFill>
                  <a:blip r:embed="rId6"/>
                  <a:stretch>
                    <a:fillRect r="-1587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A92EDD0-68C0-DFB6-A7B5-4462DC191350}"/>
                </a:ext>
              </a:extLst>
            </p:cNvPr>
            <p:cNvSpPr txBox="1"/>
            <p:nvPr/>
          </p:nvSpPr>
          <p:spPr>
            <a:xfrm>
              <a:off x="7756588" y="4325743"/>
              <a:ext cx="854013" cy="5334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1- 𝛼</a:t>
              </a:r>
              <a:endParaRPr lang="he-IL" b="1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E59B81F-A0E3-C0B5-EF20-023FFA149556}"/>
              </a:ext>
            </a:extLst>
          </p:cNvPr>
          <p:cNvSpPr txBox="1"/>
          <p:nvPr/>
        </p:nvSpPr>
        <p:spPr>
          <a:xfrm>
            <a:off x="6267422" y="5591566"/>
            <a:ext cx="3374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𝛼</a:t>
            </a:r>
            <a:endParaRPr lang="he-IL" sz="2000" b="1" dirty="0"/>
          </a:p>
        </p:txBody>
      </p:sp>
    </p:spTree>
    <p:extLst>
      <p:ext uri="{BB962C8B-B14F-4D97-AF65-F5344CB8AC3E}">
        <p14:creationId xmlns:p14="http://schemas.microsoft.com/office/powerpoint/2010/main" val="10379733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05601-4822-51E9-DA3B-16699C220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2408"/>
            <a:ext cx="10515600" cy="1325563"/>
          </a:xfrm>
        </p:spPr>
        <p:txBody>
          <a:bodyPr/>
          <a:lstStyle/>
          <a:p>
            <a:pPr algn="ctr"/>
            <a:r>
              <a:rPr lang="he-IL" dirty="0"/>
              <a:t>Frequentist</a:t>
            </a:r>
            <a:r>
              <a:rPr lang="en-US" dirty="0"/>
              <a:t> H</a:t>
            </a:r>
            <a:r>
              <a:rPr lang="he-IL" dirty="0"/>
              <a:t>ypothesis </a:t>
            </a:r>
            <a:r>
              <a:rPr lang="en-US" dirty="0"/>
              <a:t>Testing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3277654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9873B-8475-1955-9CF7-8AA1C0B54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A8EC3-5938-A622-41C6-4F6F87EE3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he-IL" dirty="0"/>
              <a:t>Frequentist </a:t>
            </a:r>
            <a:r>
              <a:rPr lang="en-US" dirty="0"/>
              <a:t>T</a:t>
            </a:r>
            <a:r>
              <a:rPr lang="he-IL" dirty="0" err="1"/>
              <a:t>wo-proportion</a:t>
            </a:r>
            <a:r>
              <a:rPr lang="he-IL" dirty="0"/>
              <a:t> </a:t>
            </a:r>
            <a:r>
              <a:rPr lang="en-US" dirty="0"/>
              <a:t>Z</a:t>
            </a:r>
            <a:r>
              <a:rPr lang="he-IL" dirty="0"/>
              <a:t>-</a:t>
            </a:r>
            <a:r>
              <a:rPr lang="en-US" dirty="0"/>
              <a:t>t</a:t>
            </a:r>
            <a:r>
              <a:rPr lang="he-IL" dirty="0" err="1"/>
              <a:t>est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15BDE9-9569-FC1B-5DAD-331414D200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Frequentist hypothesis tests use a statistic whose sampling distribution is known</a:t>
                </a:r>
              </a:p>
              <a:p>
                <a:r>
                  <a:rPr lang="en-US" dirty="0"/>
                  <a:t>Z-test use the z statistic, </a:t>
                </a:r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~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  <a:p>
                <a:r>
                  <a:rPr lang="en-US" dirty="0"/>
                  <a:t>Under the null hypothesis</a:t>
                </a:r>
                <a:r>
                  <a:rPr lang="en-US" sz="2400" dirty="0"/>
                  <a:t> w</a:t>
                </a:r>
                <a:r>
                  <a:rPr lang="en-US" dirty="0"/>
                  <a:t>e test whether calculating the statistic on our data is consistent</a:t>
                </a:r>
                <a:r>
                  <a:rPr lang="en-US" sz="2400" dirty="0"/>
                  <a:t> w</a:t>
                </a:r>
                <a:r>
                  <a:rPr lang="en-US" dirty="0"/>
                  <a:t>ith the null sampling distribution.</a:t>
                </a:r>
                <a:endParaRPr lang="he-IL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15BDE9-9569-FC1B-5DAD-331414D200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  <a:blipFill>
                <a:blip r:embed="rId3"/>
                <a:stretch>
                  <a:fillRect l="-1051" t="-2030" r="-110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574ADF0-DE73-6D59-C5EA-DA4E68F2F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42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541765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18A74-BC3F-D295-F292-56E2D15CF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EC792-6D8A-AEDE-3F69-D71CD7D28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he-IL" dirty="0"/>
              <a:t>Frequentist </a:t>
            </a:r>
            <a:r>
              <a:rPr lang="en-US" dirty="0"/>
              <a:t>T</a:t>
            </a:r>
            <a:r>
              <a:rPr lang="he-IL" dirty="0" err="1"/>
              <a:t>wo-proportion</a:t>
            </a:r>
            <a:r>
              <a:rPr lang="he-IL" dirty="0"/>
              <a:t> </a:t>
            </a:r>
            <a:r>
              <a:rPr lang="en-US" dirty="0"/>
              <a:t>Z</a:t>
            </a:r>
            <a:r>
              <a:rPr lang="he-IL" dirty="0"/>
              <a:t>-</a:t>
            </a:r>
            <a:r>
              <a:rPr lang="en-US" dirty="0"/>
              <a:t>t</a:t>
            </a:r>
            <a:r>
              <a:rPr lang="he-IL" dirty="0" err="1"/>
              <a:t>est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CC335-F753-3994-0432-53B3B0DAE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2771"/>
            <a:ext cx="10445496" cy="4801998"/>
          </a:xfrm>
        </p:spPr>
        <p:txBody>
          <a:bodyPr>
            <a:normAutofit/>
          </a:bodyPr>
          <a:lstStyle/>
          <a:p>
            <a:r>
              <a:rPr lang="en-US" b="1" dirty="0"/>
              <a:t>Assumptions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Random sampling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Independent groups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Large sample size</a:t>
            </a:r>
            <a:br>
              <a:rPr lang="en-US" dirty="0"/>
            </a:br>
            <a:r>
              <a:rPr lang="en-US" dirty="0"/>
              <a:t>The test relies on a normal approximation. If the sample is too small, the approximation may be unreliable.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Known population variance</a:t>
            </a:r>
          </a:p>
          <a:p>
            <a:pPr marL="0" indent="0">
              <a:buNone/>
            </a:pPr>
            <a:r>
              <a:rPr lang="en-US" dirty="0"/>
              <a:t>​If the assumptions are not met, use a different test or interpret the result cautiously.</a:t>
            </a:r>
            <a:endParaRPr lang="he-IL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0C5977E-7401-587D-0E2D-28BD95290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43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681463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6AE7B-8D9E-727A-07F6-E1C5450EA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3BAF1-887B-01D8-8F95-3D4693736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he-IL" dirty="0"/>
              <a:t>Frequentist </a:t>
            </a:r>
            <a:r>
              <a:rPr lang="en-US" dirty="0"/>
              <a:t>T</a:t>
            </a:r>
            <a:r>
              <a:rPr lang="he-IL" dirty="0" err="1"/>
              <a:t>wo-proportion</a:t>
            </a:r>
            <a:r>
              <a:rPr lang="he-IL" dirty="0"/>
              <a:t> z-</a:t>
            </a:r>
            <a:r>
              <a:rPr lang="en-US" dirty="0"/>
              <a:t>T</a:t>
            </a:r>
            <a:r>
              <a:rPr lang="he-IL" dirty="0" err="1"/>
              <a:t>est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0C1FF0-70E6-9A96-1199-5CBDF91CCF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Our h</a:t>
                </a:r>
                <a:r>
                  <a:rPr lang="he-IL" dirty="0"/>
                  <a:t>ypothesis </a:t>
                </a:r>
                <a:r>
                  <a:rPr lang="en-US" dirty="0"/>
                  <a:t>: </a:t>
                </a:r>
              </a:p>
              <a:p>
                <a:r>
                  <a:rPr lang="en-US" dirty="0"/>
                  <a:t>N</a:t>
                </a:r>
                <a:r>
                  <a:rPr lang="he-IL" dirty="0" err="1"/>
                  <a:t>ull</a:t>
                </a:r>
                <a:r>
                  <a:rPr lang="he-IL" dirty="0"/>
                  <a:t> hypothesis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sz="32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he-IL" sz="320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he-IL" sz="320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he-IL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sz="3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he-IL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he-IL" sz="32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e-IL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sz="3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he-IL" sz="3200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endParaRPr lang="he-IL" dirty="0"/>
              </a:p>
              <a:p>
                <a:r>
                  <a:rPr lang="he-IL" dirty="0"/>
                  <a:t>The two-</a:t>
                </a:r>
                <a:r>
                  <a:rPr lang="he-IL" dirty="0" err="1"/>
                  <a:t>sided</a:t>
                </a:r>
                <a:r>
                  <a:rPr lang="he-IL" dirty="0"/>
                  <a:t> alternative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sz="32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he-IL" sz="3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he-IL" sz="320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he-IL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sz="3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he-IL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he-IL" sz="3200">
                          <a:latin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he-IL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sz="32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he-IL" sz="3200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he-IL" dirty="0"/>
              </a:p>
              <a:p>
                <a:endParaRPr lang="en-US" dirty="0"/>
              </a:p>
              <a:p>
                <a:r>
                  <a:rPr lang="he-IL" dirty="0"/>
                  <a:t>This </a:t>
                </a:r>
                <a:r>
                  <a:rPr lang="he-IL" dirty="0" err="1"/>
                  <a:t>test</a:t>
                </a:r>
                <a:r>
                  <a:rPr lang="he-IL" dirty="0"/>
                  <a:t> uses only the two </a:t>
                </a:r>
                <a:r>
                  <a:rPr lang="he-IL" dirty="0" err="1"/>
                  <a:t>selected</a:t>
                </a:r>
                <a:r>
                  <a:rPr lang="he-IL" dirty="0"/>
                  <a:t> </a:t>
                </a:r>
                <a:r>
                  <a:rPr lang="he-IL" dirty="0" err="1"/>
                  <a:t>countrie</a:t>
                </a:r>
                <a:r>
                  <a:rPr lang="en-US" dirty="0"/>
                  <a:t>s as independent samples</a:t>
                </a:r>
                <a:r>
                  <a:rPr lang="he-IL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0C1FF0-70E6-9A96-1199-5CBDF91CCF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  <a:blipFill>
                <a:blip r:embed="rId3"/>
                <a:stretch>
                  <a:fillRect l="-1051" t="-253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E70C63D1-520D-FBA3-A4A7-7F66E552F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44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716944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9507B-7983-473F-9552-515192A15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AFE58-681A-A2E0-5B16-290473E6E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Z Statistic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3B9F28-1DCF-423A-16BE-850D69D883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3252" y="1346560"/>
                <a:ext cx="10445496" cy="4801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he-IL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e-IL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he-I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he-IL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he-IL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  <m:sub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he-IL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he-I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he-IL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he-IL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  <m:sub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he-IL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he-IL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he-I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he-IL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he-IL" i="1">
                                      <a:latin typeface="Cambria Math" panose="02040503050406030204" pitchFamily="18" charset="0"/>
                                    </a:rPr>
                                    <m:t>𝑝𝑜𝑜𝑙𝑒𝑑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he-IL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he-IL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he-IL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he-I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he-IL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he-IL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he-IL" i="1">
                                          <a:latin typeface="Cambria Math" panose="02040503050406030204" pitchFamily="18" charset="0"/>
                                        </a:rPr>
                                        <m:t>𝑝𝑜𝑜𝑙𝑒𝑑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he-IL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he-I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he-I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he-IL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he-IL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he-IL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he-IL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he-IL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he-IL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he-IL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he-IL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he-IL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he-IL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W</a:t>
                </a:r>
                <a:r>
                  <a:rPr lang="he-IL" sz="2400" dirty="0" err="1"/>
                  <a:t>here</a:t>
                </a:r>
                <a:r>
                  <a:rPr lang="he-IL" sz="24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he-IL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he-IL" i="1">
                              <a:latin typeface="Cambria Math" panose="02040503050406030204" pitchFamily="18" charset="0"/>
                            </a:rPr>
                            <m:t>𝑝𝑜𝑜𝑙𝑒𝑑</m:t>
                          </m:r>
                        </m:sub>
                      </m:sSub>
                      <m:r>
                        <a:rPr lang="he-IL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e-IL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he-I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he-IL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he-I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he-I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he-IL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he-I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3B9F28-1DCF-423A-16BE-850D69D883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3252" y="1346560"/>
                <a:ext cx="10445496" cy="4801998"/>
              </a:xfrm>
              <a:blipFill>
                <a:blip r:embed="rId3"/>
                <a:stretch>
                  <a:fillRect l="-87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320A248-A3FF-8FCB-108A-71B3BC8B2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45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525948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429A7-A455-08EF-1657-DD04579E8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28E7-1424-6247-5034-924998076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Two-sided p-Value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2164C9-5F49-EC46-4FDE-035EA11E9F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6302"/>
                <a:ext cx="10445496" cy="4801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he-IL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e-IL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he-IL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he-I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i="1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he-IL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he-IL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z</m:t>
                          </m:r>
                          <m:r>
                            <a:rPr lang="he-IL">
                              <a:latin typeface="Cambria Math" panose="02040503050406030204" pitchFamily="18" charset="0"/>
                            </a:rPr>
                            <m:t>∣</m:t>
                          </m:r>
                        </m:e>
                      </m:d>
                    </m:oMath>
                  </m:oMathPara>
                </a14:m>
                <a:endParaRPr lang="he-IL" sz="2400" dirty="0"/>
              </a:p>
              <a:p>
                <a:endParaRPr lang="en-US" sz="2400" dirty="0"/>
              </a:p>
              <a:p>
                <a:r>
                  <a:rPr lang="he-IL" dirty="0"/>
                  <a:t>The p-</a:t>
                </a:r>
                <a:r>
                  <a:rPr lang="he-IL" dirty="0" err="1"/>
                  <a:t>value</a:t>
                </a:r>
                <a:r>
                  <a:rPr lang="he-IL" dirty="0"/>
                  <a:t> is calculated under the assumption </a:t>
                </a:r>
                <a:r>
                  <a:rPr lang="he-IL" dirty="0" err="1"/>
                  <a:t>that</a:t>
                </a:r>
                <a:r>
                  <a:rPr lang="he-I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32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he-IL" sz="32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he-IL" dirty="0"/>
                  <a:t>is </a:t>
                </a:r>
                <a:r>
                  <a:rPr lang="he-IL" dirty="0" err="1"/>
                  <a:t>true</a:t>
                </a:r>
                <a:r>
                  <a:rPr lang="en-US" dirty="0"/>
                  <a:t>.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he-IL" dirty="0"/>
                  <a:t>A two-</a:t>
                </a:r>
                <a:r>
                  <a:rPr lang="he-IL" dirty="0" err="1"/>
                  <a:t>sided</a:t>
                </a:r>
                <a:r>
                  <a:rPr lang="he-IL" dirty="0"/>
                  <a:t> </a:t>
                </a:r>
                <a:r>
                  <a:rPr lang="he-IL" dirty="0" err="1"/>
                  <a:t>test</a:t>
                </a:r>
                <a:r>
                  <a:rPr lang="he-IL" dirty="0"/>
                  <a:t> </a:t>
                </a:r>
                <a:r>
                  <a:rPr lang="en-US" dirty="0"/>
                  <a:t>- </a:t>
                </a:r>
                <a:r>
                  <a:rPr lang="he-IL" dirty="0"/>
                  <a:t>we </a:t>
                </a:r>
                <a:r>
                  <a:rPr lang="he-IL" dirty="0" err="1"/>
                  <a:t>ask</a:t>
                </a:r>
                <a:r>
                  <a:rPr lang="he-IL" dirty="0"/>
                  <a:t> whether </a:t>
                </a:r>
                <a:r>
                  <a:rPr lang="he-IL" dirty="0" err="1"/>
                  <a:t>there</a:t>
                </a:r>
                <a:r>
                  <a:rPr lang="he-IL" dirty="0"/>
                  <a:t> is any difference, not only whether one </a:t>
                </a:r>
                <a:r>
                  <a:rPr lang="he-IL" dirty="0" err="1"/>
                  <a:t>specific</a:t>
                </a:r>
                <a:r>
                  <a:rPr lang="he-IL" dirty="0"/>
                  <a:t> country is </a:t>
                </a:r>
                <a:r>
                  <a:rPr lang="he-IL" dirty="0" err="1"/>
                  <a:t>higher</a:t>
                </a:r>
                <a:r>
                  <a:rPr lang="he-IL" dirty="0"/>
                  <a:t>.</a:t>
                </a:r>
                <a:endParaRPr lang="en-US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2164C9-5F49-EC46-4FDE-035EA11E9F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6302"/>
                <a:ext cx="10445496" cy="4801998"/>
              </a:xfrm>
              <a:blipFill>
                <a:blip r:embed="rId3"/>
                <a:stretch>
                  <a:fillRect l="-105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94AAB84-F8A8-C30B-2BA4-6AC98E9ED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46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814767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74A5C-0795-84C0-E25F-5C0E885B2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5A484-F5FE-4F51-8222-F7E8A2337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he-IL" dirty="0"/>
              <a:t>Significance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62386B-F9AA-72A8-5F3F-F64F9DC17F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</p:spPr>
            <p:txBody>
              <a:bodyPr>
                <a:normAutofit/>
              </a:bodyPr>
              <a:lstStyle/>
              <a:p>
                <a:r>
                  <a:rPr lang="he-IL" sz="2400" dirty="0"/>
                  <a:t>The decision uses a </a:t>
                </a:r>
                <a:r>
                  <a:rPr lang="he-IL" sz="2400" dirty="0" err="1"/>
                  <a:t>significance</a:t>
                </a:r>
                <a:r>
                  <a:rPr lang="he-IL" sz="2400" dirty="0"/>
                  <a:t> </a:t>
                </a:r>
                <a:r>
                  <a:rPr lang="he-IL" sz="2400" dirty="0" err="1"/>
                  <a:t>threshold</a:t>
                </a:r>
                <a:r>
                  <a:rPr lang="he-IL" sz="2400" dirty="0"/>
                  <a:t>:</a:t>
                </a:r>
                <a:br>
                  <a:rPr lang="en-US" sz="2400" dirty="0"/>
                </a:br>
                <a:endParaRPr lang="he-IL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400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he-IL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e-IL" sz="24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he-IL" sz="24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he-IL" sz="2400">
                          <a:latin typeface="Cambria Math" panose="02040503050406030204" pitchFamily="18" charset="0"/>
                        </a:rPr>
                        <m:t>05</m:t>
                      </m:r>
                    </m:oMath>
                  </m:oMathPara>
                </a14:m>
                <a:endParaRPr lang="he-IL" sz="2400" dirty="0"/>
              </a:p>
              <a:p>
                <a:r>
                  <a:rPr lang="he-IL" sz="2400" dirty="0"/>
                  <a:t>If</a:t>
                </a:r>
                <a:r>
                  <a:rPr lang="en-US" sz="2400" dirty="0"/>
                  <a:t>   </a:t>
                </a:r>
                <a14:m>
                  <m:oMath xmlns:m="http://schemas.openxmlformats.org/officeDocument/2006/math">
                    <m:r>
                      <a:rPr lang="he-IL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he-IL" sz="2400">
                        <a:latin typeface="Cambria Math" panose="02040503050406030204" pitchFamily="18" charset="0"/>
                      </a:rPr>
                      <m:t>&lt;</m:t>
                    </m:r>
                    <m:r>
                      <a:rPr lang="he-IL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he-IL" sz="2400" dirty="0"/>
                  <a:t>we </a:t>
                </a:r>
                <a:r>
                  <a:rPr lang="he-IL" sz="2400" dirty="0" err="1"/>
                  <a:t>reject</a:t>
                </a:r>
                <a:r>
                  <a:rPr lang="he-IL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40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he-IL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he-IL" sz="2400" dirty="0"/>
                  <a:t>.</a:t>
                </a:r>
              </a:p>
              <a:p>
                <a:r>
                  <a:rPr lang="he-IL" sz="2400" dirty="0"/>
                  <a:t>If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he-IL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he-IL" sz="2400">
                        <a:latin typeface="Cambria Math" panose="02040503050406030204" pitchFamily="18" charset="0"/>
                      </a:rPr>
                      <m:t>≥</m:t>
                    </m:r>
                    <m:r>
                      <a:rPr lang="he-IL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sz="2400" dirty="0"/>
                  <a:t>we fail to </a:t>
                </a:r>
                <a:r>
                  <a:rPr lang="he-IL" sz="2400" dirty="0" err="1"/>
                  <a:t>reject</a:t>
                </a:r>
                <a:r>
                  <a:rPr lang="he-IL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4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he-IL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he-IL" sz="2400" dirty="0"/>
                  <a:t>.</a:t>
                </a:r>
                <a:endParaRPr lang="en-US" sz="2400" dirty="0"/>
              </a:p>
              <a:p>
                <a:pPr lvl="1"/>
                <a:r>
                  <a:rPr lang="en-US" sz="2000" dirty="0"/>
                  <a:t>“Fail to reject” does not mean “prove no difference.”</a:t>
                </a:r>
              </a:p>
              <a:p>
                <a:pPr lvl="1"/>
                <a:r>
                  <a:rPr lang="en-US" sz="2000" dirty="0"/>
                  <a:t>It means:</a:t>
                </a:r>
              </a:p>
              <a:p>
                <a:pPr lvl="1"/>
                <a:r>
                  <a:rPr lang="en-US" sz="2000" dirty="0"/>
                  <a:t>Under this test and threshold, the observed data were not sufficiently extreme to reject the null model.</a:t>
                </a:r>
              </a:p>
              <a:p>
                <a:r>
                  <a:rPr lang="en-US" sz="2400" dirty="0"/>
                  <a:t>𝛼 controls the long-run Type I error rate of the decision rule.</a:t>
                </a:r>
              </a:p>
              <a:p>
                <a:pPr marL="0" indent="0">
                  <a:buNone/>
                </a:pPr>
                <a:endParaRPr lang="he-IL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62386B-F9AA-72A8-5F3F-F64F9DC17F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  <a:blipFill>
                <a:blip r:embed="rId3"/>
                <a:stretch>
                  <a:fillRect l="-817" t="-190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4968F76-C092-5BB0-7833-BBA9EC87C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47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73333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9F8FD-1B62-FB48-1902-9E74D9F3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tudent's t-Distribution: Symmetry, Formula, and Applications | StudyPug">
            <a:extLst>
              <a:ext uri="{FF2B5EF4-FFF2-40B4-BE49-F238E27FC236}">
                <a16:creationId xmlns:a16="http://schemas.microsoft.com/office/drawing/2014/main" id="{3BCE8D7B-D522-B47D-E9D4-D763F73D9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0626" y="2488800"/>
            <a:ext cx="5959947" cy="3971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70356-BE67-D7DF-2C5F-8563D1B52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Reminder - Confidence Interval</a:t>
            </a:r>
            <a:endParaRPr lang="LID4096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C79F36-9D05-CA76-EA41-39BB936310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The confidence interval is a frequentist uncertainty interval for the observed difference in proportions.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The </a:t>
                </a:r>
                <a:r>
                  <a:rPr lang="en-US" sz="2400" dirty="0" err="1"/>
                  <a:t>z_critical</a:t>
                </a:r>
                <a:r>
                  <a:rPr lang="en-US" sz="2400" dirty="0"/>
                  <a:t> value:</a:t>
                </a:r>
              </a:p>
              <a:p>
                <a:pPr marL="0" indent="0">
                  <a:buNone/>
                </a:pPr>
                <a:r>
                  <a:rPr lang="en-US" sz="2400" dirty="0"/>
                  <a:t>Lower tail : </a:t>
                </a:r>
                <a14:m>
                  <m:oMath xmlns:m="http://schemas.openxmlformats.org/officeDocument/2006/math">
                    <m:r>
                      <a:rPr lang="he-IL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he-IL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he-IL" sz="240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he-IL" sz="2400" i="1" dirty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400" i="1" dirty="0" err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he-IL" sz="2400" i="1" dirty="0" err="1"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  <m:r>
                      <a:rPr lang="he-IL" sz="2400" i="1" dirty="0">
                        <a:latin typeface="Cambria Math" panose="02040503050406030204" pitchFamily="18" charset="0"/>
                      </a:rPr>
                      <m:t>​)=</m:t>
                    </m:r>
                    <m:r>
                      <a:rPr lang="he-IL" sz="24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he-IL" sz="24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he-IL" sz="2400" i="1" dirty="0" smtClean="0">
                        <a:latin typeface="Cambria Math" panose="02040503050406030204" pitchFamily="18" charset="0"/>
                      </a:rPr>
                      <m:t>025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Upper tail: </a:t>
                </a:r>
                <a14:m>
                  <m:oMath xmlns:m="http://schemas.openxmlformats.org/officeDocument/2006/math">
                    <m:r>
                      <a:rPr lang="he-IL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he-IL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he-IL" sz="2400" i="1" dirty="0" err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he-IL" sz="2400" i="1" dirty="0" err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400" i="1" dirty="0" err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he-IL" sz="2400" i="1" dirty="0" err="1">
                            <a:latin typeface="Cambria Math" panose="02040503050406030204" pitchFamily="18" charset="0"/>
                          </a:rPr>
                          <m:t>𝑐𝑟𝑖𝑡</m:t>
                        </m:r>
                        <m:r>
                          <a:rPr lang="he-IL" sz="2400" i="1" dirty="0">
                            <a:latin typeface="Cambria Math" panose="02040503050406030204" pitchFamily="18" charset="0"/>
                          </a:rPr>
                          <m:t>​</m:t>
                        </m:r>
                      </m:sub>
                    </m:sSub>
                    <m:r>
                      <a:rPr lang="he-IL" sz="2400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he-IL" sz="24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he-IL" sz="240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he-IL" sz="2400" i="1" dirty="0">
                        <a:latin typeface="Cambria Math" panose="02040503050406030204" pitchFamily="18" charset="0"/>
                      </a:rPr>
                      <m:t>975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000" dirty="0" err="1"/>
                  <a:t>z_critical</a:t>
                </a:r>
                <a:r>
                  <a:rPr lang="en-US" sz="2000" dirty="0"/>
                  <a:t> = </a:t>
                </a:r>
                <a:r>
                  <a:rPr lang="en-US" sz="2000" dirty="0" err="1"/>
                  <a:t>stats.norm.ppf</a:t>
                </a:r>
                <a:r>
                  <a:rPr lang="en-US" sz="2000" dirty="0"/>
                  <a:t>(1 –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 dirty="0"/>
                  <a:t>/ 2)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C79F36-9D05-CA76-EA41-39BB936310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2771"/>
                <a:ext cx="10445496" cy="4801998"/>
              </a:xfrm>
              <a:blipFill>
                <a:blip r:embed="rId4"/>
                <a:stretch>
                  <a:fillRect l="-934" t="-165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0324C4C7-6039-C6D6-FA74-32CCFDE3E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48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716966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96E27-CBBB-E9A7-7FFC-F409B8C42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E1453-4622-A2AA-FCAC-61CA55959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he-IL" dirty="0"/>
              <a:t>Frequentist </a:t>
            </a:r>
            <a:r>
              <a:rPr lang="en-US" dirty="0"/>
              <a:t>T</a:t>
            </a:r>
            <a:r>
              <a:rPr lang="he-IL" dirty="0" err="1"/>
              <a:t>wo-proportion</a:t>
            </a:r>
            <a:r>
              <a:rPr lang="he-IL" dirty="0"/>
              <a:t> z-</a:t>
            </a:r>
            <a:r>
              <a:rPr lang="en-US" dirty="0"/>
              <a:t>T</a:t>
            </a:r>
            <a:r>
              <a:rPr lang="he-IL" dirty="0" err="1"/>
              <a:t>est</a:t>
            </a:r>
            <a:endParaRPr lang="LID4096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C7CF9E2-A8D8-ACDF-F3CF-2B0A9CCC5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49</a:t>
            </a:fld>
            <a:endParaRPr lang="LID4096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5E8364C9-E07C-B47A-CEA2-239B6728D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476" y="1567656"/>
            <a:ext cx="7724775" cy="486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84959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999EF-A8EA-9529-CC82-1D5408D5A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z-</a:t>
            </a:r>
            <a:r>
              <a:rPr lang="en-US" dirty="0"/>
              <a:t>T</a:t>
            </a:r>
            <a:r>
              <a:rPr lang="he-IL" dirty="0" err="1"/>
              <a:t>est</a:t>
            </a:r>
            <a:endParaRPr lang="he-I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36E43B-D860-946B-02F4-0F3BC0C5DC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9596"/>
          <a:stretch>
            <a:fillRect/>
          </a:stretch>
        </p:blipFill>
        <p:spPr>
          <a:xfrm>
            <a:off x="1067101" y="1525701"/>
            <a:ext cx="5420481" cy="3806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637E90-30CB-8966-D60B-2E9A8FAFF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01" y="5435452"/>
            <a:ext cx="6354062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8658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48353-9A25-4DD1-009B-7A7AFB452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86A4-7672-E445-26E9-BF4B2A1BD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z-</a:t>
            </a:r>
            <a:r>
              <a:rPr lang="en-US" dirty="0"/>
              <a:t>T</a:t>
            </a:r>
            <a:r>
              <a:rPr lang="he-IL" dirty="0" err="1"/>
              <a:t>est</a:t>
            </a:r>
            <a:endParaRPr lang="he-I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971248-C1A1-DB7F-D3ED-7F9A5AB7F2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9596"/>
          <a:stretch>
            <a:fillRect/>
          </a:stretch>
        </p:blipFill>
        <p:spPr>
          <a:xfrm>
            <a:off x="1067101" y="1525701"/>
            <a:ext cx="5420481" cy="3806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4794AD-3047-1E3F-C4D1-A3808531B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01" y="5435452"/>
            <a:ext cx="6354062" cy="10574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49067D-C28D-514A-1E6E-A1EFC0487171}"/>
              </a:ext>
            </a:extLst>
          </p:cNvPr>
          <p:cNvSpPr/>
          <p:nvPr/>
        </p:nvSpPr>
        <p:spPr>
          <a:xfrm>
            <a:off x="983226" y="1525701"/>
            <a:ext cx="6354060" cy="1057423"/>
          </a:xfrm>
          <a:prstGeom prst="rect">
            <a:avLst/>
          </a:prstGeom>
          <a:solidFill>
            <a:srgbClr val="FFC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A07641-6563-F867-F6BD-C69166DAC93D}"/>
              </a:ext>
            </a:extLst>
          </p:cNvPr>
          <p:cNvSpPr/>
          <p:nvPr/>
        </p:nvSpPr>
        <p:spPr>
          <a:xfrm>
            <a:off x="983225" y="2686277"/>
            <a:ext cx="6354061" cy="1974213"/>
          </a:xfrm>
          <a:prstGeom prst="rect">
            <a:avLst/>
          </a:prstGeom>
          <a:solidFill>
            <a:schemeClr val="accent6">
              <a:lumMod val="40000"/>
              <a:lumOff val="6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3AF2C2-FDEC-D3E3-2FD3-65C363073AC1}"/>
              </a:ext>
            </a:extLst>
          </p:cNvPr>
          <p:cNvSpPr/>
          <p:nvPr/>
        </p:nvSpPr>
        <p:spPr>
          <a:xfrm>
            <a:off x="983224" y="4732675"/>
            <a:ext cx="6354062" cy="1057424"/>
          </a:xfrm>
          <a:prstGeom prst="rect">
            <a:avLst/>
          </a:prstGeom>
          <a:solidFill>
            <a:schemeClr val="tx2">
              <a:lumMod val="50000"/>
              <a:lumOff val="5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BEEDD1-2144-C797-887A-5D2D3631CD2C}"/>
              </a:ext>
            </a:extLst>
          </p:cNvPr>
          <p:cNvSpPr/>
          <p:nvPr/>
        </p:nvSpPr>
        <p:spPr>
          <a:xfrm>
            <a:off x="983224" y="5893252"/>
            <a:ext cx="6354062" cy="813635"/>
          </a:xfrm>
          <a:prstGeom prst="rect">
            <a:avLst/>
          </a:prstGeom>
          <a:solidFill>
            <a:schemeClr val="accent5">
              <a:lumMod val="40000"/>
              <a:lumOff val="6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8A21A7-5C24-2E33-0CC0-22A898C4DF3C}"/>
              </a:ext>
            </a:extLst>
          </p:cNvPr>
          <p:cNvSpPr txBox="1"/>
          <p:nvPr/>
        </p:nvSpPr>
        <p:spPr>
          <a:xfrm>
            <a:off x="7924799" y="1525701"/>
            <a:ext cx="2890683" cy="369332"/>
          </a:xfrm>
          <a:prstGeom prst="rect">
            <a:avLst/>
          </a:prstGeom>
          <a:solidFill>
            <a:srgbClr val="FFC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he-IL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Calculating the thetas 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5645A6-13C1-D073-7383-2A363B3BE65A}"/>
              </a:ext>
            </a:extLst>
          </p:cNvPr>
          <p:cNvSpPr txBox="1"/>
          <p:nvPr/>
        </p:nvSpPr>
        <p:spPr>
          <a:xfrm>
            <a:off x="7924800" y="2686277"/>
            <a:ext cx="2890684" cy="932229"/>
          </a:xfrm>
          <a:prstGeom prst="rect">
            <a:avLst/>
          </a:prstGeom>
          <a:solidFill>
            <a:schemeClr val="accent6">
              <a:lumMod val="40000"/>
              <a:lumOff val="6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he-IL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Calculating the pooled theta and the std under the null model 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C43EC2-20C7-1583-8F42-D8D35A348181}"/>
              </a:ext>
            </a:extLst>
          </p:cNvPr>
          <p:cNvSpPr txBox="1"/>
          <p:nvPr/>
        </p:nvSpPr>
        <p:spPr>
          <a:xfrm>
            <a:off x="7924800" y="4716369"/>
            <a:ext cx="2890684" cy="932229"/>
          </a:xfrm>
          <a:prstGeom prst="rect">
            <a:avLst/>
          </a:prstGeom>
          <a:solidFill>
            <a:schemeClr val="tx2">
              <a:lumMod val="50000"/>
              <a:lumOff val="5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he-IL"/>
            </a:defPPr>
            <a:lvl1pPr algn="ctr">
              <a:defRPr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Calculating the z statistic, p-value and z critical value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99FB5D-1820-64B9-E80A-05A945E685FD}"/>
              </a:ext>
            </a:extLst>
          </p:cNvPr>
          <p:cNvSpPr txBox="1"/>
          <p:nvPr/>
        </p:nvSpPr>
        <p:spPr>
          <a:xfrm>
            <a:off x="7924799" y="5833954"/>
            <a:ext cx="2890684" cy="932229"/>
          </a:xfrm>
          <a:prstGeom prst="rect">
            <a:avLst/>
          </a:prstGeom>
          <a:solidFill>
            <a:schemeClr val="accent5">
              <a:lumMod val="40000"/>
              <a:lumOff val="6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he-IL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Calculating the confidence interval</a:t>
            </a:r>
            <a:endParaRPr lang="he-I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55443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39CB2-8B98-CB88-B602-10570BCBB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F44FC-B42A-26D6-B78E-3EDD6FA3A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z-</a:t>
            </a:r>
            <a:r>
              <a:rPr lang="en-US" dirty="0"/>
              <a:t>T</a:t>
            </a:r>
            <a:r>
              <a:rPr lang="he-IL" dirty="0" err="1"/>
              <a:t>est</a:t>
            </a:r>
            <a:endParaRPr lang="he-IL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A9B1328-A74F-54F1-99FD-EAFF071F82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0000"/>
          <a:stretch>
            <a:fillRect/>
          </a:stretch>
        </p:blipFill>
        <p:spPr>
          <a:xfrm>
            <a:off x="1983991" y="2103437"/>
            <a:ext cx="8484619" cy="1325563"/>
          </a:xfrm>
          <a:prstGeom prst="rect">
            <a:avLst/>
          </a:prstGeom>
        </p:spPr>
      </p:pic>
      <p:pic>
        <p:nvPicPr>
          <p:cNvPr id="9" name="Content Placeholder 7">
            <a:extLst>
              <a:ext uri="{FF2B5EF4-FFF2-40B4-BE49-F238E27FC236}">
                <a16:creationId xmlns:a16="http://schemas.microsoft.com/office/drawing/2014/main" id="{6F93D9C8-001F-9F78-C0E6-45FD98E74E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/>
          <a:stretch>
            <a:fillRect/>
          </a:stretch>
        </p:blipFill>
        <p:spPr>
          <a:xfrm>
            <a:off x="1983992" y="4092314"/>
            <a:ext cx="8484619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7674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9B3E8-CAB0-00A9-12E5-16C2D573D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6D799-D664-EB3C-2C3C-1D2036AA1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z-</a:t>
            </a:r>
            <a:r>
              <a:rPr lang="en-US" dirty="0"/>
              <a:t>T</a:t>
            </a:r>
            <a:r>
              <a:rPr lang="he-IL" dirty="0" err="1"/>
              <a:t>est</a:t>
            </a:r>
            <a:endParaRPr lang="he-IL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5571370-8D67-EE55-A84F-4DF6314B3C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0000"/>
          <a:stretch>
            <a:fillRect/>
          </a:stretch>
        </p:blipFill>
        <p:spPr>
          <a:xfrm>
            <a:off x="1983991" y="2103437"/>
            <a:ext cx="8484619" cy="1325563"/>
          </a:xfrm>
          <a:prstGeom prst="rect">
            <a:avLst/>
          </a:prstGeom>
        </p:spPr>
      </p:pic>
      <p:pic>
        <p:nvPicPr>
          <p:cNvPr id="9" name="Content Placeholder 7">
            <a:extLst>
              <a:ext uri="{FF2B5EF4-FFF2-40B4-BE49-F238E27FC236}">
                <a16:creationId xmlns:a16="http://schemas.microsoft.com/office/drawing/2014/main" id="{8393D1DE-03E4-C05F-B589-26E3051E9B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/>
          <a:stretch>
            <a:fillRect/>
          </a:stretch>
        </p:blipFill>
        <p:spPr>
          <a:xfrm>
            <a:off x="1983992" y="4092314"/>
            <a:ext cx="8484619" cy="132556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4F24642-5F66-12DE-9D33-7F7B3278BDB3}"/>
              </a:ext>
            </a:extLst>
          </p:cNvPr>
          <p:cNvSpPr/>
          <p:nvPr/>
        </p:nvSpPr>
        <p:spPr>
          <a:xfrm>
            <a:off x="1983990" y="2103438"/>
            <a:ext cx="8484619" cy="1249362"/>
          </a:xfrm>
          <a:prstGeom prst="rect">
            <a:avLst/>
          </a:prstGeom>
          <a:solidFill>
            <a:srgbClr val="FFC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0B782F-89F4-ABB9-863D-ED531AAB2B8A}"/>
              </a:ext>
            </a:extLst>
          </p:cNvPr>
          <p:cNvSpPr/>
          <p:nvPr/>
        </p:nvSpPr>
        <p:spPr>
          <a:xfrm>
            <a:off x="1983991" y="4092314"/>
            <a:ext cx="2577500" cy="1328474"/>
          </a:xfrm>
          <a:prstGeom prst="rect">
            <a:avLst/>
          </a:prstGeom>
          <a:solidFill>
            <a:schemeClr val="accent6">
              <a:lumMod val="40000"/>
              <a:lumOff val="6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7EC39A-20AA-532E-FD9A-EA4090D45E9E}"/>
              </a:ext>
            </a:extLst>
          </p:cNvPr>
          <p:cNvSpPr/>
          <p:nvPr/>
        </p:nvSpPr>
        <p:spPr>
          <a:xfrm>
            <a:off x="4561491" y="4089403"/>
            <a:ext cx="2301764" cy="1328474"/>
          </a:xfrm>
          <a:prstGeom prst="rect">
            <a:avLst/>
          </a:prstGeom>
          <a:solidFill>
            <a:schemeClr val="tx2">
              <a:lumMod val="50000"/>
              <a:lumOff val="5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FB87B8-D052-711E-283E-2B44D0CCEF16}"/>
              </a:ext>
            </a:extLst>
          </p:cNvPr>
          <p:cNvSpPr/>
          <p:nvPr/>
        </p:nvSpPr>
        <p:spPr>
          <a:xfrm>
            <a:off x="6863254" y="4086492"/>
            <a:ext cx="2406865" cy="1328474"/>
          </a:xfrm>
          <a:prstGeom prst="rect">
            <a:avLst/>
          </a:prstGeom>
          <a:solidFill>
            <a:schemeClr val="accent5">
              <a:lumMod val="40000"/>
              <a:lumOff val="60000"/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933204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4C5DE-7D2D-188C-C43F-296B1B8F4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0BF07-3675-68C2-3C20-695411E10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z-</a:t>
            </a:r>
            <a:r>
              <a:rPr lang="en-US" dirty="0"/>
              <a:t>T</a:t>
            </a:r>
            <a:r>
              <a:rPr lang="he-IL" dirty="0" err="1"/>
              <a:t>est</a:t>
            </a:r>
            <a:endParaRPr lang="he-IL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22711AA-B4EC-17AA-FA08-4F02B0657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8100" y="1690688"/>
            <a:ext cx="7415799" cy="4672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40781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F422E-970D-25FA-7CB6-A8C4ED55B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3F302-4DAC-2932-4FA8-705CA2A6F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z-</a:t>
            </a:r>
            <a:r>
              <a:rPr lang="en-US" dirty="0"/>
              <a:t>T</a:t>
            </a:r>
            <a:r>
              <a:rPr lang="he-IL" dirty="0" err="1"/>
              <a:t>est</a:t>
            </a:r>
            <a:endParaRPr lang="he-IL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9A95EAC-C11B-DD8C-E7A9-B25B3D7C9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9009" y="1690688"/>
            <a:ext cx="8375415" cy="3418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B16C5B-3946-9C4D-34C8-CDDCA5816733}"/>
              </a:ext>
            </a:extLst>
          </p:cNvPr>
          <p:cNvSpPr txBox="1"/>
          <p:nvPr/>
        </p:nvSpPr>
        <p:spPr>
          <a:xfrm>
            <a:off x="220716" y="4448191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z-test interpretation: </a:t>
            </a:r>
          </a:p>
          <a:p>
            <a:r>
              <a:rPr lang="en-US" dirty="0"/>
              <a:t>Observed z = -3.18 </a:t>
            </a:r>
          </a:p>
          <a:p>
            <a:r>
              <a:rPr lang="en-US" dirty="0"/>
              <a:t>Critical values = ±1.96 </a:t>
            </a:r>
          </a:p>
          <a:p>
            <a:r>
              <a:rPr lang="en-US" dirty="0"/>
              <a:t>Two-sided p-value = 0.001459 </a:t>
            </a:r>
          </a:p>
          <a:p>
            <a:r>
              <a:rPr lang="en-US" dirty="0"/>
              <a:t>Decision: Reject H0 at alpha = 0.05. </a:t>
            </a:r>
          </a:p>
          <a:p>
            <a:r>
              <a:rPr lang="en-US" dirty="0"/>
              <a:t>Confidence interval interpretation: </a:t>
            </a:r>
          </a:p>
          <a:p>
            <a:r>
              <a:rPr lang="en-US" dirty="0"/>
              <a:t>Observed difference = -0.0167 95% CI = [-0.0270, -0.0064] </a:t>
            </a:r>
          </a:p>
          <a:p>
            <a:r>
              <a:rPr lang="en-US" dirty="0"/>
              <a:t>The CI does not include 0, consistent with rejecting H0.</a:t>
            </a:r>
          </a:p>
        </p:txBody>
      </p:sp>
    </p:spTree>
    <p:extLst>
      <p:ext uri="{BB962C8B-B14F-4D97-AF65-F5344CB8AC3E}">
        <p14:creationId xmlns:p14="http://schemas.microsoft.com/office/powerpoint/2010/main" val="24086586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A3DCA-85A8-559A-1715-4BC00C5F7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7C63D-67B5-DFDF-8C35-B9E9FB2C0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he-IL" dirty="0" err="1"/>
              <a:t>Statistical</a:t>
            </a:r>
            <a:r>
              <a:rPr lang="he-IL" dirty="0"/>
              <a:t> </a:t>
            </a:r>
            <a:r>
              <a:rPr lang="he-IL" dirty="0" err="1"/>
              <a:t>reporting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6396B-ED25-E4F2-FFA6-F6633C7EE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2771"/>
            <a:ext cx="10445496" cy="4801998"/>
          </a:xfrm>
        </p:spPr>
        <p:txBody>
          <a:bodyPr>
            <a:normAutofit/>
          </a:bodyPr>
          <a:lstStyle/>
          <a:p>
            <a:r>
              <a:rPr lang="en-US" sz="2400" dirty="0"/>
              <a:t>The two-sided two-proportion z test gave z = -3.18</a:t>
            </a:r>
            <a:r>
              <a:rPr lang="he-IL" sz="2400" dirty="0"/>
              <a:t> </a:t>
            </a:r>
            <a:r>
              <a:rPr lang="en-US" sz="2400" dirty="0"/>
              <a:t>and p = 0.001459. Therefore, using alpha = 0.05,</a:t>
            </a:r>
            <a:r>
              <a:rPr lang="he-IL" sz="2400" dirty="0"/>
              <a:t> </a:t>
            </a:r>
            <a:r>
              <a:rPr lang="en-US" sz="2400" dirty="0"/>
              <a:t>we reject h0.</a:t>
            </a:r>
            <a:endParaRPr lang="he-IL" sz="2400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3B32A063-CF0E-DDC3-1DD1-40723CFF9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56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752636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2BBE3-8B85-15A8-CC81-10CC3B809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B1DB0-BC39-FE78-7F2C-9CD557BA2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What did each method give us?</a:t>
            </a:r>
            <a:endParaRPr lang="LID4096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402A227D-EF21-1D1A-2B72-FA9128776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57</a:t>
            </a:fld>
            <a:endParaRPr lang="LID4096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A6B09BAD-7DD2-BD4D-64CE-D8E3B8EDA4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6900424"/>
              </p:ext>
            </p:extLst>
          </p:nvPr>
        </p:nvGraphicFramePr>
        <p:xfrm>
          <a:off x="1481561" y="1558023"/>
          <a:ext cx="9595413" cy="473389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824221">
                  <a:extLst>
                    <a:ext uri="{9D8B030D-6E8A-4147-A177-3AD203B41FA5}">
                      <a16:colId xmlns:a16="http://schemas.microsoft.com/office/drawing/2014/main" val="2902505333"/>
                    </a:ext>
                  </a:extLst>
                </a:gridCol>
                <a:gridCol w="2731626">
                  <a:extLst>
                    <a:ext uri="{9D8B030D-6E8A-4147-A177-3AD203B41FA5}">
                      <a16:colId xmlns:a16="http://schemas.microsoft.com/office/drawing/2014/main" val="3529472264"/>
                    </a:ext>
                  </a:extLst>
                </a:gridCol>
                <a:gridCol w="4039566">
                  <a:extLst>
                    <a:ext uri="{9D8B030D-6E8A-4147-A177-3AD203B41FA5}">
                      <a16:colId xmlns:a16="http://schemas.microsoft.com/office/drawing/2014/main" val="3081839347"/>
                    </a:ext>
                  </a:extLst>
                </a:gridCol>
              </a:tblGrid>
              <a:tr h="2522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b="1" dirty="0" err="1"/>
                        <a:t>Analysis</a:t>
                      </a:r>
                      <a:r>
                        <a:rPr lang="he-IL" sz="1600" b="1" dirty="0"/>
                        <a:t> </a:t>
                      </a:r>
                      <a:r>
                        <a:rPr lang="he-IL" sz="1600" b="1" dirty="0" err="1"/>
                        <a:t>type</a:t>
                      </a:r>
                      <a:endParaRPr lang="he-IL" sz="1600" b="1" dirty="0"/>
                    </a:p>
                  </a:txBody>
                  <a:tcPr marL="63063" marR="63063" marT="31531" marB="31531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b="1" dirty="0" err="1"/>
                        <a:t>Quantity</a:t>
                      </a:r>
                      <a:endParaRPr lang="he-IL" sz="1600" b="1" dirty="0"/>
                    </a:p>
                  </a:txBody>
                  <a:tcPr marL="63063" marR="63063" marT="31531" marB="31531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b="1" dirty="0"/>
                        <a:t>What </a:t>
                      </a:r>
                      <a:r>
                        <a:rPr lang="he-IL" sz="1600" b="1" dirty="0" err="1"/>
                        <a:t>it</a:t>
                      </a:r>
                      <a:r>
                        <a:rPr lang="he-IL" sz="1600" b="1" dirty="0"/>
                        <a:t> answers</a:t>
                      </a:r>
                    </a:p>
                  </a:txBody>
                  <a:tcPr marL="63063" marR="63063" marT="31531" marB="31531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103953"/>
                  </a:ext>
                </a:extLst>
              </a:tr>
              <a:tr h="4414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dirty="0"/>
                        <a:t>Observed data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dirty="0"/>
                        <a:t>observed difference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dirty="0"/>
                        <a:t>What difference </a:t>
                      </a:r>
                      <a:r>
                        <a:rPr lang="he-IL" sz="1600" dirty="0" err="1"/>
                        <a:t>did</a:t>
                      </a:r>
                      <a:r>
                        <a:rPr lang="he-IL" sz="1600" dirty="0"/>
                        <a:t> we </a:t>
                      </a:r>
                      <a:r>
                        <a:rPr lang="he-IL" sz="1600" dirty="0" err="1"/>
                        <a:t>see</a:t>
                      </a:r>
                      <a:r>
                        <a:rPr lang="he-IL" sz="1600" dirty="0"/>
                        <a:t> in the data?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1473645759"/>
                  </a:ext>
                </a:extLst>
              </a:tr>
              <a:tr h="6306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dirty="0">
                          <a:solidFill>
                            <a:schemeClr val="accent1"/>
                          </a:solidFill>
                        </a:rPr>
                        <a:t>Bayesian hierarchical model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dirty="0"/>
                        <a:t>posterior </a:t>
                      </a:r>
                      <a:r>
                        <a:rPr lang="he-IL" sz="1600" dirty="0" err="1"/>
                        <a:t>mean</a:t>
                      </a:r>
                      <a:r>
                        <a:rPr lang="he-IL" sz="1600" dirty="0"/>
                        <a:t> of (</a:t>
                      </a:r>
                      <a:r>
                        <a:rPr lang="he-IL" sz="1600" dirty="0" err="1"/>
                        <a:t>Delta</a:t>
                      </a:r>
                      <a:r>
                        <a:rPr lang="he-IL" sz="1600" dirty="0"/>
                        <a:t>)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dirty="0"/>
                        <a:t>What is the model-</a:t>
                      </a:r>
                      <a:r>
                        <a:rPr lang="he-IL" sz="1600" dirty="0" err="1"/>
                        <a:t>based</a:t>
                      </a:r>
                      <a:r>
                        <a:rPr lang="he-IL" sz="1600" dirty="0"/>
                        <a:t> </a:t>
                      </a:r>
                      <a:r>
                        <a:rPr lang="he-IL" sz="1600" dirty="0" err="1"/>
                        <a:t>estimated</a:t>
                      </a:r>
                      <a:r>
                        <a:rPr lang="he-IL" sz="1600" dirty="0"/>
                        <a:t> </a:t>
                      </a:r>
                      <a:r>
                        <a:rPr lang="he-IL" sz="1600" dirty="0" err="1"/>
                        <a:t>difference</a:t>
                      </a:r>
                      <a:r>
                        <a:rPr lang="he-IL" sz="1600" dirty="0"/>
                        <a:t>?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1790055627"/>
                  </a:ext>
                </a:extLst>
              </a:tr>
              <a:tr h="4414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dirty="0">
                          <a:solidFill>
                            <a:schemeClr val="accent1"/>
                          </a:solidFill>
                        </a:rPr>
                        <a:t>Bayesian hierarchical model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dirty="0"/>
                        <a:t>94% HDI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dirty="0"/>
                        <a:t>What posterior </a:t>
                      </a:r>
                      <a:r>
                        <a:rPr lang="he-IL" sz="1600" dirty="0" err="1"/>
                        <a:t>uncertainty</a:t>
                      </a:r>
                      <a:r>
                        <a:rPr lang="he-IL" sz="1600" dirty="0"/>
                        <a:t> </a:t>
                      </a:r>
                      <a:r>
                        <a:rPr lang="he-IL" sz="1600" dirty="0" err="1"/>
                        <a:t>remains</a:t>
                      </a:r>
                      <a:r>
                        <a:rPr lang="he-IL" sz="1600" dirty="0"/>
                        <a:t>?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2109075125"/>
                  </a:ext>
                </a:extLst>
              </a:tr>
              <a:tr h="6306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dirty="0">
                          <a:solidFill>
                            <a:schemeClr val="accent1"/>
                          </a:solidFill>
                        </a:rPr>
                        <a:t>Bayesian ROPE/HDI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dirty="0"/>
                        <a:t>ROPE decision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dirty="0"/>
                        <a:t>Is the effect </a:t>
                      </a:r>
                      <a:r>
                        <a:rPr lang="he-IL" sz="1600" dirty="0" err="1"/>
                        <a:t>practically</a:t>
                      </a:r>
                      <a:r>
                        <a:rPr lang="he-IL" sz="1600" dirty="0"/>
                        <a:t> different from </a:t>
                      </a:r>
                      <a:r>
                        <a:rPr lang="he-IL" sz="1600" dirty="0" err="1"/>
                        <a:t>zero</a:t>
                      </a:r>
                      <a:r>
                        <a:rPr lang="he-IL" sz="1600" dirty="0"/>
                        <a:t> under the Bayesian model?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2933870091"/>
                  </a:ext>
                </a:extLst>
              </a:tr>
              <a:tr h="4414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dirty="0">
                          <a:solidFill>
                            <a:schemeClr val="accent1"/>
                          </a:solidFill>
                        </a:rPr>
                        <a:t>Savage-Dickey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dirty="0"/>
                        <a:t>Bayes factor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dirty="0" err="1"/>
                        <a:t>Did</a:t>
                      </a:r>
                      <a:r>
                        <a:rPr lang="he-IL" sz="1600" dirty="0"/>
                        <a:t> the data </a:t>
                      </a:r>
                      <a:r>
                        <a:rPr lang="he-IL" sz="1600" dirty="0" err="1"/>
                        <a:t>increase</a:t>
                      </a:r>
                      <a:r>
                        <a:rPr lang="he-IL" sz="1600" dirty="0"/>
                        <a:t> or </a:t>
                      </a:r>
                      <a:r>
                        <a:rPr lang="he-IL" sz="1600" dirty="0" err="1"/>
                        <a:t>decrease</a:t>
                      </a:r>
                      <a:r>
                        <a:rPr lang="he-IL" sz="1600" dirty="0"/>
                        <a:t> evidence </a:t>
                      </a:r>
                      <a:r>
                        <a:rPr lang="he-IL" sz="1600" dirty="0" err="1"/>
                        <a:t>around</a:t>
                      </a:r>
                      <a:r>
                        <a:rPr lang="he-IL" sz="1600" dirty="0"/>
                        <a:t> the null </a:t>
                      </a:r>
                      <a:r>
                        <a:rPr lang="he-IL" sz="1600" dirty="0" err="1"/>
                        <a:t>value</a:t>
                      </a:r>
                      <a:r>
                        <a:rPr lang="he-IL" sz="1600" dirty="0"/>
                        <a:t>?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1767387442"/>
                  </a:ext>
                </a:extLst>
              </a:tr>
              <a:tr h="4414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dirty="0">
                          <a:solidFill>
                            <a:schemeClr val="accent5"/>
                          </a:solidFill>
                        </a:rPr>
                        <a:t>Frequentist z-</a:t>
                      </a:r>
                      <a:r>
                        <a:rPr lang="he-IL" sz="1600" dirty="0" err="1">
                          <a:solidFill>
                            <a:schemeClr val="accent5"/>
                          </a:solidFill>
                        </a:rPr>
                        <a:t>test</a:t>
                      </a:r>
                      <a:endParaRPr lang="he-IL" sz="1600" dirty="0">
                        <a:solidFill>
                          <a:schemeClr val="accent5"/>
                        </a:solidFill>
                      </a:endParaRP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dirty="0"/>
                        <a:t>z </a:t>
                      </a:r>
                      <a:r>
                        <a:rPr lang="he-IL" sz="1600" dirty="0" err="1"/>
                        <a:t>statistic</a:t>
                      </a:r>
                      <a:r>
                        <a:rPr lang="he-IL" sz="1600" dirty="0"/>
                        <a:t> and p-</a:t>
                      </a:r>
                      <a:r>
                        <a:rPr lang="he-IL" sz="1600" dirty="0" err="1"/>
                        <a:t>value</a:t>
                      </a:r>
                      <a:endParaRPr lang="he-IL" sz="1600" dirty="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dirty="0"/>
                        <a:t>Are the observed data </a:t>
                      </a:r>
                      <a:r>
                        <a:rPr lang="he-IL" sz="1600" dirty="0" err="1"/>
                        <a:t>extreme</a:t>
                      </a:r>
                      <a:r>
                        <a:rPr lang="he-IL" sz="1600" dirty="0"/>
                        <a:t> under the null sampling model?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1075574537"/>
                  </a:ext>
                </a:extLst>
              </a:tr>
              <a:tr h="6306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dirty="0">
                          <a:solidFill>
                            <a:schemeClr val="accent5"/>
                          </a:solidFill>
                        </a:rPr>
                        <a:t>Frequentist CI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/>
                        <a:t>confidence interval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dirty="0"/>
                        <a:t>What is the frequentist </a:t>
                      </a:r>
                      <a:r>
                        <a:rPr lang="he-IL" sz="1600" dirty="0" err="1"/>
                        <a:t>uncertainty</a:t>
                      </a:r>
                      <a:r>
                        <a:rPr lang="he-IL" sz="1600" dirty="0"/>
                        <a:t> </a:t>
                      </a:r>
                      <a:r>
                        <a:rPr lang="he-IL" sz="1600" dirty="0" err="1"/>
                        <a:t>interval</a:t>
                      </a:r>
                      <a:r>
                        <a:rPr lang="he-IL" sz="1600" dirty="0"/>
                        <a:t> </a:t>
                      </a:r>
                      <a:r>
                        <a:rPr lang="he-IL" sz="1600" dirty="0" err="1"/>
                        <a:t>for</a:t>
                      </a:r>
                      <a:r>
                        <a:rPr lang="he-IL" sz="1600" dirty="0"/>
                        <a:t> the difference?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2049472690"/>
                  </a:ext>
                </a:extLst>
              </a:tr>
              <a:tr h="4414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dirty="0" err="1"/>
                        <a:t>Power</a:t>
                      </a:r>
                      <a:r>
                        <a:rPr lang="he-IL" sz="1600" dirty="0"/>
                        <a:t> </a:t>
                      </a:r>
                      <a:r>
                        <a:rPr lang="he-IL" sz="1600" dirty="0" err="1"/>
                        <a:t>analysis</a:t>
                      </a:r>
                      <a:endParaRPr lang="he-IL" sz="1600" dirty="0"/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dirty="0" err="1"/>
                        <a:t>power</a:t>
                      </a:r>
                      <a:r>
                        <a:rPr lang="he-IL" sz="1600" dirty="0"/>
                        <a:t> curve</a:t>
                      </a:r>
                    </a:p>
                  </a:txBody>
                  <a:tcPr marL="63063" marR="63063" marT="31531" marB="3153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dirty="0"/>
                        <a:t>How </a:t>
                      </a:r>
                      <a:r>
                        <a:rPr lang="he-IL" sz="1600" dirty="0" err="1"/>
                        <a:t>likely</a:t>
                      </a:r>
                      <a:r>
                        <a:rPr lang="he-IL" sz="1600" dirty="0"/>
                        <a:t> is </a:t>
                      </a:r>
                      <a:r>
                        <a:rPr lang="he-IL" sz="1600" dirty="0" err="1"/>
                        <a:t>this</a:t>
                      </a:r>
                      <a:r>
                        <a:rPr lang="he-IL" sz="1600" dirty="0"/>
                        <a:t> </a:t>
                      </a:r>
                      <a:r>
                        <a:rPr lang="he-IL" sz="1600" dirty="0" err="1"/>
                        <a:t>test</a:t>
                      </a:r>
                      <a:r>
                        <a:rPr lang="he-IL" sz="1600" dirty="0"/>
                        <a:t> to </a:t>
                      </a:r>
                      <a:r>
                        <a:rPr lang="he-IL" sz="1600" dirty="0" err="1"/>
                        <a:t>detect</a:t>
                      </a:r>
                      <a:r>
                        <a:rPr lang="he-IL" sz="1600" dirty="0"/>
                        <a:t> </a:t>
                      </a:r>
                      <a:r>
                        <a:rPr lang="he-IL" sz="1600" dirty="0" err="1"/>
                        <a:t>an</a:t>
                      </a:r>
                      <a:r>
                        <a:rPr lang="he-IL" sz="1600" dirty="0"/>
                        <a:t> effect of a </a:t>
                      </a:r>
                      <a:r>
                        <a:rPr lang="he-IL" sz="1600" dirty="0" err="1"/>
                        <a:t>given</a:t>
                      </a:r>
                      <a:r>
                        <a:rPr lang="he-IL" sz="1600" dirty="0"/>
                        <a:t> size?</a:t>
                      </a:r>
                    </a:p>
                  </a:txBody>
                  <a:tcPr marL="63063" marR="63063" marT="31531" marB="31531" anchor="ctr"/>
                </a:tc>
                <a:extLst>
                  <a:ext uri="{0D108BD9-81ED-4DB2-BD59-A6C34878D82A}">
                    <a16:rowId xmlns:a16="http://schemas.microsoft.com/office/drawing/2014/main" val="2726251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36227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2F36D-EC39-E4BF-4FAC-0C52D639C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72BE9-C465-57DA-E102-58370319F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Summary table</a:t>
            </a:r>
            <a:endParaRPr lang="LID4096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297DE0F-D494-FFDE-4564-795CB69F74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45074" y="1898248"/>
            <a:ext cx="9701852" cy="3464112"/>
          </a:xfrm>
          <a:prstGeom prst="rect">
            <a:avLst/>
          </a:prstGeom>
        </p:spPr>
      </p:pic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81FD93B-95B1-61A5-248A-EDF1367F9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58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1692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1174</TotalTime>
  <Words>3584</Words>
  <Application>Microsoft Office PowerPoint</Application>
  <PresentationFormat>Widescreen</PresentationFormat>
  <Paragraphs>595</Paragraphs>
  <Slides>58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5" baseType="lpstr">
      <vt:lpstr>Arial</vt:lpstr>
      <vt:lpstr>Cambria Math</vt:lpstr>
      <vt:lpstr>Courier New</vt:lpstr>
      <vt:lpstr>David</vt:lpstr>
      <vt:lpstr>Source Sans Pro</vt:lpstr>
      <vt:lpstr>Wingdings</vt:lpstr>
      <vt:lpstr>Office Theme</vt:lpstr>
      <vt:lpstr>Tutorial 5</vt:lpstr>
      <vt:lpstr>Tutorial Outline</vt:lpstr>
      <vt:lpstr>From estimation to hypothesis testing</vt:lpstr>
      <vt:lpstr>The Null Model</vt:lpstr>
      <vt:lpstr>Dataset</vt:lpstr>
      <vt:lpstr>Dataset - The Null Model</vt:lpstr>
      <vt:lpstr>Dataset - The Null Model</vt:lpstr>
      <vt:lpstr>Dataset - The Null Model</vt:lpstr>
      <vt:lpstr>Dataset - The Null Model</vt:lpstr>
      <vt:lpstr>Effect Size - Terms</vt:lpstr>
      <vt:lpstr>Effect Size - Terms</vt:lpstr>
      <vt:lpstr>Effect Size - Terms</vt:lpstr>
      <vt:lpstr>Effect Size Measures</vt:lpstr>
      <vt:lpstr>Data - Measured effect sizes</vt:lpstr>
      <vt:lpstr>Data - Measured effect sizes</vt:lpstr>
      <vt:lpstr>Data - Measured effect sizes</vt:lpstr>
      <vt:lpstr>Bayesian Hypothesis Testing</vt:lpstr>
      <vt:lpstr>Bayesian modeling</vt:lpstr>
      <vt:lpstr>Idata with pm.Deterministic</vt:lpstr>
      <vt:lpstr>What comparison are we making?</vt:lpstr>
      <vt:lpstr>Bayesian modeling</vt:lpstr>
      <vt:lpstr>Model - Effect size</vt:lpstr>
      <vt:lpstr>Bayesian Posterior Comparison</vt:lpstr>
      <vt:lpstr>Bayesian Posterior Comparison</vt:lpstr>
      <vt:lpstr>ROPE</vt:lpstr>
      <vt:lpstr>ROPE and HDI Test</vt:lpstr>
      <vt:lpstr>ROPE and HDI Test</vt:lpstr>
      <vt:lpstr>Bayes factor</vt:lpstr>
      <vt:lpstr>Savage-Dickey and Bayes factor</vt:lpstr>
      <vt:lpstr>Savage-Dickey</vt:lpstr>
      <vt:lpstr>Savage-Dickey</vt:lpstr>
      <vt:lpstr>Savage-Dickey in our model</vt:lpstr>
      <vt:lpstr>Reporting</vt:lpstr>
      <vt:lpstr>Significance, Power and Errors</vt:lpstr>
      <vt:lpstr>Error Types</vt:lpstr>
      <vt:lpstr>Power analysis</vt:lpstr>
      <vt:lpstr>Pre-hoc vs post-hoc power</vt:lpstr>
      <vt:lpstr>Pre-hoc Power</vt:lpstr>
      <vt:lpstr>Pre-hoc Power</vt:lpstr>
      <vt:lpstr>Post-hoc Power</vt:lpstr>
      <vt:lpstr>Frequentist Hypothesis Testing</vt:lpstr>
      <vt:lpstr>Frequentist Two-proportion Z-test</vt:lpstr>
      <vt:lpstr>Frequentist Two-proportion Z-test</vt:lpstr>
      <vt:lpstr>Frequentist Two-proportion z-Test</vt:lpstr>
      <vt:lpstr>Z Statistic</vt:lpstr>
      <vt:lpstr>Two-sided p-Value</vt:lpstr>
      <vt:lpstr>Significance</vt:lpstr>
      <vt:lpstr>Reminder - Confidence Interval</vt:lpstr>
      <vt:lpstr>Frequentist Two-proportion z-Test</vt:lpstr>
      <vt:lpstr>z-Test</vt:lpstr>
      <vt:lpstr>z-Test</vt:lpstr>
      <vt:lpstr>z-Test</vt:lpstr>
      <vt:lpstr>z-Test</vt:lpstr>
      <vt:lpstr>z-Test</vt:lpstr>
      <vt:lpstr>z-Test</vt:lpstr>
      <vt:lpstr>Statistical reporting</vt:lpstr>
      <vt:lpstr>What did each method give us?</vt:lpstr>
      <vt:lpstr>Summary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נעם גונן</dc:creator>
  <cp:lastModifiedBy>נעם גונן</cp:lastModifiedBy>
  <cp:revision>99</cp:revision>
  <dcterms:created xsi:type="dcterms:W3CDTF">2026-05-24T10:38:18Z</dcterms:created>
  <dcterms:modified xsi:type="dcterms:W3CDTF">2026-06-01T15:41:33Z</dcterms:modified>
</cp:coreProperties>
</file>