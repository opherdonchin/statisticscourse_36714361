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8"/>
  </p:notesMasterIdLst>
  <p:sldIdLst>
    <p:sldId id="257" r:id="rId2"/>
    <p:sldId id="259" r:id="rId3"/>
    <p:sldId id="332" r:id="rId4"/>
    <p:sldId id="278" r:id="rId5"/>
    <p:sldId id="333" r:id="rId6"/>
    <p:sldId id="334" r:id="rId7"/>
    <p:sldId id="335" r:id="rId8"/>
    <p:sldId id="336" r:id="rId9"/>
    <p:sldId id="323" r:id="rId10"/>
    <p:sldId id="326" r:id="rId11"/>
    <p:sldId id="275" r:id="rId12"/>
    <p:sldId id="276" r:id="rId13"/>
    <p:sldId id="329" r:id="rId14"/>
    <p:sldId id="330" r:id="rId15"/>
    <p:sldId id="331" r:id="rId16"/>
    <p:sldId id="311" r:id="rId17"/>
    <p:sldId id="321" r:id="rId18"/>
    <p:sldId id="322" r:id="rId19"/>
    <p:sldId id="316" r:id="rId20"/>
    <p:sldId id="284" r:id="rId21"/>
    <p:sldId id="431" r:id="rId22"/>
    <p:sldId id="351" r:id="rId23"/>
    <p:sldId id="260" r:id="rId24"/>
    <p:sldId id="261" r:id="rId25"/>
    <p:sldId id="337" r:id="rId26"/>
    <p:sldId id="370" r:id="rId27"/>
    <p:sldId id="427" r:id="rId28"/>
    <p:sldId id="339" r:id="rId29"/>
    <p:sldId id="371" r:id="rId30"/>
    <p:sldId id="340" r:id="rId31"/>
    <p:sldId id="341" r:id="rId32"/>
    <p:sldId id="342" r:id="rId33"/>
    <p:sldId id="357" r:id="rId34"/>
    <p:sldId id="372" r:id="rId35"/>
    <p:sldId id="352" r:id="rId36"/>
    <p:sldId id="429" r:id="rId37"/>
    <p:sldId id="421" r:id="rId38"/>
    <p:sldId id="369" r:id="rId39"/>
    <p:sldId id="373" r:id="rId40"/>
    <p:sldId id="374" r:id="rId41"/>
    <p:sldId id="375" r:id="rId42"/>
    <p:sldId id="430" r:id="rId43"/>
    <p:sldId id="343" r:id="rId44"/>
    <p:sldId id="344" r:id="rId45"/>
    <p:sldId id="432" r:id="rId46"/>
    <p:sldId id="345" r:id="rId47"/>
    <p:sldId id="347" r:id="rId48"/>
    <p:sldId id="349" r:id="rId49"/>
    <p:sldId id="271" r:id="rId50"/>
    <p:sldId id="376" r:id="rId51"/>
    <p:sldId id="377" r:id="rId52"/>
    <p:sldId id="378" r:id="rId53"/>
    <p:sldId id="426" r:id="rId54"/>
    <p:sldId id="379" r:id="rId55"/>
    <p:sldId id="380" r:id="rId56"/>
    <p:sldId id="381" r:id="rId57"/>
    <p:sldId id="382" r:id="rId58"/>
    <p:sldId id="385" r:id="rId59"/>
    <p:sldId id="383" r:id="rId60"/>
    <p:sldId id="384" r:id="rId61"/>
    <p:sldId id="390" r:id="rId62"/>
    <p:sldId id="418" r:id="rId63"/>
    <p:sldId id="422" r:id="rId64"/>
    <p:sldId id="423" r:id="rId65"/>
    <p:sldId id="350" r:id="rId66"/>
    <p:sldId id="360" r:id="rId67"/>
    <p:sldId id="361" r:id="rId68"/>
    <p:sldId id="262" r:id="rId69"/>
    <p:sldId id="388" r:id="rId70"/>
    <p:sldId id="362" r:id="rId71"/>
    <p:sldId id="386" r:id="rId72"/>
    <p:sldId id="389" r:id="rId73"/>
    <p:sldId id="368" r:id="rId74"/>
    <p:sldId id="387" r:id="rId75"/>
    <p:sldId id="280" r:id="rId76"/>
    <p:sldId id="281" r:id="rId77"/>
    <p:sldId id="282" r:id="rId78"/>
    <p:sldId id="394" r:id="rId79"/>
    <p:sldId id="355" r:id="rId80"/>
    <p:sldId id="395" r:id="rId81"/>
    <p:sldId id="356" r:id="rId82"/>
    <p:sldId id="396" r:id="rId83"/>
    <p:sldId id="358" r:id="rId84"/>
    <p:sldId id="398" r:id="rId85"/>
    <p:sldId id="359" r:id="rId86"/>
    <p:sldId id="397" r:id="rId87"/>
    <p:sldId id="338" r:id="rId88"/>
    <p:sldId id="353" r:id="rId89"/>
    <p:sldId id="408" r:id="rId90"/>
    <p:sldId id="428" r:id="rId91"/>
    <p:sldId id="354" r:id="rId92"/>
    <p:sldId id="400" r:id="rId93"/>
    <p:sldId id="401" r:id="rId94"/>
    <p:sldId id="402" r:id="rId95"/>
    <p:sldId id="403" r:id="rId96"/>
    <p:sldId id="404" r:id="rId97"/>
    <p:sldId id="405" r:id="rId98"/>
    <p:sldId id="407" r:id="rId99"/>
    <p:sldId id="409" r:id="rId100"/>
    <p:sldId id="424" r:id="rId101"/>
    <p:sldId id="410" r:id="rId102"/>
    <p:sldId id="411" r:id="rId103"/>
    <p:sldId id="412" r:id="rId104"/>
    <p:sldId id="413" r:id="rId105"/>
    <p:sldId id="420" r:id="rId106"/>
    <p:sldId id="417" r:id="rId107"/>
    <p:sldId id="414" r:id="rId108"/>
    <p:sldId id="419" r:id="rId109"/>
    <p:sldId id="391" r:id="rId110"/>
    <p:sldId id="264" r:id="rId111"/>
    <p:sldId id="433" r:id="rId112"/>
    <p:sldId id="392" r:id="rId113"/>
    <p:sldId id="265" r:id="rId114"/>
    <p:sldId id="367" r:id="rId115"/>
    <p:sldId id="393" r:id="rId116"/>
    <p:sldId id="425" r:id="rId117"/>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512DC50-7644-4B30-92CA-E94E0A423229}">
          <p14:sldIdLst>
            <p14:sldId id="257"/>
            <p14:sldId id="259"/>
          </p14:sldIdLst>
        </p14:section>
        <p14:section name="Revision" id="{6EE1AFD9-1AE3-4105-9A02-9D999CF93FB6}">
          <p14:sldIdLst>
            <p14:sldId id="332"/>
            <p14:sldId id="278"/>
            <p14:sldId id="333"/>
            <p14:sldId id="334"/>
            <p14:sldId id="335"/>
            <p14:sldId id="336"/>
            <p14:sldId id="323"/>
            <p14:sldId id="326"/>
            <p14:sldId id="275"/>
            <p14:sldId id="276"/>
            <p14:sldId id="329"/>
            <p14:sldId id="330"/>
            <p14:sldId id="331"/>
            <p14:sldId id="311"/>
            <p14:sldId id="321"/>
            <p14:sldId id="322"/>
            <p14:sldId id="316"/>
            <p14:sldId id="284"/>
          </p14:sldIdLst>
        </p14:section>
        <p14:section name="Continuous data &amp; the Normal Model" id="{C4C125D0-F55F-49A1-8732-B26EBC2ABD62}">
          <p14:sldIdLst>
            <p14:sldId id="431"/>
            <p14:sldId id="351"/>
            <p14:sldId id="260"/>
            <p14:sldId id="261"/>
            <p14:sldId id="337"/>
            <p14:sldId id="370"/>
            <p14:sldId id="427"/>
            <p14:sldId id="339"/>
            <p14:sldId id="371"/>
            <p14:sldId id="340"/>
            <p14:sldId id="341"/>
            <p14:sldId id="342"/>
            <p14:sldId id="357"/>
            <p14:sldId id="372"/>
            <p14:sldId id="352"/>
            <p14:sldId id="429"/>
            <p14:sldId id="421"/>
            <p14:sldId id="369"/>
            <p14:sldId id="373"/>
            <p14:sldId id="374"/>
            <p14:sldId id="375"/>
            <p14:sldId id="430"/>
            <p14:sldId id="343"/>
            <p14:sldId id="344"/>
            <p14:sldId id="432"/>
            <p14:sldId id="345"/>
            <p14:sldId id="347"/>
            <p14:sldId id="349"/>
            <p14:sldId id="271"/>
            <p14:sldId id="376"/>
            <p14:sldId id="377"/>
            <p14:sldId id="378"/>
            <p14:sldId id="426"/>
            <p14:sldId id="379"/>
            <p14:sldId id="380"/>
            <p14:sldId id="381"/>
            <p14:sldId id="382"/>
            <p14:sldId id="385"/>
            <p14:sldId id="383"/>
            <p14:sldId id="384"/>
            <p14:sldId id="390"/>
          </p14:sldIdLst>
        </p14:section>
        <p14:section name="Paired t-test" id="{2EBBCF7C-6B9D-4F4B-92F8-8E16F87EFC58}">
          <p14:sldIdLst>
            <p14:sldId id="418"/>
            <p14:sldId id="422"/>
            <p14:sldId id="423"/>
            <p14:sldId id="350"/>
            <p14:sldId id="360"/>
            <p14:sldId id="361"/>
            <p14:sldId id="262"/>
            <p14:sldId id="388"/>
            <p14:sldId id="362"/>
            <p14:sldId id="386"/>
            <p14:sldId id="389"/>
            <p14:sldId id="368"/>
            <p14:sldId id="387"/>
          </p14:sldIdLst>
        </p14:section>
        <p14:section name="Robust Models" id="{267FE17F-9747-428B-B378-90C3ED45D76D}">
          <p14:sldIdLst>
            <p14:sldId id="280"/>
            <p14:sldId id="281"/>
            <p14:sldId id="282"/>
            <p14:sldId id="394"/>
            <p14:sldId id="355"/>
            <p14:sldId id="395"/>
            <p14:sldId id="356"/>
            <p14:sldId id="396"/>
            <p14:sldId id="358"/>
            <p14:sldId id="398"/>
            <p14:sldId id="359"/>
            <p14:sldId id="397"/>
          </p14:sldIdLst>
        </p14:section>
        <p14:section name="unequal variances - bayesian model" id="{B19546DC-563C-4516-814B-F9C837A66E97}">
          <p14:sldIdLst>
            <p14:sldId id="338"/>
            <p14:sldId id="353"/>
            <p14:sldId id="408"/>
            <p14:sldId id="428"/>
            <p14:sldId id="354"/>
            <p14:sldId id="400"/>
            <p14:sldId id="401"/>
            <p14:sldId id="402"/>
            <p14:sldId id="403"/>
            <p14:sldId id="404"/>
            <p14:sldId id="405"/>
            <p14:sldId id="407"/>
            <p14:sldId id="409"/>
            <p14:sldId id="424"/>
            <p14:sldId id="410"/>
            <p14:sldId id="411"/>
            <p14:sldId id="412"/>
            <p14:sldId id="413"/>
            <p14:sldId id="420"/>
            <p14:sldId id="417"/>
            <p14:sldId id="414"/>
          </p14:sldIdLst>
        </p14:section>
        <p14:section name="Independent t-test" id="{768C0FF5-84C9-4BC4-81FC-3E03303708E9}">
          <p14:sldIdLst>
            <p14:sldId id="419"/>
            <p14:sldId id="391"/>
            <p14:sldId id="264"/>
            <p14:sldId id="433"/>
            <p14:sldId id="392"/>
            <p14:sldId id="265"/>
            <p14:sldId id="367"/>
            <p14:sldId id="393"/>
            <p14:sldId id="42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DB461C-499A-576D-0443-DBB7779AB8DD}" name="נעם גונן" initials="נג" userId="S::noamgone@post.bgu.ac.il::8d52d1e2-da1c-4400-a582-b852ce743e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FFC0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10" autoAdjust="0"/>
    <p:restoredTop sz="68497" autoAdjust="0"/>
  </p:normalViewPr>
  <p:slideViewPr>
    <p:cSldViewPr snapToGrid="0">
      <p:cViewPr>
        <p:scale>
          <a:sx n="67" d="100"/>
          <a:sy n="67" d="100"/>
        </p:scale>
        <p:origin x="1452" y="258"/>
      </p:cViewPr>
      <p:guideLst/>
    </p:cSldViewPr>
  </p:slideViewPr>
  <p:notesTextViewPr>
    <p:cViewPr>
      <p:scale>
        <a:sx n="1" d="1"/>
        <a:sy n="1" d="1"/>
      </p:scale>
      <p:origin x="0" y="0"/>
    </p:cViewPr>
  </p:notesTextViewPr>
  <p:sorterViewPr>
    <p:cViewPr>
      <p:scale>
        <a:sx n="100" d="100"/>
        <a:sy n="100" d="100"/>
      </p:scale>
      <p:origin x="0" y="-2995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microsoft.com/office/2018/10/relationships/authors" Targe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atin typeface="David" panose="020E0502060401010101" pitchFamily="34" charset="-79"/>
              </a:defRPr>
            </a:lvl1pPr>
          </a:lstStyle>
          <a:p>
            <a:endParaRPr lang="he-IL"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atin typeface="David" panose="020E0502060401010101" pitchFamily="34" charset="-79"/>
              </a:defRPr>
            </a:lvl1pPr>
          </a:lstStyle>
          <a:p>
            <a:fld id="{D5868442-A5D1-49ED-AB8B-D67C5D264ED3}" type="datetimeFigureOut">
              <a:rPr lang="he-IL" smtClean="0"/>
              <a:pPr/>
              <a:t>י"ז/סיון/תשפ"ו</a:t>
            </a:fld>
            <a:endParaRPr lang="he-IL"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atin typeface="David" panose="020E0502060401010101" pitchFamily="34" charset="-79"/>
              </a:defRPr>
            </a:lvl1pPr>
          </a:lstStyle>
          <a:p>
            <a:endParaRPr lang="he-IL"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atin typeface="David" panose="020E0502060401010101" pitchFamily="34" charset="-79"/>
              </a:defRPr>
            </a:lvl1pPr>
          </a:lstStyle>
          <a:p>
            <a:fld id="{D5E2C206-B79F-4FAD-948A-1F55E500568F}" type="slidenum">
              <a:rPr lang="he-IL" smtClean="0"/>
              <a:pPr/>
              <a:t>‹#›</a:t>
            </a:fld>
            <a:endParaRPr lang="he-IL" dirty="0"/>
          </a:p>
        </p:txBody>
      </p:sp>
    </p:spTree>
    <p:extLst>
      <p:ext uri="{BB962C8B-B14F-4D97-AF65-F5344CB8AC3E}">
        <p14:creationId xmlns:p14="http://schemas.microsoft.com/office/powerpoint/2010/main" val="1475713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avid" panose="020E0502060401010101" pitchFamily="34" charset="-79"/>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A96E01F-8DBD-4634-ACB5-33D503B64F6E}" type="slidenum">
              <a:rPr lang="LID4096" smtClean="0"/>
              <a:t>1</a:t>
            </a:fld>
            <a:endParaRPr lang="LID4096"/>
          </a:p>
        </p:txBody>
      </p:sp>
    </p:spTree>
    <p:extLst>
      <p:ext uri="{BB962C8B-B14F-4D97-AF65-F5344CB8AC3E}">
        <p14:creationId xmlns:p14="http://schemas.microsoft.com/office/powerpoint/2010/main" val="2206652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0EE6C-2C05-1858-1CEA-3C6844504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3573F-704A-18A0-3A88-4B8BF58E1A6D}"/>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C5015F82-DF59-A356-ABB9-A3662528834A}"/>
              </a:ext>
            </a:extLst>
          </p:cNvPr>
          <p:cNvSpPr>
            <a:spLocks noGrp="1"/>
          </p:cNvSpPr>
          <p:nvPr>
            <p:ph type="body" idx="1"/>
          </p:nvPr>
        </p:nvSpPr>
        <p:spPr/>
        <p:txBody>
          <a:bodyPr/>
          <a:lstStyle/>
          <a:p>
            <a:r>
              <a:rPr lang="he-IL" dirty="0"/>
              <a:t>בעברית – טעות מסוג 1 אומרת שדחינו את היפותזת האפס למרות שהיא מה שמתקיים במציאות.</a:t>
            </a:r>
          </a:p>
          <a:p>
            <a:r>
              <a:rPr lang="he-IL" dirty="0"/>
              <a:t>טעות מסוג 2 אומרת שלא הצלחנו לדחות את השערת האפס למרות שהיא לא מה שמתקיים במציאות. </a:t>
            </a:r>
          </a:p>
        </p:txBody>
      </p:sp>
      <p:sp>
        <p:nvSpPr>
          <p:cNvPr id="4" name="Slide Number Placeholder 3">
            <a:extLst>
              <a:ext uri="{FF2B5EF4-FFF2-40B4-BE49-F238E27FC236}">
                <a16:creationId xmlns:a16="http://schemas.microsoft.com/office/drawing/2014/main" id="{CAC5C0C4-D218-61BF-95A8-7B6A6898AEE3}"/>
              </a:ext>
            </a:extLst>
          </p:cNvPr>
          <p:cNvSpPr>
            <a:spLocks noGrp="1"/>
          </p:cNvSpPr>
          <p:nvPr>
            <p:ph type="sldNum" sz="quarter" idx="5"/>
          </p:nvPr>
        </p:nvSpPr>
        <p:spPr/>
        <p:txBody>
          <a:bodyPr/>
          <a:lstStyle/>
          <a:p>
            <a:fld id="{D5E2C206-B79F-4FAD-948A-1F55E500568F}" type="slidenum">
              <a:rPr lang="he-IL" smtClean="0"/>
              <a:pPr/>
              <a:t>4</a:t>
            </a:fld>
            <a:endParaRPr lang="he-IL" dirty="0"/>
          </a:p>
        </p:txBody>
      </p:sp>
    </p:spTree>
    <p:extLst>
      <p:ext uri="{BB962C8B-B14F-4D97-AF65-F5344CB8AC3E}">
        <p14:creationId xmlns:p14="http://schemas.microsoft.com/office/powerpoint/2010/main" val="91528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Important:</a:t>
                </a:r>
                <a:r>
                  <a:rPr lang="en-US" baseline="0" dirty="0"/>
                  <a:t> </a:t>
                </a:r>
                <a14:m>
                  <m:oMath xmlns:m="http://schemas.openxmlformats.org/officeDocument/2006/math">
                    <m:r>
                      <a:rPr lang="en-US" i="1" dirty="0" smtClean="0">
                        <a:latin typeface="Cambria Math" panose="02040503050406030204" pitchFamily="18" charset="0"/>
                      </a:rPr>
                      <m:t>𝑝</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𝑃</m:t>
                    </m:r>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r>
                      <a:rPr lang="en-US" b="0" i="1" dirty="0" smtClean="0">
                        <a:latin typeface="Cambria Math" panose="02040503050406030204" pitchFamily="18" charset="0"/>
                      </a:rPr>
                      <m:t> </m:t>
                    </m:r>
                    <m:r>
                      <a:rPr lang="en-US" i="1" dirty="0" smtClean="0">
                        <a:latin typeface="Cambria Math" panose="02040503050406030204" pitchFamily="18" charset="0"/>
                      </a:rPr>
                      <m:t>𝑖𝑠</m:t>
                    </m:r>
                    <m:r>
                      <a:rPr lang="en-US" i="1" dirty="0" smtClean="0">
                        <a:latin typeface="Cambria Math" panose="02040503050406030204" pitchFamily="18" charset="0"/>
                      </a:rPr>
                      <m:t> </m:t>
                    </m:r>
                    <m:r>
                      <a:rPr lang="en-US" i="1" dirty="0" smtClean="0">
                        <a:latin typeface="Cambria Math" panose="02040503050406030204" pitchFamily="18" charset="0"/>
                      </a:rPr>
                      <m:t>𝑡𝑟𝑢𝑒</m:t>
                    </m:r>
                    <m:r>
                      <a:rPr lang="en-US" i="1" dirty="0" smtClean="0">
                        <a:latin typeface="Cambria Math" panose="02040503050406030204" pitchFamily="18" charset="0"/>
                      </a:rPr>
                      <m:t>)</m:t>
                    </m:r>
                  </m:oMath>
                </a14:m>
                <a:endParaRPr lang="he-IL" dirty="0"/>
              </a:p>
              <a:p>
                <a:r>
                  <a:rPr lang="he-IL" dirty="0"/>
                  <a:t>הערך הזה מחשב את "ההסתברות לקבל את הסטטיסטי קיצוני לפחות כמו מה שקיבלנו בהנחה שהיפותזת האפס היא הנכונה" אם הערך קטן מרמת המובהקות שקבענו-אלפא אז אנחנו נדחה את היפותזת האפס, זה לא סביר לקבל את הערך שחושב מהנתונים אם היפותזת האפס נכונה ולכן אנחנו דוחים אותה. </a:t>
                </a:r>
                <a:endParaRPr lang="en-US" dirty="0"/>
              </a:p>
              <a:p>
                <a:endParaRPr lang="he-IL" dirty="0"/>
              </a:p>
            </p:txBody>
          </p:sp>
        </mc:Choice>
        <mc:Fallback xmlns="">
          <p:sp>
            <p:nvSpPr>
              <p:cNvPr id="3" name="Notes Placeholder 2"/>
              <p:cNvSpPr>
                <a:spLocks noGrp="1"/>
              </p:cNvSpPr>
              <p:nvPr>
                <p:ph type="body" idx="1"/>
              </p:nvPr>
            </p:nvSpPr>
            <p:spPr/>
            <p:txBody>
              <a:bodyPr/>
              <a:lstStyle/>
              <a:p>
                <a:r>
                  <a:rPr lang="en-US" dirty="0"/>
                  <a:t>Important:</a:t>
                </a:r>
                <a:r>
                  <a:rPr lang="en-US" baseline="0" dirty="0"/>
                  <a:t> </a:t>
                </a:r>
                <a:r>
                  <a:rPr lang="en-US" i="0" dirty="0">
                    <a:latin typeface="Cambria Math" panose="02040503050406030204" pitchFamily="18" charset="0"/>
                  </a:rPr>
                  <a:t>𝑝</a:t>
                </a:r>
                <a:r>
                  <a:rPr lang="en-US" i="0" dirty="0">
                    <a:latin typeface="Cambria Math" panose="02040503050406030204" pitchFamily="18" charset="0"/>
                    <a:ea typeface="Cambria Math" panose="02040503050406030204" pitchFamily="18" charset="0"/>
                  </a:rPr>
                  <a:t>≠</a:t>
                </a:r>
                <a:r>
                  <a:rPr lang="en-US" i="0" dirty="0">
                    <a:latin typeface="Cambria Math" panose="02040503050406030204" pitchFamily="18" charset="0"/>
                  </a:rPr>
                  <a:t>𝑃(𝐻</a:t>
                </a:r>
                <a:r>
                  <a:rPr lang="en-US" b="0" i="0" dirty="0">
                    <a:latin typeface="Cambria Math" panose="02040503050406030204" pitchFamily="18" charset="0"/>
                  </a:rPr>
                  <a:t>_</a:t>
                </a:r>
                <a:r>
                  <a:rPr lang="en-US" i="0" dirty="0">
                    <a:latin typeface="Cambria Math" panose="02040503050406030204" pitchFamily="18" charset="0"/>
                  </a:rPr>
                  <a:t>0</a:t>
                </a:r>
                <a:r>
                  <a:rPr lang="en-US" b="0" i="0" dirty="0">
                    <a:latin typeface="Cambria Math" panose="02040503050406030204" pitchFamily="18" charset="0"/>
                  </a:rPr>
                  <a:t>  </a:t>
                </a:r>
                <a:r>
                  <a:rPr lang="en-US" i="0" dirty="0">
                    <a:latin typeface="Cambria Math" panose="02040503050406030204" pitchFamily="18" charset="0"/>
                  </a:rPr>
                  <a:t>𝑖𝑠 𝑡𝑟𝑢𝑒)</a:t>
                </a:r>
                <a:endParaRPr lang="en-US" dirty="0"/>
              </a:p>
              <a:p>
                <a:endParaRPr lang="he-IL" dirty="0"/>
              </a:p>
            </p:txBody>
          </p:sp>
        </mc:Fallback>
      </mc:AlternateContent>
      <p:sp>
        <p:nvSpPr>
          <p:cNvPr id="4" name="Slide Number Placeholder 3"/>
          <p:cNvSpPr>
            <a:spLocks noGrp="1"/>
          </p:cNvSpPr>
          <p:nvPr>
            <p:ph type="sldNum" sz="quarter" idx="5"/>
          </p:nvPr>
        </p:nvSpPr>
        <p:spPr/>
        <p:txBody>
          <a:bodyPr/>
          <a:lstStyle/>
          <a:p>
            <a:fld id="{D5E2C206-B79F-4FAD-948A-1F55E500568F}" type="slidenum">
              <a:rPr lang="he-IL" smtClean="0"/>
              <a:pPr/>
              <a:t>6</a:t>
            </a:fld>
            <a:endParaRPr lang="he-IL" dirty="0"/>
          </a:p>
        </p:txBody>
      </p:sp>
    </p:spTree>
    <p:extLst>
      <p:ext uri="{BB962C8B-B14F-4D97-AF65-F5344CB8AC3E}">
        <p14:creationId xmlns:p14="http://schemas.microsoft.com/office/powerpoint/2010/main" val="2743040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טעות מסוג 2 קוראת כשהיפותזת האפס לא נכונה במציאות אבל לא הצלחנו לדחות אותה. </a:t>
            </a:r>
          </a:p>
          <a:p>
            <a:r>
              <a:rPr lang="he-IL" dirty="0"/>
              <a:t>עוצמה סטטיסטית היא ההסתברות לזהות אפקט אמיתי והיא מסומנת ע"י אחד פחות בטא. </a:t>
            </a:r>
            <a:br>
              <a:rPr lang="en-US" dirty="0"/>
            </a:br>
            <a:r>
              <a:rPr lang="he-IL" dirty="0"/>
              <a:t>אם העוצמה היא 0.8- אם האפקט שנמצא באמת מתקיים במציאות אז בניסויים חוזרים, נצליח לדחות את השערת האפס בערך 80% מהזמן.</a:t>
            </a:r>
          </a:p>
        </p:txBody>
      </p:sp>
      <p:sp>
        <p:nvSpPr>
          <p:cNvPr id="4" name="Slide Number Placeholder 3"/>
          <p:cNvSpPr>
            <a:spLocks noGrp="1"/>
          </p:cNvSpPr>
          <p:nvPr>
            <p:ph type="sldNum" sz="quarter" idx="5"/>
          </p:nvPr>
        </p:nvSpPr>
        <p:spPr/>
        <p:txBody>
          <a:bodyPr/>
          <a:lstStyle/>
          <a:p>
            <a:fld id="{D5E2C206-B79F-4FAD-948A-1F55E500568F}" type="slidenum">
              <a:rPr lang="he-IL" smtClean="0"/>
              <a:pPr/>
              <a:t>7</a:t>
            </a:fld>
            <a:endParaRPr lang="he-IL" dirty="0"/>
          </a:p>
        </p:txBody>
      </p:sp>
    </p:spTree>
    <p:extLst>
      <p:ext uri="{BB962C8B-B14F-4D97-AF65-F5344CB8AC3E}">
        <p14:creationId xmlns:p14="http://schemas.microsoft.com/office/powerpoint/2010/main" val="4173981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8</a:t>
            </a:fld>
            <a:endParaRPr lang="he-IL" dirty="0"/>
          </a:p>
        </p:txBody>
      </p:sp>
    </p:spTree>
    <p:extLst>
      <p:ext uri="{BB962C8B-B14F-4D97-AF65-F5344CB8AC3E}">
        <p14:creationId xmlns:p14="http://schemas.microsoft.com/office/powerpoint/2010/main" val="3809797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B6A03-F0C9-E578-E67E-486E754F4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6379CC-6AF3-CCE8-21C4-B7A55BFEF129}"/>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12CCA808-85C6-08F0-78FA-ADB9F2F28E34}"/>
              </a:ext>
            </a:extLst>
          </p:cNvPr>
          <p:cNvSpPr>
            <a:spLocks noGrp="1"/>
          </p:cNvSpPr>
          <p:nvPr>
            <p:ph type="body" idx="1"/>
          </p:nvPr>
        </p:nvSpPr>
        <p:spPr/>
        <p:txBody>
          <a:bodyPr/>
          <a:lstStyle/>
          <a:p>
            <a:pPr algn="r" rtl="1"/>
            <a:r>
              <a:rPr lang="he-IL" dirty="0"/>
              <a:t>אנחנו מניחים שהשערת האפס נכונה, </a:t>
            </a:r>
            <a:r>
              <a:rPr lang="he-IL" b="1" dirty="0"/>
              <a:t>בונים התפלגות דגימה של הסטטיסטי </a:t>
            </a:r>
            <a:r>
              <a:rPr lang="en-US" b="1" dirty="0"/>
              <a:t>z</a:t>
            </a:r>
            <a:r>
              <a:rPr lang="he-IL" b="1" dirty="0"/>
              <a:t> תחת השערת האפס</a:t>
            </a:r>
            <a:r>
              <a:rPr lang="he-IL" dirty="0"/>
              <a:t>, ואז בודקים איפה הסטטיסטי הנצפה נמצא ביחס להתפלגות הזו.</a:t>
            </a:r>
          </a:p>
          <a:p>
            <a:endParaRPr lang="he-IL" dirty="0"/>
          </a:p>
        </p:txBody>
      </p:sp>
      <p:sp>
        <p:nvSpPr>
          <p:cNvPr id="4" name="Slide Number Placeholder 3">
            <a:extLst>
              <a:ext uri="{FF2B5EF4-FFF2-40B4-BE49-F238E27FC236}">
                <a16:creationId xmlns:a16="http://schemas.microsoft.com/office/drawing/2014/main" id="{703E3A00-BC8A-237C-F801-6EC806347314}"/>
              </a:ext>
            </a:extLst>
          </p:cNvPr>
          <p:cNvSpPr>
            <a:spLocks noGrp="1"/>
          </p:cNvSpPr>
          <p:nvPr>
            <p:ph type="sldNum" sz="quarter" idx="5"/>
          </p:nvPr>
        </p:nvSpPr>
        <p:spPr/>
        <p:txBody>
          <a:bodyPr/>
          <a:lstStyle/>
          <a:p>
            <a:fld id="{D5E2C206-B79F-4FAD-948A-1F55E500568F}" type="slidenum">
              <a:rPr lang="he-IL" smtClean="0"/>
              <a:pPr/>
              <a:t>9</a:t>
            </a:fld>
            <a:endParaRPr lang="he-IL" dirty="0"/>
          </a:p>
        </p:txBody>
      </p:sp>
    </p:spTree>
    <p:extLst>
      <p:ext uri="{BB962C8B-B14F-4D97-AF65-F5344CB8AC3E}">
        <p14:creationId xmlns:p14="http://schemas.microsoft.com/office/powerpoint/2010/main" val="888360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F4829-DC8E-D89D-D5E4-5E2A2BB36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77B8B-B56E-A8D4-2F36-FEB96365B92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4EC133FE-D28A-8A04-38BB-3334A5C15EC1}"/>
              </a:ext>
            </a:extLst>
          </p:cNvPr>
          <p:cNvSpPr>
            <a:spLocks noGrp="1"/>
          </p:cNvSpPr>
          <p:nvPr>
            <p:ph type="body" idx="1"/>
          </p:nvPr>
        </p:nvSpPr>
        <p:spPr/>
        <p:txBody>
          <a:bodyPr/>
          <a:lstStyle/>
          <a:p>
            <a:pPr algn="r" rtl="1"/>
            <a:r>
              <a:rPr lang="he-IL" dirty="0"/>
              <a:t>בדרך כלל משתמשים במבחן z כאשר:</a:t>
            </a:r>
          </a:p>
          <a:p>
            <a:pPr marL="228600" indent="-228600" algn="r" rtl="1">
              <a:buFont typeface="+mj-lt"/>
              <a:buAutoNum type="arabicPeriod"/>
            </a:pPr>
            <a:r>
              <a:rPr lang="he-IL" dirty="0"/>
              <a:t>יש לנו מדגם גדול מספיק. </a:t>
            </a:r>
          </a:p>
          <a:p>
            <a:pPr marL="228600" indent="-228600" algn="r" rtl="1">
              <a:buFont typeface="+mj-lt"/>
              <a:buAutoNum type="arabicPeriod"/>
            </a:pPr>
            <a:r>
              <a:rPr lang="he-IL" dirty="0"/>
              <a:t>התפלגות הדגימה של </a:t>
            </a:r>
            <a:r>
              <a:rPr lang="he-IL" dirty="0" err="1"/>
              <a:t>האומד</a:t>
            </a:r>
            <a:r>
              <a:rPr lang="he-IL" dirty="0"/>
              <a:t> בקירוב נורמלית. </a:t>
            </a:r>
          </a:p>
          <a:p>
            <a:pPr marL="228600" indent="-228600" algn="r" rtl="1">
              <a:buFont typeface="+mj-lt"/>
              <a:buAutoNum type="arabicPeriod"/>
            </a:pPr>
            <a:r>
              <a:rPr lang="he-IL" dirty="0"/>
              <a:t>סטיית התקן של התפלגות הדגימה ידועה או ניתנת להערכה טובה. </a:t>
            </a:r>
          </a:p>
          <a:p>
            <a:pPr marL="228600" indent="-228600" algn="r" rtl="1">
              <a:buFont typeface="+mj-lt"/>
              <a:buAutoNum type="arabicPeriod"/>
            </a:pPr>
            <a:r>
              <a:rPr lang="he-IL" dirty="0"/>
              <a:t>במבחני פרופורציות, משתמשים בקירוב נורמלי להתפלגות הבינומית. </a:t>
            </a:r>
          </a:p>
        </p:txBody>
      </p:sp>
      <p:sp>
        <p:nvSpPr>
          <p:cNvPr id="4" name="Slide Number Placeholder 3">
            <a:extLst>
              <a:ext uri="{FF2B5EF4-FFF2-40B4-BE49-F238E27FC236}">
                <a16:creationId xmlns:a16="http://schemas.microsoft.com/office/drawing/2014/main" id="{4FC14CB9-F8E4-A9D4-FAB3-136519F1106B}"/>
              </a:ext>
            </a:extLst>
          </p:cNvPr>
          <p:cNvSpPr>
            <a:spLocks noGrp="1"/>
          </p:cNvSpPr>
          <p:nvPr>
            <p:ph type="sldNum" sz="quarter" idx="5"/>
          </p:nvPr>
        </p:nvSpPr>
        <p:spPr/>
        <p:txBody>
          <a:bodyPr/>
          <a:lstStyle/>
          <a:p>
            <a:fld id="{D5E2C206-B79F-4FAD-948A-1F55E500568F}" type="slidenum">
              <a:rPr lang="he-IL" smtClean="0"/>
              <a:pPr/>
              <a:t>10</a:t>
            </a:fld>
            <a:endParaRPr lang="he-IL" dirty="0"/>
          </a:p>
        </p:txBody>
      </p:sp>
    </p:spTree>
    <p:extLst>
      <p:ext uri="{BB962C8B-B14F-4D97-AF65-F5344CB8AC3E}">
        <p14:creationId xmlns:p14="http://schemas.microsoft.com/office/powerpoint/2010/main" val="3891431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BE136-ADFA-ABCA-4AFD-0EABBCCC9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4FE4D-A939-A7E0-26F5-2214BC080B74}"/>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3FF05A1E-6B5A-3C6F-FC31-1882A6973C8D}"/>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538A8900-C506-97CC-088A-D7B25EFCF1B8}"/>
              </a:ext>
            </a:extLst>
          </p:cNvPr>
          <p:cNvSpPr>
            <a:spLocks noGrp="1"/>
          </p:cNvSpPr>
          <p:nvPr>
            <p:ph type="sldNum" sz="quarter" idx="5"/>
          </p:nvPr>
        </p:nvSpPr>
        <p:spPr/>
        <p:txBody>
          <a:bodyPr/>
          <a:lstStyle/>
          <a:p>
            <a:fld id="{D5E2C206-B79F-4FAD-948A-1F55E500568F}" type="slidenum">
              <a:rPr lang="he-IL" smtClean="0"/>
              <a:pPr/>
              <a:t>11</a:t>
            </a:fld>
            <a:endParaRPr lang="he-IL" dirty="0"/>
          </a:p>
        </p:txBody>
      </p:sp>
    </p:spTree>
    <p:extLst>
      <p:ext uri="{BB962C8B-B14F-4D97-AF65-F5344CB8AC3E}">
        <p14:creationId xmlns:p14="http://schemas.microsoft.com/office/powerpoint/2010/main" val="3736079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CAE27-9B2E-59F6-CEDB-A6461FD1B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85348-7453-610E-0DCF-07E81E7A251B}"/>
              </a:ext>
            </a:extLst>
          </p:cNvPr>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EE5FB6B-1901-4120-AAC9-8557DC3AD795}"/>
                  </a:ext>
                </a:extLst>
              </p:cNvPr>
              <p:cNvSpPr>
                <a:spLocks noGrp="1"/>
              </p:cNvSpPr>
              <p:nvPr>
                <p:ph type="body" idx="1"/>
              </p:nvPr>
            </p:nvSpPr>
            <p:spPr/>
            <p:txBody>
              <a:bodyPr/>
              <a:lstStyle/>
              <a:p>
                <a:r>
                  <a:rPr lang="en-US" dirty="0"/>
                  <a:t>“Pooled” means that under the null hypothesis, we combine the two groups and estimate one shared probability for both groups. </a:t>
                </a:r>
              </a:p>
              <a:p>
                <a:r>
                  <a:rPr lang="en-US" dirty="0"/>
                  <a:t>This shared probability is then used to calculate the standard error of the difference under H0​.</a:t>
                </a:r>
                <a:endParaRPr lang="he-IL" dirty="0"/>
              </a:p>
              <a:p>
                <a:pPr algn="r" rtl="1"/>
                <a:r>
                  <a:rPr lang="he-IL" dirty="0"/>
                  <a:t>הרעיון הכללי של סטטיסטי z הוא:</a:t>
                </a:r>
              </a:p>
              <a:p>
                <a:pPr algn="r" rtl="1"/>
                <a14:m>
                  <m:oMathPara xmlns:m="http://schemas.openxmlformats.org/officeDocument/2006/math">
                    <m:oMathParaPr>
                      <m:jc m:val="centerGroup"/>
                    </m:oMathParaPr>
                    <m:oMath xmlns:m="http://schemas.openxmlformats.org/officeDocument/2006/math">
                      <m:r>
                        <a:rPr lang="he-IL" sz="1200" i="1" kern="1200">
                          <a:solidFill>
                            <a:schemeClr val="tx1"/>
                          </a:solidFill>
                          <a:latin typeface="Cambria Math" panose="02040503050406030204" pitchFamily="18" charset="0"/>
                          <a:ea typeface="+mn-ea"/>
                          <a:cs typeface="+mn-cs"/>
                        </a:rPr>
                        <m:t>𝑧</m:t>
                      </m:r>
                      <m:r>
                        <a:rPr lang="he-IL" sz="1200" i="0" kern="1200">
                          <a:solidFill>
                            <a:schemeClr val="tx1"/>
                          </a:solidFill>
                          <a:latin typeface="Cambria Math" panose="02040503050406030204" pitchFamily="18" charset="0"/>
                          <a:ea typeface="+mn-ea"/>
                          <a:cs typeface="+mn-cs"/>
                        </a:rPr>
                        <m:t>=</m:t>
                      </m:r>
                      <m:f>
                        <m:fPr>
                          <m:ctrlPr>
                            <a:rPr lang="he-IL" sz="1200" i="1" kern="1200">
                              <a:solidFill>
                                <a:schemeClr val="tx1"/>
                              </a:solidFill>
                              <a:latin typeface="Cambria Math" panose="02040503050406030204" pitchFamily="18" charset="0"/>
                              <a:ea typeface="+mn-ea"/>
                              <a:cs typeface="+mn-cs"/>
                            </a:rPr>
                          </m:ctrlPr>
                        </m:fPr>
                        <m:num>
                          <m:r>
                            <m:rPr>
                              <m:nor/>
                            </m:rPr>
                            <a:rPr lang="he-IL" sz="1200" b="0" i="1" kern="1200">
                              <a:solidFill>
                                <a:schemeClr val="tx1"/>
                              </a:solidFill>
                              <a:latin typeface="David" panose="020E0502060401010101" pitchFamily="34" charset="-79"/>
                              <a:ea typeface="+mn-ea"/>
                              <a:cs typeface="+mn-cs"/>
                            </a:rPr>
                            <m:t>observed</m:t>
                          </m:r>
                          <m:r>
                            <m:rPr>
                              <m:nor/>
                            </m:rPr>
                            <a:rPr lang="he-IL" sz="1200" b="0" i="1" kern="1200">
                              <a:solidFill>
                                <a:schemeClr val="tx1"/>
                              </a:solidFill>
                              <a:latin typeface="David" panose="020E0502060401010101" pitchFamily="34" charset="-79"/>
                              <a:ea typeface="+mn-ea"/>
                              <a:cs typeface="+mn-cs"/>
                            </a:rPr>
                            <m:t> </m:t>
                          </m:r>
                          <m:r>
                            <m:rPr>
                              <m:nor/>
                            </m:rPr>
                            <a:rPr lang="he-IL" sz="1200" b="0" i="1" kern="1200">
                              <a:solidFill>
                                <a:schemeClr val="tx1"/>
                              </a:solidFill>
                              <a:latin typeface="David" panose="020E0502060401010101" pitchFamily="34" charset="-79"/>
                              <a:ea typeface="+mn-ea"/>
                              <a:cs typeface="+mn-cs"/>
                            </a:rPr>
                            <m:t>estimate</m:t>
                          </m:r>
                          <m:r>
                            <a:rPr lang="he-IL" sz="1200" b="0" i="0" kern="1200">
                              <a:solidFill>
                                <a:schemeClr val="tx1"/>
                              </a:solidFill>
                              <a:latin typeface="Cambria Math" panose="02040503050406030204" pitchFamily="18" charset="0"/>
                              <a:ea typeface="+mn-ea"/>
                              <a:cs typeface="+mn-cs"/>
                            </a:rPr>
                            <m:t>−</m:t>
                          </m:r>
                          <m:r>
                            <m:rPr>
                              <m:nor/>
                            </m:rPr>
                            <a:rPr lang="he-IL" sz="1200" b="0" i="1" kern="1200">
                              <a:solidFill>
                                <a:schemeClr val="tx1"/>
                              </a:solidFill>
                              <a:latin typeface="David" panose="020E0502060401010101" pitchFamily="34" charset="-79"/>
                              <a:ea typeface="+mn-ea"/>
                              <a:cs typeface="+mn-cs"/>
                            </a:rPr>
                            <m:t>null</m:t>
                          </m:r>
                          <m:r>
                            <m:rPr>
                              <m:nor/>
                            </m:rPr>
                            <a:rPr lang="he-IL" sz="1200" b="0" i="1" kern="1200">
                              <a:solidFill>
                                <a:schemeClr val="tx1"/>
                              </a:solidFill>
                              <a:latin typeface="David" panose="020E0502060401010101" pitchFamily="34" charset="-79"/>
                              <a:ea typeface="+mn-ea"/>
                              <a:cs typeface="+mn-cs"/>
                            </a:rPr>
                            <m:t> </m:t>
                          </m:r>
                          <m:r>
                            <m:rPr>
                              <m:nor/>
                            </m:rPr>
                            <a:rPr lang="he-IL" sz="1200" b="0" i="1" kern="1200">
                              <a:solidFill>
                                <a:schemeClr val="tx1"/>
                              </a:solidFill>
                              <a:latin typeface="David" panose="020E0502060401010101" pitchFamily="34" charset="-79"/>
                              <a:ea typeface="+mn-ea"/>
                              <a:cs typeface="+mn-cs"/>
                            </a:rPr>
                            <m:t>value</m:t>
                          </m:r>
                        </m:num>
                        <m:den>
                          <m:r>
                            <m:rPr>
                              <m:nor/>
                            </m:rPr>
                            <a:rPr lang="he-IL" sz="1200" b="0" i="1" kern="1200">
                              <a:solidFill>
                                <a:schemeClr val="tx1"/>
                              </a:solidFill>
                              <a:latin typeface="David" panose="020E0502060401010101" pitchFamily="34" charset="-79"/>
                              <a:ea typeface="+mn-ea"/>
                              <a:cs typeface="+mn-cs"/>
                            </a:rPr>
                            <m:t>standard</m:t>
                          </m:r>
                          <m:r>
                            <m:rPr>
                              <m:nor/>
                            </m:rPr>
                            <a:rPr lang="he-IL" sz="1200" b="0" i="1" kern="1200">
                              <a:solidFill>
                                <a:schemeClr val="tx1"/>
                              </a:solidFill>
                              <a:latin typeface="David" panose="020E0502060401010101" pitchFamily="34" charset="-79"/>
                              <a:ea typeface="+mn-ea"/>
                              <a:cs typeface="+mn-cs"/>
                            </a:rPr>
                            <m:t> </m:t>
                          </m:r>
                          <m:r>
                            <m:rPr>
                              <m:nor/>
                            </m:rPr>
                            <a:rPr lang="he-IL" sz="1200" b="0" i="1" kern="1200">
                              <a:solidFill>
                                <a:schemeClr val="tx1"/>
                              </a:solidFill>
                              <a:latin typeface="David" panose="020E0502060401010101" pitchFamily="34" charset="-79"/>
                              <a:ea typeface="+mn-ea"/>
                              <a:cs typeface="+mn-cs"/>
                            </a:rPr>
                            <m:t>error</m:t>
                          </m:r>
                        </m:den>
                      </m:f>
                    </m:oMath>
                  </m:oMathPara>
                </a14:m>
                <a:endParaRPr lang="he-IL" b="0" dirty="0"/>
              </a:p>
              <a:p>
                <a:pPr algn="r" rtl="1"/>
                <a:r>
                  <a:rPr lang="he-IL" dirty="0"/>
                  <a:t>כלומר:</a:t>
                </a:r>
              </a:p>
              <a:p>
                <a:pPr algn="r" rtl="1"/>
                <a14:m>
                  <m:oMathPara xmlns:m="http://schemas.openxmlformats.org/officeDocument/2006/math">
                    <m:oMathParaPr>
                      <m:jc m:val="centerGroup"/>
                    </m:oMathParaPr>
                    <m:oMath xmlns:m="http://schemas.openxmlformats.org/officeDocument/2006/math">
                      <m:r>
                        <a:rPr lang="he-IL" sz="1200" i="1" kern="1200">
                          <a:solidFill>
                            <a:schemeClr val="tx1"/>
                          </a:solidFill>
                          <a:latin typeface="Cambria Math" panose="02040503050406030204" pitchFamily="18" charset="0"/>
                          <a:ea typeface="+mn-ea"/>
                          <a:cs typeface="+mn-cs"/>
                        </a:rPr>
                        <m:t>𝑧</m:t>
                      </m:r>
                      <m:r>
                        <a:rPr lang="he-IL" sz="1200" i="0" kern="1200">
                          <a:solidFill>
                            <a:schemeClr val="tx1"/>
                          </a:solidFill>
                          <a:latin typeface="Cambria Math" panose="02040503050406030204" pitchFamily="18" charset="0"/>
                          <a:ea typeface="+mn-ea"/>
                          <a:cs typeface="+mn-cs"/>
                        </a:rPr>
                        <m:t>=</m:t>
                      </m:r>
                      <m:f>
                        <m:fPr>
                          <m:ctrlPr>
                            <a:rPr lang="he-IL" sz="1200" i="1" kern="1200">
                              <a:solidFill>
                                <a:schemeClr val="tx1"/>
                              </a:solidFill>
                              <a:latin typeface="Cambria Math" panose="02040503050406030204" pitchFamily="18" charset="0"/>
                              <a:ea typeface="+mn-ea"/>
                              <a:cs typeface="+mn-cs"/>
                            </a:rPr>
                          </m:ctrlPr>
                        </m:fPr>
                        <m:num>
                          <m:acc>
                            <m:accPr>
                              <m:chr m:val="̂"/>
                              <m:ctrlPr>
                                <a:rPr lang="he-IL" sz="1200" i="1" kern="1200">
                                  <a:solidFill>
                                    <a:schemeClr val="tx1"/>
                                  </a:solidFill>
                                  <a:latin typeface="Cambria Math" panose="02040503050406030204" pitchFamily="18" charset="0"/>
                                  <a:ea typeface="+mn-ea"/>
                                  <a:cs typeface="+mn-cs"/>
                                </a:rPr>
                              </m:ctrlPr>
                            </m:accPr>
                            <m:e>
                              <m:r>
                                <a:rPr lang="he-IL" sz="1200" i="1" kern="1200">
                                  <a:solidFill>
                                    <a:schemeClr val="tx1"/>
                                  </a:solidFill>
                                  <a:latin typeface="Cambria Math" panose="02040503050406030204" pitchFamily="18" charset="0"/>
                                  <a:ea typeface="+mn-ea"/>
                                  <a:cs typeface="+mn-cs"/>
                                </a:rPr>
                                <m:t>𝜃</m:t>
                              </m:r>
                            </m:e>
                          </m:acc>
                          <m:r>
                            <a:rPr lang="he-IL" sz="1200" i="0" kern="1200">
                              <a:solidFill>
                                <a:schemeClr val="tx1"/>
                              </a:solidFill>
                              <a:latin typeface="Cambria Math" panose="02040503050406030204" pitchFamily="18" charset="0"/>
                              <a:ea typeface="+mn-ea"/>
                              <a:cs typeface="+mn-cs"/>
                            </a:rPr>
                            <m:t>−</m:t>
                          </m:r>
                          <m:sSub>
                            <m:sSubPr>
                              <m:ctrlPr>
                                <a:rPr lang="he-IL" sz="1200" i="1" kern="1200">
                                  <a:solidFill>
                                    <a:schemeClr val="tx1"/>
                                  </a:solidFill>
                                  <a:latin typeface="Cambria Math" panose="02040503050406030204" pitchFamily="18" charset="0"/>
                                  <a:ea typeface="+mn-ea"/>
                                  <a:cs typeface="+mn-cs"/>
                                </a:rPr>
                              </m:ctrlPr>
                            </m:sSubPr>
                            <m:e>
                              <m:r>
                                <a:rPr lang="he-IL" sz="1200" i="1" kern="1200">
                                  <a:solidFill>
                                    <a:schemeClr val="tx1"/>
                                  </a:solidFill>
                                  <a:latin typeface="Cambria Math" panose="02040503050406030204" pitchFamily="18" charset="0"/>
                                  <a:ea typeface="+mn-ea"/>
                                  <a:cs typeface="+mn-cs"/>
                                </a:rPr>
                                <m:t>𝜃</m:t>
                              </m:r>
                            </m:e>
                            <m:sub>
                              <m:r>
                                <a:rPr lang="he-IL" sz="1200" i="0" kern="1200">
                                  <a:solidFill>
                                    <a:schemeClr val="tx1"/>
                                  </a:solidFill>
                                  <a:latin typeface="Cambria Math" panose="02040503050406030204" pitchFamily="18" charset="0"/>
                                  <a:ea typeface="+mn-ea"/>
                                  <a:cs typeface="+mn-cs"/>
                                </a:rPr>
                                <m:t>0</m:t>
                              </m:r>
                            </m:sub>
                          </m:sSub>
                        </m:num>
                        <m:den>
                          <m:r>
                            <a:rPr lang="he-IL" sz="1200" i="1" kern="1200">
                              <a:solidFill>
                                <a:schemeClr val="tx1"/>
                              </a:solidFill>
                              <a:latin typeface="Cambria Math" panose="02040503050406030204" pitchFamily="18" charset="0"/>
                              <a:ea typeface="+mn-ea"/>
                              <a:cs typeface="+mn-cs"/>
                            </a:rPr>
                            <m:t>𝑆𝐸</m:t>
                          </m:r>
                        </m:den>
                      </m:f>
                    </m:oMath>
                  </m:oMathPara>
                </a14:m>
                <a:endParaRPr lang="he-IL" dirty="0"/>
              </a:p>
              <a:p>
                <a:pPr algn="r" rtl="1"/>
                <a:r>
                  <a:rPr lang="he-IL" dirty="0"/>
                  <a:t>או עבור הבדל בין שתי פרופורציות:</a:t>
                </a:r>
              </a:p>
              <a:p>
                <a:pPr/>
                <a14:m>
                  <m:oMathPara xmlns:m="http://schemas.openxmlformats.org/officeDocument/2006/math">
                    <m:oMathParaPr>
                      <m:jc m:val="centerGroup"/>
                    </m:oMathParaPr>
                    <m:oMath xmlns:m="http://schemas.openxmlformats.org/officeDocument/2006/math">
                      <m:r>
                        <a:rPr lang="he-IL" sz="1200" i="1" kern="1200">
                          <a:solidFill>
                            <a:schemeClr val="tx1"/>
                          </a:solidFill>
                          <a:latin typeface="Cambria Math" panose="02040503050406030204" pitchFamily="18" charset="0"/>
                          <a:ea typeface="+mn-ea"/>
                          <a:cs typeface="+mn-cs"/>
                        </a:rPr>
                        <m:t>𝑧</m:t>
                      </m:r>
                      <m:r>
                        <a:rPr lang="he-IL" sz="1200" i="0" kern="1200">
                          <a:solidFill>
                            <a:schemeClr val="tx1"/>
                          </a:solidFill>
                          <a:latin typeface="Cambria Math" panose="02040503050406030204" pitchFamily="18" charset="0"/>
                          <a:ea typeface="+mn-ea"/>
                          <a:cs typeface="+mn-cs"/>
                        </a:rPr>
                        <m:t>=</m:t>
                      </m:r>
                      <m:f>
                        <m:fPr>
                          <m:ctrlPr>
                            <a:rPr lang="he-IL" sz="1200" i="1" kern="1200">
                              <a:solidFill>
                                <a:schemeClr val="tx1"/>
                              </a:solidFill>
                              <a:latin typeface="Cambria Math" panose="02040503050406030204" pitchFamily="18" charset="0"/>
                              <a:ea typeface="+mn-ea"/>
                              <a:cs typeface="+mn-cs"/>
                            </a:rPr>
                          </m:ctrlPr>
                        </m:fPr>
                        <m:num>
                          <m:d>
                            <m:dPr>
                              <m:ctrlPr>
                                <a:rPr lang="he-IL" sz="1200" i="1" kern="1200">
                                  <a:solidFill>
                                    <a:schemeClr val="tx1"/>
                                  </a:solidFill>
                                  <a:latin typeface="Cambria Math" panose="02040503050406030204" pitchFamily="18" charset="0"/>
                                  <a:ea typeface="+mn-ea"/>
                                  <a:cs typeface="+mn-cs"/>
                                </a:rPr>
                              </m:ctrlPr>
                            </m:dPr>
                            <m:e>
                              <m:sSub>
                                <m:sSubPr>
                                  <m:ctrlPr>
                                    <a:rPr lang="he-IL" sz="1200" i="1" kern="1200">
                                      <a:solidFill>
                                        <a:schemeClr val="tx1"/>
                                      </a:solidFill>
                                      <a:latin typeface="Cambria Math" panose="02040503050406030204" pitchFamily="18" charset="0"/>
                                      <a:ea typeface="+mn-ea"/>
                                      <a:cs typeface="+mn-cs"/>
                                    </a:rPr>
                                  </m:ctrlPr>
                                </m:sSubPr>
                                <m:e>
                                  <m:acc>
                                    <m:accPr>
                                      <m:chr m:val="̂"/>
                                      <m:ctrlPr>
                                        <a:rPr lang="he-IL" sz="1200" i="1" kern="1200">
                                          <a:solidFill>
                                            <a:schemeClr val="tx1"/>
                                          </a:solidFill>
                                          <a:latin typeface="Cambria Math" panose="02040503050406030204" pitchFamily="18" charset="0"/>
                                          <a:ea typeface="+mn-ea"/>
                                          <a:cs typeface="+mn-cs"/>
                                        </a:rPr>
                                      </m:ctrlPr>
                                    </m:accPr>
                                    <m:e>
                                      <m:r>
                                        <a:rPr lang="he-IL" sz="1200" i="1" kern="1200">
                                          <a:solidFill>
                                            <a:schemeClr val="tx1"/>
                                          </a:solidFill>
                                          <a:latin typeface="Cambria Math" panose="02040503050406030204" pitchFamily="18" charset="0"/>
                                          <a:ea typeface="+mn-ea"/>
                                          <a:cs typeface="+mn-cs"/>
                                        </a:rPr>
                                        <m:t>𝜃</m:t>
                                      </m:r>
                                    </m:e>
                                  </m:acc>
                                </m:e>
                                <m:sub>
                                  <m:r>
                                    <a:rPr lang="he-IL" sz="1200" i="1" kern="1200">
                                      <a:solidFill>
                                        <a:schemeClr val="tx1"/>
                                      </a:solidFill>
                                      <a:latin typeface="Cambria Math" panose="02040503050406030204" pitchFamily="18" charset="0"/>
                                      <a:ea typeface="+mn-ea"/>
                                      <a:cs typeface="+mn-cs"/>
                                    </a:rPr>
                                    <m:t>𝐴</m:t>
                                  </m:r>
                                </m:sub>
                              </m:sSub>
                              <m:r>
                                <a:rPr lang="he-IL" sz="1200" i="0" kern="1200">
                                  <a:solidFill>
                                    <a:schemeClr val="tx1"/>
                                  </a:solidFill>
                                  <a:latin typeface="Cambria Math" panose="02040503050406030204" pitchFamily="18" charset="0"/>
                                  <a:ea typeface="+mn-ea"/>
                                  <a:cs typeface="+mn-cs"/>
                                </a:rPr>
                                <m:t>−</m:t>
                              </m:r>
                              <m:sSub>
                                <m:sSubPr>
                                  <m:ctrlPr>
                                    <a:rPr lang="he-IL" sz="1200" i="1" kern="1200">
                                      <a:solidFill>
                                        <a:schemeClr val="tx1"/>
                                      </a:solidFill>
                                      <a:latin typeface="Cambria Math" panose="02040503050406030204" pitchFamily="18" charset="0"/>
                                      <a:ea typeface="+mn-ea"/>
                                      <a:cs typeface="+mn-cs"/>
                                    </a:rPr>
                                  </m:ctrlPr>
                                </m:sSubPr>
                                <m:e>
                                  <m:acc>
                                    <m:accPr>
                                      <m:chr m:val="̂"/>
                                      <m:ctrlPr>
                                        <a:rPr lang="he-IL" sz="1200" i="1" kern="1200">
                                          <a:solidFill>
                                            <a:schemeClr val="tx1"/>
                                          </a:solidFill>
                                          <a:latin typeface="Cambria Math" panose="02040503050406030204" pitchFamily="18" charset="0"/>
                                          <a:ea typeface="+mn-ea"/>
                                          <a:cs typeface="+mn-cs"/>
                                        </a:rPr>
                                      </m:ctrlPr>
                                    </m:accPr>
                                    <m:e>
                                      <m:r>
                                        <a:rPr lang="he-IL" sz="1200" i="1" kern="1200">
                                          <a:solidFill>
                                            <a:schemeClr val="tx1"/>
                                          </a:solidFill>
                                          <a:latin typeface="Cambria Math" panose="02040503050406030204" pitchFamily="18" charset="0"/>
                                          <a:ea typeface="+mn-ea"/>
                                          <a:cs typeface="+mn-cs"/>
                                        </a:rPr>
                                        <m:t>𝜃</m:t>
                                      </m:r>
                                    </m:e>
                                  </m:acc>
                                </m:e>
                                <m:sub>
                                  <m:r>
                                    <a:rPr lang="he-IL" sz="1200" i="1" kern="1200">
                                      <a:solidFill>
                                        <a:schemeClr val="tx1"/>
                                      </a:solidFill>
                                      <a:latin typeface="Cambria Math" panose="02040503050406030204" pitchFamily="18" charset="0"/>
                                      <a:ea typeface="+mn-ea"/>
                                      <a:cs typeface="+mn-cs"/>
                                    </a:rPr>
                                    <m:t>𝐵</m:t>
                                  </m:r>
                                </m:sub>
                              </m:sSub>
                            </m:e>
                          </m:d>
                          <m:r>
                            <a:rPr lang="he-IL" sz="1200" i="0" kern="1200">
                              <a:solidFill>
                                <a:schemeClr val="tx1"/>
                              </a:solidFill>
                              <a:latin typeface="Cambria Math" panose="02040503050406030204" pitchFamily="18" charset="0"/>
                              <a:ea typeface="+mn-ea"/>
                              <a:cs typeface="+mn-cs"/>
                            </a:rPr>
                            <m:t>−</m:t>
                          </m:r>
                          <m:r>
                            <a:rPr lang="he-IL" sz="1200" i="0" kern="1200">
                              <a:solidFill>
                                <a:schemeClr val="tx1"/>
                              </a:solidFill>
                              <a:latin typeface="Cambria Math" panose="02040503050406030204" pitchFamily="18" charset="0"/>
                              <a:ea typeface="+mn-ea"/>
                              <a:cs typeface="+mn-cs"/>
                            </a:rPr>
                            <m:t>0</m:t>
                          </m:r>
                        </m:num>
                        <m:den>
                          <m:r>
                            <a:rPr lang="he-IL" sz="1200" i="1" kern="1200">
                              <a:solidFill>
                                <a:schemeClr val="tx1"/>
                              </a:solidFill>
                              <a:latin typeface="Cambria Math" panose="02040503050406030204" pitchFamily="18" charset="0"/>
                              <a:ea typeface="+mn-ea"/>
                              <a:cs typeface="+mn-cs"/>
                            </a:rPr>
                            <m:t>𝑆</m:t>
                          </m:r>
                          <m:sSub>
                            <m:sSubPr>
                              <m:ctrlPr>
                                <a:rPr lang="he-IL" sz="1200" i="1" kern="1200">
                                  <a:solidFill>
                                    <a:schemeClr val="tx1"/>
                                  </a:solidFill>
                                  <a:latin typeface="Cambria Math" panose="02040503050406030204" pitchFamily="18" charset="0"/>
                                  <a:ea typeface="+mn-ea"/>
                                  <a:cs typeface="+mn-cs"/>
                                </a:rPr>
                              </m:ctrlPr>
                            </m:sSubPr>
                            <m:e>
                              <m:r>
                                <a:rPr lang="he-IL" sz="1200" i="1" kern="1200">
                                  <a:solidFill>
                                    <a:schemeClr val="tx1"/>
                                  </a:solidFill>
                                  <a:latin typeface="Cambria Math" panose="02040503050406030204" pitchFamily="18" charset="0"/>
                                  <a:ea typeface="+mn-ea"/>
                                  <a:cs typeface="+mn-cs"/>
                                </a:rPr>
                                <m:t>𝐸</m:t>
                              </m:r>
                            </m:e>
                            <m:sub>
                              <m:sSub>
                                <m:sSubPr>
                                  <m:ctrlPr>
                                    <a:rPr lang="he-IL" sz="1200" i="1" kern="1200">
                                      <a:solidFill>
                                        <a:schemeClr val="tx1"/>
                                      </a:solidFill>
                                      <a:latin typeface="Cambria Math" panose="02040503050406030204" pitchFamily="18" charset="0"/>
                                      <a:ea typeface="+mn-ea"/>
                                      <a:cs typeface="+mn-cs"/>
                                    </a:rPr>
                                  </m:ctrlPr>
                                </m:sSubPr>
                                <m:e>
                                  <m:acc>
                                    <m:accPr>
                                      <m:chr m:val="̂"/>
                                      <m:ctrlPr>
                                        <a:rPr lang="he-IL" sz="1200" i="1" kern="1200">
                                          <a:solidFill>
                                            <a:schemeClr val="tx1"/>
                                          </a:solidFill>
                                          <a:latin typeface="Cambria Math" panose="02040503050406030204" pitchFamily="18" charset="0"/>
                                          <a:ea typeface="+mn-ea"/>
                                          <a:cs typeface="+mn-cs"/>
                                        </a:rPr>
                                      </m:ctrlPr>
                                    </m:accPr>
                                    <m:e>
                                      <m:r>
                                        <a:rPr lang="he-IL" sz="1200" i="1" kern="1200">
                                          <a:solidFill>
                                            <a:schemeClr val="tx1"/>
                                          </a:solidFill>
                                          <a:latin typeface="Cambria Math" panose="02040503050406030204" pitchFamily="18" charset="0"/>
                                          <a:ea typeface="+mn-ea"/>
                                          <a:cs typeface="+mn-cs"/>
                                        </a:rPr>
                                        <m:t>𝜃</m:t>
                                      </m:r>
                                    </m:e>
                                  </m:acc>
                                </m:e>
                                <m:sub>
                                  <m:r>
                                    <a:rPr lang="he-IL" sz="1200" i="1" kern="1200">
                                      <a:solidFill>
                                        <a:schemeClr val="tx1"/>
                                      </a:solidFill>
                                      <a:latin typeface="Cambria Math" panose="02040503050406030204" pitchFamily="18" charset="0"/>
                                      <a:ea typeface="+mn-ea"/>
                                      <a:cs typeface="+mn-cs"/>
                                    </a:rPr>
                                    <m:t>𝐴</m:t>
                                  </m:r>
                                </m:sub>
                              </m:sSub>
                              <m:r>
                                <a:rPr lang="he-IL" sz="1200" i="0" kern="1200">
                                  <a:solidFill>
                                    <a:schemeClr val="tx1"/>
                                  </a:solidFill>
                                  <a:latin typeface="Cambria Math" panose="02040503050406030204" pitchFamily="18" charset="0"/>
                                  <a:ea typeface="+mn-ea"/>
                                  <a:cs typeface="+mn-cs"/>
                                </a:rPr>
                                <m:t>−</m:t>
                              </m:r>
                              <m:sSub>
                                <m:sSubPr>
                                  <m:ctrlPr>
                                    <a:rPr lang="he-IL" sz="1200" i="1" kern="1200">
                                      <a:solidFill>
                                        <a:schemeClr val="tx1"/>
                                      </a:solidFill>
                                      <a:latin typeface="Cambria Math" panose="02040503050406030204" pitchFamily="18" charset="0"/>
                                      <a:ea typeface="+mn-ea"/>
                                      <a:cs typeface="+mn-cs"/>
                                    </a:rPr>
                                  </m:ctrlPr>
                                </m:sSubPr>
                                <m:e>
                                  <m:acc>
                                    <m:accPr>
                                      <m:chr m:val="̂"/>
                                      <m:ctrlPr>
                                        <a:rPr lang="he-IL" sz="1200" i="1" kern="1200">
                                          <a:solidFill>
                                            <a:schemeClr val="tx1"/>
                                          </a:solidFill>
                                          <a:latin typeface="Cambria Math" panose="02040503050406030204" pitchFamily="18" charset="0"/>
                                          <a:ea typeface="+mn-ea"/>
                                          <a:cs typeface="+mn-cs"/>
                                        </a:rPr>
                                      </m:ctrlPr>
                                    </m:accPr>
                                    <m:e>
                                      <m:r>
                                        <a:rPr lang="he-IL" sz="1200" i="1" kern="1200">
                                          <a:solidFill>
                                            <a:schemeClr val="tx1"/>
                                          </a:solidFill>
                                          <a:latin typeface="Cambria Math" panose="02040503050406030204" pitchFamily="18" charset="0"/>
                                          <a:ea typeface="+mn-ea"/>
                                          <a:cs typeface="+mn-cs"/>
                                        </a:rPr>
                                        <m:t>𝜃</m:t>
                                      </m:r>
                                    </m:e>
                                  </m:acc>
                                </m:e>
                                <m:sub>
                                  <m:r>
                                    <a:rPr lang="he-IL" sz="1200" i="1" kern="1200">
                                      <a:solidFill>
                                        <a:schemeClr val="tx1"/>
                                      </a:solidFill>
                                      <a:latin typeface="Cambria Math" panose="02040503050406030204" pitchFamily="18" charset="0"/>
                                      <a:ea typeface="+mn-ea"/>
                                      <a:cs typeface="+mn-cs"/>
                                    </a:rPr>
                                    <m:t>𝐵</m:t>
                                  </m:r>
                                </m:sub>
                              </m:sSub>
                            </m:sub>
                          </m:sSub>
                        </m:den>
                      </m:f>
                    </m:oMath>
                  </m:oMathPara>
                </a14:m>
                <a:endParaRPr lang="he-IL" dirty="0"/>
              </a:p>
              <a:p>
                <a:r>
                  <a:rPr lang="he-IL" dirty="0"/>
                  <a:t>כאשר </a:t>
                </a:r>
                <a14:m>
                  <m:oMath xmlns:m="http://schemas.openxmlformats.org/officeDocument/2006/math">
                    <m:r>
                      <a:rPr lang="he-IL" sz="1200" i="1" kern="1200">
                        <a:solidFill>
                          <a:schemeClr val="tx1"/>
                        </a:solidFill>
                        <a:latin typeface="Cambria Math" panose="02040503050406030204" pitchFamily="18" charset="0"/>
                        <a:ea typeface="+mn-ea"/>
                        <a:cs typeface="+mn-cs"/>
                      </a:rPr>
                      <m:t>𝑆𝐸</m:t>
                    </m:r>
                  </m:oMath>
                </a14:m>
                <a:r>
                  <a:rPr lang="he-IL" dirty="0"/>
                  <a:t>הוא השגיאה התקנית של </a:t>
                </a:r>
                <a:r>
                  <a:rPr lang="he-IL" dirty="0" err="1"/>
                  <a:t>האומד</a:t>
                </a:r>
                <a:endParaRPr lang="he-IL" dirty="0"/>
              </a:p>
              <a:p>
                <a:endParaRPr lang="he-IL" dirty="0"/>
              </a:p>
            </p:txBody>
          </p:sp>
        </mc:Choice>
        <mc:Fallback xmlns="">
          <p:sp>
            <p:nvSpPr>
              <p:cNvPr id="3" name="Notes Placeholder 2">
                <a:extLst>
                  <a:ext uri="{FF2B5EF4-FFF2-40B4-BE49-F238E27FC236}">
                    <a16:creationId xmlns:a16="http://schemas.microsoft.com/office/drawing/2014/main" id="{CEE5FB6B-1901-4120-AAC9-8557DC3AD795}"/>
                  </a:ext>
                </a:extLst>
              </p:cNvPr>
              <p:cNvSpPr>
                <a:spLocks noGrp="1"/>
              </p:cNvSpPr>
              <p:nvPr>
                <p:ph type="body" idx="1"/>
              </p:nvPr>
            </p:nvSpPr>
            <p:spPr/>
            <p:txBody>
              <a:bodyPr/>
              <a:lstStyle/>
              <a:p>
                <a:r>
                  <a:rPr lang="en-US" dirty="0"/>
                  <a:t>“Pooled” means that under the null hypothesis, we combine the two groups and estimate one shared probability for both groups. </a:t>
                </a:r>
              </a:p>
              <a:p>
                <a:r>
                  <a:rPr lang="en-US" dirty="0"/>
                  <a:t>This shared probability is then used to calculate the standard error of the difference under H0​.</a:t>
                </a:r>
                <a:endParaRPr lang="he-IL" dirty="0"/>
              </a:p>
              <a:p>
                <a:pPr algn="r" rtl="1"/>
                <a:r>
                  <a:rPr lang="he-IL" dirty="0"/>
                  <a:t>הרעיון הכללי של סטטיסטי z הוא:</a:t>
                </a:r>
              </a:p>
              <a:p>
                <a:pPr algn="r" rtl="1"/>
                <a:r>
                  <a:rPr lang="he-IL" sz="1200" i="0" kern="1200">
                    <a:solidFill>
                      <a:schemeClr val="tx1"/>
                    </a:solidFill>
                    <a:latin typeface="David" panose="020E0502060401010101" pitchFamily="34" charset="-79"/>
                    <a:ea typeface="+mn-ea"/>
                    <a:cs typeface="+mn-cs"/>
                  </a:rPr>
                  <a:t>𝑧=(</a:t>
                </a:r>
                <a:r>
                  <a:rPr lang="he-IL" sz="1200" b="0" i="0" kern="1200">
                    <a:solidFill>
                      <a:schemeClr val="tx1"/>
                    </a:solidFill>
                    <a:latin typeface="David" panose="020E0502060401010101" pitchFamily="34" charset="-79"/>
                    <a:ea typeface="+mn-ea"/>
                    <a:cs typeface="+mn-cs"/>
                  </a:rPr>
                  <a:t>"observed estimate" −"null value" )/"standard error" </a:t>
                </a:r>
                <a:endParaRPr lang="he-IL" b="0" dirty="0"/>
              </a:p>
              <a:p>
                <a:pPr algn="r" rtl="1"/>
                <a:r>
                  <a:rPr lang="he-IL" dirty="0"/>
                  <a:t>כלומר:</a:t>
                </a:r>
              </a:p>
              <a:p>
                <a:pPr algn="r" rtl="1"/>
                <a:r>
                  <a:rPr lang="he-IL" sz="1200" i="0" kern="1200">
                    <a:solidFill>
                      <a:schemeClr val="tx1"/>
                    </a:solidFill>
                    <a:latin typeface="David" panose="020E0502060401010101" pitchFamily="34" charset="-79"/>
                    <a:ea typeface="+mn-ea"/>
                    <a:cs typeface="+mn-cs"/>
                  </a:rPr>
                  <a:t>𝑧=(𝜃 ̂−𝜃_0)/𝑆𝐸</a:t>
                </a:r>
                <a:endParaRPr lang="he-IL" dirty="0"/>
              </a:p>
              <a:p>
                <a:pPr algn="r" rtl="1"/>
                <a:r>
                  <a:rPr lang="he-IL" dirty="0"/>
                  <a:t>או עבור הבדל בין שתי פרופורציות:</a:t>
                </a:r>
              </a:p>
              <a:p>
                <a:r>
                  <a:rPr lang="he-IL" sz="1200" i="0" kern="1200">
                    <a:solidFill>
                      <a:schemeClr val="tx1"/>
                    </a:solidFill>
                    <a:latin typeface="David" panose="020E0502060401010101" pitchFamily="34" charset="-79"/>
                    <a:ea typeface="+mn-ea"/>
                    <a:cs typeface="+mn-cs"/>
                  </a:rPr>
                  <a:t>𝑧=((𝜃 ̂_𝐴−𝜃 ̂_𝐵 )−0)/(𝑆𝐸_(𝜃 ̂_𝐴−𝜃 ̂_𝐵 ) )</a:t>
                </a:r>
                <a:endParaRPr lang="he-IL" dirty="0"/>
              </a:p>
              <a:p>
                <a:r>
                  <a:rPr lang="he-IL" dirty="0"/>
                  <a:t>כאשר </a:t>
                </a:r>
                <a:r>
                  <a:rPr lang="he-IL" sz="1200" i="0" kern="1200">
                    <a:solidFill>
                      <a:schemeClr val="tx1"/>
                    </a:solidFill>
                    <a:latin typeface="David" panose="020E0502060401010101" pitchFamily="34" charset="-79"/>
                    <a:ea typeface="+mn-ea"/>
                    <a:cs typeface="+mn-cs"/>
                  </a:rPr>
                  <a:t>𝑆𝐸</a:t>
                </a:r>
                <a:r>
                  <a:rPr lang="he-IL" dirty="0"/>
                  <a:t>הוא השגיאה התקנית של </a:t>
                </a:r>
                <a:r>
                  <a:rPr lang="he-IL" dirty="0" err="1"/>
                  <a:t>האומד</a:t>
                </a:r>
                <a:endParaRPr lang="he-IL" dirty="0"/>
              </a:p>
              <a:p>
                <a:endParaRPr lang="he-IL" dirty="0"/>
              </a:p>
            </p:txBody>
          </p:sp>
        </mc:Fallback>
      </mc:AlternateContent>
      <p:sp>
        <p:nvSpPr>
          <p:cNvPr id="4" name="Slide Number Placeholder 3">
            <a:extLst>
              <a:ext uri="{FF2B5EF4-FFF2-40B4-BE49-F238E27FC236}">
                <a16:creationId xmlns:a16="http://schemas.microsoft.com/office/drawing/2014/main" id="{B1613828-5518-BFE4-2D26-5D03B4123C96}"/>
              </a:ext>
            </a:extLst>
          </p:cNvPr>
          <p:cNvSpPr>
            <a:spLocks noGrp="1"/>
          </p:cNvSpPr>
          <p:nvPr>
            <p:ph type="sldNum" sz="quarter" idx="5"/>
          </p:nvPr>
        </p:nvSpPr>
        <p:spPr/>
        <p:txBody>
          <a:bodyPr/>
          <a:lstStyle/>
          <a:p>
            <a:fld id="{D5E2C206-B79F-4FAD-948A-1F55E500568F}" type="slidenum">
              <a:rPr lang="he-IL" smtClean="0"/>
              <a:pPr/>
              <a:t>12</a:t>
            </a:fld>
            <a:endParaRPr lang="he-IL" dirty="0"/>
          </a:p>
        </p:txBody>
      </p:sp>
    </p:spTree>
    <p:extLst>
      <p:ext uri="{BB962C8B-B14F-4D97-AF65-F5344CB8AC3E}">
        <p14:creationId xmlns:p14="http://schemas.microsoft.com/office/powerpoint/2010/main" val="2821110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21186-A7CC-2E11-593D-82F3E2465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1D149-F76C-1AC9-6C0F-D10B452BE63E}"/>
              </a:ext>
            </a:extLst>
          </p:cNvPr>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1106327-70B0-6541-4DDF-128581389661}"/>
                  </a:ext>
                </a:extLst>
              </p:cNvPr>
              <p:cNvSpPr>
                <a:spLocks noGrp="1"/>
              </p:cNvSpPr>
              <p:nvPr>
                <p:ph type="body" idx="1"/>
              </p:nvPr>
            </p:nvSpPr>
            <p:spPr/>
            <p:txBody>
              <a:bodyPr/>
              <a:lstStyle/>
              <a:p>
                <a:r>
                  <a:rPr lang="en-US" dirty="0"/>
                  <a:t>“Pooled” means that under the null hypothesis, we combine the two groups and estimate one shared probability for both groups. </a:t>
                </a:r>
              </a:p>
              <a:p>
                <a:r>
                  <a:rPr lang="en-US" dirty="0"/>
                  <a:t>This shared probability is then used to calculate the standard error of the difference under H0​.</a:t>
                </a:r>
                <a:endParaRPr lang="he-IL" dirty="0"/>
              </a:p>
              <a:p>
                <a:pPr algn="r" rtl="1"/>
                <a:r>
                  <a:rPr lang="he-IL" dirty="0"/>
                  <a:t>הרעיון הכללי של סטטיסטי z הוא:</a:t>
                </a:r>
              </a:p>
              <a:p>
                <a:pPr algn="r" rtl="1"/>
                <a14:m>
                  <m:oMathPara xmlns:m="http://schemas.openxmlformats.org/officeDocument/2006/math">
                    <m:oMathParaPr>
                      <m:jc m:val="centerGroup"/>
                    </m:oMathParaPr>
                    <m:oMath xmlns:m="http://schemas.openxmlformats.org/officeDocument/2006/math">
                      <m:r>
                        <a:rPr lang="he-IL" sz="1200" i="1" kern="1200">
                          <a:solidFill>
                            <a:schemeClr val="tx1"/>
                          </a:solidFill>
                          <a:latin typeface="Cambria Math" panose="02040503050406030204" pitchFamily="18" charset="0"/>
                          <a:ea typeface="+mn-ea"/>
                          <a:cs typeface="+mn-cs"/>
                        </a:rPr>
                        <m:t>𝑧</m:t>
                      </m:r>
                      <m:r>
                        <a:rPr lang="he-IL" sz="1200" i="0" kern="1200">
                          <a:solidFill>
                            <a:schemeClr val="tx1"/>
                          </a:solidFill>
                          <a:latin typeface="Cambria Math" panose="02040503050406030204" pitchFamily="18" charset="0"/>
                          <a:ea typeface="+mn-ea"/>
                          <a:cs typeface="+mn-cs"/>
                        </a:rPr>
                        <m:t>=</m:t>
                      </m:r>
                      <m:f>
                        <m:fPr>
                          <m:ctrlPr>
                            <a:rPr lang="he-IL" sz="1200" i="1" kern="1200">
                              <a:solidFill>
                                <a:schemeClr val="tx1"/>
                              </a:solidFill>
                              <a:latin typeface="Cambria Math" panose="02040503050406030204" pitchFamily="18" charset="0"/>
                              <a:ea typeface="+mn-ea"/>
                              <a:cs typeface="+mn-cs"/>
                            </a:rPr>
                          </m:ctrlPr>
                        </m:fPr>
                        <m:num>
                          <m:r>
                            <m:rPr>
                              <m:nor/>
                            </m:rPr>
                            <a:rPr lang="he-IL" sz="1200" b="0" i="1" kern="1200">
                              <a:solidFill>
                                <a:schemeClr val="tx1"/>
                              </a:solidFill>
                              <a:latin typeface="David" panose="020E0502060401010101" pitchFamily="34" charset="-79"/>
                              <a:ea typeface="+mn-ea"/>
                              <a:cs typeface="+mn-cs"/>
                            </a:rPr>
                            <m:t>observed</m:t>
                          </m:r>
                          <m:r>
                            <m:rPr>
                              <m:nor/>
                            </m:rPr>
                            <a:rPr lang="he-IL" sz="1200" b="0" i="1" kern="1200">
                              <a:solidFill>
                                <a:schemeClr val="tx1"/>
                              </a:solidFill>
                              <a:latin typeface="David" panose="020E0502060401010101" pitchFamily="34" charset="-79"/>
                              <a:ea typeface="+mn-ea"/>
                              <a:cs typeface="+mn-cs"/>
                            </a:rPr>
                            <m:t> </m:t>
                          </m:r>
                          <m:r>
                            <m:rPr>
                              <m:nor/>
                            </m:rPr>
                            <a:rPr lang="he-IL" sz="1200" b="0" i="1" kern="1200">
                              <a:solidFill>
                                <a:schemeClr val="tx1"/>
                              </a:solidFill>
                              <a:latin typeface="David" panose="020E0502060401010101" pitchFamily="34" charset="-79"/>
                              <a:ea typeface="+mn-ea"/>
                              <a:cs typeface="+mn-cs"/>
                            </a:rPr>
                            <m:t>estimate</m:t>
                          </m:r>
                          <m:r>
                            <a:rPr lang="he-IL" sz="1200" b="0" i="0" kern="1200">
                              <a:solidFill>
                                <a:schemeClr val="tx1"/>
                              </a:solidFill>
                              <a:latin typeface="Cambria Math" panose="02040503050406030204" pitchFamily="18" charset="0"/>
                              <a:ea typeface="+mn-ea"/>
                              <a:cs typeface="+mn-cs"/>
                            </a:rPr>
                            <m:t>−</m:t>
                          </m:r>
                          <m:r>
                            <m:rPr>
                              <m:nor/>
                            </m:rPr>
                            <a:rPr lang="he-IL" sz="1200" b="0" i="1" kern="1200">
                              <a:solidFill>
                                <a:schemeClr val="tx1"/>
                              </a:solidFill>
                              <a:latin typeface="David" panose="020E0502060401010101" pitchFamily="34" charset="-79"/>
                              <a:ea typeface="+mn-ea"/>
                              <a:cs typeface="+mn-cs"/>
                            </a:rPr>
                            <m:t>null</m:t>
                          </m:r>
                          <m:r>
                            <m:rPr>
                              <m:nor/>
                            </m:rPr>
                            <a:rPr lang="he-IL" sz="1200" b="0" i="1" kern="1200">
                              <a:solidFill>
                                <a:schemeClr val="tx1"/>
                              </a:solidFill>
                              <a:latin typeface="David" panose="020E0502060401010101" pitchFamily="34" charset="-79"/>
                              <a:ea typeface="+mn-ea"/>
                              <a:cs typeface="+mn-cs"/>
                            </a:rPr>
                            <m:t> </m:t>
                          </m:r>
                          <m:r>
                            <m:rPr>
                              <m:nor/>
                            </m:rPr>
                            <a:rPr lang="he-IL" sz="1200" b="0" i="1" kern="1200">
                              <a:solidFill>
                                <a:schemeClr val="tx1"/>
                              </a:solidFill>
                              <a:latin typeface="David" panose="020E0502060401010101" pitchFamily="34" charset="-79"/>
                              <a:ea typeface="+mn-ea"/>
                              <a:cs typeface="+mn-cs"/>
                            </a:rPr>
                            <m:t>value</m:t>
                          </m:r>
                        </m:num>
                        <m:den>
                          <m:r>
                            <m:rPr>
                              <m:nor/>
                            </m:rPr>
                            <a:rPr lang="he-IL" sz="1200" b="0" i="1" kern="1200">
                              <a:solidFill>
                                <a:schemeClr val="tx1"/>
                              </a:solidFill>
                              <a:latin typeface="David" panose="020E0502060401010101" pitchFamily="34" charset="-79"/>
                              <a:ea typeface="+mn-ea"/>
                              <a:cs typeface="+mn-cs"/>
                            </a:rPr>
                            <m:t>standard</m:t>
                          </m:r>
                          <m:r>
                            <m:rPr>
                              <m:nor/>
                            </m:rPr>
                            <a:rPr lang="he-IL" sz="1200" b="0" i="1" kern="1200">
                              <a:solidFill>
                                <a:schemeClr val="tx1"/>
                              </a:solidFill>
                              <a:latin typeface="David" panose="020E0502060401010101" pitchFamily="34" charset="-79"/>
                              <a:ea typeface="+mn-ea"/>
                              <a:cs typeface="+mn-cs"/>
                            </a:rPr>
                            <m:t> </m:t>
                          </m:r>
                          <m:r>
                            <m:rPr>
                              <m:nor/>
                            </m:rPr>
                            <a:rPr lang="he-IL" sz="1200" b="0" i="1" kern="1200">
                              <a:solidFill>
                                <a:schemeClr val="tx1"/>
                              </a:solidFill>
                              <a:latin typeface="David" panose="020E0502060401010101" pitchFamily="34" charset="-79"/>
                              <a:ea typeface="+mn-ea"/>
                              <a:cs typeface="+mn-cs"/>
                            </a:rPr>
                            <m:t>error</m:t>
                          </m:r>
                        </m:den>
                      </m:f>
                    </m:oMath>
                  </m:oMathPara>
                </a14:m>
                <a:endParaRPr lang="he-IL" b="0" dirty="0"/>
              </a:p>
              <a:p>
                <a:pPr algn="r" rtl="1"/>
                <a:r>
                  <a:rPr lang="he-IL" dirty="0"/>
                  <a:t>כלומר:</a:t>
                </a:r>
              </a:p>
              <a:p>
                <a:pPr algn="r" rtl="1"/>
                <a14:m>
                  <m:oMathPara xmlns:m="http://schemas.openxmlformats.org/officeDocument/2006/math">
                    <m:oMathParaPr>
                      <m:jc m:val="centerGroup"/>
                    </m:oMathParaPr>
                    <m:oMath xmlns:m="http://schemas.openxmlformats.org/officeDocument/2006/math">
                      <m:r>
                        <a:rPr lang="he-IL" sz="1200" i="1" kern="1200">
                          <a:solidFill>
                            <a:schemeClr val="tx1"/>
                          </a:solidFill>
                          <a:latin typeface="Cambria Math" panose="02040503050406030204" pitchFamily="18" charset="0"/>
                          <a:ea typeface="+mn-ea"/>
                          <a:cs typeface="+mn-cs"/>
                        </a:rPr>
                        <m:t>𝑧</m:t>
                      </m:r>
                      <m:r>
                        <a:rPr lang="he-IL" sz="1200" i="0" kern="1200">
                          <a:solidFill>
                            <a:schemeClr val="tx1"/>
                          </a:solidFill>
                          <a:latin typeface="Cambria Math" panose="02040503050406030204" pitchFamily="18" charset="0"/>
                          <a:ea typeface="+mn-ea"/>
                          <a:cs typeface="+mn-cs"/>
                        </a:rPr>
                        <m:t>=</m:t>
                      </m:r>
                      <m:f>
                        <m:fPr>
                          <m:ctrlPr>
                            <a:rPr lang="he-IL" sz="1200" i="1" kern="1200">
                              <a:solidFill>
                                <a:schemeClr val="tx1"/>
                              </a:solidFill>
                              <a:latin typeface="Cambria Math" panose="02040503050406030204" pitchFamily="18" charset="0"/>
                              <a:ea typeface="+mn-ea"/>
                              <a:cs typeface="+mn-cs"/>
                            </a:rPr>
                          </m:ctrlPr>
                        </m:fPr>
                        <m:num>
                          <m:acc>
                            <m:accPr>
                              <m:chr m:val="̂"/>
                              <m:ctrlPr>
                                <a:rPr lang="he-IL" sz="1200" i="1" kern="1200">
                                  <a:solidFill>
                                    <a:schemeClr val="tx1"/>
                                  </a:solidFill>
                                  <a:latin typeface="Cambria Math" panose="02040503050406030204" pitchFamily="18" charset="0"/>
                                  <a:ea typeface="+mn-ea"/>
                                  <a:cs typeface="+mn-cs"/>
                                </a:rPr>
                              </m:ctrlPr>
                            </m:accPr>
                            <m:e>
                              <m:r>
                                <a:rPr lang="he-IL" sz="1200" i="1" kern="1200">
                                  <a:solidFill>
                                    <a:schemeClr val="tx1"/>
                                  </a:solidFill>
                                  <a:latin typeface="Cambria Math" panose="02040503050406030204" pitchFamily="18" charset="0"/>
                                  <a:ea typeface="+mn-ea"/>
                                  <a:cs typeface="+mn-cs"/>
                                </a:rPr>
                                <m:t>𝜃</m:t>
                              </m:r>
                            </m:e>
                          </m:acc>
                          <m:r>
                            <a:rPr lang="he-IL" sz="1200" i="0" kern="1200">
                              <a:solidFill>
                                <a:schemeClr val="tx1"/>
                              </a:solidFill>
                              <a:latin typeface="Cambria Math" panose="02040503050406030204" pitchFamily="18" charset="0"/>
                              <a:ea typeface="+mn-ea"/>
                              <a:cs typeface="+mn-cs"/>
                            </a:rPr>
                            <m:t>−</m:t>
                          </m:r>
                          <m:sSub>
                            <m:sSubPr>
                              <m:ctrlPr>
                                <a:rPr lang="he-IL" sz="1200" i="1" kern="1200">
                                  <a:solidFill>
                                    <a:schemeClr val="tx1"/>
                                  </a:solidFill>
                                  <a:latin typeface="Cambria Math" panose="02040503050406030204" pitchFamily="18" charset="0"/>
                                  <a:ea typeface="+mn-ea"/>
                                  <a:cs typeface="+mn-cs"/>
                                </a:rPr>
                              </m:ctrlPr>
                            </m:sSubPr>
                            <m:e>
                              <m:r>
                                <a:rPr lang="he-IL" sz="1200" i="1" kern="1200">
                                  <a:solidFill>
                                    <a:schemeClr val="tx1"/>
                                  </a:solidFill>
                                  <a:latin typeface="Cambria Math" panose="02040503050406030204" pitchFamily="18" charset="0"/>
                                  <a:ea typeface="+mn-ea"/>
                                  <a:cs typeface="+mn-cs"/>
                                </a:rPr>
                                <m:t>𝜃</m:t>
                              </m:r>
                            </m:e>
                            <m:sub>
                              <m:r>
                                <a:rPr lang="he-IL" sz="1200" i="0" kern="1200">
                                  <a:solidFill>
                                    <a:schemeClr val="tx1"/>
                                  </a:solidFill>
                                  <a:latin typeface="Cambria Math" panose="02040503050406030204" pitchFamily="18" charset="0"/>
                                  <a:ea typeface="+mn-ea"/>
                                  <a:cs typeface="+mn-cs"/>
                                </a:rPr>
                                <m:t>0</m:t>
                              </m:r>
                            </m:sub>
                          </m:sSub>
                        </m:num>
                        <m:den>
                          <m:r>
                            <a:rPr lang="he-IL" sz="1200" i="1" kern="1200">
                              <a:solidFill>
                                <a:schemeClr val="tx1"/>
                              </a:solidFill>
                              <a:latin typeface="Cambria Math" panose="02040503050406030204" pitchFamily="18" charset="0"/>
                              <a:ea typeface="+mn-ea"/>
                              <a:cs typeface="+mn-cs"/>
                            </a:rPr>
                            <m:t>𝑆𝐸</m:t>
                          </m:r>
                        </m:den>
                      </m:f>
                    </m:oMath>
                  </m:oMathPara>
                </a14:m>
                <a:endParaRPr lang="he-IL" dirty="0"/>
              </a:p>
              <a:p>
                <a:pPr algn="r" rtl="1"/>
                <a:r>
                  <a:rPr lang="he-IL" dirty="0"/>
                  <a:t>או עבור הבדל בין שתי פרופורציות:</a:t>
                </a:r>
              </a:p>
              <a:p>
                <a:pPr/>
                <a14:m>
                  <m:oMathPara xmlns:m="http://schemas.openxmlformats.org/officeDocument/2006/math">
                    <m:oMathParaPr>
                      <m:jc m:val="centerGroup"/>
                    </m:oMathParaPr>
                    <m:oMath xmlns:m="http://schemas.openxmlformats.org/officeDocument/2006/math">
                      <m:r>
                        <a:rPr lang="he-IL" sz="1200" i="1" kern="1200">
                          <a:solidFill>
                            <a:schemeClr val="tx1"/>
                          </a:solidFill>
                          <a:latin typeface="Cambria Math" panose="02040503050406030204" pitchFamily="18" charset="0"/>
                          <a:ea typeface="+mn-ea"/>
                          <a:cs typeface="+mn-cs"/>
                        </a:rPr>
                        <m:t>𝑧</m:t>
                      </m:r>
                      <m:r>
                        <a:rPr lang="he-IL" sz="1200" i="0" kern="1200">
                          <a:solidFill>
                            <a:schemeClr val="tx1"/>
                          </a:solidFill>
                          <a:latin typeface="Cambria Math" panose="02040503050406030204" pitchFamily="18" charset="0"/>
                          <a:ea typeface="+mn-ea"/>
                          <a:cs typeface="+mn-cs"/>
                        </a:rPr>
                        <m:t>=</m:t>
                      </m:r>
                      <m:f>
                        <m:fPr>
                          <m:ctrlPr>
                            <a:rPr lang="he-IL" sz="1200" i="1" kern="1200">
                              <a:solidFill>
                                <a:schemeClr val="tx1"/>
                              </a:solidFill>
                              <a:latin typeface="Cambria Math" panose="02040503050406030204" pitchFamily="18" charset="0"/>
                              <a:ea typeface="+mn-ea"/>
                              <a:cs typeface="+mn-cs"/>
                            </a:rPr>
                          </m:ctrlPr>
                        </m:fPr>
                        <m:num>
                          <m:d>
                            <m:dPr>
                              <m:ctrlPr>
                                <a:rPr lang="he-IL" sz="1200" i="1" kern="1200">
                                  <a:solidFill>
                                    <a:schemeClr val="tx1"/>
                                  </a:solidFill>
                                  <a:latin typeface="Cambria Math" panose="02040503050406030204" pitchFamily="18" charset="0"/>
                                  <a:ea typeface="+mn-ea"/>
                                  <a:cs typeface="+mn-cs"/>
                                </a:rPr>
                              </m:ctrlPr>
                            </m:dPr>
                            <m:e>
                              <m:sSub>
                                <m:sSubPr>
                                  <m:ctrlPr>
                                    <a:rPr lang="he-IL" sz="1200" i="1" kern="1200">
                                      <a:solidFill>
                                        <a:schemeClr val="tx1"/>
                                      </a:solidFill>
                                      <a:latin typeface="Cambria Math" panose="02040503050406030204" pitchFamily="18" charset="0"/>
                                      <a:ea typeface="+mn-ea"/>
                                      <a:cs typeface="+mn-cs"/>
                                    </a:rPr>
                                  </m:ctrlPr>
                                </m:sSubPr>
                                <m:e>
                                  <m:acc>
                                    <m:accPr>
                                      <m:chr m:val="̂"/>
                                      <m:ctrlPr>
                                        <a:rPr lang="he-IL" sz="1200" i="1" kern="1200">
                                          <a:solidFill>
                                            <a:schemeClr val="tx1"/>
                                          </a:solidFill>
                                          <a:latin typeface="Cambria Math" panose="02040503050406030204" pitchFamily="18" charset="0"/>
                                          <a:ea typeface="+mn-ea"/>
                                          <a:cs typeface="+mn-cs"/>
                                        </a:rPr>
                                      </m:ctrlPr>
                                    </m:accPr>
                                    <m:e>
                                      <m:r>
                                        <a:rPr lang="he-IL" sz="1200" i="1" kern="1200">
                                          <a:solidFill>
                                            <a:schemeClr val="tx1"/>
                                          </a:solidFill>
                                          <a:latin typeface="Cambria Math" panose="02040503050406030204" pitchFamily="18" charset="0"/>
                                          <a:ea typeface="+mn-ea"/>
                                          <a:cs typeface="+mn-cs"/>
                                        </a:rPr>
                                        <m:t>𝜃</m:t>
                                      </m:r>
                                    </m:e>
                                  </m:acc>
                                </m:e>
                                <m:sub>
                                  <m:r>
                                    <a:rPr lang="he-IL" sz="1200" i="1" kern="1200">
                                      <a:solidFill>
                                        <a:schemeClr val="tx1"/>
                                      </a:solidFill>
                                      <a:latin typeface="Cambria Math" panose="02040503050406030204" pitchFamily="18" charset="0"/>
                                      <a:ea typeface="+mn-ea"/>
                                      <a:cs typeface="+mn-cs"/>
                                    </a:rPr>
                                    <m:t>𝐴</m:t>
                                  </m:r>
                                </m:sub>
                              </m:sSub>
                              <m:r>
                                <a:rPr lang="he-IL" sz="1200" i="0" kern="1200">
                                  <a:solidFill>
                                    <a:schemeClr val="tx1"/>
                                  </a:solidFill>
                                  <a:latin typeface="Cambria Math" panose="02040503050406030204" pitchFamily="18" charset="0"/>
                                  <a:ea typeface="+mn-ea"/>
                                  <a:cs typeface="+mn-cs"/>
                                </a:rPr>
                                <m:t>−</m:t>
                              </m:r>
                              <m:sSub>
                                <m:sSubPr>
                                  <m:ctrlPr>
                                    <a:rPr lang="he-IL" sz="1200" i="1" kern="1200">
                                      <a:solidFill>
                                        <a:schemeClr val="tx1"/>
                                      </a:solidFill>
                                      <a:latin typeface="Cambria Math" panose="02040503050406030204" pitchFamily="18" charset="0"/>
                                      <a:ea typeface="+mn-ea"/>
                                      <a:cs typeface="+mn-cs"/>
                                    </a:rPr>
                                  </m:ctrlPr>
                                </m:sSubPr>
                                <m:e>
                                  <m:acc>
                                    <m:accPr>
                                      <m:chr m:val="̂"/>
                                      <m:ctrlPr>
                                        <a:rPr lang="he-IL" sz="1200" i="1" kern="1200">
                                          <a:solidFill>
                                            <a:schemeClr val="tx1"/>
                                          </a:solidFill>
                                          <a:latin typeface="Cambria Math" panose="02040503050406030204" pitchFamily="18" charset="0"/>
                                          <a:ea typeface="+mn-ea"/>
                                          <a:cs typeface="+mn-cs"/>
                                        </a:rPr>
                                      </m:ctrlPr>
                                    </m:accPr>
                                    <m:e>
                                      <m:r>
                                        <a:rPr lang="he-IL" sz="1200" i="1" kern="1200">
                                          <a:solidFill>
                                            <a:schemeClr val="tx1"/>
                                          </a:solidFill>
                                          <a:latin typeface="Cambria Math" panose="02040503050406030204" pitchFamily="18" charset="0"/>
                                          <a:ea typeface="+mn-ea"/>
                                          <a:cs typeface="+mn-cs"/>
                                        </a:rPr>
                                        <m:t>𝜃</m:t>
                                      </m:r>
                                    </m:e>
                                  </m:acc>
                                </m:e>
                                <m:sub>
                                  <m:r>
                                    <a:rPr lang="he-IL" sz="1200" i="1" kern="1200">
                                      <a:solidFill>
                                        <a:schemeClr val="tx1"/>
                                      </a:solidFill>
                                      <a:latin typeface="Cambria Math" panose="02040503050406030204" pitchFamily="18" charset="0"/>
                                      <a:ea typeface="+mn-ea"/>
                                      <a:cs typeface="+mn-cs"/>
                                    </a:rPr>
                                    <m:t>𝐵</m:t>
                                  </m:r>
                                </m:sub>
                              </m:sSub>
                            </m:e>
                          </m:d>
                          <m:r>
                            <a:rPr lang="he-IL" sz="1200" i="0" kern="1200">
                              <a:solidFill>
                                <a:schemeClr val="tx1"/>
                              </a:solidFill>
                              <a:latin typeface="Cambria Math" panose="02040503050406030204" pitchFamily="18" charset="0"/>
                              <a:ea typeface="+mn-ea"/>
                              <a:cs typeface="+mn-cs"/>
                            </a:rPr>
                            <m:t>−</m:t>
                          </m:r>
                          <m:r>
                            <a:rPr lang="he-IL" sz="1200" i="0" kern="1200">
                              <a:solidFill>
                                <a:schemeClr val="tx1"/>
                              </a:solidFill>
                              <a:latin typeface="Cambria Math" panose="02040503050406030204" pitchFamily="18" charset="0"/>
                              <a:ea typeface="+mn-ea"/>
                              <a:cs typeface="+mn-cs"/>
                            </a:rPr>
                            <m:t>0</m:t>
                          </m:r>
                        </m:num>
                        <m:den>
                          <m:r>
                            <a:rPr lang="he-IL" sz="1200" i="1" kern="1200">
                              <a:solidFill>
                                <a:schemeClr val="tx1"/>
                              </a:solidFill>
                              <a:latin typeface="Cambria Math" panose="02040503050406030204" pitchFamily="18" charset="0"/>
                              <a:ea typeface="+mn-ea"/>
                              <a:cs typeface="+mn-cs"/>
                            </a:rPr>
                            <m:t>𝑆</m:t>
                          </m:r>
                          <m:sSub>
                            <m:sSubPr>
                              <m:ctrlPr>
                                <a:rPr lang="he-IL" sz="1200" i="1" kern="1200">
                                  <a:solidFill>
                                    <a:schemeClr val="tx1"/>
                                  </a:solidFill>
                                  <a:latin typeface="Cambria Math" panose="02040503050406030204" pitchFamily="18" charset="0"/>
                                  <a:ea typeface="+mn-ea"/>
                                  <a:cs typeface="+mn-cs"/>
                                </a:rPr>
                              </m:ctrlPr>
                            </m:sSubPr>
                            <m:e>
                              <m:r>
                                <a:rPr lang="he-IL" sz="1200" i="1" kern="1200">
                                  <a:solidFill>
                                    <a:schemeClr val="tx1"/>
                                  </a:solidFill>
                                  <a:latin typeface="Cambria Math" panose="02040503050406030204" pitchFamily="18" charset="0"/>
                                  <a:ea typeface="+mn-ea"/>
                                  <a:cs typeface="+mn-cs"/>
                                </a:rPr>
                                <m:t>𝐸</m:t>
                              </m:r>
                            </m:e>
                            <m:sub>
                              <m:sSub>
                                <m:sSubPr>
                                  <m:ctrlPr>
                                    <a:rPr lang="he-IL" sz="1200" i="1" kern="1200">
                                      <a:solidFill>
                                        <a:schemeClr val="tx1"/>
                                      </a:solidFill>
                                      <a:latin typeface="Cambria Math" panose="02040503050406030204" pitchFamily="18" charset="0"/>
                                      <a:ea typeface="+mn-ea"/>
                                      <a:cs typeface="+mn-cs"/>
                                    </a:rPr>
                                  </m:ctrlPr>
                                </m:sSubPr>
                                <m:e>
                                  <m:acc>
                                    <m:accPr>
                                      <m:chr m:val="̂"/>
                                      <m:ctrlPr>
                                        <a:rPr lang="he-IL" sz="1200" i="1" kern="1200">
                                          <a:solidFill>
                                            <a:schemeClr val="tx1"/>
                                          </a:solidFill>
                                          <a:latin typeface="Cambria Math" panose="02040503050406030204" pitchFamily="18" charset="0"/>
                                          <a:ea typeface="+mn-ea"/>
                                          <a:cs typeface="+mn-cs"/>
                                        </a:rPr>
                                      </m:ctrlPr>
                                    </m:accPr>
                                    <m:e>
                                      <m:r>
                                        <a:rPr lang="he-IL" sz="1200" i="1" kern="1200">
                                          <a:solidFill>
                                            <a:schemeClr val="tx1"/>
                                          </a:solidFill>
                                          <a:latin typeface="Cambria Math" panose="02040503050406030204" pitchFamily="18" charset="0"/>
                                          <a:ea typeface="+mn-ea"/>
                                          <a:cs typeface="+mn-cs"/>
                                        </a:rPr>
                                        <m:t>𝜃</m:t>
                                      </m:r>
                                    </m:e>
                                  </m:acc>
                                </m:e>
                                <m:sub>
                                  <m:r>
                                    <a:rPr lang="he-IL" sz="1200" i="1" kern="1200">
                                      <a:solidFill>
                                        <a:schemeClr val="tx1"/>
                                      </a:solidFill>
                                      <a:latin typeface="Cambria Math" panose="02040503050406030204" pitchFamily="18" charset="0"/>
                                      <a:ea typeface="+mn-ea"/>
                                      <a:cs typeface="+mn-cs"/>
                                    </a:rPr>
                                    <m:t>𝐴</m:t>
                                  </m:r>
                                </m:sub>
                              </m:sSub>
                              <m:r>
                                <a:rPr lang="he-IL" sz="1200" i="0" kern="1200">
                                  <a:solidFill>
                                    <a:schemeClr val="tx1"/>
                                  </a:solidFill>
                                  <a:latin typeface="Cambria Math" panose="02040503050406030204" pitchFamily="18" charset="0"/>
                                  <a:ea typeface="+mn-ea"/>
                                  <a:cs typeface="+mn-cs"/>
                                </a:rPr>
                                <m:t>−</m:t>
                              </m:r>
                              <m:sSub>
                                <m:sSubPr>
                                  <m:ctrlPr>
                                    <a:rPr lang="he-IL" sz="1200" i="1" kern="1200">
                                      <a:solidFill>
                                        <a:schemeClr val="tx1"/>
                                      </a:solidFill>
                                      <a:latin typeface="Cambria Math" panose="02040503050406030204" pitchFamily="18" charset="0"/>
                                      <a:ea typeface="+mn-ea"/>
                                      <a:cs typeface="+mn-cs"/>
                                    </a:rPr>
                                  </m:ctrlPr>
                                </m:sSubPr>
                                <m:e>
                                  <m:acc>
                                    <m:accPr>
                                      <m:chr m:val="̂"/>
                                      <m:ctrlPr>
                                        <a:rPr lang="he-IL" sz="1200" i="1" kern="1200">
                                          <a:solidFill>
                                            <a:schemeClr val="tx1"/>
                                          </a:solidFill>
                                          <a:latin typeface="Cambria Math" panose="02040503050406030204" pitchFamily="18" charset="0"/>
                                          <a:ea typeface="+mn-ea"/>
                                          <a:cs typeface="+mn-cs"/>
                                        </a:rPr>
                                      </m:ctrlPr>
                                    </m:accPr>
                                    <m:e>
                                      <m:r>
                                        <a:rPr lang="he-IL" sz="1200" i="1" kern="1200">
                                          <a:solidFill>
                                            <a:schemeClr val="tx1"/>
                                          </a:solidFill>
                                          <a:latin typeface="Cambria Math" panose="02040503050406030204" pitchFamily="18" charset="0"/>
                                          <a:ea typeface="+mn-ea"/>
                                          <a:cs typeface="+mn-cs"/>
                                        </a:rPr>
                                        <m:t>𝜃</m:t>
                                      </m:r>
                                    </m:e>
                                  </m:acc>
                                </m:e>
                                <m:sub>
                                  <m:r>
                                    <a:rPr lang="he-IL" sz="1200" i="1" kern="1200">
                                      <a:solidFill>
                                        <a:schemeClr val="tx1"/>
                                      </a:solidFill>
                                      <a:latin typeface="Cambria Math" panose="02040503050406030204" pitchFamily="18" charset="0"/>
                                      <a:ea typeface="+mn-ea"/>
                                      <a:cs typeface="+mn-cs"/>
                                    </a:rPr>
                                    <m:t>𝐵</m:t>
                                  </m:r>
                                </m:sub>
                              </m:sSub>
                            </m:sub>
                          </m:sSub>
                        </m:den>
                      </m:f>
                    </m:oMath>
                  </m:oMathPara>
                </a14:m>
                <a:endParaRPr lang="he-IL" dirty="0"/>
              </a:p>
              <a:p>
                <a:r>
                  <a:rPr lang="he-IL" dirty="0"/>
                  <a:t>כאשר </a:t>
                </a:r>
                <a14:m>
                  <m:oMath xmlns:m="http://schemas.openxmlformats.org/officeDocument/2006/math">
                    <m:r>
                      <a:rPr lang="he-IL" sz="1200" i="1" kern="1200">
                        <a:solidFill>
                          <a:schemeClr val="tx1"/>
                        </a:solidFill>
                        <a:latin typeface="Cambria Math" panose="02040503050406030204" pitchFamily="18" charset="0"/>
                        <a:ea typeface="+mn-ea"/>
                        <a:cs typeface="+mn-cs"/>
                      </a:rPr>
                      <m:t>𝑆𝐸</m:t>
                    </m:r>
                  </m:oMath>
                </a14:m>
                <a:r>
                  <a:rPr lang="he-IL" dirty="0"/>
                  <a:t>הוא השגיאה התקנית של </a:t>
                </a:r>
                <a:r>
                  <a:rPr lang="he-IL" dirty="0" err="1"/>
                  <a:t>האומד</a:t>
                </a:r>
                <a:endParaRPr lang="he-IL" dirty="0"/>
              </a:p>
              <a:p>
                <a:endParaRPr lang="he-IL" dirty="0"/>
              </a:p>
            </p:txBody>
          </p:sp>
        </mc:Choice>
        <mc:Fallback xmlns="">
          <p:sp>
            <p:nvSpPr>
              <p:cNvPr id="3" name="Notes Placeholder 2">
                <a:extLst>
                  <a:ext uri="{FF2B5EF4-FFF2-40B4-BE49-F238E27FC236}">
                    <a16:creationId xmlns:a16="http://schemas.microsoft.com/office/drawing/2014/main" id="{71106327-70B0-6541-4DDF-128581389661}"/>
                  </a:ext>
                </a:extLst>
              </p:cNvPr>
              <p:cNvSpPr>
                <a:spLocks noGrp="1"/>
              </p:cNvSpPr>
              <p:nvPr>
                <p:ph type="body" idx="1"/>
              </p:nvPr>
            </p:nvSpPr>
            <p:spPr/>
            <p:txBody>
              <a:bodyPr/>
              <a:lstStyle/>
              <a:p>
                <a:r>
                  <a:rPr lang="en-US" dirty="0"/>
                  <a:t>“Pooled” means that under the null hypothesis, we combine the two groups and estimate one shared probability for both groups. </a:t>
                </a:r>
              </a:p>
              <a:p>
                <a:r>
                  <a:rPr lang="en-US" dirty="0"/>
                  <a:t>This shared probability is then used to calculate the standard error of the difference under H0​.</a:t>
                </a:r>
                <a:endParaRPr lang="he-IL" dirty="0"/>
              </a:p>
              <a:p>
                <a:pPr algn="r" rtl="1"/>
                <a:r>
                  <a:rPr lang="he-IL" dirty="0"/>
                  <a:t>הרעיון הכללי של סטטיסטי z הוא:</a:t>
                </a:r>
              </a:p>
              <a:p>
                <a:pPr algn="r" rtl="1"/>
                <a:r>
                  <a:rPr lang="he-IL" sz="1200" i="0" kern="1200">
                    <a:solidFill>
                      <a:schemeClr val="tx1"/>
                    </a:solidFill>
                    <a:latin typeface="David" panose="020E0502060401010101" pitchFamily="34" charset="-79"/>
                    <a:ea typeface="+mn-ea"/>
                    <a:cs typeface="+mn-cs"/>
                  </a:rPr>
                  <a:t>𝑧=(</a:t>
                </a:r>
                <a:r>
                  <a:rPr lang="he-IL" sz="1200" b="0" i="0" kern="1200">
                    <a:solidFill>
                      <a:schemeClr val="tx1"/>
                    </a:solidFill>
                    <a:latin typeface="David" panose="020E0502060401010101" pitchFamily="34" charset="-79"/>
                    <a:ea typeface="+mn-ea"/>
                    <a:cs typeface="+mn-cs"/>
                  </a:rPr>
                  <a:t>"observed estimate" −"null value" )/"standard error" </a:t>
                </a:r>
                <a:endParaRPr lang="he-IL" b="0" dirty="0"/>
              </a:p>
              <a:p>
                <a:pPr algn="r" rtl="1"/>
                <a:r>
                  <a:rPr lang="he-IL" dirty="0"/>
                  <a:t>כלומר:</a:t>
                </a:r>
              </a:p>
              <a:p>
                <a:pPr algn="r" rtl="1"/>
                <a:r>
                  <a:rPr lang="he-IL" sz="1200" i="0" kern="1200">
                    <a:solidFill>
                      <a:schemeClr val="tx1"/>
                    </a:solidFill>
                    <a:latin typeface="David" panose="020E0502060401010101" pitchFamily="34" charset="-79"/>
                    <a:ea typeface="+mn-ea"/>
                    <a:cs typeface="+mn-cs"/>
                  </a:rPr>
                  <a:t>𝑧=(𝜃 ̂−𝜃_0)/𝑆𝐸</a:t>
                </a:r>
                <a:endParaRPr lang="he-IL" dirty="0"/>
              </a:p>
              <a:p>
                <a:pPr algn="r" rtl="1"/>
                <a:r>
                  <a:rPr lang="he-IL" dirty="0"/>
                  <a:t>או עבור הבדל בין שתי פרופורציות:</a:t>
                </a:r>
              </a:p>
              <a:p>
                <a:r>
                  <a:rPr lang="he-IL" sz="1200" i="0" kern="1200">
                    <a:solidFill>
                      <a:schemeClr val="tx1"/>
                    </a:solidFill>
                    <a:latin typeface="David" panose="020E0502060401010101" pitchFamily="34" charset="-79"/>
                    <a:ea typeface="+mn-ea"/>
                    <a:cs typeface="+mn-cs"/>
                  </a:rPr>
                  <a:t>𝑧=((𝜃 ̂_𝐴−𝜃 ̂_𝐵 )−0)/(𝑆𝐸_(𝜃 ̂_𝐴−𝜃 ̂_𝐵 ) )</a:t>
                </a:r>
                <a:endParaRPr lang="he-IL" dirty="0"/>
              </a:p>
              <a:p>
                <a:r>
                  <a:rPr lang="he-IL" dirty="0"/>
                  <a:t>כאשר </a:t>
                </a:r>
                <a:r>
                  <a:rPr lang="he-IL" sz="1200" i="0" kern="1200">
                    <a:solidFill>
                      <a:schemeClr val="tx1"/>
                    </a:solidFill>
                    <a:latin typeface="David" panose="020E0502060401010101" pitchFamily="34" charset="-79"/>
                    <a:ea typeface="+mn-ea"/>
                    <a:cs typeface="+mn-cs"/>
                  </a:rPr>
                  <a:t>𝑆𝐸</a:t>
                </a:r>
                <a:r>
                  <a:rPr lang="he-IL" dirty="0"/>
                  <a:t>הוא השגיאה התקנית של </a:t>
                </a:r>
                <a:r>
                  <a:rPr lang="he-IL" dirty="0" err="1"/>
                  <a:t>האומד</a:t>
                </a:r>
                <a:endParaRPr lang="he-IL" dirty="0"/>
              </a:p>
              <a:p>
                <a:endParaRPr lang="he-IL" dirty="0"/>
              </a:p>
            </p:txBody>
          </p:sp>
        </mc:Fallback>
      </mc:AlternateContent>
      <p:sp>
        <p:nvSpPr>
          <p:cNvPr id="4" name="Slide Number Placeholder 3">
            <a:extLst>
              <a:ext uri="{FF2B5EF4-FFF2-40B4-BE49-F238E27FC236}">
                <a16:creationId xmlns:a16="http://schemas.microsoft.com/office/drawing/2014/main" id="{C0F25970-EE24-1C28-8915-62F53EF37489}"/>
              </a:ext>
            </a:extLst>
          </p:cNvPr>
          <p:cNvSpPr>
            <a:spLocks noGrp="1"/>
          </p:cNvSpPr>
          <p:nvPr>
            <p:ph type="sldNum" sz="quarter" idx="5"/>
          </p:nvPr>
        </p:nvSpPr>
        <p:spPr/>
        <p:txBody>
          <a:bodyPr/>
          <a:lstStyle/>
          <a:p>
            <a:fld id="{D5E2C206-B79F-4FAD-948A-1F55E500568F}" type="slidenum">
              <a:rPr lang="he-IL" smtClean="0"/>
              <a:pPr/>
              <a:t>13</a:t>
            </a:fld>
            <a:endParaRPr lang="he-IL" dirty="0"/>
          </a:p>
        </p:txBody>
      </p:sp>
    </p:spTree>
    <p:extLst>
      <p:ext uri="{BB962C8B-B14F-4D97-AF65-F5344CB8AC3E}">
        <p14:creationId xmlns:p14="http://schemas.microsoft.com/office/powerpoint/2010/main" val="3405081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𝛼 controls the long-run Type I error rate of the decision rule.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𝑧-value is not enough by itself to reject the null . hypothesis</a:t>
            </a:r>
            <a:br>
              <a:rPr lang="en-US" dirty="0"/>
            </a:br>
            <a:r>
              <a:rPr lang="en-US" dirty="0"/>
              <a:t>We need the null distribution and the significance level.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r>
              <a:rPr lang="en-US" dirty="0"/>
              <a:t>Illustration credit - https://analystprep.com/cfa-level-1-exam/quantitative-methods/one-tailed-vs-two-tailed-hypothesis-testing/</a:t>
            </a:r>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15</a:t>
            </a:fld>
            <a:endParaRPr lang="he-IL" dirty="0"/>
          </a:p>
        </p:txBody>
      </p:sp>
    </p:spTree>
    <p:extLst>
      <p:ext uri="{BB962C8B-B14F-4D97-AF65-F5344CB8AC3E}">
        <p14:creationId xmlns:p14="http://schemas.microsoft.com/office/powerpoint/2010/main" val="3721689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29C06-BE07-9D6C-9990-864192052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AE003-AF2B-16FE-C95D-A9CD7F4195B9}"/>
              </a:ext>
            </a:extLst>
          </p:cNvPr>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302E6F9-8FCF-0D41-4F57-309E706959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e-IL" sz="1200" dirty="0"/>
                  <a:t>The p-</a:t>
                </a:r>
                <a:r>
                  <a:rPr lang="he-IL" sz="1200" dirty="0" err="1"/>
                  <a:t>value</a:t>
                </a:r>
                <a:r>
                  <a:rPr lang="he-IL" sz="1200" dirty="0"/>
                  <a:t> is not the probability </a:t>
                </a:r>
                <a:r>
                  <a:rPr lang="he-IL" sz="1200" dirty="0" err="1"/>
                  <a:t>that</a:t>
                </a:r>
                <a:r>
                  <a:rPr lang="he-IL" sz="1200" dirty="0"/>
                  <a:t> </a:t>
                </a:r>
                <a14:m>
                  <m:oMath xmlns:m="http://schemas.openxmlformats.org/officeDocument/2006/math">
                    <m:sSub>
                      <m:sSubPr>
                        <m:ctrlPr>
                          <a:rPr lang="he-IL" sz="1200" i="1">
                            <a:latin typeface="Cambria Math" panose="02040503050406030204" pitchFamily="18" charset="0"/>
                          </a:rPr>
                        </m:ctrlPr>
                      </m:sSubPr>
                      <m:e>
                        <m:r>
                          <a:rPr lang="he-IL" sz="1200" i="1">
                            <a:latin typeface="Cambria Math" panose="02040503050406030204" pitchFamily="18" charset="0"/>
                          </a:rPr>
                          <m:t>𝐻</m:t>
                        </m:r>
                      </m:e>
                      <m:sub>
                        <m:r>
                          <a:rPr lang="he-IL" sz="1200">
                            <a:latin typeface="Cambria Math" panose="02040503050406030204" pitchFamily="18" charset="0"/>
                          </a:rPr>
                          <m:t>0</m:t>
                        </m:r>
                      </m:sub>
                    </m:sSub>
                  </m:oMath>
                </a14:m>
                <a:r>
                  <a:rPr lang="he-IL" sz="1200" dirty="0"/>
                  <a:t>is </a:t>
                </a:r>
                <a:r>
                  <a:rPr lang="he-IL" sz="1200" dirty="0" err="1"/>
                  <a:t>true</a:t>
                </a:r>
                <a:r>
                  <a:rPr lang="en-US" sz="1200" dirty="0"/>
                  <a:t>!</a:t>
                </a:r>
              </a:p>
            </p:txBody>
          </p:sp>
        </mc:Choice>
        <mc:Fallback xmlns="">
          <p:sp>
            <p:nvSpPr>
              <p:cNvPr id="3" name="Notes Placeholder 2">
                <a:extLst>
                  <a:ext uri="{FF2B5EF4-FFF2-40B4-BE49-F238E27FC236}">
                    <a16:creationId xmlns:a16="http://schemas.microsoft.com/office/drawing/2014/main" id="{3302E6F9-8FCF-0D41-4F57-309E706959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e-IL" sz="1200" dirty="0"/>
                  <a:t>The p-</a:t>
                </a:r>
                <a:r>
                  <a:rPr lang="he-IL" sz="1200" dirty="0" err="1"/>
                  <a:t>value</a:t>
                </a:r>
                <a:r>
                  <a:rPr lang="he-IL" sz="1200" dirty="0"/>
                  <a:t> is not the probability </a:t>
                </a:r>
                <a:r>
                  <a:rPr lang="he-IL" sz="1200" dirty="0" err="1"/>
                  <a:t>that</a:t>
                </a:r>
                <a:r>
                  <a:rPr lang="he-IL" sz="1200" dirty="0"/>
                  <a:t> </a:t>
                </a:r>
                <a:r>
                  <a:rPr lang="he-IL" sz="1200" i="0">
                    <a:latin typeface="Cambria Math" panose="02040503050406030204" pitchFamily="18" charset="0"/>
                  </a:rPr>
                  <a:t>𝐻_0</a:t>
                </a:r>
                <a:r>
                  <a:rPr lang="he-IL" sz="1200" dirty="0"/>
                  <a:t>is </a:t>
                </a:r>
                <a:r>
                  <a:rPr lang="he-IL" sz="1200" dirty="0" err="1"/>
                  <a:t>true</a:t>
                </a:r>
                <a:r>
                  <a:rPr lang="en-US" sz="1200" dirty="0"/>
                  <a:t>!</a:t>
                </a:r>
              </a:p>
            </p:txBody>
          </p:sp>
        </mc:Fallback>
      </mc:AlternateContent>
      <p:sp>
        <p:nvSpPr>
          <p:cNvPr id="4" name="Slide Number Placeholder 3">
            <a:extLst>
              <a:ext uri="{FF2B5EF4-FFF2-40B4-BE49-F238E27FC236}">
                <a16:creationId xmlns:a16="http://schemas.microsoft.com/office/drawing/2014/main" id="{3497570E-90D9-551D-2323-4BC78981375F}"/>
              </a:ext>
            </a:extLst>
          </p:cNvPr>
          <p:cNvSpPr>
            <a:spLocks noGrp="1"/>
          </p:cNvSpPr>
          <p:nvPr>
            <p:ph type="sldNum" sz="quarter" idx="5"/>
          </p:nvPr>
        </p:nvSpPr>
        <p:spPr/>
        <p:txBody>
          <a:bodyPr/>
          <a:lstStyle/>
          <a:p>
            <a:fld id="{D5E2C206-B79F-4FAD-948A-1F55E500568F}" type="slidenum">
              <a:rPr lang="he-IL" smtClean="0"/>
              <a:pPr/>
              <a:t>16</a:t>
            </a:fld>
            <a:endParaRPr lang="he-IL" dirty="0"/>
          </a:p>
        </p:txBody>
      </p:sp>
    </p:spTree>
    <p:extLst>
      <p:ext uri="{BB962C8B-B14F-4D97-AF65-F5344CB8AC3E}">
        <p14:creationId xmlns:p14="http://schemas.microsoft.com/office/powerpoint/2010/main" val="16101163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C6602-5FFD-E1A1-8FBC-D2B91CBD1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90081-F2C1-61AF-57F8-ACA119E388F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A76BD659-BF3E-1755-6BA7-A7E3F65915D1}"/>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03D0FB86-6DDB-341B-8019-F1FBA4897616}"/>
              </a:ext>
            </a:extLst>
          </p:cNvPr>
          <p:cNvSpPr>
            <a:spLocks noGrp="1"/>
          </p:cNvSpPr>
          <p:nvPr>
            <p:ph type="sldNum" sz="quarter" idx="5"/>
          </p:nvPr>
        </p:nvSpPr>
        <p:spPr/>
        <p:txBody>
          <a:bodyPr/>
          <a:lstStyle/>
          <a:p>
            <a:fld id="{D5E2C206-B79F-4FAD-948A-1F55E500568F}" type="slidenum">
              <a:rPr lang="he-IL" smtClean="0"/>
              <a:pPr/>
              <a:t>20</a:t>
            </a:fld>
            <a:endParaRPr lang="he-IL" dirty="0"/>
          </a:p>
        </p:txBody>
      </p:sp>
    </p:spTree>
    <p:extLst>
      <p:ext uri="{BB962C8B-B14F-4D97-AF65-F5344CB8AC3E}">
        <p14:creationId xmlns:p14="http://schemas.microsoft.com/office/powerpoint/2010/main" val="3080520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A96E01F-8DBD-4634-ACB5-33D503B64F6E}" type="slidenum">
              <a:rPr lang="LID4096" smtClean="0"/>
              <a:t>24</a:t>
            </a:fld>
            <a:endParaRPr lang="LID4096"/>
          </a:p>
        </p:txBody>
      </p:sp>
    </p:spTree>
    <p:extLst>
      <p:ext uri="{BB962C8B-B14F-4D97-AF65-F5344CB8AC3E}">
        <p14:creationId xmlns:p14="http://schemas.microsoft.com/office/powerpoint/2010/main" val="591426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Box plot – </a:t>
            </a:r>
          </a:p>
          <a:p>
            <a:pPr marL="171450" indent="-171450">
              <a:buFont typeface="Arial" panose="020B0604020202020204" pitchFamily="34" charset="0"/>
              <a:buChar char="•"/>
            </a:pPr>
            <a:r>
              <a:rPr lang="en-US" dirty="0"/>
              <a:t>Line inside the box: median </a:t>
            </a:r>
          </a:p>
          <a:p>
            <a:pPr marL="171450" indent="-171450">
              <a:buFont typeface="Arial" panose="020B0604020202020204" pitchFamily="34" charset="0"/>
              <a:buChar char="•"/>
            </a:pPr>
            <a:r>
              <a:rPr lang="en-US" dirty="0"/>
              <a:t>The box: quartiles (25th and 75th percentiles) </a:t>
            </a:r>
          </a:p>
          <a:p>
            <a:pPr marL="171450" indent="-171450">
              <a:buFont typeface="Arial" panose="020B0604020202020204" pitchFamily="34" charset="0"/>
              <a:buChar char="•"/>
            </a:pPr>
            <a:r>
              <a:rPr lang="en-US" dirty="0"/>
              <a:t>Whiskers: Range excluding outliers </a:t>
            </a:r>
          </a:p>
          <a:p>
            <a:pPr marL="171450" indent="-171450">
              <a:buFont typeface="Arial" panose="020B0604020202020204" pitchFamily="34" charset="0"/>
              <a:buChar char="•"/>
            </a:pPr>
            <a:r>
              <a:rPr lang="en-US" dirty="0"/>
              <a:t>Dots: outliers (usually more than 1.5 IQR beyond IQR)</a:t>
            </a:r>
          </a:p>
          <a:p>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26</a:t>
            </a:fld>
            <a:endParaRPr lang="he-IL" dirty="0"/>
          </a:p>
        </p:txBody>
      </p:sp>
    </p:spTree>
    <p:extLst>
      <p:ext uri="{BB962C8B-B14F-4D97-AF65-F5344CB8AC3E}">
        <p14:creationId xmlns:p14="http://schemas.microsoft.com/office/powerpoint/2010/main" val="3107189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A180A-EB9C-C56B-C280-34BFAAF26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358BD-D988-23F6-A38F-53FBF420C0A3}"/>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E5C2AFD1-666C-D763-8679-2B923BA454AD}"/>
              </a:ext>
            </a:extLst>
          </p:cNvPr>
          <p:cNvSpPr>
            <a:spLocks noGrp="1"/>
          </p:cNvSpPr>
          <p:nvPr>
            <p:ph type="body" idx="1"/>
          </p:nvPr>
        </p:nvSpPr>
        <p:spPr/>
        <p:txBody>
          <a:bodyPr/>
          <a:lstStyle/>
          <a:p>
            <a:r>
              <a:rPr lang="en-US" dirty="0"/>
              <a:t>Box plot – </a:t>
            </a:r>
          </a:p>
          <a:p>
            <a:pPr marL="171450" indent="-171450">
              <a:buFont typeface="Arial" panose="020B0604020202020204" pitchFamily="34" charset="0"/>
              <a:buChar char="•"/>
            </a:pPr>
            <a:r>
              <a:rPr lang="en-US" dirty="0"/>
              <a:t>Line inside the box: median </a:t>
            </a:r>
          </a:p>
          <a:p>
            <a:pPr marL="171450" indent="-171450">
              <a:buFont typeface="Arial" panose="020B0604020202020204" pitchFamily="34" charset="0"/>
              <a:buChar char="•"/>
            </a:pPr>
            <a:r>
              <a:rPr lang="en-US" dirty="0"/>
              <a:t>The box: quartiles (25th and 75th percentiles) </a:t>
            </a:r>
          </a:p>
          <a:p>
            <a:pPr marL="171450" indent="-171450">
              <a:buFont typeface="Arial" panose="020B0604020202020204" pitchFamily="34" charset="0"/>
              <a:buChar char="•"/>
            </a:pPr>
            <a:r>
              <a:rPr lang="en-US" dirty="0"/>
              <a:t>Whiskers: Range excluding outliers </a:t>
            </a:r>
          </a:p>
          <a:p>
            <a:pPr marL="171450" indent="-171450">
              <a:buFont typeface="Arial" panose="020B0604020202020204" pitchFamily="34" charset="0"/>
              <a:buChar char="•"/>
            </a:pPr>
            <a:r>
              <a:rPr lang="en-US" dirty="0"/>
              <a:t>Dots: outliers (usually more than 1.5 IQR beyond IQR)</a:t>
            </a:r>
          </a:p>
          <a:p>
            <a:endParaRPr lang="he-IL" dirty="0"/>
          </a:p>
        </p:txBody>
      </p:sp>
      <p:sp>
        <p:nvSpPr>
          <p:cNvPr id="4" name="Slide Number Placeholder 3">
            <a:extLst>
              <a:ext uri="{FF2B5EF4-FFF2-40B4-BE49-F238E27FC236}">
                <a16:creationId xmlns:a16="http://schemas.microsoft.com/office/drawing/2014/main" id="{2CA360CF-3580-2782-2A87-4843C0D60BCA}"/>
              </a:ext>
            </a:extLst>
          </p:cNvPr>
          <p:cNvSpPr>
            <a:spLocks noGrp="1"/>
          </p:cNvSpPr>
          <p:nvPr>
            <p:ph type="sldNum" sz="quarter" idx="5"/>
          </p:nvPr>
        </p:nvSpPr>
        <p:spPr/>
        <p:txBody>
          <a:bodyPr/>
          <a:lstStyle/>
          <a:p>
            <a:fld id="{D5E2C206-B79F-4FAD-948A-1F55E500568F}" type="slidenum">
              <a:rPr lang="he-IL" smtClean="0"/>
              <a:pPr/>
              <a:t>27</a:t>
            </a:fld>
            <a:endParaRPr lang="he-IL" dirty="0"/>
          </a:p>
        </p:txBody>
      </p:sp>
    </p:spTree>
    <p:extLst>
      <p:ext uri="{BB962C8B-B14F-4D97-AF65-F5344CB8AC3E}">
        <p14:creationId xmlns:p14="http://schemas.microsoft.com/office/powerpoint/2010/main" val="3646969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Priors in real data units</a:t>
                </a:r>
              </a:p>
              <a:p>
                <a:r>
                  <a:rPr lang="en-US" dirty="0"/>
                  <a:t>Priors for 𝜇 and 𝜎 must be chosen in the units of the data.</a:t>
                </a:r>
              </a:p>
              <a:p>
                <a:r>
                  <a:rPr lang="en-US" dirty="0"/>
                  <a:t>For reaction time:</a:t>
                </a:r>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𝜇</m:t>
                      </m:r>
                      <m:r>
                        <a:rPr lang="en-US" i="1" dirty="0" smtClean="0">
                          <a:latin typeface="Cambria Math" panose="02040503050406030204" pitchFamily="18" charset="0"/>
                        </a:rPr>
                        <m:t>∼</m:t>
                      </m:r>
                      <m:r>
                        <m:rPr>
                          <m:nor/>
                        </m:rPr>
                        <a:rPr lang="en-US" i="0" dirty="0" smtClean="0">
                          <a:latin typeface="Cambria Math" panose="02040503050406030204" pitchFamily="18" charset="0"/>
                        </a:rPr>
                        <m:t>Normal</m:t>
                      </m:r>
                      <m:r>
                        <a:rPr lang="en-US" i="1" dirty="0" smtClean="0">
                          <a:latin typeface="Cambria Math" panose="02040503050406030204" pitchFamily="18" charset="0"/>
                        </a:rPr>
                        <m:t> (</m:t>
                      </m:r>
                      <m:r>
                        <a:rPr lang="en-US" b="0" i="1" dirty="0" smtClean="0">
                          <a:latin typeface="Cambria Math" panose="02040503050406030204" pitchFamily="18" charset="0"/>
                        </a:rPr>
                        <m:t>270</m:t>
                      </m:r>
                      <m:r>
                        <a:rPr lang="en-US" i="1" dirty="0" smtClean="0">
                          <a:latin typeface="Cambria Math" panose="02040503050406030204" pitchFamily="18" charset="0"/>
                        </a:rPr>
                        <m:t>,</m:t>
                      </m:r>
                      <m:r>
                        <a:rPr lang="en-US" b="0" i="1" dirty="0" smtClean="0">
                          <a:latin typeface="Cambria Math" panose="02040503050406030204" pitchFamily="18" charset="0"/>
                        </a:rPr>
                        <m:t>50</m:t>
                      </m:r>
                      <m:r>
                        <a:rPr lang="en-US" i="1" dirty="0" smtClean="0">
                          <a:latin typeface="Cambria Math" panose="02040503050406030204" pitchFamily="18" charset="0"/>
                        </a:rPr>
                        <m:t>)</m:t>
                      </m:r>
                    </m:oMath>
                  </m:oMathPara>
                </a14:m>
                <a:endParaRPr lang="en-US" dirty="0"/>
              </a:p>
              <a:p>
                <a:r>
                  <a:rPr lang="en-US" dirty="0"/>
                  <a:t>means expected reaction time is around 270 </a:t>
                </a:r>
                <a:r>
                  <a:rPr lang="en-US" dirty="0" err="1"/>
                  <a:t>ms</a:t>
                </a:r>
                <a:r>
                  <a:rPr lang="en-US" dirty="0"/>
                  <a:t>, with uncertainty in </a:t>
                </a:r>
                <a:r>
                  <a:rPr lang="en-US" dirty="0" err="1"/>
                  <a:t>ms.</a:t>
                </a:r>
                <a:endParaRPr lang="en-US" dirty="0"/>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𝜎</m:t>
                      </m:r>
                      <m:r>
                        <a:rPr lang="en-US" i="1" dirty="0" smtClean="0">
                          <a:latin typeface="Cambria Math" panose="02040503050406030204" pitchFamily="18" charset="0"/>
                        </a:rPr>
                        <m:t>∼</m:t>
                      </m:r>
                      <m:r>
                        <m:rPr>
                          <m:nor/>
                        </m:rPr>
                        <a:rPr lang="en-US" i="0" dirty="0" err="1" smtClean="0">
                          <a:latin typeface="Cambria Math" panose="02040503050406030204" pitchFamily="18" charset="0"/>
                        </a:rPr>
                        <m:t>HalfNormal</m:t>
                      </m:r>
                      <m:r>
                        <a:rPr lang="en-US" i="1" dirty="0" smtClean="0">
                          <a:latin typeface="Cambria Math" panose="02040503050406030204" pitchFamily="18" charset="0"/>
                        </a:rPr>
                        <m:t> (</m:t>
                      </m:r>
                      <m:r>
                        <a:rPr lang="en-US" b="0" i="1" dirty="0" smtClean="0">
                          <a:latin typeface="Cambria Math" panose="02040503050406030204" pitchFamily="18" charset="0"/>
                        </a:rPr>
                        <m:t>75</m:t>
                      </m:r>
                      <m:r>
                        <a:rPr lang="en-US" i="1" dirty="0" smtClean="0">
                          <a:latin typeface="Cambria Math" panose="02040503050406030204" pitchFamily="18" charset="0"/>
                        </a:rPr>
                        <m:t>)</m:t>
                      </m:r>
                    </m:oMath>
                  </m:oMathPara>
                </a14:m>
                <a:endParaRPr lang="en-US" dirty="0"/>
              </a:p>
              <a:p>
                <a:r>
                  <a:rPr lang="en-US" dirty="0"/>
                  <a:t>means expected between-subject spread is positive and measured in </a:t>
                </a:r>
                <a:r>
                  <a:rPr lang="en-US" dirty="0" err="1"/>
                  <a:t>ms.</a:t>
                </a:r>
                <a:endParaRPr lang="en-US" dirty="0"/>
              </a:p>
              <a:p>
                <a:endParaRPr lang="en-US" dirty="0"/>
              </a:p>
              <a:p>
                <a:endParaRPr lang="he-IL" dirty="0"/>
              </a:p>
            </p:txBody>
          </p:sp>
        </mc:Choice>
        <mc:Fallback xmlns="">
          <p:sp>
            <p:nvSpPr>
              <p:cNvPr id="3" name="Notes Placeholder 2"/>
              <p:cNvSpPr>
                <a:spLocks noGrp="1"/>
              </p:cNvSpPr>
              <p:nvPr>
                <p:ph type="body" idx="1"/>
              </p:nvPr>
            </p:nvSpPr>
            <p:spPr/>
            <p:txBody>
              <a:bodyPr/>
              <a:lstStyle/>
              <a:p>
                <a:r>
                  <a:rPr lang="en-US" b="1" dirty="0"/>
                  <a:t>Priors in real data units</a:t>
                </a:r>
              </a:p>
              <a:p>
                <a:r>
                  <a:rPr lang="en-US" dirty="0"/>
                  <a:t>Priors for 𝜇 and 𝜎 must be chosen in the units of the data.</a:t>
                </a:r>
              </a:p>
              <a:p>
                <a:r>
                  <a:rPr lang="en-US" dirty="0"/>
                  <a:t>For reaction time:</a:t>
                </a:r>
              </a:p>
              <a:p>
                <a:r>
                  <a:rPr lang="en-US" i="0" dirty="0">
                    <a:latin typeface="Cambria Math" panose="02040503050406030204" pitchFamily="18" charset="0"/>
                  </a:rPr>
                  <a:t>𝜇∼"Normal" (300,,100)</a:t>
                </a:r>
              </a:p>
              <a:p>
                <a:r>
                  <a:rPr lang="en-US" dirty="0"/>
                  <a:t>means expected reaction time is around 300 </a:t>
                </a:r>
                <a:r>
                  <a:rPr lang="en-US" dirty="0" err="1"/>
                  <a:t>ms</a:t>
                </a:r>
                <a:r>
                  <a:rPr lang="en-US" dirty="0"/>
                  <a:t>, with uncertainty in </a:t>
                </a:r>
                <a:r>
                  <a:rPr lang="en-US" dirty="0" err="1"/>
                  <a:t>ms.</a:t>
                </a:r>
                <a:endParaRPr lang="en-US" dirty="0"/>
              </a:p>
              <a:p>
                <a:r>
                  <a:rPr lang="en-US" i="0" dirty="0">
                    <a:latin typeface="Cambria Math" panose="02040503050406030204" pitchFamily="18" charset="0"/>
                  </a:rPr>
                  <a:t>𝜎∼</a:t>
                </a:r>
                <a:r>
                  <a:rPr lang="en-US" i="0" dirty="0" err="1">
                    <a:latin typeface="Cambria Math" panose="02040503050406030204" pitchFamily="18" charset="0"/>
                  </a:rPr>
                  <a:t>"HalfNormal</a:t>
                </a:r>
                <a:r>
                  <a:rPr lang="en-US" i="0" dirty="0">
                    <a:latin typeface="Cambria Math" panose="02040503050406030204" pitchFamily="18" charset="0"/>
                  </a:rPr>
                  <a:t>" (100)</a:t>
                </a:r>
              </a:p>
              <a:p>
                <a:r>
                  <a:rPr lang="en-US" dirty="0"/>
                  <a:t>means expected between-subject spread is positive and measured in </a:t>
                </a:r>
                <a:r>
                  <a:rPr lang="en-US" dirty="0" err="1"/>
                  <a:t>ms.</a:t>
                </a:r>
                <a:endParaRPr lang="en-US" dirty="0"/>
              </a:p>
              <a:p>
                <a:endParaRPr lang="en-US" dirty="0"/>
              </a:p>
              <a:p>
                <a:endParaRPr lang="he-IL" dirty="0"/>
              </a:p>
            </p:txBody>
          </p:sp>
        </mc:Fallback>
      </mc:AlternateContent>
      <p:sp>
        <p:nvSpPr>
          <p:cNvPr id="4" name="Slide Number Placeholder 3"/>
          <p:cNvSpPr>
            <a:spLocks noGrp="1"/>
          </p:cNvSpPr>
          <p:nvPr>
            <p:ph type="sldNum" sz="quarter" idx="5"/>
          </p:nvPr>
        </p:nvSpPr>
        <p:spPr/>
        <p:txBody>
          <a:bodyPr/>
          <a:lstStyle/>
          <a:p>
            <a:fld id="{D5E2C206-B79F-4FAD-948A-1F55E500568F}" type="slidenum">
              <a:rPr lang="he-IL" smtClean="0"/>
              <a:pPr/>
              <a:t>28</a:t>
            </a:fld>
            <a:endParaRPr lang="he-IL" dirty="0"/>
          </a:p>
        </p:txBody>
      </p:sp>
    </p:spTree>
    <p:extLst>
      <p:ext uri="{BB962C8B-B14F-4D97-AF65-F5344CB8AC3E}">
        <p14:creationId xmlns:p14="http://schemas.microsoft.com/office/powerpoint/2010/main" val="21083607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74EBB-1F37-4A85-94BD-FB385D32B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2B628-8A20-986A-9EB4-DE77C2A05CC9}"/>
              </a:ext>
            </a:extLst>
          </p:cNvPr>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CDB3384-4666-3E48-9FE6-B7A597A186E5}"/>
                  </a:ext>
                </a:extLst>
              </p:cNvPr>
              <p:cNvSpPr>
                <a:spLocks noGrp="1"/>
              </p:cNvSpPr>
              <p:nvPr>
                <p:ph type="body" idx="1"/>
              </p:nvPr>
            </p:nvSpPr>
            <p:spPr/>
            <p:txBody>
              <a:bodyPr/>
              <a:lstStyle/>
              <a:p>
                <a:r>
                  <a:rPr lang="en-US" b="1" dirty="0"/>
                  <a:t>Priors in real data units</a:t>
                </a:r>
              </a:p>
              <a:p>
                <a:r>
                  <a:rPr lang="en-US" dirty="0"/>
                  <a:t>Priors for 𝜇 and 𝜎 must be chosen in the units of the data.</a:t>
                </a:r>
              </a:p>
              <a:p>
                <a:endParaRPr lang="en-US" dirty="0"/>
              </a:p>
              <a:p>
                <a:endParaRPr lang="he-IL" dirty="0"/>
              </a:p>
            </p:txBody>
          </p:sp>
        </mc:Choice>
        <mc:Fallback xmlns="">
          <p:sp>
            <p:nvSpPr>
              <p:cNvPr id="3" name="Notes Placeholder 2"/>
              <p:cNvSpPr>
                <a:spLocks noGrp="1"/>
              </p:cNvSpPr>
              <p:nvPr>
                <p:ph type="body" idx="1"/>
              </p:nvPr>
            </p:nvSpPr>
            <p:spPr/>
            <p:txBody>
              <a:bodyPr/>
              <a:lstStyle/>
              <a:p>
                <a:r>
                  <a:rPr lang="en-US" b="1" dirty="0"/>
                  <a:t>Priors in real data units</a:t>
                </a:r>
              </a:p>
              <a:p>
                <a:r>
                  <a:rPr lang="en-US" dirty="0"/>
                  <a:t>Priors for 𝜇 and 𝜎 must be chosen in the units of the data.</a:t>
                </a:r>
              </a:p>
              <a:p>
                <a:r>
                  <a:rPr lang="en-US" dirty="0"/>
                  <a:t>For reaction time:</a:t>
                </a:r>
              </a:p>
              <a:p>
                <a:r>
                  <a:rPr lang="en-US" i="0" dirty="0">
                    <a:latin typeface="Cambria Math" panose="02040503050406030204" pitchFamily="18" charset="0"/>
                  </a:rPr>
                  <a:t>𝜇∼"Normal" (300,,100)</a:t>
                </a:r>
              </a:p>
              <a:p>
                <a:r>
                  <a:rPr lang="en-US" dirty="0"/>
                  <a:t>means expected reaction time is around 300 </a:t>
                </a:r>
                <a:r>
                  <a:rPr lang="en-US" dirty="0" err="1"/>
                  <a:t>ms</a:t>
                </a:r>
                <a:r>
                  <a:rPr lang="en-US" dirty="0"/>
                  <a:t>, with uncertainty in </a:t>
                </a:r>
                <a:r>
                  <a:rPr lang="en-US" dirty="0" err="1"/>
                  <a:t>ms.</a:t>
                </a:r>
                <a:endParaRPr lang="en-US" dirty="0"/>
              </a:p>
              <a:p>
                <a:r>
                  <a:rPr lang="en-US" i="0" dirty="0">
                    <a:latin typeface="Cambria Math" panose="02040503050406030204" pitchFamily="18" charset="0"/>
                  </a:rPr>
                  <a:t>𝜎∼</a:t>
                </a:r>
                <a:r>
                  <a:rPr lang="en-US" i="0" dirty="0" err="1">
                    <a:latin typeface="Cambria Math" panose="02040503050406030204" pitchFamily="18" charset="0"/>
                  </a:rPr>
                  <a:t>"HalfNormal</a:t>
                </a:r>
                <a:r>
                  <a:rPr lang="en-US" i="0" dirty="0">
                    <a:latin typeface="Cambria Math" panose="02040503050406030204" pitchFamily="18" charset="0"/>
                  </a:rPr>
                  <a:t>" (100)</a:t>
                </a:r>
              </a:p>
              <a:p>
                <a:r>
                  <a:rPr lang="en-US" dirty="0"/>
                  <a:t>means expected between-subject spread is positive and measured in </a:t>
                </a:r>
                <a:r>
                  <a:rPr lang="en-US" dirty="0" err="1"/>
                  <a:t>ms.</a:t>
                </a:r>
                <a:endParaRPr lang="en-US" dirty="0"/>
              </a:p>
              <a:p>
                <a:endParaRPr lang="en-US" dirty="0"/>
              </a:p>
              <a:p>
                <a:endParaRPr lang="he-IL" dirty="0"/>
              </a:p>
            </p:txBody>
          </p:sp>
        </mc:Fallback>
      </mc:AlternateContent>
      <p:sp>
        <p:nvSpPr>
          <p:cNvPr id="4" name="Slide Number Placeholder 3">
            <a:extLst>
              <a:ext uri="{FF2B5EF4-FFF2-40B4-BE49-F238E27FC236}">
                <a16:creationId xmlns:a16="http://schemas.microsoft.com/office/drawing/2014/main" id="{ECA74837-B328-5493-E339-76B98709C0C2}"/>
              </a:ext>
            </a:extLst>
          </p:cNvPr>
          <p:cNvSpPr>
            <a:spLocks noGrp="1"/>
          </p:cNvSpPr>
          <p:nvPr>
            <p:ph type="sldNum" sz="quarter" idx="5"/>
          </p:nvPr>
        </p:nvSpPr>
        <p:spPr/>
        <p:txBody>
          <a:bodyPr/>
          <a:lstStyle/>
          <a:p>
            <a:fld id="{D5E2C206-B79F-4FAD-948A-1F55E500568F}" type="slidenum">
              <a:rPr lang="he-IL" smtClean="0"/>
              <a:pPr/>
              <a:t>29</a:t>
            </a:fld>
            <a:endParaRPr lang="he-IL" dirty="0"/>
          </a:p>
        </p:txBody>
      </p:sp>
    </p:spTree>
    <p:extLst>
      <p:ext uri="{BB962C8B-B14F-4D97-AF65-F5344CB8AC3E}">
        <p14:creationId xmlns:p14="http://schemas.microsoft.com/office/powerpoint/2010/main" val="2585490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Trace plot: checks whether chains mix and overlap.</a:t>
            </a:r>
          </a:p>
          <a:p>
            <a:r>
              <a:rPr lang="en-US" b="1" dirty="0"/>
              <a:t>R-hat</a:t>
            </a:r>
            <a:r>
              <a:rPr lang="en-US" dirty="0"/>
              <a:t>: should be close to 1.</a:t>
            </a:r>
          </a:p>
          <a:p>
            <a:r>
              <a:rPr lang="en-US" b="1" dirty="0"/>
              <a:t>ESS</a:t>
            </a:r>
            <a:r>
              <a:rPr lang="en-US" dirty="0"/>
              <a:t>: effective sample size; should be large enough.</a:t>
            </a:r>
          </a:p>
          <a:p>
            <a:r>
              <a:rPr lang="en-US" b="1" dirty="0"/>
              <a:t>MCSE</a:t>
            </a:r>
            <a:r>
              <a:rPr lang="en-US" dirty="0"/>
              <a:t>: Monte Carlo standard error; should be small relative to posterior uncertainty.</a:t>
            </a:r>
          </a:p>
          <a:p>
            <a:r>
              <a:rPr lang="en-US" b="1" dirty="0"/>
              <a:t>Divergences</a:t>
            </a:r>
            <a:r>
              <a:rPr lang="en-US" dirty="0"/>
              <a:t>: indicate possible sampling/model geometry problems.</a:t>
            </a:r>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31</a:t>
            </a:fld>
            <a:endParaRPr lang="he-IL" dirty="0"/>
          </a:p>
        </p:txBody>
      </p:sp>
    </p:spTree>
    <p:extLst>
      <p:ext uri="{BB962C8B-B14F-4D97-AF65-F5344CB8AC3E}">
        <p14:creationId xmlns:p14="http://schemas.microsoft.com/office/powerpoint/2010/main" val="25378097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err="1"/>
              <a:t>shows</a:t>
            </a:r>
            <a:r>
              <a:rPr lang="he-IL" dirty="0"/>
              <a:t> </a:t>
            </a:r>
            <a:r>
              <a:rPr lang="he-IL" dirty="0" err="1"/>
              <a:t>that</a:t>
            </a:r>
            <a:r>
              <a:rPr lang="he-IL" dirty="0"/>
              <a:t> </a:t>
            </a:r>
            <a:r>
              <a:rPr lang="he-IL" dirty="0" err="1"/>
              <a:t>we’ve</a:t>
            </a:r>
            <a:r>
              <a:rPr lang="he-IL" dirty="0"/>
              <a:t> </a:t>
            </a:r>
            <a:r>
              <a:rPr lang="he-IL" dirty="0" err="1"/>
              <a:t>learned</a:t>
            </a:r>
            <a:r>
              <a:rPr lang="he-IL" dirty="0"/>
              <a:t> from </a:t>
            </a:r>
            <a:r>
              <a:rPr lang="he-IL" dirty="0" err="1"/>
              <a:t>our</a:t>
            </a:r>
            <a:r>
              <a:rPr lang="he-IL" dirty="0"/>
              <a:t> data</a:t>
            </a:r>
          </a:p>
        </p:txBody>
      </p:sp>
      <p:sp>
        <p:nvSpPr>
          <p:cNvPr id="4" name="Slide Number Placeholder 3"/>
          <p:cNvSpPr>
            <a:spLocks noGrp="1"/>
          </p:cNvSpPr>
          <p:nvPr>
            <p:ph type="sldNum" sz="quarter" idx="5"/>
          </p:nvPr>
        </p:nvSpPr>
        <p:spPr/>
        <p:txBody>
          <a:bodyPr/>
          <a:lstStyle/>
          <a:p>
            <a:fld id="{D5E2C206-B79F-4FAD-948A-1F55E500568F}" type="slidenum">
              <a:rPr lang="he-IL" smtClean="0"/>
              <a:pPr/>
              <a:t>32</a:t>
            </a:fld>
            <a:endParaRPr lang="he-IL" dirty="0"/>
          </a:p>
        </p:txBody>
      </p:sp>
    </p:spTree>
    <p:extLst>
      <p:ext uri="{BB962C8B-B14F-4D97-AF65-F5344CB8AC3E}">
        <p14:creationId xmlns:p14="http://schemas.microsoft.com/office/powerpoint/2010/main" val="3528361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err="1"/>
              <a:t>Az.plot_pair</a:t>
            </a:r>
            <a:r>
              <a:rPr lang="en-US" dirty="0"/>
              <a:t>() is a visualization function used to create pair plots that display the </a:t>
            </a:r>
            <a:r>
              <a:rPr lang="en-US" b="1" dirty="0"/>
              <a:t>joint posterior draws for two or more parameters</a:t>
            </a:r>
            <a:r>
              <a:rPr lang="en-US" dirty="0"/>
              <a:t>. </a:t>
            </a:r>
          </a:p>
          <a:p>
            <a:endParaRPr lang="en-US" dirty="0"/>
          </a:p>
          <a:p>
            <a:r>
              <a:rPr lang="en-US" dirty="0"/>
              <a:t>They were sampled jointly </a:t>
            </a:r>
          </a:p>
          <a:p>
            <a:r>
              <a:rPr lang="en-US" dirty="0"/>
              <a:t> Every sample has each a value for mu and one for sigma </a:t>
            </a:r>
          </a:p>
          <a:p>
            <a:r>
              <a:rPr lang="en-US" dirty="0"/>
              <a:t>Are they correlated?</a:t>
            </a:r>
          </a:p>
          <a:p>
            <a:r>
              <a:rPr lang="en-US" dirty="0"/>
              <a:t>Not really (one doesn’t grow or shrink with the other)</a:t>
            </a:r>
          </a:p>
          <a:p>
            <a:endParaRPr lang="en-US" dirty="0"/>
          </a:p>
          <a:p>
            <a:r>
              <a:rPr lang="en-US" b="1" dirty="0"/>
              <a:t>What we want to see:</a:t>
            </a:r>
          </a:p>
          <a:p>
            <a:r>
              <a:rPr lang="en-US" dirty="0"/>
              <a:t> Ideally, we want to see a cloud of dots without extreme, tight correlations and without any divergences. </a:t>
            </a:r>
          </a:p>
          <a:p>
            <a:r>
              <a:rPr lang="en-US" b="1" dirty="0"/>
              <a:t>If divergences do appear, </a:t>
            </a:r>
            <a:r>
              <a:rPr lang="en-US" b="1" dirty="0" err="1"/>
              <a:t>plot_pair</a:t>
            </a:r>
            <a:r>
              <a:rPr lang="en-US" b="1" dirty="0"/>
              <a:t>() helps us identify the specific "problematic regions" of the posterior parameter space where the sampling algorithm (like NUTS) struggled to explore properly</a:t>
            </a:r>
          </a:p>
          <a:p>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34</a:t>
            </a:fld>
            <a:endParaRPr lang="he-IL" dirty="0"/>
          </a:p>
        </p:txBody>
      </p:sp>
    </p:spTree>
    <p:extLst>
      <p:ext uri="{BB962C8B-B14F-4D97-AF65-F5344CB8AC3E}">
        <p14:creationId xmlns:p14="http://schemas.microsoft.com/office/powerpoint/2010/main" val="3696019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We first generate posterior predictive data</a:t>
            </a:r>
          </a:p>
          <a:p>
            <a:r>
              <a:rPr lang="en-US" dirty="0"/>
              <a:t>For each posterior predictive dataset, we calculate the same statistic as in the observed data. </a:t>
            </a:r>
          </a:p>
          <a:p>
            <a:r>
              <a:rPr lang="en-US" dirty="0"/>
              <a:t>Then we compare the observed statistic to the posterior predictive sampling distribution. </a:t>
            </a:r>
          </a:p>
          <a:p>
            <a:r>
              <a:rPr lang="en-US" dirty="0"/>
              <a:t>Similarity to frequentist p-values: </a:t>
            </a:r>
          </a:p>
          <a:p>
            <a:pPr marL="171450" indent="-171450">
              <a:buFont typeface="Arial" panose="020B0604020202020204" pitchFamily="34" charset="0"/>
              <a:buChar char="•"/>
            </a:pPr>
            <a:r>
              <a:rPr lang="en-US" dirty="0"/>
              <a:t>Both ask whether the observed data are extreme relative to a reference distribution. </a:t>
            </a:r>
          </a:p>
          <a:p>
            <a:r>
              <a:rPr lang="en-US" dirty="0"/>
              <a:t>Difference from frequentist p-values: </a:t>
            </a:r>
          </a:p>
          <a:p>
            <a:pPr marL="171450" indent="-171450">
              <a:buFont typeface="Arial" panose="020B0604020202020204" pitchFamily="34" charset="0"/>
              <a:buChar char="•"/>
            </a:pPr>
            <a:r>
              <a:rPr lang="en-US" dirty="0"/>
              <a:t>Frequentist p-values integrate the null sampling distribution. </a:t>
            </a:r>
          </a:p>
          <a:p>
            <a:pPr marL="171450" indent="-171450">
              <a:buFont typeface="Arial" panose="020B0604020202020204" pitchFamily="34" charset="0"/>
              <a:buChar char="•"/>
            </a:pPr>
            <a:r>
              <a:rPr lang="en-US" dirty="0"/>
              <a:t>Bayesian p-values integrate, or sum over, the posterior predictive sampling distribution. </a:t>
            </a:r>
          </a:p>
          <a:p>
            <a:pPr marL="171450" indent="-171450">
              <a:buFont typeface="Arial" panose="020B0604020202020204" pitchFamily="34" charset="0"/>
              <a:buChar char="•"/>
            </a:pPr>
            <a:r>
              <a:rPr lang="en-US" dirty="0"/>
              <a:t>Bayesian p-values are used as a measure of fit, not as a significance decision.</a:t>
            </a:r>
          </a:p>
          <a:p>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38</a:t>
            </a:fld>
            <a:endParaRPr lang="he-IL" dirty="0"/>
          </a:p>
        </p:txBody>
      </p:sp>
    </p:spTree>
    <p:extLst>
      <p:ext uri="{BB962C8B-B14F-4D97-AF65-F5344CB8AC3E}">
        <p14:creationId xmlns:p14="http://schemas.microsoft.com/office/powerpoint/2010/main" val="1468711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The observed mean and observed SD are close to the center of the posterior predictive statistic distributions.</a:t>
            </a:r>
            <a:br>
              <a:rPr lang="en-US" dirty="0"/>
            </a:br>
            <a:r>
              <a:rPr lang="en-US" dirty="0"/>
              <a:t>Therefore, the fitted Normal model can reproduce these aspects of the observed data reasonably well.</a:t>
            </a:r>
          </a:p>
          <a:p>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39</a:t>
            </a:fld>
            <a:endParaRPr lang="he-IL" dirty="0"/>
          </a:p>
        </p:txBody>
      </p:sp>
    </p:spTree>
    <p:extLst>
      <p:ext uri="{BB962C8B-B14F-4D97-AF65-F5344CB8AC3E}">
        <p14:creationId xmlns:p14="http://schemas.microsoft.com/office/powerpoint/2010/main" val="1217070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The observed mean and observed SD are close to the center of the posterior predictive statistic distributions.</a:t>
            </a:r>
            <a:br>
              <a:rPr lang="en-US" dirty="0"/>
            </a:br>
            <a:r>
              <a:rPr lang="en-US" dirty="0"/>
              <a:t>Therefore, the fitted Normal model can reproduce these aspects of the observed data reasonably well.</a:t>
            </a:r>
          </a:p>
          <a:p>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41</a:t>
            </a:fld>
            <a:endParaRPr lang="he-IL" dirty="0"/>
          </a:p>
        </p:txBody>
      </p:sp>
    </p:spTree>
    <p:extLst>
      <p:ext uri="{BB962C8B-B14F-4D97-AF65-F5344CB8AC3E}">
        <p14:creationId xmlns:p14="http://schemas.microsoft.com/office/powerpoint/2010/main" val="19158253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46</a:t>
            </a:fld>
            <a:endParaRPr lang="he-IL" dirty="0"/>
          </a:p>
        </p:txBody>
      </p:sp>
    </p:spTree>
    <p:extLst>
      <p:ext uri="{BB962C8B-B14F-4D97-AF65-F5344CB8AC3E}">
        <p14:creationId xmlns:p14="http://schemas.microsoft.com/office/powerpoint/2010/main" val="24394269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77C23-F3BD-9C70-8BB1-2DC1FDA3B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737A5-4540-4CD6-7BDF-81ED04AD0D2D}"/>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55B30BD5-8F9D-F662-08D2-FDA4D6B70637}"/>
              </a:ext>
            </a:extLst>
          </p:cNvPr>
          <p:cNvSpPr>
            <a:spLocks noGrp="1"/>
          </p:cNvSpPr>
          <p:nvPr>
            <p:ph type="body" idx="1"/>
          </p:nvPr>
        </p:nvSpPr>
        <p:spPr/>
        <p:txBody>
          <a:bodyPr/>
          <a:lstStyle/>
          <a:p>
            <a:r>
              <a:rPr lang="en-US" b="1" dirty="0"/>
              <a:t>Raw effect size:</a:t>
            </a:r>
            <a:r>
              <a:rPr lang="en-US" dirty="0"/>
              <a:t> the effect size in the original units of the data.</a:t>
            </a:r>
            <a:r>
              <a:rPr lang="he-IL" dirty="0"/>
              <a:t> </a:t>
            </a:r>
          </a:p>
          <a:p>
            <a:r>
              <a:rPr lang="en-US" b="1" dirty="0"/>
              <a:t>Normalized effect size:</a:t>
            </a:r>
            <a:r>
              <a:rPr lang="en-US" dirty="0"/>
              <a:t> an effect size transformed to a more general scale, so it can be compared across studies, experiments, or measurement units.</a:t>
            </a:r>
            <a:endParaRPr lang="he-IL" dirty="0"/>
          </a:p>
          <a:p>
            <a:r>
              <a:rPr lang="en-US" b="1" dirty="0"/>
              <a:t>Standardized effect size: </a:t>
            </a:r>
            <a:r>
              <a:rPr lang="en-US" dirty="0"/>
              <a:t>usually a normalized effect size obtained by dividing the raw effect by a standard deviation.</a:t>
            </a:r>
            <a:endParaRPr lang="he-IL" dirty="0"/>
          </a:p>
        </p:txBody>
      </p:sp>
      <p:sp>
        <p:nvSpPr>
          <p:cNvPr id="4" name="Slide Number Placeholder 3">
            <a:extLst>
              <a:ext uri="{FF2B5EF4-FFF2-40B4-BE49-F238E27FC236}">
                <a16:creationId xmlns:a16="http://schemas.microsoft.com/office/drawing/2014/main" id="{C2A1B9CE-C55D-E52C-0E74-023629977A98}"/>
              </a:ext>
            </a:extLst>
          </p:cNvPr>
          <p:cNvSpPr>
            <a:spLocks noGrp="1"/>
          </p:cNvSpPr>
          <p:nvPr>
            <p:ph type="sldNum" sz="quarter" idx="5"/>
          </p:nvPr>
        </p:nvSpPr>
        <p:spPr/>
        <p:txBody>
          <a:bodyPr/>
          <a:lstStyle/>
          <a:p>
            <a:fld id="{D5E2C206-B79F-4FAD-948A-1F55E500568F}" type="slidenum">
              <a:rPr lang="he-IL" smtClean="0"/>
              <a:pPr/>
              <a:t>47</a:t>
            </a:fld>
            <a:endParaRPr lang="he-IL" dirty="0"/>
          </a:p>
        </p:txBody>
      </p:sp>
    </p:spTree>
    <p:extLst>
      <p:ext uri="{BB962C8B-B14F-4D97-AF65-F5344CB8AC3E}">
        <p14:creationId xmlns:p14="http://schemas.microsoft.com/office/powerpoint/2010/main" val="34935472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D036D-1D2E-03ED-37B1-FE99F0400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C4A1B-A5D3-9D3E-39AF-FCB71215C46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379DC33-B6D7-9AAD-5B9C-E5A967B035FF}"/>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D189FF60-7B06-A39E-4AB6-442D30008A83}"/>
              </a:ext>
            </a:extLst>
          </p:cNvPr>
          <p:cNvSpPr>
            <a:spLocks noGrp="1"/>
          </p:cNvSpPr>
          <p:nvPr>
            <p:ph type="sldNum" sz="quarter" idx="5"/>
          </p:nvPr>
        </p:nvSpPr>
        <p:spPr/>
        <p:txBody>
          <a:bodyPr/>
          <a:lstStyle/>
          <a:p>
            <a:fld id="{D5E2C206-B79F-4FAD-948A-1F55E500568F}" type="slidenum">
              <a:rPr lang="he-IL" smtClean="0"/>
              <a:pPr/>
              <a:t>48</a:t>
            </a:fld>
            <a:endParaRPr lang="he-IL" dirty="0"/>
          </a:p>
        </p:txBody>
      </p:sp>
    </p:spTree>
    <p:extLst>
      <p:ext uri="{BB962C8B-B14F-4D97-AF65-F5344CB8AC3E}">
        <p14:creationId xmlns:p14="http://schemas.microsoft.com/office/powerpoint/2010/main" val="7169854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81E72-11B6-C88C-0537-8D461B383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961AD-112B-E6A3-82F3-9E3274D59F4C}"/>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66DD778B-CACD-829D-1E1F-E0959F034EEA}"/>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A5F78D7C-3A35-CC57-B3CE-6B25110E0A4A}"/>
              </a:ext>
            </a:extLst>
          </p:cNvPr>
          <p:cNvSpPr>
            <a:spLocks noGrp="1"/>
          </p:cNvSpPr>
          <p:nvPr>
            <p:ph type="sldNum" sz="quarter" idx="5"/>
          </p:nvPr>
        </p:nvSpPr>
        <p:spPr/>
        <p:txBody>
          <a:bodyPr/>
          <a:lstStyle/>
          <a:p>
            <a:fld id="{D5E2C206-B79F-4FAD-948A-1F55E500568F}" type="slidenum">
              <a:rPr lang="he-IL" smtClean="0"/>
              <a:pPr/>
              <a:t>49</a:t>
            </a:fld>
            <a:endParaRPr lang="he-IL" dirty="0"/>
          </a:p>
        </p:txBody>
      </p:sp>
    </p:spTree>
    <p:extLst>
      <p:ext uri="{BB962C8B-B14F-4D97-AF65-F5344CB8AC3E}">
        <p14:creationId xmlns:p14="http://schemas.microsoft.com/office/powerpoint/2010/main" val="39607350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F5CAF-56D0-C7EC-C41E-7820A131E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D4424-D9DA-112E-7B61-48A24E5FE9D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48DA5F2-3757-73E9-4E2D-C281E5BDCDD9}"/>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D2021097-52BF-1F0D-2AA3-7FFC5CF54EF7}"/>
              </a:ext>
            </a:extLst>
          </p:cNvPr>
          <p:cNvSpPr>
            <a:spLocks noGrp="1"/>
          </p:cNvSpPr>
          <p:nvPr>
            <p:ph type="sldNum" sz="quarter" idx="5"/>
          </p:nvPr>
        </p:nvSpPr>
        <p:spPr/>
        <p:txBody>
          <a:bodyPr/>
          <a:lstStyle/>
          <a:p>
            <a:fld id="{D5E2C206-B79F-4FAD-948A-1F55E500568F}" type="slidenum">
              <a:rPr lang="he-IL" smtClean="0"/>
              <a:pPr/>
              <a:t>50</a:t>
            </a:fld>
            <a:endParaRPr lang="he-IL" dirty="0"/>
          </a:p>
        </p:txBody>
      </p:sp>
    </p:spTree>
    <p:extLst>
      <p:ext uri="{BB962C8B-B14F-4D97-AF65-F5344CB8AC3E}">
        <p14:creationId xmlns:p14="http://schemas.microsoft.com/office/powerpoint/2010/main" val="36717762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7C45F-B6DB-14E5-6421-69531976A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30FC3B-8DAE-C1A0-BD5F-9F030F22B4E2}"/>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19CB1898-61C4-3EAA-B009-61095AEC11D5}"/>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552E3921-4427-B1FC-EC98-03B5EFEFFC3F}"/>
              </a:ext>
            </a:extLst>
          </p:cNvPr>
          <p:cNvSpPr>
            <a:spLocks noGrp="1"/>
          </p:cNvSpPr>
          <p:nvPr>
            <p:ph type="sldNum" sz="quarter" idx="5"/>
          </p:nvPr>
        </p:nvSpPr>
        <p:spPr/>
        <p:txBody>
          <a:bodyPr/>
          <a:lstStyle/>
          <a:p>
            <a:fld id="{D5E2C206-B79F-4FAD-948A-1F55E500568F}" type="slidenum">
              <a:rPr lang="he-IL" smtClean="0"/>
              <a:pPr/>
              <a:t>51</a:t>
            </a:fld>
            <a:endParaRPr lang="he-IL" dirty="0"/>
          </a:p>
        </p:txBody>
      </p:sp>
    </p:spTree>
    <p:extLst>
      <p:ext uri="{BB962C8B-B14F-4D97-AF65-F5344CB8AC3E}">
        <p14:creationId xmlns:p14="http://schemas.microsoft.com/office/powerpoint/2010/main" val="1042080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4C3F1-CE57-1AB3-D6DE-AE898EBCC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B7A457-7CB9-83EE-49CB-7521F8C41E3A}"/>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DA7009A5-D310-0C01-C646-C29E411FEFAF}"/>
              </a:ext>
            </a:extLst>
          </p:cNvPr>
          <p:cNvSpPr>
            <a:spLocks noGrp="1"/>
          </p:cNvSpPr>
          <p:nvPr>
            <p:ph type="body" idx="1"/>
          </p:nvPr>
        </p:nvSpPr>
        <p:spPr/>
        <p:txBody>
          <a:bodyPr/>
          <a:lstStyle/>
          <a:p>
            <a:r>
              <a:rPr lang="en-US" dirty="0"/>
              <a:t>Looked reasonable to me</a:t>
            </a:r>
            <a:endParaRPr lang="he-IL" dirty="0"/>
          </a:p>
        </p:txBody>
      </p:sp>
      <p:sp>
        <p:nvSpPr>
          <p:cNvPr id="4" name="Slide Number Placeholder 3">
            <a:extLst>
              <a:ext uri="{FF2B5EF4-FFF2-40B4-BE49-F238E27FC236}">
                <a16:creationId xmlns:a16="http://schemas.microsoft.com/office/drawing/2014/main" id="{E5310723-4792-01DA-4331-9D1A73447587}"/>
              </a:ext>
            </a:extLst>
          </p:cNvPr>
          <p:cNvSpPr>
            <a:spLocks noGrp="1"/>
          </p:cNvSpPr>
          <p:nvPr>
            <p:ph type="sldNum" sz="quarter" idx="5"/>
          </p:nvPr>
        </p:nvSpPr>
        <p:spPr/>
        <p:txBody>
          <a:bodyPr/>
          <a:lstStyle/>
          <a:p>
            <a:fld id="{D5E2C206-B79F-4FAD-948A-1F55E500568F}" type="slidenum">
              <a:rPr lang="he-IL" smtClean="0"/>
              <a:pPr/>
              <a:t>52</a:t>
            </a:fld>
            <a:endParaRPr lang="he-IL" dirty="0"/>
          </a:p>
        </p:txBody>
      </p:sp>
    </p:spTree>
    <p:extLst>
      <p:ext uri="{BB962C8B-B14F-4D97-AF65-F5344CB8AC3E}">
        <p14:creationId xmlns:p14="http://schemas.microsoft.com/office/powerpoint/2010/main" val="13444140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55E00-43E0-B9CB-C85A-F80280118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69C6-6CB4-C340-4754-51589185626D}"/>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251D418-7BC2-D14D-A8DE-8DDA57F973C0}"/>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79D9A8F4-E4AC-7727-9745-CBE69F0E4EE4}"/>
              </a:ext>
            </a:extLst>
          </p:cNvPr>
          <p:cNvSpPr>
            <a:spLocks noGrp="1"/>
          </p:cNvSpPr>
          <p:nvPr>
            <p:ph type="sldNum" sz="quarter" idx="5"/>
          </p:nvPr>
        </p:nvSpPr>
        <p:spPr/>
        <p:txBody>
          <a:bodyPr/>
          <a:lstStyle/>
          <a:p>
            <a:fld id="{D5E2C206-B79F-4FAD-948A-1F55E500568F}" type="slidenum">
              <a:rPr lang="he-IL" smtClean="0"/>
              <a:pPr/>
              <a:t>53</a:t>
            </a:fld>
            <a:endParaRPr lang="he-IL" dirty="0"/>
          </a:p>
        </p:txBody>
      </p:sp>
    </p:spTree>
    <p:extLst>
      <p:ext uri="{BB962C8B-B14F-4D97-AF65-F5344CB8AC3E}">
        <p14:creationId xmlns:p14="http://schemas.microsoft.com/office/powerpoint/2010/main" val="19615768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35E3F-ACDC-DD4F-ECDB-8883C5F17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2A95C-81D3-2795-13F7-EDC60BDE34A1}"/>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CE8D143-CEE1-C36E-82E0-A838FC18445E}"/>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D6528D1F-B158-FDBD-B520-CC12CB72FB44}"/>
              </a:ext>
            </a:extLst>
          </p:cNvPr>
          <p:cNvSpPr>
            <a:spLocks noGrp="1"/>
          </p:cNvSpPr>
          <p:nvPr>
            <p:ph type="sldNum" sz="quarter" idx="5"/>
          </p:nvPr>
        </p:nvSpPr>
        <p:spPr/>
        <p:txBody>
          <a:bodyPr/>
          <a:lstStyle/>
          <a:p>
            <a:fld id="{D5E2C206-B79F-4FAD-948A-1F55E500568F}" type="slidenum">
              <a:rPr lang="he-IL" smtClean="0"/>
              <a:pPr/>
              <a:t>54</a:t>
            </a:fld>
            <a:endParaRPr lang="he-IL" dirty="0"/>
          </a:p>
        </p:txBody>
      </p:sp>
    </p:spTree>
    <p:extLst>
      <p:ext uri="{BB962C8B-B14F-4D97-AF65-F5344CB8AC3E}">
        <p14:creationId xmlns:p14="http://schemas.microsoft.com/office/powerpoint/2010/main" val="14487675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2363E-4CCA-9D47-DA75-817F411EA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9B01C-6F9D-2CD7-423B-1EF9281A3C02}"/>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416CADBB-AB43-7982-2D44-0BD47BFDCEAB}"/>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14D41098-BB7A-4CBC-47E5-FCA2DED0E791}"/>
              </a:ext>
            </a:extLst>
          </p:cNvPr>
          <p:cNvSpPr>
            <a:spLocks noGrp="1"/>
          </p:cNvSpPr>
          <p:nvPr>
            <p:ph type="sldNum" sz="quarter" idx="5"/>
          </p:nvPr>
        </p:nvSpPr>
        <p:spPr/>
        <p:txBody>
          <a:bodyPr/>
          <a:lstStyle/>
          <a:p>
            <a:fld id="{D5E2C206-B79F-4FAD-948A-1F55E500568F}" type="slidenum">
              <a:rPr lang="he-IL" smtClean="0"/>
              <a:pPr/>
              <a:t>55</a:t>
            </a:fld>
            <a:endParaRPr lang="he-IL" dirty="0"/>
          </a:p>
        </p:txBody>
      </p:sp>
    </p:spTree>
    <p:extLst>
      <p:ext uri="{BB962C8B-B14F-4D97-AF65-F5344CB8AC3E}">
        <p14:creationId xmlns:p14="http://schemas.microsoft.com/office/powerpoint/2010/main" val="19819004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124DA-9EFA-B70B-AEC9-B376F69A2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112EF-4529-F617-4321-FF202696440A}"/>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414D987-8091-3BD8-B623-69863B0E3993}"/>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64CD262C-3538-AA83-92F0-0A877981A053}"/>
              </a:ext>
            </a:extLst>
          </p:cNvPr>
          <p:cNvSpPr>
            <a:spLocks noGrp="1"/>
          </p:cNvSpPr>
          <p:nvPr>
            <p:ph type="sldNum" sz="quarter" idx="5"/>
          </p:nvPr>
        </p:nvSpPr>
        <p:spPr/>
        <p:txBody>
          <a:bodyPr/>
          <a:lstStyle/>
          <a:p>
            <a:fld id="{D5E2C206-B79F-4FAD-948A-1F55E500568F}" type="slidenum">
              <a:rPr lang="he-IL" smtClean="0"/>
              <a:pPr/>
              <a:t>56</a:t>
            </a:fld>
            <a:endParaRPr lang="he-IL" dirty="0"/>
          </a:p>
        </p:txBody>
      </p:sp>
    </p:spTree>
    <p:extLst>
      <p:ext uri="{BB962C8B-B14F-4D97-AF65-F5344CB8AC3E}">
        <p14:creationId xmlns:p14="http://schemas.microsoft.com/office/powerpoint/2010/main" val="33907376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B6FA2-8515-4BAD-161A-505CB3D26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7A5264-54F5-D87C-B0C6-906BB629EE15}"/>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160BD079-E000-AE9F-875A-81038A67D148}"/>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20563F9E-B468-1C5F-4133-85C96020DF61}"/>
              </a:ext>
            </a:extLst>
          </p:cNvPr>
          <p:cNvSpPr>
            <a:spLocks noGrp="1"/>
          </p:cNvSpPr>
          <p:nvPr>
            <p:ph type="sldNum" sz="quarter" idx="5"/>
          </p:nvPr>
        </p:nvSpPr>
        <p:spPr/>
        <p:txBody>
          <a:bodyPr/>
          <a:lstStyle/>
          <a:p>
            <a:fld id="{D5E2C206-B79F-4FAD-948A-1F55E500568F}" type="slidenum">
              <a:rPr lang="he-IL" smtClean="0"/>
              <a:pPr/>
              <a:t>57</a:t>
            </a:fld>
            <a:endParaRPr lang="he-IL" dirty="0"/>
          </a:p>
        </p:txBody>
      </p:sp>
    </p:spTree>
    <p:extLst>
      <p:ext uri="{BB962C8B-B14F-4D97-AF65-F5344CB8AC3E}">
        <p14:creationId xmlns:p14="http://schemas.microsoft.com/office/powerpoint/2010/main" val="27855133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F738A-747A-3DF3-CBE3-082DB8DA2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8D035-BAD6-121C-B0F0-37EF2915387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1FDDF279-1132-29D1-3C8E-99D861E0F72C}"/>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3BB471FB-F70D-D202-04A7-4C352348428F}"/>
              </a:ext>
            </a:extLst>
          </p:cNvPr>
          <p:cNvSpPr>
            <a:spLocks noGrp="1"/>
          </p:cNvSpPr>
          <p:nvPr>
            <p:ph type="sldNum" sz="quarter" idx="5"/>
          </p:nvPr>
        </p:nvSpPr>
        <p:spPr/>
        <p:txBody>
          <a:bodyPr/>
          <a:lstStyle/>
          <a:p>
            <a:fld id="{D5E2C206-B79F-4FAD-948A-1F55E500568F}" type="slidenum">
              <a:rPr lang="he-IL" smtClean="0"/>
              <a:pPr/>
              <a:t>58</a:t>
            </a:fld>
            <a:endParaRPr lang="he-IL" dirty="0"/>
          </a:p>
        </p:txBody>
      </p:sp>
    </p:spTree>
    <p:extLst>
      <p:ext uri="{BB962C8B-B14F-4D97-AF65-F5344CB8AC3E}">
        <p14:creationId xmlns:p14="http://schemas.microsoft.com/office/powerpoint/2010/main" val="15493197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0C36E-3DD7-A830-A3C2-5879682C1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624C2-E109-A857-DC41-98809CB457C2}"/>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259586CB-CEE4-1D3B-CF10-A21E8F6C31BD}"/>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D34AD8AC-9CBC-6118-5911-27ADCFD6EE48}"/>
              </a:ext>
            </a:extLst>
          </p:cNvPr>
          <p:cNvSpPr>
            <a:spLocks noGrp="1"/>
          </p:cNvSpPr>
          <p:nvPr>
            <p:ph type="sldNum" sz="quarter" idx="5"/>
          </p:nvPr>
        </p:nvSpPr>
        <p:spPr/>
        <p:txBody>
          <a:bodyPr/>
          <a:lstStyle/>
          <a:p>
            <a:fld id="{D5E2C206-B79F-4FAD-948A-1F55E500568F}" type="slidenum">
              <a:rPr lang="he-IL" smtClean="0"/>
              <a:pPr/>
              <a:t>59</a:t>
            </a:fld>
            <a:endParaRPr lang="he-IL" dirty="0"/>
          </a:p>
        </p:txBody>
      </p:sp>
    </p:spTree>
    <p:extLst>
      <p:ext uri="{BB962C8B-B14F-4D97-AF65-F5344CB8AC3E}">
        <p14:creationId xmlns:p14="http://schemas.microsoft.com/office/powerpoint/2010/main" val="28565847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DFCB7-ACCA-6320-CAD7-6377E010F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F010EE-78AD-660E-EDAE-69C7048EDCEA}"/>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C6C3F471-E50C-B971-4908-A32B498E91AA}"/>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020AEFDD-1B6D-C8C4-287D-41DD2E972D8C}"/>
              </a:ext>
            </a:extLst>
          </p:cNvPr>
          <p:cNvSpPr>
            <a:spLocks noGrp="1"/>
          </p:cNvSpPr>
          <p:nvPr>
            <p:ph type="sldNum" sz="quarter" idx="5"/>
          </p:nvPr>
        </p:nvSpPr>
        <p:spPr/>
        <p:txBody>
          <a:bodyPr/>
          <a:lstStyle/>
          <a:p>
            <a:fld id="{D5E2C206-B79F-4FAD-948A-1F55E500568F}" type="slidenum">
              <a:rPr lang="he-IL" smtClean="0"/>
              <a:pPr/>
              <a:t>60</a:t>
            </a:fld>
            <a:endParaRPr lang="he-IL" dirty="0"/>
          </a:p>
        </p:txBody>
      </p:sp>
    </p:spTree>
    <p:extLst>
      <p:ext uri="{BB962C8B-B14F-4D97-AF65-F5344CB8AC3E}">
        <p14:creationId xmlns:p14="http://schemas.microsoft.com/office/powerpoint/2010/main" val="40035709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EEAF7-1A44-1C95-3410-086A24652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DD27B-6B48-9510-519F-271E3BC30BE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A08E6521-0CC4-2FCF-8034-3D7AEFE69561}"/>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78DE5FD2-7122-9DA3-278E-AA1A2E1B4D75}"/>
              </a:ext>
            </a:extLst>
          </p:cNvPr>
          <p:cNvSpPr>
            <a:spLocks noGrp="1"/>
          </p:cNvSpPr>
          <p:nvPr>
            <p:ph type="sldNum" sz="quarter" idx="5"/>
          </p:nvPr>
        </p:nvSpPr>
        <p:spPr/>
        <p:txBody>
          <a:bodyPr/>
          <a:lstStyle/>
          <a:p>
            <a:fld id="{D5E2C206-B79F-4FAD-948A-1F55E500568F}" type="slidenum">
              <a:rPr lang="he-IL" smtClean="0"/>
              <a:pPr/>
              <a:t>61</a:t>
            </a:fld>
            <a:endParaRPr lang="he-IL" dirty="0"/>
          </a:p>
        </p:txBody>
      </p:sp>
    </p:spTree>
    <p:extLst>
      <p:ext uri="{BB962C8B-B14F-4D97-AF65-F5344CB8AC3E}">
        <p14:creationId xmlns:p14="http://schemas.microsoft.com/office/powerpoint/2010/main" val="20142555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נדבר על התפלגות </a:t>
            </a:r>
            <a:r>
              <a:rPr lang="en-US" dirty="0"/>
              <a:t>T</a:t>
            </a:r>
            <a:r>
              <a:rPr lang="he-IL" dirty="0"/>
              <a:t> בהמשך</a:t>
            </a:r>
          </a:p>
        </p:txBody>
      </p:sp>
      <p:sp>
        <p:nvSpPr>
          <p:cNvPr id="4" name="Slide Number Placeholder 3"/>
          <p:cNvSpPr>
            <a:spLocks noGrp="1"/>
          </p:cNvSpPr>
          <p:nvPr>
            <p:ph type="sldNum" sz="quarter" idx="5"/>
          </p:nvPr>
        </p:nvSpPr>
        <p:spPr/>
        <p:txBody>
          <a:bodyPr/>
          <a:lstStyle/>
          <a:p>
            <a:fld id="{D5E2C206-B79F-4FAD-948A-1F55E500568F}" type="slidenum">
              <a:rPr lang="he-IL" smtClean="0"/>
              <a:pPr/>
              <a:t>63</a:t>
            </a:fld>
            <a:endParaRPr lang="he-IL" dirty="0"/>
          </a:p>
        </p:txBody>
      </p:sp>
    </p:spTree>
    <p:extLst>
      <p:ext uri="{BB962C8B-B14F-4D97-AF65-F5344CB8AC3E}">
        <p14:creationId xmlns:p14="http://schemas.microsoft.com/office/powerpoint/2010/main" val="13081422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solidFill>
                      <a:schemeClr val="tx1"/>
                    </a:solidFill>
                  </a:rPr>
                  <a:t>One-sample t-test</a:t>
                </a:r>
              </a:p>
              <a:p>
                <a:pPr lvl="1"/>
                <a:r>
                  <a:rPr lang="en-US" dirty="0">
                    <a:solidFill>
                      <a:schemeClr val="tx1"/>
                    </a:solidFill>
                  </a:rPr>
                  <a:t>Tests whether one mean differs from a reference value.</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𝐻</m:t>
                          </m:r>
                        </m:e>
                        <m:sub>
                          <m:r>
                            <a:rPr lang="en-US" i="1" dirty="0" smtClean="0">
                              <a:solidFill>
                                <a:schemeClr val="tx1"/>
                              </a:solidFill>
                              <a:latin typeface="Cambria Math" panose="02040503050406030204" pitchFamily="18" charset="0"/>
                            </a:rPr>
                            <m:t>0</m:t>
                          </m:r>
                        </m:sub>
                      </m:sSub>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𝜇</m:t>
                      </m:r>
                      <m:r>
                        <a:rPr lang="en-US" i="1" dirty="0" smtClean="0">
                          <a:solidFill>
                            <a:schemeClr val="tx1"/>
                          </a:solidFill>
                          <a:latin typeface="Cambria Math" panose="02040503050406030204" pitchFamily="18" charset="0"/>
                        </a:rPr>
                        <m:t>=</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𝜇</m:t>
                          </m:r>
                        </m:e>
                        <m:sub>
                          <m:r>
                            <a:rPr lang="en-US" i="1" dirty="0" smtClean="0">
                              <a:solidFill>
                                <a:schemeClr val="tx1"/>
                              </a:solidFill>
                              <a:latin typeface="Cambria Math" panose="02040503050406030204" pitchFamily="18" charset="0"/>
                            </a:rPr>
                            <m:t>0</m:t>
                          </m:r>
                        </m:sub>
                      </m:sSub>
                    </m:oMath>
                  </m:oMathPara>
                </a14:m>
                <a:endParaRPr lang="en-US" b="1" dirty="0">
                  <a:solidFill>
                    <a:schemeClr val="tx1"/>
                  </a:solidFill>
                </a:endParaRPr>
              </a:p>
              <a:p>
                <a:r>
                  <a:rPr lang="en-US" b="1" dirty="0">
                    <a:solidFill>
                      <a:schemeClr val="tx1"/>
                    </a:solidFill>
                  </a:rPr>
                  <a:t>Paired t-test</a:t>
                </a:r>
                <a:endParaRPr lang="en-US" dirty="0">
                  <a:solidFill>
                    <a:schemeClr val="tx1"/>
                  </a:solidFill>
                </a:endParaRPr>
              </a:p>
              <a:p>
                <a:pPr lvl="1"/>
                <a:r>
                  <a:rPr lang="en-US" dirty="0">
                    <a:solidFill>
                      <a:schemeClr val="tx1"/>
                    </a:solidFill>
                  </a:rPr>
                  <a:t>Tests whether the mean within-subject change differs from zero.</a:t>
                </a:r>
                <a:br>
                  <a:rPr lang="en-US" dirty="0">
                    <a:solidFill>
                      <a:schemeClr val="tx1"/>
                    </a:solidFill>
                  </a:rPr>
                </a:br>
                <a:r>
                  <a:rPr lang="en-US" dirty="0">
                    <a:solidFill>
                      <a:schemeClr val="tx1"/>
                    </a:solidFill>
                  </a:rPr>
                  <a:t>One-sample t-test applied to the within-subject changes</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𝐻</m:t>
                          </m:r>
                        </m:e>
                        <m:sub>
                          <m:r>
                            <a:rPr lang="en-US" i="1" dirty="0" smtClean="0">
                              <a:solidFill>
                                <a:schemeClr val="tx1"/>
                              </a:solidFill>
                              <a:latin typeface="Cambria Math" panose="02040503050406030204" pitchFamily="18" charset="0"/>
                            </a:rPr>
                            <m:t>0</m:t>
                          </m:r>
                        </m:sub>
                      </m:sSub>
                      <m:r>
                        <a:rPr lang="en-US" i="1" dirty="0" smtClean="0">
                          <a:solidFill>
                            <a:schemeClr val="tx1"/>
                          </a:solidFill>
                          <a:latin typeface="Cambria Math" panose="02040503050406030204" pitchFamily="18" charset="0"/>
                        </a:rPr>
                        <m:t>:</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𝜇</m:t>
                          </m:r>
                        </m:e>
                        <m:sub>
                          <m:r>
                            <m:rPr>
                              <m:nor/>
                            </m:rPr>
                            <a:rPr lang="en-US" i="0" dirty="0" smtClean="0">
                              <a:solidFill>
                                <a:schemeClr val="tx1"/>
                              </a:solidFill>
                              <a:latin typeface="Cambria Math" panose="02040503050406030204" pitchFamily="18" charset="0"/>
                            </a:rPr>
                            <m:t>change</m:t>
                          </m:r>
                        </m:sub>
                      </m:sSub>
                      <m:r>
                        <a:rPr lang="en-US" i="1" dirty="0" smtClean="0">
                          <a:solidFill>
                            <a:schemeClr val="tx1"/>
                          </a:solidFill>
                          <a:latin typeface="Cambria Math" panose="02040503050406030204" pitchFamily="18" charset="0"/>
                        </a:rPr>
                        <m:t> =</m:t>
                      </m:r>
                      <m:r>
                        <a:rPr lang="en-US" i="1" dirty="0" smtClean="0">
                          <a:solidFill>
                            <a:schemeClr val="tx1"/>
                          </a:solidFill>
                          <a:latin typeface="Cambria Math" panose="02040503050406030204" pitchFamily="18" charset="0"/>
                        </a:rPr>
                        <m:t>0</m:t>
                      </m:r>
                    </m:oMath>
                  </m:oMathPara>
                </a14:m>
                <a:endParaRPr lang="en-US" b="1" dirty="0">
                  <a:solidFill>
                    <a:schemeClr val="tx1"/>
                  </a:solidFill>
                </a:endParaRPr>
              </a:p>
              <a:p>
                <a:r>
                  <a:rPr lang="en-US" b="1" dirty="0">
                    <a:solidFill>
                      <a:schemeClr val="tx1"/>
                    </a:solidFill>
                  </a:rPr>
                  <a:t>Independent two-sample t-test </a:t>
                </a:r>
              </a:p>
              <a:p>
                <a:pPr lvl="1"/>
                <a:r>
                  <a:rPr lang="en-US" dirty="0">
                    <a:solidFill>
                      <a:schemeClr val="tx1"/>
                    </a:solidFill>
                  </a:rPr>
                  <a:t>Tests whether two independent group means differ.</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𝐻</m:t>
                          </m:r>
                        </m:e>
                        <m:sub>
                          <m:r>
                            <a:rPr lang="en-US" i="1" dirty="0" smtClean="0">
                              <a:solidFill>
                                <a:schemeClr val="tx1"/>
                              </a:solidFill>
                              <a:latin typeface="Cambria Math" panose="02040503050406030204" pitchFamily="18" charset="0"/>
                            </a:rPr>
                            <m:t>0</m:t>
                          </m:r>
                        </m:sub>
                      </m:sSub>
                      <m:r>
                        <a:rPr lang="en-US" i="1" dirty="0" smtClean="0">
                          <a:solidFill>
                            <a:schemeClr val="tx1"/>
                          </a:solidFill>
                          <a:latin typeface="Cambria Math" panose="02040503050406030204" pitchFamily="18" charset="0"/>
                        </a:rPr>
                        <m:t>:</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𝜇</m:t>
                          </m:r>
                        </m:e>
                        <m:sub>
                          <m:r>
                            <a:rPr lang="en-US" i="1" dirty="0" smtClean="0">
                              <a:solidFill>
                                <a:schemeClr val="tx1"/>
                              </a:solidFill>
                              <a:latin typeface="Cambria Math" panose="02040503050406030204" pitchFamily="18" charset="0"/>
                            </a:rPr>
                            <m:t>𝐴</m:t>
                          </m:r>
                        </m:sub>
                      </m:sSub>
                      <m:r>
                        <a:rPr lang="en-US" i="1" dirty="0" smtClean="0">
                          <a:solidFill>
                            <a:schemeClr val="tx1"/>
                          </a:solidFill>
                          <a:latin typeface="Cambria Math" panose="02040503050406030204" pitchFamily="18" charset="0"/>
                        </a:rPr>
                        <m:t>−</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𝜇</m:t>
                          </m:r>
                        </m:e>
                        <m:sub>
                          <m:r>
                            <a:rPr lang="en-US" i="1" dirty="0" smtClean="0">
                              <a:solidFill>
                                <a:schemeClr val="tx1"/>
                              </a:solidFill>
                              <a:latin typeface="Cambria Math" panose="02040503050406030204" pitchFamily="18" charset="0"/>
                            </a:rPr>
                            <m:t>𝐵</m:t>
                          </m:r>
                        </m:sub>
                      </m:sSub>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0</m:t>
                      </m:r>
                    </m:oMath>
                  </m:oMathPara>
                </a14:m>
                <a:endParaRPr lang="en-US" b="1" dirty="0">
                  <a:solidFill>
                    <a:schemeClr val="tx1"/>
                  </a:solidFill>
                </a:endParaRPr>
              </a:p>
              <a:p>
                <a:r>
                  <a:rPr lang="en-US" b="1" dirty="0">
                    <a:solidFill>
                      <a:schemeClr val="tx1"/>
                    </a:solidFill>
                  </a:rPr>
                  <a:t>Welch t-test</a:t>
                </a:r>
              </a:p>
              <a:p>
                <a:pPr lvl="1"/>
                <a:r>
                  <a:rPr lang="en-US" dirty="0">
                    <a:solidFill>
                      <a:schemeClr val="tx1"/>
                    </a:solidFill>
                  </a:rPr>
                  <a:t>Same mean comparison as the independent t-test, but does not assume equal variances.</a:t>
                </a:r>
              </a:p>
              <a:p>
                <a:r>
                  <a:rPr lang="en-US" b="1" dirty="0">
                    <a:solidFill>
                      <a:schemeClr val="tx1"/>
                    </a:solidFill>
                  </a:rPr>
                  <a:t>Mann–Whitney / Wilcoxon</a:t>
                </a:r>
              </a:p>
              <a:p>
                <a:pPr lvl="1"/>
                <a:r>
                  <a:rPr lang="en-US" dirty="0">
                    <a:solidFill>
                      <a:schemeClr val="tx1"/>
                    </a:solidFill>
                  </a:rPr>
                  <a:t>Rank-based </a:t>
                </a:r>
                <a:r>
                  <a:rPr lang="he-IL" dirty="0">
                    <a:solidFill>
                      <a:schemeClr val="tx1"/>
                    </a:solidFill>
                  </a:rPr>
                  <a:t>alternative</a:t>
                </a:r>
                <a:r>
                  <a:rPr lang="en-US" dirty="0">
                    <a:solidFill>
                      <a:schemeClr val="tx1"/>
                    </a:solidFill>
                  </a:rPr>
                  <a:t>s</a:t>
                </a:r>
              </a:p>
              <a:p>
                <a:endParaRPr lang="he-IL" dirty="0">
                  <a:solidFill>
                    <a:schemeClr val="tx1"/>
                  </a:solidFill>
                </a:endParaRPr>
              </a:p>
              <a:p>
                <a:endParaRPr lang="he-IL" dirty="0"/>
              </a:p>
            </p:txBody>
          </p:sp>
        </mc:Choice>
        <mc:Fallback xmlns="">
          <p:sp>
            <p:nvSpPr>
              <p:cNvPr id="3" name="Notes Placeholder 2"/>
              <p:cNvSpPr>
                <a:spLocks noGrp="1"/>
              </p:cNvSpPr>
              <p:nvPr>
                <p:ph type="body" idx="1"/>
              </p:nvPr>
            </p:nvSpPr>
            <p:spPr/>
            <p:txBody>
              <a:bodyPr/>
              <a:lstStyle/>
              <a:p>
                <a:r>
                  <a:rPr lang="en-US" b="1" dirty="0">
                    <a:solidFill>
                      <a:schemeClr val="tx1"/>
                    </a:solidFill>
                  </a:rPr>
                  <a:t>One-sample t-test</a:t>
                </a:r>
              </a:p>
              <a:p>
                <a:pPr lvl="1"/>
                <a:r>
                  <a:rPr lang="en-US" dirty="0">
                    <a:solidFill>
                      <a:schemeClr val="tx1"/>
                    </a:solidFill>
                  </a:rPr>
                  <a:t>Tests whether one mean differs from a reference value.</a:t>
                </a:r>
              </a:p>
              <a:p>
                <a:pPr marL="0" indent="0">
                  <a:buNone/>
                </a:pPr>
                <a:r>
                  <a:rPr lang="en-US" i="0" dirty="0">
                    <a:solidFill>
                      <a:schemeClr val="tx1"/>
                    </a:solidFill>
                    <a:latin typeface="Cambria Math" panose="02040503050406030204" pitchFamily="18" charset="0"/>
                  </a:rPr>
                  <a:t>𝐻_0:𝜇=𝜇_0</a:t>
                </a:r>
                <a:endParaRPr lang="en-US" b="1" dirty="0">
                  <a:solidFill>
                    <a:schemeClr val="tx1"/>
                  </a:solidFill>
                </a:endParaRPr>
              </a:p>
              <a:p>
                <a:r>
                  <a:rPr lang="en-US" b="1" dirty="0">
                    <a:solidFill>
                      <a:schemeClr val="tx1"/>
                    </a:solidFill>
                  </a:rPr>
                  <a:t>Paired t-test</a:t>
                </a:r>
                <a:endParaRPr lang="en-US" dirty="0">
                  <a:solidFill>
                    <a:schemeClr val="tx1"/>
                  </a:solidFill>
                </a:endParaRPr>
              </a:p>
              <a:p>
                <a:pPr lvl="1"/>
                <a:r>
                  <a:rPr lang="en-US" dirty="0">
                    <a:solidFill>
                      <a:schemeClr val="tx1"/>
                    </a:solidFill>
                  </a:rPr>
                  <a:t>Tests whether the mean within-subject change differs from zero.</a:t>
                </a:r>
                <a:br>
                  <a:rPr lang="en-US" dirty="0">
                    <a:solidFill>
                      <a:schemeClr val="tx1"/>
                    </a:solidFill>
                  </a:rPr>
                </a:br>
                <a:r>
                  <a:rPr lang="en-US" dirty="0">
                    <a:solidFill>
                      <a:schemeClr val="tx1"/>
                    </a:solidFill>
                  </a:rPr>
                  <a:t>One-sample t-test applied to the within-subject changes</a:t>
                </a:r>
              </a:p>
              <a:p>
                <a:pPr marL="0" indent="0">
                  <a:buNone/>
                </a:pPr>
                <a:r>
                  <a:rPr lang="en-US" i="0" dirty="0">
                    <a:solidFill>
                      <a:schemeClr val="tx1"/>
                    </a:solidFill>
                    <a:latin typeface="Cambria Math" panose="02040503050406030204" pitchFamily="18" charset="0"/>
                  </a:rPr>
                  <a:t>𝐻_0:𝜇_"change"   =0</a:t>
                </a:r>
                <a:endParaRPr lang="en-US" b="1" dirty="0">
                  <a:solidFill>
                    <a:schemeClr val="tx1"/>
                  </a:solidFill>
                </a:endParaRPr>
              </a:p>
              <a:p>
                <a:r>
                  <a:rPr lang="en-US" b="1" dirty="0">
                    <a:solidFill>
                      <a:schemeClr val="tx1"/>
                    </a:solidFill>
                  </a:rPr>
                  <a:t>Independent two-sample t-test </a:t>
                </a:r>
              </a:p>
              <a:p>
                <a:pPr lvl="1"/>
                <a:r>
                  <a:rPr lang="en-US" dirty="0">
                    <a:solidFill>
                      <a:schemeClr val="tx1"/>
                    </a:solidFill>
                  </a:rPr>
                  <a:t>Tests whether two independent group means differ.</a:t>
                </a:r>
              </a:p>
              <a:p>
                <a:pPr marL="0" indent="0">
                  <a:buNone/>
                </a:pPr>
                <a:r>
                  <a:rPr lang="en-US" i="0" dirty="0">
                    <a:solidFill>
                      <a:schemeClr val="tx1"/>
                    </a:solidFill>
                    <a:latin typeface="Cambria Math" panose="02040503050406030204" pitchFamily="18" charset="0"/>
                  </a:rPr>
                  <a:t>𝐻_0:𝜇_𝐴−𝜇_𝐵=0</a:t>
                </a:r>
                <a:endParaRPr lang="en-US" b="1" dirty="0">
                  <a:solidFill>
                    <a:schemeClr val="tx1"/>
                  </a:solidFill>
                </a:endParaRPr>
              </a:p>
              <a:p>
                <a:r>
                  <a:rPr lang="en-US" b="1" dirty="0">
                    <a:solidFill>
                      <a:schemeClr val="tx1"/>
                    </a:solidFill>
                  </a:rPr>
                  <a:t>Welch t-test</a:t>
                </a:r>
              </a:p>
              <a:p>
                <a:pPr lvl="1"/>
                <a:r>
                  <a:rPr lang="en-US" dirty="0">
                    <a:solidFill>
                      <a:schemeClr val="tx1"/>
                    </a:solidFill>
                  </a:rPr>
                  <a:t>Same mean comparison as the independent t-test, but does not assume equal variances.</a:t>
                </a:r>
              </a:p>
              <a:p>
                <a:r>
                  <a:rPr lang="en-US" b="1" dirty="0">
                    <a:solidFill>
                      <a:schemeClr val="tx1"/>
                    </a:solidFill>
                  </a:rPr>
                  <a:t>Mann–Whitney / Wilcoxon</a:t>
                </a:r>
              </a:p>
              <a:p>
                <a:pPr lvl="1"/>
                <a:r>
                  <a:rPr lang="en-US" dirty="0">
                    <a:solidFill>
                      <a:schemeClr val="tx1"/>
                    </a:solidFill>
                  </a:rPr>
                  <a:t>Rank-based </a:t>
                </a:r>
                <a:r>
                  <a:rPr lang="he-IL" dirty="0">
                    <a:solidFill>
                      <a:schemeClr val="tx1"/>
                    </a:solidFill>
                  </a:rPr>
                  <a:t>alternative</a:t>
                </a:r>
                <a:r>
                  <a:rPr lang="en-US" dirty="0">
                    <a:solidFill>
                      <a:schemeClr val="tx1"/>
                    </a:solidFill>
                  </a:rPr>
                  <a:t>s</a:t>
                </a:r>
              </a:p>
              <a:p>
                <a:endParaRPr lang="he-IL" dirty="0">
                  <a:solidFill>
                    <a:schemeClr val="tx1"/>
                  </a:solidFill>
                </a:endParaRPr>
              </a:p>
              <a:p>
                <a:endParaRPr lang="he-IL" dirty="0"/>
              </a:p>
            </p:txBody>
          </p:sp>
        </mc:Fallback>
      </mc:AlternateContent>
      <p:sp>
        <p:nvSpPr>
          <p:cNvPr id="4" name="Slide Number Placeholder 3"/>
          <p:cNvSpPr>
            <a:spLocks noGrp="1"/>
          </p:cNvSpPr>
          <p:nvPr>
            <p:ph type="sldNum" sz="quarter" idx="5"/>
          </p:nvPr>
        </p:nvSpPr>
        <p:spPr/>
        <p:txBody>
          <a:bodyPr/>
          <a:lstStyle/>
          <a:p>
            <a:fld id="{D5E2C206-B79F-4FAD-948A-1F55E500568F}" type="slidenum">
              <a:rPr lang="he-IL" smtClean="0"/>
              <a:pPr/>
              <a:t>66</a:t>
            </a:fld>
            <a:endParaRPr lang="he-IL" dirty="0"/>
          </a:p>
        </p:txBody>
      </p:sp>
    </p:spTree>
    <p:extLst>
      <p:ext uri="{BB962C8B-B14F-4D97-AF65-F5344CB8AC3E}">
        <p14:creationId xmlns:p14="http://schemas.microsoft.com/office/powerpoint/2010/main" val="29814280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txBody>
          <a:bodyPr/>
          <a:lstStyle/>
          <a:p>
            <a:endParaRPr lang="he-IL"/>
          </a:p>
        </p:txBody>
      </p:sp>
      <p:sp>
        <p:nvSpPr>
          <p:cNvPr id="3" name="מציין מיקום של הערות 2"/>
          <p:cNvSpPr>
            <a:spLocks noGrp="1"/>
          </p:cNvSpPr>
          <p:nvPr>
            <p:ph type="body" idx="1"/>
          </p:nvPr>
        </p:nvSpPr>
        <p:spPr/>
        <p:txBody>
          <a:bodyPr/>
          <a:lstStyle/>
          <a:p>
            <a:pPr algn="l" rtl="0"/>
            <a:r>
              <a:rPr lang="en-US" b="1" dirty="0"/>
              <a:t>1. "Continuous" means continuous-valued data</a:t>
            </a:r>
          </a:p>
          <a:p>
            <a:pPr algn="l" rtl="0"/>
            <a:r>
              <a:rPr lang="en-US" dirty="0"/>
              <a:t>This refers to a numeric variable that can take on any real number within a range (e.g., height, weight, reaction time).</a:t>
            </a:r>
          </a:p>
          <a:p>
            <a:pPr algn="l" rtl="0"/>
            <a:r>
              <a:rPr lang="en-US" dirty="0"/>
              <a:t>t-tests assume the outcome variable is </a:t>
            </a:r>
            <a:r>
              <a:rPr lang="en-US" b="1" dirty="0"/>
              <a:t>not categorical</a:t>
            </a:r>
            <a:r>
              <a:rPr lang="en-US" dirty="0"/>
              <a:t> or discrete (e.g., not group labels or counts).</a:t>
            </a:r>
          </a:p>
          <a:p>
            <a:pPr algn="l" rtl="0"/>
            <a:r>
              <a:rPr lang="en-US" b="1" dirty="0"/>
              <a:t>Example:</a:t>
            </a:r>
            <a:r>
              <a:rPr lang="en-US" dirty="0"/>
              <a:t> </a:t>
            </a:r>
            <a:r>
              <a:rPr lang="en-US" i="1" dirty="0" err="1"/>
              <a:t>body_mass</a:t>
            </a:r>
            <a:r>
              <a:rPr lang="en-US" i="1" dirty="0"/>
              <a:t> </a:t>
            </a:r>
            <a:r>
              <a:rPr lang="en-US" dirty="0"/>
              <a:t>in the penguins dataset is continuous.</a:t>
            </a:r>
          </a:p>
          <a:p>
            <a:pPr algn="l" rtl="0"/>
            <a:endParaRPr lang="en-US" dirty="0"/>
          </a:p>
          <a:p>
            <a:pPr algn="l" rtl="0"/>
            <a:r>
              <a:rPr lang="en-US" b="1" dirty="0"/>
              <a:t>2. Approximately normally distributed outcome</a:t>
            </a:r>
          </a:p>
          <a:p>
            <a:pPr algn="l" rtl="0"/>
            <a:r>
              <a:rPr lang="en-US" dirty="0"/>
              <a:t>For independent t-tests: both groups should have outcomes that are approximately normal.</a:t>
            </a:r>
          </a:p>
          <a:p>
            <a:pPr algn="l" rtl="0"/>
            <a:r>
              <a:rPr lang="en-US" dirty="0"/>
              <a:t>For paired t-tests: the </a:t>
            </a:r>
            <a:r>
              <a:rPr lang="en-US" b="1" dirty="0"/>
              <a:t>differences</a:t>
            </a:r>
            <a:r>
              <a:rPr lang="en-US" dirty="0"/>
              <a:t> between the paired observations (e.g., after - before) should be normally distributed.</a:t>
            </a:r>
          </a:p>
          <a:p>
            <a:pPr algn="l" rtl="0"/>
            <a:endParaRPr lang="en-US" dirty="0"/>
          </a:p>
          <a:p>
            <a:pPr algn="l" rtl="0"/>
            <a:r>
              <a:rPr lang="en-US" b="1" dirty="0"/>
              <a:t>3. Independent observations</a:t>
            </a:r>
          </a:p>
          <a:p>
            <a:pPr algn="l" rtl="0"/>
            <a:r>
              <a:rPr lang="en-US" dirty="0"/>
              <a:t>For independent t-tests, each observation must be from a different, unrelated individual or subject.</a:t>
            </a:r>
          </a:p>
          <a:p>
            <a:pPr algn="l" rtl="0"/>
            <a:r>
              <a:rPr lang="en-US" dirty="0"/>
              <a:t>Observations </a:t>
            </a:r>
            <a:r>
              <a:rPr lang="en-US" b="1" dirty="0"/>
              <a:t>within</a:t>
            </a:r>
            <a:r>
              <a:rPr lang="en-US" dirty="0"/>
              <a:t> and </a:t>
            </a:r>
            <a:r>
              <a:rPr lang="en-US" b="1" dirty="0"/>
              <a:t>between</a:t>
            </a:r>
            <a:r>
              <a:rPr lang="en-US" dirty="0"/>
              <a:t> groups must not be correlated.</a:t>
            </a:r>
          </a:p>
          <a:p>
            <a:pPr algn="l" rtl="0"/>
            <a:endParaRPr lang="en-US" dirty="0"/>
          </a:p>
          <a:p>
            <a:pPr algn="l" rtl="0"/>
            <a:r>
              <a:rPr lang="en-US" b="1" dirty="0"/>
              <a:t>4. Equal variances (homogeneity of variance)</a:t>
            </a:r>
          </a:p>
          <a:p>
            <a:pPr algn="l" rtl="0"/>
            <a:r>
              <a:rPr lang="en-US" dirty="0"/>
              <a:t>Standard t-tests assume both groups have similar variance (spread).</a:t>
            </a:r>
          </a:p>
          <a:p>
            <a:pPr algn="l" rtl="0"/>
            <a:r>
              <a:rPr lang="en-US" dirty="0"/>
              <a:t>If this isn’t true, we use the </a:t>
            </a:r>
            <a:r>
              <a:rPr lang="en-US" b="1" dirty="0"/>
              <a:t>Welch correction</a:t>
            </a:r>
            <a:r>
              <a:rPr lang="en-US" dirty="0"/>
              <a:t> (i.e., </a:t>
            </a:r>
            <a:r>
              <a:rPr lang="en-US" dirty="0" err="1"/>
              <a:t>equal_var</a:t>
            </a:r>
            <a:r>
              <a:rPr lang="en-US" dirty="0"/>
              <a:t>=False in </a:t>
            </a:r>
            <a:r>
              <a:rPr lang="en-US" dirty="0" err="1"/>
              <a:t>ttest_ind</a:t>
            </a:r>
            <a:r>
              <a:rPr lang="en-US" dirty="0"/>
              <a:t>), which relaxes this assumption:</a:t>
            </a:r>
            <a:endParaRPr lang="en-US" i="1" dirty="0"/>
          </a:p>
          <a:p>
            <a:pPr algn="l" rtl="0"/>
            <a:r>
              <a:rPr lang="en-US" i="1" dirty="0"/>
              <a:t>from </a:t>
            </a:r>
            <a:r>
              <a:rPr lang="en-US" i="1" dirty="0" err="1"/>
              <a:t>scipy</a:t>
            </a:r>
            <a:r>
              <a:rPr lang="en-US" i="1" dirty="0"/>
              <a:t> import stats</a:t>
            </a:r>
          </a:p>
          <a:p>
            <a:pPr algn="l" rtl="0"/>
            <a:r>
              <a:rPr lang="en-US" i="1" dirty="0" err="1"/>
              <a:t>stats.ttest_ind</a:t>
            </a:r>
            <a:r>
              <a:rPr lang="en-US" i="1" dirty="0"/>
              <a:t>(group1, group2, </a:t>
            </a:r>
            <a:r>
              <a:rPr lang="en-US" b="1" i="1" dirty="0" err="1"/>
              <a:t>equal_var</a:t>
            </a:r>
            <a:r>
              <a:rPr lang="en-US" b="1" i="1" dirty="0"/>
              <a:t>=False</a:t>
            </a:r>
            <a:r>
              <a:rPr lang="en-US" i="1" dirty="0"/>
              <a:t>)  # Welch’s t-test</a:t>
            </a:r>
            <a:endParaRPr lang="he-IL" i="1" dirty="0"/>
          </a:p>
        </p:txBody>
      </p:sp>
      <p:sp>
        <p:nvSpPr>
          <p:cNvPr id="4" name="מציין מיקום של מספר שקופית 3"/>
          <p:cNvSpPr>
            <a:spLocks noGrp="1"/>
          </p:cNvSpPr>
          <p:nvPr>
            <p:ph type="sldNum" sz="quarter" idx="5"/>
          </p:nvPr>
        </p:nvSpPr>
        <p:spPr/>
        <p:txBody>
          <a:bodyPr/>
          <a:lstStyle/>
          <a:p>
            <a:fld id="{A1E11DC0-99CE-47C6-901A-2977A6CAE1ED}" type="slidenum">
              <a:rPr lang="he-IL" smtClean="0"/>
              <a:t>67</a:t>
            </a:fld>
            <a:endParaRPr lang="he-IL"/>
          </a:p>
        </p:txBody>
      </p:sp>
    </p:spTree>
    <p:extLst>
      <p:ext uri="{BB962C8B-B14F-4D97-AF65-F5344CB8AC3E}">
        <p14:creationId xmlns:p14="http://schemas.microsoft.com/office/powerpoint/2010/main" val="39771260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𝑡</m:t>
                          </m:r>
                        </m:e>
                        <m:sub>
                          <m:r>
                            <a:rPr lang="en-US" i="1" dirty="0" smtClean="0">
                              <a:latin typeface="Cambria Math" panose="02040503050406030204" pitchFamily="18" charset="0"/>
                            </a:rPr>
                            <m:t>𝑑𝑓</m:t>
                          </m:r>
                        </m:sub>
                      </m:sSub>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 </m:t>
                      </m:r>
                    </m:oMath>
                  </m:oMathPara>
                </a14:m>
                <a:endParaRPr lang="en-US" dirty="0"/>
              </a:p>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𝑑𝑓</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r>
                        <a:rPr lang="en-US" b="0" i="1" dirty="0" smtClean="0">
                          <a:latin typeface="Cambria Math" panose="02040503050406030204" pitchFamily="18" charset="0"/>
                        </a:rPr>
                        <m:t>1</m:t>
                      </m:r>
                      <m:r>
                        <a:rPr lang="en-US" i="1" dirty="0" smtClean="0">
                          <a:latin typeface="Cambria Math" panose="02040503050406030204" pitchFamily="18" charset="0"/>
                        </a:rPr>
                        <m:t> </m:t>
                      </m:r>
                    </m:oMath>
                  </m:oMathPara>
                </a14:m>
                <a:br>
                  <a:rPr lang="en-US" dirty="0"/>
                </a:br>
                <a:r>
                  <a:rPr lang="he-IL" dirty="0" err="1"/>
                  <a:t>Degrees</a:t>
                </a:r>
                <a:r>
                  <a:rPr lang="he-IL" dirty="0"/>
                  <a:t> of </a:t>
                </a:r>
                <a:r>
                  <a:rPr lang="he-IL" dirty="0" err="1"/>
                  <a:t>freedom</a:t>
                </a:r>
                <a:r>
                  <a:rPr lang="he-IL" dirty="0"/>
                  <a:t> </a:t>
                </a:r>
                <a:r>
                  <a:rPr lang="he-IL" dirty="0" err="1"/>
                  <a:t>determine</a:t>
                </a:r>
                <a:r>
                  <a:rPr lang="he-IL" dirty="0"/>
                  <a:t> the shape of the </a:t>
                </a:r>
                <a14:m>
                  <m:oMath xmlns:m="http://schemas.openxmlformats.org/officeDocument/2006/math">
                    <m:r>
                      <a:rPr lang="he-IL" sz="1200" i="1" kern="1200">
                        <a:solidFill>
                          <a:schemeClr val="tx1"/>
                        </a:solidFill>
                        <a:latin typeface="Cambria Math" panose="02040503050406030204" pitchFamily="18" charset="0"/>
                        <a:ea typeface="+mn-ea"/>
                        <a:cs typeface="+mn-cs"/>
                      </a:rPr>
                      <m:t>𝑡</m:t>
                    </m:r>
                  </m:oMath>
                </a14:m>
                <a:r>
                  <a:rPr lang="he-IL" dirty="0"/>
                  <a:t>-</a:t>
                </a:r>
                <a:r>
                  <a:rPr lang="he-IL" dirty="0" err="1"/>
                  <a:t>distribution</a:t>
                </a:r>
                <a:r>
                  <a:rPr lang="he-IL" dirty="0"/>
                  <a:t>. With </a:t>
                </a:r>
                <a:r>
                  <a:rPr lang="he-IL" dirty="0" err="1"/>
                  <a:t>fewer</a:t>
                </a:r>
                <a:r>
                  <a:rPr lang="he-IL" dirty="0"/>
                  <a:t> </a:t>
                </a:r>
                <a:r>
                  <a:rPr lang="he-IL" dirty="0" err="1"/>
                  <a:t>degrees</a:t>
                </a:r>
                <a:r>
                  <a:rPr lang="he-IL" dirty="0"/>
                  <a:t> of </a:t>
                </a:r>
                <a:r>
                  <a:rPr lang="he-IL" dirty="0" err="1"/>
                  <a:t>freedom</a:t>
                </a:r>
                <a:r>
                  <a:rPr lang="he-IL" dirty="0"/>
                  <a:t>, the </a:t>
                </a:r>
                <a14:m>
                  <m:oMath xmlns:m="http://schemas.openxmlformats.org/officeDocument/2006/math">
                    <m:r>
                      <a:rPr lang="he-IL" sz="1200" i="1" kern="1200">
                        <a:solidFill>
                          <a:schemeClr val="tx1"/>
                        </a:solidFill>
                        <a:latin typeface="Cambria Math" panose="02040503050406030204" pitchFamily="18" charset="0"/>
                        <a:ea typeface="+mn-ea"/>
                        <a:cs typeface="+mn-cs"/>
                      </a:rPr>
                      <m:t>𝑡</m:t>
                    </m:r>
                  </m:oMath>
                </a14:m>
                <a:r>
                  <a:rPr lang="he-IL" dirty="0"/>
                  <a:t>-</a:t>
                </a:r>
                <a:r>
                  <a:rPr lang="he-IL" dirty="0" err="1"/>
                  <a:t>distribution</a:t>
                </a:r>
                <a:r>
                  <a:rPr lang="he-IL" dirty="0"/>
                  <a:t> </a:t>
                </a:r>
                <a:r>
                  <a:rPr lang="he-IL" dirty="0" err="1"/>
                  <a:t>has</a:t>
                </a:r>
                <a:r>
                  <a:rPr lang="he-IL" dirty="0"/>
                  <a:t> </a:t>
                </a:r>
                <a:r>
                  <a:rPr lang="he-IL" dirty="0" err="1"/>
                  <a:t>heavier</a:t>
                </a:r>
                <a:r>
                  <a:rPr lang="he-IL" dirty="0"/>
                  <a:t> </a:t>
                </a:r>
                <a:r>
                  <a:rPr lang="he-IL" dirty="0" err="1"/>
                  <a:t>tails</a:t>
                </a:r>
                <a:r>
                  <a:rPr lang="he-IL" dirty="0"/>
                  <a:t> </a:t>
                </a:r>
                <a:r>
                  <a:rPr lang="he-IL" dirty="0" err="1"/>
                  <a:t>because</a:t>
                </a:r>
                <a:r>
                  <a:rPr lang="he-IL" dirty="0"/>
                  <a:t> the </a:t>
                </a:r>
                <a:r>
                  <a:rPr lang="he-IL" dirty="0" err="1"/>
                  <a:t>standard</a:t>
                </a:r>
                <a:r>
                  <a:rPr lang="he-IL" dirty="0"/>
                  <a:t> </a:t>
                </a:r>
                <a:r>
                  <a:rPr lang="he-IL" dirty="0" err="1"/>
                  <a:t>deviation</a:t>
                </a:r>
                <a:r>
                  <a:rPr lang="he-IL" dirty="0"/>
                  <a:t> is </a:t>
                </a:r>
                <a:r>
                  <a:rPr lang="he-IL" dirty="0" err="1"/>
                  <a:t>estimated</a:t>
                </a:r>
                <a:r>
                  <a:rPr lang="he-IL" dirty="0"/>
                  <a:t> with more </a:t>
                </a:r>
                <a:r>
                  <a:rPr lang="he-IL" dirty="0" err="1"/>
                  <a:t>uncertainty</a:t>
                </a:r>
                <a:r>
                  <a:rPr lang="he-IL" dirty="0"/>
                  <a:t>.</a:t>
                </a:r>
              </a:p>
              <a:p>
                <a:endParaRPr lang="he-IL" dirty="0"/>
              </a:p>
            </p:txBody>
          </p:sp>
        </mc:Choice>
        <mc:Fallback>
          <p:sp>
            <p:nvSpPr>
              <p:cNvPr id="3" name="Notes Placeholder 2"/>
              <p:cNvSpPr>
                <a:spLocks noGrp="1"/>
              </p:cNvSpPr>
              <p:nvPr>
                <p:ph type="body" idx="1"/>
              </p:nvPr>
            </p:nvSpPr>
            <p:spPr/>
            <p:txBody>
              <a:bodyPr/>
              <a:lstStyle/>
              <a:p>
                <a:pPr/>
                <a:r>
                  <a:rPr lang="en-US" i="0" dirty="0">
                    <a:latin typeface="Cambria Math" panose="02040503050406030204" pitchFamily="18" charset="0"/>
                  </a:rPr>
                  <a:t>𝑡~𝑡_𝑑𝑓</a:t>
                </a:r>
                <a:endParaRPr lang="en-US" i="1" dirty="0">
                  <a:latin typeface="Cambria Math" panose="02040503050406030204" pitchFamily="18" charset="0"/>
                </a:endParaRPr>
              </a:p>
              <a:p>
                <a:pPr/>
                <a:r>
                  <a:rPr lang="en-US" i="0" dirty="0">
                    <a:latin typeface="Cambria Math" panose="02040503050406030204" pitchFamily="18" charset="0"/>
                  </a:rPr>
                  <a:t> </a:t>
                </a:r>
                <a:endParaRPr lang="en-US" dirty="0"/>
              </a:p>
              <a:p>
                <a:r>
                  <a:rPr lang="en-US" i="0" dirty="0">
                    <a:latin typeface="Cambria Math" panose="02040503050406030204" pitchFamily="18" charset="0"/>
                  </a:rPr>
                  <a:t>𝑑𝑓=𝑛−</a:t>
                </a:r>
                <a:r>
                  <a:rPr lang="en-US" b="0" i="0" dirty="0">
                    <a:latin typeface="Cambria Math" panose="02040503050406030204" pitchFamily="18" charset="0"/>
                  </a:rPr>
                  <a:t>1</a:t>
                </a:r>
                <a:r>
                  <a:rPr lang="en-US" i="0" dirty="0">
                    <a:latin typeface="Cambria Math" panose="02040503050406030204" pitchFamily="18" charset="0"/>
                  </a:rPr>
                  <a:t> </a:t>
                </a:r>
                <a:br>
                  <a:rPr lang="en-US" dirty="0"/>
                </a:br>
                <a:r>
                  <a:rPr lang="he-IL" dirty="0" err="1"/>
                  <a:t>Degrees</a:t>
                </a:r>
                <a:r>
                  <a:rPr lang="he-IL" dirty="0"/>
                  <a:t> of </a:t>
                </a:r>
                <a:r>
                  <a:rPr lang="he-IL" dirty="0" err="1"/>
                  <a:t>freedom</a:t>
                </a:r>
                <a:r>
                  <a:rPr lang="he-IL" dirty="0"/>
                  <a:t> </a:t>
                </a:r>
                <a:r>
                  <a:rPr lang="he-IL" dirty="0" err="1"/>
                  <a:t>determine</a:t>
                </a:r>
                <a:r>
                  <a:rPr lang="he-IL" dirty="0"/>
                  <a:t> the shape of the </a:t>
                </a:r>
                <a:r>
                  <a:rPr lang="he-IL" sz="1200" i="0" kern="1200">
                    <a:solidFill>
                      <a:schemeClr val="tx1"/>
                    </a:solidFill>
                    <a:latin typeface="Cambria Math" panose="02040503050406030204" pitchFamily="18" charset="0"/>
                    <a:ea typeface="+mn-ea"/>
                    <a:cs typeface="+mn-cs"/>
                  </a:rPr>
                  <a:t>𝑡</a:t>
                </a:r>
                <a:r>
                  <a:rPr lang="he-IL" dirty="0"/>
                  <a:t>-</a:t>
                </a:r>
                <a:r>
                  <a:rPr lang="he-IL" dirty="0" err="1"/>
                  <a:t>distribution</a:t>
                </a:r>
                <a:r>
                  <a:rPr lang="he-IL" dirty="0"/>
                  <a:t>. With </a:t>
                </a:r>
                <a:r>
                  <a:rPr lang="he-IL" dirty="0" err="1"/>
                  <a:t>fewer</a:t>
                </a:r>
                <a:r>
                  <a:rPr lang="he-IL" dirty="0"/>
                  <a:t> </a:t>
                </a:r>
                <a:r>
                  <a:rPr lang="he-IL" dirty="0" err="1"/>
                  <a:t>degrees</a:t>
                </a:r>
                <a:r>
                  <a:rPr lang="he-IL" dirty="0"/>
                  <a:t> of </a:t>
                </a:r>
                <a:r>
                  <a:rPr lang="he-IL" dirty="0" err="1"/>
                  <a:t>freedom</a:t>
                </a:r>
                <a:r>
                  <a:rPr lang="he-IL" dirty="0"/>
                  <a:t>, the </a:t>
                </a:r>
                <a:r>
                  <a:rPr lang="he-IL" sz="1200" i="0" kern="1200">
                    <a:solidFill>
                      <a:schemeClr val="tx1"/>
                    </a:solidFill>
                    <a:latin typeface="Cambria Math" panose="02040503050406030204" pitchFamily="18" charset="0"/>
                    <a:ea typeface="+mn-ea"/>
                    <a:cs typeface="+mn-cs"/>
                  </a:rPr>
                  <a:t>𝑡</a:t>
                </a:r>
                <a:r>
                  <a:rPr lang="he-IL" dirty="0"/>
                  <a:t>-</a:t>
                </a:r>
                <a:r>
                  <a:rPr lang="he-IL" dirty="0" err="1"/>
                  <a:t>distribution</a:t>
                </a:r>
                <a:r>
                  <a:rPr lang="he-IL" dirty="0"/>
                  <a:t> </a:t>
                </a:r>
                <a:r>
                  <a:rPr lang="he-IL" dirty="0" err="1"/>
                  <a:t>has</a:t>
                </a:r>
                <a:r>
                  <a:rPr lang="he-IL" dirty="0"/>
                  <a:t> </a:t>
                </a:r>
                <a:r>
                  <a:rPr lang="he-IL" dirty="0" err="1"/>
                  <a:t>heavier</a:t>
                </a:r>
                <a:r>
                  <a:rPr lang="he-IL" dirty="0"/>
                  <a:t> </a:t>
                </a:r>
                <a:r>
                  <a:rPr lang="he-IL" dirty="0" err="1"/>
                  <a:t>tails</a:t>
                </a:r>
                <a:r>
                  <a:rPr lang="he-IL" dirty="0"/>
                  <a:t> </a:t>
                </a:r>
                <a:r>
                  <a:rPr lang="he-IL" dirty="0" err="1"/>
                  <a:t>because</a:t>
                </a:r>
                <a:r>
                  <a:rPr lang="he-IL" dirty="0"/>
                  <a:t> the </a:t>
                </a:r>
                <a:r>
                  <a:rPr lang="he-IL" dirty="0" err="1"/>
                  <a:t>standard</a:t>
                </a:r>
                <a:r>
                  <a:rPr lang="he-IL" dirty="0"/>
                  <a:t> </a:t>
                </a:r>
                <a:r>
                  <a:rPr lang="he-IL" dirty="0" err="1"/>
                  <a:t>deviation</a:t>
                </a:r>
                <a:r>
                  <a:rPr lang="he-IL" dirty="0"/>
                  <a:t> is </a:t>
                </a:r>
                <a:r>
                  <a:rPr lang="he-IL" dirty="0" err="1"/>
                  <a:t>estimated</a:t>
                </a:r>
                <a:r>
                  <a:rPr lang="he-IL" dirty="0"/>
                  <a:t> with more </a:t>
                </a:r>
                <a:r>
                  <a:rPr lang="he-IL" dirty="0" err="1"/>
                  <a:t>uncertainty</a:t>
                </a:r>
                <a:r>
                  <a:rPr lang="he-IL" dirty="0"/>
                  <a:t>.</a:t>
                </a:r>
              </a:p>
              <a:p>
                <a:endParaRPr lang="he-IL" dirty="0"/>
              </a:p>
            </p:txBody>
          </p:sp>
        </mc:Fallback>
      </mc:AlternateContent>
      <p:sp>
        <p:nvSpPr>
          <p:cNvPr id="4" name="Slide Number Placeholder 3"/>
          <p:cNvSpPr>
            <a:spLocks noGrp="1"/>
          </p:cNvSpPr>
          <p:nvPr>
            <p:ph type="sldNum" sz="quarter" idx="5"/>
          </p:nvPr>
        </p:nvSpPr>
        <p:spPr/>
        <p:txBody>
          <a:bodyPr/>
          <a:lstStyle/>
          <a:p>
            <a:fld id="{D5E2C206-B79F-4FAD-948A-1F55E500568F}" type="slidenum">
              <a:rPr lang="he-IL" smtClean="0"/>
              <a:pPr/>
              <a:t>69</a:t>
            </a:fld>
            <a:endParaRPr lang="he-IL" dirty="0"/>
          </a:p>
        </p:txBody>
      </p:sp>
    </p:spTree>
    <p:extLst>
      <p:ext uri="{BB962C8B-B14F-4D97-AF65-F5344CB8AC3E}">
        <p14:creationId xmlns:p14="http://schemas.microsoft.com/office/powerpoint/2010/main" val="1921726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txBody>
          <a:bodyPr/>
          <a:lstStyle/>
          <a:p>
            <a:endParaRPr lang="he-IL"/>
          </a:p>
        </p:txBody>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A1E11DC0-99CE-47C6-901A-2977A6CAE1ED}" type="slidenum">
              <a:rPr lang="he-IL" smtClean="0"/>
              <a:t>70</a:t>
            </a:fld>
            <a:endParaRPr lang="he-IL"/>
          </a:p>
        </p:txBody>
      </p:sp>
    </p:spTree>
    <p:extLst>
      <p:ext uri="{BB962C8B-B14F-4D97-AF65-F5344CB8AC3E}">
        <p14:creationId xmlns:p14="http://schemas.microsoft.com/office/powerpoint/2010/main" val="30085998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AF328-35D5-611B-513F-24B8D2124F82}"/>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4373D3B-79DA-ACF3-18ED-FE17B510BE16}"/>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BC662690-B713-2868-6C7A-CD21C8D4A751}"/>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28EC4A2F-CF79-4B64-9529-C305CEFB406C}"/>
              </a:ext>
            </a:extLst>
          </p:cNvPr>
          <p:cNvSpPr>
            <a:spLocks noGrp="1"/>
          </p:cNvSpPr>
          <p:nvPr>
            <p:ph type="sldNum" sz="quarter" idx="5"/>
          </p:nvPr>
        </p:nvSpPr>
        <p:spPr/>
        <p:txBody>
          <a:bodyPr/>
          <a:lstStyle/>
          <a:p>
            <a:fld id="{A1E11DC0-99CE-47C6-901A-2977A6CAE1ED}" type="slidenum">
              <a:rPr lang="he-IL" smtClean="0"/>
              <a:t>71</a:t>
            </a:fld>
            <a:endParaRPr lang="he-IL"/>
          </a:p>
        </p:txBody>
      </p:sp>
    </p:spTree>
    <p:extLst>
      <p:ext uri="{BB962C8B-B14F-4D97-AF65-F5344CB8AC3E}">
        <p14:creationId xmlns:p14="http://schemas.microsoft.com/office/powerpoint/2010/main" val="15735863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FB35B-25EB-56CC-3374-EA3EA210EE2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EF9CDBC-8DCB-7B5E-626E-977CC91527C0}"/>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3E4EEBC7-9423-C0CA-6DF6-58F6FD3DFF3E}"/>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8AC45374-3B7F-A250-253F-51D79542EA7E}"/>
              </a:ext>
            </a:extLst>
          </p:cNvPr>
          <p:cNvSpPr>
            <a:spLocks noGrp="1"/>
          </p:cNvSpPr>
          <p:nvPr>
            <p:ph type="sldNum" sz="quarter" idx="5"/>
          </p:nvPr>
        </p:nvSpPr>
        <p:spPr/>
        <p:txBody>
          <a:bodyPr/>
          <a:lstStyle/>
          <a:p>
            <a:fld id="{A1E11DC0-99CE-47C6-901A-2977A6CAE1ED}" type="slidenum">
              <a:rPr lang="he-IL" smtClean="0"/>
              <a:t>72</a:t>
            </a:fld>
            <a:endParaRPr lang="he-IL"/>
          </a:p>
        </p:txBody>
      </p:sp>
    </p:spTree>
    <p:extLst>
      <p:ext uri="{BB962C8B-B14F-4D97-AF65-F5344CB8AC3E}">
        <p14:creationId xmlns:p14="http://schemas.microsoft.com/office/powerpoint/2010/main" val="8334101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AD177-C747-244A-2F8D-6878F7843A5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29DE35D-D97D-D9AA-2256-C49729B84B20}"/>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8DF7ED70-007F-7C8F-14AF-F998AA60064A}"/>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432C9C67-4806-B954-E259-526664A58EAF}"/>
              </a:ext>
            </a:extLst>
          </p:cNvPr>
          <p:cNvSpPr>
            <a:spLocks noGrp="1"/>
          </p:cNvSpPr>
          <p:nvPr>
            <p:ph type="sldNum" sz="quarter" idx="5"/>
          </p:nvPr>
        </p:nvSpPr>
        <p:spPr/>
        <p:txBody>
          <a:bodyPr/>
          <a:lstStyle/>
          <a:p>
            <a:fld id="{A1E11DC0-99CE-47C6-901A-2977A6CAE1ED}" type="slidenum">
              <a:rPr lang="he-IL" smtClean="0"/>
              <a:t>73</a:t>
            </a:fld>
            <a:endParaRPr lang="he-IL"/>
          </a:p>
        </p:txBody>
      </p:sp>
    </p:spTree>
    <p:extLst>
      <p:ext uri="{BB962C8B-B14F-4D97-AF65-F5344CB8AC3E}">
        <p14:creationId xmlns:p14="http://schemas.microsoft.com/office/powerpoint/2010/main" val="42093680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40A59-7D42-3232-CBBB-F5AFB3F5CCB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7424A19-3695-9A4D-4E4F-7B3A8A8A4432}"/>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FF7B3171-6AB2-3758-981B-B1CBF2048D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e-IL" dirty="0"/>
              <a:t>The </a:t>
            </a:r>
            <a:r>
              <a:rPr lang="he-IL" dirty="0" err="1"/>
              <a:t>Wilcoxon</a:t>
            </a:r>
            <a:r>
              <a:rPr lang="he-IL" dirty="0"/>
              <a:t> </a:t>
            </a:r>
            <a:r>
              <a:rPr lang="he-IL" dirty="0" err="1"/>
              <a:t>test</a:t>
            </a:r>
            <a:r>
              <a:rPr lang="he-IL" dirty="0"/>
              <a:t> is not the same model </a:t>
            </a:r>
            <a:r>
              <a:rPr lang="he-IL" dirty="0" err="1"/>
              <a:t>as</a:t>
            </a:r>
            <a:r>
              <a:rPr lang="he-IL" dirty="0"/>
              <a:t> the </a:t>
            </a:r>
            <a:r>
              <a:rPr lang="he-IL" dirty="0" err="1"/>
              <a:t>paired</a:t>
            </a:r>
            <a:r>
              <a:rPr lang="he-IL" dirty="0"/>
              <a:t> t-</a:t>
            </a:r>
            <a:r>
              <a:rPr lang="he-IL" dirty="0" err="1"/>
              <a:t>test</a:t>
            </a:r>
            <a:r>
              <a:rPr lang="he-IL" dirty="0"/>
              <a:t>. </a:t>
            </a:r>
            <a:r>
              <a:rPr lang="he-IL" dirty="0" err="1"/>
              <a:t>It</a:t>
            </a:r>
            <a:r>
              <a:rPr lang="he-IL" dirty="0"/>
              <a:t> is </a:t>
            </a:r>
            <a:r>
              <a:rPr lang="he-IL" dirty="0" err="1"/>
              <a:t>rank-based</a:t>
            </a:r>
            <a:r>
              <a:rPr lang="he-IL" dirty="0"/>
              <a:t>, </a:t>
            </a:r>
            <a:r>
              <a:rPr lang="he-IL" dirty="0" err="1"/>
              <a:t>so</a:t>
            </a:r>
            <a:r>
              <a:rPr lang="he-IL" dirty="0"/>
              <a:t> </a:t>
            </a:r>
            <a:r>
              <a:rPr lang="he-IL" dirty="0" err="1"/>
              <a:t>it</a:t>
            </a:r>
            <a:r>
              <a:rPr lang="he-IL" dirty="0"/>
              <a:t> </a:t>
            </a:r>
            <a:r>
              <a:rPr lang="he-IL" dirty="0" err="1"/>
              <a:t>answers</a:t>
            </a:r>
            <a:r>
              <a:rPr lang="he-IL" dirty="0"/>
              <a:t> a </a:t>
            </a:r>
            <a:r>
              <a:rPr lang="he-IL" dirty="0" err="1"/>
              <a:t>related</a:t>
            </a:r>
            <a:r>
              <a:rPr lang="he-IL" dirty="0"/>
              <a:t> </a:t>
            </a:r>
            <a:r>
              <a:rPr lang="he-IL" dirty="0" err="1"/>
              <a:t>but</a:t>
            </a:r>
            <a:r>
              <a:rPr lang="he-IL" dirty="0"/>
              <a:t> not </a:t>
            </a:r>
            <a:r>
              <a:rPr lang="he-IL" dirty="0" err="1"/>
              <a:t>identical</a:t>
            </a:r>
            <a:r>
              <a:rPr lang="he-IL" dirty="0"/>
              <a:t> question.</a:t>
            </a:r>
          </a:p>
          <a:p>
            <a:endParaRPr lang="he-IL" dirty="0"/>
          </a:p>
        </p:txBody>
      </p:sp>
      <p:sp>
        <p:nvSpPr>
          <p:cNvPr id="4" name="מציין מיקום של מספר שקופית 3">
            <a:extLst>
              <a:ext uri="{FF2B5EF4-FFF2-40B4-BE49-F238E27FC236}">
                <a16:creationId xmlns:a16="http://schemas.microsoft.com/office/drawing/2014/main" id="{7372F3FA-1E3C-54FE-F6FE-F648DE133B8A}"/>
              </a:ext>
            </a:extLst>
          </p:cNvPr>
          <p:cNvSpPr>
            <a:spLocks noGrp="1"/>
          </p:cNvSpPr>
          <p:nvPr>
            <p:ph type="sldNum" sz="quarter" idx="5"/>
          </p:nvPr>
        </p:nvSpPr>
        <p:spPr/>
        <p:txBody>
          <a:bodyPr/>
          <a:lstStyle/>
          <a:p>
            <a:fld id="{A1E11DC0-99CE-47C6-901A-2977A6CAE1ED}" type="slidenum">
              <a:rPr lang="he-IL" smtClean="0"/>
              <a:t>74</a:t>
            </a:fld>
            <a:endParaRPr lang="he-IL"/>
          </a:p>
        </p:txBody>
      </p:sp>
    </p:spTree>
    <p:extLst>
      <p:ext uri="{BB962C8B-B14F-4D97-AF65-F5344CB8AC3E}">
        <p14:creationId xmlns:p14="http://schemas.microsoft.com/office/powerpoint/2010/main" val="14053727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58BE1-4D54-82D8-52BA-F6280FE9F6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C4DB0-8DFC-AD09-991E-DFED4DC17554}"/>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12286B1-74C5-8C26-440C-B29CBA753E8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F4EE7BE3-56ED-4B3C-B776-CADF56C2A03F}"/>
              </a:ext>
            </a:extLst>
          </p:cNvPr>
          <p:cNvSpPr>
            <a:spLocks noGrp="1"/>
          </p:cNvSpPr>
          <p:nvPr>
            <p:ph type="sldNum" sz="quarter" idx="5"/>
          </p:nvPr>
        </p:nvSpPr>
        <p:spPr/>
        <p:txBody>
          <a:bodyPr/>
          <a:lstStyle/>
          <a:p>
            <a:fld id="{FA96E01F-8DBD-4634-ACB5-33D503B64F6E}" type="slidenum">
              <a:rPr lang="LID4096" smtClean="0"/>
              <a:t>75</a:t>
            </a:fld>
            <a:endParaRPr lang="LID4096"/>
          </a:p>
        </p:txBody>
      </p:sp>
    </p:spTree>
    <p:extLst>
      <p:ext uri="{BB962C8B-B14F-4D97-AF65-F5344CB8AC3E}">
        <p14:creationId xmlns:p14="http://schemas.microsoft.com/office/powerpoint/2010/main" val="18822226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BA720-249A-FEC9-7919-1A317A4EC7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69D11-5BB4-20DD-AEC8-62A3F58BAC8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E711065A-EB9D-98AE-8840-8C3B833FDF2B}"/>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D1B7707D-1A83-386B-2006-C65CEC0D833F}"/>
              </a:ext>
            </a:extLst>
          </p:cNvPr>
          <p:cNvSpPr>
            <a:spLocks noGrp="1"/>
          </p:cNvSpPr>
          <p:nvPr>
            <p:ph type="sldNum" sz="quarter" idx="5"/>
          </p:nvPr>
        </p:nvSpPr>
        <p:spPr/>
        <p:txBody>
          <a:bodyPr/>
          <a:lstStyle/>
          <a:p>
            <a:fld id="{FA96E01F-8DBD-4634-ACB5-33D503B64F6E}" type="slidenum">
              <a:rPr lang="LID4096" smtClean="0"/>
              <a:t>76</a:t>
            </a:fld>
            <a:endParaRPr lang="LID4096"/>
          </a:p>
        </p:txBody>
      </p:sp>
    </p:spTree>
    <p:extLst>
      <p:ext uri="{BB962C8B-B14F-4D97-AF65-F5344CB8AC3E}">
        <p14:creationId xmlns:p14="http://schemas.microsoft.com/office/powerpoint/2010/main" val="27981422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138E5-FDAF-66EF-513A-39EB39C9D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75E77-CC63-A25A-E5ED-3BA6EA6A2C71}"/>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3971783-8526-BA03-8BC6-0221B840968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2E752EA0-6B21-2228-D0F4-12AB20B2B5E0}"/>
              </a:ext>
            </a:extLst>
          </p:cNvPr>
          <p:cNvSpPr>
            <a:spLocks noGrp="1"/>
          </p:cNvSpPr>
          <p:nvPr>
            <p:ph type="sldNum" sz="quarter" idx="5"/>
          </p:nvPr>
        </p:nvSpPr>
        <p:spPr/>
        <p:txBody>
          <a:bodyPr/>
          <a:lstStyle/>
          <a:p>
            <a:fld id="{FA96E01F-8DBD-4634-ACB5-33D503B64F6E}" type="slidenum">
              <a:rPr lang="LID4096" smtClean="0"/>
              <a:t>77</a:t>
            </a:fld>
            <a:endParaRPr lang="LID4096"/>
          </a:p>
        </p:txBody>
      </p:sp>
    </p:spTree>
    <p:extLst>
      <p:ext uri="{BB962C8B-B14F-4D97-AF65-F5344CB8AC3E}">
        <p14:creationId xmlns:p14="http://schemas.microsoft.com/office/powerpoint/2010/main" val="15792803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E83E4-BBAF-EFB8-1A84-8D0DFDD47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E5544-9B2B-4ADA-CE35-9FD9DD358B1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DF6C6C68-F3E4-AB0D-2D42-F3CC599C147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E2082363-7F31-3910-2D1D-365F271FC32C}"/>
              </a:ext>
            </a:extLst>
          </p:cNvPr>
          <p:cNvSpPr>
            <a:spLocks noGrp="1"/>
          </p:cNvSpPr>
          <p:nvPr>
            <p:ph type="sldNum" sz="quarter" idx="5"/>
          </p:nvPr>
        </p:nvSpPr>
        <p:spPr/>
        <p:txBody>
          <a:bodyPr/>
          <a:lstStyle/>
          <a:p>
            <a:fld id="{FA96E01F-8DBD-4634-ACB5-33D503B64F6E}" type="slidenum">
              <a:rPr lang="LID4096" smtClean="0"/>
              <a:t>78</a:t>
            </a:fld>
            <a:endParaRPr lang="LID4096"/>
          </a:p>
        </p:txBody>
      </p:sp>
    </p:spTree>
    <p:extLst>
      <p:ext uri="{BB962C8B-B14F-4D97-AF65-F5344CB8AC3E}">
        <p14:creationId xmlns:p14="http://schemas.microsoft.com/office/powerpoint/2010/main" val="38599959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he-IL" dirty="0"/>
                  <a:t>The </a:t>
                </a:r>
                <a:r>
                  <a:rPr lang="he-IL" dirty="0" err="1"/>
                  <a:t>deterministic-variable</a:t>
                </a:r>
                <a:r>
                  <a:rPr lang="he-IL" dirty="0"/>
                  <a:t> </a:t>
                </a:r>
                <a:r>
                  <a:rPr lang="he-IL" dirty="0" err="1"/>
                  <a:t>trick</a:t>
                </a:r>
                <a:r>
                  <a:rPr lang="he-IL" dirty="0"/>
                  <a:t> </a:t>
                </a:r>
                <a:r>
                  <a:rPr lang="he-IL" dirty="0" err="1"/>
                  <a:t>helps</a:t>
                </a:r>
                <a:r>
                  <a:rPr lang="he-IL" dirty="0"/>
                  <a:t> </a:t>
                </a:r>
                <a:r>
                  <a:rPr lang="he-IL" dirty="0" err="1"/>
                  <a:t>when</a:t>
                </a:r>
                <a:r>
                  <a:rPr lang="he-IL" dirty="0"/>
                  <a:t> we </a:t>
                </a:r>
                <a:r>
                  <a:rPr lang="he-IL" dirty="0" err="1"/>
                  <a:t>want</a:t>
                </a:r>
                <a:r>
                  <a:rPr lang="he-IL" dirty="0"/>
                  <a:t> to </a:t>
                </a:r>
                <a:r>
                  <a:rPr lang="he-IL" dirty="0" err="1"/>
                  <a:t>define</a:t>
                </a:r>
                <a:r>
                  <a:rPr lang="he-IL" dirty="0"/>
                  <a:t> a </a:t>
                </a:r>
                <a:r>
                  <a:rPr lang="he-IL" dirty="0" err="1"/>
                  <a:t>new</a:t>
                </a:r>
                <a:r>
                  <a:rPr lang="he-IL" dirty="0"/>
                  <a:t> </a:t>
                </a:r>
                <a:r>
                  <a:rPr lang="he-IL" dirty="0" err="1"/>
                  <a:t>parameter</a:t>
                </a:r>
                <a:r>
                  <a:rPr lang="he-IL" dirty="0"/>
                  <a:t> </a:t>
                </a:r>
                <a:r>
                  <a:rPr lang="he-IL" dirty="0" err="1"/>
                  <a:t>that</a:t>
                </a:r>
                <a:r>
                  <a:rPr lang="he-IL" dirty="0"/>
                  <a:t> </a:t>
                </a:r>
                <a:r>
                  <a:rPr lang="he-IL" dirty="0" err="1"/>
                  <a:t>depends</a:t>
                </a:r>
                <a:r>
                  <a:rPr lang="he-IL" dirty="0"/>
                  <a:t> </a:t>
                </a:r>
                <a:r>
                  <a:rPr lang="he-IL" dirty="0" err="1"/>
                  <a:t>on</a:t>
                </a:r>
                <a:r>
                  <a:rPr lang="he-IL" dirty="0"/>
                  <a:t> </a:t>
                </a:r>
                <a:r>
                  <a:rPr lang="he-IL" dirty="0" err="1"/>
                  <a:t>another</a:t>
                </a:r>
                <a:r>
                  <a:rPr lang="he-IL" dirty="0"/>
                  <a:t> </a:t>
                </a:r>
                <a:r>
                  <a:rPr lang="he-IL" dirty="0" err="1"/>
                  <a:t>parameter</a:t>
                </a:r>
                <a:r>
                  <a:rPr lang="he-IL" dirty="0"/>
                  <a:t> </a:t>
                </a:r>
                <a:r>
                  <a:rPr lang="he-IL" dirty="0" err="1"/>
                  <a:t>while</a:t>
                </a:r>
                <a:r>
                  <a:rPr lang="he-IL" dirty="0"/>
                  <a:t> </a:t>
                </a:r>
                <a:r>
                  <a:rPr lang="he-IL" dirty="0" err="1"/>
                  <a:t>enforcing</a:t>
                </a:r>
                <a:r>
                  <a:rPr lang="he-IL" dirty="0"/>
                  <a:t> a </a:t>
                </a:r>
                <a:r>
                  <a:rPr lang="he-IL" dirty="0" err="1"/>
                  <a:t>mathematical</a:t>
                </a:r>
                <a:r>
                  <a:rPr lang="he-IL" dirty="0"/>
                  <a:t> </a:t>
                </a:r>
                <a:r>
                  <a:rPr lang="he-IL" dirty="0" err="1"/>
                  <a:t>constraint</a:t>
                </a:r>
                <a:r>
                  <a:rPr lang="he-IL" dirty="0"/>
                  <a:t>.</a:t>
                </a:r>
              </a:p>
              <a:p>
                <a:r>
                  <a:rPr lang="he-IL" dirty="0"/>
                  <a:t>In the </a:t>
                </a:r>
                <a:r>
                  <a:rPr lang="he-IL" dirty="0" err="1"/>
                  <a:t>Student</a:t>
                </a:r>
                <a:r>
                  <a:rPr lang="he-IL" dirty="0"/>
                  <a:t>-t model, the </a:t>
                </a:r>
                <a:r>
                  <a:rPr lang="he-IL" dirty="0" err="1"/>
                  <a:t>parameter</a:t>
                </a:r>
                <a:endParaRPr lang="he-IL" dirty="0"/>
              </a:p>
              <a:p>
                <a14:m>
                  <m:oMathPara xmlns:m="http://schemas.openxmlformats.org/officeDocument/2006/math">
                    <m:oMathParaPr>
                      <m:jc m:val="centerGroup"/>
                    </m:oMathParaPr>
                    <m:oMath xmlns:m="http://schemas.openxmlformats.org/officeDocument/2006/math">
                      <m:r>
                        <a:rPr lang="he-IL" sz="1200" i="1" kern="1200">
                          <a:solidFill>
                            <a:schemeClr val="tx1"/>
                          </a:solidFill>
                          <a:latin typeface="David" panose="020E0502060401010101" pitchFamily="34" charset="-79"/>
                          <a:ea typeface="+mn-ea"/>
                          <a:cs typeface="+mn-cs"/>
                        </a:rPr>
                        <m:t>𝜈</m:t>
                      </m:r>
                    </m:oMath>
                  </m:oMathPara>
                </a14:m>
                <a:endParaRPr lang="he-IL" dirty="0"/>
              </a:p>
              <a:p>
                <a:r>
                  <a:rPr lang="he-IL" dirty="0" err="1"/>
                  <a:t>controls</a:t>
                </a:r>
                <a:r>
                  <a:rPr lang="he-IL" dirty="0"/>
                  <a:t> the </a:t>
                </a:r>
                <a:r>
                  <a:rPr lang="he-IL" dirty="0" err="1"/>
                  <a:t>tail</a:t>
                </a:r>
                <a:r>
                  <a:rPr lang="he-IL" dirty="0"/>
                  <a:t> </a:t>
                </a:r>
                <a:r>
                  <a:rPr lang="he-IL" dirty="0" err="1"/>
                  <a:t>thickness</a:t>
                </a:r>
                <a:r>
                  <a:rPr lang="he-IL" dirty="0"/>
                  <a:t>. </a:t>
                </a:r>
                <a:r>
                  <a:rPr lang="he-IL" dirty="0" err="1"/>
                  <a:t>But</a:t>
                </a:r>
                <a:r>
                  <a:rPr lang="he-IL" dirty="0"/>
                  <a:t> </a:t>
                </a:r>
                <a14:m>
                  <m:oMath xmlns:m="http://schemas.openxmlformats.org/officeDocument/2006/math">
                    <m:r>
                      <a:rPr lang="he-IL" sz="1200" i="1" kern="1200">
                        <a:solidFill>
                          <a:schemeClr val="tx1"/>
                        </a:solidFill>
                        <a:latin typeface="David" panose="020E0502060401010101" pitchFamily="34" charset="-79"/>
                        <a:ea typeface="+mn-ea"/>
                        <a:cs typeface="+mn-cs"/>
                      </a:rPr>
                      <m:t>𝜈</m:t>
                    </m:r>
                  </m:oMath>
                </a14:m>
                <a:r>
                  <a:rPr lang="he-IL" dirty="0" err="1"/>
                  <a:t>must</a:t>
                </a:r>
                <a:r>
                  <a:rPr lang="he-IL" dirty="0"/>
                  <a:t> </a:t>
                </a:r>
                <a:r>
                  <a:rPr lang="he-IL" dirty="0" err="1"/>
                  <a:t>be</a:t>
                </a:r>
                <a:r>
                  <a:rPr lang="he-IL" dirty="0"/>
                  <a:t> </a:t>
                </a:r>
                <a:r>
                  <a:rPr lang="he-IL" dirty="0" err="1"/>
                  <a:t>positive</a:t>
                </a:r>
                <a:r>
                  <a:rPr lang="he-IL" dirty="0"/>
                  <a:t>, and </a:t>
                </a:r>
                <a:r>
                  <a:rPr lang="he-IL" dirty="0" err="1"/>
                  <a:t>usually</a:t>
                </a:r>
                <a:r>
                  <a:rPr lang="he-IL" dirty="0"/>
                  <a:t> we </a:t>
                </a:r>
                <a:r>
                  <a:rPr lang="he-IL" dirty="0" err="1"/>
                  <a:t>want</a:t>
                </a:r>
                <a:r>
                  <a:rPr lang="he-IL" dirty="0"/>
                  <a:t> </a:t>
                </a:r>
                <a:r>
                  <a:rPr lang="he-IL" dirty="0" err="1"/>
                  <a:t>it</a:t>
                </a:r>
                <a:r>
                  <a:rPr lang="he-IL" dirty="0"/>
                  <a:t> to </a:t>
                </a:r>
                <a:r>
                  <a:rPr lang="he-IL" dirty="0" err="1"/>
                  <a:t>be</a:t>
                </a:r>
                <a:r>
                  <a:rPr lang="he-IL" dirty="0"/>
                  <a:t> </a:t>
                </a:r>
                <a:r>
                  <a:rPr lang="he-IL" dirty="0" err="1"/>
                  <a:t>larger</a:t>
                </a:r>
                <a:r>
                  <a:rPr lang="he-IL" dirty="0"/>
                  <a:t> </a:t>
                </a:r>
                <a:r>
                  <a:rPr lang="he-IL" dirty="0" err="1"/>
                  <a:t>than</a:t>
                </a:r>
                <a:r>
                  <a:rPr lang="he-IL" dirty="0"/>
                  <a:t> 1.</a:t>
                </a:r>
              </a:p>
              <a:p>
                <a:r>
                  <a:rPr lang="he-IL" dirty="0" err="1"/>
                  <a:t>Instead</a:t>
                </a:r>
                <a:r>
                  <a:rPr lang="he-IL" dirty="0"/>
                  <a:t> of sampling </a:t>
                </a:r>
                <a14:m>
                  <m:oMath xmlns:m="http://schemas.openxmlformats.org/officeDocument/2006/math">
                    <m:r>
                      <a:rPr lang="he-IL" sz="1200" i="1" kern="1200">
                        <a:solidFill>
                          <a:schemeClr val="tx1"/>
                        </a:solidFill>
                        <a:latin typeface="David" panose="020E0502060401010101" pitchFamily="34" charset="-79"/>
                        <a:ea typeface="+mn-ea"/>
                        <a:cs typeface="+mn-cs"/>
                      </a:rPr>
                      <m:t>𝜈</m:t>
                    </m:r>
                  </m:oMath>
                </a14:m>
                <a:r>
                  <a:rPr lang="he-IL" dirty="0" err="1"/>
                  <a:t>directly</a:t>
                </a:r>
                <a:r>
                  <a:rPr lang="he-IL" dirty="0"/>
                  <a:t>, we </a:t>
                </a:r>
                <a:r>
                  <a:rPr lang="he-IL" dirty="0" err="1"/>
                  <a:t>define</a:t>
                </a:r>
                <a:r>
                  <a:rPr lang="he-IL" dirty="0"/>
                  <a:t>:</a:t>
                </a:r>
              </a:p>
              <a:p>
                <a14:m>
                  <m:oMathPara xmlns:m="http://schemas.openxmlformats.org/officeDocument/2006/math">
                    <m:oMathParaPr>
                      <m:jc m:val="centerGroup"/>
                    </m:oMathParaPr>
                    <m:oMath xmlns:m="http://schemas.openxmlformats.org/officeDocument/2006/math">
                      <m:sSub>
                        <m:sSubPr>
                          <m:ctrlPr>
                            <a:rPr lang="he-IL" sz="1200" kern="1200">
                              <a:solidFill>
                                <a:schemeClr val="tx1"/>
                              </a:solidFill>
                              <a:latin typeface="David" panose="020E0502060401010101" pitchFamily="34" charset="-79"/>
                              <a:ea typeface="+mn-ea"/>
                              <a:cs typeface="+mn-cs"/>
                            </a:rPr>
                          </m:ctrlPr>
                        </m:sSubPr>
                        <m:e>
                          <m:r>
                            <a:rPr lang="he-IL" sz="1200" i="1" kern="1200">
                              <a:solidFill>
                                <a:schemeClr val="tx1"/>
                              </a:solidFill>
                              <a:latin typeface="David" panose="020E0502060401010101" pitchFamily="34" charset="-79"/>
                              <a:ea typeface="+mn-ea"/>
                              <a:cs typeface="+mn-cs"/>
                            </a:rPr>
                            <m:t>𝜈</m:t>
                          </m:r>
                        </m:e>
                        <m:sub>
                          <m:r>
                            <m:rPr>
                              <m:nor/>
                            </m:rPr>
                            <a:rPr lang="he-IL" sz="1200" b="0" i="1" kern="1200">
                              <a:solidFill>
                                <a:schemeClr val="tx1"/>
                              </a:solidFill>
                              <a:latin typeface="David" panose="020E0502060401010101" pitchFamily="34" charset="-79"/>
                              <a:ea typeface="+mn-ea"/>
                              <a:cs typeface="+mn-cs"/>
                            </a:rPr>
                            <m:t>minus</m:t>
                          </m:r>
                          <m:r>
                            <m:rPr>
                              <m:nor/>
                            </m:rPr>
                            <a:rPr lang="he-IL" sz="1200" b="0" i="1" kern="1200">
                              <a:solidFill>
                                <a:schemeClr val="tx1"/>
                              </a:solidFill>
                              <a:latin typeface="David" panose="020E0502060401010101" pitchFamily="34" charset="-79"/>
                              <a:ea typeface="+mn-ea"/>
                              <a:cs typeface="+mn-cs"/>
                            </a:rPr>
                            <m:t> </m:t>
                          </m:r>
                          <m:r>
                            <m:rPr>
                              <m:nor/>
                            </m:rPr>
                            <a:rPr lang="he-IL" sz="1200" b="0" i="1" kern="1200">
                              <a:solidFill>
                                <a:schemeClr val="tx1"/>
                              </a:solidFill>
                              <a:latin typeface="David" panose="020E0502060401010101" pitchFamily="34" charset="-79"/>
                              <a:ea typeface="+mn-ea"/>
                              <a:cs typeface="+mn-cs"/>
                            </a:rPr>
                            <m:t>one</m:t>
                          </m:r>
                        </m:sub>
                      </m:sSub>
                      <m:r>
                        <a:rPr lang="he-IL" sz="1200" b="0" i="0" kern="1200">
                          <a:solidFill>
                            <a:schemeClr val="tx1"/>
                          </a:solidFill>
                          <a:latin typeface="David" panose="020E0502060401010101" pitchFamily="34" charset="-79"/>
                          <a:ea typeface="+mn-ea"/>
                          <a:cs typeface="+mn-cs"/>
                        </a:rPr>
                        <m:t>∼</m:t>
                      </m:r>
                      <m:r>
                        <m:rPr>
                          <m:nor/>
                        </m:rPr>
                        <a:rPr lang="he-IL" sz="1200" b="0" i="1" kern="1200">
                          <a:solidFill>
                            <a:schemeClr val="tx1"/>
                          </a:solidFill>
                          <a:latin typeface="David" panose="020E0502060401010101" pitchFamily="34" charset="-79"/>
                          <a:ea typeface="+mn-ea"/>
                          <a:cs typeface="+mn-cs"/>
                        </a:rPr>
                        <m:t>Exponential</m:t>
                      </m:r>
                    </m:oMath>
                  </m:oMathPara>
                </a14:m>
                <a:endParaRPr lang="he-IL" b="0" dirty="0"/>
              </a:p>
              <a:p>
                <a:r>
                  <a:rPr lang="he-IL" dirty="0"/>
                  <a:t>and </a:t>
                </a:r>
                <a:r>
                  <a:rPr lang="he-IL" dirty="0" err="1"/>
                  <a:t>then</a:t>
                </a:r>
                <a:r>
                  <a:rPr lang="he-IL" dirty="0"/>
                  <a:t>:</a:t>
                </a:r>
              </a:p>
              <a:p>
                <a14:m>
                  <m:oMathPara xmlns:m="http://schemas.openxmlformats.org/officeDocument/2006/math">
                    <m:oMathParaPr>
                      <m:jc m:val="centerGroup"/>
                    </m:oMathParaPr>
                    <m:oMath xmlns:m="http://schemas.openxmlformats.org/officeDocument/2006/math">
                      <m:r>
                        <a:rPr lang="he-IL" sz="1200" i="1" kern="1200">
                          <a:solidFill>
                            <a:schemeClr val="tx1"/>
                          </a:solidFill>
                          <a:latin typeface="David" panose="020E0502060401010101" pitchFamily="34" charset="-79"/>
                          <a:ea typeface="+mn-ea"/>
                          <a:cs typeface="+mn-cs"/>
                        </a:rPr>
                        <m:t>𝜈</m:t>
                      </m:r>
                      <m:r>
                        <a:rPr lang="he-IL" sz="1200" i="0" kern="1200">
                          <a:solidFill>
                            <a:schemeClr val="tx1"/>
                          </a:solidFill>
                          <a:latin typeface="David" panose="020E0502060401010101" pitchFamily="34" charset="-79"/>
                          <a:ea typeface="+mn-ea"/>
                          <a:cs typeface="+mn-cs"/>
                        </a:rPr>
                        <m:t>=</m:t>
                      </m:r>
                      <m:sSub>
                        <m:sSubPr>
                          <m:ctrlPr>
                            <a:rPr lang="he-IL" sz="1200" i="1" kern="1200">
                              <a:solidFill>
                                <a:schemeClr val="tx1"/>
                              </a:solidFill>
                              <a:latin typeface="David" panose="020E0502060401010101" pitchFamily="34" charset="-79"/>
                              <a:ea typeface="+mn-ea"/>
                              <a:cs typeface="+mn-cs"/>
                            </a:rPr>
                          </m:ctrlPr>
                        </m:sSubPr>
                        <m:e>
                          <m:r>
                            <a:rPr lang="he-IL" sz="1200" i="1" kern="1200">
                              <a:solidFill>
                                <a:schemeClr val="tx1"/>
                              </a:solidFill>
                              <a:latin typeface="David" panose="020E0502060401010101" pitchFamily="34" charset="-79"/>
                              <a:ea typeface="+mn-ea"/>
                              <a:cs typeface="+mn-cs"/>
                            </a:rPr>
                            <m:t>𝜈</m:t>
                          </m:r>
                        </m:e>
                        <m:sub>
                          <m:r>
                            <m:rPr>
                              <m:nor/>
                            </m:rPr>
                            <a:rPr lang="he-IL" sz="1200" b="0" i="1" kern="1200">
                              <a:solidFill>
                                <a:schemeClr val="tx1"/>
                              </a:solidFill>
                              <a:latin typeface="David" panose="020E0502060401010101" pitchFamily="34" charset="-79"/>
                              <a:ea typeface="+mn-ea"/>
                              <a:cs typeface="+mn-cs"/>
                            </a:rPr>
                            <m:t>minus</m:t>
                          </m:r>
                          <m:r>
                            <m:rPr>
                              <m:nor/>
                            </m:rPr>
                            <a:rPr lang="he-IL" sz="1200" b="0" i="1" kern="1200">
                              <a:solidFill>
                                <a:schemeClr val="tx1"/>
                              </a:solidFill>
                              <a:latin typeface="David" panose="020E0502060401010101" pitchFamily="34" charset="-79"/>
                              <a:ea typeface="+mn-ea"/>
                              <a:cs typeface="+mn-cs"/>
                            </a:rPr>
                            <m:t> </m:t>
                          </m:r>
                          <m:r>
                            <m:rPr>
                              <m:nor/>
                            </m:rPr>
                            <a:rPr lang="he-IL" sz="1200" b="0" i="1" kern="1200">
                              <a:solidFill>
                                <a:schemeClr val="tx1"/>
                              </a:solidFill>
                              <a:latin typeface="David" panose="020E0502060401010101" pitchFamily="34" charset="-79"/>
                              <a:ea typeface="+mn-ea"/>
                              <a:cs typeface="+mn-cs"/>
                            </a:rPr>
                            <m:t>one</m:t>
                          </m:r>
                        </m:sub>
                      </m:sSub>
                      <m:r>
                        <a:rPr lang="he-IL" sz="1200" b="0" i="0" kern="1200">
                          <a:solidFill>
                            <a:schemeClr val="tx1"/>
                          </a:solidFill>
                          <a:latin typeface="David" panose="020E0502060401010101" pitchFamily="34" charset="-79"/>
                          <a:ea typeface="+mn-ea"/>
                          <a:cs typeface="+mn-cs"/>
                        </a:rPr>
                        <m:t>+</m:t>
                      </m:r>
                      <m:r>
                        <a:rPr lang="he-IL" sz="1200" b="0" i="0" kern="1200">
                          <a:solidFill>
                            <a:schemeClr val="tx1"/>
                          </a:solidFill>
                          <a:latin typeface="David" panose="020E0502060401010101" pitchFamily="34" charset="-79"/>
                          <a:ea typeface="+mn-ea"/>
                          <a:cs typeface="+mn-cs"/>
                        </a:rPr>
                        <m:t>1</m:t>
                      </m:r>
                    </m:oMath>
                  </m:oMathPara>
                </a14:m>
                <a:endParaRPr lang="he-IL" b="0" dirty="0"/>
              </a:p>
              <a:p>
                <a:r>
                  <a:rPr lang="he-IL" dirty="0" err="1"/>
                  <a:t>Because</a:t>
                </a:r>
                <a:r>
                  <a:rPr lang="he-IL" dirty="0"/>
                  <a:t> the </a:t>
                </a:r>
                <a:r>
                  <a:rPr lang="he-IL" dirty="0" err="1"/>
                  <a:t>Exponential</a:t>
                </a:r>
                <a:r>
                  <a:rPr lang="he-IL" dirty="0"/>
                  <a:t> </a:t>
                </a:r>
                <a:r>
                  <a:rPr lang="he-IL" dirty="0" err="1"/>
                  <a:t>distribution</a:t>
                </a:r>
                <a:r>
                  <a:rPr lang="he-IL" dirty="0"/>
                  <a:t> only </a:t>
                </a:r>
                <a:r>
                  <a:rPr lang="he-IL" dirty="0" err="1"/>
                  <a:t>produces</a:t>
                </a:r>
                <a:r>
                  <a:rPr lang="he-IL" dirty="0"/>
                  <a:t> </a:t>
                </a:r>
                <a:r>
                  <a:rPr lang="he-IL" dirty="0" err="1"/>
                  <a:t>positive</a:t>
                </a:r>
                <a:r>
                  <a:rPr lang="he-IL" dirty="0"/>
                  <a:t> </a:t>
                </a:r>
                <a:r>
                  <a:rPr lang="he-IL" dirty="0" err="1"/>
                  <a:t>values</a:t>
                </a:r>
                <a:r>
                  <a:rPr lang="he-IL" dirty="0"/>
                  <a:t>,</a:t>
                </a:r>
              </a:p>
              <a:p>
                <a14:m>
                  <m:oMathPara xmlns:m="http://schemas.openxmlformats.org/officeDocument/2006/math">
                    <m:oMathParaPr>
                      <m:jc m:val="centerGroup"/>
                    </m:oMathParaPr>
                    <m:oMath xmlns:m="http://schemas.openxmlformats.org/officeDocument/2006/math">
                      <m:sSub>
                        <m:sSubPr>
                          <m:ctrlPr>
                            <a:rPr lang="he-IL" sz="1200" kern="1200">
                              <a:solidFill>
                                <a:schemeClr val="tx1"/>
                              </a:solidFill>
                              <a:latin typeface="David" panose="020E0502060401010101" pitchFamily="34" charset="-79"/>
                              <a:ea typeface="+mn-ea"/>
                              <a:cs typeface="+mn-cs"/>
                            </a:rPr>
                          </m:ctrlPr>
                        </m:sSubPr>
                        <m:e>
                          <m:r>
                            <a:rPr lang="he-IL" sz="1200" i="1" kern="1200">
                              <a:solidFill>
                                <a:schemeClr val="tx1"/>
                              </a:solidFill>
                              <a:latin typeface="David" panose="020E0502060401010101" pitchFamily="34" charset="-79"/>
                              <a:ea typeface="+mn-ea"/>
                              <a:cs typeface="+mn-cs"/>
                            </a:rPr>
                            <m:t>𝜈</m:t>
                          </m:r>
                        </m:e>
                        <m:sub>
                          <m:r>
                            <m:rPr>
                              <m:nor/>
                            </m:rPr>
                            <a:rPr lang="he-IL" sz="1200" b="0" i="1" kern="1200">
                              <a:solidFill>
                                <a:schemeClr val="tx1"/>
                              </a:solidFill>
                              <a:latin typeface="David" panose="020E0502060401010101" pitchFamily="34" charset="-79"/>
                              <a:ea typeface="+mn-ea"/>
                              <a:cs typeface="+mn-cs"/>
                            </a:rPr>
                            <m:t>minus</m:t>
                          </m:r>
                          <m:r>
                            <m:rPr>
                              <m:nor/>
                            </m:rPr>
                            <a:rPr lang="he-IL" sz="1200" b="0" i="1" kern="1200">
                              <a:solidFill>
                                <a:schemeClr val="tx1"/>
                              </a:solidFill>
                              <a:latin typeface="David" panose="020E0502060401010101" pitchFamily="34" charset="-79"/>
                              <a:ea typeface="+mn-ea"/>
                              <a:cs typeface="+mn-cs"/>
                            </a:rPr>
                            <m:t> </m:t>
                          </m:r>
                          <m:r>
                            <m:rPr>
                              <m:nor/>
                            </m:rPr>
                            <a:rPr lang="he-IL" sz="1200" b="0" i="1" kern="1200">
                              <a:solidFill>
                                <a:schemeClr val="tx1"/>
                              </a:solidFill>
                              <a:latin typeface="David" panose="020E0502060401010101" pitchFamily="34" charset="-79"/>
                              <a:ea typeface="+mn-ea"/>
                              <a:cs typeface="+mn-cs"/>
                            </a:rPr>
                            <m:t>one</m:t>
                          </m:r>
                        </m:sub>
                      </m:sSub>
                      <m:r>
                        <a:rPr lang="he-IL" sz="1200" b="0" i="0" kern="1200">
                          <a:solidFill>
                            <a:schemeClr val="tx1"/>
                          </a:solidFill>
                          <a:latin typeface="David" panose="020E0502060401010101" pitchFamily="34" charset="-79"/>
                          <a:ea typeface="+mn-ea"/>
                          <a:cs typeface="+mn-cs"/>
                        </a:rPr>
                        <m:t>&gt;</m:t>
                      </m:r>
                      <m:r>
                        <a:rPr lang="he-IL" sz="1200" b="0" i="0" kern="1200">
                          <a:solidFill>
                            <a:schemeClr val="tx1"/>
                          </a:solidFill>
                          <a:latin typeface="David" panose="020E0502060401010101" pitchFamily="34" charset="-79"/>
                          <a:ea typeface="+mn-ea"/>
                          <a:cs typeface="+mn-cs"/>
                        </a:rPr>
                        <m:t>0</m:t>
                      </m:r>
                    </m:oMath>
                  </m:oMathPara>
                </a14:m>
                <a:endParaRPr lang="he-IL" b="0" dirty="0"/>
              </a:p>
              <a:p>
                <a:r>
                  <a:rPr lang="he-IL" dirty="0" err="1"/>
                  <a:t>adding</a:t>
                </a:r>
                <a:r>
                  <a:rPr lang="he-IL" dirty="0"/>
                  <a:t> 1 </a:t>
                </a:r>
                <a:r>
                  <a:rPr lang="he-IL" dirty="0" err="1"/>
                  <a:t>guarantees</a:t>
                </a:r>
                <a:r>
                  <a:rPr lang="he-IL" dirty="0"/>
                  <a:t> </a:t>
                </a:r>
                <a:r>
                  <a:rPr lang="he-IL" dirty="0" err="1"/>
                  <a:t>that</a:t>
                </a:r>
                <a:r>
                  <a:rPr lang="he-IL" dirty="0"/>
                  <a:t>:</a:t>
                </a:r>
              </a:p>
              <a:p>
                <a14:m>
                  <m:oMathPara xmlns:m="http://schemas.openxmlformats.org/officeDocument/2006/math">
                    <m:oMathParaPr>
                      <m:jc m:val="centerGroup"/>
                    </m:oMathParaPr>
                    <m:oMath xmlns:m="http://schemas.openxmlformats.org/officeDocument/2006/math">
                      <m:r>
                        <a:rPr lang="he-IL" sz="1200" i="1" kern="1200">
                          <a:solidFill>
                            <a:schemeClr val="tx1"/>
                          </a:solidFill>
                          <a:latin typeface="David" panose="020E0502060401010101" pitchFamily="34" charset="-79"/>
                          <a:ea typeface="+mn-ea"/>
                          <a:cs typeface="+mn-cs"/>
                        </a:rPr>
                        <m:t>𝜈</m:t>
                      </m:r>
                      <m:r>
                        <a:rPr lang="he-IL" sz="1200" i="0" kern="1200">
                          <a:solidFill>
                            <a:schemeClr val="tx1"/>
                          </a:solidFill>
                          <a:latin typeface="David" panose="020E0502060401010101" pitchFamily="34" charset="-79"/>
                          <a:ea typeface="+mn-ea"/>
                          <a:cs typeface="+mn-cs"/>
                        </a:rPr>
                        <m:t>&gt;</m:t>
                      </m:r>
                      <m:r>
                        <a:rPr lang="he-IL" sz="1200" i="0" kern="1200">
                          <a:solidFill>
                            <a:schemeClr val="tx1"/>
                          </a:solidFill>
                          <a:latin typeface="David" panose="020E0502060401010101" pitchFamily="34" charset="-79"/>
                          <a:ea typeface="+mn-ea"/>
                          <a:cs typeface="+mn-cs"/>
                        </a:rPr>
                        <m:t>1</m:t>
                      </m:r>
                    </m:oMath>
                  </m:oMathPara>
                </a14:m>
                <a:endParaRPr lang="he-IL" dirty="0"/>
              </a:p>
              <a:p>
                <a:r>
                  <a:rPr lang="he-IL" dirty="0" err="1"/>
                  <a:t>So</a:t>
                </a:r>
                <a:r>
                  <a:rPr lang="he-IL" dirty="0"/>
                  <a:t> </a:t>
                </a:r>
                <a:r>
                  <a:rPr lang="he-IL" dirty="0" err="1"/>
                  <a:t>this</a:t>
                </a:r>
                <a:r>
                  <a:rPr lang="he-IL" dirty="0"/>
                  <a:t> </a:t>
                </a:r>
                <a:r>
                  <a:rPr lang="he-IL" dirty="0" err="1"/>
                  <a:t>trick</a:t>
                </a:r>
                <a:r>
                  <a:rPr lang="he-IL" dirty="0"/>
                  <a:t> </a:t>
                </a:r>
                <a:r>
                  <a:rPr lang="he-IL" dirty="0" err="1"/>
                  <a:t>lets</a:t>
                </a:r>
                <a:r>
                  <a:rPr lang="he-IL" dirty="0"/>
                  <a:t> </a:t>
                </a:r>
                <a:r>
                  <a:rPr lang="he-IL" dirty="0" err="1"/>
                  <a:t>us</a:t>
                </a:r>
                <a:r>
                  <a:rPr lang="he-IL" dirty="0"/>
                  <a:t> </a:t>
                </a:r>
                <a:r>
                  <a:rPr lang="he-IL" dirty="0" err="1"/>
                  <a:t>enforce</a:t>
                </a:r>
                <a:r>
                  <a:rPr lang="he-IL" dirty="0"/>
                  <a:t> the </a:t>
                </a:r>
                <a:r>
                  <a:rPr lang="he-IL" dirty="0" err="1"/>
                  <a:t>constraint</a:t>
                </a:r>
                <a:r>
                  <a:rPr lang="he-IL" dirty="0"/>
                  <a:t> </a:t>
                </a:r>
                <a:r>
                  <a:rPr lang="he-IL" dirty="0" err="1"/>
                  <a:t>on</a:t>
                </a:r>
                <a:r>
                  <a:rPr lang="he-IL" dirty="0"/>
                  <a:t> </a:t>
                </a:r>
                <a14:m>
                  <m:oMath xmlns:m="http://schemas.openxmlformats.org/officeDocument/2006/math">
                    <m:r>
                      <a:rPr lang="he-IL" sz="1200" i="1" kern="1200">
                        <a:solidFill>
                          <a:schemeClr val="tx1"/>
                        </a:solidFill>
                        <a:latin typeface="David" panose="020E0502060401010101" pitchFamily="34" charset="-79"/>
                        <a:ea typeface="+mn-ea"/>
                        <a:cs typeface="+mn-cs"/>
                      </a:rPr>
                      <m:t>𝜈</m:t>
                    </m:r>
                  </m:oMath>
                </a14:m>
                <a:r>
                  <a:rPr lang="he-IL" dirty="0" err="1"/>
                  <a:t>while</a:t>
                </a:r>
                <a:r>
                  <a:rPr lang="he-IL" dirty="0"/>
                  <a:t> </a:t>
                </a:r>
                <a:r>
                  <a:rPr lang="he-IL" dirty="0" err="1"/>
                  <a:t>still</a:t>
                </a:r>
                <a:r>
                  <a:rPr lang="he-IL" dirty="0"/>
                  <a:t> </a:t>
                </a:r>
                <a:r>
                  <a:rPr lang="he-IL" dirty="0" err="1"/>
                  <a:t>keeping</a:t>
                </a:r>
                <a:r>
                  <a:rPr lang="he-IL" dirty="0"/>
                  <a:t> the model </a:t>
                </a:r>
                <a:r>
                  <a:rPr lang="he-IL" dirty="0" err="1"/>
                  <a:t>easy</a:t>
                </a:r>
                <a:r>
                  <a:rPr lang="he-IL" dirty="0"/>
                  <a:t> to sample and </a:t>
                </a:r>
                <a:r>
                  <a:rPr lang="he-IL" dirty="0" err="1"/>
                  <a:t>interpret</a:t>
                </a:r>
                <a:r>
                  <a:rPr lang="he-IL" dirty="0"/>
                  <a:t>. The model </a:t>
                </a:r>
                <a:r>
                  <a:rPr lang="he-IL" dirty="0" err="1"/>
                  <a:t>samples</a:t>
                </a:r>
                <a:r>
                  <a:rPr lang="he-IL" dirty="0"/>
                  <a:t> </a:t>
                </a:r>
                <a14:m>
                  <m:oMath xmlns:m="http://schemas.openxmlformats.org/officeDocument/2006/math">
                    <m:sSub>
                      <m:sSubPr>
                        <m:ctrlPr>
                          <a:rPr lang="he-IL" sz="1200" kern="1200">
                            <a:solidFill>
                              <a:schemeClr val="tx1"/>
                            </a:solidFill>
                            <a:latin typeface="David" panose="020E0502060401010101" pitchFamily="34" charset="-79"/>
                            <a:ea typeface="+mn-ea"/>
                            <a:cs typeface="+mn-cs"/>
                          </a:rPr>
                        </m:ctrlPr>
                      </m:sSubPr>
                      <m:e>
                        <m:r>
                          <a:rPr lang="he-IL" sz="1200" i="1" kern="1200">
                            <a:solidFill>
                              <a:schemeClr val="tx1"/>
                            </a:solidFill>
                            <a:latin typeface="David" panose="020E0502060401010101" pitchFamily="34" charset="-79"/>
                            <a:ea typeface="+mn-ea"/>
                            <a:cs typeface="+mn-cs"/>
                          </a:rPr>
                          <m:t>𝜈</m:t>
                        </m:r>
                      </m:e>
                      <m:sub>
                        <m:r>
                          <m:rPr>
                            <m:nor/>
                          </m:rPr>
                          <a:rPr lang="he-IL" sz="1200" b="0" i="1" kern="1200">
                            <a:solidFill>
                              <a:schemeClr val="tx1"/>
                            </a:solidFill>
                            <a:latin typeface="David" panose="020E0502060401010101" pitchFamily="34" charset="-79"/>
                            <a:ea typeface="+mn-ea"/>
                            <a:cs typeface="+mn-cs"/>
                          </a:rPr>
                          <m:t>minus</m:t>
                        </m:r>
                        <m:r>
                          <m:rPr>
                            <m:nor/>
                          </m:rPr>
                          <a:rPr lang="he-IL" sz="1200" b="0" i="1" kern="1200">
                            <a:solidFill>
                              <a:schemeClr val="tx1"/>
                            </a:solidFill>
                            <a:latin typeface="David" panose="020E0502060401010101" pitchFamily="34" charset="-79"/>
                            <a:ea typeface="+mn-ea"/>
                            <a:cs typeface="+mn-cs"/>
                          </a:rPr>
                          <m:t> </m:t>
                        </m:r>
                        <m:r>
                          <m:rPr>
                            <m:nor/>
                          </m:rPr>
                          <a:rPr lang="he-IL" sz="1200" b="0" i="1" kern="1200">
                            <a:solidFill>
                              <a:schemeClr val="tx1"/>
                            </a:solidFill>
                            <a:latin typeface="David" panose="020E0502060401010101" pitchFamily="34" charset="-79"/>
                            <a:ea typeface="+mn-ea"/>
                            <a:cs typeface="+mn-cs"/>
                          </a:rPr>
                          <m:t>one</m:t>
                        </m:r>
                      </m:sub>
                    </m:sSub>
                  </m:oMath>
                </a14:m>
                <a:r>
                  <a:rPr lang="he-IL" dirty="0"/>
                  <a:t>, and </a:t>
                </a:r>
                <a:r>
                  <a:rPr lang="he-IL" sz="1200" kern="1200" dirty="0" err="1">
                    <a:solidFill>
                      <a:schemeClr val="tx1"/>
                    </a:solidFill>
                    <a:latin typeface="David" panose="020E0502060401010101" pitchFamily="34" charset="-79"/>
                    <a:ea typeface="+mn-ea"/>
                    <a:cs typeface="+mn-cs"/>
                  </a:rPr>
                  <a:t>pm.Deterministic</a:t>
                </a:r>
                <a:r>
                  <a:rPr lang="he-IL" dirty="0"/>
                  <a:t> </a:t>
                </a:r>
                <a:r>
                  <a:rPr lang="he-IL" dirty="0" err="1"/>
                  <a:t>saves</a:t>
                </a:r>
                <a:r>
                  <a:rPr lang="he-IL" dirty="0"/>
                  <a:t> the </a:t>
                </a:r>
                <a:r>
                  <a:rPr lang="he-IL" dirty="0" err="1"/>
                  <a:t>transformed</a:t>
                </a:r>
                <a:r>
                  <a:rPr lang="he-IL" dirty="0"/>
                  <a:t> </a:t>
                </a:r>
                <a:r>
                  <a:rPr lang="he-IL" dirty="0" err="1"/>
                  <a:t>value</a:t>
                </a:r>
                <a:r>
                  <a:rPr lang="he-IL" dirty="0"/>
                  <a:t> </a:t>
                </a:r>
                <a14:m>
                  <m:oMath xmlns:m="http://schemas.openxmlformats.org/officeDocument/2006/math">
                    <m:r>
                      <a:rPr lang="he-IL" sz="1200" i="1" kern="1200">
                        <a:solidFill>
                          <a:schemeClr val="tx1"/>
                        </a:solidFill>
                        <a:latin typeface="David" panose="020E0502060401010101" pitchFamily="34" charset="-79"/>
                        <a:ea typeface="+mn-ea"/>
                        <a:cs typeface="+mn-cs"/>
                      </a:rPr>
                      <m:t>𝜈</m:t>
                    </m:r>
                  </m:oMath>
                </a14:m>
                <a:r>
                  <a:rPr lang="he-IL" dirty="0" err="1"/>
                  <a:t>in</a:t>
                </a:r>
                <a:r>
                  <a:rPr lang="he-IL" dirty="0"/>
                  <a:t> the </a:t>
                </a:r>
                <a:r>
                  <a:rPr lang="he-IL" dirty="0" err="1"/>
                  <a:t>posterior</a:t>
                </a:r>
                <a:r>
                  <a:rPr lang="he-IL" dirty="0"/>
                  <a:t>._</a:t>
                </a:r>
              </a:p>
              <a:p>
                <a:endParaRPr lang="he-IL" dirty="0"/>
              </a:p>
            </p:txBody>
          </p:sp>
        </mc:Choice>
        <mc:Fallback>
          <p:sp>
            <p:nvSpPr>
              <p:cNvPr id="3" name="Notes Placeholder 2"/>
              <p:cNvSpPr>
                <a:spLocks noGrp="1"/>
              </p:cNvSpPr>
              <p:nvPr>
                <p:ph type="body" idx="1"/>
              </p:nvPr>
            </p:nvSpPr>
            <p:spPr/>
            <p:txBody>
              <a:bodyPr/>
              <a:lstStyle/>
              <a:p>
                <a:r>
                  <a:rPr lang="he-IL" dirty="0"/>
                  <a:t>The </a:t>
                </a:r>
                <a:r>
                  <a:rPr lang="he-IL" dirty="0" err="1"/>
                  <a:t>deterministic-variable</a:t>
                </a:r>
                <a:r>
                  <a:rPr lang="he-IL" dirty="0"/>
                  <a:t> </a:t>
                </a:r>
                <a:r>
                  <a:rPr lang="he-IL" dirty="0" err="1"/>
                  <a:t>trick</a:t>
                </a:r>
                <a:r>
                  <a:rPr lang="he-IL" dirty="0"/>
                  <a:t> </a:t>
                </a:r>
                <a:r>
                  <a:rPr lang="he-IL" dirty="0" err="1"/>
                  <a:t>helps</a:t>
                </a:r>
                <a:r>
                  <a:rPr lang="he-IL" dirty="0"/>
                  <a:t> </a:t>
                </a:r>
                <a:r>
                  <a:rPr lang="he-IL" dirty="0" err="1"/>
                  <a:t>when</a:t>
                </a:r>
                <a:r>
                  <a:rPr lang="he-IL" dirty="0"/>
                  <a:t> we </a:t>
                </a:r>
                <a:r>
                  <a:rPr lang="he-IL" dirty="0" err="1"/>
                  <a:t>want</a:t>
                </a:r>
                <a:r>
                  <a:rPr lang="he-IL" dirty="0"/>
                  <a:t> to </a:t>
                </a:r>
                <a:r>
                  <a:rPr lang="he-IL" dirty="0" err="1"/>
                  <a:t>define</a:t>
                </a:r>
                <a:r>
                  <a:rPr lang="he-IL" dirty="0"/>
                  <a:t> a </a:t>
                </a:r>
                <a:r>
                  <a:rPr lang="he-IL" dirty="0" err="1"/>
                  <a:t>new</a:t>
                </a:r>
                <a:r>
                  <a:rPr lang="he-IL" dirty="0"/>
                  <a:t> </a:t>
                </a:r>
                <a:r>
                  <a:rPr lang="he-IL" dirty="0" err="1"/>
                  <a:t>parameter</a:t>
                </a:r>
                <a:r>
                  <a:rPr lang="he-IL" dirty="0"/>
                  <a:t> </a:t>
                </a:r>
                <a:r>
                  <a:rPr lang="he-IL" dirty="0" err="1"/>
                  <a:t>that</a:t>
                </a:r>
                <a:r>
                  <a:rPr lang="he-IL" dirty="0"/>
                  <a:t> </a:t>
                </a:r>
                <a:r>
                  <a:rPr lang="he-IL" dirty="0" err="1"/>
                  <a:t>depends</a:t>
                </a:r>
                <a:r>
                  <a:rPr lang="he-IL" dirty="0"/>
                  <a:t> </a:t>
                </a:r>
                <a:r>
                  <a:rPr lang="he-IL" dirty="0" err="1"/>
                  <a:t>on</a:t>
                </a:r>
                <a:r>
                  <a:rPr lang="he-IL" dirty="0"/>
                  <a:t> </a:t>
                </a:r>
                <a:r>
                  <a:rPr lang="he-IL" dirty="0" err="1"/>
                  <a:t>another</a:t>
                </a:r>
                <a:r>
                  <a:rPr lang="he-IL" dirty="0"/>
                  <a:t> </a:t>
                </a:r>
                <a:r>
                  <a:rPr lang="he-IL" dirty="0" err="1"/>
                  <a:t>parameter</a:t>
                </a:r>
                <a:r>
                  <a:rPr lang="he-IL" dirty="0"/>
                  <a:t> </a:t>
                </a:r>
                <a:r>
                  <a:rPr lang="he-IL" dirty="0" err="1"/>
                  <a:t>while</a:t>
                </a:r>
                <a:r>
                  <a:rPr lang="he-IL" dirty="0"/>
                  <a:t> </a:t>
                </a:r>
                <a:r>
                  <a:rPr lang="he-IL" dirty="0" err="1"/>
                  <a:t>enforcing</a:t>
                </a:r>
                <a:r>
                  <a:rPr lang="he-IL" dirty="0"/>
                  <a:t> a </a:t>
                </a:r>
                <a:r>
                  <a:rPr lang="he-IL" dirty="0" err="1"/>
                  <a:t>mathematical</a:t>
                </a:r>
                <a:r>
                  <a:rPr lang="he-IL" dirty="0"/>
                  <a:t> </a:t>
                </a:r>
                <a:r>
                  <a:rPr lang="he-IL" dirty="0" err="1"/>
                  <a:t>constraint</a:t>
                </a:r>
                <a:r>
                  <a:rPr lang="he-IL" dirty="0"/>
                  <a:t>.</a:t>
                </a:r>
              </a:p>
              <a:p>
                <a:r>
                  <a:rPr lang="he-IL" dirty="0"/>
                  <a:t>In the </a:t>
                </a:r>
                <a:r>
                  <a:rPr lang="he-IL" dirty="0" err="1"/>
                  <a:t>Student</a:t>
                </a:r>
                <a:r>
                  <a:rPr lang="he-IL" dirty="0"/>
                  <a:t>-t model, the </a:t>
                </a:r>
                <a:r>
                  <a:rPr lang="he-IL" dirty="0" err="1"/>
                  <a:t>parameter</a:t>
                </a:r>
                <a:endParaRPr lang="he-IL" dirty="0"/>
              </a:p>
              <a:p>
                <a:r>
                  <a:rPr lang="he-IL" sz="1200" i="0" kern="1200">
                    <a:solidFill>
                      <a:schemeClr val="tx1"/>
                    </a:solidFill>
                    <a:latin typeface="David" panose="020E0502060401010101" pitchFamily="34" charset="-79"/>
                    <a:ea typeface="+mn-ea"/>
                    <a:cs typeface="+mn-cs"/>
                  </a:rPr>
                  <a:t>𝜈</a:t>
                </a:r>
                <a:endParaRPr lang="he-IL" dirty="0"/>
              </a:p>
              <a:p>
                <a:r>
                  <a:rPr lang="he-IL" dirty="0" err="1"/>
                  <a:t>controls</a:t>
                </a:r>
                <a:r>
                  <a:rPr lang="he-IL" dirty="0"/>
                  <a:t> the </a:t>
                </a:r>
                <a:r>
                  <a:rPr lang="he-IL" dirty="0" err="1"/>
                  <a:t>tail</a:t>
                </a:r>
                <a:r>
                  <a:rPr lang="he-IL" dirty="0"/>
                  <a:t> </a:t>
                </a:r>
                <a:r>
                  <a:rPr lang="he-IL" dirty="0" err="1"/>
                  <a:t>thickness</a:t>
                </a:r>
                <a:r>
                  <a:rPr lang="he-IL" dirty="0"/>
                  <a:t>. </a:t>
                </a:r>
                <a:r>
                  <a:rPr lang="he-IL" dirty="0" err="1"/>
                  <a:t>But</a:t>
                </a:r>
                <a:r>
                  <a:rPr lang="he-IL" dirty="0"/>
                  <a:t> </a:t>
                </a:r>
                <a:r>
                  <a:rPr lang="he-IL" sz="1200" i="0" kern="1200">
                    <a:solidFill>
                      <a:schemeClr val="tx1"/>
                    </a:solidFill>
                    <a:latin typeface="David" panose="020E0502060401010101" pitchFamily="34" charset="-79"/>
                    <a:ea typeface="+mn-ea"/>
                    <a:cs typeface="+mn-cs"/>
                  </a:rPr>
                  <a:t>𝜈</a:t>
                </a:r>
                <a:r>
                  <a:rPr lang="he-IL" dirty="0" err="1"/>
                  <a:t>must</a:t>
                </a:r>
                <a:r>
                  <a:rPr lang="he-IL" dirty="0"/>
                  <a:t> </a:t>
                </a:r>
                <a:r>
                  <a:rPr lang="he-IL" dirty="0" err="1"/>
                  <a:t>be</a:t>
                </a:r>
                <a:r>
                  <a:rPr lang="he-IL" dirty="0"/>
                  <a:t> </a:t>
                </a:r>
                <a:r>
                  <a:rPr lang="he-IL" dirty="0" err="1"/>
                  <a:t>positive</a:t>
                </a:r>
                <a:r>
                  <a:rPr lang="he-IL" dirty="0"/>
                  <a:t>, and </a:t>
                </a:r>
                <a:r>
                  <a:rPr lang="he-IL" dirty="0" err="1"/>
                  <a:t>usually</a:t>
                </a:r>
                <a:r>
                  <a:rPr lang="he-IL" dirty="0"/>
                  <a:t> we </a:t>
                </a:r>
                <a:r>
                  <a:rPr lang="he-IL" dirty="0" err="1"/>
                  <a:t>want</a:t>
                </a:r>
                <a:r>
                  <a:rPr lang="he-IL" dirty="0"/>
                  <a:t> </a:t>
                </a:r>
                <a:r>
                  <a:rPr lang="he-IL" dirty="0" err="1"/>
                  <a:t>it</a:t>
                </a:r>
                <a:r>
                  <a:rPr lang="he-IL" dirty="0"/>
                  <a:t> to </a:t>
                </a:r>
                <a:r>
                  <a:rPr lang="he-IL" dirty="0" err="1"/>
                  <a:t>be</a:t>
                </a:r>
                <a:r>
                  <a:rPr lang="he-IL" dirty="0"/>
                  <a:t> </a:t>
                </a:r>
                <a:r>
                  <a:rPr lang="he-IL" dirty="0" err="1"/>
                  <a:t>larger</a:t>
                </a:r>
                <a:r>
                  <a:rPr lang="he-IL" dirty="0"/>
                  <a:t> </a:t>
                </a:r>
                <a:r>
                  <a:rPr lang="he-IL" dirty="0" err="1"/>
                  <a:t>than</a:t>
                </a:r>
                <a:r>
                  <a:rPr lang="he-IL" dirty="0"/>
                  <a:t> 1.</a:t>
                </a:r>
              </a:p>
              <a:p>
                <a:r>
                  <a:rPr lang="he-IL" dirty="0" err="1"/>
                  <a:t>Instead</a:t>
                </a:r>
                <a:r>
                  <a:rPr lang="he-IL" dirty="0"/>
                  <a:t> of sampling </a:t>
                </a:r>
                <a:r>
                  <a:rPr lang="he-IL" sz="1200" i="0" kern="1200">
                    <a:solidFill>
                      <a:schemeClr val="tx1"/>
                    </a:solidFill>
                    <a:latin typeface="David" panose="020E0502060401010101" pitchFamily="34" charset="-79"/>
                    <a:ea typeface="+mn-ea"/>
                    <a:cs typeface="+mn-cs"/>
                  </a:rPr>
                  <a:t>𝜈</a:t>
                </a:r>
                <a:r>
                  <a:rPr lang="he-IL" dirty="0" err="1"/>
                  <a:t>directly</a:t>
                </a:r>
                <a:r>
                  <a:rPr lang="he-IL" dirty="0"/>
                  <a:t>, we </a:t>
                </a:r>
                <a:r>
                  <a:rPr lang="he-IL" dirty="0" err="1"/>
                  <a:t>define</a:t>
                </a:r>
                <a:r>
                  <a:rPr lang="he-IL" dirty="0"/>
                  <a:t>:</a:t>
                </a:r>
              </a:p>
              <a:p>
                <a:r>
                  <a:rPr lang="he-IL" sz="1200" i="0" kern="1200">
                    <a:solidFill>
                      <a:schemeClr val="tx1"/>
                    </a:solidFill>
                    <a:latin typeface="David" panose="020E0502060401010101" pitchFamily="34" charset="-79"/>
                    <a:ea typeface="+mn-ea"/>
                    <a:cs typeface="+mn-cs"/>
                  </a:rPr>
                  <a:t>𝜈_</a:t>
                </a:r>
                <a:r>
                  <a:rPr lang="he-IL" sz="1200" b="0" i="0" kern="1200">
                    <a:solidFill>
                      <a:schemeClr val="tx1"/>
                    </a:solidFill>
                    <a:latin typeface="David" panose="020E0502060401010101" pitchFamily="34" charset="-79"/>
                    <a:ea typeface="+mn-ea"/>
                    <a:cs typeface="+mn-cs"/>
                  </a:rPr>
                  <a:t>"minus one" ∼</a:t>
                </a:r>
                <a:r>
                  <a:rPr lang="he-IL" sz="1200" b="0" i="0" kern="1200">
                    <a:solidFill>
                      <a:schemeClr val="tx1"/>
                    </a:solidFill>
                    <a:latin typeface="Cambria Math" panose="02040503050406030204" pitchFamily="18" charset="0"/>
                    <a:ea typeface="+mn-ea"/>
                    <a:cs typeface="+mn-cs"/>
                  </a:rPr>
                  <a:t>"Exponential</a:t>
                </a:r>
                <a:r>
                  <a:rPr lang="he-IL" sz="1200" b="0" i="0" kern="1200">
                    <a:solidFill>
                      <a:schemeClr val="tx1"/>
                    </a:solidFill>
                    <a:latin typeface="David" panose="020E0502060401010101" pitchFamily="34" charset="-79"/>
                    <a:ea typeface="+mn-ea"/>
                    <a:cs typeface="+mn-cs"/>
                  </a:rPr>
                  <a:t>"</a:t>
                </a:r>
                <a:endParaRPr lang="he-IL" b="0" dirty="0"/>
              </a:p>
              <a:p>
                <a:r>
                  <a:rPr lang="he-IL" dirty="0"/>
                  <a:t>and </a:t>
                </a:r>
                <a:r>
                  <a:rPr lang="he-IL" dirty="0" err="1"/>
                  <a:t>then</a:t>
                </a:r>
                <a:r>
                  <a:rPr lang="he-IL" dirty="0"/>
                  <a:t>:</a:t>
                </a:r>
              </a:p>
              <a:p>
                <a:r>
                  <a:rPr lang="he-IL" sz="1200" i="0" kern="1200">
                    <a:solidFill>
                      <a:schemeClr val="tx1"/>
                    </a:solidFill>
                    <a:latin typeface="David" panose="020E0502060401010101" pitchFamily="34" charset="-79"/>
                    <a:ea typeface="+mn-ea"/>
                    <a:cs typeface="+mn-cs"/>
                  </a:rPr>
                  <a:t>𝜈=𝜈_</a:t>
                </a:r>
                <a:r>
                  <a:rPr lang="he-IL" sz="1200" b="0" i="0" kern="1200">
                    <a:solidFill>
                      <a:schemeClr val="tx1"/>
                    </a:solidFill>
                    <a:latin typeface="David" panose="020E0502060401010101" pitchFamily="34" charset="-79"/>
                    <a:ea typeface="+mn-ea"/>
                    <a:cs typeface="+mn-cs"/>
                  </a:rPr>
                  <a:t>"minus one" +1</a:t>
                </a:r>
                <a:endParaRPr lang="he-IL" b="0" dirty="0"/>
              </a:p>
              <a:p>
                <a:r>
                  <a:rPr lang="he-IL" dirty="0" err="1"/>
                  <a:t>Because</a:t>
                </a:r>
                <a:r>
                  <a:rPr lang="he-IL" dirty="0"/>
                  <a:t> the </a:t>
                </a:r>
                <a:r>
                  <a:rPr lang="he-IL" dirty="0" err="1"/>
                  <a:t>Exponential</a:t>
                </a:r>
                <a:r>
                  <a:rPr lang="he-IL" dirty="0"/>
                  <a:t> </a:t>
                </a:r>
                <a:r>
                  <a:rPr lang="he-IL" dirty="0" err="1"/>
                  <a:t>distribution</a:t>
                </a:r>
                <a:r>
                  <a:rPr lang="he-IL" dirty="0"/>
                  <a:t> only </a:t>
                </a:r>
                <a:r>
                  <a:rPr lang="he-IL" dirty="0" err="1"/>
                  <a:t>produces</a:t>
                </a:r>
                <a:r>
                  <a:rPr lang="he-IL" dirty="0"/>
                  <a:t> </a:t>
                </a:r>
                <a:r>
                  <a:rPr lang="he-IL" dirty="0" err="1"/>
                  <a:t>positive</a:t>
                </a:r>
                <a:r>
                  <a:rPr lang="he-IL" dirty="0"/>
                  <a:t> </a:t>
                </a:r>
                <a:r>
                  <a:rPr lang="he-IL" dirty="0" err="1"/>
                  <a:t>values</a:t>
                </a:r>
                <a:r>
                  <a:rPr lang="he-IL" dirty="0"/>
                  <a:t>,</a:t>
                </a:r>
              </a:p>
              <a:p>
                <a:r>
                  <a:rPr lang="he-IL" sz="1200" i="0" kern="1200">
                    <a:solidFill>
                      <a:schemeClr val="tx1"/>
                    </a:solidFill>
                    <a:latin typeface="David" panose="020E0502060401010101" pitchFamily="34" charset="-79"/>
                    <a:ea typeface="+mn-ea"/>
                    <a:cs typeface="+mn-cs"/>
                  </a:rPr>
                  <a:t>𝜈_</a:t>
                </a:r>
                <a:r>
                  <a:rPr lang="he-IL" sz="1200" b="0" i="0" kern="1200">
                    <a:solidFill>
                      <a:schemeClr val="tx1"/>
                    </a:solidFill>
                    <a:latin typeface="David" panose="020E0502060401010101" pitchFamily="34" charset="-79"/>
                    <a:ea typeface="+mn-ea"/>
                    <a:cs typeface="+mn-cs"/>
                  </a:rPr>
                  <a:t>"minus one" &gt;0</a:t>
                </a:r>
                <a:endParaRPr lang="he-IL" b="0" dirty="0"/>
              </a:p>
              <a:p>
                <a:r>
                  <a:rPr lang="he-IL" dirty="0" err="1"/>
                  <a:t>adding</a:t>
                </a:r>
                <a:r>
                  <a:rPr lang="he-IL" dirty="0"/>
                  <a:t> 1 </a:t>
                </a:r>
                <a:r>
                  <a:rPr lang="he-IL" dirty="0" err="1"/>
                  <a:t>guarantees</a:t>
                </a:r>
                <a:r>
                  <a:rPr lang="he-IL" dirty="0"/>
                  <a:t> </a:t>
                </a:r>
                <a:r>
                  <a:rPr lang="he-IL" dirty="0" err="1"/>
                  <a:t>that</a:t>
                </a:r>
                <a:r>
                  <a:rPr lang="he-IL" dirty="0"/>
                  <a:t>:</a:t>
                </a:r>
              </a:p>
              <a:p>
                <a:r>
                  <a:rPr lang="he-IL" sz="1200" i="0" kern="1200">
                    <a:solidFill>
                      <a:schemeClr val="tx1"/>
                    </a:solidFill>
                    <a:latin typeface="David" panose="020E0502060401010101" pitchFamily="34" charset="-79"/>
                    <a:ea typeface="+mn-ea"/>
                    <a:cs typeface="+mn-cs"/>
                  </a:rPr>
                  <a:t>𝜈&gt;1</a:t>
                </a:r>
                <a:endParaRPr lang="he-IL" dirty="0"/>
              </a:p>
              <a:p>
                <a:r>
                  <a:rPr lang="he-IL" dirty="0" err="1"/>
                  <a:t>So</a:t>
                </a:r>
                <a:r>
                  <a:rPr lang="he-IL" dirty="0"/>
                  <a:t> </a:t>
                </a:r>
                <a:r>
                  <a:rPr lang="he-IL" dirty="0" err="1"/>
                  <a:t>this</a:t>
                </a:r>
                <a:r>
                  <a:rPr lang="he-IL" dirty="0"/>
                  <a:t> </a:t>
                </a:r>
                <a:r>
                  <a:rPr lang="he-IL" dirty="0" err="1"/>
                  <a:t>trick</a:t>
                </a:r>
                <a:r>
                  <a:rPr lang="he-IL" dirty="0"/>
                  <a:t> </a:t>
                </a:r>
                <a:r>
                  <a:rPr lang="he-IL" dirty="0" err="1"/>
                  <a:t>lets</a:t>
                </a:r>
                <a:r>
                  <a:rPr lang="he-IL" dirty="0"/>
                  <a:t> </a:t>
                </a:r>
                <a:r>
                  <a:rPr lang="he-IL" dirty="0" err="1"/>
                  <a:t>us</a:t>
                </a:r>
                <a:r>
                  <a:rPr lang="he-IL" dirty="0"/>
                  <a:t> </a:t>
                </a:r>
                <a:r>
                  <a:rPr lang="he-IL" dirty="0" err="1"/>
                  <a:t>enforce</a:t>
                </a:r>
                <a:r>
                  <a:rPr lang="he-IL" dirty="0"/>
                  <a:t> the </a:t>
                </a:r>
                <a:r>
                  <a:rPr lang="he-IL" dirty="0" err="1"/>
                  <a:t>constraint</a:t>
                </a:r>
                <a:r>
                  <a:rPr lang="he-IL" dirty="0"/>
                  <a:t> </a:t>
                </a:r>
                <a:r>
                  <a:rPr lang="he-IL" dirty="0" err="1"/>
                  <a:t>on</a:t>
                </a:r>
                <a:r>
                  <a:rPr lang="he-IL" dirty="0"/>
                  <a:t> </a:t>
                </a:r>
                <a:r>
                  <a:rPr lang="he-IL" sz="1200" i="0" kern="1200">
                    <a:solidFill>
                      <a:schemeClr val="tx1"/>
                    </a:solidFill>
                    <a:latin typeface="David" panose="020E0502060401010101" pitchFamily="34" charset="-79"/>
                    <a:ea typeface="+mn-ea"/>
                    <a:cs typeface="+mn-cs"/>
                  </a:rPr>
                  <a:t>𝜈</a:t>
                </a:r>
                <a:r>
                  <a:rPr lang="he-IL" dirty="0" err="1"/>
                  <a:t>while</a:t>
                </a:r>
                <a:r>
                  <a:rPr lang="he-IL" dirty="0"/>
                  <a:t> </a:t>
                </a:r>
                <a:r>
                  <a:rPr lang="he-IL" dirty="0" err="1"/>
                  <a:t>still</a:t>
                </a:r>
                <a:r>
                  <a:rPr lang="he-IL" dirty="0"/>
                  <a:t> </a:t>
                </a:r>
                <a:r>
                  <a:rPr lang="he-IL" dirty="0" err="1"/>
                  <a:t>keeping</a:t>
                </a:r>
                <a:r>
                  <a:rPr lang="he-IL" dirty="0"/>
                  <a:t> the model </a:t>
                </a:r>
                <a:r>
                  <a:rPr lang="he-IL" dirty="0" err="1"/>
                  <a:t>easy</a:t>
                </a:r>
                <a:r>
                  <a:rPr lang="he-IL" dirty="0"/>
                  <a:t> to sample and </a:t>
                </a:r>
                <a:r>
                  <a:rPr lang="he-IL" dirty="0" err="1"/>
                  <a:t>interpret</a:t>
                </a:r>
                <a:r>
                  <a:rPr lang="he-IL" dirty="0"/>
                  <a:t>. The model </a:t>
                </a:r>
                <a:r>
                  <a:rPr lang="he-IL" dirty="0" err="1"/>
                  <a:t>samples</a:t>
                </a:r>
                <a:r>
                  <a:rPr lang="he-IL" dirty="0"/>
                  <a:t> </a:t>
                </a:r>
                <a:r>
                  <a:rPr lang="he-IL" sz="1200" i="0" kern="1200">
                    <a:solidFill>
                      <a:schemeClr val="tx1"/>
                    </a:solidFill>
                    <a:latin typeface="David" panose="020E0502060401010101" pitchFamily="34" charset="-79"/>
                    <a:ea typeface="+mn-ea"/>
                    <a:cs typeface="+mn-cs"/>
                  </a:rPr>
                  <a:t>𝜈_</a:t>
                </a:r>
                <a:r>
                  <a:rPr lang="he-IL" sz="1200" b="0" i="0" kern="1200">
                    <a:solidFill>
                      <a:schemeClr val="tx1"/>
                    </a:solidFill>
                    <a:latin typeface="David" panose="020E0502060401010101" pitchFamily="34" charset="-79"/>
                    <a:ea typeface="+mn-ea"/>
                    <a:cs typeface="+mn-cs"/>
                  </a:rPr>
                  <a:t>"minus one" </a:t>
                </a:r>
                <a:r>
                  <a:rPr lang="he-IL" dirty="0"/>
                  <a:t>, and </a:t>
                </a:r>
                <a:r>
                  <a:rPr lang="he-IL" sz="1200" kern="1200" dirty="0" err="1">
                    <a:solidFill>
                      <a:schemeClr val="tx1"/>
                    </a:solidFill>
                    <a:latin typeface="David" panose="020E0502060401010101" pitchFamily="34" charset="-79"/>
                    <a:ea typeface="+mn-ea"/>
                    <a:cs typeface="+mn-cs"/>
                  </a:rPr>
                  <a:t>pm.Deterministic</a:t>
                </a:r>
                <a:r>
                  <a:rPr lang="he-IL" dirty="0"/>
                  <a:t> </a:t>
                </a:r>
                <a:r>
                  <a:rPr lang="he-IL" dirty="0" err="1"/>
                  <a:t>saves</a:t>
                </a:r>
                <a:r>
                  <a:rPr lang="he-IL" dirty="0"/>
                  <a:t> the </a:t>
                </a:r>
                <a:r>
                  <a:rPr lang="he-IL" dirty="0" err="1"/>
                  <a:t>transformed</a:t>
                </a:r>
                <a:r>
                  <a:rPr lang="he-IL" dirty="0"/>
                  <a:t> </a:t>
                </a:r>
                <a:r>
                  <a:rPr lang="he-IL" dirty="0" err="1"/>
                  <a:t>value</a:t>
                </a:r>
                <a:r>
                  <a:rPr lang="he-IL" dirty="0"/>
                  <a:t> </a:t>
                </a:r>
                <a:r>
                  <a:rPr lang="he-IL" sz="1200" i="0" kern="1200">
                    <a:solidFill>
                      <a:schemeClr val="tx1"/>
                    </a:solidFill>
                    <a:latin typeface="David" panose="020E0502060401010101" pitchFamily="34" charset="-79"/>
                    <a:ea typeface="+mn-ea"/>
                    <a:cs typeface="+mn-cs"/>
                  </a:rPr>
                  <a:t>𝜈</a:t>
                </a:r>
                <a:r>
                  <a:rPr lang="he-IL" dirty="0" err="1"/>
                  <a:t>in</a:t>
                </a:r>
                <a:r>
                  <a:rPr lang="he-IL" dirty="0"/>
                  <a:t> the </a:t>
                </a:r>
                <a:r>
                  <a:rPr lang="he-IL" dirty="0" err="1"/>
                  <a:t>posterior</a:t>
                </a:r>
                <a:r>
                  <a:rPr lang="he-IL" dirty="0"/>
                  <a:t>._</a:t>
                </a:r>
              </a:p>
              <a:p>
                <a:endParaRPr lang="he-IL" dirty="0"/>
              </a:p>
            </p:txBody>
          </p:sp>
        </mc:Fallback>
      </mc:AlternateContent>
      <p:sp>
        <p:nvSpPr>
          <p:cNvPr id="4" name="Slide Number Placeholder 3"/>
          <p:cNvSpPr>
            <a:spLocks noGrp="1"/>
          </p:cNvSpPr>
          <p:nvPr>
            <p:ph type="sldNum" sz="quarter" idx="5"/>
          </p:nvPr>
        </p:nvSpPr>
        <p:spPr/>
        <p:txBody>
          <a:bodyPr/>
          <a:lstStyle/>
          <a:p>
            <a:fld id="{D5E2C206-B79F-4FAD-948A-1F55E500568F}" type="slidenum">
              <a:rPr lang="he-IL" smtClean="0"/>
              <a:pPr/>
              <a:t>79</a:t>
            </a:fld>
            <a:endParaRPr lang="he-IL" dirty="0"/>
          </a:p>
        </p:txBody>
      </p:sp>
    </p:spTree>
    <p:extLst>
      <p:ext uri="{BB962C8B-B14F-4D97-AF65-F5344CB8AC3E}">
        <p14:creationId xmlns:p14="http://schemas.microsoft.com/office/powerpoint/2010/main" val="24915235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plot is violin plot + box plot + strip plot for the individual participants (orange dots)</a:t>
            </a:r>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90</a:t>
            </a:fld>
            <a:endParaRPr lang="he-IL" dirty="0"/>
          </a:p>
        </p:txBody>
      </p:sp>
    </p:spTree>
    <p:extLst>
      <p:ext uri="{BB962C8B-B14F-4D97-AF65-F5344CB8AC3E}">
        <p14:creationId xmlns:p14="http://schemas.microsoft.com/office/powerpoint/2010/main" val="34553317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D5E2C206-B79F-4FAD-948A-1F55E500568F}" type="slidenum">
              <a:rPr lang="he-IL" smtClean="0"/>
              <a:pPr/>
              <a:t>95</a:t>
            </a:fld>
            <a:endParaRPr lang="he-IL" dirty="0"/>
          </a:p>
        </p:txBody>
      </p:sp>
    </p:spTree>
    <p:extLst>
      <p:ext uri="{BB962C8B-B14F-4D97-AF65-F5344CB8AC3E}">
        <p14:creationId xmlns:p14="http://schemas.microsoft.com/office/powerpoint/2010/main" val="223185432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21449-F634-4F88-A24A-11E5B28B51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C38B6-872F-90FA-D4A7-1717B55F648A}"/>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7E27545-DC75-341F-AD31-C06D88439122}"/>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A56CEF37-42E6-3361-F258-5B05EAFBF99A}"/>
              </a:ext>
            </a:extLst>
          </p:cNvPr>
          <p:cNvSpPr>
            <a:spLocks noGrp="1"/>
          </p:cNvSpPr>
          <p:nvPr>
            <p:ph type="sldNum" sz="quarter" idx="5"/>
          </p:nvPr>
        </p:nvSpPr>
        <p:spPr/>
        <p:txBody>
          <a:bodyPr/>
          <a:lstStyle/>
          <a:p>
            <a:fld id="{D5E2C206-B79F-4FAD-948A-1F55E500568F}" type="slidenum">
              <a:rPr lang="he-IL" smtClean="0"/>
              <a:pPr/>
              <a:t>96</a:t>
            </a:fld>
            <a:endParaRPr lang="he-IL" dirty="0"/>
          </a:p>
        </p:txBody>
      </p:sp>
    </p:spTree>
    <p:extLst>
      <p:ext uri="{BB962C8B-B14F-4D97-AF65-F5344CB8AC3E}">
        <p14:creationId xmlns:p14="http://schemas.microsoft.com/office/powerpoint/2010/main" val="19177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529AC-D1A9-0BBA-83D1-BDA3A13F2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886A5-F4C0-3B24-65E8-06FE66050CF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AA6170D2-8221-F7F5-C6AB-D726239C6E1F}"/>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B7FC1A26-167C-54B9-957C-C2D8097AA590}"/>
              </a:ext>
            </a:extLst>
          </p:cNvPr>
          <p:cNvSpPr>
            <a:spLocks noGrp="1"/>
          </p:cNvSpPr>
          <p:nvPr>
            <p:ph type="sldNum" sz="quarter" idx="5"/>
          </p:nvPr>
        </p:nvSpPr>
        <p:spPr/>
        <p:txBody>
          <a:bodyPr/>
          <a:lstStyle/>
          <a:p>
            <a:fld id="{D5E2C206-B79F-4FAD-948A-1F55E500568F}" type="slidenum">
              <a:rPr lang="he-IL" smtClean="0"/>
              <a:pPr/>
              <a:t>97</a:t>
            </a:fld>
            <a:endParaRPr lang="he-IL" dirty="0"/>
          </a:p>
        </p:txBody>
      </p:sp>
    </p:spTree>
    <p:extLst>
      <p:ext uri="{BB962C8B-B14F-4D97-AF65-F5344CB8AC3E}">
        <p14:creationId xmlns:p14="http://schemas.microsoft.com/office/powerpoint/2010/main" val="12551185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6B1FD-C8AA-6F09-EE90-005EF1278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3B21E-43A7-E10D-76A9-60D79F007C89}"/>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51C114C3-B21E-44C5-8291-A32DE2F00342}"/>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1CDEDBD2-A5A1-5BDF-DD90-1F377F9A9A0E}"/>
              </a:ext>
            </a:extLst>
          </p:cNvPr>
          <p:cNvSpPr>
            <a:spLocks noGrp="1"/>
          </p:cNvSpPr>
          <p:nvPr>
            <p:ph type="sldNum" sz="quarter" idx="5"/>
          </p:nvPr>
        </p:nvSpPr>
        <p:spPr/>
        <p:txBody>
          <a:bodyPr/>
          <a:lstStyle/>
          <a:p>
            <a:fld id="{D5E2C206-B79F-4FAD-948A-1F55E500568F}" type="slidenum">
              <a:rPr lang="he-IL" smtClean="0"/>
              <a:pPr/>
              <a:t>98</a:t>
            </a:fld>
            <a:endParaRPr lang="he-IL" dirty="0"/>
          </a:p>
        </p:txBody>
      </p:sp>
    </p:spTree>
    <p:extLst>
      <p:ext uri="{BB962C8B-B14F-4D97-AF65-F5344CB8AC3E}">
        <p14:creationId xmlns:p14="http://schemas.microsoft.com/office/powerpoint/2010/main" val="389597345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A8376-AA13-FD07-02FD-829D15A75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C9A66-52C8-A50E-BB7B-B0A3484ACE75}"/>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C80E60FD-CA9D-A67F-A9AA-DB851A7D0A33}"/>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DD24807A-EF57-A40A-3C0C-D8D3B971E97F}"/>
              </a:ext>
            </a:extLst>
          </p:cNvPr>
          <p:cNvSpPr>
            <a:spLocks noGrp="1"/>
          </p:cNvSpPr>
          <p:nvPr>
            <p:ph type="sldNum" sz="quarter" idx="5"/>
          </p:nvPr>
        </p:nvSpPr>
        <p:spPr/>
        <p:txBody>
          <a:bodyPr/>
          <a:lstStyle/>
          <a:p>
            <a:fld id="{D5E2C206-B79F-4FAD-948A-1F55E500568F}" type="slidenum">
              <a:rPr lang="he-IL" smtClean="0"/>
              <a:pPr/>
              <a:t>103</a:t>
            </a:fld>
            <a:endParaRPr lang="he-IL" dirty="0"/>
          </a:p>
        </p:txBody>
      </p:sp>
    </p:spTree>
    <p:extLst>
      <p:ext uri="{BB962C8B-B14F-4D97-AF65-F5344CB8AC3E}">
        <p14:creationId xmlns:p14="http://schemas.microsoft.com/office/powerpoint/2010/main" val="7005325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681D9-60EA-6C49-1939-D5773ED754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D804E-36B6-0BA5-0726-246D04EF66F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E655CF7-07A4-5301-1C48-234EBBAA1A7A}"/>
              </a:ext>
            </a:extLst>
          </p:cNvPr>
          <p:cNvSpPr>
            <a:spLocks noGrp="1"/>
          </p:cNvSpPr>
          <p:nvPr>
            <p:ph type="body" idx="1"/>
          </p:nvPr>
        </p:nvSpPr>
        <p:spPr/>
        <p:txBody>
          <a:bodyPr/>
          <a:lstStyle/>
          <a:p>
            <a:r>
              <a:rPr lang="he-IL" sz="1200" b="0" i="0" kern="1200" dirty="0">
                <a:solidFill>
                  <a:schemeClr val="tx1"/>
                </a:solidFill>
                <a:effectLst/>
                <a:latin typeface="David" panose="020E0502060401010101" pitchFamily="34" charset="-79"/>
                <a:ea typeface="+mn-ea"/>
                <a:cs typeface="+mn-cs"/>
              </a:rPr>
              <a:t>The </a:t>
            </a:r>
            <a:r>
              <a:rPr lang="he-IL" sz="1200" b="0" i="0" kern="1200" dirty="0" err="1">
                <a:solidFill>
                  <a:schemeClr val="tx1"/>
                </a:solidFill>
                <a:effectLst/>
                <a:latin typeface="David" panose="020E0502060401010101" pitchFamily="34" charset="-79"/>
                <a:ea typeface="+mn-ea"/>
                <a:cs typeface="+mn-cs"/>
              </a:rPr>
              <a:t>separate-sigma</a:t>
            </a:r>
            <a:r>
              <a:rPr lang="he-IL" sz="1200" b="0" i="0" kern="1200" dirty="0">
                <a:solidFill>
                  <a:schemeClr val="tx1"/>
                </a:solidFill>
                <a:effectLst/>
                <a:latin typeface="David" panose="020E0502060401010101" pitchFamily="34" charset="-79"/>
                <a:ea typeface="+mn-ea"/>
                <a:cs typeface="+mn-cs"/>
              </a:rPr>
              <a:t> model </a:t>
            </a:r>
            <a:r>
              <a:rPr lang="he-IL" sz="1200" b="0" i="0" kern="1200" dirty="0" err="1">
                <a:solidFill>
                  <a:schemeClr val="tx1"/>
                </a:solidFill>
                <a:effectLst/>
                <a:latin typeface="David" panose="020E0502060401010101" pitchFamily="34" charset="-79"/>
                <a:ea typeface="+mn-ea"/>
                <a:cs typeface="+mn-cs"/>
              </a:rPr>
              <a:t>does</a:t>
            </a:r>
            <a:r>
              <a:rPr lang="he-IL" sz="1200" b="0" i="0" kern="1200" dirty="0">
                <a:solidFill>
                  <a:schemeClr val="tx1"/>
                </a:solidFill>
                <a:effectLst/>
                <a:latin typeface="David" panose="020E0502060401010101" pitchFamily="34" charset="-79"/>
                <a:ea typeface="+mn-ea"/>
                <a:cs typeface="+mn-cs"/>
              </a:rPr>
              <a:t> not </a:t>
            </a:r>
            <a:r>
              <a:rPr lang="he-IL" sz="1200" b="0" i="0" kern="1200" dirty="0" err="1">
                <a:solidFill>
                  <a:schemeClr val="tx1"/>
                </a:solidFill>
                <a:effectLst/>
                <a:latin typeface="David" panose="020E0502060401010101" pitchFamily="34" charset="-79"/>
                <a:ea typeface="+mn-ea"/>
                <a:cs typeface="+mn-cs"/>
              </a:rPr>
              <a:t>assume</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that</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both</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gender</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groups</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have</a:t>
            </a:r>
            <a:r>
              <a:rPr lang="he-IL" sz="1200" b="0" i="0" kern="1200" dirty="0">
                <a:solidFill>
                  <a:schemeClr val="tx1"/>
                </a:solidFill>
                <a:effectLst/>
                <a:latin typeface="David" panose="020E0502060401010101" pitchFamily="34" charset="-79"/>
                <a:ea typeface="+mn-ea"/>
                <a:cs typeface="+mn-cs"/>
              </a:rPr>
              <a:t> the same </a:t>
            </a:r>
            <a:r>
              <a:rPr lang="he-IL" sz="1200" b="0" i="0" kern="1200" dirty="0" err="1">
                <a:solidFill>
                  <a:schemeClr val="tx1"/>
                </a:solidFill>
                <a:effectLst/>
                <a:latin typeface="David" panose="020E0502060401010101" pitchFamily="34" charset="-79"/>
                <a:ea typeface="+mn-ea"/>
                <a:cs typeface="+mn-cs"/>
              </a:rPr>
              <a:t>spread</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When</a:t>
            </a:r>
            <a:r>
              <a:rPr lang="he-IL" sz="1200" b="0" i="0" kern="1200" dirty="0">
                <a:solidFill>
                  <a:schemeClr val="tx1"/>
                </a:solidFill>
                <a:effectLst/>
                <a:latin typeface="David" panose="020E0502060401010101" pitchFamily="34" charset="-79"/>
                <a:ea typeface="+mn-ea"/>
                <a:cs typeface="+mn-cs"/>
              </a:rPr>
              <a:t> the </a:t>
            </a:r>
            <a:r>
              <a:rPr lang="he-IL" sz="1200" b="0" i="0" kern="1200" dirty="0" err="1">
                <a:solidFill>
                  <a:schemeClr val="tx1"/>
                </a:solidFill>
                <a:effectLst/>
                <a:latin typeface="David" panose="020E0502060401010101" pitchFamily="34" charset="-79"/>
                <a:ea typeface="+mn-ea"/>
                <a:cs typeface="+mn-cs"/>
              </a:rPr>
              <a:t>posterior</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predictive</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distribution</a:t>
            </a:r>
            <a:r>
              <a:rPr lang="he-IL" sz="1200" b="0" i="0" kern="1200" dirty="0">
                <a:solidFill>
                  <a:schemeClr val="tx1"/>
                </a:solidFill>
                <a:effectLst/>
                <a:latin typeface="David" panose="020E0502060401010101" pitchFamily="34" charset="-79"/>
                <a:ea typeface="+mn-ea"/>
                <a:cs typeface="+mn-cs"/>
              </a:rPr>
              <a:t> is </a:t>
            </a:r>
            <a:r>
              <a:rPr lang="he-IL" sz="1200" b="0" i="0" kern="1200" dirty="0" err="1">
                <a:solidFill>
                  <a:schemeClr val="tx1"/>
                </a:solidFill>
                <a:effectLst/>
                <a:latin typeface="David" panose="020E0502060401010101" pitchFamily="34" charset="-79"/>
                <a:ea typeface="+mn-ea"/>
                <a:cs typeface="+mn-cs"/>
              </a:rPr>
              <a:t>plotted</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for</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all</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observations</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together</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it</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combines</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two</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group-specific</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Normal</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distributions</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This</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mixture</a:t>
            </a:r>
            <a:r>
              <a:rPr lang="he-IL" sz="1200" b="0" i="0" kern="1200" dirty="0">
                <a:solidFill>
                  <a:schemeClr val="tx1"/>
                </a:solidFill>
                <a:effectLst/>
                <a:latin typeface="David" panose="020E0502060401010101" pitchFamily="34" charset="-79"/>
                <a:ea typeface="+mn-ea"/>
                <a:cs typeface="+mn-cs"/>
              </a:rPr>
              <a:t> can </a:t>
            </a:r>
            <a:r>
              <a:rPr lang="he-IL" sz="1200" b="0" i="0" kern="1200" dirty="0" err="1">
                <a:solidFill>
                  <a:schemeClr val="tx1"/>
                </a:solidFill>
                <a:effectLst/>
                <a:latin typeface="David" panose="020E0502060401010101" pitchFamily="34" charset="-79"/>
                <a:ea typeface="+mn-ea"/>
                <a:cs typeface="+mn-cs"/>
              </a:rPr>
              <a:t>look</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skewed</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even</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though</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each</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group</a:t>
            </a:r>
            <a:r>
              <a:rPr lang="he-IL" sz="1200" b="0" i="0" kern="1200" dirty="0">
                <a:solidFill>
                  <a:schemeClr val="tx1"/>
                </a:solidFill>
                <a:effectLst/>
                <a:latin typeface="David" panose="020E0502060401010101" pitchFamily="34" charset="-79"/>
                <a:ea typeface="+mn-ea"/>
                <a:cs typeface="+mn-cs"/>
              </a:rPr>
              <a:t> is </a:t>
            </a:r>
            <a:r>
              <a:rPr lang="he-IL" sz="1200" b="0" i="0" kern="1200" dirty="0" err="1">
                <a:solidFill>
                  <a:schemeClr val="tx1"/>
                </a:solidFill>
                <a:effectLst/>
                <a:latin typeface="David" panose="020E0502060401010101" pitchFamily="34" charset="-79"/>
                <a:ea typeface="+mn-ea"/>
                <a:cs typeface="+mn-cs"/>
              </a:rPr>
              <a:t>modeled</a:t>
            </a:r>
            <a:r>
              <a:rPr lang="he-IL" sz="1200" b="0" i="0" kern="1200" dirty="0">
                <a:solidFill>
                  <a:schemeClr val="tx1"/>
                </a:solidFill>
                <a:effectLst/>
                <a:latin typeface="David" panose="020E0502060401010101" pitchFamily="34" charset="-79"/>
                <a:ea typeface="+mn-ea"/>
                <a:cs typeface="+mn-cs"/>
              </a:rPr>
              <a:t> with a </a:t>
            </a:r>
            <a:r>
              <a:rPr lang="he-IL" sz="1200" b="0" i="0" kern="1200" dirty="0" err="1">
                <a:solidFill>
                  <a:schemeClr val="tx1"/>
                </a:solidFill>
                <a:effectLst/>
                <a:latin typeface="David" panose="020E0502060401010101" pitchFamily="34" charset="-79"/>
                <a:ea typeface="+mn-ea"/>
                <a:cs typeface="+mn-cs"/>
              </a:rPr>
              <a:t>Normal</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likelihood</a:t>
            </a:r>
            <a:r>
              <a:rPr lang="he-IL" sz="1200" b="0" i="0" kern="1200" dirty="0">
                <a:solidFill>
                  <a:schemeClr val="tx1"/>
                </a:solidFill>
                <a:effectLst/>
                <a:latin typeface="David" panose="020E0502060401010101" pitchFamily="34" charset="-79"/>
                <a:ea typeface="+mn-ea"/>
                <a:cs typeface="+mn-cs"/>
              </a:rPr>
              <a:t>.</a:t>
            </a:r>
            <a:endParaRPr lang="he-IL" dirty="0"/>
          </a:p>
        </p:txBody>
      </p:sp>
      <p:sp>
        <p:nvSpPr>
          <p:cNvPr id="4" name="Slide Number Placeholder 3">
            <a:extLst>
              <a:ext uri="{FF2B5EF4-FFF2-40B4-BE49-F238E27FC236}">
                <a16:creationId xmlns:a16="http://schemas.microsoft.com/office/drawing/2014/main" id="{0EF519BD-0952-F8C8-7D70-D894098C15E2}"/>
              </a:ext>
            </a:extLst>
          </p:cNvPr>
          <p:cNvSpPr>
            <a:spLocks noGrp="1"/>
          </p:cNvSpPr>
          <p:nvPr>
            <p:ph type="sldNum" sz="quarter" idx="5"/>
          </p:nvPr>
        </p:nvSpPr>
        <p:spPr/>
        <p:txBody>
          <a:bodyPr/>
          <a:lstStyle/>
          <a:p>
            <a:fld id="{D5E2C206-B79F-4FAD-948A-1F55E500568F}" type="slidenum">
              <a:rPr lang="he-IL" smtClean="0"/>
              <a:pPr/>
              <a:t>104</a:t>
            </a:fld>
            <a:endParaRPr lang="he-IL" dirty="0"/>
          </a:p>
        </p:txBody>
      </p:sp>
    </p:spTree>
    <p:extLst>
      <p:ext uri="{BB962C8B-B14F-4D97-AF65-F5344CB8AC3E}">
        <p14:creationId xmlns:p14="http://schemas.microsoft.com/office/powerpoint/2010/main" val="31814047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20D77-36BB-AF61-D4A9-A3131ED17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B1B62D-E806-099E-BDC8-3A1E6B272439}"/>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C85D2389-5EBA-8C3F-32C8-EFB0195E3895}"/>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BB8D8699-A569-237C-843F-80D1BB04E74A}"/>
              </a:ext>
            </a:extLst>
          </p:cNvPr>
          <p:cNvSpPr>
            <a:spLocks noGrp="1"/>
          </p:cNvSpPr>
          <p:nvPr>
            <p:ph type="sldNum" sz="quarter" idx="5"/>
          </p:nvPr>
        </p:nvSpPr>
        <p:spPr/>
        <p:txBody>
          <a:bodyPr/>
          <a:lstStyle/>
          <a:p>
            <a:fld id="{D5E2C206-B79F-4FAD-948A-1F55E500568F}" type="slidenum">
              <a:rPr lang="he-IL" smtClean="0"/>
              <a:pPr/>
              <a:t>105</a:t>
            </a:fld>
            <a:endParaRPr lang="he-IL" dirty="0"/>
          </a:p>
        </p:txBody>
      </p:sp>
    </p:spTree>
    <p:extLst>
      <p:ext uri="{BB962C8B-B14F-4D97-AF65-F5344CB8AC3E}">
        <p14:creationId xmlns:p14="http://schemas.microsoft.com/office/powerpoint/2010/main" val="4910902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DBDD9-C712-1351-E86C-A99BEF464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03DB8-55D6-950E-6DF7-9764EFEE965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5BE1419F-AFAE-E61F-441C-6375F44F8E43}"/>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E3E1CE90-1F7E-FE45-8AD3-CEE9F7FA7F1B}"/>
              </a:ext>
            </a:extLst>
          </p:cNvPr>
          <p:cNvSpPr>
            <a:spLocks noGrp="1"/>
          </p:cNvSpPr>
          <p:nvPr>
            <p:ph type="sldNum" sz="quarter" idx="5"/>
          </p:nvPr>
        </p:nvSpPr>
        <p:spPr/>
        <p:txBody>
          <a:bodyPr/>
          <a:lstStyle/>
          <a:p>
            <a:fld id="{D5E2C206-B79F-4FAD-948A-1F55E500568F}" type="slidenum">
              <a:rPr lang="he-IL" smtClean="0"/>
              <a:pPr/>
              <a:t>106</a:t>
            </a:fld>
            <a:endParaRPr lang="he-IL" dirty="0"/>
          </a:p>
        </p:txBody>
      </p:sp>
    </p:spTree>
    <p:extLst>
      <p:ext uri="{BB962C8B-B14F-4D97-AF65-F5344CB8AC3E}">
        <p14:creationId xmlns:p14="http://schemas.microsoft.com/office/powerpoint/2010/main" val="14456484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D2B2-4D37-5BF1-58E1-981025ABC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B4899-B44A-93EC-4A2D-0DA74240303A}"/>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3B31990-18C4-0A12-5AA9-01357A5CD3B5}"/>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63FE5FBC-4F5D-F38C-2836-C96ECDF045D5}"/>
              </a:ext>
            </a:extLst>
          </p:cNvPr>
          <p:cNvSpPr>
            <a:spLocks noGrp="1"/>
          </p:cNvSpPr>
          <p:nvPr>
            <p:ph type="sldNum" sz="quarter" idx="5"/>
          </p:nvPr>
        </p:nvSpPr>
        <p:spPr/>
        <p:txBody>
          <a:bodyPr/>
          <a:lstStyle/>
          <a:p>
            <a:fld id="{D5E2C206-B79F-4FAD-948A-1F55E500568F}" type="slidenum">
              <a:rPr lang="he-IL" smtClean="0"/>
              <a:pPr/>
              <a:t>107</a:t>
            </a:fld>
            <a:endParaRPr lang="he-IL" dirty="0"/>
          </a:p>
        </p:txBody>
      </p:sp>
    </p:spTree>
    <p:extLst>
      <p:ext uri="{BB962C8B-B14F-4D97-AF65-F5344CB8AC3E}">
        <p14:creationId xmlns:p14="http://schemas.microsoft.com/office/powerpoint/2010/main" val="38277632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𝑡</m:t>
                          </m:r>
                        </m:e>
                        <m:sub>
                          <m:r>
                            <a:rPr lang="en-US" i="1" dirty="0" smtClean="0">
                              <a:latin typeface="Cambria Math" panose="02040503050406030204" pitchFamily="18" charset="0"/>
                            </a:rPr>
                            <m:t>𝑑𝑓</m:t>
                          </m:r>
                        </m:sub>
                      </m:sSub>
                      <m:r>
                        <a:rPr lang="en-US" i="1" dirty="0" smtClean="0">
                          <a:latin typeface="Cambria Math" panose="02040503050406030204" pitchFamily="18" charset="0"/>
                        </a:rPr>
                        <m:t> </m:t>
                      </m:r>
                    </m:oMath>
                  </m:oMathPara>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𝑑𝑓</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𝑛</m:t>
                          </m:r>
                        </m:e>
                        <m:sub>
                          <m:r>
                            <a:rPr lang="en-US" b="0" i="1" dirty="0" smtClean="0">
                              <a:latin typeface="Cambria Math" panose="02040503050406030204" pitchFamily="18" charset="0"/>
                            </a:rPr>
                            <m:t>1</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𝑛</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oMath>
                  </m:oMathPara>
                </a14:m>
              </a:p>
              <a:p>
                <a:br>
                  <a:rPr lang="en-US" dirty="0"/>
                </a:br>
                <a:r>
                  <a:rPr lang="he-IL" dirty="0" err="1"/>
                  <a:t>Degrees</a:t>
                </a:r>
                <a:r>
                  <a:rPr lang="he-IL" dirty="0"/>
                  <a:t> of </a:t>
                </a:r>
                <a:r>
                  <a:rPr lang="he-IL" dirty="0" err="1"/>
                  <a:t>freedom</a:t>
                </a:r>
                <a:r>
                  <a:rPr lang="he-IL" dirty="0"/>
                  <a:t> </a:t>
                </a:r>
                <a:r>
                  <a:rPr lang="he-IL" dirty="0" err="1"/>
                  <a:t>determine</a:t>
                </a:r>
                <a:r>
                  <a:rPr lang="he-IL" dirty="0"/>
                  <a:t> the shape of the </a:t>
                </a:r>
                <a14:m>
                  <m:oMath xmlns:m="http://schemas.openxmlformats.org/officeDocument/2006/math">
                    <m:r>
                      <a:rPr lang="he-IL" sz="1200" i="1" kern="1200">
                        <a:solidFill>
                          <a:schemeClr val="tx1"/>
                        </a:solidFill>
                        <a:latin typeface="David" panose="020E0502060401010101" pitchFamily="34" charset="-79"/>
                        <a:ea typeface="+mn-ea"/>
                        <a:cs typeface="+mn-cs"/>
                      </a:rPr>
                      <m:t>𝑡</m:t>
                    </m:r>
                  </m:oMath>
                </a14:m>
                <a:r>
                  <a:rPr lang="he-IL" dirty="0"/>
                  <a:t>-</a:t>
                </a:r>
                <a:r>
                  <a:rPr lang="he-IL" dirty="0" err="1"/>
                  <a:t>distribution</a:t>
                </a:r>
                <a:r>
                  <a:rPr lang="he-IL" dirty="0"/>
                  <a:t>. With </a:t>
                </a:r>
                <a:r>
                  <a:rPr lang="he-IL" dirty="0" err="1"/>
                  <a:t>fewer</a:t>
                </a:r>
                <a:r>
                  <a:rPr lang="he-IL" dirty="0"/>
                  <a:t> </a:t>
                </a:r>
                <a:r>
                  <a:rPr lang="he-IL" dirty="0" err="1"/>
                  <a:t>degrees</a:t>
                </a:r>
                <a:r>
                  <a:rPr lang="he-IL" dirty="0"/>
                  <a:t> of </a:t>
                </a:r>
                <a:r>
                  <a:rPr lang="he-IL" dirty="0" err="1"/>
                  <a:t>freedom</a:t>
                </a:r>
                <a:r>
                  <a:rPr lang="he-IL" dirty="0"/>
                  <a:t>, the </a:t>
                </a:r>
                <a14:m>
                  <m:oMath xmlns:m="http://schemas.openxmlformats.org/officeDocument/2006/math">
                    <m:r>
                      <a:rPr lang="he-IL" sz="1200" i="1" kern="1200">
                        <a:solidFill>
                          <a:schemeClr val="tx1"/>
                        </a:solidFill>
                        <a:latin typeface="David" panose="020E0502060401010101" pitchFamily="34" charset="-79"/>
                        <a:ea typeface="+mn-ea"/>
                        <a:cs typeface="+mn-cs"/>
                      </a:rPr>
                      <m:t>𝑡</m:t>
                    </m:r>
                  </m:oMath>
                </a14:m>
                <a:r>
                  <a:rPr lang="he-IL" dirty="0"/>
                  <a:t>-</a:t>
                </a:r>
                <a:r>
                  <a:rPr lang="he-IL" dirty="0" err="1"/>
                  <a:t>distribution</a:t>
                </a:r>
                <a:r>
                  <a:rPr lang="he-IL" dirty="0"/>
                  <a:t> </a:t>
                </a:r>
                <a:r>
                  <a:rPr lang="he-IL" dirty="0" err="1"/>
                  <a:t>has</a:t>
                </a:r>
                <a:r>
                  <a:rPr lang="he-IL" dirty="0"/>
                  <a:t> </a:t>
                </a:r>
                <a:r>
                  <a:rPr lang="he-IL" dirty="0" err="1"/>
                  <a:t>heavier</a:t>
                </a:r>
                <a:r>
                  <a:rPr lang="he-IL" dirty="0"/>
                  <a:t> </a:t>
                </a:r>
                <a:r>
                  <a:rPr lang="he-IL" dirty="0" err="1"/>
                  <a:t>tails</a:t>
                </a:r>
                <a:r>
                  <a:rPr lang="he-IL" dirty="0"/>
                  <a:t> </a:t>
                </a:r>
                <a:r>
                  <a:rPr lang="he-IL" dirty="0" err="1"/>
                  <a:t>because</a:t>
                </a:r>
                <a:r>
                  <a:rPr lang="he-IL" dirty="0"/>
                  <a:t> the </a:t>
                </a:r>
                <a:r>
                  <a:rPr lang="he-IL" dirty="0" err="1"/>
                  <a:t>standard</a:t>
                </a:r>
                <a:r>
                  <a:rPr lang="he-IL" dirty="0"/>
                  <a:t> </a:t>
                </a:r>
                <a:r>
                  <a:rPr lang="he-IL" dirty="0" err="1"/>
                  <a:t>deviation</a:t>
                </a:r>
                <a:r>
                  <a:rPr lang="he-IL" dirty="0"/>
                  <a:t> is </a:t>
                </a:r>
                <a:r>
                  <a:rPr lang="he-IL" dirty="0" err="1"/>
                  <a:t>estimated</a:t>
                </a:r>
                <a:r>
                  <a:rPr lang="he-IL" dirty="0"/>
                  <a:t> with more </a:t>
                </a:r>
                <a:r>
                  <a:rPr lang="he-IL" dirty="0" err="1"/>
                  <a:t>uncertainty</a:t>
                </a:r>
                <a:r>
                  <a:rPr lang="he-IL" dirty="0"/>
                  <a:t>.</a:t>
                </a:r>
              </a:p>
            </p:txBody>
          </p:sp>
        </mc:Choice>
        <mc:Fallback>
          <p:sp>
            <p:nvSpPr>
              <p:cNvPr id="3" name="Notes Placeholder 2"/>
              <p:cNvSpPr>
                <a:spLocks noGrp="1"/>
              </p:cNvSpPr>
              <p:nvPr>
                <p:ph type="body" idx="1"/>
              </p:nvPr>
            </p:nvSpPr>
            <p:spPr/>
            <p:txBody>
              <a:bodyPr/>
              <a:lstStyle/>
              <a:p>
                <a:r>
                  <a:rPr lang="en-US" i="0" dirty="0">
                    <a:latin typeface="Cambria Math" panose="02040503050406030204" pitchFamily="18" charset="0"/>
                  </a:rPr>
                  <a:t>𝑡~𝑡_𝑑𝑓  </a:t>
                </a:r>
              </a:p>
              <a:p>
                <a:r>
                  <a:rPr lang="en-US" i="0" dirty="0">
                    <a:latin typeface="Cambria Math" panose="02040503050406030204" pitchFamily="18" charset="0"/>
                  </a:rPr>
                  <a:t>𝑑𝑓=𝑛_</a:t>
                </a:r>
                <a:r>
                  <a:rPr lang="en-US" b="0" i="0" dirty="0">
                    <a:latin typeface="Cambria Math" panose="02040503050406030204" pitchFamily="18" charset="0"/>
                  </a:rPr>
                  <a:t>1 </a:t>
                </a:r>
                <a:r>
                  <a:rPr lang="en-US" i="0" dirty="0">
                    <a:latin typeface="Cambria Math" panose="02040503050406030204" pitchFamily="18" charset="0"/>
                  </a:rPr>
                  <a:t> + 𝑛_2  −2 </a:t>
                </a:r>
                <a:br>
                  <a:rPr lang="en-US" dirty="0"/>
                </a:br>
                <a:r>
                  <a:rPr lang="he-IL" dirty="0" err="1"/>
                  <a:t>Degrees</a:t>
                </a:r>
                <a:r>
                  <a:rPr lang="he-IL" dirty="0"/>
                  <a:t> of </a:t>
                </a:r>
                <a:r>
                  <a:rPr lang="he-IL" dirty="0" err="1"/>
                  <a:t>freedom</a:t>
                </a:r>
                <a:r>
                  <a:rPr lang="he-IL" dirty="0"/>
                  <a:t> </a:t>
                </a:r>
                <a:r>
                  <a:rPr lang="he-IL" dirty="0" err="1"/>
                  <a:t>determine</a:t>
                </a:r>
                <a:r>
                  <a:rPr lang="he-IL" dirty="0"/>
                  <a:t> the shape of the </a:t>
                </a:r>
                <a:r>
                  <a:rPr lang="he-IL" sz="1200" i="0" kern="1200">
                    <a:solidFill>
                      <a:schemeClr val="tx1"/>
                    </a:solidFill>
                    <a:latin typeface="David" panose="020E0502060401010101" pitchFamily="34" charset="-79"/>
                    <a:ea typeface="+mn-ea"/>
                    <a:cs typeface="+mn-cs"/>
                  </a:rPr>
                  <a:t>𝑡</a:t>
                </a:r>
                <a:r>
                  <a:rPr lang="he-IL" dirty="0"/>
                  <a:t>-</a:t>
                </a:r>
                <a:r>
                  <a:rPr lang="he-IL" dirty="0" err="1"/>
                  <a:t>distribution</a:t>
                </a:r>
                <a:r>
                  <a:rPr lang="he-IL" dirty="0"/>
                  <a:t>. With </a:t>
                </a:r>
                <a:r>
                  <a:rPr lang="he-IL" dirty="0" err="1"/>
                  <a:t>fewer</a:t>
                </a:r>
                <a:r>
                  <a:rPr lang="he-IL" dirty="0"/>
                  <a:t> </a:t>
                </a:r>
                <a:r>
                  <a:rPr lang="he-IL" dirty="0" err="1"/>
                  <a:t>degrees</a:t>
                </a:r>
                <a:r>
                  <a:rPr lang="he-IL" dirty="0"/>
                  <a:t> of </a:t>
                </a:r>
                <a:r>
                  <a:rPr lang="he-IL" dirty="0" err="1"/>
                  <a:t>freedom</a:t>
                </a:r>
                <a:r>
                  <a:rPr lang="he-IL" dirty="0"/>
                  <a:t>, the </a:t>
                </a:r>
                <a:r>
                  <a:rPr lang="he-IL" sz="1200" i="0" kern="1200">
                    <a:solidFill>
                      <a:schemeClr val="tx1"/>
                    </a:solidFill>
                    <a:latin typeface="David" panose="020E0502060401010101" pitchFamily="34" charset="-79"/>
                    <a:ea typeface="+mn-ea"/>
                    <a:cs typeface="+mn-cs"/>
                  </a:rPr>
                  <a:t>𝑡</a:t>
                </a:r>
                <a:r>
                  <a:rPr lang="he-IL" dirty="0"/>
                  <a:t>-</a:t>
                </a:r>
                <a:r>
                  <a:rPr lang="he-IL" dirty="0" err="1"/>
                  <a:t>distribution</a:t>
                </a:r>
                <a:r>
                  <a:rPr lang="he-IL" dirty="0"/>
                  <a:t> </a:t>
                </a:r>
                <a:r>
                  <a:rPr lang="he-IL" dirty="0" err="1"/>
                  <a:t>has</a:t>
                </a:r>
                <a:r>
                  <a:rPr lang="he-IL" dirty="0"/>
                  <a:t> </a:t>
                </a:r>
                <a:r>
                  <a:rPr lang="he-IL" dirty="0" err="1"/>
                  <a:t>heavier</a:t>
                </a:r>
                <a:r>
                  <a:rPr lang="he-IL" dirty="0"/>
                  <a:t> </a:t>
                </a:r>
                <a:r>
                  <a:rPr lang="he-IL" dirty="0" err="1"/>
                  <a:t>tails</a:t>
                </a:r>
                <a:r>
                  <a:rPr lang="he-IL" dirty="0"/>
                  <a:t> </a:t>
                </a:r>
                <a:r>
                  <a:rPr lang="he-IL" dirty="0" err="1"/>
                  <a:t>because</a:t>
                </a:r>
                <a:r>
                  <a:rPr lang="he-IL" dirty="0"/>
                  <a:t> the </a:t>
                </a:r>
                <a:r>
                  <a:rPr lang="he-IL" dirty="0" err="1"/>
                  <a:t>standard</a:t>
                </a:r>
                <a:r>
                  <a:rPr lang="he-IL" dirty="0"/>
                  <a:t> </a:t>
                </a:r>
                <a:r>
                  <a:rPr lang="he-IL" dirty="0" err="1"/>
                  <a:t>deviation</a:t>
                </a:r>
                <a:r>
                  <a:rPr lang="he-IL" dirty="0"/>
                  <a:t> is </a:t>
                </a:r>
                <a:r>
                  <a:rPr lang="he-IL" dirty="0" err="1"/>
                  <a:t>estimated</a:t>
                </a:r>
                <a:r>
                  <a:rPr lang="he-IL" dirty="0"/>
                  <a:t> with more </a:t>
                </a:r>
                <a:r>
                  <a:rPr lang="he-IL" dirty="0" err="1"/>
                  <a:t>uncertainty</a:t>
                </a:r>
                <a:r>
                  <a:rPr lang="he-IL" dirty="0"/>
                  <a:t>.</a:t>
                </a:r>
              </a:p>
            </p:txBody>
          </p:sp>
        </mc:Fallback>
      </mc:AlternateContent>
      <p:sp>
        <p:nvSpPr>
          <p:cNvPr id="4" name="Slide Number Placeholder 3"/>
          <p:cNvSpPr>
            <a:spLocks noGrp="1"/>
          </p:cNvSpPr>
          <p:nvPr>
            <p:ph type="sldNum" sz="quarter" idx="5"/>
          </p:nvPr>
        </p:nvSpPr>
        <p:spPr/>
        <p:txBody>
          <a:bodyPr/>
          <a:lstStyle/>
          <a:p>
            <a:fld id="{D5E2C206-B79F-4FAD-948A-1F55E500568F}" type="slidenum">
              <a:rPr lang="he-IL" smtClean="0"/>
              <a:pPr/>
              <a:t>111</a:t>
            </a:fld>
            <a:endParaRPr lang="he-IL" dirty="0"/>
          </a:p>
        </p:txBody>
      </p:sp>
    </p:spTree>
    <p:extLst>
      <p:ext uri="{BB962C8B-B14F-4D97-AF65-F5344CB8AC3E}">
        <p14:creationId xmlns:p14="http://schemas.microsoft.com/office/powerpoint/2010/main" val="184938979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2F6D3-B24A-9A2D-04D9-FC20DC53067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9BD2AA32-0B53-24F5-F063-7D97BFB22120}"/>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91878F72-CA54-896A-9E84-3FCEE00573D9}"/>
              </a:ext>
            </a:extLst>
          </p:cNvPr>
          <p:cNvSpPr>
            <a:spLocks noGrp="1"/>
          </p:cNvSpPr>
          <p:nvPr>
            <p:ph type="body" idx="1"/>
          </p:nvPr>
        </p:nvSpPr>
        <p:spPr/>
        <p:txBody>
          <a:bodyPr/>
          <a:lstStyle/>
          <a:p>
            <a:pPr marL="0" indent="0" algn="l" rtl="0">
              <a:lnSpc>
                <a:spcPct val="150000"/>
              </a:lnSpc>
              <a:buNone/>
            </a:pPr>
            <a:endParaRPr lang="en-US" sz="1200" dirty="0"/>
          </a:p>
        </p:txBody>
      </p:sp>
      <p:sp>
        <p:nvSpPr>
          <p:cNvPr id="4" name="מציין מיקום של מספר שקופית 3">
            <a:extLst>
              <a:ext uri="{FF2B5EF4-FFF2-40B4-BE49-F238E27FC236}">
                <a16:creationId xmlns:a16="http://schemas.microsoft.com/office/drawing/2014/main" id="{3E38084A-2FAA-BBA4-0E4B-ECBDF0350885}"/>
              </a:ext>
            </a:extLst>
          </p:cNvPr>
          <p:cNvSpPr>
            <a:spLocks noGrp="1"/>
          </p:cNvSpPr>
          <p:nvPr>
            <p:ph type="sldNum" sz="quarter" idx="5"/>
          </p:nvPr>
        </p:nvSpPr>
        <p:spPr/>
        <p:txBody>
          <a:bodyPr/>
          <a:lstStyle/>
          <a:p>
            <a:fld id="{A1E11DC0-99CE-47C6-901A-2977A6CAE1ED}" type="slidenum">
              <a:rPr lang="he-IL" smtClean="0"/>
              <a:t>112</a:t>
            </a:fld>
            <a:endParaRPr lang="he-IL"/>
          </a:p>
        </p:txBody>
      </p:sp>
    </p:spTree>
    <p:extLst>
      <p:ext uri="{BB962C8B-B14F-4D97-AF65-F5344CB8AC3E}">
        <p14:creationId xmlns:p14="http://schemas.microsoft.com/office/powerpoint/2010/main" val="158648361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txBody>
          <a:bodyPr/>
          <a:lstStyle/>
          <a:p>
            <a:endParaRPr lang="he-IL"/>
          </a:p>
        </p:txBody>
      </p:sp>
      <p:sp>
        <p:nvSpPr>
          <p:cNvPr id="3" name="מציין מיקום של הערות 2"/>
          <p:cNvSpPr>
            <a:spLocks noGrp="1"/>
          </p:cNvSpPr>
          <p:nvPr>
            <p:ph type="body" idx="1"/>
          </p:nvPr>
        </p:nvSpPr>
        <p:spPr/>
        <p:txBody>
          <a:bodyPr/>
          <a:lstStyle/>
          <a:p>
            <a:pPr marL="0" indent="0" algn="l" rtl="0">
              <a:lnSpc>
                <a:spcPct val="150000"/>
              </a:lnSpc>
              <a:buNone/>
            </a:pPr>
            <a:endParaRPr lang="en-US" sz="1200" dirty="0"/>
          </a:p>
        </p:txBody>
      </p:sp>
      <p:sp>
        <p:nvSpPr>
          <p:cNvPr id="4" name="מציין מיקום של מספר שקופית 3"/>
          <p:cNvSpPr>
            <a:spLocks noGrp="1"/>
          </p:cNvSpPr>
          <p:nvPr>
            <p:ph type="sldNum" sz="quarter" idx="5"/>
          </p:nvPr>
        </p:nvSpPr>
        <p:spPr/>
        <p:txBody>
          <a:bodyPr/>
          <a:lstStyle/>
          <a:p>
            <a:fld id="{A1E11DC0-99CE-47C6-901A-2977A6CAE1ED}" type="slidenum">
              <a:rPr lang="he-IL" smtClean="0"/>
              <a:t>113</a:t>
            </a:fld>
            <a:endParaRPr lang="he-IL"/>
          </a:p>
        </p:txBody>
      </p:sp>
    </p:spTree>
    <p:extLst>
      <p:ext uri="{BB962C8B-B14F-4D97-AF65-F5344CB8AC3E}">
        <p14:creationId xmlns:p14="http://schemas.microsoft.com/office/powerpoint/2010/main" val="34051547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D73C0-FA8B-355E-9737-E0754ECD9940}"/>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8297D2C2-7AA5-F018-B09B-658255018C4D}"/>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F701EC67-E027-1A1B-ADDC-39714332BCF2}"/>
              </a:ext>
            </a:extLst>
          </p:cNvPr>
          <p:cNvSpPr>
            <a:spLocks noGrp="1"/>
          </p:cNvSpPr>
          <p:nvPr>
            <p:ph type="body" idx="1"/>
          </p:nvPr>
        </p:nvSpPr>
        <p:spPr/>
        <p:txBody>
          <a:bodyPr/>
          <a:lstStyle/>
          <a:p>
            <a:r>
              <a:rPr lang="en-US" dirty="0"/>
              <a:t>The confidence interval does not include 0, which is consistent with rejecting the null hypothesis. The p-value is very small, meaning that such a large t-statistic would be very unlikely under the null hypothesis of no mean difference.</a:t>
            </a:r>
            <a:endParaRPr lang="he-IL" dirty="0"/>
          </a:p>
        </p:txBody>
      </p:sp>
      <p:sp>
        <p:nvSpPr>
          <p:cNvPr id="4" name="מציין מיקום של מספר שקופית 3">
            <a:extLst>
              <a:ext uri="{FF2B5EF4-FFF2-40B4-BE49-F238E27FC236}">
                <a16:creationId xmlns:a16="http://schemas.microsoft.com/office/drawing/2014/main" id="{633CDBE0-55F2-6710-76BE-A0C62BACC118}"/>
              </a:ext>
            </a:extLst>
          </p:cNvPr>
          <p:cNvSpPr>
            <a:spLocks noGrp="1"/>
          </p:cNvSpPr>
          <p:nvPr>
            <p:ph type="sldNum" sz="quarter" idx="5"/>
          </p:nvPr>
        </p:nvSpPr>
        <p:spPr/>
        <p:txBody>
          <a:bodyPr/>
          <a:lstStyle/>
          <a:p>
            <a:fld id="{A1E11DC0-99CE-47C6-901A-2977A6CAE1ED}" type="slidenum">
              <a:rPr lang="he-IL" smtClean="0"/>
              <a:t>114</a:t>
            </a:fld>
            <a:endParaRPr lang="he-IL"/>
          </a:p>
        </p:txBody>
      </p:sp>
    </p:spTree>
    <p:extLst>
      <p:ext uri="{BB962C8B-B14F-4D97-AF65-F5344CB8AC3E}">
        <p14:creationId xmlns:p14="http://schemas.microsoft.com/office/powerpoint/2010/main" val="27028194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F72BA-22B6-409F-09B4-3AF90C2D3722}"/>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509AEAB-FFE5-606C-24A3-9457F3D819D1}"/>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8283FE0E-E78B-97E2-B71B-45BF4105D3F0}"/>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7318EB01-066B-25AF-30F6-1F72E1066C8D}"/>
              </a:ext>
            </a:extLst>
          </p:cNvPr>
          <p:cNvSpPr>
            <a:spLocks noGrp="1"/>
          </p:cNvSpPr>
          <p:nvPr>
            <p:ph type="sldNum" sz="quarter" idx="5"/>
          </p:nvPr>
        </p:nvSpPr>
        <p:spPr/>
        <p:txBody>
          <a:bodyPr/>
          <a:lstStyle/>
          <a:p>
            <a:fld id="{A1E11DC0-99CE-47C6-901A-2977A6CAE1ED}" type="slidenum">
              <a:rPr lang="he-IL" smtClean="0"/>
              <a:t>115</a:t>
            </a:fld>
            <a:endParaRPr lang="he-IL"/>
          </a:p>
        </p:txBody>
      </p:sp>
    </p:spTree>
    <p:extLst>
      <p:ext uri="{BB962C8B-B14F-4D97-AF65-F5344CB8AC3E}">
        <p14:creationId xmlns:p14="http://schemas.microsoft.com/office/powerpoint/2010/main" val="186634060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E14D1-D884-D5F8-419A-56B7C5B4AFE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220B0056-C71F-BD83-BD10-B4D089FBFC79}"/>
              </a:ext>
            </a:extLst>
          </p:cNvPr>
          <p:cNvSpPr>
            <a:spLocks noGrp="1" noRot="1" noChangeAspect="1"/>
          </p:cNvSpPr>
          <p:nvPr>
            <p:ph type="sldImg"/>
          </p:nvPr>
        </p:nvSpPr>
        <p:spPr/>
        <p:txBody>
          <a:bodyPr/>
          <a:lstStyle/>
          <a:p>
            <a:endParaRPr lang="he-IL"/>
          </a:p>
        </p:txBody>
      </p:sp>
      <p:sp>
        <p:nvSpPr>
          <p:cNvPr id="3" name="מציין מיקום של הערות 2">
            <a:extLst>
              <a:ext uri="{FF2B5EF4-FFF2-40B4-BE49-F238E27FC236}">
                <a16:creationId xmlns:a16="http://schemas.microsoft.com/office/drawing/2014/main" id="{88E1F864-17B8-7AA2-AA29-7B45F66B8AB4}"/>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2F2F591D-B3C9-A863-9235-E043D2C4FAB6}"/>
              </a:ext>
            </a:extLst>
          </p:cNvPr>
          <p:cNvSpPr>
            <a:spLocks noGrp="1"/>
          </p:cNvSpPr>
          <p:nvPr>
            <p:ph type="sldNum" sz="quarter" idx="5"/>
          </p:nvPr>
        </p:nvSpPr>
        <p:spPr/>
        <p:txBody>
          <a:bodyPr/>
          <a:lstStyle/>
          <a:p>
            <a:fld id="{A1E11DC0-99CE-47C6-901A-2977A6CAE1ED}" type="slidenum">
              <a:rPr lang="he-IL" smtClean="0"/>
              <a:t>116</a:t>
            </a:fld>
            <a:endParaRPr lang="he-IL"/>
          </a:p>
        </p:txBody>
      </p:sp>
    </p:spTree>
    <p:extLst>
      <p:ext uri="{BB962C8B-B14F-4D97-AF65-F5344CB8AC3E}">
        <p14:creationId xmlns:p14="http://schemas.microsoft.com/office/powerpoint/2010/main" val="431303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9F09E-E624-A6D2-5F1D-7A885462E1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438DF84D-8776-9A5E-A084-C243706C53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3CC28705-C6A8-AB74-4FAD-C8A929C33C51}"/>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5" name="Footer Placeholder 4">
            <a:extLst>
              <a:ext uri="{FF2B5EF4-FFF2-40B4-BE49-F238E27FC236}">
                <a16:creationId xmlns:a16="http://schemas.microsoft.com/office/drawing/2014/main" id="{1B845146-E235-BBA6-8D17-E6F69A390B2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8859073F-BFAB-44CA-2178-808529538B41}"/>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1551878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BD748-2090-89F0-2F0C-8712A331EF60}"/>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2F0A3A5C-0935-10DA-CD12-67EBB6D62D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9B9B03C9-3E32-AB40-F63A-69212808A815}"/>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5" name="Footer Placeholder 4">
            <a:extLst>
              <a:ext uri="{FF2B5EF4-FFF2-40B4-BE49-F238E27FC236}">
                <a16:creationId xmlns:a16="http://schemas.microsoft.com/office/drawing/2014/main" id="{B5CB429D-682D-1F71-DD3B-334504496C6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A75BAA21-C558-2A41-D538-7BB3942DEBF4}"/>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420161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75215-6051-D4C8-C9D0-10F08F7674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C7B235EC-8D63-F307-F2AC-3B1C7D87F0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E2B0DE-D319-FAF1-DC19-D464A87055E1}"/>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5" name="Footer Placeholder 4">
            <a:extLst>
              <a:ext uri="{FF2B5EF4-FFF2-40B4-BE49-F238E27FC236}">
                <a16:creationId xmlns:a16="http://schemas.microsoft.com/office/drawing/2014/main" id="{3E2832B8-51ED-F78E-A220-2BA3417C5776}"/>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060FEB4-36BA-8FA9-9388-E690C6CC8E53}"/>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1914918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27F4E-214D-6ED3-A18A-787A0913FC2B}"/>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A2E32637-F913-B786-0A95-EC3BDDEC56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964548D7-158B-8FFC-105B-710C104EBD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DBFAB3E2-AE3C-64BC-BB41-4DB3C1BEF201}"/>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6" name="Footer Placeholder 5">
            <a:extLst>
              <a:ext uri="{FF2B5EF4-FFF2-40B4-BE49-F238E27FC236}">
                <a16:creationId xmlns:a16="http://schemas.microsoft.com/office/drawing/2014/main" id="{0F61E4BC-C34E-06D9-D9DD-40D927DC75BD}"/>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DFEBC10C-A68B-6760-A3B4-398C89E076EE}"/>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1286928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1D4A-267E-5C92-E97F-664A533AE70F}"/>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153FEAB0-018F-3676-C399-165662FC6C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E71C15-9C60-BFC5-2284-CA704E7824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70EA8149-E338-2844-5A7D-E1713B0975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6FC64C-1482-CBC9-C9BC-3661F4497E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1244C896-292E-AC5D-71F4-EBD0EC0653EF}"/>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8" name="Footer Placeholder 7">
            <a:extLst>
              <a:ext uri="{FF2B5EF4-FFF2-40B4-BE49-F238E27FC236}">
                <a16:creationId xmlns:a16="http://schemas.microsoft.com/office/drawing/2014/main" id="{93C2C7C4-135B-0746-313A-C8946D1BC34C}"/>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3F7F6CF1-D428-5512-4F16-C206B4F127F2}"/>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628960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7A78C-73C4-E0F3-2DC6-638A666DD062}"/>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BC8C5245-B2E2-E216-42D2-11D2FD9E63D1}"/>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4" name="Footer Placeholder 3">
            <a:extLst>
              <a:ext uri="{FF2B5EF4-FFF2-40B4-BE49-F238E27FC236}">
                <a16:creationId xmlns:a16="http://schemas.microsoft.com/office/drawing/2014/main" id="{13817C68-A587-B736-7128-743FBE304A8C}"/>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3BD0529B-95C8-4246-E6FE-41B04B5BBE93}"/>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3319361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386D8D-CFDB-E9D1-C68D-B4FDCD7A635C}"/>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3" name="Footer Placeholder 2">
            <a:extLst>
              <a:ext uri="{FF2B5EF4-FFF2-40B4-BE49-F238E27FC236}">
                <a16:creationId xmlns:a16="http://schemas.microsoft.com/office/drawing/2014/main" id="{75B3A763-9139-650D-13C4-C7563D1DFB77}"/>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3283FBF7-17BE-0DED-2D50-67201130B798}"/>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1497732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A2521-137D-2100-90F8-D43E5404D3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F9EB4D79-7353-7FB8-216C-91487F7190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06B51AF6-5EE4-5410-64B2-BEEC37A39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312E84-E281-2A19-F892-22E42C8C78A9}"/>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6" name="Footer Placeholder 5">
            <a:extLst>
              <a:ext uri="{FF2B5EF4-FFF2-40B4-BE49-F238E27FC236}">
                <a16:creationId xmlns:a16="http://schemas.microsoft.com/office/drawing/2014/main" id="{4306EF76-CDA9-D812-0175-F991166C3E75}"/>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5F0C2E34-758F-6163-5C85-D913D2FD57B3}"/>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549464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971B7-EFE9-D83F-258E-DB0AAAAD61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31FA2E87-B342-1B95-32AF-1156CB922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3AC8578C-5274-1322-DC8D-66AB15104A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F07DB0-3D00-5348-AC68-65B84FC3FCF2}"/>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6" name="Footer Placeholder 5">
            <a:extLst>
              <a:ext uri="{FF2B5EF4-FFF2-40B4-BE49-F238E27FC236}">
                <a16:creationId xmlns:a16="http://schemas.microsoft.com/office/drawing/2014/main" id="{92F5728C-D37B-AFB2-2921-B389D186E95F}"/>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B5199958-F7DF-AB24-E606-D9C5DF846460}"/>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2419404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744F5-2F2C-5211-FE22-E0966785DB4E}"/>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56FDC66A-F171-1A5E-DCC4-36F77FB095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E03AEBDF-35F8-0836-7AB8-EBEC75C67B85}"/>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5" name="Footer Placeholder 4">
            <a:extLst>
              <a:ext uri="{FF2B5EF4-FFF2-40B4-BE49-F238E27FC236}">
                <a16:creationId xmlns:a16="http://schemas.microsoft.com/office/drawing/2014/main" id="{C3D3498D-E125-9685-E67A-2A6C881D1FA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BA77E52D-D42B-8D99-6261-7E4A13048AEC}"/>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1845732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4A9913-7A24-ECBA-FAAB-B449D925D7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79D7C2C4-30A3-94FC-D3D8-2F96D9972A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23994FE5-E4AA-16FF-F1D0-E17897CE3ACB}"/>
              </a:ext>
            </a:extLst>
          </p:cNvPr>
          <p:cNvSpPr>
            <a:spLocks noGrp="1"/>
          </p:cNvSpPr>
          <p:nvPr>
            <p:ph type="dt" sz="half" idx="10"/>
          </p:nvPr>
        </p:nvSpPr>
        <p:spPr/>
        <p:txBody>
          <a:bodyPr/>
          <a:lstStyle/>
          <a:p>
            <a:fld id="{750D93A0-5B73-441B-94AB-EBD495CFCE2C}" type="datetimeFigureOut">
              <a:rPr lang="he-IL" smtClean="0"/>
              <a:t>י"ז/סיון/תשפ"ו</a:t>
            </a:fld>
            <a:endParaRPr lang="he-IL"/>
          </a:p>
        </p:txBody>
      </p:sp>
      <p:sp>
        <p:nvSpPr>
          <p:cNvPr id="5" name="Footer Placeholder 4">
            <a:extLst>
              <a:ext uri="{FF2B5EF4-FFF2-40B4-BE49-F238E27FC236}">
                <a16:creationId xmlns:a16="http://schemas.microsoft.com/office/drawing/2014/main" id="{5F7F618A-00FA-E6B4-71F0-FD7BF99C7E3E}"/>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59B5E0C7-4C3A-CF4F-E21C-D91629A7E00A}"/>
              </a:ext>
            </a:extLst>
          </p:cNvPr>
          <p:cNvSpPr>
            <a:spLocks noGrp="1"/>
          </p:cNvSpPr>
          <p:nvPr>
            <p:ph type="sldNum" sz="quarter" idx="12"/>
          </p:nvPr>
        </p:nvSpPr>
        <p:spPr/>
        <p:txBody>
          <a:bodyPr/>
          <a:lstStyle/>
          <a:p>
            <a:fld id="{64256074-C8D2-4F44-B530-A1A5D1CF9F3F}" type="slidenum">
              <a:rPr lang="he-IL" smtClean="0"/>
              <a:t>‹#›</a:t>
            </a:fld>
            <a:endParaRPr lang="he-IL"/>
          </a:p>
        </p:txBody>
      </p:sp>
    </p:spTree>
    <p:extLst>
      <p:ext uri="{BB962C8B-B14F-4D97-AF65-F5344CB8AC3E}">
        <p14:creationId xmlns:p14="http://schemas.microsoft.com/office/powerpoint/2010/main" val="287049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FED1A-5E78-19B2-8151-13BE3C53ED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he-IL" dirty="0"/>
          </a:p>
        </p:txBody>
      </p:sp>
      <p:sp>
        <p:nvSpPr>
          <p:cNvPr id="3" name="Text Placeholder 2">
            <a:extLst>
              <a:ext uri="{FF2B5EF4-FFF2-40B4-BE49-F238E27FC236}">
                <a16:creationId xmlns:a16="http://schemas.microsoft.com/office/drawing/2014/main" id="{F1FD8411-DCA4-F73A-F7F8-364D034F7F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4" name="Date Placeholder 3">
            <a:extLst>
              <a:ext uri="{FF2B5EF4-FFF2-40B4-BE49-F238E27FC236}">
                <a16:creationId xmlns:a16="http://schemas.microsoft.com/office/drawing/2014/main" id="{33A9488E-D203-EC7E-6384-D0E6448811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David" panose="020E0502060401010101" pitchFamily="34" charset="-79"/>
              </a:defRPr>
            </a:lvl1pPr>
          </a:lstStyle>
          <a:p>
            <a:fld id="{750D93A0-5B73-441B-94AB-EBD495CFCE2C}" type="datetimeFigureOut">
              <a:rPr lang="he-IL" smtClean="0"/>
              <a:pPr/>
              <a:t>י"ז/סיון/תשפ"ו</a:t>
            </a:fld>
            <a:endParaRPr lang="he-IL" dirty="0"/>
          </a:p>
        </p:txBody>
      </p:sp>
      <p:sp>
        <p:nvSpPr>
          <p:cNvPr id="5" name="Footer Placeholder 4">
            <a:extLst>
              <a:ext uri="{FF2B5EF4-FFF2-40B4-BE49-F238E27FC236}">
                <a16:creationId xmlns:a16="http://schemas.microsoft.com/office/drawing/2014/main" id="{E30A20FF-DF06-999F-8909-C89E7B6C78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David" panose="020E0502060401010101" pitchFamily="34" charset="-79"/>
              </a:defRPr>
            </a:lvl1pPr>
          </a:lstStyle>
          <a:p>
            <a:endParaRPr lang="he-IL" dirty="0"/>
          </a:p>
        </p:txBody>
      </p:sp>
      <p:sp>
        <p:nvSpPr>
          <p:cNvPr id="6" name="Slide Number Placeholder 5">
            <a:extLst>
              <a:ext uri="{FF2B5EF4-FFF2-40B4-BE49-F238E27FC236}">
                <a16:creationId xmlns:a16="http://schemas.microsoft.com/office/drawing/2014/main" id="{9049CDBD-A511-280B-1051-F6746E1E51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David" panose="020E0502060401010101" pitchFamily="34" charset="-79"/>
              </a:defRPr>
            </a:lvl1pPr>
          </a:lstStyle>
          <a:p>
            <a:fld id="{64256074-C8D2-4F44-B530-A1A5D1CF9F3F}" type="slidenum">
              <a:rPr lang="he-IL" smtClean="0"/>
              <a:pPr/>
              <a:t>‹#›</a:t>
            </a:fld>
            <a:endParaRPr lang="he-IL" dirty="0"/>
          </a:p>
        </p:txBody>
      </p:sp>
    </p:spTree>
    <p:extLst>
      <p:ext uri="{BB962C8B-B14F-4D97-AF65-F5344CB8AC3E}">
        <p14:creationId xmlns:p14="http://schemas.microsoft.com/office/powerpoint/2010/main" val="3714963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David" panose="020E0502060401010101" pitchFamily="34" charset="-79"/>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6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hyperlink" Target="https://docs.scipy.org/doc/scipy/reference/generated/scipy.stats.ttest_rel.html" TargetMode="External"/><Relationship Id="rId4" Type="http://schemas.openxmlformats.org/officeDocument/2006/relationships/image" Target="../media/image65.png"/></Relationships>
</file>

<file path=ppt/slides/_rels/slide71.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75.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73.jpg"/></Relationships>
</file>

<file path=ppt/slides/_rels/slide7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7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9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9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10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10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00.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10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113.xml.rels><?xml version="1.0" encoding="UTF-8" standalone="yes"?>
<Relationships xmlns="http://schemas.openxmlformats.org/package/2006/relationships"><Relationship Id="rId3" Type="http://schemas.openxmlformats.org/officeDocument/2006/relationships/image" Target="../media/image1050.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39AA4-DC6F-AC25-85E9-23B70AA841D1}"/>
              </a:ext>
            </a:extLst>
          </p:cNvPr>
          <p:cNvSpPr>
            <a:spLocks noGrp="1"/>
          </p:cNvSpPr>
          <p:nvPr>
            <p:ph type="ctrTitle"/>
          </p:nvPr>
        </p:nvSpPr>
        <p:spPr>
          <a:xfrm>
            <a:off x="1524000" y="1415332"/>
            <a:ext cx="9144000" cy="1267695"/>
          </a:xfrm>
        </p:spPr>
        <p:txBody>
          <a:bodyPr/>
          <a:lstStyle/>
          <a:p>
            <a:r>
              <a:rPr lang="en-US" dirty="0"/>
              <a:t>Tutorial </a:t>
            </a:r>
            <a:r>
              <a:rPr lang="he-IL" dirty="0"/>
              <a:t>6</a:t>
            </a:r>
            <a:endParaRPr lang="LID4096" dirty="0"/>
          </a:p>
        </p:txBody>
      </p:sp>
      <p:sp>
        <p:nvSpPr>
          <p:cNvPr id="3" name="Subtitle 2">
            <a:extLst>
              <a:ext uri="{FF2B5EF4-FFF2-40B4-BE49-F238E27FC236}">
                <a16:creationId xmlns:a16="http://schemas.microsoft.com/office/drawing/2014/main" id="{06ABFF89-9CAA-78A3-9827-25C0441AF86F}"/>
              </a:ext>
            </a:extLst>
          </p:cNvPr>
          <p:cNvSpPr>
            <a:spLocks noGrp="1"/>
          </p:cNvSpPr>
          <p:nvPr>
            <p:ph type="subTitle" idx="1"/>
          </p:nvPr>
        </p:nvSpPr>
        <p:spPr/>
        <p:txBody>
          <a:bodyPr/>
          <a:lstStyle/>
          <a:p>
            <a:r>
              <a:rPr lang="en-US" dirty="0"/>
              <a:t>Statistical Computation and Analysis</a:t>
            </a:r>
          </a:p>
          <a:p>
            <a:r>
              <a:rPr lang="en-US" dirty="0"/>
              <a:t>Spring 2026</a:t>
            </a:r>
            <a:endParaRPr lang="LID4096" dirty="0"/>
          </a:p>
        </p:txBody>
      </p:sp>
      <p:sp>
        <p:nvSpPr>
          <p:cNvPr id="4" name="מציין מיקום של מספר שקופית 3">
            <a:extLst>
              <a:ext uri="{FF2B5EF4-FFF2-40B4-BE49-F238E27FC236}">
                <a16:creationId xmlns:a16="http://schemas.microsoft.com/office/drawing/2014/main" id="{5A626382-5653-EECD-4173-5FECADC55935}"/>
              </a:ext>
            </a:extLst>
          </p:cNvPr>
          <p:cNvSpPr>
            <a:spLocks noGrp="1"/>
          </p:cNvSpPr>
          <p:nvPr>
            <p:ph type="sldNum" sz="quarter" idx="12"/>
          </p:nvPr>
        </p:nvSpPr>
        <p:spPr/>
        <p:txBody>
          <a:bodyPr/>
          <a:lstStyle/>
          <a:p>
            <a:fld id="{B6796F57-8306-40D4-9229-37A3D19F0B5F}" type="slidenum">
              <a:rPr lang="LID4096" smtClean="0"/>
              <a:t>1</a:t>
            </a:fld>
            <a:endParaRPr lang="LID4096" dirty="0"/>
          </a:p>
        </p:txBody>
      </p:sp>
    </p:spTree>
    <p:extLst>
      <p:ext uri="{BB962C8B-B14F-4D97-AF65-F5344CB8AC3E}">
        <p14:creationId xmlns:p14="http://schemas.microsoft.com/office/powerpoint/2010/main" val="163377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pPr algn="l" rtl="0"/>
            <a:r>
              <a:rPr lang="en-US" dirty="0"/>
              <a:t>Tutorial Outline</a:t>
            </a:r>
            <a:endParaRPr lang="LID4096" dirty="0"/>
          </a:p>
        </p:txBody>
      </p:sp>
      <p:sp>
        <p:nvSpPr>
          <p:cNvPr id="3" name="Content Placeholder 2">
            <a:extLst>
              <a:ext uri="{FF2B5EF4-FFF2-40B4-BE49-F238E27FC236}">
                <a16:creationId xmlns:a16="http://schemas.microsoft.com/office/drawing/2014/main" id="{7220153A-0E02-CB25-A797-F3303E23640F}"/>
              </a:ext>
            </a:extLst>
          </p:cNvPr>
          <p:cNvSpPr>
            <a:spLocks noGrp="1"/>
          </p:cNvSpPr>
          <p:nvPr>
            <p:ph idx="1"/>
          </p:nvPr>
        </p:nvSpPr>
        <p:spPr>
          <a:xfrm>
            <a:off x="838200" y="1342771"/>
            <a:ext cx="10445496" cy="4801998"/>
          </a:xfrm>
        </p:spPr>
        <p:txBody>
          <a:bodyPr>
            <a:normAutofit fontScale="85000" lnSpcReduction="20000"/>
          </a:bodyPr>
          <a:lstStyle/>
          <a:p>
            <a:pPr algn="l" rtl="0">
              <a:lnSpc>
                <a:spcPct val="150000"/>
              </a:lnSpc>
            </a:pPr>
            <a:r>
              <a:rPr lang="en-US" sz="2400" dirty="0">
                <a:cs typeface="David" panose="020E0502060401010101" pitchFamily="34" charset="-79"/>
              </a:rPr>
              <a:t>Short revision: Type I &amp; II errors and z-test</a:t>
            </a:r>
          </a:p>
          <a:p>
            <a:pPr algn="l" rtl="0">
              <a:lnSpc>
                <a:spcPct val="150000"/>
              </a:lnSpc>
            </a:pPr>
            <a:r>
              <a:rPr lang="en-US" sz="2400" dirty="0">
                <a:cs typeface="David" panose="020E0502060401010101" pitchFamily="34" charset="-79"/>
              </a:rPr>
              <a:t>Continuous data</a:t>
            </a:r>
          </a:p>
          <a:p>
            <a:pPr algn="l" rtl="0">
              <a:lnSpc>
                <a:spcPct val="150000"/>
              </a:lnSpc>
            </a:pPr>
            <a:r>
              <a:rPr lang="en-US" sz="2400" dirty="0">
                <a:cs typeface="David" panose="020E0502060401010101" pitchFamily="34" charset="-79"/>
              </a:rPr>
              <a:t>Normal models</a:t>
            </a:r>
          </a:p>
          <a:p>
            <a:pPr algn="l" rtl="0">
              <a:lnSpc>
                <a:spcPct val="150000"/>
              </a:lnSpc>
            </a:pPr>
            <a:r>
              <a:rPr lang="en-US" sz="2400" dirty="0">
                <a:cs typeface="David" panose="020E0502060401010101" pitchFamily="34" charset="-79"/>
              </a:rPr>
              <a:t>Bayesian p-values</a:t>
            </a:r>
          </a:p>
          <a:p>
            <a:pPr algn="l" rtl="0">
              <a:lnSpc>
                <a:spcPct val="150000"/>
              </a:lnSpc>
            </a:pPr>
            <a:r>
              <a:rPr lang="en-US" sz="2400" dirty="0">
                <a:cs typeface="David" panose="020E0502060401010101" pitchFamily="34" charset="-79"/>
              </a:rPr>
              <a:t>Paired data</a:t>
            </a:r>
          </a:p>
          <a:p>
            <a:pPr algn="l" rtl="0">
              <a:lnSpc>
                <a:spcPct val="150000"/>
              </a:lnSpc>
            </a:pPr>
            <a:r>
              <a:rPr lang="en-US" sz="2400" dirty="0">
                <a:cs typeface="David" panose="020E0502060401010101" pitchFamily="34" charset="-79"/>
              </a:rPr>
              <a:t>Unpaired data </a:t>
            </a:r>
          </a:p>
          <a:p>
            <a:pPr algn="l" rtl="0">
              <a:lnSpc>
                <a:spcPct val="150000"/>
              </a:lnSpc>
            </a:pPr>
            <a:r>
              <a:rPr lang="en-US" sz="2400" dirty="0">
                <a:cs typeface="David" panose="020E0502060401010101" pitchFamily="34" charset="-79"/>
              </a:rPr>
              <a:t>Shared versus separate sigma in Bayesian models</a:t>
            </a:r>
          </a:p>
          <a:p>
            <a:pPr algn="l" rtl="0">
              <a:lnSpc>
                <a:spcPct val="150000"/>
              </a:lnSpc>
            </a:pPr>
            <a:r>
              <a:rPr lang="en-US" sz="2400" dirty="0">
                <a:cs typeface="David" panose="020E0502060401010101" pitchFamily="34" charset="-79"/>
              </a:rPr>
              <a:t>Student-t distribution &amp; Robust models</a:t>
            </a:r>
          </a:p>
          <a:p>
            <a:pPr algn="l" rtl="0">
              <a:lnSpc>
                <a:spcPct val="150000"/>
              </a:lnSpc>
            </a:pPr>
            <a:r>
              <a:rPr lang="en-US" sz="2400" dirty="0">
                <a:cs typeface="David" panose="020E0502060401010101" pitchFamily="34" charset="-79"/>
              </a:rPr>
              <a:t>Frequentist t-tests</a:t>
            </a:r>
          </a:p>
        </p:txBody>
      </p:sp>
      <p:sp>
        <p:nvSpPr>
          <p:cNvPr id="4" name="מציין מיקום של מספר שקופית 3">
            <a:extLst>
              <a:ext uri="{FF2B5EF4-FFF2-40B4-BE49-F238E27FC236}">
                <a16:creationId xmlns:a16="http://schemas.microsoft.com/office/drawing/2014/main" id="{49FB8A29-817C-0AE9-3536-E610EF5AEFA9}"/>
              </a:ext>
            </a:extLst>
          </p:cNvPr>
          <p:cNvSpPr>
            <a:spLocks noGrp="1"/>
          </p:cNvSpPr>
          <p:nvPr>
            <p:ph type="sldNum" sz="quarter" idx="12"/>
          </p:nvPr>
        </p:nvSpPr>
        <p:spPr/>
        <p:txBody>
          <a:bodyPr/>
          <a:lstStyle/>
          <a:p>
            <a:fld id="{B6796F57-8306-40D4-9229-37A3D19F0B5F}" type="slidenum">
              <a:rPr lang="LID4096" smtClean="0"/>
              <a:t>2</a:t>
            </a:fld>
            <a:endParaRPr lang="LID4096"/>
          </a:p>
        </p:txBody>
      </p:sp>
    </p:spTree>
    <p:extLst>
      <p:ext uri="{BB962C8B-B14F-4D97-AF65-F5344CB8AC3E}">
        <p14:creationId xmlns:p14="http://schemas.microsoft.com/office/powerpoint/2010/main" val="2932639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3A34D-BA8F-DEB1-FD2A-0E82AD7E1211}"/>
              </a:ext>
            </a:extLst>
          </p:cNvPr>
          <p:cNvSpPr>
            <a:spLocks noGrp="1"/>
          </p:cNvSpPr>
          <p:nvPr>
            <p:ph type="title"/>
          </p:nvPr>
        </p:nvSpPr>
        <p:spPr/>
        <p:txBody>
          <a:bodyPr/>
          <a:lstStyle/>
          <a:p>
            <a:r>
              <a:rPr lang="en-US" dirty="0"/>
              <a:t>Type I and Type II Errors</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42E394-D9C7-C30E-AC71-BAF620139AEC}"/>
                  </a:ext>
                </a:extLst>
              </p:cNvPr>
              <p:cNvSpPr>
                <a:spLocks noGrp="1"/>
              </p:cNvSpPr>
              <p:nvPr>
                <p:ph idx="1"/>
              </p:nvPr>
            </p:nvSpPr>
            <p:spPr/>
            <p:txBody>
              <a:bodyPr>
                <a:normAutofit/>
              </a:bodyPr>
              <a:lstStyle/>
              <a:p>
                <a:r>
                  <a:rPr lang="en-US" dirty="0"/>
                  <a:t>In a hypothesis test, there are two possible states of reality:</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r>
                        <a:rPr lang="en-US" i="1" dirty="0" smtClean="0">
                          <a:latin typeface="Cambria Math" panose="02040503050406030204" pitchFamily="18" charset="0"/>
                        </a:rPr>
                        <m:t> " </m:t>
                      </m:r>
                      <m:r>
                        <m:rPr>
                          <m:sty m:val="p"/>
                        </m:rPr>
                        <a:rPr lang="en-US" i="1" dirty="0" smtClean="0">
                          <a:latin typeface="Cambria Math" panose="02040503050406030204" pitchFamily="18" charset="0"/>
                        </a:rPr>
                        <m:t>is</m:t>
                      </m:r>
                      <m:r>
                        <a:rPr lang="en-US" i="1" dirty="0" smtClean="0">
                          <a:latin typeface="Cambria Math" panose="02040503050406030204" pitchFamily="18" charset="0"/>
                        </a:rPr>
                        <m:t> </m:t>
                      </m:r>
                      <m:r>
                        <m:rPr>
                          <m:sty m:val="p"/>
                        </m:rPr>
                        <a:rPr lang="en-US" i="1" dirty="0" smtClean="0">
                          <a:latin typeface="Cambria Math" panose="02040503050406030204" pitchFamily="18" charset="0"/>
                        </a:rPr>
                        <m:t>true</m:t>
                      </m:r>
                      <m:r>
                        <a:rPr lang="en-US" i="1" dirty="0" smtClean="0">
                          <a:latin typeface="Cambria Math" panose="02040503050406030204" pitchFamily="18" charset="0"/>
                        </a:rPr>
                        <m:t>"</m:t>
                      </m:r>
                    </m:oMath>
                  </m:oMathPara>
                </a14:m>
                <a:endParaRPr lang="en-US" dirty="0"/>
              </a:p>
              <a:p>
                <a:r>
                  <a:rPr lang="en-US" dirty="0"/>
                  <a:t>or</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r>
                        <a:rPr lang="en-US" i="1" dirty="0" smtClean="0">
                          <a:latin typeface="Cambria Math" panose="02040503050406030204" pitchFamily="18" charset="0"/>
                        </a:rPr>
                        <m:t> " </m:t>
                      </m:r>
                      <m:r>
                        <m:rPr>
                          <m:sty m:val="p"/>
                        </m:rPr>
                        <a:rPr lang="en-US" i="1" dirty="0" smtClean="0">
                          <a:latin typeface="Cambria Math" panose="02040503050406030204" pitchFamily="18" charset="0"/>
                        </a:rPr>
                        <m:t>is</m:t>
                      </m:r>
                      <m:r>
                        <a:rPr lang="en-US" i="1" dirty="0" smtClean="0">
                          <a:latin typeface="Cambria Math" panose="02040503050406030204" pitchFamily="18" charset="0"/>
                        </a:rPr>
                        <m:t> </m:t>
                      </m:r>
                      <m:r>
                        <m:rPr>
                          <m:sty m:val="p"/>
                        </m:rPr>
                        <a:rPr lang="en-US" i="1" dirty="0" smtClean="0">
                          <a:latin typeface="Cambria Math" panose="02040503050406030204" pitchFamily="18" charset="0"/>
                        </a:rPr>
                        <m:t>false</m:t>
                      </m:r>
                      <m:r>
                        <a:rPr lang="en-US" i="1" dirty="0" smtClean="0">
                          <a:latin typeface="Cambria Math" panose="02040503050406030204" pitchFamily="18" charset="0"/>
                        </a:rPr>
                        <m:t>"</m:t>
                      </m:r>
                    </m:oMath>
                  </m:oMathPara>
                </a14:m>
                <a:endParaRPr lang="en-US" dirty="0"/>
              </a:p>
              <a:p>
                <a:endParaRPr lang="en-US" dirty="0"/>
              </a:p>
              <a:p>
                <a:r>
                  <a:rPr lang="en-US" dirty="0"/>
                  <a:t>The test has two possible decisions:</a:t>
                </a:r>
              </a:p>
              <a:p>
                <a:pPr marL="0" indent="0">
                  <a:buNone/>
                </a:pPr>
                <a14:m>
                  <m:oMathPara xmlns:m="http://schemas.openxmlformats.org/officeDocument/2006/math">
                    <m:oMathParaPr>
                      <m:jc m:val="centerGroup"/>
                    </m:oMathParaPr>
                    <m:oMath xmlns:m="http://schemas.openxmlformats.org/officeDocument/2006/math">
                      <m:r>
                        <m:rPr>
                          <m:nor/>
                        </m:rPr>
                        <a:rPr lang="en-US" i="0" dirty="0" smtClean="0">
                          <a:latin typeface="Cambria Math" panose="02040503050406030204" pitchFamily="18" charset="0"/>
                        </a:rPr>
                        <m:t>Reject</m:t>
                      </m:r>
                      <m:r>
                        <m:rPr>
                          <m:nor/>
                        </m:rP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oMath>
                  </m:oMathPara>
                </a14:m>
                <a:endParaRPr lang="en-US" dirty="0"/>
              </a:p>
              <a:p>
                <a:r>
                  <a:rPr lang="en-US" dirty="0"/>
                  <a:t>or</a:t>
                </a:r>
              </a:p>
              <a:p>
                <a:pPr marL="0" indent="0">
                  <a:buNone/>
                </a:pPr>
                <a14:m>
                  <m:oMathPara xmlns:m="http://schemas.openxmlformats.org/officeDocument/2006/math">
                    <m:oMathParaPr>
                      <m:jc m:val="centerGroup"/>
                    </m:oMathParaPr>
                    <m:oMath xmlns:m="http://schemas.openxmlformats.org/officeDocument/2006/math">
                      <m:r>
                        <m:rPr>
                          <m:nor/>
                        </m:rPr>
                        <a:rPr lang="en-US" i="0" dirty="0" smtClean="0">
                          <a:latin typeface="Cambria Math" panose="02040503050406030204" pitchFamily="18" charset="0"/>
                        </a:rPr>
                        <m:t>Fail</m:t>
                      </m:r>
                      <m:r>
                        <m:rPr>
                          <m:nor/>
                        </m:rPr>
                        <a:rPr lang="en-US" i="0" dirty="0" smtClean="0">
                          <a:latin typeface="Cambria Math" panose="02040503050406030204" pitchFamily="18" charset="0"/>
                        </a:rPr>
                        <m:t> </m:t>
                      </m:r>
                      <m:r>
                        <m:rPr>
                          <m:nor/>
                        </m:rPr>
                        <a:rPr lang="en-US" i="0" dirty="0" smtClean="0">
                          <a:latin typeface="Cambria Math" panose="02040503050406030204" pitchFamily="18" charset="0"/>
                        </a:rPr>
                        <m:t>to</m:t>
                      </m:r>
                      <m:r>
                        <m:rPr>
                          <m:nor/>
                        </m:rPr>
                        <a:rPr lang="en-US" i="0" dirty="0" smtClean="0">
                          <a:latin typeface="Cambria Math" panose="02040503050406030204" pitchFamily="18" charset="0"/>
                        </a:rPr>
                        <m:t> </m:t>
                      </m:r>
                      <m:r>
                        <m:rPr>
                          <m:nor/>
                        </m:rPr>
                        <a:rPr lang="en-US" i="0" dirty="0" smtClean="0">
                          <a:latin typeface="Cambria Math" panose="02040503050406030204" pitchFamily="18" charset="0"/>
                        </a:rPr>
                        <m:t>reject</m:t>
                      </m:r>
                      <m:r>
                        <m:rPr>
                          <m:nor/>
                        </m:rP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oMath>
                  </m:oMathPara>
                </a14:m>
                <a:endParaRPr lang="en-US" dirty="0"/>
              </a:p>
              <a:p>
                <a:endParaRPr lang="en-US" dirty="0"/>
              </a:p>
              <a:p>
                <a:endParaRPr lang="he-IL" dirty="0"/>
              </a:p>
            </p:txBody>
          </p:sp>
        </mc:Choice>
        <mc:Fallback xmlns="">
          <p:sp>
            <p:nvSpPr>
              <p:cNvPr id="3" name="Content Placeholder 2">
                <a:extLst>
                  <a:ext uri="{FF2B5EF4-FFF2-40B4-BE49-F238E27FC236}">
                    <a16:creationId xmlns:a16="http://schemas.microsoft.com/office/drawing/2014/main" id="{9042E394-D9C7-C30E-AC71-BAF620139AE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4159880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29446-96B6-2400-3845-697D253F6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DE5EC-FBB4-1A8C-4FDD-FCC6FD598FE3}"/>
              </a:ext>
            </a:extLst>
          </p:cNvPr>
          <p:cNvSpPr>
            <a:spLocks noGrp="1"/>
          </p:cNvSpPr>
          <p:nvPr>
            <p:ph type="title"/>
          </p:nvPr>
        </p:nvSpPr>
        <p:spPr>
          <a:xfrm>
            <a:off x="838200" y="20997"/>
            <a:ext cx="10515600" cy="1325563"/>
          </a:xfrm>
        </p:spPr>
        <p:txBody>
          <a:bodyPr/>
          <a:lstStyle/>
          <a:p>
            <a:r>
              <a:rPr lang="en-US" dirty="0"/>
              <a:t>Type I and Type II Errors</a:t>
            </a:r>
            <a:endParaRPr lang="LID4096" dirty="0"/>
          </a:p>
        </p:txBody>
      </p:sp>
      <p:sp>
        <p:nvSpPr>
          <p:cNvPr id="3" name="Content Placeholder 2">
            <a:extLst>
              <a:ext uri="{FF2B5EF4-FFF2-40B4-BE49-F238E27FC236}">
                <a16:creationId xmlns:a16="http://schemas.microsoft.com/office/drawing/2014/main" id="{68402BBC-DABC-D7FA-5940-3EACCB8C59AB}"/>
              </a:ext>
            </a:extLst>
          </p:cNvPr>
          <p:cNvSpPr>
            <a:spLocks noGrp="1"/>
          </p:cNvSpPr>
          <p:nvPr>
            <p:ph idx="1"/>
          </p:nvPr>
        </p:nvSpPr>
        <p:spPr>
          <a:xfrm>
            <a:off x="838200" y="1342771"/>
            <a:ext cx="10445496" cy="4801998"/>
          </a:xfrm>
        </p:spPr>
        <p:txBody>
          <a:bodyPr>
            <a:normAutofit/>
          </a:bodyPr>
          <a:lstStyle/>
          <a:p>
            <a:r>
              <a:rPr lang="en-US" b="1" dirty="0"/>
              <a:t>Type I error </a:t>
            </a:r>
            <a:r>
              <a:rPr lang="en-US" dirty="0"/>
              <a:t>- rejecting the null hypothesis when the null hypothesis is true.</a:t>
            </a:r>
          </a:p>
          <a:p>
            <a:r>
              <a:rPr lang="en-US" b="1" dirty="0"/>
              <a:t>Type II error -  </a:t>
            </a:r>
            <a:r>
              <a:rPr lang="en-US" dirty="0"/>
              <a:t>failing to reject a false null model</a:t>
            </a:r>
          </a:p>
          <a:p>
            <a:endParaRPr lang="he-IL" dirty="0"/>
          </a:p>
        </p:txBody>
      </p:sp>
      <p:sp>
        <p:nvSpPr>
          <p:cNvPr id="4" name="מציין מיקום של מספר שקופית 3">
            <a:extLst>
              <a:ext uri="{FF2B5EF4-FFF2-40B4-BE49-F238E27FC236}">
                <a16:creationId xmlns:a16="http://schemas.microsoft.com/office/drawing/2014/main" id="{E836F125-483C-D433-2400-4F4066BA8A4A}"/>
              </a:ext>
            </a:extLst>
          </p:cNvPr>
          <p:cNvSpPr>
            <a:spLocks noGrp="1"/>
          </p:cNvSpPr>
          <p:nvPr>
            <p:ph type="sldNum" sz="quarter" idx="12"/>
          </p:nvPr>
        </p:nvSpPr>
        <p:spPr/>
        <p:txBody>
          <a:bodyPr/>
          <a:lstStyle/>
          <a:p>
            <a:pPr algn="r"/>
            <a:fld id="{B6796F57-8306-40D4-9229-37A3D19F0B5F}" type="slidenum">
              <a:rPr lang="LID4096" smtClean="0"/>
              <a:pPr algn="r"/>
              <a:t>4</a:t>
            </a:fld>
            <a:endParaRPr lang="LID4096"/>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BA2215F2-82E8-ADC4-69D2-79BCF59A2E12}"/>
                  </a:ext>
                </a:extLst>
              </p:cNvPr>
              <p:cNvGraphicFramePr>
                <a:graphicFrameLocks noGrp="1"/>
              </p:cNvGraphicFramePr>
              <p:nvPr/>
            </p:nvGraphicFramePr>
            <p:xfrm>
              <a:off x="2812647" y="3264061"/>
              <a:ext cx="6110467" cy="3228553"/>
            </p:xfrm>
            <a:graphic>
              <a:graphicData uri="http://schemas.openxmlformats.org/drawingml/2006/table">
                <a:tbl>
                  <a:tblPr rtl="1">
                    <a:tableStyleId>{5C22544A-7EE6-4342-B048-85BDC9FD1C3A}</a:tableStyleId>
                  </a:tblPr>
                  <a:tblGrid>
                    <a:gridCol w="2040919">
                      <a:extLst>
                        <a:ext uri="{9D8B030D-6E8A-4147-A177-3AD203B41FA5}">
                          <a16:colId xmlns:a16="http://schemas.microsoft.com/office/drawing/2014/main" val="1234378172"/>
                        </a:ext>
                      </a:extLst>
                    </a:gridCol>
                    <a:gridCol w="2040919">
                      <a:extLst>
                        <a:ext uri="{9D8B030D-6E8A-4147-A177-3AD203B41FA5}">
                          <a16:colId xmlns:a16="http://schemas.microsoft.com/office/drawing/2014/main" val="681289708"/>
                        </a:ext>
                      </a:extLst>
                    </a:gridCol>
                    <a:gridCol w="668349">
                      <a:extLst>
                        <a:ext uri="{9D8B030D-6E8A-4147-A177-3AD203B41FA5}">
                          <a16:colId xmlns:a16="http://schemas.microsoft.com/office/drawing/2014/main" val="1993994636"/>
                        </a:ext>
                      </a:extLst>
                    </a:gridCol>
                    <a:gridCol w="1360280">
                      <a:extLst>
                        <a:ext uri="{9D8B030D-6E8A-4147-A177-3AD203B41FA5}">
                          <a16:colId xmlns:a16="http://schemas.microsoft.com/office/drawing/2014/main" val="3783758414"/>
                        </a:ext>
                      </a:extLst>
                    </a:gridCol>
                  </a:tblGrid>
                  <a:tr h="329765">
                    <a:tc gridSpan="2">
                      <a:txBody>
                        <a:bodyPr/>
                        <a:lstStyle/>
                        <a:p>
                          <a:pPr algn="ctr" rtl="0" fontAlgn="ctr">
                            <a:buNone/>
                          </a:pPr>
                          <a:r>
                            <a:rPr lang="he-IL" sz="2000" b="1" u="none" strike="noStrike" dirty="0">
                              <a:effectLst/>
                              <a:latin typeface="David" panose="020E0502060401010101" pitchFamily="34" charset="-79"/>
                              <a:cs typeface="David" panose="020E0502060401010101" pitchFamily="34" charset="-79"/>
                            </a:rPr>
                            <a:t>Reality</a:t>
                          </a:r>
                          <a:endParaRPr lang="he-IL" sz="2000" b="1"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l" rtl="0" fontAlgn="ctr">
                            <a:buNone/>
                          </a:pP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rtl="0" fontAlgn="ctr">
                            <a:buNone/>
                          </a:pP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2689752"/>
                      </a:ext>
                    </a:extLst>
                  </a:tr>
                  <a:tr h="328528">
                    <a:tc>
                      <a:txBody>
                        <a:bodyPr/>
                        <a:lstStyle/>
                        <a:p>
                          <a:pPr algn="ctr" rtl="0" fontAlgn="ctr">
                            <a:buNone/>
                          </a:pPr>
                          <a14:m>
                            <m:oMathPara xmlns:m="http://schemas.openxmlformats.org/officeDocument/2006/math">
                              <m:oMathParaPr>
                                <m:jc m:val="centerGroup"/>
                              </m:oMathParaPr>
                              <m:oMath xmlns:m="http://schemas.openxmlformats.org/officeDocument/2006/math">
                                <m:sSub>
                                  <m:sSubPr>
                                    <m:ctrlPr>
                                      <a:rPr lang="he-IL" sz="2000" i="1" u="none" strike="noStrike" dirty="0" smtClean="0">
                                        <a:effectLst/>
                                        <a:latin typeface="Cambria Math" panose="02040503050406030204" pitchFamily="18" charset="0"/>
                                        <a:cs typeface="David" panose="020E0502060401010101" pitchFamily="34" charset="-79"/>
                                      </a:rPr>
                                    </m:ctrlPr>
                                  </m:sSubPr>
                                  <m:e>
                                    <m:r>
                                      <a:rPr lang="he-IL" sz="2000" i="1" u="none" strike="noStrike" dirty="0" smtClean="0">
                                        <a:effectLst/>
                                        <a:latin typeface="Cambria Math" panose="02040503050406030204" pitchFamily="18" charset="0"/>
                                        <a:cs typeface="David" panose="020E0502060401010101" pitchFamily="34" charset="-79"/>
                                      </a:rPr>
                                      <m:t>𝐻</m:t>
                                    </m:r>
                                  </m:e>
                                  <m:sub>
                                    <m:r>
                                      <a:rPr lang="he-IL" sz="2000" i="1" u="none" strike="noStrike" dirty="0" smtClean="0">
                                        <a:effectLst/>
                                        <a:latin typeface="Cambria Math" panose="02040503050406030204" pitchFamily="18" charset="0"/>
                                        <a:cs typeface="David" panose="020E0502060401010101" pitchFamily="34" charset="-79"/>
                                      </a:rPr>
                                      <m:t>1</m:t>
                                    </m:r>
                                  </m:sub>
                                </m:sSub>
                              </m:oMath>
                            </m:oMathPara>
                          </a14:m>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14:m>
                            <m:oMathPara xmlns:m="http://schemas.openxmlformats.org/officeDocument/2006/math">
                              <m:oMathParaPr>
                                <m:jc m:val="centerGroup"/>
                              </m:oMathParaPr>
                              <m:oMath xmlns:m="http://schemas.openxmlformats.org/officeDocument/2006/math">
                                <m:sSub>
                                  <m:sSubPr>
                                    <m:ctrlPr>
                                      <a:rPr lang="he-IL" sz="2000" i="1" u="none" strike="noStrike" dirty="0" smtClean="0">
                                        <a:effectLst/>
                                        <a:latin typeface="Cambria Math" panose="02040503050406030204" pitchFamily="18" charset="0"/>
                                        <a:cs typeface="David" panose="020E0502060401010101" pitchFamily="34" charset="-79"/>
                                      </a:rPr>
                                    </m:ctrlPr>
                                  </m:sSubPr>
                                  <m:e>
                                    <m:r>
                                      <a:rPr lang="he-IL" sz="2000" i="1" u="none" strike="noStrike" dirty="0" smtClean="0">
                                        <a:effectLst/>
                                        <a:latin typeface="Cambria Math" panose="02040503050406030204" pitchFamily="18" charset="0"/>
                                        <a:cs typeface="David" panose="020E0502060401010101" pitchFamily="34" charset="-79"/>
                                      </a:rPr>
                                      <m:t>𝐻</m:t>
                                    </m:r>
                                  </m:e>
                                  <m:sub>
                                    <m:r>
                                      <a:rPr lang="he-IL" sz="2000" i="1" u="none" strike="noStrike" dirty="0" smtClean="0">
                                        <a:effectLst/>
                                        <a:latin typeface="Cambria Math" panose="02040503050406030204" pitchFamily="18" charset="0"/>
                                        <a:cs typeface="David" panose="020E0502060401010101" pitchFamily="34" charset="-79"/>
                                      </a:rPr>
                                      <m:t>0</m:t>
                                    </m:r>
                                  </m:sub>
                                </m:sSub>
                              </m:oMath>
                            </m:oMathPara>
                          </a14:m>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8352088"/>
                      </a:ext>
                    </a:extLst>
                  </a:tr>
                  <a:tr h="1285130">
                    <a:tc>
                      <a:txBody>
                        <a:bodyPr/>
                        <a:lstStyle/>
                        <a:p>
                          <a:pPr algn="ctr" rtl="0" fontAlgn="ctr">
                            <a:buNone/>
                          </a:pPr>
                          <a:r>
                            <a:rPr lang="he-IL" sz="2000" u="none" strike="noStrike" dirty="0" err="1">
                              <a:solidFill>
                                <a:schemeClr val="accent4">
                                  <a:lumMod val="75000"/>
                                </a:schemeClr>
                              </a:solidFill>
                              <a:effectLst/>
                              <a:latin typeface="David" panose="020E0502060401010101" pitchFamily="34" charset="-79"/>
                              <a:cs typeface="David" panose="020E0502060401010101" pitchFamily="34" charset="-79"/>
                            </a:rPr>
                            <a:t>Type</a:t>
                          </a:r>
                          <a:r>
                            <a:rPr lang="he-IL" sz="2000" u="none" strike="noStrike" dirty="0">
                              <a:solidFill>
                                <a:schemeClr val="accent4">
                                  <a:lumMod val="75000"/>
                                </a:schemeClr>
                              </a:solidFill>
                              <a:effectLst/>
                              <a:latin typeface="David" panose="020E0502060401010101" pitchFamily="34" charset="-79"/>
                              <a:cs typeface="David" panose="020E0502060401010101" pitchFamily="34" charset="-79"/>
                            </a:rPr>
                            <a:t> 2 </a:t>
                          </a:r>
                          <a:r>
                            <a:rPr lang="he-IL" sz="2000" u="none" strike="noStrike" dirty="0" err="1">
                              <a:solidFill>
                                <a:schemeClr val="accent4">
                                  <a:lumMod val="75000"/>
                                </a:schemeClr>
                              </a:solidFill>
                              <a:effectLst/>
                              <a:latin typeface="David" panose="020E0502060401010101" pitchFamily="34" charset="-79"/>
                              <a:cs typeface="David" panose="020E0502060401010101" pitchFamily="34" charset="-79"/>
                            </a:rPr>
                            <a:t>error</a:t>
                          </a:r>
                          <a:r>
                            <a:rPr lang="he-IL" sz="2000" u="none" strike="noStrike" dirty="0">
                              <a:solidFill>
                                <a:schemeClr val="accent4">
                                  <a:lumMod val="75000"/>
                                </a:schemeClr>
                              </a:solidFill>
                              <a:effectLst/>
                              <a:latin typeface="David" panose="020E0502060401010101" pitchFamily="34" charset="-79"/>
                              <a:cs typeface="David" panose="020E0502060401010101" pitchFamily="34" charset="-79"/>
                            </a:rPr>
                            <a:t> (</a:t>
                          </a:r>
                          <a:r>
                            <a:rPr lang="he-IL" sz="2000" u="none" strike="noStrike" dirty="0" err="1">
                              <a:solidFill>
                                <a:schemeClr val="accent4">
                                  <a:lumMod val="75000"/>
                                </a:schemeClr>
                              </a:solidFill>
                              <a:effectLst/>
                              <a:latin typeface="David" panose="020E0502060401010101" pitchFamily="34" charset="-79"/>
                              <a:cs typeface="David" panose="020E0502060401010101" pitchFamily="34" charset="-79"/>
                            </a:rPr>
                            <a:t>false</a:t>
                          </a:r>
                          <a:r>
                            <a:rPr lang="he-IL" sz="2000" u="none" strike="noStrike" dirty="0">
                              <a:solidFill>
                                <a:schemeClr val="accent4">
                                  <a:lumMod val="75000"/>
                                </a:schemeClr>
                              </a:solidFill>
                              <a:effectLst/>
                              <a:latin typeface="David" panose="020E0502060401010101" pitchFamily="34" charset="-79"/>
                              <a:cs typeface="David" panose="020E0502060401010101" pitchFamily="34" charset="-79"/>
                            </a:rPr>
                            <a:t> </a:t>
                          </a:r>
                          <a:r>
                            <a:rPr lang="en-US" sz="2000" u="none" strike="noStrike" dirty="0">
                              <a:solidFill>
                                <a:schemeClr val="accent4">
                                  <a:lumMod val="75000"/>
                                </a:schemeClr>
                              </a:solidFill>
                              <a:effectLst/>
                              <a:latin typeface="David" panose="020E0502060401010101" pitchFamily="34" charset="-79"/>
                              <a:cs typeface="David" panose="020E0502060401010101" pitchFamily="34" charset="-79"/>
                            </a:rPr>
                            <a:t>N</a:t>
                          </a:r>
                          <a:r>
                            <a:rPr lang="he-IL" sz="2000" u="none" strike="noStrike" dirty="0" err="1">
                              <a:solidFill>
                                <a:schemeClr val="accent4">
                                  <a:lumMod val="75000"/>
                                </a:schemeClr>
                              </a:solidFill>
                              <a:effectLst/>
                              <a:latin typeface="David" panose="020E0502060401010101" pitchFamily="34" charset="-79"/>
                              <a:cs typeface="David" panose="020E0502060401010101" pitchFamily="34" charset="-79"/>
                            </a:rPr>
                            <a:t>egative</a:t>
                          </a:r>
                          <a:r>
                            <a:rPr lang="en-US" sz="2000" u="none" strike="noStrike" dirty="0">
                              <a:solidFill>
                                <a:schemeClr val="accent4">
                                  <a:lumMod val="75000"/>
                                </a:schemeClr>
                              </a:solidFill>
                              <a:effectLst/>
                              <a:latin typeface="David" panose="020E0502060401010101" pitchFamily="34" charset="-79"/>
                              <a:cs typeface="David" panose="020E0502060401010101" pitchFamily="34" charset="-79"/>
                            </a:rPr>
                            <a:t>)</a:t>
                          </a:r>
                          <a:endParaRPr lang="he-IL" sz="2000" b="0" i="0" u="none" strike="noStrike" dirty="0">
                            <a:solidFill>
                              <a:schemeClr val="accent4">
                                <a:lumMod val="75000"/>
                              </a:schemeClr>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he-IL" sz="2000" u="none" strike="noStrike" dirty="0">
                              <a:effectLst/>
                              <a:latin typeface="David" panose="020E0502060401010101" pitchFamily="34" charset="-79"/>
                              <a:cs typeface="David" panose="020E0502060401010101" pitchFamily="34" charset="-79"/>
                            </a:rPr>
                            <a:t>True </a:t>
                          </a:r>
                          <a:r>
                            <a:rPr lang="en-US" sz="2000" u="none" strike="noStrike" dirty="0">
                              <a:effectLst/>
                              <a:latin typeface="David" panose="020E0502060401010101" pitchFamily="34" charset="-79"/>
                              <a:cs typeface="David" panose="020E0502060401010101" pitchFamily="34" charset="-79"/>
                            </a:rPr>
                            <a:t>P</a:t>
                          </a:r>
                          <a:r>
                            <a:rPr lang="he-IL" sz="2000" u="none" strike="noStrike" dirty="0">
                              <a:effectLst/>
                              <a:latin typeface="David" panose="020E0502060401010101" pitchFamily="34" charset="-79"/>
                              <a:cs typeface="David" panose="020E0502060401010101" pitchFamily="34" charset="-79"/>
                            </a:rPr>
                            <a:t>osetive</a:t>
                          </a: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14:m>
                            <m:oMathPara xmlns:m="http://schemas.openxmlformats.org/officeDocument/2006/math">
                              <m:oMathParaPr>
                                <m:jc m:val="centerGroup"/>
                              </m:oMathParaPr>
                              <m:oMath xmlns:m="http://schemas.openxmlformats.org/officeDocument/2006/math">
                                <m:sSub>
                                  <m:sSubPr>
                                    <m:ctrlPr>
                                      <a:rPr lang="he-IL" sz="2000" i="1" u="none" strike="noStrike" dirty="0" smtClean="0">
                                        <a:effectLst/>
                                        <a:latin typeface="Cambria Math" panose="02040503050406030204" pitchFamily="18" charset="0"/>
                                        <a:cs typeface="David" panose="020E0502060401010101" pitchFamily="34" charset="-79"/>
                                      </a:rPr>
                                    </m:ctrlPr>
                                  </m:sSubPr>
                                  <m:e>
                                    <m:r>
                                      <a:rPr lang="he-IL" sz="2000" i="1" u="none" strike="noStrike" dirty="0" smtClean="0">
                                        <a:effectLst/>
                                        <a:latin typeface="Cambria Math" panose="02040503050406030204" pitchFamily="18" charset="0"/>
                                        <a:cs typeface="David" panose="020E0502060401010101" pitchFamily="34" charset="-79"/>
                                      </a:rPr>
                                      <m:t>𝐻</m:t>
                                    </m:r>
                                  </m:e>
                                  <m:sub>
                                    <m:r>
                                      <a:rPr lang="he-IL" sz="2000" i="1" u="none" strike="noStrike" dirty="0" smtClean="0">
                                        <a:effectLst/>
                                        <a:latin typeface="Cambria Math" panose="02040503050406030204" pitchFamily="18" charset="0"/>
                                        <a:cs typeface="David" panose="020E0502060401010101" pitchFamily="34" charset="-79"/>
                                      </a:rPr>
                                      <m:t>0</m:t>
                                    </m:r>
                                  </m:sub>
                                </m:sSub>
                              </m:oMath>
                            </m:oMathPara>
                          </a14:m>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rtl="0" fontAlgn="ctr">
                            <a:buNone/>
                          </a:pPr>
                          <a:r>
                            <a:rPr lang="he-IL" sz="2000" b="1" u="none" strike="noStrike" dirty="0">
                              <a:effectLst/>
                              <a:latin typeface="David" panose="020E0502060401010101" pitchFamily="34" charset="-79"/>
                              <a:cs typeface="David" panose="020E0502060401010101" pitchFamily="34" charset="-79"/>
                            </a:rPr>
                            <a:t>Hypothesis testing decision</a:t>
                          </a:r>
                          <a:endParaRPr lang="he-IL" sz="2000" b="1"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8662715"/>
                      </a:ext>
                    </a:extLst>
                  </a:tr>
                  <a:tr h="1285130">
                    <a:tc>
                      <a:txBody>
                        <a:bodyPr/>
                        <a:lstStyle/>
                        <a:p>
                          <a:pPr algn="ctr" rtl="0" fontAlgn="ctr">
                            <a:buNone/>
                          </a:pPr>
                          <a:r>
                            <a:rPr lang="he-IL" sz="2000" u="none" strike="noStrike" dirty="0">
                              <a:effectLst/>
                              <a:latin typeface="David" panose="020E0502060401010101" pitchFamily="34" charset="-79"/>
                              <a:cs typeface="David" panose="020E0502060401010101" pitchFamily="34" charset="-79"/>
                            </a:rPr>
                            <a:t>True </a:t>
                          </a:r>
                          <a:r>
                            <a:rPr lang="en-US" sz="2000" u="none" strike="noStrike" dirty="0">
                              <a:effectLst/>
                              <a:latin typeface="David" panose="020E0502060401010101" pitchFamily="34" charset="-79"/>
                              <a:cs typeface="David" panose="020E0502060401010101" pitchFamily="34" charset="-79"/>
                            </a:rPr>
                            <a:t>N</a:t>
                          </a:r>
                          <a:r>
                            <a:rPr lang="he-IL" sz="2000" u="none" strike="noStrike" dirty="0" err="1">
                              <a:effectLst/>
                              <a:latin typeface="David" panose="020E0502060401010101" pitchFamily="34" charset="-79"/>
                              <a:cs typeface="David" panose="020E0502060401010101" pitchFamily="34" charset="-79"/>
                            </a:rPr>
                            <a:t>egative</a:t>
                          </a: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he-IL" sz="2000" u="none" strike="noStrike" dirty="0" err="1">
                              <a:solidFill>
                                <a:srgbClr val="FF0000"/>
                              </a:solidFill>
                              <a:effectLst/>
                              <a:latin typeface="David" panose="020E0502060401010101" pitchFamily="34" charset="-79"/>
                              <a:cs typeface="David" panose="020E0502060401010101" pitchFamily="34" charset="-79"/>
                            </a:rPr>
                            <a:t>Type</a:t>
                          </a:r>
                          <a:r>
                            <a:rPr lang="he-IL" sz="2000" u="none" strike="noStrike" dirty="0">
                              <a:solidFill>
                                <a:srgbClr val="FF0000"/>
                              </a:solidFill>
                              <a:effectLst/>
                              <a:latin typeface="David" panose="020E0502060401010101" pitchFamily="34" charset="-79"/>
                              <a:cs typeface="David" panose="020E0502060401010101" pitchFamily="34" charset="-79"/>
                            </a:rPr>
                            <a:t> 1 </a:t>
                          </a:r>
                          <a:r>
                            <a:rPr lang="he-IL" sz="2000" u="none" strike="noStrike" dirty="0" err="1">
                              <a:solidFill>
                                <a:srgbClr val="FF0000"/>
                              </a:solidFill>
                              <a:effectLst/>
                              <a:latin typeface="David" panose="020E0502060401010101" pitchFamily="34" charset="-79"/>
                              <a:cs typeface="David" panose="020E0502060401010101" pitchFamily="34" charset="-79"/>
                            </a:rPr>
                            <a:t>error</a:t>
                          </a:r>
                          <a:r>
                            <a:rPr lang="he-IL" sz="2000" u="none" strike="noStrike" dirty="0">
                              <a:solidFill>
                                <a:srgbClr val="FF0000"/>
                              </a:solidFill>
                              <a:effectLst/>
                              <a:latin typeface="David" panose="020E0502060401010101" pitchFamily="34" charset="-79"/>
                              <a:cs typeface="David" panose="020E0502060401010101" pitchFamily="34" charset="-79"/>
                            </a:rPr>
                            <a:t> (</a:t>
                          </a:r>
                          <a:r>
                            <a:rPr lang="he-IL" sz="2000" u="none" strike="noStrike" dirty="0" err="1">
                              <a:solidFill>
                                <a:srgbClr val="FF0000"/>
                              </a:solidFill>
                              <a:effectLst/>
                              <a:latin typeface="David" panose="020E0502060401010101" pitchFamily="34" charset="-79"/>
                              <a:cs typeface="David" panose="020E0502060401010101" pitchFamily="34" charset="-79"/>
                            </a:rPr>
                            <a:t>False</a:t>
                          </a:r>
                          <a:r>
                            <a:rPr lang="he-IL" sz="2000" u="none" strike="noStrike" dirty="0">
                              <a:solidFill>
                                <a:srgbClr val="FF0000"/>
                              </a:solidFill>
                              <a:effectLst/>
                              <a:latin typeface="David" panose="020E0502060401010101" pitchFamily="34" charset="-79"/>
                              <a:cs typeface="David" panose="020E0502060401010101" pitchFamily="34" charset="-79"/>
                            </a:rPr>
                            <a:t> </a:t>
                          </a:r>
                          <a:r>
                            <a:rPr lang="en-US" sz="2000" u="none" strike="noStrike" dirty="0">
                              <a:solidFill>
                                <a:srgbClr val="FF0000"/>
                              </a:solidFill>
                              <a:effectLst/>
                              <a:latin typeface="David" panose="020E0502060401010101" pitchFamily="34" charset="-79"/>
                              <a:cs typeface="David" panose="020E0502060401010101" pitchFamily="34" charset="-79"/>
                            </a:rPr>
                            <a:t>P</a:t>
                          </a:r>
                          <a:r>
                            <a:rPr lang="he-IL" sz="2000" u="none" strike="noStrike" dirty="0">
                              <a:solidFill>
                                <a:srgbClr val="FF0000"/>
                              </a:solidFill>
                              <a:effectLst/>
                              <a:latin typeface="David" panose="020E0502060401010101" pitchFamily="34" charset="-79"/>
                              <a:cs typeface="David" panose="020E0502060401010101" pitchFamily="34" charset="-79"/>
                            </a:rPr>
                            <a:t>osetive</a:t>
                          </a:r>
                          <a:r>
                            <a:rPr lang="en-US" sz="2000" u="none" strike="noStrike" dirty="0">
                              <a:solidFill>
                                <a:srgbClr val="FF0000"/>
                              </a:solidFill>
                              <a:effectLst/>
                              <a:latin typeface="David" panose="020E0502060401010101" pitchFamily="34" charset="-79"/>
                              <a:cs typeface="David" panose="020E0502060401010101" pitchFamily="34" charset="-79"/>
                            </a:rPr>
                            <a:t>)</a:t>
                          </a:r>
                          <a:endParaRPr lang="he-IL" sz="2000" b="0" i="0" u="none" strike="noStrike" dirty="0">
                            <a:solidFill>
                              <a:srgbClr val="FF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14:m>
                            <m:oMathPara xmlns:m="http://schemas.openxmlformats.org/officeDocument/2006/math">
                              <m:oMathParaPr>
                                <m:jc m:val="centerGroup"/>
                              </m:oMathParaPr>
                              <m:oMath xmlns:m="http://schemas.openxmlformats.org/officeDocument/2006/math">
                                <m:sSub>
                                  <m:sSubPr>
                                    <m:ctrlPr>
                                      <a:rPr lang="he-IL" sz="2000" i="1" u="none" strike="noStrike" dirty="0" smtClean="0">
                                        <a:effectLst/>
                                        <a:latin typeface="Cambria Math" panose="02040503050406030204" pitchFamily="18" charset="0"/>
                                        <a:cs typeface="David" panose="020E0502060401010101" pitchFamily="34" charset="-79"/>
                                      </a:rPr>
                                    </m:ctrlPr>
                                  </m:sSubPr>
                                  <m:e>
                                    <m:r>
                                      <a:rPr lang="he-IL" sz="2000" i="1" u="none" strike="noStrike" dirty="0" smtClean="0">
                                        <a:effectLst/>
                                        <a:latin typeface="Cambria Math" panose="02040503050406030204" pitchFamily="18" charset="0"/>
                                        <a:cs typeface="David" panose="020E0502060401010101" pitchFamily="34" charset="-79"/>
                                      </a:rPr>
                                      <m:t>𝐻</m:t>
                                    </m:r>
                                  </m:e>
                                  <m:sub>
                                    <m:r>
                                      <a:rPr lang="he-IL" sz="2000" i="1" u="none" strike="noStrike" dirty="0" smtClean="0">
                                        <a:effectLst/>
                                        <a:latin typeface="Cambria Math" panose="02040503050406030204" pitchFamily="18" charset="0"/>
                                        <a:cs typeface="David" panose="020E0502060401010101" pitchFamily="34" charset="-79"/>
                                      </a:rPr>
                                      <m:t>1</m:t>
                                    </m:r>
                                  </m:sub>
                                </m:sSub>
                              </m:oMath>
                            </m:oMathPara>
                          </a14:m>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rtl="1"/>
                          <a:endParaRPr lang="he-IL"/>
                        </a:p>
                      </a:txBody>
                      <a:tcPr/>
                    </a:tc>
                    <a:extLst>
                      <a:ext uri="{0D108BD9-81ED-4DB2-BD59-A6C34878D82A}">
                        <a16:rowId xmlns:a16="http://schemas.microsoft.com/office/drawing/2014/main" val="1404541111"/>
                      </a:ext>
                    </a:extLst>
                  </a:tr>
                </a:tbl>
              </a:graphicData>
            </a:graphic>
          </p:graphicFrame>
        </mc:Choice>
        <mc:Fallback xmlns="">
          <p:graphicFrame>
            <p:nvGraphicFramePr>
              <p:cNvPr id="8" name="Table 7">
                <a:extLst>
                  <a:ext uri="{FF2B5EF4-FFF2-40B4-BE49-F238E27FC236}">
                    <a16:creationId xmlns:a16="http://schemas.microsoft.com/office/drawing/2014/main" id="{BA2215F2-82E8-ADC4-69D2-79BCF59A2E12}"/>
                  </a:ext>
                </a:extLst>
              </p:cNvPr>
              <p:cNvGraphicFramePr>
                <a:graphicFrameLocks noGrp="1"/>
              </p:cNvGraphicFramePr>
              <p:nvPr/>
            </p:nvGraphicFramePr>
            <p:xfrm>
              <a:off x="2812647" y="3264061"/>
              <a:ext cx="6110467" cy="3228553"/>
            </p:xfrm>
            <a:graphic>
              <a:graphicData uri="http://schemas.openxmlformats.org/drawingml/2006/table">
                <a:tbl>
                  <a:tblPr rtl="1">
                    <a:tableStyleId>{5C22544A-7EE6-4342-B048-85BDC9FD1C3A}</a:tableStyleId>
                  </a:tblPr>
                  <a:tblGrid>
                    <a:gridCol w="2040919">
                      <a:extLst>
                        <a:ext uri="{9D8B030D-6E8A-4147-A177-3AD203B41FA5}">
                          <a16:colId xmlns:a16="http://schemas.microsoft.com/office/drawing/2014/main" val="1234378172"/>
                        </a:ext>
                      </a:extLst>
                    </a:gridCol>
                    <a:gridCol w="2040919">
                      <a:extLst>
                        <a:ext uri="{9D8B030D-6E8A-4147-A177-3AD203B41FA5}">
                          <a16:colId xmlns:a16="http://schemas.microsoft.com/office/drawing/2014/main" val="681289708"/>
                        </a:ext>
                      </a:extLst>
                    </a:gridCol>
                    <a:gridCol w="668349">
                      <a:extLst>
                        <a:ext uri="{9D8B030D-6E8A-4147-A177-3AD203B41FA5}">
                          <a16:colId xmlns:a16="http://schemas.microsoft.com/office/drawing/2014/main" val="1993994636"/>
                        </a:ext>
                      </a:extLst>
                    </a:gridCol>
                    <a:gridCol w="1360280">
                      <a:extLst>
                        <a:ext uri="{9D8B030D-6E8A-4147-A177-3AD203B41FA5}">
                          <a16:colId xmlns:a16="http://schemas.microsoft.com/office/drawing/2014/main" val="3783758414"/>
                        </a:ext>
                      </a:extLst>
                    </a:gridCol>
                  </a:tblGrid>
                  <a:tr h="329765">
                    <a:tc gridSpan="2">
                      <a:txBody>
                        <a:bodyPr/>
                        <a:lstStyle/>
                        <a:p>
                          <a:pPr algn="ctr" rtl="0" fontAlgn="ctr">
                            <a:buNone/>
                          </a:pPr>
                          <a:r>
                            <a:rPr lang="he-IL" sz="2000" b="1" u="none" strike="noStrike" dirty="0" err="1">
                              <a:effectLst/>
                              <a:latin typeface="David" panose="020E0502060401010101" pitchFamily="34" charset="-79"/>
                              <a:cs typeface="David" panose="020E0502060401010101" pitchFamily="34" charset="-79"/>
                            </a:rPr>
                            <a:t>Reality</a:t>
                          </a:r>
                          <a:endParaRPr lang="he-IL" sz="2000" b="1"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a:txBody>
                        <a:bodyPr/>
                        <a:lstStyle/>
                        <a:p>
                          <a:pPr algn="l" rtl="0" fontAlgn="ctr">
                            <a:buNone/>
                          </a:pP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rtl="0" fontAlgn="ctr">
                            <a:buNone/>
                          </a:pP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2689752"/>
                      </a:ext>
                    </a:extLst>
                  </a:tr>
                  <a:tr h="328528">
                    <a:tc>
                      <a:txBody>
                        <a:bodyPr/>
                        <a:lstStyle/>
                        <a:p>
                          <a:endParaRPr lang="he-IL"/>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9" t="-120370" r="-200000" b="-787037"/>
                          </a:stretch>
                        </a:blipFill>
                      </a:tcPr>
                    </a:tc>
                    <a:tc>
                      <a:txBody>
                        <a:bodyPr/>
                        <a:lstStyle/>
                        <a:p>
                          <a:endParaRPr lang="he-IL"/>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99" t="-120370" r="-100000" b="-787037"/>
                          </a:stretch>
                        </a:blipFill>
                      </a:tcPr>
                    </a:tc>
                    <a:tc>
                      <a:txBody>
                        <a:bodyPr/>
                        <a:lstStyle/>
                        <a:p>
                          <a:pPr algn="ctr" rtl="0" fontAlgn="ctr">
                            <a:buNone/>
                          </a:pP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8352088"/>
                      </a:ext>
                    </a:extLst>
                  </a:tr>
                  <a:tr h="1285130">
                    <a:tc>
                      <a:txBody>
                        <a:bodyPr/>
                        <a:lstStyle/>
                        <a:p>
                          <a:pPr algn="ctr" rtl="0" fontAlgn="ctr">
                            <a:buNone/>
                          </a:pPr>
                          <a:r>
                            <a:rPr lang="he-IL" sz="2000" u="none" strike="noStrike" dirty="0" err="1">
                              <a:solidFill>
                                <a:schemeClr val="accent4">
                                  <a:lumMod val="75000"/>
                                </a:schemeClr>
                              </a:solidFill>
                              <a:effectLst/>
                              <a:latin typeface="David" panose="020E0502060401010101" pitchFamily="34" charset="-79"/>
                              <a:cs typeface="David" panose="020E0502060401010101" pitchFamily="34" charset="-79"/>
                            </a:rPr>
                            <a:t>Type</a:t>
                          </a:r>
                          <a:r>
                            <a:rPr lang="he-IL" sz="2000" u="none" strike="noStrike" dirty="0">
                              <a:solidFill>
                                <a:schemeClr val="accent4">
                                  <a:lumMod val="75000"/>
                                </a:schemeClr>
                              </a:solidFill>
                              <a:effectLst/>
                              <a:latin typeface="David" panose="020E0502060401010101" pitchFamily="34" charset="-79"/>
                              <a:cs typeface="David" panose="020E0502060401010101" pitchFamily="34" charset="-79"/>
                            </a:rPr>
                            <a:t> 2 </a:t>
                          </a:r>
                          <a:r>
                            <a:rPr lang="he-IL" sz="2000" u="none" strike="noStrike" dirty="0" err="1">
                              <a:solidFill>
                                <a:schemeClr val="accent4">
                                  <a:lumMod val="75000"/>
                                </a:schemeClr>
                              </a:solidFill>
                              <a:effectLst/>
                              <a:latin typeface="David" panose="020E0502060401010101" pitchFamily="34" charset="-79"/>
                              <a:cs typeface="David" panose="020E0502060401010101" pitchFamily="34" charset="-79"/>
                            </a:rPr>
                            <a:t>error</a:t>
                          </a:r>
                          <a:r>
                            <a:rPr lang="he-IL" sz="2000" u="none" strike="noStrike" dirty="0">
                              <a:solidFill>
                                <a:schemeClr val="accent4">
                                  <a:lumMod val="75000"/>
                                </a:schemeClr>
                              </a:solidFill>
                              <a:effectLst/>
                              <a:latin typeface="David" panose="020E0502060401010101" pitchFamily="34" charset="-79"/>
                              <a:cs typeface="David" panose="020E0502060401010101" pitchFamily="34" charset="-79"/>
                            </a:rPr>
                            <a:t> (</a:t>
                          </a:r>
                          <a:r>
                            <a:rPr lang="he-IL" sz="2000" u="none" strike="noStrike" dirty="0" err="1">
                              <a:solidFill>
                                <a:schemeClr val="accent4">
                                  <a:lumMod val="75000"/>
                                </a:schemeClr>
                              </a:solidFill>
                              <a:effectLst/>
                              <a:latin typeface="David" panose="020E0502060401010101" pitchFamily="34" charset="-79"/>
                              <a:cs typeface="David" panose="020E0502060401010101" pitchFamily="34" charset="-79"/>
                            </a:rPr>
                            <a:t>false</a:t>
                          </a:r>
                          <a:r>
                            <a:rPr lang="he-IL" sz="2000" u="none" strike="noStrike" dirty="0">
                              <a:solidFill>
                                <a:schemeClr val="accent4">
                                  <a:lumMod val="75000"/>
                                </a:schemeClr>
                              </a:solidFill>
                              <a:effectLst/>
                              <a:latin typeface="David" panose="020E0502060401010101" pitchFamily="34" charset="-79"/>
                              <a:cs typeface="David" panose="020E0502060401010101" pitchFamily="34" charset="-79"/>
                            </a:rPr>
                            <a:t> </a:t>
                          </a:r>
                          <a:r>
                            <a:rPr lang="en-US" sz="2000" u="none" strike="noStrike" dirty="0">
                              <a:solidFill>
                                <a:schemeClr val="accent4">
                                  <a:lumMod val="75000"/>
                                </a:schemeClr>
                              </a:solidFill>
                              <a:effectLst/>
                              <a:latin typeface="David" panose="020E0502060401010101" pitchFamily="34" charset="-79"/>
                              <a:cs typeface="David" panose="020E0502060401010101" pitchFamily="34" charset="-79"/>
                            </a:rPr>
                            <a:t>N</a:t>
                          </a:r>
                          <a:r>
                            <a:rPr lang="he-IL" sz="2000" u="none" strike="noStrike" dirty="0" err="1">
                              <a:solidFill>
                                <a:schemeClr val="accent4">
                                  <a:lumMod val="75000"/>
                                </a:schemeClr>
                              </a:solidFill>
                              <a:effectLst/>
                              <a:latin typeface="David" panose="020E0502060401010101" pitchFamily="34" charset="-79"/>
                              <a:cs typeface="David" panose="020E0502060401010101" pitchFamily="34" charset="-79"/>
                            </a:rPr>
                            <a:t>egative</a:t>
                          </a:r>
                          <a:r>
                            <a:rPr lang="en-US" sz="2000" u="none" strike="noStrike" dirty="0">
                              <a:solidFill>
                                <a:schemeClr val="accent4">
                                  <a:lumMod val="75000"/>
                                </a:schemeClr>
                              </a:solidFill>
                              <a:effectLst/>
                              <a:latin typeface="David" panose="020E0502060401010101" pitchFamily="34" charset="-79"/>
                              <a:cs typeface="David" panose="020E0502060401010101" pitchFamily="34" charset="-79"/>
                            </a:rPr>
                            <a:t>)</a:t>
                          </a:r>
                          <a:endParaRPr lang="he-IL" sz="2000" b="0" i="0" u="none" strike="noStrike" dirty="0">
                            <a:solidFill>
                              <a:schemeClr val="accent4">
                                <a:lumMod val="75000"/>
                              </a:schemeClr>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he-IL" sz="2000" u="none" strike="noStrike" dirty="0">
                              <a:effectLst/>
                              <a:latin typeface="David" panose="020E0502060401010101" pitchFamily="34" charset="-79"/>
                              <a:cs typeface="David" panose="020E0502060401010101" pitchFamily="34" charset="-79"/>
                            </a:rPr>
                            <a:t>True </a:t>
                          </a:r>
                          <a:r>
                            <a:rPr lang="en-US" sz="2000" u="none" strike="noStrike" dirty="0">
                              <a:effectLst/>
                              <a:latin typeface="David" panose="020E0502060401010101" pitchFamily="34" charset="-79"/>
                              <a:cs typeface="David" panose="020E0502060401010101" pitchFamily="34" charset="-79"/>
                            </a:rPr>
                            <a:t>P</a:t>
                          </a:r>
                          <a:r>
                            <a:rPr lang="he-IL" sz="2000" u="none" strike="noStrike" dirty="0">
                              <a:effectLst/>
                              <a:latin typeface="David" panose="020E0502060401010101" pitchFamily="34" charset="-79"/>
                              <a:cs typeface="David" panose="020E0502060401010101" pitchFamily="34" charset="-79"/>
                            </a:rPr>
                            <a:t>osetive</a:t>
                          </a: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he-IL"/>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10000" t="-56132" r="-204545" b="-100472"/>
                          </a:stretch>
                        </a:blipFill>
                      </a:tcPr>
                    </a:tc>
                    <a:tc rowSpan="2">
                      <a:txBody>
                        <a:bodyPr/>
                        <a:lstStyle/>
                        <a:p>
                          <a:pPr algn="ctr" rtl="0" fontAlgn="ctr">
                            <a:buNone/>
                          </a:pPr>
                          <a:r>
                            <a:rPr lang="he-IL" sz="2000" b="1" u="none" strike="noStrike" dirty="0">
                              <a:effectLst/>
                              <a:latin typeface="David" panose="020E0502060401010101" pitchFamily="34" charset="-79"/>
                              <a:cs typeface="David" panose="020E0502060401010101" pitchFamily="34" charset="-79"/>
                            </a:rPr>
                            <a:t>Hypothesis testing decision</a:t>
                          </a:r>
                          <a:endParaRPr lang="he-IL" sz="2000" b="1"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8662715"/>
                      </a:ext>
                    </a:extLst>
                  </a:tr>
                  <a:tr h="1285130">
                    <a:tc>
                      <a:txBody>
                        <a:bodyPr/>
                        <a:lstStyle/>
                        <a:p>
                          <a:pPr algn="ctr" rtl="0" fontAlgn="ctr">
                            <a:buNone/>
                          </a:pPr>
                          <a:r>
                            <a:rPr lang="he-IL" sz="2000" u="none" strike="noStrike" dirty="0">
                              <a:effectLst/>
                              <a:latin typeface="David" panose="020E0502060401010101" pitchFamily="34" charset="-79"/>
                              <a:cs typeface="David" panose="020E0502060401010101" pitchFamily="34" charset="-79"/>
                            </a:rPr>
                            <a:t>True </a:t>
                          </a:r>
                          <a:r>
                            <a:rPr lang="en-US" sz="2000" u="none" strike="noStrike" dirty="0">
                              <a:effectLst/>
                              <a:latin typeface="David" panose="020E0502060401010101" pitchFamily="34" charset="-79"/>
                              <a:cs typeface="David" panose="020E0502060401010101" pitchFamily="34" charset="-79"/>
                            </a:rPr>
                            <a:t>N</a:t>
                          </a:r>
                          <a:r>
                            <a:rPr lang="he-IL" sz="2000" u="none" strike="noStrike" dirty="0" err="1">
                              <a:effectLst/>
                              <a:latin typeface="David" panose="020E0502060401010101" pitchFamily="34" charset="-79"/>
                              <a:cs typeface="David" panose="020E0502060401010101" pitchFamily="34" charset="-79"/>
                            </a:rPr>
                            <a:t>egative</a:t>
                          </a:r>
                          <a:endParaRPr lang="he-IL" sz="2000" b="0" i="0" u="none" strike="noStrike" dirty="0">
                            <a:solidFill>
                              <a:srgbClr val="00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buNone/>
                          </a:pPr>
                          <a:r>
                            <a:rPr lang="he-IL" sz="2000" u="none" strike="noStrike" dirty="0" err="1">
                              <a:solidFill>
                                <a:srgbClr val="FF0000"/>
                              </a:solidFill>
                              <a:effectLst/>
                              <a:latin typeface="David" panose="020E0502060401010101" pitchFamily="34" charset="-79"/>
                              <a:cs typeface="David" panose="020E0502060401010101" pitchFamily="34" charset="-79"/>
                            </a:rPr>
                            <a:t>Type</a:t>
                          </a:r>
                          <a:r>
                            <a:rPr lang="he-IL" sz="2000" u="none" strike="noStrike" dirty="0">
                              <a:solidFill>
                                <a:srgbClr val="FF0000"/>
                              </a:solidFill>
                              <a:effectLst/>
                              <a:latin typeface="David" panose="020E0502060401010101" pitchFamily="34" charset="-79"/>
                              <a:cs typeface="David" panose="020E0502060401010101" pitchFamily="34" charset="-79"/>
                            </a:rPr>
                            <a:t> 1 </a:t>
                          </a:r>
                          <a:r>
                            <a:rPr lang="he-IL" sz="2000" u="none" strike="noStrike" dirty="0" err="1">
                              <a:solidFill>
                                <a:srgbClr val="FF0000"/>
                              </a:solidFill>
                              <a:effectLst/>
                              <a:latin typeface="David" panose="020E0502060401010101" pitchFamily="34" charset="-79"/>
                              <a:cs typeface="David" panose="020E0502060401010101" pitchFamily="34" charset="-79"/>
                            </a:rPr>
                            <a:t>error</a:t>
                          </a:r>
                          <a:r>
                            <a:rPr lang="he-IL" sz="2000" u="none" strike="noStrike" dirty="0">
                              <a:solidFill>
                                <a:srgbClr val="FF0000"/>
                              </a:solidFill>
                              <a:effectLst/>
                              <a:latin typeface="David" panose="020E0502060401010101" pitchFamily="34" charset="-79"/>
                              <a:cs typeface="David" panose="020E0502060401010101" pitchFamily="34" charset="-79"/>
                            </a:rPr>
                            <a:t> (</a:t>
                          </a:r>
                          <a:r>
                            <a:rPr lang="he-IL" sz="2000" u="none" strike="noStrike" dirty="0" err="1">
                              <a:solidFill>
                                <a:srgbClr val="FF0000"/>
                              </a:solidFill>
                              <a:effectLst/>
                              <a:latin typeface="David" panose="020E0502060401010101" pitchFamily="34" charset="-79"/>
                              <a:cs typeface="David" panose="020E0502060401010101" pitchFamily="34" charset="-79"/>
                            </a:rPr>
                            <a:t>False</a:t>
                          </a:r>
                          <a:r>
                            <a:rPr lang="he-IL" sz="2000" u="none" strike="noStrike" dirty="0">
                              <a:solidFill>
                                <a:srgbClr val="FF0000"/>
                              </a:solidFill>
                              <a:effectLst/>
                              <a:latin typeface="David" panose="020E0502060401010101" pitchFamily="34" charset="-79"/>
                              <a:cs typeface="David" panose="020E0502060401010101" pitchFamily="34" charset="-79"/>
                            </a:rPr>
                            <a:t> </a:t>
                          </a:r>
                          <a:r>
                            <a:rPr lang="en-US" sz="2000" u="none" strike="noStrike" dirty="0">
                              <a:solidFill>
                                <a:srgbClr val="FF0000"/>
                              </a:solidFill>
                              <a:effectLst/>
                              <a:latin typeface="David" panose="020E0502060401010101" pitchFamily="34" charset="-79"/>
                              <a:cs typeface="David" panose="020E0502060401010101" pitchFamily="34" charset="-79"/>
                            </a:rPr>
                            <a:t>P</a:t>
                          </a:r>
                          <a:r>
                            <a:rPr lang="he-IL" sz="2000" u="none" strike="noStrike" dirty="0">
                              <a:solidFill>
                                <a:srgbClr val="FF0000"/>
                              </a:solidFill>
                              <a:effectLst/>
                              <a:latin typeface="David" panose="020E0502060401010101" pitchFamily="34" charset="-79"/>
                              <a:cs typeface="David" panose="020E0502060401010101" pitchFamily="34" charset="-79"/>
                            </a:rPr>
                            <a:t>osetive</a:t>
                          </a:r>
                          <a:r>
                            <a:rPr lang="en-US" sz="2000" u="none" strike="noStrike" dirty="0">
                              <a:solidFill>
                                <a:srgbClr val="FF0000"/>
                              </a:solidFill>
                              <a:effectLst/>
                              <a:latin typeface="David" panose="020E0502060401010101" pitchFamily="34" charset="-79"/>
                              <a:cs typeface="David" panose="020E0502060401010101" pitchFamily="34" charset="-79"/>
                            </a:rPr>
                            <a:t>)</a:t>
                          </a:r>
                          <a:endParaRPr lang="he-IL" sz="2000" b="0" i="0" u="none" strike="noStrike" dirty="0">
                            <a:solidFill>
                              <a:srgbClr val="FF0000"/>
                            </a:solidFill>
                            <a:effectLst/>
                            <a:latin typeface="David" panose="020E0502060401010101" pitchFamily="34" charset="-79"/>
                            <a:cs typeface="David" panose="020E0502060401010101" pitchFamily="34" charset="-79"/>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he-IL"/>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10000" t="-156872" r="-204545" b="-948"/>
                          </a:stretch>
                        </a:blipFill>
                      </a:tcPr>
                    </a:tc>
                    <a:tc vMerge="1">
                      <a:txBody>
                        <a:bodyPr/>
                        <a:lstStyle/>
                        <a:p>
                          <a:pPr rtl="1"/>
                          <a:endParaRPr lang="he-IL"/>
                        </a:p>
                      </a:txBody>
                      <a:tcPr/>
                    </a:tc>
                    <a:extLst>
                      <a:ext uri="{0D108BD9-81ED-4DB2-BD59-A6C34878D82A}">
                        <a16:rowId xmlns:a16="http://schemas.microsoft.com/office/drawing/2014/main" val="1404541111"/>
                      </a:ext>
                    </a:extLst>
                  </a:tr>
                </a:tbl>
              </a:graphicData>
            </a:graphic>
          </p:graphicFrame>
        </mc:Fallback>
      </mc:AlternateContent>
    </p:spTree>
    <p:extLst>
      <p:ext uri="{BB962C8B-B14F-4D97-AF65-F5344CB8AC3E}">
        <p14:creationId xmlns:p14="http://schemas.microsoft.com/office/powerpoint/2010/main" val="3054179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65C0-37DF-1B89-A375-6C08BBDA4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F8D40-BFA0-16F9-0824-258F9B7804C2}"/>
              </a:ext>
            </a:extLst>
          </p:cNvPr>
          <p:cNvSpPr>
            <a:spLocks noGrp="1"/>
          </p:cNvSpPr>
          <p:nvPr>
            <p:ph type="title"/>
          </p:nvPr>
        </p:nvSpPr>
        <p:spPr/>
        <p:txBody>
          <a:bodyPr/>
          <a:lstStyle/>
          <a:p>
            <a:r>
              <a:rPr lang="en-US" dirty="0"/>
              <a:t>Significance Level and p-value</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553CCC-0C38-0709-147A-23380AC7B6EB}"/>
                  </a:ext>
                </a:extLst>
              </p:cNvPr>
              <p:cNvSpPr>
                <a:spLocks noGrp="1"/>
              </p:cNvSpPr>
              <p:nvPr>
                <p:ph idx="1"/>
              </p:nvPr>
            </p:nvSpPr>
            <p:spPr/>
            <p:txBody>
              <a:bodyPr>
                <a:normAutofit/>
              </a:bodyPr>
              <a:lstStyle/>
              <a:p>
                <a:r>
                  <a:rPr lang="he-IL" dirty="0"/>
                  <a:t>The decision uses a </a:t>
                </a:r>
                <a:r>
                  <a:rPr lang="en-US" dirty="0"/>
                  <a:t>s</a:t>
                </a:r>
                <a:r>
                  <a:rPr lang="he-IL" dirty="0" err="1"/>
                  <a:t>ignificance</a:t>
                </a:r>
                <a:r>
                  <a:rPr lang="he-IL" dirty="0"/>
                  <a:t> threshold </a:t>
                </a:r>
                <a14:m>
                  <m:oMath xmlns:m="http://schemas.openxmlformats.org/officeDocument/2006/math">
                    <m:r>
                      <a:rPr lang="he-IL" i="1" smtClean="0">
                        <a:latin typeface="Cambria Math" panose="02040503050406030204" pitchFamily="18" charset="0"/>
                        <a:ea typeface="Cambria Math" panose="02040503050406030204" pitchFamily="18" charset="0"/>
                      </a:rPr>
                      <m:t>𝛼</m:t>
                    </m:r>
                    <m:r>
                      <a:rPr lang="en-US" b="0" i="0" smtClean="0">
                        <a:latin typeface="Cambria Math" panose="02040503050406030204" pitchFamily="18" charset="0"/>
                        <a:ea typeface="Cambria Math" panose="02040503050406030204" pitchFamily="18" charset="0"/>
                      </a:rPr>
                      <m:t>. </m:t>
                    </m:r>
                  </m:oMath>
                </a14:m>
                <a:endParaRPr lang="en-US" b="0" dirty="0">
                  <a:ea typeface="Cambria Math" panose="02040503050406030204" pitchFamily="18" charset="0"/>
                </a:endParaRPr>
              </a:p>
              <a:p>
                <a:r>
                  <a:rPr lang="en-US" dirty="0"/>
                  <a:t>It defines the long-run Type I error rate allowed by the test decision rule.</a:t>
                </a:r>
              </a:p>
              <a:p>
                <a:r>
                  <a:rPr lang="en-US" dirty="0"/>
                  <a:t>Usually:</a:t>
                </a:r>
                <a:endParaRPr lang="he-IL" dirty="0"/>
              </a:p>
              <a:p>
                <a:pPr marL="0" indent="0">
                  <a:buNone/>
                </a:pPr>
                <a14:m>
                  <m:oMathPara xmlns:m="http://schemas.openxmlformats.org/officeDocument/2006/math">
                    <m:oMathParaPr>
                      <m:jc m:val="centerGroup"/>
                    </m:oMathParaPr>
                    <m:oMath xmlns:m="http://schemas.openxmlformats.org/officeDocument/2006/math">
                      <m:r>
                        <a:rPr lang="he-IL" i="1">
                          <a:latin typeface="Cambria Math" panose="02040503050406030204" pitchFamily="18" charset="0"/>
                        </a:rPr>
                        <m:t>𝛼</m:t>
                      </m:r>
                      <m:r>
                        <a:rPr lang="he-IL">
                          <a:latin typeface="Cambria Math" panose="02040503050406030204" pitchFamily="18" charset="0"/>
                        </a:rPr>
                        <m:t>=</m:t>
                      </m:r>
                      <m:r>
                        <a:rPr lang="he-IL">
                          <a:latin typeface="Cambria Math" panose="02040503050406030204" pitchFamily="18" charset="0"/>
                        </a:rPr>
                        <m:t>0</m:t>
                      </m:r>
                      <m:r>
                        <a:rPr lang="he-IL">
                          <a:latin typeface="Cambria Math" panose="02040503050406030204" pitchFamily="18" charset="0"/>
                        </a:rPr>
                        <m:t>.</m:t>
                      </m:r>
                      <m:r>
                        <a:rPr lang="he-IL">
                          <a:latin typeface="Cambria Math" panose="02040503050406030204" pitchFamily="18" charset="0"/>
                        </a:rPr>
                        <m:t>05</m:t>
                      </m:r>
                    </m:oMath>
                  </m:oMathPara>
                </a14:m>
                <a:endParaRPr lang="he-IL" dirty="0"/>
              </a:p>
              <a:p>
                <a:pPr marL="0" indent="0">
                  <a:buNone/>
                </a:pPr>
                <a:endParaRPr lang="he-IL" dirty="0"/>
              </a:p>
            </p:txBody>
          </p:sp>
        </mc:Choice>
        <mc:Fallback xmlns="">
          <p:sp>
            <p:nvSpPr>
              <p:cNvPr id="3" name="Content Placeholder 2">
                <a:extLst>
                  <a:ext uri="{FF2B5EF4-FFF2-40B4-BE49-F238E27FC236}">
                    <a16:creationId xmlns:a16="http://schemas.microsoft.com/office/drawing/2014/main" id="{03553CCC-0C38-0709-147A-23380AC7B6EB}"/>
                  </a:ext>
                </a:extLst>
              </p:cNvPr>
              <p:cNvSpPr>
                <a:spLocks noGrp="1" noRot="1" noChangeAspect="1" noMove="1" noResize="1" noEditPoints="1" noAdjustHandles="1" noChangeArrowheads="1" noChangeShapeType="1" noTextEdit="1"/>
              </p:cNvSpPr>
              <p:nvPr>
                <p:ph idx="1"/>
              </p:nvPr>
            </p:nvSpPr>
            <p:spPr>
              <a:blipFill>
                <a:blip r:embed="rId2"/>
                <a:stretch>
                  <a:fillRect l="-1043" t="-2801"/>
                </a:stretch>
              </a:blipFill>
            </p:spPr>
            <p:txBody>
              <a:bodyPr/>
              <a:lstStyle/>
              <a:p>
                <a:r>
                  <a:rPr lang="he-IL">
                    <a:noFill/>
                  </a:rPr>
                  <a:t> </a:t>
                </a:r>
              </a:p>
            </p:txBody>
          </p:sp>
        </mc:Fallback>
      </mc:AlternateContent>
    </p:spTree>
    <p:extLst>
      <p:ext uri="{BB962C8B-B14F-4D97-AF65-F5344CB8AC3E}">
        <p14:creationId xmlns:p14="http://schemas.microsoft.com/office/powerpoint/2010/main" val="173666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61DE5-4901-E056-3E6F-5FAE0CC68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C0660-935B-12C1-6370-CA8F22D9F714}"/>
              </a:ext>
            </a:extLst>
          </p:cNvPr>
          <p:cNvSpPr>
            <a:spLocks noGrp="1"/>
          </p:cNvSpPr>
          <p:nvPr>
            <p:ph type="title"/>
          </p:nvPr>
        </p:nvSpPr>
        <p:spPr/>
        <p:txBody>
          <a:bodyPr/>
          <a:lstStyle/>
          <a:p>
            <a:r>
              <a:rPr lang="en-US" dirty="0"/>
              <a:t>Significance Level and p-value</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5B0053-D4BB-C8CD-9C43-8B3602D8DA7C}"/>
                  </a:ext>
                </a:extLst>
              </p:cNvPr>
              <p:cNvSpPr>
                <a:spLocks noGrp="1"/>
              </p:cNvSpPr>
              <p:nvPr>
                <p:ph idx="1"/>
              </p:nvPr>
            </p:nvSpPr>
            <p:spPr/>
            <p:txBody>
              <a:bodyPr>
                <a:normAutofit/>
              </a:bodyPr>
              <a:lstStyle/>
              <a:p>
                <a:r>
                  <a:rPr lang="en-US" dirty="0"/>
                  <a:t>The </a:t>
                </a:r>
                <a:r>
                  <a:rPr lang="en-US" b="1" dirty="0"/>
                  <a:t>p-value</a:t>
                </a:r>
                <a:r>
                  <a:rPr lang="en-US" dirty="0"/>
                  <a:t> is calculated from the </a:t>
                </a:r>
                <a:r>
                  <a:rPr lang="en-US" u="sng" dirty="0"/>
                  <a:t>observed data.</a:t>
                </a:r>
              </a:p>
              <a:p>
                <a:r>
                  <a:rPr lang="en-US" dirty="0"/>
                  <a:t>The probability of obtaining a test statistic at least as extreme as the one we observed, assuming that the null hypothesis is true.</a:t>
                </a:r>
              </a:p>
              <a:p>
                <a:endParaRPr lang="en-US" dirty="0"/>
              </a:p>
              <a:p>
                <a:r>
                  <a:rPr lang="en-US" dirty="0"/>
                  <a:t>If </a:t>
                </a:r>
                <a14:m>
                  <m:oMath xmlns:m="http://schemas.openxmlformats.org/officeDocument/2006/math">
                    <m:r>
                      <a:rPr lang="he-IL">
                        <a:latin typeface="Cambria Math" panose="02040503050406030204" pitchFamily="18" charset="0"/>
                      </a:rPr>
                      <m:t>𝑝</m:t>
                    </m:r>
                    <m:r>
                      <a:rPr lang="en-US">
                        <a:latin typeface="Cambria Math" panose="02040503050406030204" pitchFamily="18" charset="0"/>
                      </a:rPr>
                      <m:t>&lt; </m:t>
                    </m:r>
                    <m:r>
                      <a:rPr lang="en-US">
                        <a:latin typeface="Cambria Math" panose="02040503050406030204" pitchFamily="18" charset="0"/>
                      </a:rPr>
                      <m:t>𝛼</m:t>
                    </m:r>
                  </m:oMath>
                </a14:m>
                <a:r>
                  <a:rPr lang="en-US" dirty="0"/>
                  <a:t> </a:t>
                </a:r>
                <a:r>
                  <a:rPr lang="he-IL" dirty="0"/>
                  <a:t>we </a:t>
                </a:r>
                <a:r>
                  <a:rPr lang="he-IL" dirty="0" err="1"/>
                  <a:t>reject</a:t>
                </a:r>
                <a:r>
                  <a:rPr lang="he-IL" dirty="0"/>
                  <a:t> the </a:t>
                </a:r>
                <a:r>
                  <a:rPr lang="he-IL" dirty="0" err="1"/>
                  <a:t>null</a:t>
                </a:r>
                <a:r>
                  <a:rPr lang="he-IL" dirty="0"/>
                  <a:t> hypothesis </a:t>
                </a:r>
                <a:r>
                  <a:rPr lang="en-US" dirty="0"/>
                  <a:t>	​</a:t>
                </a:r>
              </a:p>
            </p:txBody>
          </p:sp>
        </mc:Choice>
        <mc:Fallback xmlns="">
          <p:sp>
            <p:nvSpPr>
              <p:cNvPr id="3" name="Content Placeholder 2">
                <a:extLst>
                  <a:ext uri="{FF2B5EF4-FFF2-40B4-BE49-F238E27FC236}">
                    <a16:creationId xmlns:a16="http://schemas.microsoft.com/office/drawing/2014/main" id="{4C5B0053-D4BB-C8CD-9C43-8B3602D8DA7C}"/>
                  </a:ext>
                </a:extLst>
              </p:cNvPr>
              <p:cNvSpPr>
                <a:spLocks noGrp="1" noRot="1" noChangeAspect="1" noMove="1" noResize="1" noEditPoints="1" noAdjustHandles="1" noChangeArrowheads="1" noChangeShapeType="1" noTextEdit="1"/>
              </p:cNvSpPr>
              <p:nvPr>
                <p:ph idx="1"/>
              </p:nvPr>
            </p:nvSpPr>
            <p:spPr>
              <a:blipFill>
                <a:blip r:embed="rId3"/>
                <a:stretch>
                  <a:fillRect l="-1043" t="-2241" r="-1913"/>
                </a:stretch>
              </a:blipFill>
            </p:spPr>
            <p:txBody>
              <a:bodyPr/>
              <a:lstStyle/>
              <a:p>
                <a:r>
                  <a:rPr lang="he-IL">
                    <a:noFill/>
                  </a:rPr>
                  <a:t> </a:t>
                </a:r>
              </a:p>
            </p:txBody>
          </p:sp>
        </mc:Fallback>
      </mc:AlternateContent>
    </p:spTree>
    <p:extLst>
      <p:ext uri="{BB962C8B-B14F-4D97-AF65-F5344CB8AC3E}">
        <p14:creationId xmlns:p14="http://schemas.microsoft.com/office/powerpoint/2010/main" val="3388268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15875-BF91-62C7-CE99-38E3E7D5F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3F5CF-87CA-4486-E8EA-441DD4E72DE5}"/>
              </a:ext>
            </a:extLst>
          </p:cNvPr>
          <p:cNvSpPr>
            <a:spLocks noGrp="1"/>
          </p:cNvSpPr>
          <p:nvPr>
            <p:ph type="title"/>
          </p:nvPr>
        </p:nvSpPr>
        <p:spPr/>
        <p:txBody>
          <a:bodyPr/>
          <a:lstStyle/>
          <a:p>
            <a:r>
              <a:rPr lang="en-US" dirty="0"/>
              <a:t>Power and Type II error</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3D0E6A-C9D2-14AC-FB2D-F89A5CDA1326}"/>
                  </a:ext>
                </a:extLst>
              </p:cNvPr>
              <p:cNvSpPr>
                <a:spLocks noGrp="1"/>
              </p:cNvSpPr>
              <p:nvPr>
                <p:ph idx="1"/>
              </p:nvPr>
            </p:nvSpPr>
            <p:spPr/>
            <p:txBody>
              <a:bodyPr>
                <a:normAutofit/>
              </a:bodyPr>
              <a:lstStyle/>
              <a:p>
                <a:r>
                  <a:rPr lang="en-US" dirty="0"/>
                  <a:t>A Type II error happens when:</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r>
                        <a:rPr lang="en-US" i="1" dirty="0" smtClean="0">
                          <a:latin typeface="Cambria Math" panose="02040503050406030204" pitchFamily="18" charset="0"/>
                        </a:rPr>
                        <m:t> </m:t>
                      </m:r>
                      <m:r>
                        <a:rPr lang="en-US" i="1" dirty="0" smtClean="0">
                          <a:latin typeface="Cambria Math" panose="02040503050406030204" pitchFamily="18" charset="0"/>
                        </a:rPr>
                        <m:t>𝑖𝑠</m:t>
                      </m:r>
                      <m:r>
                        <a:rPr lang="en-US" i="1" dirty="0" smtClean="0">
                          <a:latin typeface="Cambria Math" panose="02040503050406030204" pitchFamily="18" charset="0"/>
                        </a:rPr>
                        <m:t> </m:t>
                      </m:r>
                      <m:r>
                        <a:rPr lang="en-US" i="1" dirty="0" smtClean="0">
                          <a:latin typeface="Cambria Math" panose="02040503050406030204" pitchFamily="18" charset="0"/>
                        </a:rPr>
                        <m:t>𝑓𝑎𝑙𝑠𝑒</m:t>
                      </m:r>
                      <m:r>
                        <a:rPr lang="en-US" i="1" dirty="0" smtClean="0">
                          <a:latin typeface="Cambria Math" panose="02040503050406030204" pitchFamily="18" charset="0"/>
                        </a:rPr>
                        <m:t> </m:t>
                      </m:r>
                      <m:r>
                        <a:rPr lang="en-US" i="1" dirty="0" smtClean="0">
                          <a:latin typeface="Cambria Math" panose="02040503050406030204" pitchFamily="18" charset="0"/>
                        </a:rPr>
                        <m:t>𝑏𝑢𝑡</m:t>
                      </m:r>
                      <m:r>
                        <a:rPr lang="en-US" i="1" dirty="0" smtClean="0">
                          <a:latin typeface="Cambria Math" panose="02040503050406030204" pitchFamily="18" charset="0"/>
                        </a:rPr>
                        <m:t> </m:t>
                      </m:r>
                      <m:r>
                        <a:rPr lang="en-US" i="1" dirty="0" smtClean="0">
                          <a:latin typeface="Cambria Math" panose="02040503050406030204" pitchFamily="18" charset="0"/>
                        </a:rPr>
                        <m:t>𝑡</m:t>
                      </m:r>
                      <m:r>
                        <a:rPr lang="en-US" i="1" dirty="0" smtClean="0">
                          <a:latin typeface="Cambria Math" panose="02040503050406030204" pitchFamily="18" charset="0"/>
                        </a:rPr>
                        <m:t>h</m:t>
                      </m:r>
                      <m:r>
                        <a:rPr lang="en-US" i="1" dirty="0" smtClean="0">
                          <a:latin typeface="Cambria Math" panose="02040503050406030204" pitchFamily="18" charset="0"/>
                        </a:rPr>
                        <m:t>𝑒</m:t>
                      </m:r>
                      <m:r>
                        <a:rPr lang="en-US" i="1" dirty="0" smtClean="0">
                          <a:latin typeface="Cambria Math" panose="02040503050406030204" pitchFamily="18" charset="0"/>
                        </a:rPr>
                        <m:t> </m:t>
                      </m:r>
                      <m:r>
                        <a:rPr lang="en-US" i="1" dirty="0" smtClean="0">
                          <a:latin typeface="Cambria Math" panose="02040503050406030204" pitchFamily="18" charset="0"/>
                        </a:rPr>
                        <m:t>𝑡𝑒𝑠𝑡</m:t>
                      </m:r>
                      <m:r>
                        <a:rPr lang="en-US" i="1" dirty="0" smtClean="0">
                          <a:latin typeface="Cambria Math" panose="02040503050406030204" pitchFamily="18" charset="0"/>
                        </a:rPr>
                        <m:t> </m:t>
                      </m:r>
                      <m:r>
                        <a:rPr lang="en-US" i="1" dirty="0" smtClean="0">
                          <a:latin typeface="Cambria Math" panose="02040503050406030204" pitchFamily="18" charset="0"/>
                        </a:rPr>
                        <m:t>𝑑𝑒𝑐𝑖𝑠𝑖𝑜𝑛</m:t>
                      </m:r>
                      <m:r>
                        <a:rPr lang="en-US" i="1" dirty="0" smtClean="0">
                          <a:latin typeface="Cambria Math" panose="02040503050406030204" pitchFamily="18" charset="0"/>
                        </a:rPr>
                        <m:t> </m:t>
                      </m:r>
                      <m:r>
                        <a:rPr lang="en-US" i="1" dirty="0" smtClean="0">
                          <a:latin typeface="Cambria Math" panose="02040503050406030204" pitchFamily="18" charset="0"/>
                        </a:rPr>
                        <m:t>𝑖𝑠</m:t>
                      </m:r>
                      <m:r>
                        <a:rPr lang="en-US" i="1" dirty="0" smtClean="0">
                          <a:latin typeface="Cambria Math" panose="02040503050406030204" pitchFamily="18" charset="0"/>
                        </a:rPr>
                        <m:t>: </m:t>
                      </m:r>
                      <m:r>
                        <a:rPr lang="en-US" i="1" dirty="0" smtClean="0">
                          <a:latin typeface="Cambria Math" panose="02040503050406030204" pitchFamily="18" charset="0"/>
                        </a:rPr>
                        <m:t>𝐹𝑎𝑖𝑙</m:t>
                      </m:r>
                      <m:r>
                        <a:rPr lang="en-US" i="1" dirty="0" smtClean="0">
                          <a:latin typeface="Cambria Math" panose="02040503050406030204" pitchFamily="18" charset="0"/>
                        </a:rPr>
                        <m:t> </m:t>
                      </m:r>
                      <m:r>
                        <a:rPr lang="en-US" i="1" dirty="0" smtClean="0">
                          <a:latin typeface="Cambria Math" panose="02040503050406030204" pitchFamily="18" charset="0"/>
                        </a:rPr>
                        <m:t>𝑡𝑜</m:t>
                      </m:r>
                      <m:r>
                        <a:rPr lang="en-US" i="1" dirty="0" smtClean="0">
                          <a:latin typeface="Cambria Math" panose="02040503050406030204" pitchFamily="18" charset="0"/>
                        </a:rPr>
                        <m:t> </m:t>
                      </m:r>
                      <m:r>
                        <a:rPr lang="en-US" i="1" dirty="0" smtClean="0">
                          <a:latin typeface="Cambria Math" panose="02040503050406030204" pitchFamily="18" charset="0"/>
                        </a:rPr>
                        <m:t>𝑟𝑒𝑗𝑒𝑐𝑡</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r>
                        <a:rPr lang="en-US" i="1" dirty="0" smtClean="0">
                          <a:latin typeface="Cambria Math" panose="02040503050406030204" pitchFamily="18" charset="0"/>
                        </a:rPr>
                        <m:t>	</m:t>
                      </m:r>
                      <m:r>
                        <a:rPr lang="en-US" i="1" dirty="0" smtClean="0">
                          <a:latin typeface="Cambria Math" panose="02040503050406030204" pitchFamily="18" charset="0"/>
                        </a:rPr>
                        <m:t>​</m:t>
                      </m:r>
                    </m:oMath>
                  </m:oMathPara>
                </a14:m>
                <a:endParaRPr lang="en-US" dirty="0"/>
              </a:p>
              <a:p>
                <a:r>
                  <a:rPr lang="en-US" dirty="0"/>
                  <a:t>The probability of a Type II error is denoted by:</a:t>
                </a:r>
              </a:p>
              <a:p>
                <a:pPr marL="0" indent="0">
                  <a:buNone/>
                </a:pPr>
                <a14:m>
                  <m:oMathPara xmlns:m="http://schemas.openxmlformats.org/officeDocument/2006/math">
                    <m:oMathParaPr>
                      <m:jc m:val="centerGroup"/>
                    </m:oMathParaPr>
                    <m:oMath xmlns:m="http://schemas.openxmlformats.org/officeDocument/2006/math">
                      <m:r>
                        <m:rPr>
                          <m:sty m:val="p"/>
                        </m:rPr>
                        <a:rPr lang="el-GR" i="1" dirty="0" smtClean="0">
                          <a:latin typeface="Cambria Math" panose="02040503050406030204" pitchFamily="18" charset="0"/>
                          <a:ea typeface="Cambria Math" panose="02040503050406030204" pitchFamily="18" charset="0"/>
                        </a:rPr>
                        <m:t>β</m:t>
                      </m:r>
                      <m:r>
                        <a:rPr lang="en-US" b="0" i="1" dirty="0" smtClean="0">
                          <a:latin typeface="Cambria Math" panose="02040503050406030204" pitchFamily="18" charset="0"/>
                          <a:ea typeface="Cambria Math" panose="02040503050406030204" pitchFamily="18" charset="0"/>
                        </a:rPr>
                        <m:t> </m:t>
                      </m:r>
                    </m:oMath>
                  </m:oMathPara>
                </a14:m>
                <a:endParaRPr lang="en-US" dirty="0"/>
              </a:p>
              <a:p>
                <a:r>
                  <a:rPr lang="en-US" dirty="0"/>
                  <a:t>Statistical power is the probability of detecting a real effect:</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𝑃𝑜𝑤𝑒𝑟</m:t>
                      </m:r>
                      <m:r>
                        <a:rPr lang="en-US" i="1" dirty="0" smtClean="0">
                          <a:latin typeface="Cambria Math" panose="02040503050406030204" pitchFamily="18" charset="0"/>
                        </a:rPr>
                        <m:t>=</m:t>
                      </m:r>
                      <m:r>
                        <a:rPr lang="en-US" i="1" dirty="0" smtClean="0">
                          <a:latin typeface="Cambria Math" panose="02040503050406030204" pitchFamily="18" charset="0"/>
                        </a:rPr>
                        <m:t>1</m:t>
                      </m:r>
                      <m:r>
                        <a:rPr lang="en-US" i="1" dirty="0" smtClean="0">
                          <a:latin typeface="Cambria Math" panose="02040503050406030204" pitchFamily="18" charset="0"/>
                        </a:rPr>
                        <m:t>−</m:t>
                      </m:r>
                      <m:r>
                        <a:rPr lang="en-US" i="1" dirty="0" smtClean="0">
                          <a:latin typeface="Cambria Math" panose="02040503050406030204" pitchFamily="18" charset="0"/>
                        </a:rPr>
                        <m:t>𝛽</m:t>
                      </m:r>
                    </m:oMath>
                  </m:oMathPara>
                </a14:m>
                <a:endParaRPr lang="en-US" dirty="0"/>
              </a:p>
              <a:p>
                <a:r>
                  <a:rPr lang="en-US" dirty="0"/>
                  <a:t>If power is 0.80, this means:</a:t>
                </a:r>
              </a:p>
              <a:p>
                <a:pPr lvl="1"/>
                <a:r>
                  <a:rPr lang="en-US" dirty="0"/>
                  <a:t>If the assumed effect really exists, then in repeated experiments the test will reject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oMath>
                </a14:m>
                <a:r>
                  <a:rPr lang="en-US" dirty="0"/>
                  <a:t> about 80% of the time.</a:t>
                </a:r>
              </a:p>
            </p:txBody>
          </p:sp>
        </mc:Choice>
        <mc:Fallback xmlns="">
          <p:sp>
            <p:nvSpPr>
              <p:cNvPr id="3" name="Content Placeholder 2">
                <a:extLst>
                  <a:ext uri="{FF2B5EF4-FFF2-40B4-BE49-F238E27FC236}">
                    <a16:creationId xmlns:a16="http://schemas.microsoft.com/office/drawing/2014/main" id="{A03D0E6A-C9D2-14AC-FB2D-F89A5CDA1326}"/>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1474383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1C16A-814C-D915-E587-E3796C2AA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8319F-3BB2-9BEB-BAF8-A47447B03452}"/>
              </a:ext>
            </a:extLst>
          </p:cNvPr>
          <p:cNvSpPr>
            <a:spLocks noGrp="1"/>
          </p:cNvSpPr>
          <p:nvPr>
            <p:ph type="title"/>
          </p:nvPr>
        </p:nvSpPr>
        <p:spPr/>
        <p:txBody>
          <a:bodyPr/>
          <a:lstStyle/>
          <a:p>
            <a:r>
              <a:rPr lang="en-US" dirty="0"/>
              <a:t>Power and Type II error</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B30533-01F6-A7A4-66FC-DC8FB6596FE5}"/>
                  </a:ext>
                </a:extLst>
              </p:cNvPr>
              <p:cNvSpPr>
                <a:spLocks noGrp="1"/>
              </p:cNvSpPr>
              <p:nvPr>
                <p:ph idx="1"/>
              </p:nvPr>
            </p:nvSpPr>
            <p:spPr>
              <a:xfrm>
                <a:off x="838200" y="1690688"/>
                <a:ext cx="10515600" cy="4351338"/>
              </a:xfrm>
            </p:spPr>
            <p:txBody>
              <a:bodyPr>
                <a:normAutofit/>
              </a:bodyPr>
              <a:lstStyle/>
              <a:p>
                <a:r>
                  <a:rPr lang="en-US" dirty="0"/>
                  <a:t>Power increases when:</a:t>
                </a:r>
              </a:p>
              <a:p>
                <a:pPr lvl="1"/>
                <a:r>
                  <a:rPr lang="en-US" dirty="0"/>
                  <a:t>the effect size is larger</a:t>
                </a:r>
              </a:p>
              <a:p>
                <a:pPr lvl="1"/>
                <a:r>
                  <a:rPr lang="en-US" dirty="0"/>
                  <a:t>the sample size is larger</a:t>
                </a:r>
              </a:p>
              <a:p>
                <a:pPr lvl="1"/>
                <a:r>
                  <a:rPr lang="en-US" dirty="0"/>
                  <a:t>the noise / variance is smaller</a:t>
                </a:r>
              </a:p>
              <a:p>
                <a:pPr lvl="1"/>
                <a:r>
                  <a:rPr lang="en-US" dirty="0"/>
                  <a:t>α is larger</a:t>
                </a:r>
              </a:p>
              <a:p>
                <a:pPr marL="457200" lvl="1" indent="0">
                  <a:buNone/>
                </a:pPr>
                <a:endParaRPr lang="en-US" dirty="0"/>
              </a:p>
              <a:p>
                <a:r>
                  <a:rPr lang="en-US" dirty="0"/>
                  <a:t>Connection:</a:t>
                </a:r>
              </a:p>
              <a:p>
                <a:pPr lvl="1"/>
                <a14:m>
                  <m:oMath xmlns:m="http://schemas.openxmlformats.org/officeDocument/2006/math">
                    <m:r>
                      <m:rPr>
                        <m:sty m:val="p"/>
                      </m:rPr>
                      <a:rPr lang="el-GR" i="1" dirty="0" smtClean="0">
                        <a:latin typeface="Cambria Math" panose="02040503050406030204" pitchFamily="18" charset="0"/>
                        <a:ea typeface="Cambria Math" panose="02040503050406030204" pitchFamily="18" charset="0"/>
                      </a:rPr>
                      <m:t>α</m:t>
                    </m:r>
                  </m:oMath>
                </a14:m>
                <a:r>
                  <a:rPr lang="en-US" dirty="0"/>
                  <a:t> → Type I  error</a:t>
                </a:r>
              </a:p>
              <a:p>
                <a:pPr lvl="1"/>
                <a14:m>
                  <m:oMath xmlns:m="http://schemas.openxmlformats.org/officeDocument/2006/math">
                    <m:r>
                      <m:rPr>
                        <m:sty m:val="p"/>
                      </m:rPr>
                      <a:rPr lang="el-GR" i="1" dirty="0" smtClean="0">
                        <a:latin typeface="Cambria Math" panose="02040503050406030204" pitchFamily="18" charset="0"/>
                        <a:ea typeface="Cambria Math" panose="02040503050406030204" pitchFamily="18" charset="0"/>
                      </a:rPr>
                      <m:t>β</m:t>
                    </m:r>
                  </m:oMath>
                </a14:m>
                <a:r>
                  <a:rPr lang="en-US" dirty="0"/>
                  <a:t> → Type II error</a:t>
                </a:r>
              </a:p>
              <a:p>
                <a:pPr lvl="1"/>
                <a:r>
                  <a:rPr lang="en-US" dirty="0"/>
                  <a:t>1−β → Power</a:t>
                </a:r>
              </a:p>
            </p:txBody>
          </p:sp>
        </mc:Choice>
        <mc:Fallback xmlns="">
          <p:sp>
            <p:nvSpPr>
              <p:cNvPr id="3" name="Content Placeholder 2">
                <a:extLst>
                  <a:ext uri="{FF2B5EF4-FFF2-40B4-BE49-F238E27FC236}">
                    <a16:creationId xmlns:a16="http://schemas.microsoft.com/office/drawing/2014/main" id="{83B30533-01F6-A7A4-66FC-DC8FB6596FE5}"/>
                  </a:ext>
                </a:extLst>
              </p:cNvPr>
              <p:cNvSpPr>
                <a:spLocks noGrp="1" noRot="1" noChangeAspect="1" noMove="1" noResize="1" noEditPoints="1" noAdjustHandles="1" noChangeArrowheads="1" noChangeShapeType="1" noTextEdit="1"/>
              </p:cNvSpPr>
              <p:nvPr>
                <p:ph idx="1"/>
              </p:nvPr>
            </p:nvSpPr>
            <p:spPr>
              <a:xfrm>
                <a:off x="838200" y="1690688"/>
                <a:ext cx="10515600" cy="4351338"/>
              </a:xfrm>
              <a:blipFill>
                <a:blip r:embed="rId3"/>
                <a:stretch>
                  <a:fillRect l="-1043" t="-2241"/>
                </a:stretch>
              </a:blipFill>
            </p:spPr>
            <p:txBody>
              <a:bodyPr/>
              <a:lstStyle/>
              <a:p>
                <a:r>
                  <a:rPr lang="he-IL">
                    <a:noFill/>
                  </a:rPr>
                  <a:t> </a:t>
                </a:r>
              </a:p>
            </p:txBody>
          </p:sp>
        </mc:Fallback>
      </mc:AlternateContent>
      <p:pic>
        <p:nvPicPr>
          <p:cNvPr id="1028" name="Picture 4" descr="Understanding Type-I and Type-II Errors in Hypothesis Testing | by Deepak  Chopra | Talking Data Science | Towards AI">
            <a:extLst>
              <a:ext uri="{FF2B5EF4-FFF2-40B4-BE49-F238E27FC236}">
                <a16:creationId xmlns:a16="http://schemas.microsoft.com/office/drawing/2014/main" id="{080FAC5F-F2D1-15E9-4CFB-5575CC4F2F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1140" y="3429000"/>
            <a:ext cx="7560860" cy="3460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510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9873B-8475-1955-9CF7-8AA1C0B54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0A8EC3-5938-A622-41C6-4F6F87EE3028}"/>
              </a:ext>
            </a:extLst>
          </p:cNvPr>
          <p:cNvSpPr>
            <a:spLocks noGrp="1"/>
          </p:cNvSpPr>
          <p:nvPr>
            <p:ph type="title"/>
          </p:nvPr>
        </p:nvSpPr>
        <p:spPr>
          <a:xfrm>
            <a:off x="838200" y="20997"/>
            <a:ext cx="10515600" cy="1325563"/>
          </a:xfrm>
        </p:spPr>
        <p:txBody>
          <a:bodyPr/>
          <a:lstStyle/>
          <a:p>
            <a:r>
              <a:rPr lang="he-IL" dirty="0"/>
              <a:t>Frequentist </a:t>
            </a:r>
            <a:r>
              <a:rPr lang="en-US" dirty="0"/>
              <a:t>T</a:t>
            </a:r>
            <a:r>
              <a:rPr lang="he-IL" dirty="0"/>
              <a:t>wo-proportion </a:t>
            </a:r>
            <a:r>
              <a:rPr lang="en-US" dirty="0"/>
              <a:t>Z</a:t>
            </a:r>
            <a:r>
              <a:rPr lang="he-IL" dirty="0"/>
              <a:t>-</a:t>
            </a:r>
            <a:r>
              <a:rPr lang="en-US" dirty="0"/>
              <a:t>t</a:t>
            </a:r>
            <a:r>
              <a:rPr lang="he-IL" dirty="0" err="1"/>
              <a:t>est</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15BDE9-9569-FC1B-5DAD-331414D20089}"/>
                  </a:ext>
                </a:extLst>
              </p:cNvPr>
              <p:cNvSpPr>
                <a:spLocks noGrp="1"/>
              </p:cNvSpPr>
              <p:nvPr>
                <p:ph idx="1"/>
              </p:nvPr>
            </p:nvSpPr>
            <p:spPr>
              <a:xfrm>
                <a:off x="838200" y="1342771"/>
                <a:ext cx="10445496" cy="4801998"/>
              </a:xfrm>
            </p:spPr>
            <p:txBody>
              <a:bodyPr>
                <a:normAutofit/>
              </a:bodyPr>
              <a:lstStyle/>
              <a:p>
                <a:r>
                  <a:rPr lang="en-US" dirty="0"/>
                  <a:t>Frequentist hypothesis tests use a statistic whose sampling distribution is known.</a:t>
                </a:r>
              </a:p>
              <a:p>
                <a:r>
                  <a:rPr lang="en-US" dirty="0"/>
                  <a:t>Z-test use the z statistic, </a:t>
                </a:r>
                <a:r>
                  <a:rPr lang="en-US" i="1" dirty="0">
                    <a:latin typeface="Cambria Math" panose="02040503050406030204" pitchFamily="18" charset="0"/>
                  </a:rPr>
                  <a:t> </a:t>
                </a:r>
                <a14:m>
                  <m:oMath xmlns:m="http://schemas.openxmlformats.org/officeDocument/2006/math">
                    <m:r>
                      <a:rPr lang="en-US" i="1" dirty="0" smtClean="0">
                        <a:latin typeface="Cambria Math" panose="02040503050406030204" pitchFamily="18" charset="0"/>
                      </a:rPr>
                      <m:t>𝑧</m:t>
                    </m:r>
                    <m:r>
                      <a:rPr lang="en-US" i="1" dirty="0" smtClean="0">
                        <a:latin typeface="Cambria Math" panose="02040503050406030204" pitchFamily="18" charset="0"/>
                      </a:rPr>
                      <m:t> ~</m:t>
                    </m:r>
                    <m:r>
                      <a:rPr lang="en-US" i="1" dirty="0" smtClean="0">
                        <a:latin typeface="Cambria Math" panose="02040503050406030204" pitchFamily="18" charset="0"/>
                      </a:rPr>
                      <m:t>𝑁</m:t>
                    </m:r>
                    <m:r>
                      <a:rPr lang="en-US" i="1" dirty="0" smtClean="0">
                        <a:latin typeface="Cambria Math" panose="02040503050406030204" pitchFamily="18" charset="0"/>
                      </a:rPr>
                      <m:t>(</m:t>
                    </m:r>
                    <m:r>
                      <a:rPr lang="en-US" i="1" dirty="0" smtClean="0">
                        <a:latin typeface="Cambria Math" panose="02040503050406030204" pitchFamily="18" charset="0"/>
                      </a:rPr>
                      <m:t>0</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m:t>
                    </m:r>
                  </m:oMath>
                </a14:m>
                <a:endParaRPr lang="en-US" i="1" dirty="0">
                  <a:latin typeface="Cambria Math" panose="02040503050406030204" pitchFamily="18" charset="0"/>
                </a:endParaRPr>
              </a:p>
              <a:p>
                <a:endParaRPr lang="en-US" dirty="0"/>
              </a:p>
              <a:p>
                <a:r>
                  <a:rPr lang="en-US" dirty="0"/>
                  <a:t>Under the </a:t>
                </a:r>
                <a:r>
                  <a:rPr lang="en-US" u="sng" dirty="0"/>
                  <a:t>null </a:t>
                </a:r>
                <a:r>
                  <a:rPr lang="en-US" dirty="0"/>
                  <a:t>hypothesis we test whether calculating the statistic on our data is consistent</a:t>
                </a:r>
                <a:r>
                  <a:rPr lang="en-US" sz="2400" dirty="0"/>
                  <a:t> w</a:t>
                </a:r>
                <a:r>
                  <a:rPr lang="en-US" dirty="0"/>
                  <a:t>ith the </a:t>
                </a:r>
                <a:r>
                  <a:rPr lang="en-US" u="sng" dirty="0"/>
                  <a:t>null sampling distribution</a:t>
                </a:r>
                <a:r>
                  <a:rPr lang="en-US" dirty="0"/>
                  <a:t>.</a:t>
                </a:r>
                <a:endParaRPr lang="he-IL" sz="2400" dirty="0"/>
              </a:p>
            </p:txBody>
          </p:sp>
        </mc:Choice>
        <mc:Fallback xmlns="">
          <p:sp>
            <p:nvSpPr>
              <p:cNvPr id="3" name="Content Placeholder 2">
                <a:extLst>
                  <a:ext uri="{FF2B5EF4-FFF2-40B4-BE49-F238E27FC236}">
                    <a16:creationId xmlns:a16="http://schemas.microsoft.com/office/drawing/2014/main" id="{C815BDE9-9569-FC1B-5DAD-331414D20089}"/>
                  </a:ext>
                </a:extLst>
              </p:cNvPr>
              <p:cNvSpPr>
                <a:spLocks noGrp="1" noRot="1" noChangeAspect="1" noMove="1" noResize="1" noEditPoints="1" noAdjustHandles="1" noChangeArrowheads="1" noChangeShapeType="1" noTextEdit="1"/>
              </p:cNvSpPr>
              <p:nvPr>
                <p:ph idx="1"/>
              </p:nvPr>
            </p:nvSpPr>
            <p:spPr>
              <a:xfrm>
                <a:off x="838200" y="1342771"/>
                <a:ext cx="10445496" cy="4801998"/>
              </a:xfrm>
              <a:blipFill>
                <a:blip r:embed="rId3"/>
                <a:stretch>
                  <a:fillRect l="-1051" t="-2030" r="-1109"/>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8574ADF0-DE73-6D59-C5EA-DA4E68F2FFF9}"/>
              </a:ext>
            </a:extLst>
          </p:cNvPr>
          <p:cNvSpPr>
            <a:spLocks noGrp="1"/>
          </p:cNvSpPr>
          <p:nvPr>
            <p:ph type="sldNum" sz="quarter" idx="12"/>
          </p:nvPr>
        </p:nvSpPr>
        <p:spPr/>
        <p:txBody>
          <a:bodyPr/>
          <a:lstStyle/>
          <a:p>
            <a:fld id="{B6796F57-8306-40D4-9229-37A3D19F0B5F}" type="slidenum">
              <a:rPr lang="LID4096" smtClean="0"/>
              <a:t>9</a:t>
            </a:fld>
            <a:endParaRPr lang="LID4096"/>
          </a:p>
        </p:txBody>
      </p:sp>
    </p:spTree>
    <p:extLst>
      <p:ext uri="{BB962C8B-B14F-4D97-AF65-F5344CB8AC3E}">
        <p14:creationId xmlns:p14="http://schemas.microsoft.com/office/powerpoint/2010/main" val="3454176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18A74-BC3F-D295-F292-56E2D15CF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EC792-6D8A-AEDE-3F69-D71CD7D2864D}"/>
              </a:ext>
            </a:extLst>
          </p:cNvPr>
          <p:cNvSpPr>
            <a:spLocks noGrp="1"/>
          </p:cNvSpPr>
          <p:nvPr>
            <p:ph type="title"/>
          </p:nvPr>
        </p:nvSpPr>
        <p:spPr>
          <a:xfrm>
            <a:off x="838200" y="20997"/>
            <a:ext cx="10515600" cy="1325563"/>
          </a:xfrm>
        </p:spPr>
        <p:txBody>
          <a:bodyPr/>
          <a:lstStyle/>
          <a:p>
            <a:r>
              <a:rPr lang="he-IL" dirty="0"/>
              <a:t>Frequentist </a:t>
            </a:r>
            <a:r>
              <a:rPr lang="en-US" dirty="0"/>
              <a:t>T</a:t>
            </a:r>
            <a:r>
              <a:rPr lang="he-IL" dirty="0"/>
              <a:t>wo-proportion </a:t>
            </a:r>
            <a:r>
              <a:rPr lang="en-US" dirty="0"/>
              <a:t>Z</a:t>
            </a:r>
            <a:r>
              <a:rPr lang="he-IL" dirty="0"/>
              <a:t>-</a:t>
            </a:r>
            <a:r>
              <a:rPr lang="en-US" dirty="0"/>
              <a:t>t</a:t>
            </a:r>
            <a:r>
              <a:rPr lang="he-IL" dirty="0" err="1"/>
              <a:t>est</a:t>
            </a:r>
            <a:endParaRPr lang="LID4096" dirty="0"/>
          </a:p>
        </p:txBody>
      </p:sp>
      <p:sp>
        <p:nvSpPr>
          <p:cNvPr id="3" name="Content Placeholder 2">
            <a:extLst>
              <a:ext uri="{FF2B5EF4-FFF2-40B4-BE49-F238E27FC236}">
                <a16:creationId xmlns:a16="http://schemas.microsoft.com/office/drawing/2014/main" id="{348CC335-F753-3994-0432-53B3B0DAEA87}"/>
              </a:ext>
            </a:extLst>
          </p:cNvPr>
          <p:cNvSpPr>
            <a:spLocks noGrp="1"/>
          </p:cNvSpPr>
          <p:nvPr>
            <p:ph idx="1"/>
          </p:nvPr>
        </p:nvSpPr>
        <p:spPr>
          <a:xfrm>
            <a:off x="838200" y="1342771"/>
            <a:ext cx="10445496" cy="4801998"/>
          </a:xfrm>
        </p:spPr>
        <p:txBody>
          <a:bodyPr>
            <a:normAutofit/>
          </a:bodyPr>
          <a:lstStyle/>
          <a:p>
            <a:r>
              <a:rPr lang="en-US" b="1" dirty="0"/>
              <a:t>Assumptions</a:t>
            </a:r>
          </a:p>
          <a:p>
            <a:pPr marL="971550" lvl="1" indent="-514350">
              <a:buFont typeface="+mj-lt"/>
              <a:buAutoNum type="arabicPeriod"/>
            </a:pPr>
            <a:r>
              <a:rPr lang="en-US" dirty="0"/>
              <a:t>Random sampling</a:t>
            </a:r>
          </a:p>
          <a:p>
            <a:pPr marL="971550" lvl="1" indent="-514350">
              <a:buFont typeface="+mj-lt"/>
              <a:buAutoNum type="arabicPeriod"/>
            </a:pPr>
            <a:r>
              <a:rPr lang="en-US" dirty="0"/>
              <a:t>Independent groups</a:t>
            </a:r>
          </a:p>
          <a:p>
            <a:pPr marL="971550" lvl="1" indent="-514350">
              <a:buFont typeface="+mj-lt"/>
              <a:buAutoNum type="arabicPeriod"/>
            </a:pPr>
            <a:r>
              <a:rPr lang="en-US" dirty="0"/>
              <a:t>Large sample size</a:t>
            </a:r>
            <a:br>
              <a:rPr lang="en-US" dirty="0"/>
            </a:br>
            <a:r>
              <a:rPr lang="en-US" dirty="0"/>
              <a:t>The test relies on a normal approximation. If the sample is too small, the approximation may be unreliable.</a:t>
            </a:r>
          </a:p>
          <a:p>
            <a:pPr marL="0" indent="0">
              <a:buNone/>
            </a:pPr>
            <a:r>
              <a:rPr lang="en-US" dirty="0"/>
              <a:t>​If the assumptions are not met, use a different test or interpret the result cautiously.</a:t>
            </a:r>
            <a:endParaRPr lang="he-IL" dirty="0"/>
          </a:p>
        </p:txBody>
      </p:sp>
      <p:sp>
        <p:nvSpPr>
          <p:cNvPr id="4" name="מציין מיקום של מספר שקופית 3">
            <a:extLst>
              <a:ext uri="{FF2B5EF4-FFF2-40B4-BE49-F238E27FC236}">
                <a16:creationId xmlns:a16="http://schemas.microsoft.com/office/drawing/2014/main" id="{80C5977E-7401-587D-0E2D-28BD95290B61}"/>
              </a:ext>
            </a:extLst>
          </p:cNvPr>
          <p:cNvSpPr>
            <a:spLocks noGrp="1"/>
          </p:cNvSpPr>
          <p:nvPr>
            <p:ph type="sldNum" sz="quarter" idx="12"/>
          </p:nvPr>
        </p:nvSpPr>
        <p:spPr/>
        <p:txBody>
          <a:bodyPr/>
          <a:lstStyle/>
          <a:p>
            <a:fld id="{B6796F57-8306-40D4-9229-37A3D19F0B5F}" type="slidenum">
              <a:rPr lang="LID4096" smtClean="0"/>
              <a:t>10</a:t>
            </a:fld>
            <a:endParaRPr lang="LID4096"/>
          </a:p>
        </p:txBody>
      </p:sp>
    </p:spTree>
    <p:extLst>
      <p:ext uri="{BB962C8B-B14F-4D97-AF65-F5344CB8AC3E}">
        <p14:creationId xmlns:p14="http://schemas.microsoft.com/office/powerpoint/2010/main" val="1058576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6AE7B-8D9E-727A-07F6-E1C5450EA7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3BAF1-887B-01D8-8F95-3D4693736DA3}"/>
              </a:ext>
            </a:extLst>
          </p:cNvPr>
          <p:cNvSpPr>
            <a:spLocks noGrp="1"/>
          </p:cNvSpPr>
          <p:nvPr>
            <p:ph type="title"/>
          </p:nvPr>
        </p:nvSpPr>
        <p:spPr>
          <a:xfrm>
            <a:off x="838200" y="20997"/>
            <a:ext cx="10515600" cy="1325563"/>
          </a:xfrm>
        </p:spPr>
        <p:txBody>
          <a:bodyPr/>
          <a:lstStyle/>
          <a:p>
            <a:r>
              <a:rPr lang="he-IL" dirty="0"/>
              <a:t>Frequentist </a:t>
            </a:r>
            <a:r>
              <a:rPr lang="en-US" dirty="0"/>
              <a:t>T</a:t>
            </a:r>
            <a:r>
              <a:rPr lang="he-IL" dirty="0"/>
              <a:t>wo-proportion z-</a:t>
            </a:r>
            <a:r>
              <a:rPr lang="en-US" dirty="0"/>
              <a:t>T</a:t>
            </a:r>
            <a:r>
              <a:rPr lang="he-IL" dirty="0" err="1"/>
              <a:t>est</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0C1FF0-70E6-9A96-1199-5CBDF91CCFF8}"/>
                  </a:ext>
                </a:extLst>
              </p:cNvPr>
              <p:cNvSpPr>
                <a:spLocks noGrp="1"/>
              </p:cNvSpPr>
              <p:nvPr>
                <p:ph idx="1"/>
              </p:nvPr>
            </p:nvSpPr>
            <p:spPr>
              <a:xfrm>
                <a:off x="838200" y="1342771"/>
                <a:ext cx="10445496" cy="4801998"/>
              </a:xfrm>
            </p:spPr>
            <p:txBody>
              <a:bodyPr>
                <a:normAutofit/>
              </a:bodyPr>
              <a:lstStyle/>
              <a:p>
                <a:r>
                  <a:rPr lang="en-US" dirty="0"/>
                  <a:t>N</a:t>
                </a:r>
                <a:r>
                  <a:rPr lang="he-IL" dirty="0" err="1"/>
                  <a:t>ull</a:t>
                </a:r>
                <a:r>
                  <a:rPr lang="he-IL" dirty="0"/>
                  <a:t> hypothesis is:</a:t>
                </a:r>
              </a:p>
              <a:p>
                <a:pPr marL="0" indent="0">
                  <a:buNone/>
                </a:pPr>
                <a14:m>
                  <m:oMathPara xmlns:m="http://schemas.openxmlformats.org/officeDocument/2006/math">
                    <m:oMathParaPr>
                      <m:jc m:val="centerGroup"/>
                    </m:oMathParaPr>
                    <m:oMath xmlns:m="http://schemas.openxmlformats.org/officeDocument/2006/math">
                      <m:sSub>
                        <m:sSubPr>
                          <m:ctrlPr>
                            <a:rPr lang="he-IL" sz="3200" i="1">
                              <a:latin typeface="Cambria Math" panose="02040503050406030204" pitchFamily="18" charset="0"/>
                            </a:rPr>
                          </m:ctrlPr>
                        </m:sSubPr>
                        <m:e>
                          <m:r>
                            <a:rPr lang="he-IL" sz="3200" i="1">
                              <a:latin typeface="Cambria Math" panose="02040503050406030204" pitchFamily="18" charset="0"/>
                            </a:rPr>
                            <m:t>𝐻</m:t>
                          </m:r>
                        </m:e>
                        <m:sub>
                          <m:r>
                            <a:rPr lang="he-IL" sz="3200">
                              <a:latin typeface="Cambria Math" panose="02040503050406030204" pitchFamily="18" charset="0"/>
                            </a:rPr>
                            <m:t>0</m:t>
                          </m:r>
                        </m:sub>
                      </m:sSub>
                      <m:r>
                        <a:rPr lang="he-IL" sz="3200">
                          <a:latin typeface="Cambria Math" panose="02040503050406030204" pitchFamily="18" charset="0"/>
                        </a:rPr>
                        <m:t>:</m:t>
                      </m:r>
                      <m:sSub>
                        <m:sSubPr>
                          <m:ctrlPr>
                            <a:rPr lang="he-IL" sz="3200" i="1">
                              <a:latin typeface="Cambria Math" panose="02040503050406030204" pitchFamily="18" charset="0"/>
                            </a:rPr>
                          </m:ctrlPr>
                        </m:sSubPr>
                        <m:e>
                          <m:r>
                            <a:rPr lang="he-IL" sz="3200" i="1">
                              <a:latin typeface="Cambria Math" panose="02040503050406030204" pitchFamily="18" charset="0"/>
                            </a:rPr>
                            <m:t>𝜃</m:t>
                          </m:r>
                        </m:e>
                        <m:sub>
                          <m:r>
                            <a:rPr lang="he-IL" sz="3200" i="1">
                              <a:latin typeface="Cambria Math" panose="02040503050406030204" pitchFamily="18" charset="0"/>
                            </a:rPr>
                            <m:t>𝐴</m:t>
                          </m:r>
                        </m:sub>
                      </m:sSub>
                      <m:r>
                        <a:rPr lang="he-IL" sz="3200">
                          <a:latin typeface="Cambria Math" panose="02040503050406030204" pitchFamily="18" charset="0"/>
                        </a:rPr>
                        <m:t>=</m:t>
                      </m:r>
                      <m:sSub>
                        <m:sSubPr>
                          <m:ctrlPr>
                            <a:rPr lang="he-IL" sz="3200" i="1">
                              <a:latin typeface="Cambria Math" panose="02040503050406030204" pitchFamily="18" charset="0"/>
                            </a:rPr>
                          </m:ctrlPr>
                        </m:sSubPr>
                        <m:e>
                          <m:r>
                            <a:rPr lang="he-IL" sz="3200" i="1">
                              <a:latin typeface="Cambria Math" panose="02040503050406030204" pitchFamily="18" charset="0"/>
                            </a:rPr>
                            <m:t>𝜃</m:t>
                          </m:r>
                        </m:e>
                        <m:sub>
                          <m:r>
                            <a:rPr lang="he-IL" sz="3200" i="1">
                              <a:latin typeface="Cambria Math" panose="02040503050406030204" pitchFamily="18" charset="0"/>
                            </a:rPr>
                            <m:t>𝐵</m:t>
                          </m:r>
                        </m:sub>
                      </m:sSub>
                    </m:oMath>
                  </m:oMathPara>
                </a14:m>
                <a:br>
                  <a:rPr lang="en-US" dirty="0"/>
                </a:br>
                <a:endParaRPr lang="en-US" dirty="0"/>
              </a:p>
              <a:p>
                <a:pPr marL="0" indent="0">
                  <a:buNone/>
                </a:pPr>
                <a:endParaRPr lang="he-IL" dirty="0"/>
              </a:p>
              <a:p>
                <a:r>
                  <a:rPr lang="he-IL" dirty="0"/>
                  <a:t>The two-</a:t>
                </a:r>
                <a:r>
                  <a:rPr lang="he-IL" dirty="0" err="1"/>
                  <a:t>sided</a:t>
                </a:r>
                <a:r>
                  <a:rPr lang="he-IL" dirty="0"/>
                  <a:t> alternative is:</a:t>
                </a:r>
              </a:p>
              <a:p>
                <a:pPr marL="0" indent="0">
                  <a:buNone/>
                </a:pPr>
                <a14:m>
                  <m:oMathPara xmlns:m="http://schemas.openxmlformats.org/officeDocument/2006/math">
                    <m:oMathParaPr>
                      <m:jc m:val="centerGroup"/>
                    </m:oMathParaPr>
                    <m:oMath xmlns:m="http://schemas.openxmlformats.org/officeDocument/2006/math">
                      <m:sSub>
                        <m:sSubPr>
                          <m:ctrlPr>
                            <a:rPr lang="he-IL" sz="3200" i="1">
                              <a:latin typeface="Cambria Math" panose="02040503050406030204" pitchFamily="18" charset="0"/>
                            </a:rPr>
                          </m:ctrlPr>
                        </m:sSubPr>
                        <m:e>
                          <m:r>
                            <a:rPr lang="he-IL" sz="3200" i="1">
                              <a:latin typeface="Cambria Math" panose="02040503050406030204" pitchFamily="18" charset="0"/>
                            </a:rPr>
                            <m:t>𝐻</m:t>
                          </m:r>
                        </m:e>
                        <m:sub>
                          <m:r>
                            <a:rPr lang="he-IL" sz="3200">
                              <a:latin typeface="Cambria Math" panose="02040503050406030204" pitchFamily="18" charset="0"/>
                            </a:rPr>
                            <m:t>1</m:t>
                          </m:r>
                        </m:sub>
                      </m:sSub>
                      <m:r>
                        <a:rPr lang="he-IL" sz="3200">
                          <a:latin typeface="Cambria Math" panose="02040503050406030204" pitchFamily="18" charset="0"/>
                        </a:rPr>
                        <m:t>:</m:t>
                      </m:r>
                      <m:sSub>
                        <m:sSubPr>
                          <m:ctrlPr>
                            <a:rPr lang="he-IL" sz="3200" i="1">
                              <a:latin typeface="Cambria Math" panose="02040503050406030204" pitchFamily="18" charset="0"/>
                            </a:rPr>
                          </m:ctrlPr>
                        </m:sSubPr>
                        <m:e>
                          <m:r>
                            <a:rPr lang="he-IL" sz="3200" i="1">
                              <a:latin typeface="Cambria Math" panose="02040503050406030204" pitchFamily="18" charset="0"/>
                            </a:rPr>
                            <m:t>𝜃</m:t>
                          </m:r>
                        </m:e>
                        <m:sub>
                          <m:r>
                            <a:rPr lang="he-IL" sz="3200" i="1">
                              <a:latin typeface="Cambria Math" panose="02040503050406030204" pitchFamily="18" charset="0"/>
                            </a:rPr>
                            <m:t>𝐴</m:t>
                          </m:r>
                        </m:sub>
                      </m:sSub>
                      <m:r>
                        <a:rPr lang="he-IL" sz="3200">
                          <a:latin typeface="Cambria Math" panose="02040503050406030204" pitchFamily="18" charset="0"/>
                        </a:rPr>
                        <m:t>≠</m:t>
                      </m:r>
                      <m:sSub>
                        <m:sSubPr>
                          <m:ctrlPr>
                            <a:rPr lang="he-IL" sz="3200" i="1">
                              <a:latin typeface="Cambria Math" panose="02040503050406030204" pitchFamily="18" charset="0"/>
                            </a:rPr>
                          </m:ctrlPr>
                        </m:sSubPr>
                        <m:e>
                          <m:r>
                            <a:rPr lang="he-IL" sz="3200" i="1">
                              <a:latin typeface="Cambria Math" panose="02040503050406030204" pitchFamily="18" charset="0"/>
                            </a:rPr>
                            <m:t>𝜃</m:t>
                          </m:r>
                        </m:e>
                        <m:sub>
                          <m:r>
                            <a:rPr lang="he-IL" sz="3200" i="1">
                              <a:latin typeface="Cambria Math" panose="02040503050406030204" pitchFamily="18" charset="0"/>
                            </a:rPr>
                            <m:t>𝐵</m:t>
                          </m:r>
                        </m:sub>
                      </m:sSub>
                    </m:oMath>
                  </m:oMathPara>
                </a14:m>
                <a:endParaRPr lang="he-IL" dirty="0"/>
              </a:p>
              <a:p>
                <a:endParaRPr lang="en-US" dirty="0"/>
              </a:p>
            </p:txBody>
          </p:sp>
        </mc:Choice>
        <mc:Fallback xmlns="">
          <p:sp>
            <p:nvSpPr>
              <p:cNvPr id="3" name="Content Placeholder 2">
                <a:extLst>
                  <a:ext uri="{FF2B5EF4-FFF2-40B4-BE49-F238E27FC236}">
                    <a16:creationId xmlns:a16="http://schemas.microsoft.com/office/drawing/2014/main" id="{DF0C1FF0-70E6-9A96-1199-5CBDF91CCFF8}"/>
                  </a:ext>
                </a:extLst>
              </p:cNvPr>
              <p:cNvSpPr>
                <a:spLocks noGrp="1" noRot="1" noChangeAspect="1" noMove="1" noResize="1" noEditPoints="1" noAdjustHandles="1" noChangeArrowheads="1" noChangeShapeType="1" noTextEdit="1"/>
              </p:cNvSpPr>
              <p:nvPr>
                <p:ph idx="1"/>
              </p:nvPr>
            </p:nvSpPr>
            <p:spPr>
              <a:xfrm>
                <a:off x="838200" y="1342771"/>
                <a:ext cx="10445496" cy="4801998"/>
              </a:xfrm>
              <a:blipFill>
                <a:blip r:embed="rId3"/>
                <a:stretch>
                  <a:fillRect l="-1051" t="-2538"/>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E70C63D1-520D-FBA3-A4A7-7F66E552F770}"/>
              </a:ext>
            </a:extLst>
          </p:cNvPr>
          <p:cNvSpPr>
            <a:spLocks noGrp="1"/>
          </p:cNvSpPr>
          <p:nvPr>
            <p:ph type="sldNum" sz="quarter" idx="12"/>
          </p:nvPr>
        </p:nvSpPr>
        <p:spPr/>
        <p:txBody>
          <a:bodyPr/>
          <a:lstStyle/>
          <a:p>
            <a:fld id="{B6796F57-8306-40D4-9229-37A3D19F0B5F}" type="slidenum">
              <a:rPr lang="LID4096" smtClean="0"/>
              <a:t>11</a:t>
            </a:fld>
            <a:endParaRPr lang="LID4096"/>
          </a:p>
        </p:txBody>
      </p:sp>
    </p:spTree>
    <p:extLst>
      <p:ext uri="{BB962C8B-B14F-4D97-AF65-F5344CB8AC3E}">
        <p14:creationId xmlns:p14="http://schemas.microsoft.com/office/powerpoint/2010/main" val="4171694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9507B-7983-473F-9552-515192A15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AFE58-681A-A2E0-5B16-290473E6E5FB}"/>
              </a:ext>
            </a:extLst>
          </p:cNvPr>
          <p:cNvSpPr>
            <a:spLocks noGrp="1"/>
          </p:cNvSpPr>
          <p:nvPr>
            <p:ph type="title"/>
          </p:nvPr>
        </p:nvSpPr>
        <p:spPr>
          <a:xfrm>
            <a:off x="838200" y="20997"/>
            <a:ext cx="10515600" cy="1325563"/>
          </a:xfrm>
        </p:spPr>
        <p:txBody>
          <a:bodyPr/>
          <a:lstStyle/>
          <a:p>
            <a:r>
              <a:rPr lang="en-US" dirty="0"/>
              <a:t>Z Statistic</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3B9F28-1DCF-423A-16BE-850D69D883EB}"/>
                  </a:ext>
                </a:extLst>
              </p:cNvPr>
              <p:cNvSpPr>
                <a:spLocks noGrp="1"/>
              </p:cNvSpPr>
              <p:nvPr>
                <p:ph idx="1"/>
              </p:nvPr>
            </p:nvSpPr>
            <p:spPr>
              <a:xfrm>
                <a:off x="873252" y="1346560"/>
                <a:ext cx="10445496" cy="4801998"/>
              </a:xfrm>
            </p:spPr>
            <p:txBody>
              <a:bodyPr>
                <a:normAutofit/>
              </a:bodyPr>
              <a:lstStyle/>
              <a:p>
                <a:pPr marL="0" indent="0">
                  <a:buNone/>
                </a:pPr>
                <a:endParaRPr lang="en-US" i="1" dirty="0">
                  <a:latin typeface="Cambria Math" panose="02040503050406030204" pitchFamily="18" charset="0"/>
                </a:endParaRPr>
              </a:p>
              <a:p>
                <a:pPr marL="0" indent="0" algn="r" rtl="1">
                  <a:buNone/>
                </a:pPr>
                <a14:m>
                  <m:oMathPara xmlns:m="http://schemas.openxmlformats.org/officeDocument/2006/math">
                    <m:oMathParaPr>
                      <m:jc m:val="centerGroup"/>
                    </m:oMathParaPr>
                    <m:oMath xmlns:m="http://schemas.openxmlformats.org/officeDocument/2006/math">
                      <m:r>
                        <a:rPr lang="he-IL" i="1">
                          <a:latin typeface="Cambria Math" panose="02040503050406030204" pitchFamily="18" charset="0"/>
                        </a:rPr>
                        <m:t>𝑧</m:t>
                      </m:r>
                      <m:r>
                        <a:rPr lang="he-IL">
                          <a:latin typeface="Cambria Math" panose="02040503050406030204" pitchFamily="18" charset="0"/>
                        </a:rPr>
                        <m:t>=</m:t>
                      </m:r>
                      <m:f>
                        <m:fPr>
                          <m:ctrlPr>
                            <a:rPr lang="he-IL" i="1">
                              <a:latin typeface="Cambria Math" panose="02040503050406030204" pitchFamily="18" charset="0"/>
                            </a:rPr>
                          </m:ctrlPr>
                        </m:fPr>
                        <m:num>
                          <m:r>
                            <m:rPr>
                              <m:nor/>
                            </m:rPr>
                            <a:rPr lang="he-IL" i="1"/>
                            <m:t>observed</m:t>
                          </m:r>
                          <m:r>
                            <m:rPr>
                              <m:nor/>
                            </m:rPr>
                            <a:rPr lang="he-IL" i="1"/>
                            <m:t> </m:t>
                          </m:r>
                          <m:r>
                            <m:rPr>
                              <m:nor/>
                            </m:rPr>
                            <a:rPr lang="he-IL" i="1"/>
                            <m:t>estimate</m:t>
                          </m:r>
                          <m:r>
                            <a:rPr lang="he-IL">
                              <a:latin typeface="Cambria Math" panose="02040503050406030204" pitchFamily="18" charset="0"/>
                            </a:rPr>
                            <m:t>−</m:t>
                          </m:r>
                          <m:r>
                            <m:rPr>
                              <m:nor/>
                            </m:rPr>
                            <a:rPr lang="he-IL" i="1"/>
                            <m:t>null</m:t>
                          </m:r>
                          <m:r>
                            <m:rPr>
                              <m:nor/>
                            </m:rPr>
                            <a:rPr lang="he-IL" i="1"/>
                            <m:t> </m:t>
                          </m:r>
                          <m:r>
                            <m:rPr>
                              <m:nor/>
                            </m:rPr>
                            <a:rPr lang="he-IL" i="1"/>
                            <m:t>value</m:t>
                          </m:r>
                        </m:num>
                        <m:den>
                          <m:r>
                            <m:rPr>
                              <m:nor/>
                            </m:rPr>
                            <a:rPr lang="he-IL" i="1"/>
                            <m:t>standard</m:t>
                          </m:r>
                          <m:r>
                            <m:rPr>
                              <m:nor/>
                            </m:rPr>
                            <a:rPr lang="he-IL" i="1"/>
                            <m:t> </m:t>
                          </m:r>
                          <m:r>
                            <m:rPr>
                              <m:nor/>
                            </m:rPr>
                            <a:rPr lang="he-IL" i="1"/>
                            <m:t>error</m:t>
                          </m:r>
                        </m:den>
                      </m:f>
                    </m:oMath>
                  </m:oMathPara>
                </a14:m>
                <a:endParaRPr lang="he-IL" dirty="0"/>
              </a:p>
              <a:p>
                <a:pPr marL="0" indent="0" algn="r" rtl="1">
                  <a:buNone/>
                </a:pPr>
                <a:endParaRPr lang="en-US" i="1" dirty="0">
                  <a:latin typeface="Cambria Math" panose="02040503050406030204" pitchFamily="18" charset="0"/>
                </a:endParaRPr>
              </a:p>
              <a:p>
                <a:pPr marL="0" indent="0" algn="r" rtl="1">
                  <a:buNone/>
                </a:pPr>
                <a:endParaRPr lang="en-US" i="1" dirty="0">
                  <a:latin typeface="Cambria Math" panose="02040503050406030204" pitchFamily="18" charset="0"/>
                </a:endParaRPr>
              </a:p>
              <a:p>
                <a:pPr marL="0" indent="0" algn="r" rtl="1">
                  <a:buNone/>
                </a:pPr>
                <a14:m>
                  <m:oMathPara xmlns:m="http://schemas.openxmlformats.org/officeDocument/2006/math">
                    <m:oMathParaPr>
                      <m:jc m:val="centerGroup"/>
                    </m:oMathParaPr>
                    <m:oMath xmlns:m="http://schemas.openxmlformats.org/officeDocument/2006/math">
                      <m:r>
                        <a:rPr lang="he-IL" i="1">
                          <a:latin typeface="Cambria Math" panose="02040503050406030204" pitchFamily="18" charset="0"/>
                        </a:rPr>
                        <m:t>𝑧</m:t>
                      </m:r>
                      <m:r>
                        <a:rPr lang="he-IL">
                          <a:latin typeface="Cambria Math" panose="02040503050406030204" pitchFamily="18" charset="0"/>
                        </a:rPr>
                        <m:t>=</m:t>
                      </m:r>
                      <m:f>
                        <m:fPr>
                          <m:ctrlPr>
                            <a:rPr lang="he-IL" i="1">
                              <a:latin typeface="Cambria Math" panose="02040503050406030204" pitchFamily="18" charset="0"/>
                            </a:rPr>
                          </m:ctrlPr>
                        </m:fPr>
                        <m:num>
                          <m:acc>
                            <m:accPr>
                              <m:chr m:val="̂"/>
                              <m:ctrlPr>
                                <a:rPr lang="he-IL" i="1">
                                  <a:latin typeface="Cambria Math" panose="02040503050406030204" pitchFamily="18" charset="0"/>
                                </a:rPr>
                              </m:ctrlPr>
                            </m:accPr>
                            <m:e>
                              <m:r>
                                <a:rPr lang="he-IL" i="1">
                                  <a:latin typeface="Cambria Math" panose="02040503050406030204" pitchFamily="18" charset="0"/>
                                </a:rPr>
                                <m:t>𝜃</m:t>
                              </m:r>
                            </m:e>
                          </m:acc>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𝜃</m:t>
                              </m:r>
                            </m:e>
                            <m:sub>
                              <m:r>
                                <a:rPr lang="he-IL">
                                  <a:latin typeface="Cambria Math" panose="02040503050406030204" pitchFamily="18" charset="0"/>
                                </a:rPr>
                                <m:t>0</m:t>
                              </m:r>
                            </m:sub>
                          </m:sSub>
                        </m:num>
                        <m:den>
                          <m:r>
                            <a:rPr lang="he-IL" i="1">
                              <a:latin typeface="Cambria Math" panose="02040503050406030204" pitchFamily="18" charset="0"/>
                            </a:rPr>
                            <m:t>𝑆𝐸</m:t>
                          </m:r>
                        </m:den>
                      </m:f>
                    </m:oMath>
                  </m:oMathPara>
                </a14:m>
                <a:endParaRPr lang="en-US" dirty="0"/>
              </a:p>
              <a:p>
                <a:pPr marL="0" indent="0" algn="r" rtl="1">
                  <a:buNone/>
                </a:pPr>
                <a:endParaRPr lang="he-IL" dirty="0"/>
              </a:p>
            </p:txBody>
          </p:sp>
        </mc:Choice>
        <mc:Fallback xmlns="">
          <p:sp>
            <p:nvSpPr>
              <p:cNvPr id="3" name="Content Placeholder 2">
                <a:extLst>
                  <a:ext uri="{FF2B5EF4-FFF2-40B4-BE49-F238E27FC236}">
                    <a16:creationId xmlns:a16="http://schemas.microsoft.com/office/drawing/2014/main" id="{E33B9F28-1DCF-423A-16BE-850D69D883EB}"/>
                  </a:ext>
                </a:extLst>
              </p:cNvPr>
              <p:cNvSpPr>
                <a:spLocks noGrp="1" noRot="1" noChangeAspect="1" noMove="1" noResize="1" noEditPoints="1" noAdjustHandles="1" noChangeArrowheads="1" noChangeShapeType="1" noTextEdit="1"/>
              </p:cNvSpPr>
              <p:nvPr>
                <p:ph idx="1"/>
              </p:nvPr>
            </p:nvSpPr>
            <p:spPr>
              <a:xfrm>
                <a:off x="873252" y="1346560"/>
                <a:ext cx="10445496" cy="4801998"/>
              </a:xfrm>
              <a:blipFill>
                <a:blip r:embed="rId3"/>
                <a:stretch>
                  <a:fillRect/>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7320A248-A3FF-8FCB-108A-71B3BC8B256F}"/>
              </a:ext>
            </a:extLst>
          </p:cNvPr>
          <p:cNvSpPr>
            <a:spLocks noGrp="1"/>
          </p:cNvSpPr>
          <p:nvPr>
            <p:ph type="sldNum" sz="quarter" idx="12"/>
          </p:nvPr>
        </p:nvSpPr>
        <p:spPr/>
        <p:txBody>
          <a:bodyPr/>
          <a:lstStyle/>
          <a:p>
            <a:fld id="{B6796F57-8306-40D4-9229-37A3D19F0B5F}" type="slidenum">
              <a:rPr lang="LID4096" smtClean="0"/>
              <a:t>12</a:t>
            </a:fld>
            <a:endParaRPr lang="LID4096"/>
          </a:p>
        </p:txBody>
      </p:sp>
    </p:spTree>
    <p:extLst>
      <p:ext uri="{BB962C8B-B14F-4D97-AF65-F5344CB8AC3E}">
        <p14:creationId xmlns:p14="http://schemas.microsoft.com/office/powerpoint/2010/main" val="4252594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81A18-CB1D-6B49-9B3B-362F84E1F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23C1F-96A8-75ED-2CD8-D199D5492C7C}"/>
              </a:ext>
            </a:extLst>
          </p:cNvPr>
          <p:cNvSpPr>
            <a:spLocks noGrp="1"/>
          </p:cNvSpPr>
          <p:nvPr>
            <p:ph type="title"/>
          </p:nvPr>
        </p:nvSpPr>
        <p:spPr>
          <a:xfrm>
            <a:off x="838200" y="20997"/>
            <a:ext cx="10515600" cy="1325563"/>
          </a:xfrm>
        </p:spPr>
        <p:txBody>
          <a:bodyPr/>
          <a:lstStyle/>
          <a:p>
            <a:r>
              <a:rPr lang="en-US" dirty="0"/>
              <a:t>Z Statistic</a:t>
            </a:r>
            <a:r>
              <a:rPr lang="he-IL" dirty="0"/>
              <a:t> </a:t>
            </a:r>
            <a:r>
              <a:rPr lang="en-US" dirty="0"/>
              <a:t> - T</a:t>
            </a:r>
            <a:r>
              <a:rPr lang="he-IL" dirty="0"/>
              <a:t>wo-proportion</a:t>
            </a:r>
            <a:r>
              <a:rPr lang="en-US" dirty="0"/>
              <a:t> </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CBC462-A9A4-D39B-407C-3512632AA4D3}"/>
                  </a:ext>
                </a:extLst>
              </p:cNvPr>
              <p:cNvSpPr>
                <a:spLocks noGrp="1"/>
              </p:cNvSpPr>
              <p:nvPr>
                <p:ph idx="1"/>
              </p:nvPr>
            </p:nvSpPr>
            <p:spPr>
              <a:xfrm>
                <a:off x="873252" y="1346560"/>
                <a:ext cx="10445496" cy="4801998"/>
              </a:xfrm>
            </p:spPr>
            <p:txBody>
              <a:bodyPr>
                <a:normAutofit/>
              </a:bodyPr>
              <a:lstStyle/>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he-IL" i="1">
                          <a:latin typeface="Cambria Math" panose="02040503050406030204" pitchFamily="18" charset="0"/>
                        </a:rPr>
                        <m:t>𝑧</m:t>
                      </m:r>
                      <m:r>
                        <a:rPr lang="he-IL">
                          <a:latin typeface="Cambria Math" panose="02040503050406030204" pitchFamily="18" charset="0"/>
                        </a:rPr>
                        <m:t>=</m:t>
                      </m:r>
                      <m:f>
                        <m:fPr>
                          <m:ctrlPr>
                            <a:rPr lang="he-IL" i="1">
                              <a:latin typeface="Cambria Math" panose="02040503050406030204" pitchFamily="18" charset="0"/>
                            </a:rPr>
                          </m:ctrlPr>
                        </m:fPr>
                        <m:num>
                          <m:sSub>
                            <m:sSubPr>
                              <m:ctrlPr>
                                <a:rPr lang="he-IL" i="1">
                                  <a:latin typeface="Cambria Math" panose="02040503050406030204" pitchFamily="18" charset="0"/>
                                </a:rPr>
                              </m:ctrlPr>
                            </m:sSubPr>
                            <m:e>
                              <m:acc>
                                <m:accPr>
                                  <m:chr m:val="̂"/>
                                  <m:ctrlPr>
                                    <a:rPr lang="he-IL" i="1">
                                      <a:latin typeface="Cambria Math" panose="02040503050406030204" pitchFamily="18" charset="0"/>
                                    </a:rPr>
                                  </m:ctrlPr>
                                </m:accPr>
                                <m:e>
                                  <m:r>
                                    <a:rPr lang="he-IL" i="1">
                                      <a:latin typeface="Cambria Math" panose="02040503050406030204" pitchFamily="18" charset="0"/>
                                    </a:rPr>
                                    <m:t>𝜃</m:t>
                                  </m:r>
                                </m:e>
                              </m:acc>
                            </m:e>
                            <m:sub>
                              <m:r>
                                <a:rPr lang="he-IL" i="1">
                                  <a:latin typeface="Cambria Math" panose="02040503050406030204" pitchFamily="18" charset="0"/>
                                </a:rPr>
                                <m:t>𝐴</m:t>
                              </m:r>
                            </m:sub>
                          </m:sSub>
                          <m:r>
                            <a:rPr lang="he-IL">
                              <a:latin typeface="Cambria Math" panose="02040503050406030204" pitchFamily="18" charset="0"/>
                            </a:rPr>
                            <m:t>−</m:t>
                          </m:r>
                          <m:sSub>
                            <m:sSubPr>
                              <m:ctrlPr>
                                <a:rPr lang="he-IL" i="1">
                                  <a:latin typeface="Cambria Math" panose="02040503050406030204" pitchFamily="18" charset="0"/>
                                </a:rPr>
                              </m:ctrlPr>
                            </m:sSubPr>
                            <m:e>
                              <m:acc>
                                <m:accPr>
                                  <m:chr m:val="̂"/>
                                  <m:ctrlPr>
                                    <a:rPr lang="he-IL" i="1">
                                      <a:latin typeface="Cambria Math" panose="02040503050406030204" pitchFamily="18" charset="0"/>
                                    </a:rPr>
                                  </m:ctrlPr>
                                </m:accPr>
                                <m:e>
                                  <m:r>
                                    <a:rPr lang="he-IL" i="1">
                                      <a:latin typeface="Cambria Math" panose="02040503050406030204" pitchFamily="18" charset="0"/>
                                    </a:rPr>
                                    <m:t>𝜃</m:t>
                                  </m:r>
                                </m:e>
                              </m:acc>
                            </m:e>
                            <m:sub>
                              <m:r>
                                <a:rPr lang="he-IL" i="1">
                                  <a:latin typeface="Cambria Math" panose="02040503050406030204" pitchFamily="18" charset="0"/>
                                </a:rPr>
                                <m:t>𝐵</m:t>
                              </m:r>
                            </m:sub>
                          </m:sSub>
                        </m:num>
                        <m:den>
                          <m:rad>
                            <m:radPr>
                              <m:degHide m:val="on"/>
                              <m:ctrlPr>
                                <a:rPr lang="he-IL" i="1">
                                  <a:latin typeface="Cambria Math" panose="02040503050406030204" pitchFamily="18" charset="0"/>
                                </a:rPr>
                              </m:ctrlPr>
                            </m:radPr>
                            <m:deg/>
                            <m:e>
                              <m:sSub>
                                <m:sSubPr>
                                  <m:ctrlPr>
                                    <a:rPr lang="he-IL" i="1">
                                      <a:latin typeface="Cambria Math" panose="02040503050406030204" pitchFamily="18" charset="0"/>
                                    </a:rPr>
                                  </m:ctrlPr>
                                </m:sSubPr>
                                <m:e>
                                  <m:acc>
                                    <m:accPr>
                                      <m:chr m:val="̂"/>
                                      <m:ctrlPr>
                                        <a:rPr lang="he-IL" i="1">
                                          <a:latin typeface="Cambria Math" panose="02040503050406030204" pitchFamily="18" charset="0"/>
                                        </a:rPr>
                                      </m:ctrlPr>
                                    </m:accPr>
                                    <m:e>
                                      <m:r>
                                        <a:rPr lang="he-IL" i="1">
                                          <a:latin typeface="Cambria Math" panose="02040503050406030204" pitchFamily="18" charset="0"/>
                                        </a:rPr>
                                        <m:t>𝜃</m:t>
                                      </m:r>
                                    </m:e>
                                  </m:acc>
                                </m:e>
                                <m:sub>
                                  <m:r>
                                    <a:rPr lang="he-IL" i="1">
                                      <a:latin typeface="Cambria Math" panose="02040503050406030204" pitchFamily="18" charset="0"/>
                                    </a:rPr>
                                    <m:t>𝑝𝑜𝑜𝑙𝑒𝑑</m:t>
                                  </m:r>
                                </m:sub>
                              </m:sSub>
                              <m:d>
                                <m:dPr>
                                  <m:ctrlPr>
                                    <a:rPr lang="he-IL" i="1">
                                      <a:latin typeface="Cambria Math" panose="02040503050406030204" pitchFamily="18" charset="0"/>
                                    </a:rPr>
                                  </m:ctrlPr>
                                </m:dPr>
                                <m:e>
                                  <m:r>
                                    <a:rPr lang="he-IL">
                                      <a:latin typeface="Cambria Math" panose="02040503050406030204" pitchFamily="18" charset="0"/>
                                    </a:rPr>
                                    <m:t>1</m:t>
                                  </m:r>
                                  <m:r>
                                    <a:rPr lang="he-IL">
                                      <a:latin typeface="Cambria Math" panose="02040503050406030204" pitchFamily="18" charset="0"/>
                                    </a:rPr>
                                    <m:t>−</m:t>
                                  </m:r>
                                  <m:sSub>
                                    <m:sSubPr>
                                      <m:ctrlPr>
                                        <a:rPr lang="he-IL" i="1">
                                          <a:latin typeface="Cambria Math" panose="02040503050406030204" pitchFamily="18" charset="0"/>
                                        </a:rPr>
                                      </m:ctrlPr>
                                    </m:sSubPr>
                                    <m:e>
                                      <m:acc>
                                        <m:accPr>
                                          <m:chr m:val="̂"/>
                                          <m:ctrlPr>
                                            <a:rPr lang="he-IL" i="1">
                                              <a:latin typeface="Cambria Math" panose="02040503050406030204" pitchFamily="18" charset="0"/>
                                            </a:rPr>
                                          </m:ctrlPr>
                                        </m:accPr>
                                        <m:e>
                                          <m:r>
                                            <a:rPr lang="he-IL" i="1">
                                              <a:latin typeface="Cambria Math" panose="02040503050406030204" pitchFamily="18" charset="0"/>
                                            </a:rPr>
                                            <m:t>𝜃</m:t>
                                          </m:r>
                                        </m:e>
                                      </m:acc>
                                    </m:e>
                                    <m:sub>
                                      <m:r>
                                        <a:rPr lang="he-IL" i="1">
                                          <a:latin typeface="Cambria Math" panose="02040503050406030204" pitchFamily="18" charset="0"/>
                                        </a:rPr>
                                        <m:t>𝑝𝑜𝑜𝑙𝑒𝑑</m:t>
                                      </m:r>
                                    </m:sub>
                                  </m:sSub>
                                </m:e>
                              </m:d>
                              <m:d>
                                <m:dPr>
                                  <m:ctrlPr>
                                    <a:rPr lang="he-IL" i="1">
                                      <a:latin typeface="Cambria Math" panose="02040503050406030204" pitchFamily="18" charset="0"/>
                                    </a:rPr>
                                  </m:ctrlPr>
                                </m:dPr>
                                <m:e>
                                  <m:f>
                                    <m:fPr>
                                      <m:ctrlPr>
                                        <a:rPr lang="he-IL" i="1">
                                          <a:latin typeface="Cambria Math" panose="02040503050406030204" pitchFamily="18" charset="0"/>
                                        </a:rPr>
                                      </m:ctrlPr>
                                    </m:fPr>
                                    <m:num>
                                      <m:r>
                                        <a:rPr lang="he-IL">
                                          <a:latin typeface="Cambria Math" panose="02040503050406030204" pitchFamily="18" charset="0"/>
                                        </a:rPr>
                                        <m:t>1</m:t>
                                      </m:r>
                                    </m:num>
                                    <m:den>
                                      <m:sSub>
                                        <m:sSubPr>
                                          <m:ctrlPr>
                                            <a:rPr lang="he-IL" i="1">
                                              <a:latin typeface="Cambria Math" panose="02040503050406030204" pitchFamily="18" charset="0"/>
                                            </a:rPr>
                                          </m:ctrlPr>
                                        </m:sSubPr>
                                        <m:e>
                                          <m:r>
                                            <a:rPr lang="he-IL" i="1">
                                              <a:latin typeface="Cambria Math" panose="02040503050406030204" pitchFamily="18" charset="0"/>
                                            </a:rPr>
                                            <m:t>𝑛</m:t>
                                          </m:r>
                                        </m:e>
                                        <m:sub>
                                          <m:r>
                                            <a:rPr lang="he-IL" i="1">
                                              <a:latin typeface="Cambria Math" panose="02040503050406030204" pitchFamily="18" charset="0"/>
                                            </a:rPr>
                                            <m:t>𝐴</m:t>
                                          </m:r>
                                        </m:sub>
                                      </m:sSub>
                                    </m:den>
                                  </m:f>
                                  <m:r>
                                    <a:rPr lang="he-IL">
                                      <a:latin typeface="Cambria Math" panose="02040503050406030204" pitchFamily="18" charset="0"/>
                                    </a:rPr>
                                    <m:t>+</m:t>
                                  </m:r>
                                  <m:f>
                                    <m:fPr>
                                      <m:ctrlPr>
                                        <a:rPr lang="he-IL" i="1">
                                          <a:latin typeface="Cambria Math" panose="02040503050406030204" pitchFamily="18" charset="0"/>
                                        </a:rPr>
                                      </m:ctrlPr>
                                    </m:fPr>
                                    <m:num>
                                      <m:r>
                                        <a:rPr lang="he-IL">
                                          <a:latin typeface="Cambria Math" panose="02040503050406030204" pitchFamily="18" charset="0"/>
                                        </a:rPr>
                                        <m:t>1</m:t>
                                      </m:r>
                                    </m:num>
                                    <m:den>
                                      <m:sSub>
                                        <m:sSubPr>
                                          <m:ctrlPr>
                                            <a:rPr lang="he-IL" i="1">
                                              <a:latin typeface="Cambria Math" panose="02040503050406030204" pitchFamily="18" charset="0"/>
                                            </a:rPr>
                                          </m:ctrlPr>
                                        </m:sSubPr>
                                        <m:e>
                                          <m:r>
                                            <a:rPr lang="he-IL" i="1">
                                              <a:latin typeface="Cambria Math" panose="02040503050406030204" pitchFamily="18" charset="0"/>
                                            </a:rPr>
                                            <m:t>𝑛</m:t>
                                          </m:r>
                                        </m:e>
                                        <m:sub>
                                          <m:r>
                                            <a:rPr lang="he-IL" i="1">
                                              <a:latin typeface="Cambria Math" panose="02040503050406030204" pitchFamily="18" charset="0"/>
                                            </a:rPr>
                                            <m:t>𝐵</m:t>
                                          </m:r>
                                        </m:sub>
                                      </m:sSub>
                                    </m:den>
                                  </m:f>
                                </m:e>
                              </m:d>
                            </m:e>
                          </m:rad>
                        </m:den>
                      </m:f>
                    </m:oMath>
                  </m:oMathPara>
                </a14:m>
                <a:endParaRPr lang="he-IL" sz="2400" dirty="0"/>
              </a:p>
              <a:p>
                <a:pPr marL="0" indent="0">
                  <a:buNone/>
                </a:pPr>
                <a:endParaRPr lang="en-US" sz="2400" dirty="0"/>
              </a:p>
              <a:p>
                <a:pPr marL="0" indent="0">
                  <a:buNone/>
                </a:pPr>
                <a:r>
                  <a:rPr lang="en-US" sz="2400" dirty="0"/>
                  <a:t>W</a:t>
                </a:r>
                <a:r>
                  <a:rPr lang="he-IL" sz="2400" dirty="0" err="1"/>
                  <a:t>here</a:t>
                </a:r>
                <a:r>
                  <a:rPr lang="he-IL" sz="2400" dirty="0"/>
                  <a:t>:</a:t>
                </a:r>
              </a:p>
              <a:p>
                <a:pPr marL="0" indent="0">
                  <a:buNone/>
                </a:pPr>
                <a14:m>
                  <m:oMathPara xmlns:m="http://schemas.openxmlformats.org/officeDocument/2006/math">
                    <m:oMathParaPr>
                      <m:jc m:val="centerGroup"/>
                    </m:oMathParaPr>
                    <m:oMath xmlns:m="http://schemas.openxmlformats.org/officeDocument/2006/math">
                      <m:sSub>
                        <m:sSubPr>
                          <m:ctrlPr>
                            <a:rPr lang="he-IL" i="1">
                              <a:latin typeface="Cambria Math" panose="02040503050406030204" pitchFamily="18" charset="0"/>
                            </a:rPr>
                          </m:ctrlPr>
                        </m:sSubPr>
                        <m:e>
                          <m:acc>
                            <m:accPr>
                              <m:chr m:val="̂"/>
                              <m:ctrlPr>
                                <a:rPr lang="he-IL" i="1">
                                  <a:latin typeface="Cambria Math" panose="02040503050406030204" pitchFamily="18" charset="0"/>
                                </a:rPr>
                              </m:ctrlPr>
                            </m:accPr>
                            <m:e>
                              <m:r>
                                <a:rPr lang="he-IL" i="1">
                                  <a:latin typeface="Cambria Math" panose="02040503050406030204" pitchFamily="18" charset="0"/>
                                </a:rPr>
                                <m:t>𝜃</m:t>
                              </m:r>
                            </m:e>
                          </m:acc>
                        </m:e>
                        <m:sub>
                          <m:r>
                            <a:rPr lang="he-IL" i="1">
                              <a:latin typeface="Cambria Math" panose="02040503050406030204" pitchFamily="18" charset="0"/>
                            </a:rPr>
                            <m:t>𝑝𝑜𝑜𝑙𝑒𝑑</m:t>
                          </m:r>
                        </m:sub>
                      </m:sSub>
                      <m:r>
                        <a:rPr lang="he-IL">
                          <a:latin typeface="Cambria Math" panose="02040503050406030204" pitchFamily="18" charset="0"/>
                        </a:rPr>
                        <m:t>=</m:t>
                      </m:r>
                      <m:f>
                        <m:fPr>
                          <m:ctrlPr>
                            <a:rPr lang="he-IL" i="1">
                              <a:latin typeface="Cambria Math" panose="02040503050406030204" pitchFamily="18" charset="0"/>
                            </a:rPr>
                          </m:ctrlPr>
                        </m:fPr>
                        <m:num>
                          <m:sSub>
                            <m:sSubPr>
                              <m:ctrlPr>
                                <a:rPr lang="he-IL" i="1">
                                  <a:latin typeface="Cambria Math" panose="02040503050406030204" pitchFamily="18" charset="0"/>
                                </a:rPr>
                              </m:ctrlPr>
                            </m:sSubPr>
                            <m:e>
                              <m:r>
                                <a:rPr lang="he-IL" i="1">
                                  <a:latin typeface="Cambria Math" panose="02040503050406030204" pitchFamily="18" charset="0"/>
                                </a:rPr>
                                <m:t>𝑧</m:t>
                              </m:r>
                            </m:e>
                            <m:sub>
                              <m:r>
                                <a:rPr lang="he-IL" i="1">
                                  <a:latin typeface="Cambria Math" panose="02040503050406030204" pitchFamily="18" charset="0"/>
                                </a:rPr>
                                <m:t>𝐴</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𝑧</m:t>
                              </m:r>
                            </m:e>
                            <m:sub>
                              <m:r>
                                <a:rPr lang="he-IL" i="1">
                                  <a:latin typeface="Cambria Math" panose="02040503050406030204" pitchFamily="18" charset="0"/>
                                </a:rPr>
                                <m:t>𝐵</m:t>
                              </m:r>
                            </m:sub>
                          </m:sSub>
                        </m:num>
                        <m:den>
                          <m:sSub>
                            <m:sSubPr>
                              <m:ctrlPr>
                                <a:rPr lang="he-IL" i="1">
                                  <a:latin typeface="Cambria Math" panose="02040503050406030204" pitchFamily="18" charset="0"/>
                                </a:rPr>
                              </m:ctrlPr>
                            </m:sSubPr>
                            <m:e>
                              <m:r>
                                <a:rPr lang="he-IL" i="1">
                                  <a:latin typeface="Cambria Math" panose="02040503050406030204" pitchFamily="18" charset="0"/>
                                </a:rPr>
                                <m:t>𝑛</m:t>
                              </m:r>
                            </m:e>
                            <m:sub>
                              <m:r>
                                <a:rPr lang="he-IL" i="1">
                                  <a:latin typeface="Cambria Math" panose="02040503050406030204" pitchFamily="18" charset="0"/>
                                </a:rPr>
                                <m:t>𝐴</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𝑛</m:t>
                              </m:r>
                            </m:e>
                            <m:sub>
                              <m:r>
                                <a:rPr lang="he-IL" i="1">
                                  <a:latin typeface="Cambria Math" panose="02040503050406030204" pitchFamily="18" charset="0"/>
                                </a:rPr>
                                <m:t>𝐵</m:t>
                              </m:r>
                            </m:sub>
                          </m:sSub>
                        </m:den>
                      </m:f>
                    </m:oMath>
                  </m:oMathPara>
                </a14:m>
                <a:endParaRPr lang="en-US" sz="2400" dirty="0"/>
              </a:p>
            </p:txBody>
          </p:sp>
        </mc:Choice>
        <mc:Fallback xmlns="">
          <p:sp>
            <p:nvSpPr>
              <p:cNvPr id="3" name="Content Placeholder 2">
                <a:extLst>
                  <a:ext uri="{FF2B5EF4-FFF2-40B4-BE49-F238E27FC236}">
                    <a16:creationId xmlns:a16="http://schemas.microsoft.com/office/drawing/2014/main" id="{E33B9F28-1DCF-423A-16BE-850D69D883EB}"/>
                  </a:ext>
                </a:extLst>
              </p:cNvPr>
              <p:cNvSpPr>
                <a:spLocks noGrp="1" noRot="1" noChangeAspect="1" noMove="1" noResize="1" noEditPoints="1" noAdjustHandles="1" noChangeArrowheads="1" noChangeShapeType="1" noTextEdit="1"/>
              </p:cNvSpPr>
              <p:nvPr>
                <p:ph idx="1"/>
              </p:nvPr>
            </p:nvSpPr>
            <p:spPr>
              <a:xfrm>
                <a:off x="873252" y="1346560"/>
                <a:ext cx="10445496" cy="4801998"/>
              </a:xfrm>
              <a:blipFill>
                <a:blip r:embed="rId3"/>
                <a:stretch>
                  <a:fillRect l="-875"/>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2C146D71-9A3C-1245-426B-9A039EC53225}"/>
              </a:ext>
            </a:extLst>
          </p:cNvPr>
          <p:cNvSpPr>
            <a:spLocks noGrp="1"/>
          </p:cNvSpPr>
          <p:nvPr>
            <p:ph type="sldNum" sz="quarter" idx="12"/>
          </p:nvPr>
        </p:nvSpPr>
        <p:spPr/>
        <p:txBody>
          <a:bodyPr/>
          <a:lstStyle/>
          <a:p>
            <a:fld id="{B6796F57-8306-40D4-9229-37A3D19F0B5F}" type="slidenum">
              <a:rPr lang="LID4096" smtClean="0"/>
              <a:t>13</a:t>
            </a:fld>
            <a:endParaRPr lang="LID4096"/>
          </a:p>
        </p:txBody>
      </p:sp>
    </p:spTree>
    <p:extLst>
      <p:ext uri="{BB962C8B-B14F-4D97-AF65-F5344CB8AC3E}">
        <p14:creationId xmlns:p14="http://schemas.microsoft.com/office/powerpoint/2010/main" val="2587155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9A30-C63D-4F96-2C83-F5AF61D672DE}"/>
              </a:ext>
            </a:extLst>
          </p:cNvPr>
          <p:cNvSpPr>
            <a:spLocks noGrp="1"/>
          </p:cNvSpPr>
          <p:nvPr>
            <p:ph type="title"/>
          </p:nvPr>
        </p:nvSpPr>
        <p:spPr/>
        <p:txBody>
          <a:bodyPr/>
          <a:lstStyle/>
          <a:p>
            <a:r>
              <a:rPr lang="en-US" dirty="0"/>
              <a:t>Z Statistic - Interpretation</a:t>
            </a:r>
            <a:endParaRPr lang="he-IL" dirty="0"/>
          </a:p>
        </p:txBody>
      </p:sp>
      <p:sp>
        <p:nvSpPr>
          <p:cNvPr id="3" name="Content Placeholder 2">
            <a:extLst>
              <a:ext uri="{FF2B5EF4-FFF2-40B4-BE49-F238E27FC236}">
                <a16:creationId xmlns:a16="http://schemas.microsoft.com/office/drawing/2014/main" id="{F13CD5E3-E8DF-BA9E-605B-273503185643}"/>
              </a:ext>
            </a:extLst>
          </p:cNvPr>
          <p:cNvSpPr>
            <a:spLocks noGrp="1"/>
          </p:cNvSpPr>
          <p:nvPr>
            <p:ph idx="1"/>
          </p:nvPr>
        </p:nvSpPr>
        <p:spPr/>
        <p:txBody>
          <a:bodyPr/>
          <a:lstStyle/>
          <a:p>
            <a:r>
              <a:rPr lang="en-US" b="1" dirty="0"/>
              <a:t>A z value tells us how many standard errors the observed estimate is away from the null value.</a:t>
            </a:r>
          </a:p>
          <a:p>
            <a:r>
              <a:rPr lang="en-US" dirty="0"/>
              <a:t>For example:</a:t>
            </a:r>
          </a:p>
          <a:p>
            <a:pPr marL="0" indent="0" algn="ctr">
              <a:buNone/>
            </a:pPr>
            <a:r>
              <a:rPr lang="en-US" dirty="0"/>
              <a:t>𝑧=2</a:t>
            </a:r>
          </a:p>
          <a:p>
            <a:r>
              <a:rPr lang="en-US" dirty="0"/>
              <a:t>Means that the observed estimate is two standard errors above what we would expect under the null model.</a:t>
            </a:r>
          </a:p>
          <a:p>
            <a:pPr marL="0" indent="0" algn="ctr">
              <a:buNone/>
            </a:pPr>
            <a:r>
              <a:rPr lang="en-US" dirty="0"/>
              <a:t>𝑧=−2</a:t>
            </a:r>
          </a:p>
          <a:p>
            <a:r>
              <a:rPr lang="en-US" dirty="0"/>
              <a:t>Means that the observed estimate is two standard errors below the null value.</a:t>
            </a:r>
          </a:p>
          <a:p>
            <a:endParaRPr lang="en-US" dirty="0"/>
          </a:p>
        </p:txBody>
      </p:sp>
    </p:spTree>
    <p:extLst>
      <p:ext uri="{BB962C8B-B14F-4D97-AF65-F5344CB8AC3E}">
        <p14:creationId xmlns:p14="http://schemas.microsoft.com/office/powerpoint/2010/main" val="2547232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2EB31-502D-20B6-8F4E-A04EFB8E2635}"/>
              </a:ext>
            </a:extLst>
          </p:cNvPr>
          <p:cNvSpPr>
            <a:spLocks noGrp="1"/>
          </p:cNvSpPr>
          <p:nvPr>
            <p:ph type="title"/>
          </p:nvPr>
        </p:nvSpPr>
        <p:spPr/>
        <p:txBody>
          <a:bodyPr/>
          <a:lstStyle/>
          <a:p>
            <a:r>
              <a:rPr lang="he-IL" dirty="0"/>
              <a:t>Two-tailed z-</a:t>
            </a:r>
            <a:r>
              <a:rPr lang="he-IL" dirty="0" err="1"/>
              <a:t>test</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0DEFB7-4B81-B4DF-8D64-8787681753C0}"/>
                  </a:ext>
                </a:extLst>
              </p:cNvPr>
              <p:cNvSpPr>
                <a:spLocks noGrp="1"/>
              </p:cNvSpPr>
              <p:nvPr>
                <p:ph idx="1"/>
              </p:nvPr>
            </p:nvSpPr>
            <p:spPr>
              <a:xfrm>
                <a:off x="838200" y="1690688"/>
                <a:ext cx="10912522" cy="4629901"/>
              </a:xfrm>
            </p:spPr>
            <p:txBody>
              <a:bodyPr>
                <a:normAutofit/>
              </a:bodyPr>
              <a:lstStyle/>
              <a:p>
                <a:r>
                  <a:rPr lang="en-US" sz="2400" dirty="0"/>
                  <a:t>We ask whether the effect is different from zero in either direction.</a:t>
                </a:r>
              </a:p>
              <a:p>
                <a:r>
                  <a:rPr lang="en-US" sz="2400" dirty="0"/>
                  <a:t>If the significance level is:</a:t>
                </a:r>
              </a:p>
              <a:p>
                <a:pPr marL="0" indent="0" algn="ctr">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𝛼</m:t>
                      </m:r>
                      <m:r>
                        <a:rPr lang="en-US" sz="2400" i="1" dirty="0" smtClean="0">
                          <a:latin typeface="Cambria Math" panose="02040503050406030204" pitchFamily="18" charset="0"/>
                        </a:rPr>
                        <m:t>=</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smtClean="0">
                          <a:latin typeface="Cambria Math" panose="02040503050406030204" pitchFamily="18" charset="0"/>
                        </a:rPr>
                        <m:t>05</m:t>
                      </m:r>
                    </m:oMath>
                  </m:oMathPara>
                </a14:m>
                <a:endParaRPr lang="en-US" sz="2400" dirty="0"/>
              </a:p>
              <a:p>
                <a:r>
                  <a:rPr lang="en-US" sz="2400" dirty="0"/>
                  <a:t>And we split it between the two tails:</a:t>
                </a:r>
              </a:p>
              <a:p>
                <a:pPr marL="0" indent="0" algn="ctr">
                  <a:buNone/>
                </a:pPr>
                <a14:m>
                  <m:oMathPara xmlns:m="http://schemas.openxmlformats.org/officeDocument/2006/math">
                    <m:oMathParaPr>
                      <m:jc m:val="centerGroup"/>
                    </m:oMathParaPr>
                    <m:oMath xmlns:m="http://schemas.openxmlformats.org/officeDocument/2006/math">
                      <m:f>
                        <m:fPr>
                          <m:ctrlPr>
                            <a:rPr lang="en-US" sz="2400" i="1" dirty="0" smtClean="0">
                              <a:latin typeface="Cambria Math" panose="02040503050406030204" pitchFamily="18" charset="0"/>
                            </a:rPr>
                          </m:ctrlPr>
                        </m:fPr>
                        <m:num>
                          <m:r>
                            <a:rPr lang="en-US" sz="2400" i="1" dirty="0" smtClean="0">
                              <a:latin typeface="Cambria Math" panose="02040503050406030204" pitchFamily="18" charset="0"/>
                            </a:rPr>
                            <m:t>𝛼</m:t>
                          </m:r>
                        </m:num>
                        <m:den>
                          <m:r>
                            <a:rPr lang="en-US" sz="2400" i="1" dirty="0" smtClean="0">
                              <a:latin typeface="Cambria Math" panose="02040503050406030204" pitchFamily="18" charset="0"/>
                            </a:rPr>
                            <m:t>2</m:t>
                          </m:r>
                        </m:den>
                      </m:f>
                      <m:r>
                        <a:rPr lang="en-US" sz="2400" i="1" dirty="0" smtClean="0">
                          <a:latin typeface="Cambria Math" panose="02040503050406030204" pitchFamily="18" charset="0"/>
                        </a:rPr>
                        <m:t>=</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smtClean="0">
                          <a:latin typeface="Cambria Math" panose="02040503050406030204" pitchFamily="18" charset="0"/>
                        </a:rPr>
                        <m:t>025</m:t>
                      </m:r>
                    </m:oMath>
                  </m:oMathPara>
                </a14:m>
                <a:endParaRPr lang="en-US" sz="2400" dirty="0"/>
              </a:p>
              <a:p>
                <a:r>
                  <a:rPr lang="en-US" sz="2400" dirty="0"/>
                  <a:t>The critical values are approximately:</a:t>
                </a:r>
              </a:p>
              <a:p>
                <a:pPr marL="0" indent="0" algn="ctr">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1</m:t>
                      </m:r>
                      <m:r>
                        <a:rPr lang="en-US" sz="2400" i="1" dirty="0" smtClean="0">
                          <a:latin typeface="Cambria Math" panose="02040503050406030204" pitchFamily="18" charset="0"/>
                        </a:rPr>
                        <m:t>.</m:t>
                      </m:r>
                      <m:r>
                        <a:rPr lang="en-US" sz="2400" i="1" dirty="0" smtClean="0">
                          <a:latin typeface="Cambria Math" panose="02040503050406030204" pitchFamily="18" charset="0"/>
                        </a:rPr>
                        <m:t>96</m:t>
                      </m:r>
                      <m:r>
                        <a:rPr lang="en-US" sz="2400" i="1" dirty="0" smtClean="0">
                          <a:latin typeface="Cambria Math" panose="02040503050406030204" pitchFamily="18" charset="0"/>
                        </a:rPr>
                        <m:t>, </m:t>
                      </m:r>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1</m:t>
                      </m:r>
                      <m:r>
                        <a:rPr lang="en-US" sz="2400" i="1" dirty="0" smtClean="0">
                          <a:latin typeface="Cambria Math" panose="02040503050406030204" pitchFamily="18" charset="0"/>
                        </a:rPr>
                        <m:t>.</m:t>
                      </m:r>
                      <m:r>
                        <a:rPr lang="en-US" sz="2400" i="1" dirty="0" smtClean="0">
                          <a:latin typeface="Cambria Math" panose="02040503050406030204" pitchFamily="18" charset="0"/>
                        </a:rPr>
                        <m:t>96</m:t>
                      </m:r>
                    </m:oMath>
                  </m:oMathPara>
                </a14:m>
                <a:endParaRPr lang="he-IL" sz="2400" i="1" dirty="0">
                  <a:latin typeface="Cambria Math" panose="02040503050406030204" pitchFamily="18" charset="0"/>
                </a:endParaRPr>
              </a:p>
              <a:p>
                <a14:m>
                  <m:oMath xmlns:m="http://schemas.openxmlformats.org/officeDocument/2006/math">
                    <m:r>
                      <m:rPr>
                        <m:sty m:val="p"/>
                      </m:rPr>
                      <a:rPr lang="en-US" sz="2400" b="0" i="0" dirty="0" smtClean="0">
                        <a:latin typeface="Cambria Math" panose="02040503050406030204" pitchFamily="18" charset="0"/>
                      </a:rPr>
                      <m:t>If</m:t>
                    </m:r>
                  </m:oMath>
                </a14:m>
                <a:r>
                  <a:rPr lang="en-US" sz="2400" b="0" i="0" dirty="0">
                    <a:latin typeface="Cambria Math" panose="02040503050406030204" pitchFamily="18" charset="0"/>
                  </a:rPr>
                  <a:t> the z statistic we calculated using our data is:</a:t>
                </a:r>
              </a:p>
              <a:p>
                <a:pPr marL="0" indent="0">
                  <a:buNone/>
                </a:pPr>
                <a14:m>
                  <m:oMathPara xmlns:m="http://schemas.openxmlformats.org/officeDocument/2006/math">
                    <m:oMathParaPr>
                      <m:jc m:val="centerGroup"/>
                    </m:oMathParaPr>
                    <m:oMath xmlns:m="http://schemas.openxmlformats.org/officeDocument/2006/math">
                      <m:r>
                        <a:rPr lang="en-US" sz="2400" dirty="0">
                          <a:latin typeface="Cambria Math" panose="02040503050406030204" pitchFamily="18" charset="0"/>
                        </a:rPr>
                        <m:t>∣</m:t>
                      </m:r>
                      <m:sSub>
                        <m:sSubPr>
                          <m:ctrlPr>
                            <a:rPr lang="en-US" sz="2400" i="1" dirty="0">
                              <a:latin typeface="Cambria Math" panose="02040503050406030204" pitchFamily="18" charset="0"/>
                            </a:rPr>
                          </m:ctrlPr>
                        </m:sSubPr>
                        <m:e>
                          <m:r>
                            <a:rPr lang="en-US" sz="2400" dirty="0">
                              <a:latin typeface="Cambria Math" panose="02040503050406030204" pitchFamily="18" charset="0"/>
                            </a:rPr>
                            <m:t>𝑧</m:t>
                          </m:r>
                        </m:e>
                        <m:sub>
                          <m:r>
                            <m:rPr>
                              <m:nor/>
                            </m:rPr>
                            <a:rPr lang="en-US" sz="2400" dirty="0">
                              <a:latin typeface="Cambria Math" panose="02040503050406030204" pitchFamily="18" charset="0"/>
                            </a:rPr>
                            <m:t>observed</m:t>
                          </m:r>
                        </m:sub>
                      </m:sSub>
                      <m:r>
                        <a:rPr lang="en-US" sz="2400" dirty="0">
                          <a:latin typeface="Cambria Math" panose="02040503050406030204" pitchFamily="18" charset="0"/>
                        </a:rPr>
                        <m:t> ∣&gt;</m:t>
                      </m:r>
                      <m:r>
                        <a:rPr lang="en-US" sz="2400" dirty="0">
                          <a:latin typeface="Cambria Math" panose="02040503050406030204" pitchFamily="18" charset="0"/>
                        </a:rPr>
                        <m:t>1</m:t>
                      </m:r>
                      <m:r>
                        <a:rPr lang="en-US" sz="2400" dirty="0">
                          <a:latin typeface="Cambria Math" panose="02040503050406030204" pitchFamily="18" charset="0"/>
                        </a:rPr>
                        <m:t>.</m:t>
                      </m:r>
                      <m:r>
                        <a:rPr lang="en-US" sz="2400" dirty="0">
                          <a:latin typeface="Cambria Math" panose="02040503050406030204" pitchFamily="18" charset="0"/>
                        </a:rPr>
                        <m:t>96</m:t>
                      </m:r>
                    </m:oMath>
                  </m:oMathPara>
                </a14:m>
                <a:endParaRPr lang="en-US" sz="2400" b="0" i="0" dirty="0">
                  <a:latin typeface="Cambria Math" panose="02040503050406030204" pitchFamily="18" charset="0"/>
                </a:endParaRPr>
              </a:p>
              <a:p>
                <a:r>
                  <a:rPr lang="en-US" sz="2400" dirty="0"/>
                  <a:t>The observed data is considered extreme under the null model.  </a:t>
                </a:r>
              </a:p>
            </p:txBody>
          </p:sp>
        </mc:Choice>
        <mc:Fallback xmlns="">
          <p:sp>
            <p:nvSpPr>
              <p:cNvPr id="3" name="Content Placeholder 2">
                <a:extLst>
                  <a:ext uri="{FF2B5EF4-FFF2-40B4-BE49-F238E27FC236}">
                    <a16:creationId xmlns:a16="http://schemas.microsoft.com/office/drawing/2014/main" id="{930DEFB7-4B81-B4DF-8D64-8787681753C0}"/>
                  </a:ext>
                </a:extLst>
              </p:cNvPr>
              <p:cNvSpPr>
                <a:spLocks noGrp="1" noRot="1" noChangeAspect="1" noMove="1" noResize="1" noEditPoints="1" noAdjustHandles="1" noChangeArrowheads="1" noChangeShapeType="1" noTextEdit="1"/>
              </p:cNvSpPr>
              <p:nvPr>
                <p:ph idx="1"/>
              </p:nvPr>
            </p:nvSpPr>
            <p:spPr>
              <a:xfrm>
                <a:off x="838200" y="1690688"/>
                <a:ext cx="10912522" cy="4629901"/>
              </a:xfrm>
              <a:blipFill>
                <a:blip r:embed="rId3"/>
                <a:stretch>
                  <a:fillRect l="-782" t="-1711"/>
                </a:stretch>
              </a:blipFill>
            </p:spPr>
            <p:txBody>
              <a:bodyPr/>
              <a:lstStyle/>
              <a:p>
                <a:r>
                  <a:rPr lang="he-IL">
                    <a:noFill/>
                  </a:rPr>
                  <a:t> </a:t>
                </a:r>
              </a:p>
            </p:txBody>
          </p:sp>
        </mc:Fallback>
      </mc:AlternateContent>
    </p:spTree>
    <p:extLst>
      <p:ext uri="{BB962C8B-B14F-4D97-AF65-F5344CB8AC3E}">
        <p14:creationId xmlns:p14="http://schemas.microsoft.com/office/powerpoint/2010/main" val="3959640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429A7-A455-08EF-1657-DD04579E8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628E7-1424-6247-5034-924998076A2D}"/>
              </a:ext>
            </a:extLst>
          </p:cNvPr>
          <p:cNvSpPr>
            <a:spLocks noGrp="1"/>
          </p:cNvSpPr>
          <p:nvPr>
            <p:ph type="title"/>
          </p:nvPr>
        </p:nvSpPr>
        <p:spPr>
          <a:xfrm>
            <a:off x="838200" y="20997"/>
            <a:ext cx="10515600" cy="1325563"/>
          </a:xfrm>
        </p:spPr>
        <p:txBody>
          <a:bodyPr/>
          <a:lstStyle/>
          <a:p>
            <a:r>
              <a:rPr lang="en-US" dirty="0"/>
              <a:t>Two-sided p-Value</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2164C9-5F49-EC46-4FDE-035EA11E9FBC}"/>
                  </a:ext>
                </a:extLst>
              </p:cNvPr>
              <p:cNvSpPr>
                <a:spLocks noGrp="1"/>
              </p:cNvSpPr>
              <p:nvPr>
                <p:ph idx="1"/>
              </p:nvPr>
            </p:nvSpPr>
            <p:spPr>
              <a:xfrm>
                <a:off x="838200" y="1436302"/>
                <a:ext cx="10445496" cy="4801998"/>
              </a:xfrm>
            </p:spPr>
            <p:txBody>
              <a:bodyPr>
                <a:normAutofit/>
              </a:bodyPr>
              <a:lstStyle/>
              <a:p>
                <a:r>
                  <a:rPr lang="en-US" b="1" dirty="0"/>
                  <a:t>p-Value</a:t>
                </a:r>
                <a:r>
                  <a:rPr lang="en-US" dirty="0"/>
                  <a:t> </a:t>
                </a:r>
              </a:p>
              <a:p>
                <a:pPr lvl="1"/>
                <a:r>
                  <a:rPr lang="en-US" dirty="0"/>
                  <a:t>The probability of obtaining a test statistic at least as extreme as the one we observed, assuming that the null hypothesis is true.</a:t>
                </a:r>
              </a:p>
              <a:p>
                <a:pPr marL="457200" lvl="1" indent="0">
                  <a:buNone/>
                </a:pPr>
                <a:endParaRPr lang="en-US" dirty="0"/>
              </a:p>
              <a:p>
                <a:r>
                  <a:rPr lang="he-IL" dirty="0"/>
                  <a:t>A </a:t>
                </a:r>
                <a:r>
                  <a:rPr lang="he-IL" dirty="0" err="1"/>
                  <a:t>two-sided</a:t>
                </a:r>
                <a:r>
                  <a:rPr lang="he-IL" dirty="0"/>
                  <a:t> </a:t>
                </a:r>
                <a:r>
                  <a:rPr lang="he-IL" dirty="0" err="1"/>
                  <a:t>test</a:t>
                </a:r>
                <a:r>
                  <a:rPr lang="he-IL" dirty="0"/>
                  <a:t> </a:t>
                </a:r>
                <a:r>
                  <a:rPr lang="en-US" dirty="0"/>
                  <a:t>–</a:t>
                </a:r>
              </a:p>
              <a:p>
                <a:pPr marL="0" indent="0">
                  <a:buNone/>
                </a:pPr>
                <a14:m>
                  <m:oMathPara xmlns:m="http://schemas.openxmlformats.org/officeDocument/2006/math">
                    <m:oMathParaPr>
                      <m:jc m:val="centerGroup"/>
                    </m:oMathParaPr>
                    <m:oMath xmlns:m="http://schemas.openxmlformats.org/officeDocument/2006/math">
                      <m:r>
                        <a:rPr lang="he-IL" i="1">
                          <a:latin typeface="Cambria Math" panose="02040503050406030204" pitchFamily="18" charset="0"/>
                        </a:rPr>
                        <m:t>𝑝</m:t>
                      </m:r>
                      <m:r>
                        <a:rPr lang="he-IL">
                          <a:latin typeface="Cambria Math" panose="02040503050406030204" pitchFamily="18" charset="0"/>
                        </a:rPr>
                        <m:t>=</m:t>
                      </m:r>
                      <m:r>
                        <a:rPr lang="he-IL">
                          <a:latin typeface="Cambria Math" panose="02040503050406030204" pitchFamily="18" charset="0"/>
                        </a:rPr>
                        <m:t>2</m:t>
                      </m:r>
                      <m:r>
                        <a:rPr lang="he-IL" i="1">
                          <a:latin typeface="Cambria Math" panose="02040503050406030204" pitchFamily="18" charset="0"/>
                        </a:rPr>
                        <m:t>𝑃</m:t>
                      </m:r>
                      <m:d>
                        <m:dPr>
                          <m:ctrlPr>
                            <a:rPr lang="he-IL" i="1">
                              <a:latin typeface="Cambria Math" panose="02040503050406030204" pitchFamily="18" charset="0"/>
                            </a:rPr>
                          </m:ctrlPr>
                        </m:dPr>
                        <m:e>
                          <m:r>
                            <a:rPr lang="he-IL" i="1">
                              <a:latin typeface="Cambria Math" panose="02040503050406030204" pitchFamily="18" charset="0"/>
                            </a:rPr>
                            <m:t>𝑍</m:t>
                          </m:r>
                          <m:r>
                            <a:rPr lang="he-IL">
                              <a:latin typeface="Cambria Math" panose="02040503050406030204" pitchFamily="18" charset="0"/>
                            </a:rPr>
                            <m:t>≥</m:t>
                          </m:r>
                          <m:r>
                            <a:rPr lang="en-US">
                              <a:latin typeface="Cambria Math" panose="02040503050406030204" pitchFamily="18" charset="0"/>
                            </a:rPr>
                            <m:t> </m:t>
                          </m:r>
                          <m:r>
                            <a:rPr lang="he-IL">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a:latin typeface="Cambria Math" panose="02040503050406030204" pitchFamily="18" charset="0"/>
                                </a:rPr>
                                <m:t>z</m:t>
                              </m:r>
                            </m:e>
                            <m:sub>
                              <m:r>
                                <m:rPr>
                                  <m:sty m:val="p"/>
                                </m:rPr>
                                <a:rPr lang="en-US" b="0" i="0" smtClean="0">
                                  <a:latin typeface="Cambria Math" panose="02040503050406030204" pitchFamily="18" charset="0"/>
                                </a:rPr>
                                <m:t>observed</m:t>
                              </m:r>
                            </m:sub>
                          </m:sSub>
                          <m:r>
                            <a:rPr lang="he-IL">
                              <a:latin typeface="Cambria Math" panose="02040503050406030204" pitchFamily="18" charset="0"/>
                            </a:rPr>
                            <m:t>∣</m:t>
                          </m:r>
                        </m:e>
                      </m:d>
                    </m:oMath>
                  </m:oMathPara>
                </a14:m>
                <a:endParaRPr lang="he-IL" sz="2400" dirty="0"/>
              </a:p>
              <a:p>
                <a:r>
                  <a:rPr lang="en-US" dirty="0"/>
                  <a:t>If </a:t>
                </a:r>
              </a:p>
              <a:p>
                <a:pPr marL="0" indent="0">
                  <a:buNone/>
                </a:pPr>
                <a14:m>
                  <m:oMathPara xmlns:m="http://schemas.openxmlformats.org/officeDocument/2006/math">
                    <m:oMathParaPr>
                      <m:jc m:val="centerGroup"/>
                    </m:oMathParaPr>
                    <m:oMath xmlns:m="http://schemas.openxmlformats.org/officeDocument/2006/math">
                      <m:r>
                        <a:rPr lang="he-IL" i="1">
                          <a:latin typeface="Cambria Math" panose="02040503050406030204" pitchFamily="18" charset="0"/>
                        </a:rPr>
                        <m:t>𝑝</m:t>
                      </m:r>
                      <m:r>
                        <a:rPr lang="en-US" b="0" i="1" smtClean="0">
                          <a:latin typeface="Cambria Math" panose="02040503050406030204" pitchFamily="18" charset="0"/>
                        </a:rPr>
                        <m:t>&lt; </m:t>
                      </m:r>
                      <m:r>
                        <a:rPr lang="en-US" b="0" i="1" smtClean="0">
                          <a:latin typeface="Cambria Math" panose="02040503050406030204" pitchFamily="18" charset="0"/>
                          <a:ea typeface="Cambria Math" panose="02040503050406030204" pitchFamily="18" charset="0"/>
                        </a:rPr>
                        <m:t>𝛼</m:t>
                      </m:r>
                    </m:oMath>
                  </m:oMathPara>
                </a14:m>
                <a:endParaRPr lang="en-US" dirty="0"/>
              </a:p>
              <a:p>
                <a:r>
                  <a:rPr lang="he-IL" dirty="0"/>
                  <a:t>we </a:t>
                </a:r>
                <a:r>
                  <a:rPr lang="he-IL" dirty="0" err="1"/>
                  <a:t>reject</a:t>
                </a:r>
                <a:r>
                  <a:rPr lang="he-IL" dirty="0"/>
                  <a:t> the </a:t>
                </a:r>
                <a:r>
                  <a:rPr lang="he-IL" dirty="0" err="1"/>
                  <a:t>null</a:t>
                </a:r>
                <a:r>
                  <a:rPr lang="he-IL" dirty="0"/>
                  <a:t> hypothesis.</a:t>
                </a:r>
              </a:p>
              <a:p>
                <a:pPr marL="0" indent="0">
                  <a:buNone/>
                </a:pPr>
                <a:endParaRPr lang="en-US" dirty="0"/>
              </a:p>
              <a:p>
                <a:endParaRPr lang="en-US" sz="2400" dirty="0"/>
              </a:p>
            </p:txBody>
          </p:sp>
        </mc:Choice>
        <mc:Fallback xmlns="">
          <p:sp>
            <p:nvSpPr>
              <p:cNvPr id="3" name="Content Placeholder 2">
                <a:extLst>
                  <a:ext uri="{FF2B5EF4-FFF2-40B4-BE49-F238E27FC236}">
                    <a16:creationId xmlns:a16="http://schemas.microsoft.com/office/drawing/2014/main" id="{062164C9-5F49-EC46-4FDE-035EA11E9FBC}"/>
                  </a:ext>
                </a:extLst>
              </p:cNvPr>
              <p:cNvSpPr>
                <a:spLocks noGrp="1" noRot="1" noChangeAspect="1" noMove="1" noResize="1" noEditPoints="1" noAdjustHandles="1" noChangeArrowheads="1" noChangeShapeType="1" noTextEdit="1"/>
              </p:cNvSpPr>
              <p:nvPr>
                <p:ph idx="1"/>
              </p:nvPr>
            </p:nvSpPr>
            <p:spPr>
              <a:xfrm>
                <a:off x="838200" y="1436302"/>
                <a:ext cx="10445496" cy="4801998"/>
              </a:xfrm>
              <a:blipFill>
                <a:blip r:embed="rId3"/>
                <a:stretch>
                  <a:fillRect l="-1051" t="-2160"/>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B94AAB84-F8A8-C30B-2BA4-6AC98E9ED0C8}"/>
              </a:ext>
            </a:extLst>
          </p:cNvPr>
          <p:cNvSpPr>
            <a:spLocks noGrp="1"/>
          </p:cNvSpPr>
          <p:nvPr>
            <p:ph type="sldNum" sz="quarter" idx="12"/>
          </p:nvPr>
        </p:nvSpPr>
        <p:spPr/>
        <p:txBody>
          <a:bodyPr/>
          <a:lstStyle/>
          <a:p>
            <a:fld id="{B6796F57-8306-40D4-9229-37A3D19F0B5F}" type="slidenum">
              <a:rPr lang="LID4096" smtClean="0"/>
              <a:t>16</a:t>
            </a:fld>
            <a:endParaRPr lang="LID4096"/>
          </a:p>
        </p:txBody>
      </p:sp>
    </p:spTree>
    <p:extLst>
      <p:ext uri="{BB962C8B-B14F-4D97-AF65-F5344CB8AC3E}">
        <p14:creationId xmlns:p14="http://schemas.microsoft.com/office/powerpoint/2010/main" val="2081476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48353-9A25-4DD1-009B-7A7AFB452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286A4-7672-E445-26E9-BF4B2A1BD04C}"/>
              </a:ext>
            </a:extLst>
          </p:cNvPr>
          <p:cNvSpPr>
            <a:spLocks noGrp="1"/>
          </p:cNvSpPr>
          <p:nvPr>
            <p:ph type="title"/>
          </p:nvPr>
        </p:nvSpPr>
        <p:spPr/>
        <p:txBody>
          <a:bodyPr/>
          <a:lstStyle/>
          <a:p>
            <a:r>
              <a:rPr lang="he-IL" dirty="0"/>
              <a:t>z-</a:t>
            </a:r>
            <a:r>
              <a:rPr lang="en-US" dirty="0"/>
              <a:t>T</a:t>
            </a:r>
            <a:r>
              <a:rPr lang="he-IL" dirty="0" err="1"/>
              <a:t>est</a:t>
            </a:r>
            <a:endParaRPr lang="he-IL" dirty="0"/>
          </a:p>
        </p:txBody>
      </p:sp>
      <p:pic>
        <p:nvPicPr>
          <p:cNvPr id="5" name="Content Placeholder 4">
            <a:extLst>
              <a:ext uri="{FF2B5EF4-FFF2-40B4-BE49-F238E27FC236}">
                <a16:creationId xmlns:a16="http://schemas.microsoft.com/office/drawing/2014/main" id="{DB971248-C1A1-DB7F-D3ED-7F9A5AB7F298}"/>
              </a:ext>
            </a:extLst>
          </p:cNvPr>
          <p:cNvPicPr>
            <a:picLocks noGrp="1" noChangeAspect="1"/>
          </p:cNvPicPr>
          <p:nvPr>
            <p:ph idx="1"/>
          </p:nvPr>
        </p:nvPicPr>
        <p:blipFill>
          <a:blip r:embed="rId2"/>
          <a:srcRect b="9596"/>
          <a:stretch>
            <a:fillRect/>
          </a:stretch>
        </p:blipFill>
        <p:spPr>
          <a:xfrm>
            <a:off x="1067101" y="1525701"/>
            <a:ext cx="5420481" cy="3806598"/>
          </a:xfrm>
          <a:prstGeom prst="rect">
            <a:avLst/>
          </a:prstGeom>
        </p:spPr>
      </p:pic>
      <p:pic>
        <p:nvPicPr>
          <p:cNvPr id="7" name="Picture 6">
            <a:extLst>
              <a:ext uri="{FF2B5EF4-FFF2-40B4-BE49-F238E27FC236}">
                <a16:creationId xmlns:a16="http://schemas.microsoft.com/office/drawing/2014/main" id="{564794AD-3047-1E3F-C4D1-A3808531B283}"/>
              </a:ext>
            </a:extLst>
          </p:cNvPr>
          <p:cNvPicPr>
            <a:picLocks noChangeAspect="1"/>
          </p:cNvPicPr>
          <p:nvPr/>
        </p:nvPicPr>
        <p:blipFill>
          <a:blip r:embed="rId3"/>
          <a:stretch>
            <a:fillRect/>
          </a:stretch>
        </p:blipFill>
        <p:spPr>
          <a:xfrm>
            <a:off x="1067101" y="5435452"/>
            <a:ext cx="6354062" cy="1057423"/>
          </a:xfrm>
          <a:prstGeom prst="rect">
            <a:avLst/>
          </a:prstGeom>
        </p:spPr>
      </p:pic>
      <p:sp>
        <p:nvSpPr>
          <p:cNvPr id="3" name="Rectangle 2">
            <a:extLst>
              <a:ext uri="{FF2B5EF4-FFF2-40B4-BE49-F238E27FC236}">
                <a16:creationId xmlns:a16="http://schemas.microsoft.com/office/drawing/2014/main" id="{DE49067D-C28D-514A-1E6E-A1EFC0487171}"/>
              </a:ext>
            </a:extLst>
          </p:cNvPr>
          <p:cNvSpPr/>
          <p:nvPr/>
        </p:nvSpPr>
        <p:spPr>
          <a:xfrm>
            <a:off x="983226" y="1525701"/>
            <a:ext cx="6354060" cy="1057423"/>
          </a:xfrm>
          <a:prstGeom prst="rect">
            <a:avLst/>
          </a:prstGeom>
          <a:solidFill>
            <a:srgbClr val="FFC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Rectangle 3">
            <a:extLst>
              <a:ext uri="{FF2B5EF4-FFF2-40B4-BE49-F238E27FC236}">
                <a16:creationId xmlns:a16="http://schemas.microsoft.com/office/drawing/2014/main" id="{77A07641-6563-F867-F6BD-C69166DAC93D}"/>
              </a:ext>
            </a:extLst>
          </p:cNvPr>
          <p:cNvSpPr/>
          <p:nvPr/>
        </p:nvSpPr>
        <p:spPr>
          <a:xfrm>
            <a:off x="983225" y="2686277"/>
            <a:ext cx="6354061" cy="1974213"/>
          </a:xfrm>
          <a:prstGeom prst="rect">
            <a:avLst/>
          </a:prstGeom>
          <a:solidFill>
            <a:schemeClr val="accent6">
              <a:lumMod val="40000"/>
              <a:lumOff val="6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Rectangle 5">
            <a:extLst>
              <a:ext uri="{FF2B5EF4-FFF2-40B4-BE49-F238E27FC236}">
                <a16:creationId xmlns:a16="http://schemas.microsoft.com/office/drawing/2014/main" id="{793AF2C2-FDEC-D3E3-2FD3-65C363073AC1}"/>
              </a:ext>
            </a:extLst>
          </p:cNvPr>
          <p:cNvSpPr/>
          <p:nvPr/>
        </p:nvSpPr>
        <p:spPr>
          <a:xfrm>
            <a:off x="983224" y="4732675"/>
            <a:ext cx="6354062" cy="1057424"/>
          </a:xfrm>
          <a:prstGeom prst="rect">
            <a:avLst/>
          </a:prstGeom>
          <a:solidFill>
            <a:schemeClr val="tx2">
              <a:lumMod val="50000"/>
              <a:lumOff val="5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accent5">
                  <a:lumMod val="40000"/>
                  <a:lumOff val="60000"/>
                </a:schemeClr>
              </a:solidFill>
            </a:endParaRPr>
          </a:p>
        </p:txBody>
      </p:sp>
      <p:sp>
        <p:nvSpPr>
          <p:cNvPr id="8" name="Rectangle 7">
            <a:extLst>
              <a:ext uri="{FF2B5EF4-FFF2-40B4-BE49-F238E27FC236}">
                <a16:creationId xmlns:a16="http://schemas.microsoft.com/office/drawing/2014/main" id="{2FBEEDD1-2144-C797-887A-5D2D3631CD2C}"/>
              </a:ext>
            </a:extLst>
          </p:cNvPr>
          <p:cNvSpPr/>
          <p:nvPr/>
        </p:nvSpPr>
        <p:spPr>
          <a:xfrm>
            <a:off x="983224" y="5893252"/>
            <a:ext cx="6354062" cy="813635"/>
          </a:xfrm>
          <a:prstGeom prst="rect">
            <a:avLst/>
          </a:prstGeom>
          <a:solidFill>
            <a:schemeClr val="accent5">
              <a:lumMod val="40000"/>
              <a:lumOff val="6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a:extLst>
              <a:ext uri="{FF2B5EF4-FFF2-40B4-BE49-F238E27FC236}">
                <a16:creationId xmlns:a16="http://schemas.microsoft.com/office/drawing/2014/main" id="{328A21A7-5C24-2E33-0CC0-22A898C4DF3C}"/>
              </a:ext>
            </a:extLst>
          </p:cNvPr>
          <p:cNvSpPr txBox="1"/>
          <p:nvPr/>
        </p:nvSpPr>
        <p:spPr>
          <a:xfrm>
            <a:off x="7924799" y="1525701"/>
            <a:ext cx="2890683" cy="369332"/>
          </a:xfrm>
          <a:prstGeom prst="rect">
            <a:avLst/>
          </a:prstGeom>
          <a:solidFill>
            <a:srgbClr val="FFC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defPPr>
              <a:defRPr lang="he-IL"/>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Calculating the thetas </a:t>
            </a:r>
            <a:endParaRPr lang="he-IL" dirty="0">
              <a:solidFill>
                <a:schemeClr val="tx1"/>
              </a:solidFill>
            </a:endParaRPr>
          </a:p>
        </p:txBody>
      </p:sp>
      <p:sp>
        <p:nvSpPr>
          <p:cNvPr id="11" name="TextBox 10">
            <a:extLst>
              <a:ext uri="{FF2B5EF4-FFF2-40B4-BE49-F238E27FC236}">
                <a16:creationId xmlns:a16="http://schemas.microsoft.com/office/drawing/2014/main" id="{2F5645A6-13C1-D073-7383-2A363B3BE65A}"/>
              </a:ext>
            </a:extLst>
          </p:cNvPr>
          <p:cNvSpPr txBox="1"/>
          <p:nvPr/>
        </p:nvSpPr>
        <p:spPr>
          <a:xfrm>
            <a:off x="7924800" y="2686277"/>
            <a:ext cx="2890684" cy="932229"/>
          </a:xfrm>
          <a:prstGeom prst="rect">
            <a:avLst/>
          </a:prstGeom>
          <a:solidFill>
            <a:schemeClr val="accent6">
              <a:lumMod val="40000"/>
              <a:lumOff val="6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defPPr>
              <a:defRPr lang="he-IL"/>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Calculating the pooled theta and the std under the null model </a:t>
            </a:r>
            <a:endParaRPr lang="he-IL" dirty="0">
              <a:solidFill>
                <a:schemeClr val="tx1"/>
              </a:solidFill>
            </a:endParaRPr>
          </a:p>
        </p:txBody>
      </p:sp>
      <p:sp>
        <p:nvSpPr>
          <p:cNvPr id="12" name="TextBox 11">
            <a:extLst>
              <a:ext uri="{FF2B5EF4-FFF2-40B4-BE49-F238E27FC236}">
                <a16:creationId xmlns:a16="http://schemas.microsoft.com/office/drawing/2014/main" id="{7BC43EC2-20C7-1583-8F42-D8D35A348181}"/>
              </a:ext>
            </a:extLst>
          </p:cNvPr>
          <p:cNvSpPr txBox="1"/>
          <p:nvPr/>
        </p:nvSpPr>
        <p:spPr>
          <a:xfrm>
            <a:off x="7924800" y="4716369"/>
            <a:ext cx="2890684" cy="932229"/>
          </a:xfrm>
          <a:prstGeom prst="rect">
            <a:avLst/>
          </a:prstGeom>
          <a:solidFill>
            <a:schemeClr val="tx2">
              <a:lumMod val="50000"/>
              <a:lumOff val="5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defPPr>
              <a:defRPr lang="he-IL"/>
            </a:defPPr>
            <a:lvl1pPr algn="ctr">
              <a:defRPr>
                <a:solidFill>
                  <a:schemeClr val="accent5">
                    <a:lumMod val="40000"/>
                    <a:lumOff val="6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Calculating the z statistic, p-value and z critical value</a:t>
            </a:r>
            <a:endParaRPr lang="he-IL" dirty="0">
              <a:solidFill>
                <a:schemeClr val="tx1"/>
              </a:solidFill>
            </a:endParaRPr>
          </a:p>
        </p:txBody>
      </p:sp>
      <p:sp>
        <p:nvSpPr>
          <p:cNvPr id="13" name="TextBox 12">
            <a:extLst>
              <a:ext uri="{FF2B5EF4-FFF2-40B4-BE49-F238E27FC236}">
                <a16:creationId xmlns:a16="http://schemas.microsoft.com/office/drawing/2014/main" id="{EF99FB5D-1820-64B9-E80A-05A945E685FD}"/>
              </a:ext>
            </a:extLst>
          </p:cNvPr>
          <p:cNvSpPr txBox="1"/>
          <p:nvPr/>
        </p:nvSpPr>
        <p:spPr>
          <a:xfrm>
            <a:off x="7924799" y="5833954"/>
            <a:ext cx="2890684" cy="932229"/>
          </a:xfrm>
          <a:prstGeom prst="rect">
            <a:avLst/>
          </a:prstGeom>
          <a:solidFill>
            <a:schemeClr val="accent5">
              <a:lumMod val="40000"/>
              <a:lumOff val="6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defPPr>
              <a:defRPr lang="he-IL"/>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Calculating the confidence interval</a:t>
            </a:r>
            <a:endParaRPr lang="he-IL" dirty="0">
              <a:solidFill>
                <a:schemeClr val="tx1"/>
              </a:solidFill>
            </a:endParaRPr>
          </a:p>
        </p:txBody>
      </p:sp>
    </p:spTree>
    <p:extLst>
      <p:ext uri="{BB962C8B-B14F-4D97-AF65-F5344CB8AC3E}">
        <p14:creationId xmlns:p14="http://schemas.microsoft.com/office/powerpoint/2010/main" val="2205544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9B3E8-CAB0-00A9-12E5-16C2D573D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6D799-D664-EB3C-2C3C-1D2036AA1A1E}"/>
              </a:ext>
            </a:extLst>
          </p:cNvPr>
          <p:cNvSpPr>
            <a:spLocks noGrp="1"/>
          </p:cNvSpPr>
          <p:nvPr>
            <p:ph type="title"/>
          </p:nvPr>
        </p:nvSpPr>
        <p:spPr/>
        <p:txBody>
          <a:bodyPr/>
          <a:lstStyle/>
          <a:p>
            <a:r>
              <a:rPr lang="he-IL" dirty="0"/>
              <a:t>z-</a:t>
            </a:r>
            <a:r>
              <a:rPr lang="en-US" dirty="0"/>
              <a:t>T</a:t>
            </a:r>
            <a:r>
              <a:rPr lang="he-IL" dirty="0" err="1"/>
              <a:t>est</a:t>
            </a:r>
            <a:endParaRPr lang="he-IL" dirty="0"/>
          </a:p>
        </p:txBody>
      </p:sp>
      <p:pic>
        <p:nvPicPr>
          <p:cNvPr id="8" name="Content Placeholder 7">
            <a:extLst>
              <a:ext uri="{FF2B5EF4-FFF2-40B4-BE49-F238E27FC236}">
                <a16:creationId xmlns:a16="http://schemas.microsoft.com/office/drawing/2014/main" id="{95571370-8D67-EE55-A84F-4DF6314B3C80}"/>
              </a:ext>
            </a:extLst>
          </p:cNvPr>
          <p:cNvPicPr>
            <a:picLocks noGrp="1" noChangeAspect="1"/>
          </p:cNvPicPr>
          <p:nvPr>
            <p:ph idx="1"/>
          </p:nvPr>
        </p:nvPicPr>
        <p:blipFill>
          <a:blip r:embed="rId2"/>
          <a:srcRect r="50000"/>
          <a:stretch>
            <a:fillRect/>
          </a:stretch>
        </p:blipFill>
        <p:spPr>
          <a:xfrm>
            <a:off x="1983991" y="2103437"/>
            <a:ext cx="8484619" cy="1325563"/>
          </a:xfrm>
          <a:prstGeom prst="rect">
            <a:avLst/>
          </a:prstGeom>
        </p:spPr>
      </p:pic>
      <p:pic>
        <p:nvPicPr>
          <p:cNvPr id="9" name="Content Placeholder 7">
            <a:extLst>
              <a:ext uri="{FF2B5EF4-FFF2-40B4-BE49-F238E27FC236}">
                <a16:creationId xmlns:a16="http://schemas.microsoft.com/office/drawing/2014/main" id="{8393D1DE-03E4-C05F-B589-26E3051E9B97}"/>
              </a:ext>
            </a:extLst>
          </p:cNvPr>
          <p:cNvPicPr>
            <a:picLocks noChangeAspect="1"/>
          </p:cNvPicPr>
          <p:nvPr/>
        </p:nvPicPr>
        <p:blipFill>
          <a:blip r:embed="rId2"/>
          <a:srcRect l="50000"/>
          <a:stretch>
            <a:fillRect/>
          </a:stretch>
        </p:blipFill>
        <p:spPr>
          <a:xfrm>
            <a:off x="1983992" y="4092314"/>
            <a:ext cx="8484619" cy="1325563"/>
          </a:xfrm>
          <a:prstGeom prst="rect">
            <a:avLst/>
          </a:prstGeom>
        </p:spPr>
      </p:pic>
      <p:sp>
        <p:nvSpPr>
          <p:cNvPr id="3" name="Rectangle 2">
            <a:extLst>
              <a:ext uri="{FF2B5EF4-FFF2-40B4-BE49-F238E27FC236}">
                <a16:creationId xmlns:a16="http://schemas.microsoft.com/office/drawing/2014/main" id="{D4F24642-5F66-12DE-9D33-7F7B3278BDB3}"/>
              </a:ext>
            </a:extLst>
          </p:cNvPr>
          <p:cNvSpPr/>
          <p:nvPr/>
        </p:nvSpPr>
        <p:spPr>
          <a:xfrm>
            <a:off x="1983990" y="2103438"/>
            <a:ext cx="8484619" cy="1249362"/>
          </a:xfrm>
          <a:prstGeom prst="rect">
            <a:avLst/>
          </a:prstGeom>
          <a:solidFill>
            <a:srgbClr val="FFC0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Rectangle 3">
            <a:extLst>
              <a:ext uri="{FF2B5EF4-FFF2-40B4-BE49-F238E27FC236}">
                <a16:creationId xmlns:a16="http://schemas.microsoft.com/office/drawing/2014/main" id="{F10B782F-89F4-ABB9-863D-ED531AAB2B8A}"/>
              </a:ext>
            </a:extLst>
          </p:cNvPr>
          <p:cNvSpPr/>
          <p:nvPr/>
        </p:nvSpPr>
        <p:spPr>
          <a:xfrm>
            <a:off x="1983991" y="4092314"/>
            <a:ext cx="2577500" cy="1328474"/>
          </a:xfrm>
          <a:prstGeom prst="rect">
            <a:avLst/>
          </a:prstGeom>
          <a:solidFill>
            <a:schemeClr val="accent6">
              <a:lumMod val="40000"/>
              <a:lumOff val="6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Rectangle 4">
            <a:extLst>
              <a:ext uri="{FF2B5EF4-FFF2-40B4-BE49-F238E27FC236}">
                <a16:creationId xmlns:a16="http://schemas.microsoft.com/office/drawing/2014/main" id="{697EC39A-20AA-532E-FD9A-EA4090D45E9E}"/>
              </a:ext>
            </a:extLst>
          </p:cNvPr>
          <p:cNvSpPr/>
          <p:nvPr/>
        </p:nvSpPr>
        <p:spPr>
          <a:xfrm>
            <a:off x="4561491" y="4089403"/>
            <a:ext cx="2301764" cy="1328474"/>
          </a:xfrm>
          <a:prstGeom prst="rect">
            <a:avLst/>
          </a:prstGeom>
          <a:solidFill>
            <a:schemeClr val="tx2">
              <a:lumMod val="50000"/>
              <a:lumOff val="5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accent5">
                  <a:lumMod val="40000"/>
                  <a:lumOff val="60000"/>
                </a:schemeClr>
              </a:solidFill>
            </a:endParaRPr>
          </a:p>
        </p:txBody>
      </p:sp>
      <p:sp>
        <p:nvSpPr>
          <p:cNvPr id="10" name="Rectangle 9">
            <a:extLst>
              <a:ext uri="{FF2B5EF4-FFF2-40B4-BE49-F238E27FC236}">
                <a16:creationId xmlns:a16="http://schemas.microsoft.com/office/drawing/2014/main" id="{15FB87B8-D052-711E-283E-2B44D0CCEF16}"/>
              </a:ext>
            </a:extLst>
          </p:cNvPr>
          <p:cNvSpPr/>
          <p:nvPr/>
        </p:nvSpPr>
        <p:spPr>
          <a:xfrm>
            <a:off x="6863254" y="4086492"/>
            <a:ext cx="2406865" cy="1328474"/>
          </a:xfrm>
          <a:prstGeom prst="rect">
            <a:avLst/>
          </a:prstGeom>
          <a:solidFill>
            <a:schemeClr val="accent5">
              <a:lumMod val="40000"/>
              <a:lumOff val="60000"/>
              <a:alpha val="2509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193320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C5DE-7D2D-188C-C43F-296B1B8F4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0BF07-3675-68C2-3C20-695411E100D3}"/>
              </a:ext>
            </a:extLst>
          </p:cNvPr>
          <p:cNvSpPr>
            <a:spLocks noGrp="1"/>
          </p:cNvSpPr>
          <p:nvPr>
            <p:ph type="title"/>
          </p:nvPr>
        </p:nvSpPr>
        <p:spPr/>
        <p:txBody>
          <a:bodyPr/>
          <a:lstStyle/>
          <a:p>
            <a:r>
              <a:rPr lang="he-IL" dirty="0"/>
              <a:t>z-</a:t>
            </a:r>
            <a:r>
              <a:rPr lang="en-US" dirty="0"/>
              <a:t>T</a:t>
            </a:r>
            <a:r>
              <a:rPr lang="he-IL" dirty="0" err="1"/>
              <a:t>est</a:t>
            </a:r>
            <a:endParaRPr lang="he-IL" dirty="0"/>
          </a:p>
        </p:txBody>
      </p:sp>
      <p:pic>
        <p:nvPicPr>
          <p:cNvPr id="2050" name="Picture 2">
            <a:extLst>
              <a:ext uri="{FF2B5EF4-FFF2-40B4-BE49-F238E27FC236}">
                <a16:creationId xmlns:a16="http://schemas.microsoft.com/office/drawing/2014/main" id="{722711AA-B4EC-17AA-FA08-4F02B0657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8100" y="1690688"/>
            <a:ext cx="7415799" cy="4672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078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A3DCA-85A8-559A-1715-4BC00C5F7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7C63D-67B5-DFDF-8C35-B9E9FB2C0609}"/>
              </a:ext>
            </a:extLst>
          </p:cNvPr>
          <p:cNvSpPr>
            <a:spLocks noGrp="1"/>
          </p:cNvSpPr>
          <p:nvPr>
            <p:ph type="title"/>
          </p:nvPr>
        </p:nvSpPr>
        <p:spPr>
          <a:xfrm>
            <a:off x="838200" y="20997"/>
            <a:ext cx="10515600" cy="1325563"/>
          </a:xfrm>
        </p:spPr>
        <p:txBody>
          <a:bodyPr/>
          <a:lstStyle/>
          <a:p>
            <a:r>
              <a:rPr lang="he-IL" dirty="0" err="1"/>
              <a:t>Statistical</a:t>
            </a:r>
            <a:r>
              <a:rPr lang="he-IL" dirty="0"/>
              <a:t> </a:t>
            </a:r>
            <a:r>
              <a:rPr lang="he-IL" dirty="0" err="1"/>
              <a:t>reporting</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46396B-ED25-E4F2-FFA6-F6633C7EEDDA}"/>
                  </a:ext>
                </a:extLst>
              </p:cNvPr>
              <p:cNvSpPr>
                <a:spLocks noGrp="1"/>
              </p:cNvSpPr>
              <p:nvPr>
                <p:ph idx="1"/>
              </p:nvPr>
            </p:nvSpPr>
            <p:spPr>
              <a:xfrm>
                <a:off x="838200" y="1342771"/>
                <a:ext cx="10445496" cy="4801998"/>
              </a:xfrm>
            </p:spPr>
            <p:txBody>
              <a:bodyPr>
                <a:normAutofit fontScale="85000" lnSpcReduction="20000"/>
              </a:bodyPr>
              <a:lstStyle/>
              <a:p>
                <a:pPr marL="0" indent="0">
                  <a:buNone/>
                </a:pPr>
                <a:r>
                  <a:rPr lang="en-US" sz="2400" b="1" dirty="0"/>
                  <a:t>z-test interpretation: </a:t>
                </a:r>
              </a:p>
              <a:p>
                <a:r>
                  <a:rPr lang="en-US" sz="2400" dirty="0"/>
                  <a:t>Observed z = -3.18 </a:t>
                </a:r>
              </a:p>
              <a:p>
                <a:r>
                  <a:rPr lang="en-US" sz="2400" dirty="0"/>
                  <a:t>Critical values = ±1.96 </a:t>
                </a:r>
              </a:p>
              <a:p>
                <a:r>
                  <a:rPr lang="en-US" sz="2400" dirty="0"/>
                  <a:t>Two-sided p-value = 0.001459 </a:t>
                </a:r>
              </a:p>
              <a:p>
                <a:r>
                  <a:rPr lang="en-US" sz="2400" dirty="0"/>
                  <a:t>Decision: Reject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𝐻</m:t>
                        </m:r>
                      </m:e>
                      <m:sub>
                        <m:r>
                          <a:rPr lang="en-US" sz="2400" i="1" dirty="0" smtClean="0">
                            <a:latin typeface="Cambria Math" panose="02040503050406030204" pitchFamily="18" charset="0"/>
                          </a:rPr>
                          <m:t>0</m:t>
                        </m:r>
                      </m:sub>
                    </m:sSub>
                    <m:r>
                      <a:rPr lang="en-US" sz="2400" i="1" dirty="0" smtClean="0">
                        <a:latin typeface="Cambria Math" panose="02040503050406030204" pitchFamily="18" charset="0"/>
                      </a:rPr>
                      <m:t> </m:t>
                    </m:r>
                  </m:oMath>
                </a14:m>
                <a:r>
                  <a:rPr lang="en-US" sz="2400" dirty="0"/>
                  <a:t>at alpha = 0.05. </a:t>
                </a:r>
                <a:endParaRPr lang="he-IL" sz="2400" dirty="0"/>
              </a:p>
              <a:p>
                <a:endParaRPr lang="en-US" sz="2400" dirty="0"/>
              </a:p>
              <a:p>
                <a:pPr marL="0" indent="0">
                  <a:buNone/>
                </a:pPr>
                <a:r>
                  <a:rPr lang="en-US" sz="2400" b="1" dirty="0"/>
                  <a:t>Confidence interval interpretation: </a:t>
                </a:r>
              </a:p>
              <a:p>
                <a:r>
                  <a:rPr lang="en-US" sz="2400" dirty="0"/>
                  <a:t>Observed difference = -0.0167 </a:t>
                </a:r>
              </a:p>
              <a:p>
                <a:r>
                  <a:rPr lang="en-US" sz="2400" dirty="0"/>
                  <a:t>95% CI = [-0.0270, -0.0064] </a:t>
                </a:r>
              </a:p>
              <a:p>
                <a:r>
                  <a:rPr lang="en-US" sz="2400" dirty="0"/>
                  <a:t>The CI does not include 0, consistent with rejecting H0.</a:t>
                </a:r>
              </a:p>
              <a:p>
                <a:pPr marL="0" indent="0">
                  <a:buNone/>
                </a:pPr>
                <a:endParaRPr lang="en-US" sz="2400" dirty="0"/>
              </a:p>
              <a:p>
                <a:r>
                  <a:rPr lang="en-US" sz="2400" dirty="0"/>
                  <a:t>A two-sided two-proportion z-test showed a statistically significant difference between the two countries, z=−3.18, p=0.001459. The observed difference was −0.0167, with a 95% confidence interval of [−0.0270,−0.0064]. Because the interval does not include 0, the confidence interval is consistent with rejecting the null hypothesis at α=0.05.</a:t>
                </a:r>
                <a:endParaRPr lang="he-IL" sz="2400" dirty="0"/>
              </a:p>
            </p:txBody>
          </p:sp>
        </mc:Choice>
        <mc:Fallback xmlns="">
          <p:sp>
            <p:nvSpPr>
              <p:cNvPr id="3" name="Content Placeholder 2">
                <a:extLst>
                  <a:ext uri="{FF2B5EF4-FFF2-40B4-BE49-F238E27FC236}">
                    <a16:creationId xmlns:a16="http://schemas.microsoft.com/office/drawing/2014/main" id="{5B46396B-ED25-E4F2-FFA6-F6633C7EEDDA}"/>
                  </a:ext>
                </a:extLst>
              </p:cNvPr>
              <p:cNvSpPr>
                <a:spLocks noGrp="1" noRot="1" noChangeAspect="1" noMove="1" noResize="1" noEditPoints="1" noAdjustHandles="1" noChangeArrowheads="1" noChangeShapeType="1" noTextEdit="1"/>
              </p:cNvSpPr>
              <p:nvPr>
                <p:ph idx="1"/>
              </p:nvPr>
            </p:nvSpPr>
            <p:spPr>
              <a:xfrm>
                <a:off x="838200" y="1342771"/>
                <a:ext cx="10445496" cy="4801998"/>
              </a:xfrm>
              <a:blipFill>
                <a:blip r:embed="rId3"/>
                <a:stretch>
                  <a:fillRect l="-642" t="-2157" b="-254"/>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3B32A063-CF0E-DDC3-1DD1-40723CFF928E}"/>
              </a:ext>
            </a:extLst>
          </p:cNvPr>
          <p:cNvSpPr>
            <a:spLocks noGrp="1"/>
          </p:cNvSpPr>
          <p:nvPr>
            <p:ph type="sldNum" sz="quarter" idx="12"/>
          </p:nvPr>
        </p:nvSpPr>
        <p:spPr/>
        <p:txBody>
          <a:bodyPr/>
          <a:lstStyle/>
          <a:p>
            <a:fld id="{B6796F57-8306-40D4-9229-37A3D19F0B5F}" type="slidenum">
              <a:rPr lang="LID4096" smtClean="0"/>
              <a:t>20</a:t>
            </a:fld>
            <a:endParaRPr lang="LID4096"/>
          </a:p>
        </p:txBody>
      </p:sp>
    </p:spTree>
    <p:extLst>
      <p:ext uri="{BB962C8B-B14F-4D97-AF65-F5344CB8AC3E}">
        <p14:creationId xmlns:p14="http://schemas.microsoft.com/office/powerpoint/2010/main" val="875263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22876-4B5D-151D-D052-7906AC705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83591-D0B3-8BA8-609E-1149349AA83F}"/>
              </a:ext>
            </a:extLst>
          </p:cNvPr>
          <p:cNvSpPr>
            <a:spLocks noGrp="1"/>
          </p:cNvSpPr>
          <p:nvPr>
            <p:ph type="title"/>
          </p:nvPr>
        </p:nvSpPr>
        <p:spPr>
          <a:xfrm>
            <a:off x="838200" y="2675731"/>
            <a:ext cx="10515600" cy="1325563"/>
          </a:xfrm>
        </p:spPr>
        <p:txBody>
          <a:bodyPr/>
          <a:lstStyle/>
          <a:p>
            <a:pPr algn="ctr"/>
            <a:r>
              <a:rPr lang="en-US" dirty="0"/>
              <a:t>Normal Models</a:t>
            </a:r>
            <a:endParaRPr lang="he-IL" dirty="0"/>
          </a:p>
        </p:txBody>
      </p:sp>
    </p:spTree>
    <p:extLst>
      <p:ext uri="{BB962C8B-B14F-4D97-AF65-F5344CB8AC3E}">
        <p14:creationId xmlns:p14="http://schemas.microsoft.com/office/powerpoint/2010/main" val="2275317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547B8-88EE-9928-398D-D8E059F26B7F}"/>
              </a:ext>
            </a:extLst>
          </p:cNvPr>
          <p:cNvSpPr>
            <a:spLocks noGrp="1"/>
          </p:cNvSpPr>
          <p:nvPr>
            <p:ph type="title"/>
          </p:nvPr>
        </p:nvSpPr>
        <p:spPr/>
        <p:txBody>
          <a:bodyPr/>
          <a:lstStyle/>
          <a:p>
            <a:r>
              <a:rPr lang="en-US" dirty="0"/>
              <a:t>Continuous data</a:t>
            </a:r>
            <a:endParaRPr lang="he-IL" dirty="0"/>
          </a:p>
        </p:txBody>
      </p:sp>
      <p:sp>
        <p:nvSpPr>
          <p:cNvPr id="3" name="Content Placeholder 2">
            <a:extLst>
              <a:ext uri="{FF2B5EF4-FFF2-40B4-BE49-F238E27FC236}">
                <a16:creationId xmlns:a16="http://schemas.microsoft.com/office/drawing/2014/main" id="{295DB159-9D3E-E63F-E0A9-AA03F76D87E5}"/>
              </a:ext>
            </a:extLst>
          </p:cNvPr>
          <p:cNvSpPr>
            <a:spLocks noGrp="1"/>
          </p:cNvSpPr>
          <p:nvPr>
            <p:ph idx="1"/>
          </p:nvPr>
        </p:nvSpPr>
        <p:spPr/>
        <p:txBody>
          <a:bodyPr/>
          <a:lstStyle/>
          <a:p>
            <a:r>
              <a:rPr lang="en-US" dirty="0"/>
              <a:t>Continuous measurements have units </a:t>
            </a:r>
          </a:p>
          <a:p>
            <a:r>
              <a:rPr lang="en-US" dirty="0"/>
              <a:t>Require a continuous likelihood </a:t>
            </a:r>
          </a:p>
          <a:p>
            <a:r>
              <a:rPr lang="en-US" dirty="0"/>
              <a:t>Examples:</a:t>
            </a:r>
          </a:p>
          <a:p>
            <a:pPr marL="914400" lvl="1" indent="-457200">
              <a:buFont typeface="+mj-lt"/>
              <a:buAutoNum type="arabicPeriod"/>
            </a:pPr>
            <a:r>
              <a:rPr lang="en-US" dirty="0"/>
              <a:t>Weight, measured in kg</a:t>
            </a:r>
          </a:p>
          <a:p>
            <a:pPr marL="914400" lvl="1" indent="-457200">
              <a:buFont typeface="+mj-lt"/>
              <a:buAutoNum type="arabicPeriod"/>
            </a:pPr>
            <a:r>
              <a:rPr lang="en-US" dirty="0"/>
              <a:t>Height, measured in cm</a:t>
            </a:r>
          </a:p>
          <a:p>
            <a:pPr marL="914400" lvl="1" indent="-457200">
              <a:buFont typeface="+mj-lt"/>
              <a:buAutoNum type="arabicPeriod"/>
            </a:pPr>
            <a:r>
              <a:rPr lang="en-US" dirty="0"/>
              <a:t>Reaction time, measured in milliseconds</a:t>
            </a:r>
          </a:p>
          <a:p>
            <a:pPr marL="914400" lvl="1" indent="-457200">
              <a:buFont typeface="+mj-lt"/>
              <a:buAutoNum type="arabicPeriod"/>
            </a:pPr>
            <a:r>
              <a:rPr lang="en-US" dirty="0"/>
              <a:t>Blood pressure, measured in mmHg</a:t>
            </a:r>
          </a:p>
          <a:p>
            <a:pPr marL="0" indent="0">
              <a:buNone/>
            </a:pPr>
            <a:endParaRPr lang="en-US" dirty="0"/>
          </a:p>
          <a:p>
            <a:endParaRPr lang="he-IL" dirty="0"/>
          </a:p>
        </p:txBody>
      </p:sp>
    </p:spTree>
    <p:extLst>
      <p:ext uri="{BB962C8B-B14F-4D97-AF65-F5344CB8AC3E}">
        <p14:creationId xmlns:p14="http://schemas.microsoft.com/office/powerpoint/2010/main" val="2542728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851EB-77F6-B08A-F9ED-86CA7760E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B1F7F-8B23-B6A1-EEF8-E77009555147}"/>
              </a:ext>
            </a:extLst>
          </p:cNvPr>
          <p:cNvSpPr>
            <a:spLocks noGrp="1"/>
          </p:cNvSpPr>
          <p:nvPr>
            <p:ph type="title"/>
          </p:nvPr>
        </p:nvSpPr>
        <p:spPr>
          <a:xfrm>
            <a:off x="838200" y="20997"/>
            <a:ext cx="10515600" cy="1325563"/>
          </a:xfrm>
        </p:spPr>
        <p:txBody>
          <a:bodyPr/>
          <a:lstStyle/>
          <a:p>
            <a:r>
              <a:rPr lang="en-US" dirty="0"/>
              <a:t>Normal Distribution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532E5B-E7CC-A782-E352-AA3D1C50E825}"/>
                  </a:ext>
                </a:extLst>
              </p:cNvPr>
              <p:cNvSpPr>
                <a:spLocks noGrp="1"/>
              </p:cNvSpPr>
              <p:nvPr>
                <p:ph idx="1"/>
              </p:nvPr>
            </p:nvSpPr>
            <p:spPr>
              <a:xfrm>
                <a:off x="838200" y="1214190"/>
                <a:ext cx="6395112" cy="5511076"/>
              </a:xfrm>
            </p:spPr>
            <p:txBody>
              <a:bodyPr>
                <a:normAutofit/>
              </a:bodyPr>
              <a:lstStyle/>
              <a:p>
                <a:pPr>
                  <a:lnSpc>
                    <a:spcPct val="150000"/>
                  </a:lnSpc>
                </a:pPr>
                <a:r>
                  <a:rPr lang="en-US" dirty="0"/>
                  <a:t> </a:t>
                </a:r>
                <a:r>
                  <a:rPr lang="en-GB" dirty="0"/>
                  <a:t>Characterized by two parameters:</a:t>
                </a:r>
              </a:p>
              <a:p>
                <a:pPr lvl="1">
                  <a:lnSpc>
                    <a:spcPct val="150000"/>
                  </a:lnSpc>
                </a:pPr>
                <a14:m>
                  <m:oMath xmlns:m="http://schemas.openxmlformats.org/officeDocument/2006/math">
                    <m:r>
                      <a:rPr lang="en-GB" b="0" i="1" smtClean="0">
                        <a:latin typeface="Cambria Math" panose="02040503050406030204" pitchFamily="18" charset="0"/>
                      </a:rPr>
                      <m:t>𝜇</m:t>
                    </m:r>
                  </m:oMath>
                </a14:m>
                <a:r>
                  <a:rPr lang="en-GB" b="0" dirty="0"/>
                  <a:t> - </a:t>
                </a:r>
                <a:r>
                  <a:rPr lang="en-GB" b="0" dirty="0" err="1"/>
                  <a:t>center</a:t>
                </a:r>
                <a:endParaRPr lang="en-GB" b="0" dirty="0"/>
              </a:p>
              <a:p>
                <a:pPr lvl="1">
                  <a:lnSpc>
                    <a:spcPct val="150000"/>
                  </a:lnSpc>
                </a:pPr>
                <a14:m>
                  <m:oMath xmlns:m="http://schemas.openxmlformats.org/officeDocument/2006/math">
                    <m:r>
                      <a:rPr lang="en-GB" b="0" i="1" smtClean="0">
                        <a:latin typeface="Cambria Math" panose="02040503050406030204" pitchFamily="18" charset="0"/>
                      </a:rPr>
                      <m:t>𝜎</m:t>
                    </m:r>
                  </m:oMath>
                </a14:m>
                <a:r>
                  <a:rPr lang="en-US" dirty="0"/>
                  <a:t> - spread</a:t>
                </a:r>
              </a:p>
              <a:p>
                <a:pPr>
                  <a:lnSpc>
                    <a:spcPct val="150000"/>
                  </a:lnSpc>
                </a:pPr>
                <a:r>
                  <a:rPr lang="en-US" dirty="0"/>
                  <a:t>If we model our data using a normal distribution, we will have a posterior distribution for each parameter.</a:t>
                </a:r>
              </a:p>
            </p:txBody>
          </p:sp>
        </mc:Choice>
        <mc:Fallback xmlns="">
          <p:sp>
            <p:nvSpPr>
              <p:cNvPr id="3" name="Content Placeholder 2">
                <a:extLst>
                  <a:ext uri="{FF2B5EF4-FFF2-40B4-BE49-F238E27FC236}">
                    <a16:creationId xmlns:a16="http://schemas.microsoft.com/office/drawing/2014/main" id="{8E532E5B-E7CC-A782-E352-AA3D1C50E825}"/>
                  </a:ext>
                </a:extLst>
              </p:cNvPr>
              <p:cNvSpPr>
                <a:spLocks noGrp="1" noRot="1" noChangeAspect="1" noMove="1" noResize="1" noEditPoints="1" noAdjustHandles="1" noChangeArrowheads="1" noChangeShapeType="1" noTextEdit="1"/>
              </p:cNvSpPr>
              <p:nvPr>
                <p:ph idx="1"/>
              </p:nvPr>
            </p:nvSpPr>
            <p:spPr>
              <a:xfrm>
                <a:off x="838200" y="1214190"/>
                <a:ext cx="6395112" cy="5511076"/>
              </a:xfrm>
              <a:blipFill>
                <a:blip r:embed="rId2"/>
                <a:stretch>
                  <a:fillRect l="-1716"/>
                </a:stretch>
              </a:blipFill>
            </p:spPr>
            <p:txBody>
              <a:bodyPr/>
              <a:lstStyle/>
              <a:p>
                <a:r>
                  <a:rPr lang="he-IL">
                    <a:noFill/>
                  </a:rPr>
                  <a:t> </a:t>
                </a:r>
              </a:p>
            </p:txBody>
          </p:sp>
        </mc:Fallback>
      </mc:AlternateContent>
      <p:pic>
        <p:nvPicPr>
          <p:cNvPr id="5" name="Picture 4" descr="A graph of a normal distribution&#10;&#10;AI-generated content may be incorrect.">
            <a:extLst>
              <a:ext uri="{FF2B5EF4-FFF2-40B4-BE49-F238E27FC236}">
                <a16:creationId xmlns:a16="http://schemas.microsoft.com/office/drawing/2014/main" id="{192AEB43-FC63-6F77-19D7-C18FCDA2D0F9}"/>
              </a:ext>
            </a:extLst>
          </p:cNvPr>
          <p:cNvPicPr>
            <a:picLocks noChangeAspect="1"/>
          </p:cNvPicPr>
          <p:nvPr/>
        </p:nvPicPr>
        <p:blipFill>
          <a:blip r:embed="rId3">
            <a:extLst>
              <a:ext uri="{28A0092B-C50C-407E-A947-70E740481C1C}">
                <a14:useLocalDpi xmlns:a14="http://schemas.microsoft.com/office/drawing/2010/main" val="0"/>
              </a:ext>
            </a:extLst>
          </a:blip>
          <a:srcRect r="32247"/>
          <a:stretch>
            <a:fillRect/>
          </a:stretch>
        </p:blipFill>
        <p:spPr>
          <a:xfrm>
            <a:off x="7458336" y="2828037"/>
            <a:ext cx="4722127" cy="3728566"/>
          </a:xfrm>
          <a:prstGeom prst="rect">
            <a:avLst/>
          </a:prstGeom>
        </p:spPr>
      </p:pic>
      <p:pic>
        <p:nvPicPr>
          <p:cNvPr id="4" name="Picture 3" descr="A graph of a normal distribution&#10;&#10;AI-generated content may be incorrect.">
            <a:extLst>
              <a:ext uri="{FF2B5EF4-FFF2-40B4-BE49-F238E27FC236}">
                <a16:creationId xmlns:a16="http://schemas.microsoft.com/office/drawing/2014/main" id="{1CDF6641-67F4-B43D-80C2-2BF1C933533D}"/>
              </a:ext>
            </a:extLst>
          </p:cNvPr>
          <p:cNvPicPr>
            <a:picLocks noChangeAspect="1"/>
          </p:cNvPicPr>
          <p:nvPr/>
        </p:nvPicPr>
        <p:blipFill>
          <a:blip r:embed="rId3">
            <a:extLst>
              <a:ext uri="{28A0092B-C50C-407E-A947-70E740481C1C}">
                <a14:useLocalDpi xmlns:a14="http://schemas.microsoft.com/office/drawing/2010/main" val="0"/>
              </a:ext>
            </a:extLst>
          </a:blip>
          <a:srcRect l="67133" t="36054" b="40886"/>
          <a:stretch>
            <a:fillRect/>
          </a:stretch>
        </p:blipFill>
        <p:spPr>
          <a:xfrm>
            <a:off x="8195142" y="1494504"/>
            <a:ext cx="3158658" cy="1185589"/>
          </a:xfrm>
          <a:prstGeom prst="rect">
            <a:avLst/>
          </a:prstGeom>
        </p:spPr>
      </p:pic>
    </p:spTree>
    <p:extLst>
      <p:ext uri="{BB962C8B-B14F-4D97-AF65-F5344CB8AC3E}">
        <p14:creationId xmlns:p14="http://schemas.microsoft.com/office/powerpoint/2010/main" val="6163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25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5EB65-1828-7A7D-9B0E-A441C6B6F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B323B-4B8A-F1FB-8C9F-725CC43079F4}"/>
              </a:ext>
            </a:extLst>
          </p:cNvPr>
          <p:cNvSpPr>
            <a:spLocks noGrp="1"/>
          </p:cNvSpPr>
          <p:nvPr>
            <p:ph type="title"/>
          </p:nvPr>
        </p:nvSpPr>
        <p:spPr>
          <a:xfrm>
            <a:off x="838200" y="20997"/>
            <a:ext cx="10515600" cy="1325563"/>
          </a:xfrm>
        </p:spPr>
        <p:txBody>
          <a:bodyPr/>
          <a:lstStyle/>
          <a:p>
            <a:r>
              <a:rPr lang="en-US" dirty="0"/>
              <a:t>Normal Distribution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741A51-5EFB-E621-D5EE-5A415482978D}"/>
                  </a:ext>
                </a:extLst>
              </p:cNvPr>
              <p:cNvSpPr>
                <a:spLocks noGrp="1"/>
              </p:cNvSpPr>
              <p:nvPr>
                <p:ph idx="1"/>
              </p:nvPr>
            </p:nvSpPr>
            <p:spPr>
              <a:xfrm>
                <a:off x="838200" y="1346560"/>
                <a:ext cx="10515600" cy="5378705"/>
              </a:xfrm>
            </p:spPr>
            <p:txBody>
              <a:bodyPr>
                <a:normAutofit/>
              </a:bodyPr>
              <a:lstStyle/>
              <a:p>
                <a:pPr>
                  <a:lnSpc>
                    <a:spcPct val="150000"/>
                  </a:lnSpc>
                  <a:buFont typeface="Wingdings" panose="05000000000000000000" pitchFamily="2" charset="2"/>
                  <a:buChar char="§"/>
                </a:pPr>
                <a:r>
                  <a:rPr lang="en-GB" dirty="0"/>
                  <a:t>Each parameter needs its own prior </a:t>
                </a:r>
              </a:p>
              <a:p>
                <a:pPr lvl="1">
                  <a:lnSpc>
                    <a:spcPct val="150000"/>
                  </a:lnSpc>
                  <a:buFont typeface="Wingdings" panose="05000000000000000000" pitchFamily="2" charset="2"/>
                  <a:buChar char="§"/>
                </a:pPr>
                <a:r>
                  <a:rPr lang="en-GB" dirty="0"/>
                  <a:t>Two priors</a:t>
                </a:r>
              </a:p>
              <a:p>
                <a:pPr>
                  <a:lnSpc>
                    <a:spcPct val="150000"/>
                  </a:lnSpc>
                  <a:buFont typeface="Wingdings" panose="05000000000000000000" pitchFamily="2" charset="2"/>
                  <a:buChar char="§"/>
                </a:pPr>
                <a:r>
                  <a:rPr lang="en-GB" dirty="0"/>
                  <a:t>We will use a normal prior for </a:t>
                </a:r>
                <a14:m>
                  <m:oMath xmlns:m="http://schemas.openxmlformats.org/officeDocument/2006/math">
                    <m:r>
                      <a:rPr lang="en-GB" b="0" i="1" smtClean="0">
                        <a:latin typeface="Cambria Math" panose="02040503050406030204" pitchFamily="18" charset="0"/>
                      </a:rPr>
                      <m:t>𝜇</m:t>
                    </m:r>
                  </m:oMath>
                </a14:m>
                <a:endParaRPr lang="en-GB" dirty="0"/>
              </a:p>
              <a:p>
                <a:pPr>
                  <a:lnSpc>
                    <a:spcPct val="150000"/>
                  </a:lnSpc>
                  <a:buFont typeface="Wingdings" panose="05000000000000000000" pitchFamily="2" charset="2"/>
                  <a:buChar char="§"/>
                </a:pPr>
                <a:r>
                  <a:rPr lang="en-GB" dirty="0"/>
                  <a:t>And a half normal prior for </a:t>
                </a:r>
                <a14:m>
                  <m:oMath xmlns:m="http://schemas.openxmlformats.org/officeDocument/2006/math">
                    <m:r>
                      <a:rPr lang="en-GB" b="0" i="1" smtClean="0">
                        <a:latin typeface="Cambria Math" panose="02040503050406030204" pitchFamily="18" charset="0"/>
                      </a:rPr>
                      <m:t>𝜎</m:t>
                    </m:r>
                  </m:oMath>
                </a14:m>
                <a:endParaRPr lang="en-GB" dirty="0"/>
              </a:p>
              <a:p>
                <a:pPr lvl="1">
                  <a:lnSpc>
                    <a:spcPct val="150000"/>
                  </a:lnSpc>
                  <a:buFont typeface="Wingdings" panose="05000000000000000000" pitchFamily="2" charset="2"/>
                  <a:buChar char="§"/>
                </a:pPr>
                <a:r>
                  <a:rPr lang="en-GB" dirty="0"/>
                  <a:t>Cannot be negative</a:t>
                </a:r>
              </a:p>
              <a:p>
                <a:pPr lvl="1">
                  <a:lnSpc>
                    <a:spcPct val="150000"/>
                  </a:lnSpc>
                  <a:buFont typeface="Wingdings" panose="05000000000000000000" pitchFamily="2" charset="2"/>
                  <a:buChar char="§"/>
                </a:pPr>
                <a:endParaRPr lang="en-US" dirty="0"/>
              </a:p>
              <a:p>
                <a:pPr lvl="1">
                  <a:lnSpc>
                    <a:spcPct val="150000"/>
                  </a:lnSpc>
                  <a:buFont typeface="Wingdings" panose="05000000000000000000" pitchFamily="2" charset="2"/>
                  <a:buChar char="§"/>
                </a:pPr>
                <a:endParaRPr lang="en-US" dirty="0"/>
              </a:p>
              <a:p>
                <a:pPr lvl="1">
                  <a:lnSpc>
                    <a:spcPct val="150000"/>
                  </a:lnSpc>
                  <a:buFont typeface="Wingdings" panose="05000000000000000000" pitchFamily="2" charset="2"/>
                  <a:buChar char="§"/>
                </a:pPr>
                <a:endParaRPr lang="en-US" dirty="0"/>
              </a:p>
            </p:txBody>
          </p:sp>
        </mc:Choice>
        <mc:Fallback xmlns="">
          <p:sp>
            <p:nvSpPr>
              <p:cNvPr id="3" name="Content Placeholder 2">
                <a:extLst>
                  <a:ext uri="{FF2B5EF4-FFF2-40B4-BE49-F238E27FC236}">
                    <a16:creationId xmlns:a16="http://schemas.microsoft.com/office/drawing/2014/main" id="{13741A51-5EFB-E621-D5EE-5A415482978D}"/>
                  </a:ext>
                </a:extLst>
              </p:cNvPr>
              <p:cNvSpPr>
                <a:spLocks noGrp="1" noRot="1" noChangeAspect="1" noMove="1" noResize="1" noEditPoints="1" noAdjustHandles="1" noChangeArrowheads="1" noChangeShapeType="1" noTextEdit="1"/>
              </p:cNvSpPr>
              <p:nvPr>
                <p:ph idx="1"/>
              </p:nvPr>
            </p:nvSpPr>
            <p:spPr>
              <a:xfrm>
                <a:off x="838200" y="1346560"/>
                <a:ext cx="10515600" cy="5378705"/>
              </a:xfrm>
              <a:blipFill>
                <a:blip r:embed="rId3"/>
                <a:stretch>
                  <a:fillRect l="-1043"/>
                </a:stretch>
              </a:blipFill>
            </p:spPr>
            <p:txBody>
              <a:bodyPr/>
              <a:lstStyle/>
              <a:p>
                <a:r>
                  <a:rPr lang="he-IL">
                    <a:noFill/>
                  </a:rPr>
                  <a:t> </a:t>
                </a:r>
              </a:p>
            </p:txBody>
          </p:sp>
        </mc:Fallback>
      </mc:AlternateContent>
      <p:pic>
        <p:nvPicPr>
          <p:cNvPr id="8" name="Picture 7" descr="A diagram of normal distribution&#10;&#10;AI-generated content may be incorrect.">
            <a:extLst>
              <a:ext uri="{FF2B5EF4-FFF2-40B4-BE49-F238E27FC236}">
                <a16:creationId xmlns:a16="http://schemas.microsoft.com/office/drawing/2014/main" id="{01110BA2-8D58-E5DC-ECEE-3FE3D884D833}"/>
              </a:ext>
            </a:extLst>
          </p:cNvPr>
          <p:cNvPicPr>
            <a:picLocks noChangeAspect="1"/>
          </p:cNvPicPr>
          <p:nvPr/>
        </p:nvPicPr>
        <p:blipFill>
          <a:blip r:embed="rId4">
            <a:extLst>
              <a:ext uri="{28A0092B-C50C-407E-A947-70E740481C1C}">
                <a14:useLocalDpi xmlns:a14="http://schemas.microsoft.com/office/drawing/2010/main" val="0"/>
              </a:ext>
            </a:extLst>
          </a:blip>
          <a:srcRect l="25006" t="23968" r="28220" b="9207"/>
          <a:stretch/>
        </p:blipFill>
        <p:spPr>
          <a:xfrm>
            <a:off x="7336971" y="1836417"/>
            <a:ext cx="4278086" cy="4582887"/>
          </a:xfrm>
          <a:prstGeom prst="rect">
            <a:avLst/>
          </a:prstGeom>
        </p:spPr>
      </p:pic>
    </p:spTree>
    <p:extLst>
      <p:ext uri="{BB962C8B-B14F-4D97-AF65-F5344CB8AC3E}">
        <p14:creationId xmlns:p14="http://schemas.microsoft.com/office/powerpoint/2010/main" val="16297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5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5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047D9-1E5D-6AB1-72EF-36E887546B0F}"/>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AB585612-5620-AC75-0A3F-70504117EE81}"/>
              </a:ext>
            </a:extLst>
          </p:cNvPr>
          <p:cNvSpPr>
            <a:spLocks noGrp="1"/>
          </p:cNvSpPr>
          <p:nvPr>
            <p:ph idx="1"/>
          </p:nvPr>
        </p:nvSpPr>
        <p:spPr>
          <a:xfrm>
            <a:off x="838200" y="1825625"/>
            <a:ext cx="10515600" cy="4351338"/>
          </a:xfrm>
        </p:spPr>
        <p:txBody>
          <a:bodyPr>
            <a:normAutofit/>
          </a:bodyPr>
          <a:lstStyle/>
          <a:p>
            <a:r>
              <a:rPr lang="en-US" sz="2400" dirty="0"/>
              <a:t>The generated dataset contains measurements from the same people before and after six weeks of dieting:</a:t>
            </a:r>
          </a:p>
          <a:p>
            <a:pPr lvl="1"/>
            <a:r>
              <a:rPr lang="en-US" dirty="0" err="1"/>
              <a:t>pre.weight</a:t>
            </a:r>
            <a:r>
              <a:rPr lang="en-US" dirty="0"/>
              <a:t>: weight in kg before the diet</a:t>
            </a:r>
          </a:p>
          <a:p>
            <a:pPr lvl="1"/>
            <a:r>
              <a:rPr lang="en-US" dirty="0"/>
              <a:t>weight6weeks: weight in kg after six weeks</a:t>
            </a:r>
          </a:p>
        </p:txBody>
      </p:sp>
      <p:pic>
        <p:nvPicPr>
          <p:cNvPr id="5" name="Picture 4">
            <a:extLst>
              <a:ext uri="{FF2B5EF4-FFF2-40B4-BE49-F238E27FC236}">
                <a16:creationId xmlns:a16="http://schemas.microsoft.com/office/drawing/2014/main" id="{AB8537A7-CA3B-83DA-CC0E-9D7C6F79E677}"/>
              </a:ext>
            </a:extLst>
          </p:cNvPr>
          <p:cNvPicPr>
            <a:picLocks noChangeAspect="1"/>
          </p:cNvPicPr>
          <p:nvPr/>
        </p:nvPicPr>
        <p:blipFill>
          <a:blip r:embed="rId2"/>
          <a:stretch>
            <a:fillRect/>
          </a:stretch>
        </p:blipFill>
        <p:spPr>
          <a:xfrm>
            <a:off x="1373772" y="3562066"/>
            <a:ext cx="9444456" cy="2749834"/>
          </a:xfrm>
          <a:prstGeom prst="rect">
            <a:avLst/>
          </a:prstGeom>
        </p:spPr>
      </p:pic>
    </p:spTree>
    <p:extLst>
      <p:ext uri="{BB962C8B-B14F-4D97-AF65-F5344CB8AC3E}">
        <p14:creationId xmlns:p14="http://schemas.microsoft.com/office/powerpoint/2010/main" val="3069565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C21C3-9520-394B-E610-4C29B7F7C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1763C-9982-BB0F-97F9-90885968A430}"/>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58395E74-63B2-6BDC-F575-AC7032944A5A}"/>
              </a:ext>
            </a:extLst>
          </p:cNvPr>
          <p:cNvSpPr>
            <a:spLocks noGrp="1"/>
          </p:cNvSpPr>
          <p:nvPr>
            <p:ph idx="1"/>
          </p:nvPr>
        </p:nvSpPr>
        <p:spPr>
          <a:xfrm>
            <a:off x="838200" y="1825625"/>
            <a:ext cx="10515600" cy="4351338"/>
          </a:xfrm>
        </p:spPr>
        <p:txBody>
          <a:bodyPr>
            <a:normAutofit/>
          </a:bodyPr>
          <a:lstStyle/>
          <a:p>
            <a:r>
              <a:rPr lang="en-US" dirty="0"/>
              <a:t>Let’s model the pre-diet weight data</a:t>
            </a:r>
            <a:endParaRPr lang="he-IL" dirty="0"/>
          </a:p>
          <a:p>
            <a:endParaRPr lang="he-IL" dirty="0"/>
          </a:p>
        </p:txBody>
      </p:sp>
      <p:pic>
        <p:nvPicPr>
          <p:cNvPr id="1026" name="Picture 2">
            <a:extLst>
              <a:ext uri="{FF2B5EF4-FFF2-40B4-BE49-F238E27FC236}">
                <a16:creationId xmlns:a16="http://schemas.microsoft.com/office/drawing/2014/main" id="{B927EC64-551C-40FA-4F32-CDAE49C083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188"/>
          <a:stretch>
            <a:fillRect/>
          </a:stretch>
        </p:blipFill>
        <p:spPr bwMode="auto">
          <a:xfrm>
            <a:off x="4362805" y="2287347"/>
            <a:ext cx="6990995" cy="4342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33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3B08F-1932-E824-BF87-CF553EA2C0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53600-D4F0-A5E9-E30A-5F55B3CD7A81}"/>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566B0E4F-48AA-F997-FF77-974CEBE3539D}"/>
              </a:ext>
            </a:extLst>
          </p:cNvPr>
          <p:cNvSpPr>
            <a:spLocks noGrp="1"/>
          </p:cNvSpPr>
          <p:nvPr>
            <p:ph idx="1"/>
          </p:nvPr>
        </p:nvSpPr>
        <p:spPr>
          <a:xfrm>
            <a:off x="838200" y="1825625"/>
            <a:ext cx="5461000" cy="4351338"/>
          </a:xfrm>
        </p:spPr>
        <p:txBody>
          <a:bodyPr>
            <a:normAutofit/>
          </a:bodyPr>
          <a:lstStyle/>
          <a:p>
            <a:r>
              <a:rPr lang="en-US" b="1" dirty="0"/>
              <a:t>Box plot – </a:t>
            </a:r>
          </a:p>
          <a:p>
            <a:pPr marL="628650" lvl="1" indent="-171450"/>
            <a:r>
              <a:rPr lang="en-US" dirty="0"/>
              <a:t>Line inside the box: median </a:t>
            </a:r>
          </a:p>
          <a:p>
            <a:pPr marL="628650" lvl="1" indent="-171450"/>
            <a:r>
              <a:rPr lang="en-US" dirty="0"/>
              <a:t>The box: quartiles (25th and 75th percentiles) </a:t>
            </a:r>
          </a:p>
          <a:p>
            <a:pPr marL="628650" lvl="1" indent="-171450"/>
            <a:r>
              <a:rPr lang="en-US" dirty="0"/>
              <a:t>Whiskers: Range excluding outliers </a:t>
            </a:r>
          </a:p>
          <a:p>
            <a:pPr marL="628650" lvl="1" indent="-171450"/>
            <a:r>
              <a:rPr lang="en-US" dirty="0"/>
              <a:t>Dots: outliers (usually more than 1.5 IQR beyond IQR)</a:t>
            </a:r>
          </a:p>
          <a:p>
            <a:endParaRPr lang="he-IL" dirty="0"/>
          </a:p>
          <a:p>
            <a:endParaRPr lang="he-IL" dirty="0"/>
          </a:p>
        </p:txBody>
      </p:sp>
      <p:pic>
        <p:nvPicPr>
          <p:cNvPr id="2050" name="Picture 2">
            <a:extLst>
              <a:ext uri="{FF2B5EF4-FFF2-40B4-BE49-F238E27FC236}">
                <a16:creationId xmlns:a16="http://schemas.microsoft.com/office/drawing/2014/main" id="{6109FF71-9BCE-C7B7-1C57-F9F3AAE274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780"/>
          <a:stretch>
            <a:fillRect/>
          </a:stretch>
        </p:blipFill>
        <p:spPr bwMode="auto">
          <a:xfrm>
            <a:off x="6299200" y="2143919"/>
            <a:ext cx="5461000"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496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35EBC-0413-91CF-FC48-1159EF325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0A5F1-8530-CE6A-92ED-EB0ABF2E2993}"/>
              </a:ext>
            </a:extLst>
          </p:cNvPr>
          <p:cNvSpPr>
            <a:spLocks noGrp="1"/>
          </p:cNvSpPr>
          <p:nvPr>
            <p:ph type="title"/>
          </p:nvPr>
        </p:nvSpPr>
        <p:spPr/>
        <p:txBody>
          <a:bodyPr/>
          <a:lstStyle/>
          <a:p>
            <a:r>
              <a:rPr lang="en-US" dirty="0"/>
              <a:t>Normal Distribution Bayesian Model</a:t>
            </a:r>
            <a:endParaRPr lang="he-I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B794ED-C74B-4E09-14B1-1E186E0FB5C4}"/>
                  </a:ext>
                </a:extLst>
              </p:cNvPr>
              <p:cNvSpPr>
                <a:spLocks noGrp="1"/>
              </p:cNvSpPr>
              <p:nvPr>
                <p:ph idx="1"/>
              </p:nvPr>
            </p:nvSpPr>
            <p:spPr>
              <a:xfrm>
                <a:off x="838199" y="1825625"/>
                <a:ext cx="10379299" cy="4351338"/>
              </a:xfrm>
            </p:spPr>
            <p:txBody>
              <a:bodyPr>
                <a:normAutofit/>
              </a:bodyPr>
              <a:lstStyle/>
              <a:p>
                <a:r>
                  <a:rPr lang="en-US" b="1" dirty="0"/>
                  <a:t>Choosing priors</a:t>
                </a:r>
              </a:p>
              <a:p>
                <a:pPr lvl="1"/>
                <a:r>
                  <a:rPr lang="en-US" dirty="0"/>
                  <a:t>Weight is measured in kilograms.</a:t>
                </a:r>
                <a:endParaRPr lang="he-IL" dirty="0"/>
              </a:p>
              <a:p>
                <a:pPr lvl="1"/>
                <a:r>
                  <a:rPr lang="en-US" dirty="0"/>
                  <a:t>Therefore, our priors will be chosen in kilograms</a:t>
                </a:r>
              </a:p>
              <a:p>
                <a:pPr marL="0" indent="0">
                  <a:buNone/>
                </a:pPr>
                <a:endParaRPr lang="en-US" sz="2000" dirty="0"/>
              </a:p>
              <a:p>
                <a:pPr marL="0" indent="0">
                  <a:buNone/>
                </a:pPr>
                <a14:m>
                  <m:oMathPara xmlns:m="http://schemas.openxmlformats.org/officeDocument/2006/math">
                    <m:oMathParaPr>
                      <m:jc m:val="left"/>
                    </m:oMathParaPr>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 ~ </m:t>
                      </m:r>
                      <m:r>
                        <a:rPr lang="en-US" i="1" dirty="0" smtClean="0">
                          <a:latin typeface="Cambria Math" panose="02040503050406030204" pitchFamily="18" charset="0"/>
                        </a:rPr>
                        <m:t>𝑁𝑜𝑟𝑚𝑎𝑙</m:t>
                      </m:r>
                      <m:d>
                        <m:dPr>
                          <m:ctrlPr>
                            <a:rPr lang="en-US" i="1" dirty="0" smtClean="0">
                              <a:latin typeface="Cambria Math" panose="02040503050406030204" pitchFamily="18" charset="0"/>
                            </a:rPr>
                          </m:ctrlPr>
                        </m:dPr>
                        <m:e>
                          <m:r>
                            <a:rPr lang="en-US" i="1" dirty="0" smtClean="0">
                              <a:latin typeface="Cambria Math" panose="02040503050406030204" pitchFamily="18" charset="0"/>
                              <a:ea typeface="Cambria Math" panose="02040503050406030204" pitchFamily="18" charset="0"/>
                            </a:rPr>
                            <m:t>𝜇</m:t>
                          </m:r>
                          <m:r>
                            <a:rPr lang="en-US" i="1" dirty="0" smtClean="0">
                              <a:latin typeface="Cambria Math" panose="02040503050406030204" pitchFamily="18" charset="0"/>
                            </a:rPr>
                            <m:t>, </m:t>
                          </m:r>
                          <m:r>
                            <a:rPr lang="en-US" i="1" dirty="0" smtClean="0">
                              <a:latin typeface="Cambria Math" panose="02040503050406030204" pitchFamily="18" charset="0"/>
                              <a:ea typeface="Cambria Math" panose="02040503050406030204" pitchFamily="18" charset="0"/>
                            </a:rPr>
                            <m:t>𝜎</m:t>
                          </m:r>
                        </m:e>
                      </m:d>
                    </m:oMath>
                  </m:oMathPara>
                </a14:m>
                <a:br>
                  <a:rPr lang="en-US" i="1" dirty="0">
                    <a:latin typeface="Cambria Math" panose="02040503050406030204" pitchFamily="18" charset="0"/>
                    <a:ea typeface="Cambria Math" panose="02040503050406030204" pitchFamily="18" charset="0"/>
                  </a:rPr>
                </a:br>
                <a:endParaRPr lang="en-US" i="1" dirty="0">
                  <a:latin typeface="Cambria Math" panose="02040503050406030204" pitchFamily="18" charset="0"/>
                  <a:ea typeface="Cambria Math" panose="02040503050406030204" pitchFamily="18" charset="0"/>
                </a:endParaRPr>
              </a:p>
              <a:p>
                <a:pPr marL="0" indent="0">
                  <a:buNone/>
                </a:pPr>
                <a:endParaRPr lang="en-US"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i="1" dirty="0">
                          <a:latin typeface="Cambria Math" panose="02040503050406030204" pitchFamily="18" charset="0"/>
                          <a:ea typeface="Cambria Math" panose="02040503050406030204" pitchFamily="18" charset="0"/>
                        </a:rPr>
                        <m:t>𝜇</m:t>
                      </m:r>
                      <m:r>
                        <a:rPr lang="en-US" b="0" i="1" dirty="0" smtClean="0">
                          <a:latin typeface="Cambria Math" panose="02040503050406030204" pitchFamily="18" charset="0"/>
                          <a:ea typeface="Cambria Math" panose="02040503050406030204" pitchFamily="18" charset="0"/>
                        </a:rPr>
                        <m:t> ~ </m:t>
                      </m:r>
                      <m:r>
                        <a:rPr lang="en-US" b="0" i="1" dirty="0" smtClean="0">
                          <a:latin typeface="Cambria Math" panose="02040503050406030204" pitchFamily="18" charset="0"/>
                          <a:ea typeface="Cambria Math" panose="02040503050406030204" pitchFamily="18" charset="0"/>
                        </a:rPr>
                        <m:t>𝑁𝑜𝑟𝑚𝑎𝑙</m:t>
                      </m:r>
                      <m:d>
                        <m:dPr>
                          <m:ctrlPr>
                            <a:rPr lang="en-US" b="0" i="1" dirty="0" smtClean="0">
                              <a:latin typeface="Cambria Math" panose="02040503050406030204" pitchFamily="18" charset="0"/>
                              <a:ea typeface="Cambria Math" panose="02040503050406030204" pitchFamily="18" charset="0"/>
                            </a:rPr>
                          </m:ctrlPr>
                        </m:dPr>
                        <m:e>
                          <m:r>
                            <a:rPr lang="en-US" b="0" i="1" dirty="0" smtClean="0">
                              <a:latin typeface="Cambria Math" panose="02040503050406030204" pitchFamily="18" charset="0"/>
                              <a:ea typeface="Cambria Math" panose="02040503050406030204" pitchFamily="18" charset="0"/>
                            </a:rPr>
                            <m:t>72</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15</m:t>
                          </m:r>
                        </m:e>
                      </m:d>
                    </m:oMath>
                  </m:oMathPara>
                </a14:m>
                <a:endParaRPr lang="en-US" b="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𝐻𝑎𝑙𝑓𝑁𝑜𝑟𝑚𝑎𝑙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m:t>
                      </m:r>
                    </m:oMath>
                  </m:oMathPara>
                </a14:m>
                <a:endParaRPr lang="en-US" i="1" dirty="0">
                  <a:latin typeface="Cambria Math" panose="02040503050406030204" pitchFamily="18" charset="0"/>
                  <a:ea typeface="Cambria Math" panose="02040503050406030204" pitchFamily="18" charset="0"/>
                </a:endParaRPr>
              </a:p>
              <a:p>
                <a:pPr marL="0" indent="0">
                  <a:buNone/>
                </a:pPr>
                <a:endParaRPr lang="en-US" sz="2000" i="1" dirty="0">
                  <a:latin typeface="Cambria Math" panose="02040503050406030204" pitchFamily="18" charset="0"/>
                  <a:ea typeface="Cambria Math" panose="02040503050406030204" pitchFamily="18" charset="0"/>
                </a:endParaRPr>
              </a:p>
              <a:p>
                <a:pPr marL="0" indent="0">
                  <a:buNone/>
                </a:pPr>
                <a:endParaRPr lang="en-US" sz="2000" i="1" dirty="0">
                  <a:latin typeface="Cambria Math" panose="02040503050406030204" pitchFamily="18" charset="0"/>
                  <a:ea typeface="Cambria Math" panose="02040503050406030204" pitchFamily="18" charset="0"/>
                </a:endParaRPr>
              </a:p>
              <a:p>
                <a:pPr marL="0" indent="0">
                  <a:buNone/>
                </a:pPr>
                <a:endParaRPr lang="en-US" sz="2000" i="1" dirty="0">
                  <a:latin typeface="Cambria Math" panose="02040503050406030204" pitchFamily="18" charset="0"/>
                  <a:ea typeface="Cambria Math" panose="02040503050406030204" pitchFamily="18" charset="0"/>
                </a:endParaRPr>
              </a:p>
              <a:p>
                <a:endParaRPr lang="he-IL" dirty="0"/>
              </a:p>
            </p:txBody>
          </p:sp>
        </mc:Choice>
        <mc:Fallback>
          <p:sp>
            <p:nvSpPr>
              <p:cNvPr id="3" name="Content Placeholder 2">
                <a:extLst>
                  <a:ext uri="{FF2B5EF4-FFF2-40B4-BE49-F238E27FC236}">
                    <a16:creationId xmlns:a16="http://schemas.microsoft.com/office/drawing/2014/main" id="{77B794ED-C74B-4E09-14B1-1E186E0FB5C4}"/>
                  </a:ext>
                </a:extLst>
              </p:cNvPr>
              <p:cNvSpPr>
                <a:spLocks noGrp="1" noRot="1" noChangeAspect="1" noMove="1" noResize="1" noEditPoints="1" noAdjustHandles="1" noChangeArrowheads="1" noChangeShapeType="1" noTextEdit="1"/>
              </p:cNvSpPr>
              <p:nvPr>
                <p:ph idx="1"/>
              </p:nvPr>
            </p:nvSpPr>
            <p:spPr>
              <a:xfrm>
                <a:off x="838199" y="1825625"/>
                <a:ext cx="10379299" cy="4351338"/>
              </a:xfrm>
              <a:blipFill>
                <a:blip r:embed="rId3"/>
                <a:stretch>
                  <a:fillRect l="-998" t="-2241"/>
                </a:stretch>
              </a:blipFill>
            </p:spPr>
            <p:txBody>
              <a:bodyPr/>
              <a:lstStyle/>
              <a:p>
                <a:r>
                  <a:rPr lang="he-IL">
                    <a:noFill/>
                  </a:rPr>
                  <a:t> </a:t>
                </a:r>
              </a:p>
            </p:txBody>
          </p:sp>
        </mc:Fallback>
      </mc:AlternateContent>
      <p:pic>
        <p:nvPicPr>
          <p:cNvPr id="3074" name="Picture 2">
            <a:extLst>
              <a:ext uri="{FF2B5EF4-FFF2-40B4-BE49-F238E27FC236}">
                <a16:creationId xmlns:a16="http://schemas.microsoft.com/office/drawing/2014/main" id="{77243C35-29C9-55FB-F229-2943700FFD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0115" y="3548416"/>
            <a:ext cx="7551885" cy="2477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194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DB67B-E13E-7F07-B5B8-C1A383AE3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38F31-F053-43E3-E477-460A525D451E}"/>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5DBEA00B-DCF7-F64C-422E-67A253A81A05}"/>
              </a:ext>
            </a:extLst>
          </p:cNvPr>
          <p:cNvSpPr>
            <a:spLocks noGrp="1"/>
          </p:cNvSpPr>
          <p:nvPr>
            <p:ph idx="1"/>
          </p:nvPr>
        </p:nvSpPr>
        <p:spPr>
          <a:xfrm>
            <a:off x="838199" y="1825625"/>
            <a:ext cx="10379299" cy="4351338"/>
          </a:xfrm>
        </p:spPr>
        <p:txBody>
          <a:bodyPr>
            <a:normAutofit/>
          </a:bodyPr>
          <a:lstStyle/>
          <a:p>
            <a:r>
              <a:rPr lang="en-US" dirty="0"/>
              <a:t>Model</a:t>
            </a:r>
          </a:p>
          <a:p>
            <a:endParaRPr lang="he-IL" dirty="0"/>
          </a:p>
        </p:txBody>
      </p:sp>
      <p:pic>
        <p:nvPicPr>
          <p:cNvPr id="6" name="Picture 5">
            <a:extLst>
              <a:ext uri="{FF2B5EF4-FFF2-40B4-BE49-F238E27FC236}">
                <a16:creationId xmlns:a16="http://schemas.microsoft.com/office/drawing/2014/main" id="{F30D1B35-2EDE-8769-CDCA-061EF0252D94}"/>
              </a:ext>
            </a:extLst>
          </p:cNvPr>
          <p:cNvPicPr>
            <a:picLocks noChangeAspect="1"/>
          </p:cNvPicPr>
          <p:nvPr/>
        </p:nvPicPr>
        <p:blipFill>
          <a:blip r:embed="rId3"/>
          <a:stretch>
            <a:fillRect/>
          </a:stretch>
        </p:blipFill>
        <p:spPr>
          <a:xfrm>
            <a:off x="838199" y="2757966"/>
            <a:ext cx="8509606" cy="2486655"/>
          </a:xfrm>
          <a:prstGeom prst="rect">
            <a:avLst/>
          </a:prstGeom>
        </p:spPr>
      </p:pic>
      <p:pic>
        <p:nvPicPr>
          <p:cNvPr id="9" name="Picture 8">
            <a:extLst>
              <a:ext uri="{FF2B5EF4-FFF2-40B4-BE49-F238E27FC236}">
                <a16:creationId xmlns:a16="http://schemas.microsoft.com/office/drawing/2014/main" id="{93DB3266-81CF-2FAC-372C-C4FBCACD308B}"/>
              </a:ext>
            </a:extLst>
          </p:cNvPr>
          <p:cNvPicPr>
            <a:picLocks noChangeAspect="1"/>
          </p:cNvPicPr>
          <p:nvPr/>
        </p:nvPicPr>
        <p:blipFill>
          <a:blip r:embed="rId4"/>
          <a:stretch>
            <a:fillRect/>
          </a:stretch>
        </p:blipFill>
        <p:spPr>
          <a:xfrm>
            <a:off x="9065813" y="1825624"/>
            <a:ext cx="3086531" cy="3029373"/>
          </a:xfrm>
          <a:prstGeom prst="rect">
            <a:avLst/>
          </a:prstGeom>
        </p:spPr>
      </p:pic>
    </p:spTree>
    <p:extLst>
      <p:ext uri="{BB962C8B-B14F-4D97-AF65-F5344CB8AC3E}">
        <p14:creationId xmlns:p14="http://schemas.microsoft.com/office/powerpoint/2010/main" val="2266092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3D73E-0BBB-B69C-43A2-8C7013388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018C8-30AA-3068-5609-5DF6C5BEFD02}"/>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EAD903B4-D1A5-9F9C-66DA-D8554A6C1C97}"/>
              </a:ext>
            </a:extLst>
          </p:cNvPr>
          <p:cNvSpPr>
            <a:spLocks noGrp="1"/>
          </p:cNvSpPr>
          <p:nvPr>
            <p:ph idx="1"/>
          </p:nvPr>
        </p:nvSpPr>
        <p:spPr/>
        <p:txBody>
          <a:bodyPr/>
          <a:lstStyle/>
          <a:p>
            <a:r>
              <a:rPr lang="en-US" dirty="0"/>
              <a:t>Prior predictive check</a:t>
            </a:r>
          </a:p>
          <a:p>
            <a:endParaRPr lang="he-IL" dirty="0"/>
          </a:p>
        </p:txBody>
      </p:sp>
      <p:pic>
        <p:nvPicPr>
          <p:cNvPr id="4098" name="Picture 2">
            <a:extLst>
              <a:ext uri="{FF2B5EF4-FFF2-40B4-BE49-F238E27FC236}">
                <a16:creationId xmlns:a16="http://schemas.microsoft.com/office/drawing/2014/main" id="{7BAB33DF-F499-3BC4-01DB-26A40DC6CC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8999" y="2019869"/>
            <a:ext cx="7203002" cy="483813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2C10BBA-5938-78D3-0E6A-12CA6F548E6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89158" y="2460508"/>
            <a:ext cx="6544406" cy="1436295"/>
          </a:xfrm>
          <a:prstGeom prst="rect">
            <a:avLst/>
          </a:prstGeom>
        </p:spPr>
      </p:pic>
    </p:spTree>
    <p:extLst>
      <p:ext uri="{BB962C8B-B14F-4D97-AF65-F5344CB8AC3E}">
        <p14:creationId xmlns:p14="http://schemas.microsoft.com/office/powerpoint/2010/main" val="20528185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E64EB-5AD8-716B-9946-4657D27D2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0C275-38D9-757A-C3BF-F6629D111E48}"/>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0409FB5A-F62C-5DB1-96CE-93F0C69CD9AD}"/>
              </a:ext>
            </a:extLst>
          </p:cNvPr>
          <p:cNvSpPr>
            <a:spLocks noGrp="1"/>
          </p:cNvSpPr>
          <p:nvPr>
            <p:ph idx="1"/>
          </p:nvPr>
        </p:nvSpPr>
        <p:spPr/>
        <p:txBody>
          <a:bodyPr/>
          <a:lstStyle/>
          <a:p>
            <a:r>
              <a:rPr lang="he-IL" dirty="0"/>
              <a:t>Sampling diagnostic</a:t>
            </a:r>
            <a:endParaRPr lang="en-US" dirty="0"/>
          </a:p>
          <a:p>
            <a:pPr lvl="1"/>
            <a:r>
              <a:rPr lang="en-US" dirty="0"/>
              <a:t>Summary </a:t>
            </a:r>
            <a:r>
              <a:rPr lang="he-IL" dirty="0"/>
              <a:t>diagnostic</a:t>
            </a:r>
            <a:r>
              <a:rPr lang="en-US" dirty="0"/>
              <a:t>s</a:t>
            </a:r>
            <a:endParaRPr lang="he-IL" dirty="0"/>
          </a:p>
          <a:p>
            <a:pPr lvl="1"/>
            <a:r>
              <a:rPr lang="en-US" dirty="0"/>
              <a:t>Trace plots </a:t>
            </a:r>
          </a:p>
          <a:p>
            <a:pPr marL="0" indent="0">
              <a:buNone/>
            </a:pPr>
            <a:endParaRPr lang="he-IL" dirty="0"/>
          </a:p>
        </p:txBody>
      </p:sp>
      <p:pic>
        <p:nvPicPr>
          <p:cNvPr id="5122" name="Picture 2">
            <a:extLst>
              <a:ext uri="{FF2B5EF4-FFF2-40B4-BE49-F238E27FC236}">
                <a16:creationId xmlns:a16="http://schemas.microsoft.com/office/drawing/2014/main" id="{2AFF467C-BA79-69E6-4A13-B2E1D3126A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1628" y="3619837"/>
            <a:ext cx="8465326" cy="28730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A2C9DF9-16B5-44FC-6A2E-9FAB87744865}"/>
              </a:ext>
            </a:extLst>
          </p:cNvPr>
          <p:cNvPicPr>
            <a:picLocks noChangeAspect="1"/>
          </p:cNvPicPr>
          <p:nvPr/>
        </p:nvPicPr>
        <p:blipFill>
          <a:blip r:embed="rId4"/>
          <a:stretch>
            <a:fillRect/>
          </a:stretch>
        </p:blipFill>
        <p:spPr>
          <a:xfrm>
            <a:off x="4863866" y="1825625"/>
            <a:ext cx="5787849" cy="1385243"/>
          </a:xfrm>
          <a:prstGeom prst="rect">
            <a:avLst/>
          </a:prstGeom>
        </p:spPr>
      </p:pic>
    </p:spTree>
    <p:extLst>
      <p:ext uri="{BB962C8B-B14F-4D97-AF65-F5344CB8AC3E}">
        <p14:creationId xmlns:p14="http://schemas.microsoft.com/office/powerpoint/2010/main" val="3854311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746EE-7FD2-4BED-A8DB-AEE4F4242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ABEE5-269B-DD46-40CB-AFF4CF06EFBD}"/>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B43430E2-B4BF-EAB7-4BCB-751AC3F76E28}"/>
              </a:ext>
            </a:extLst>
          </p:cNvPr>
          <p:cNvSpPr>
            <a:spLocks noGrp="1"/>
          </p:cNvSpPr>
          <p:nvPr>
            <p:ph idx="1"/>
          </p:nvPr>
        </p:nvSpPr>
        <p:spPr/>
        <p:txBody>
          <a:bodyPr/>
          <a:lstStyle/>
          <a:p>
            <a:r>
              <a:rPr lang="he-IL" dirty="0" err="1"/>
              <a:t>Posterior</a:t>
            </a:r>
            <a:r>
              <a:rPr lang="he-IL" dirty="0"/>
              <a:t> </a:t>
            </a:r>
            <a:r>
              <a:rPr lang="he-IL" dirty="0" err="1"/>
              <a:t>predictive</a:t>
            </a:r>
            <a:r>
              <a:rPr lang="he-IL" dirty="0"/>
              <a:t> </a:t>
            </a:r>
            <a:r>
              <a:rPr lang="he-IL" dirty="0" err="1"/>
              <a:t>check</a:t>
            </a:r>
            <a:endParaRPr lang="he-IL" dirty="0"/>
          </a:p>
        </p:txBody>
      </p:sp>
      <p:pic>
        <p:nvPicPr>
          <p:cNvPr id="7170" name="Picture 2">
            <a:extLst>
              <a:ext uri="{FF2B5EF4-FFF2-40B4-BE49-F238E27FC236}">
                <a16:creationId xmlns:a16="http://schemas.microsoft.com/office/drawing/2014/main" id="{74C37A3C-24CE-E5E0-05D7-FBC8800A2D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9797" y="2121331"/>
            <a:ext cx="6522528" cy="43810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5C04451-026D-7E8C-4C22-E31591B0BB2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19794" y="2457101"/>
            <a:ext cx="5357431" cy="3408213"/>
          </a:xfrm>
          <a:prstGeom prst="rect">
            <a:avLst/>
          </a:prstGeom>
        </p:spPr>
      </p:pic>
    </p:spTree>
    <p:extLst>
      <p:ext uri="{BB962C8B-B14F-4D97-AF65-F5344CB8AC3E}">
        <p14:creationId xmlns:p14="http://schemas.microsoft.com/office/powerpoint/2010/main" val="4268153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B7B82-A988-297A-FF7D-45D511771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877F6-1567-7588-D718-F34C3BC0FB70}"/>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52986AD5-D86A-41EB-669F-5494B2DD7FC6}"/>
              </a:ext>
            </a:extLst>
          </p:cNvPr>
          <p:cNvSpPr>
            <a:spLocks noGrp="1"/>
          </p:cNvSpPr>
          <p:nvPr>
            <p:ph idx="1"/>
          </p:nvPr>
        </p:nvSpPr>
        <p:spPr/>
        <p:txBody>
          <a:bodyPr/>
          <a:lstStyle/>
          <a:p>
            <a:r>
              <a:rPr lang="he-IL" b="1" dirty="0" err="1"/>
              <a:t>Posterior</a:t>
            </a:r>
            <a:endParaRPr lang="en-US" b="1" dirty="0"/>
          </a:p>
        </p:txBody>
      </p:sp>
      <p:pic>
        <p:nvPicPr>
          <p:cNvPr id="8194" name="Picture 2">
            <a:extLst>
              <a:ext uri="{FF2B5EF4-FFF2-40B4-BE49-F238E27FC236}">
                <a16:creationId xmlns:a16="http://schemas.microsoft.com/office/drawing/2014/main" id="{B01305C6-1749-7D9A-19A6-D45942A4D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321" y="3237932"/>
            <a:ext cx="10062949" cy="33988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201E0A4-EB81-EE5D-B811-A97800B26588}"/>
              </a:ext>
            </a:extLst>
          </p:cNvPr>
          <p:cNvPicPr>
            <a:picLocks noChangeAspect="1"/>
          </p:cNvPicPr>
          <p:nvPr/>
        </p:nvPicPr>
        <p:blipFill>
          <a:blip r:embed="rId3"/>
          <a:stretch>
            <a:fillRect/>
          </a:stretch>
        </p:blipFill>
        <p:spPr>
          <a:xfrm>
            <a:off x="4864396" y="1569350"/>
            <a:ext cx="4460093" cy="1533645"/>
          </a:xfrm>
          <a:prstGeom prst="rect">
            <a:avLst/>
          </a:prstGeom>
        </p:spPr>
      </p:pic>
    </p:spTree>
    <p:extLst>
      <p:ext uri="{BB962C8B-B14F-4D97-AF65-F5344CB8AC3E}">
        <p14:creationId xmlns:p14="http://schemas.microsoft.com/office/powerpoint/2010/main" val="36488350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B7A00-2CFA-59DC-7880-2095619B3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4AAE3-2EA6-6743-5F38-FB3E9A05C91D}"/>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2D08A039-5F98-1C03-A0DF-4295BFB42140}"/>
              </a:ext>
            </a:extLst>
          </p:cNvPr>
          <p:cNvSpPr>
            <a:spLocks noGrp="1"/>
          </p:cNvSpPr>
          <p:nvPr>
            <p:ph idx="1"/>
          </p:nvPr>
        </p:nvSpPr>
        <p:spPr/>
        <p:txBody>
          <a:bodyPr/>
          <a:lstStyle/>
          <a:p>
            <a:r>
              <a:rPr lang="he-IL" b="1" dirty="0" err="1"/>
              <a:t>Posterior</a:t>
            </a:r>
            <a:endParaRPr lang="en-US" b="1" dirty="0"/>
          </a:p>
          <a:p>
            <a:pPr lvl="1"/>
            <a:r>
              <a:rPr lang="en-US" dirty="0"/>
              <a:t>Pair plot	</a:t>
            </a:r>
            <a:endParaRPr lang="he-IL" dirty="0"/>
          </a:p>
        </p:txBody>
      </p:sp>
      <p:pic>
        <p:nvPicPr>
          <p:cNvPr id="6146" name="Picture 2">
            <a:extLst>
              <a:ext uri="{FF2B5EF4-FFF2-40B4-BE49-F238E27FC236}">
                <a16:creationId xmlns:a16="http://schemas.microsoft.com/office/drawing/2014/main" id="{06D377F7-9829-E43D-2D75-CD38EBBF4A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3538" y="1923126"/>
            <a:ext cx="6962775" cy="46767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961C67AD-3508-549D-0906-B2A9A9D9591E}"/>
              </a:ext>
            </a:extLst>
          </p:cNvPr>
          <p:cNvPicPr>
            <a:picLocks noChangeAspect="1"/>
          </p:cNvPicPr>
          <p:nvPr/>
        </p:nvPicPr>
        <p:blipFill>
          <a:blip r:embed="rId4"/>
          <a:stretch>
            <a:fillRect/>
          </a:stretch>
        </p:blipFill>
        <p:spPr>
          <a:xfrm>
            <a:off x="838200" y="2905664"/>
            <a:ext cx="3816414" cy="1993881"/>
          </a:xfrm>
          <a:prstGeom prst="rect">
            <a:avLst/>
          </a:prstGeom>
        </p:spPr>
      </p:pic>
    </p:spTree>
    <p:extLst>
      <p:ext uri="{BB962C8B-B14F-4D97-AF65-F5344CB8AC3E}">
        <p14:creationId xmlns:p14="http://schemas.microsoft.com/office/powerpoint/2010/main" val="3766255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562A0-F674-5A16-604A-E689D4109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99021-292B-6250-0C2B-BB5A8C40755B}"/>
              </a:ext>
            </a:extLst>
          </p:cNvPr>
          <p:cNvSpPr>
            <a:spLocks noGrp="1"/>
          </p:cNvSpPr>
          <p:nvPr>
            <p:ph type="title"/>
          </p:nvPr>
        </p:nvSpPr>
        <p:spPr/>
        <p:txBody>
          <a:bodyPr/>
          <a:lstStyle/>
          <a:p>
            <a:r>
              <a:rPr lang="en-US" dirty="0"/>
              <a:t>Bayesian p-value</a:t>
            </a:r>
          </a:p>
        </p:txBody>
      </p:sp>
      <p:sp>
        <p:nvSpPr>
          <p:cNvPr id="3" name="Content Placeholder 2">
            <a:extLst>
              <a:ext uri="{FF2B5EF4-FFF2-40B4-BE49-F238E27FC236}">
                <a16:creationId xmlns:a16="http://schemas.microsoft.com/office/drawing/2014/main" id="{98A79B4F-CA0E-6A61-6212-2DCDF5014286}"/>
              </a:ext>
            </a:extLst>
          </p:cNvPr>
          <p:cNvSpPr>
            <a:spLocks noGrp="1"/>
          </p:cNvSpPr>
          <p:nvPr>
            <p:ph idx="1"/>
          </p:nvPr>
        </p:nvSpPr>
        <p:spPr/>
        <p:txBody>
          <a:bodyPr>
            <a:normAutofit/>
          </a:bodyPr>
          <a:lstStyle/>
          <a:p>
            <a:r>
              <a:rPr lang="en-US" dirty="0"/>
              <a:t>Based on posterior predictive samples</a:t>
            </a:r>
          </a:p>
          <a:p>
            <a:r>
              <a:rPr lang="en-US" dirty="0"/>
              <a:t>For each posterior predictive dataset, we calculate the same statistic as in the observed data. </a:t>
            </a:r>
          </a:p>
          <a:p>
            <a:r>
              <a:rPr lang="en-US" dirty="0"/>
              <a:t>Then we compare the observed statistic to the posterior predictive sampling distribution. </a:t>
            </a:r>
          </a:p>
        </p:txBody>
      </p:sp>
    </p:spTree>
    <p:extLst>
      <p:ext uri="{BB962C8B-B14F-4D97-AF65-F5344CB8AC3E}">
        <p14:creationId xmlns:p14="http://schemas.microsoft.com/office/powerpoint/2010/main" val="300499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75F7D-C5B2-B579-9944-0031E6B75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7330D-E573-2562-0DA5-AF3197244997}"/>
              </a:ext>
            </a:extLst>
          </p:cNvPr>
          <p:cNvSpPr>
            <a:spLocks noGrp="1"/>
          </p:cNvSpPr>
          <p:nvPr>
            <p:ph type="title"/>
          </p:nvPr>
        </p:nvSpPr>
        <p:spPr/>
        <p:txBody>
          <a:bodyPr/>
          <a:lstStyle/>
          <a:p>
            <a:r>
              <a:rPr lang="en-US" dirty="0"/>
              <a:t>Bayesian p-value</a:t>
            </a:r>
          </a:p>
        </p:txBody>
      </p:sp>
      <p:sp>
        <p:nvSpPr>
          <p:cNvPr id="3" name="Content Placeholder 2">
            <a:extLst>
              <a:ext uri="{FF2B5EF4-FFF2-40B4-BE49-F238E27FC236}">
                <a16:creationId xmlns:a16="http://schemas.microsoft.com/office/drawing/2014/main" id="{0C64D45B-AFAF-26A4-8FA5-0CB4D12F8110}"/>
              </a:ext>
            </a:extLst>
          </p:cNvPr>
          <p:cNvSpPr>
            <a:spLocks noGrp="1"/>
          </p:cNvSpPr>
          <p:nvPr>
            <p:ph idx="1"/>
          </p:nvPr>
        </p:nvSpPr>
        <p:spPr/>
        <p:txBody>
          <a:bodyPr>
            <a:normAutofit/>
          </a:bodyPr>
          <a:lstStyle/>
          <a:p>
            <a:r>
              <a:rPr lang="en-US" dirty="0"/>
              <a:t>Similarity to frequentist p-values: </a:t>
            </a:r>
          </a:p>
          <a:p>
            <a:pPr lvl="1"/>
            <a:r>
              <a:rPr lang="en-US" dirty="0"/>
              <a:t>Both ask whether the observed data are extreme relative to a reference distribution. </a:t>
            </a:r>
          </a:p>
          <a:p>
            <a:r>
              <a:rPr lang="en-US" dirty="0"/>
              <a:t>Difference from frequentist p-values: </a:t>
            </a:r>
          </a:p>
          <a:p>
            <a:pPr lvl="1"/>
            <a:r>
              <a:rPr lang="en-US" dirty="0"/>
              <a:t>Frequentist p-values integrate the null sampling distribution. </a:t>
            </a:r>
          </a:p>
          <a:p>
            <a:pPr lvl="1"/>
            <a:r>
              <a:rPr lang="en-US" dirty="0"/>
              <a:t>Bayesian p-values integrate, or sum over, the posterior predictive sampling distribution. </a:t>
            </a:r>
          </a:p>
          <a:p>
            <a:pPr lvl="1"/>
            <a:r>
              <a:rPr lang="en-US" dirty="0"/>
              <a:t>Bayesian p-values are used as a measure of fit, not as a significance decision.</a:t>
            </a:r>
          </a:p>
        </p:txBody>
      </p:sp>
    </p:spTree>
    <p:extLst>
      <p:ext uri="{BB962C8B-B14F-4D97-AF65-F5344CB8AC3E}">
        <p14:creationId xmlns:p14="http://schemas.microsoft.com/office/powerpoint/2010/main" val="22178166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EFF58-00F3-CFDF-38BC-D5E247C8B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8D8E6-C8C6-9F4B-B4FC-2EFBD4048417}"/>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26A92BB5-6AE1-05F4-5351-6D716492A4F8}"/>
              </a:ext>
            </a:extLst>
          </p:cNvPr>
          <p:cNvSpPr>
            <a:spLocks noGrp="1"/>
          </p:cNvSpPr>
          <p:nvPr>
            <p:ph idx="1"/>
          </p:nvPr>
        </p:nvSpPr>
        <p:spPr/>
        <p:txBody>
          <a:bodyPr>
            <a:normAutofit/>
          </a:bodyPr>
          <a:lstStyle/>
          <a:p>
            <a:r>
              <a:rPr lang="en-US" b="1" dirty="0"/>
              <a:t>How to interpret Bayesian p-values?</a:t>
            </a:r>
          </a:p>
          <a:p>
            <a:r>
              <a:rPr lang="en-US" dirty="0"/>
              <a:t>Values close to 0 or 1 may indicate that the model has difficulty reproducing that aspect of the observed data.</a:t>
            </a:r>
          </a:p>
          <a:p>
            <a:r>
              <a:rPr lang="en-US" dirty="0"/>
              <a:t>Values closer to the middle suggest that the observed statistic is not unusual under the fitted model.</a:t>
            </a:r>
          </a:p>
        </p:txBody>
      </p:sp>
    </p:spTree>
    <p:extLst>
      <p:ext uri="{BB962C8B-B14F-4D97-AF65-F5344CB8AC3E}">
        <p14:creationId xmlns:p14="http://schemas.microsoft.com/office/powerpoint/2010/main" val="18738760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D2679-7F34-F1E3-CA76-7ADF04CF7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1BBB3-119B-B2A2-2836-E2141E29E55A}"/>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53B30218-1269-A862-E858-5341094F4117}"/>
              </a:ext>
            </a:extLst>
          </p:cNvPr>
          <p:cNvSpPr>
            <a:spLocks noGrp="1"/>
          </p:cNvSpPr>
          <p:nvPr>
            <p:ph idx="1"/>
          </p:nvPr>
        </p:nvSpPr>
        <p:spPr>
          <a:xfrm>
            <a:off x="838200" y="1529411"/>
            <a:ext cx="10515600" cy="4351338"/>
          </a:xfrm>
        </p:spPr>
        <p:txBody>
          <a:bodyPr/>
          <a:lstStyle/>
          <a:p>
            <a:r>
              <a:rPr lang="en-US" b="1" dirty="0"/>
              <a:t>Bayesian p-value – sample mean</a:t>
            </a:r>
          </a:p>
        </p:txBody>
      </p:sp>
      <p:pic>
        <p:nvPicPr>
          <p:cNvPr id="6" name="Picture 5">
            <a:extLst>
              <a:ext uri="{FF2B5EF4-FFF2-40B4-BE49-F238E27FC236}">
                <a16:creationId xmlns:a16="http://schemas.microsoft.com/office/drawing/2014/main" id="{40C8AE20-46EA-D5E5-7567-E11657A110BA}"/>
              </a:ext>
            </a:extLst>
          </p:cNvPr>
          <p:cNvPicPr>
            <a:picLocks noChangeAspect="1"/>
          </p:cNvPicPr>
          <p:nvPr/>
        </p:nvPicPr>
        <p:blipFill>
          <a:blip r:embed="rId3"/>
          <a:stretch>
            <a:fillRect/>
          </a:stretch>
        </p:blipFill>
        <p:spPr>
          <a:xfrm>
            <a:off x="2932074" y="2220812"/>
            <a:ext cx="6771484" cy="3963532"/>
          </a:xfrm>
          <a:prstGeom prst="rect">
            <a:avLst/>
          </a:prstGeom>
        </p:spPr>
      </p:pic>
    </p:spTree>
    <p:extLst>
      <p:ext uri="{BB962C8B-B14F-4D97-AF65-F5344CB8AC3E}">
        <p14:creationId xmlns:p14="http://schemas.microsoft.com/office/powerpoint/2010/main" val="3735827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48279-0729-34E5-8B1E-82AD4F362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07D9E-64A7-68EC-B58B-4414DD530547}"/>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90E499F4-7E77-7848-529C-E14E20400D21}"/>
              </a:ext>
            </a:extLst>
          </p:cNvPr>
          <p:cNvSpPr>
            <a:spLocks noGrp="1"/>
          </p:cNvSpPr>
          <p:nvPr>
            <p:ph idx="1"/>
          </p:nvPr>
        </p:nvSpPr>
        <p:spPr>
          <a:xfrm>
            <a:off x="838200" y="1529411"/>
            <a:ext cx="10515600" cy="4351338"/>
          </a:xfrm>
        </p:spPr>
        <p:txBody>
          <a:bodyPr/>
          <a:lstStyle/>
          <a:p>
            <a:r>
              <a:rPr lang="en-US" b="1" dirty="0"/>
              <a:t>Bayesian p-value – sample mean</a:t>
            </a:r>
          </a:p>
        </p:txBody>
      </p:sp>
      <p:pic>
        <p:nvPicPr>
          <p:cNvPr id="6" name="Picture 5">
            <a:extLst>
              <a:ext uri="{FF2B5EF4-FFF2-40B4-BE49-F238E27FC236}">
                <a16:creationId xmlns:a16="http://schemas.microsoft.com/office/drawing/2014/main" id="{C6BA51B3-25B5-042C-31DC-0F7F147DDDB5}"/>
              </a:ext>
            </a:extLst>
          </p:cNvPr>
          <p:cNvPicPr>
            <a:picLocks noChangeAspect="1"/>
          </p:cNvPicPr>
          <p:nvPr/>
        </p:nvPicPr>
        <p:blipFill>
          <a:blip r:embed="rId3"/>
          <a:stretch>
            <a:fillRect/>
          </a:stretch>
        </p:blipFill>
        <p:spPr>
          <a:xfrm>
            <a:off x="2085415" y="2283082"/>
            <a:ext cx="8021169" cy="4267796"/>
          </a:xfrm>
          <a:prstGeom prst="rect">
            <a:avLst/>
          </a:prstGeom>
        </p:spPr>
      </p:pic>
    </p:spTree>
    <p:extLst>
      <p:ext uri="{BB962C8B-B14F-4D97-AF65-F5344CB8AC3E}">
        <p14:creationId xmlns:p14="http://schemas.microsoft.com/office/powerpoint/2010/main" val="2899013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16518-7213-F90B-CE4F-F5C506BA7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A44ED-7FE3-E8B6-7463-43600449A153}"/>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4ABA0DCE-2FED-26C5-8C62-E723B380E6C2}"/>
              </a:ext>
            </a:extLst>
          </p:cNvPr>
          <p:cNvSpPr>
            <a:spLocks noGrp="1"/>
          </p:cNvSpPr>
          <p:nvPr>
            <p:ph idx="1"/>
          </p:nvPr>
        </p:nvSpPr>
        <p:spPr>
          <a:xfrm>
            <a:off x="838200" y="1529411"/>
            <a:ext cx="10515600" cy="4351338"/>
          </a:xfrm>
        </p:spPr>
        <p:txBody>
          <a:bodyPr/>
          <a:lstStyle/>
          <a:p>
            <a:r>
              <a:rPr lang="en-US" b="1" dirty="0"/>
              <a:t>Bayesian p-value -sample SD</a:t>
            </a:r>
          </a:p>
        </p:txBody>
      </p:sp>
      <p:pic>
        <p:nvPicPr>
          <p:cNvPr id="5" name="Picture 4">
            <a:extLst>
              <a:ext uri="{FF2B5EF4-FFF2-40B4-BE49-F238E27FC236}">
                <a16:creationId xmlns:a16="http://schemas.microsoft.com/office/drawing/2014/main" id="{70DC3B9F-F81B-5145-4D86-4B74727EB742}"/>
              </a:ext>
            </a:extLst>
          </p:cNvPr>
          <p:cNvPicPr>
            <a:picLocks noChangeAspect="1"/>
          </p:cNvPicPr>
          <p:nvPr/>
        </p:nvPicPr>
        <p:blipFill>
          <a:blip r:embed="rId2"/>
          <a:stretch>
            <a:fillRect/>
          </a:stretch>
        </p:blipFill>
        <p:spPr>
          <a:xfrm>
            <a:off x="2615709" y="2329250"/>
            <a:ext cx="8230886" cy="3742567"/>
          </a:xfrm>
          <a:prstGeom prst="rect">
            <a:avLst/>
          </a:prstGeom>
        </p:spPr>
      </p:pic>
    </p:spTree>
    <p:extLst>
      <p:ext uri="{BB962C8B-B14F-4D97-AF65-F5344CB8AC3E}">
        <p14:creationId xmlns:p14="http://schemas.microsoft.com/office/powerpoint/2010/main" val="27202620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4F693-36B2-3392-C050-066DA104C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D98BC-1D8F-425A-EF96-39108AA9E036}"/>
              </a:ext>
            </a:extLst>
          </p:cNvPr>
          <p:cNvSpPr>
            <a:spLocks noGrp="1"/>
          </p:cNvSpPr>
          <p:nvPr>
            <p:ph type="title"/>
          </p:nvPr>
        </p:nvSpPr>
        <p:spPr/>
        <p:txBody>
          <a:bodyPr/>
          <a:lstStyle/>
          <a:p>
            <a:r>
              <a:rPr lang="en-US" dirty="0"/>
              <a:t>Normal Distribution Bayesian Model</a:t>
            </a:r>
            <a:endParaRPr lang="he-IL" dirty="0"/>
          </a:p>
        </p:txBody>
      </p:sp>
      <p:sp>
        <p:nvSpPr>
          <p:cNvPr id="3" name="Content Placeholder 2">
            <a:extLst>
              <a:ext uri="{FF2B5EF4-FFF2-40B4-BE49-F238E27FC236}">
                <a16:creationId xmlns:a16="http://schemas.microsoft.com/office/drawing/2014/main" id="{B6B1DA2E-0F07-3CCF-2E32-B8173589BBD1}"/>
              </a:ext>
            </a:extLst>
          </p:cNvPr>
          <p:cNvSpPr>
            <a:spLocks noGrp="1"/>
          </p:cNvSpPr>
          <p:nvPr>
            <p:ph idx="1"/>
          </p:nvPr>
        </p:nvSpPr>
        <p:spPr>
          <a:xfrm>
            <a:off x="838200" y="1529411"/>
            <a:ext cx="10515600" cy="4351338"/>
          </a:xfrm>
        </p:spPr>
        <p:txBody>
          <a:bodyPr/>
          <a:lstStyle/>
          <a:p>
            <a:r>
              <a:rPr lang="en-US" b="1" dirty="0"/>
              <a:t>Bayesian p-value - sample SD </a:t>
            </a:r>
          </a:p>
        </p:txBody>
      </p:sp>
      <p:pic>
        <p:nvPicPr>
          <p:cNvPr id="6" name="Picture 5">
            <a:extLst>
              <a:ext uri="{FF2B5EF4-FFF2-40B4-BE49-F238E27FC236}">
                <a16:creationId xmlns:a16="http://schemas.microsoft.com/office/drawing/2014/main" id="{FFA8AD25-6D96-092F-9FA5-EE9BF48F6616}"/>
              </a:ext>
            </a:extLst>
          </p:cNvPr>
          <p:cNvPicPr>
            <a:picLocks noChangeAspect="1"/>
          </p:cNvPicPr>
          <p:nvPr/>
        </p:nvPicPr>
        <p:blipFill>
          <a:blip r:embed="rId3"/>
          <a:stretch>
            <a:fillRect/>
          </a:stretch>
        </p:blipFill>
        <p:spPr>
          <a:xfrm>
            <a:off x="2175915" y="2177448"/>
            <a:ext cx="7840169" cy="4315427"/>
          </a:xfrm>
          <a:prstGeom prst="rect">
            <a:avLst/>
          </a:prstGeom>
        </p:spPr>
      </p:pic>
    </p:spTree>
    <p:extLst>
      <p:ext uri="{BB962C8B-B14F-4D97-AF65-F5344CB8AC3E}">
        <p14:creationId xmlns:p14="http://schemas.microsoft.com/office/powerpoint/2010/main" val="39331824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4FC51-3AC5-C619-6D13-5BAED7602345}"/>
              </a:ext>
            </a:extLst>
          </p:cNvPr>
          <p:cNvSpPr>
            <a:spLocks noGrp="1"/>
          </p:cNvSpPr>
          <p:nvPr>
            <p:ph type="title"/>
          </p:nvPr>
        </p:nvSpPr>
        <p:spPr>
          <a:xfrm>
            <a:off x="838200" y="2675731"/>
            <a:ext cx="10515600" cy="1325563"/>
          </a:xfrm>
        </p:spPr>
        <p:txBody>
          <a:bodyPr/>
          <a:lstStyle/>
          <a:p>
            <a:pPr algn="ctr"/>
            <a:r>
              <a:rPr lang="en-US" dirty="0"/>
              <a:t>Paired vs. Unpaired Data</a:t>
            </a:r>
            <a:endParaRPr lang="he-IL" dirty="0"/>
          </a:p>
        </p:txBody>
      </p:sp>
    </p:spTree>
    <p:extLst>
      <p:ext uri="{BB962C8B-B14F-4D97-AF65-F5344CB8AC3E}">
        <p14:creationId xmlns:p14="http://schemas.microsoft.com/office/powerpoint/2010/main" val="12977999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904E8-A17F-0C78-1A88-CF2C6B833A5F}"/>
              </a:ext>
            </a:extLst>
          </p:cNvPr>
          <p:cNvSpPr>
            <a:spLocks noGrp="1"/>
          </p:cNvSpPr>
          <p:nvPr>
            <p:ph type="title"/>
          </p:nvPr>
        </p:nvSpPr>
        <p:spPr/>
        <p:txBody>
          <a:bodyPr/>
          <a:lstStyle/>
          <a:p>
            <a:r>
              <a:rPr lang="en-US" dirty="0"/>
              <a:t>Paired Data</a:t>
            </a:r>
            <a:endParaRPr lang="he-I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20BF15B-FC3D-0AF0-F16F-49FB00E962E1}"/>
                  </a:ext>
                </a:extLst>
              </p:cNvPr>
              <p:cNvSpPr>
                <a:spLocks noGrp="1"/>
              </p:cNvSpPr>
              <p:nvPr>
                <p:ph idx="1"/>
              </p:nvPr>
            </p:nvSpPr>
            <p:spPr/>
            <p:txBody>
              <a:bodyPr>
                <a:normAutofit/>
              </a:bodyPr>
              <a:lstStyle/>
              <a:p>
                <a:r>
                  <a:rPr lang="en-US" dirty="0"/>
                  <a:t>Two measurements belong to the same participant:</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𝑦</m:t>
                          </m:r>
                        </m:e>
                        <m:sub>
                          <m:r>
                            <a:rPr lang="en-US" i="1" dirty="0" smtClean="0">
                              <a:latin typeface="Cambria Math" panose="02040503050406030204" pitchFamily="18" charset="0"/>
                            </a:rPr>
                            <m:t>𝑖</m:t>
                          </m:r>
                          <m:r>
                            <a:rPr lang="en-US" b="0" i="1" dirty="0" smtClean="0">
                              <a:latin typeface="Cambria Math" panose="02040503050406030204" pitchFamily="18" charset="0"/>
                            </a:rPr>
                            <m:t>,</m:t>
                          </m:r>
                          <m:r>
                            <a:rPr lang="en-US" i="1" dirty="0">
                              <a:latin typeface="Cambria Math" panose="02040503050406030204" pitchFamily="18" charset="0"/>
                            </a:rPr>
                            <m:t>𝑏𝑒𝑓𝑜𝑟𝑒</m:t>
                          </m:r>
                        </m:sub>
                      </m:sSub>
                      <m:r>
                        <a:rPr lang="en-US" b="0"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𝑦</m:t>
                          </m:r>
                        </m:e>
                        <m:sub>
                          <m:r>
                            <a:rPr lang="en-US" i="1" dirty="0" err="1" smtClean="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𝑎𝑓𝑡𝑒𝑟</m:t>
                          </m:r>
                        </m:sub>
                      </m:sSub>
                      <m:r>
                        <a:rPr lang="en-US" i="1" dirty="0" smtClean="0">
                          <a:latin typeface="Cambria Math" panose="02040503050406030204" pitchFamily="18" charset="0"/>
                        </a:rPr>
                        <m:t>	</m:t>
                      </m:r>
                      <m:r>
                        <a:rPr lang="en-US" i="1" dirty="0" smtClean="0">
                          <a:latin typeface="Cambria Math" panose="02040503050406030204" pitchFamily="18" charset="0"/>
                        </a:rPr>
                        <m:t>​</m:t>
                      </m:r>
                    </m:oMath>
                  </m:oMathPara>
                </a14:m>
                <a:endParaRPr lang="en-US" dirty="0"/>
              </a:p>
              <a:p>
                <a:endParaRPr lang="en-US" dirty="0"/>
              </a:p>
              <a:p>
                <a:r>
                  <a:rPr lang="en-US" dirty="0"/>
                  <a:t>We can convert to change scores:</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𝑐</m:t>
                      </m:r>
                      <m:r>
                        <a:rPr lang="en-US" i="1" dirty="0" smtClean="0">
                          <a:latin typeface="Cambria Math" panose="02040503050406030204" pitchFamily="18" charset="0"/>
                        </a:rPr>
                        <m:t>h</m:t>
                      </m:r>
                      <m:r>
                        <a:rPr lang="en-US" i="1" dirty="0" smtClean="0">
                          <a:latin typeface="Cambria Math" panose="02040503050406030204" pitchFamily="18" charset="0"/>
                        </a:rPr>
                        <m:t>𝑎𝑛𝑔</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𝑒</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𝑏𝑒𝑓𝑜𝑟𝑒</m:t>
                          </m:r>
                        </m:sub>
                      </m:sSub>
                      <m:r>
                        <a:rPr lang="en-US"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𝑎𝑓𝑡𝑒𝑟</m:t>
                          </m:r>
                        </m:sub>
                      </m:sSub>
                      <m:r>
                        <a:rPr lang="en-US" i="1" dirty="0" smtClean="0">
                          <a:latin typeface="Cambria Math" panose="02040503050406030204" pitchFamily="18" charset="0"/>
                        </a:rPr>
                        <m:t>	</m:t>
                      </m:r>
                      <m:r>
                        <a:rPr lang="en-US" i="1" dirty="0" smtClean="0">
                          <a:latin typeface="Cambria Math" panose="02040503050406030204" pitchFamily="18" charset="0"/>
                        </a:rPr>
                        <m:t>​</m:t>
                      </m:r>
                    </m:oMath>
                  </m:oMathPara>
                </a14:m>
                <a:endParaRPr lang="en-US" dirty="0"/>
              </a:p>
              <a:p>
                <a:r>
                  <a:rPr lang="en-US" dirty="0"/>
                  <a:t>And model the changes:</a:t>
                </a:r>
              </a:p>
              <a:p>
                <a:pPr marL="0" indent="0">
                  <a:buNone/>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𝑐</m:t>
                      </m:r>
                      <m:r>
                        <a:rPr lang="en-US" i="1" dirty="0">
                          <a:latin typeface="Cambria Math" panose="02040503050406030204" pitchFamily="18" charset="0"/>
                        </a:rPr>
                        <m:t>h</m:t>
                      </m:r>
                      <m:r>
                        <a:rPr lang="en-US" i="1" dirty="0">
                          <a:latin typeface="Cambria Math" panose="02040503050406030204" pitchFamily="18" charset="0"/>
                        </a:rPr>
                        <m:t>𝑎𝑛𝑔</m:t>
                      </m:r>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𝑖</m:t>
                          </m:r>
                        </m:sub>
                      </m:sSub>
                      <m:r>
                        <a:rPr lang="en-US" i="1" dirty="0">
                          <a:latin typeface="Cambria Math" panose="02040503050406030204" pitchFamily="18" charset="0"/>
                        </a:rPr>
                        <m:t> </m:t>
                      </m:r>
                      <m:r>
                        <a:rPr lang="en-US" b="0" i="1" dirty="0" smtClean="0">
                          <a:latin typeface="Cambria Math" panose="02040503050406030204" pitchFamily="18" charset="0"/>
                        </a:rPr>
                        <m:t>~</m:t>
                      </m:r>
                      <m:r>
                        <m:rPr>
                          <m:nor/>
                        </m:rPr>
                        <a:rPr lang="en-US" b="0" i="0" dirty="0" smtClean="0">
                          <a:latin typeface="Cambria Math" panose="02040503050406030204" pitchFamily="18" charset="0"/>
                        </a:rPr>
                        <m:t> </m:t>
                      </m:r>
                      <m:r>
                        <m:rPr>
                          <m:sty m:val="p"/>
                        </m:rPr>
                        <a:rPr lang="en-US" dirty="0">
                          <a:latin typeface="Cambria Math" panose="02040503050406030204" pitchFamily="18" charset="0"/>
                        </a:rPr>
                        <m:t>Normal</m:t>
                      </m:r>
                      <m:r>
                        <a:rPr lang="en-US" dirty="0">
                          <a:latin typeface="Cambria Math" panose="02040503050406030204" pitchFamily="18" charset="0"/>
                        </a:rPr>
                        <m:t>(</m:t>
                      </m:r>
                      <m:sSub>
                        <m:sSubPr>
                          <m:ctrlPr>
                            <a:rPr lang="en-US" b="0" i="1" dirty="0" smtClean="0">
                              <a:latin typeface="Cambria Math" panose="02040503050406030204" pitchFamily="18" charset="0"/>
                            </a:rPr>
                          </m:ctrlPr>
                        </m:sSubPr>
                        <m:e>
                          <m:r>
                            <m:rPr>
                              <m:sty m:val="p"/>
                            </m:rPr>
                            <a:rPr lang="el-GR" dirty="0" smtClean="0">
                              <a:latin typeface="Cambria Math" panose="02040503050406030204" pitchFamily="18" charset="0"/>
                            </a:rPr>
                            <m:t>μ</m:t>
                          </m:r>
                        </m:e>
                        <m:sub>
                          <m:r>
                            <m:rPr>
                              <m:sty m:val="p"/>
                            </m:rPr>
                            <a:rPr lang="en-US" dirty="0">
                              <a:latin typeface="Cambria Math" panose="02040503050406030204" pitchFamily="18" charset="0"/>
                            </a:rPr>
                            <m:t>chang</m:t>
                          </m:r>
                          <m:r>
                            <m:rPr>
                              <m:sty m:val="p"/>
                            </m:rPr>
                            <a:rPr lang="en-US" b="0" i="0" dirty="0" smtClean="0">
                              <a:latin typeface="Cambria Math" panose="02040503050406030204" pitchFamily="18" charset="0"/>
                            </a:rPr>
                            <m:t>e</m:t>
                          </m:r>
                        </m:sub>
                      </m:sSub>
                      <m:r>
                        <a:rPr lang="en-US" dirty="0">
                          <a:latin typeface="Cambria Math" panose="02040503050406030204" pitchFamily="18" charset="0"/>
                        </a:rPr>
                        <m:t>	</m:t>
                      </m:r>
                      <m:r>
                        <a:rPr lang="en-US" dirty="0">
                          <a:latin typeface="Cambria Math" panose="02040503050406030204" pitchFamily="18" charset="0"/>
                        </a:rPr>
                        <m:t>​,</m:t>
                      </m:r>
                      <m:sSub>
                        <m:sSubPr>
                          <m:ctrlPr>
                            <a:rPr lang="en-US" b="0" i="1" dirty="0" smtClean="0">
                              <a:latin typeface="Cambria Math" panose="02040503050406030204" pitchFamily="18" charset="0"/>
                            </a:rPr>
                          </m:ctrlPr>
                        </m:sSubPr>
                        <m:e>
                          <m:r>
                            <m:rPr>
                              <m:sty m:val="p"/>
                            </m:rPr>
                            <a:rPr lang="el-GR" dirty="0">
                              <a:latin typeface="Cambria Math" panose="02040503050406030204" pitchFamily="18" charset="0"/>
                            </a:rPr>
                            <m:t>σ</m:t>
                          </m:r>
                        </m:e>
                        <m:sub>
                          <m:r>
                            <m:rPr>
                              <m:sty m:val="p"/>
                            </m:rPr>
                            <a:rPr lang="en-US" dirty="0">
                              <a:latin typeface="Cambria Math" panose="02040503050406030204" pitchFamily="18" charset="0"/>
                            </a:rPr>
                            <m:t>change</m:t>
                          </m:r>
                        </m:sub>
                      </m:sSub>
                      <m:r>
                        <a:rPr lang="en-US" dirty="0">
                          <a:latin typeface="Cambria Math" panose="02040503050406030204" pitchFamily="18" charset="0"/>
                        </a:rPr>
                        <m:t>​)</m:t>
                      </m:r>
                    </m:oMath>
                  </m:oMathPara>
                </a14:m>
                <a:endParaRPr lang="en-US" dirty="0"/>
              </a:p>
            </p:txBody>
          </p:sp>
        </mc:Choice>
        <mc:Fallback>
          <p:sp>
            <p:nvSpPr>
              <p:cNvPr id="3" name="Content Placeholder 2">
                <a:extLst>
                  <a:ext uri="{FF2B5EF4-FFF2-40B4-BE49-F238E27FC236}">
                    <a16:creationId xmlns:a16="http://schemas.microsoft.com/office/drawing/2014/main" id="{C20BF15B-FC3D-0AF0-F16F-49FB00E962E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2895610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08D0C-ABDD-17AD-C2DE-E3AE33B3E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1DE865-9C9D-B33E-023A-EEE0B0C8930D}"/>
              </a:ext>
            </a:extLst>
          </p:cNvPr>
          <p:cNvSpPr>
            <a:spLocks noGrp="1"/>
          </p:cNvSpPr>
          <p:nvPr>
            <p:ph type="title"/>
          </p:nvPr>
        </p:nvSpPr>
        <p:spPr/>
        <p:txBody>
          <a:bodyPr/>
          <a:lstStyle/>
          <a:p>
            <a:r>
              <a:rPr lang="en-US" dirty="0"/>
              <a:t>Unpaired Data</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677B5C-82A6-F352-8C34-8F8A7B93F071}"/>
                  </a:ext>
                </a:extLst>
              </p:cNvPr>
              <p:cNvSpPr>
                <a:spLocks noGrp="1"/>
              </p:cNvSpPr>
              <p:nvPr>
                <p:ph idx="1"/>
              </p:nvPr>
            </p:nvSpPr>
            <p:spPr/>
            <p:txBody>
              <a:bodyPr>
                <a:normAutofit/>
              </a:bodyPr>
              <a:lstStyle/>
              <a:p>
                <a:r>
                  <a:rPr lang="en-US" b="1" dirty="0"/>
                  <a:t>Unpaired data</a:t>
                </a:r>
              </a:p>
              <a:p>
                <a:r>
                  <a:rPr lang="en-US" dirty="0"/>
                  <a:t>Different participants belong to different groups:</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m:t>
                      </m:r>
                      <m:r>
                        <a:rPr lang="en-US" i="1" dirty="0" smtClean="0">
                          <a:latin typeface="Cambria Math" panose="02040503050406030204" pitchFamily="18" charset="0"/>
                        </a:rPr>
                        <m:t>𝑁𝑜𝑟𝑚𝑎𝑙</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l-GR" i="1" dirty="0" smtClean="0">
                              <a:latin typeface="Cambria Math" panose="02040503050406030204" pitchFamily="18" charset="0"/>
                            </a:rPr>
                            <m:t>𝜇</m:t>
                          </m:r>
                        </m:e>
                        <m:sub>
                          <m:r>
                            <a:rPr lang="en-US" i="1" dirty="0" smtClean="0">
                              <a:latin typeface="Cambria Math" panose="02040503050406030204" pitchFamily="18" charset="0"/>
                            </a:rPr>
                            <m:t>𝑔𝑟𝑜𝑢𝑝</m:t>
                          </m:r>
                          <m:d>
                            <m:dPr>
                              <m:begChr m:val="["/>
                              <m:endChr m:val="]"/>
                              <m:ctrlPr>
                                <a:rPr lang="en-US" i="1" dirty="0" smtClean="0">
                                  <a:latin typeface="Cambria Math" panose="02040503050406030204" pitchFamily="18" charset="0"/>
                                </a:rPr>
                              </m:ctrlPr>
                            </m:dPr>
                            <m:e>
                              <m:r>
                                <a:rPr lang="en-US" i="1" dirty="0" err="1" smtClean="0">
                                  <a:latin typeface="Cambria Math" panose="02040503050406030204" pitchFamily="18" charset="0"/>
                                </a:rPr>
                                <m:t>𝑖</m:t>
                              </m:r>
                            </m:e>
                          </m:d>
                        </m:sub>
                      </m:sSub>
                      <m:r>
                        <a:rPr lang="en-US" i="1" dirty="0" smtClean="0">
                          <a:latin typeface="Cambria Math" panose="02040503050406030204" pitchFamily="18" charset="0"/>
                        </a:rPr>
                        <m:t>	</m:t>
                      </m:r>
                      <m:r>
                        <a:rPr lang="en-US" i="1" dirty="0" smtClean="0">
                          <a:latin typeface="Cambria Math" panose="02040503050406030204" pitchFamily="18" charset="0"/>
                        </a:rPr>
                        <m:t>​,</m:t>
                      </m:r>
                      <m:r>
                        <a:rPr lang="el-GR" i="1" dirty="0" smtClean="0">
                          <a:latin typeface="Cambria Math" panose="02040503050406030204" pitchFamily="18" charset="0"/>
                        </a:rPr>
                        <m:t>𝜎</m:t>
                      </m:r>
                      <m:r>
                        <a:rPr lang="el-GR" i="1" dirty="0"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80677B5C-82A6-F352-8C34-8F8A7B93F07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37524915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7B17F-78C9-B567-08AF-2BEFE9A95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FA412-F4C6-FE37-C1FD-30CBB20496A2}"/>
              </a:ext>
            </a:extLst>
          </p:cNvPr>
          <p:cNvSpPr>
            <a:spLocks noGrp="1"/>
          </p:cNvSpPr>
          <p:nvPr>
            <p:ph type="title"/>
          </p:nvPr>
        </p:nvSpPr>
        <p:spPr>
          <a:xfrm>
            <a:off x="838200" y="2675731"/>
            <a:ext cx="10515600" cy="1325563"/>
          </a:xfrm>
        </p:spPr>
        <p:txBody>
          <a:bodyPr/>
          <a:lstStyle/>
          <a:p>
            <a:pPr algn="ctr"/>
            <a:r>
              <a:rPr lang="en-US" dirty="0"/>
              <a:t>Bayesian Paired Model &amp; H</a:t>
            </a:r>
            <a:r>
              <a:rPr lang="he-IL" dirty="0"/>
              <a:t>ypothesis</a:t>
            </a:r>
            <a:r>
              <a:rPr lang="en-US" dirty="0"/>
              <a:t> testing</a:t>
            </a:r>
            <a:endParaRPr lang="he-IL" dirty="0"/>
          </a:p>
        </p:txBody>
      </p:sp>
    </p:spTree>
    <p:extLst>
      <p:ext uri="{BB962C8B-B14F-4D97-AF65-F5344CB8AC3E}">
        <p14:creationId xmlns:p14="http://schemas.microsoft.com/office/powerpoint/2010/main" val="42722639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AF915-06A4-94E2-7CF9-901715D1C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174C5-59ED-09E3-609A-158DCC099AA0}"/>
              </a:ext>
            </a:extLst>
          </p:cNvPr>
          <p:cNvSpPr>
            <a:spLocks noGrp="1"/>
          </p:cNvSpPr>
          <p:nvPr>
            <p:ph type="title"/>
          </p:nvPr>
        </p:nvSpPr>
        <p:spPr/>
        <p:txBody>
          <a:bodyPr/>
          <a:lstStyle/>
          <a:p>
            <a:r>
              <a:rPr lang="en-US" dirty="0"/>
              <a:t>Bayesian Paired Model</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DDD64D-3B19-7CCB-0236-63F934D7AC9E}"/>
                  </a:ext>
                </a:extLst>
              </p:cNvPr>
              <p:cNvSpPr>
                <a:spLocks noGrp="1"/>
              </p:cNvSpPr>
              <p:nvPr>
                <p:ph idx="1"/>
              </p:nvPr>
            </p:nvSpPr>
            <p:spPr/>
            <p:txBody>
              <a:bodyPr>
                <a:normAutofit fontScale="92500" lnSpcReduction="10000"/>
              </a:bodyPr>
              <a:lstStyle/>
              <a:p>
                <a:r>
                  <a:rPr lang="en-US" dirty="0"/>
                  <a:t>The food diet data are paired because each person was measured before and after six weeks.</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𝑐</m:t>
                      </m:r>
                      <m:r>
                        <a:rPr lang="en-US" i="1" dirty="0" smtClean="0">
                          <a:latin typeface="Cambria Math" panose="02040503050406030204" pitchFamily="18" charset="0"/>
                        </a:rPr>
                        <m:t>h</m:t>
                      </m:r>
                      <m:r>
                        <a:rPr lang="en-US" i="1" dirty="0" smtClean="0">
                          <a:latin typeface="Cambria Math" panose="02040503050406030204" pitchFamily="18" charset="0"/>
                        </a:rPr>
                        <m:t>𝑎𝑛𝑔</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𝑒</m:t>
                          </m:r>
                        </m:e>
                        <m:sub>
                          <m:r>
                            <a:rPr lang="en-US" i="1" dirty="0" err="1" smtClean="0">
                              <a:latin typeface="Cambria Math" panose="02040503050406030204" pitchFamily="18" charset="0"/>
                            </a:rPr>
                            <m:t>𝑖</m:t>
                          </m:r>
                        </m:sub>
                      </m:sSub>
                      <m:r>
                        <a:rPr lang="en-US" i="1" dirty="0" smtClean="0">
                          <a:latin typeface="Cambria Math" panose="02040503050406030204" pitchFamily="18" charset="0"/>
                        </a:rPr>
                        <m:t> = </m:t>
                      </m:r>
                      <m:r>
                        <a:rPr lang="en-US" i="1" dirty="0" smtClean="0">
                          <a:latin typeface="Cambria Math" panose="02040503050406030204" pitchFamily="18" charset="0"/>
                        </a:rPr>
                        <m:t>𝑎𝑓𝑡𝑒</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i="1" dirty="0" err="1" smtClean="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𝑏𝑒𝑓𝑜𝑟</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𝑒</m:t>
                          </m:r>
                        </m:e>
                        <m:sub>
                          <m:r>
                            <a:rPr lang="en-US" i="1" dirty="0" err="1" smtClean="0">
                              <a:latin typeface="Cambria Math" panose="02040503050406030204" pitchFamily="18" charset="0"/>
                            </a:rPr>
                            <m:t>𝑖</m:t>
                          </m:r>
                        </m:sub>
                      </m:sSub>
                    </m:oMath>
                  </m:oMathPara>
                </a14:m>
                <a:endParaRPr lang="en-US" dirty="0"/>
              </a:p>
              <a:p>
                <a:r>
                  <a:rPr lang="en-US" dirty="0"/>
                  <a:t>The paired question is:</a:t>
                </a:r>
              </a:p>
              <a:p>
                <a:pPr lvl="1"/>
                <a:r>
                  <a:rPr lang="en-US" sz="2600" dirty="0"/>
                  <a:t> Is the average within-person weight change different from zero?</a:t>
                </a:r>
              </a:p>
              <a:p>
                <a:r>
                  <a:rPr lang="he-IL" sz="2600" dirty="0" err="1"/>
                  <a:t>Null</a:t>
                </a:r>
                <a:r>
                  <a:rPr lang="he-IL" sz="2600" dirty="0"/>
                  <a:t> </a:t>
                </a:r>
                <a:r>
                  <a:rPr lang="en-US" sz="2600" dirty="0"/>
                  <a:t>h</a:t>
                </a:r>
                <a:r>
                  <a:rPr lang="he-IL" sz="2600" dirty="0"/>
                  <a:t>ypothesis</a:t>
                </a:r>
              </a:p>
              <a:p>
                <a:pPr marL="0" indent="0">
                  <a:buNone/>
                </a:pPr>
                <a14:m>
                  <m:oMathPara xmlns:m="http://schemas.openxmlformats.org/officeDocument/2006/math">
                    <m:oMathParaPr>
                      <m:jc m:val="centerGroup"/>
                    </m:oMathParaPr>
                    <m:oMath xmlns:m="http://schemas.openxmlformats.org/officeDocument/2006/math">
                      <m:sSub>
                        <m:sSubPr>
                          <m:ctrlPr>
                            <a:rPr lang="en-US" sz="2600" i="1" dirty="0" smtClean="0">
                              <a:latin typeface="Cambria Math" panose="02040503050406030204" pitchFamily="18" charset="0"/>
                            </a:rPr>
                          </m:ctrlPr>
                        </m:sSubPr>
                        <m:e>
                          <m:r>
                            <a:rPr lang="en-US" sz="2600" i="1" dirty="0" smtClean="0">
                              <a:latin typeface="Cambria Math" panose="02040503050406030204" pitchFamily="18" charset="0"/>
                            </a:rPr>
                            <m:t>𝐻</m:t>
                          </m:r>
                        </m:e>
                        <m:sub>
                          <m:r>
                            <a:rPr lang="en-US" sz="2600" i="1" dirty="0" smtClean="0">
                              <a:latin typeface="Cambria Math" panose="02040503050406030204" pitchFamily="18" charset="0"/>
                            </a:rPr>
                            <m:t>0</m:t>
                          </m:r>
                        </m:sub>
                      </m:sSub>
                      <m:r>
                        <a:rPr lang="en-US" sz="2600" i="1" dirty="0" smtClean="0">
                          <a:latin typeface="Cambria Math" panose="02040503050406030204" pitchFamily="18" charset="0"/>
                        </a:rPr>
                        <m:t>: </m:t>
                      </m:r>
                      <m:sSub>
                        <m:sSubPr>
                          <m:ctrlPr>
                            <a:rPr lang="he-IL" sz="2600" i="1">
                              <a:latin typeface="Cambria Math" panose="02040503050406030204" pitchFamily="18" charset="0"/>
                            </a:rPr>
                          </m:ctrlPr>
                        </m:sSubPr>
                        <m:e>
                          <m:r>
                            <m:rPr>
                              <m:sty m:val="p"/>
                            </m:rPr>
                            <a:rPr lang="he-IL" sz="2600">
                              <a:latin typeface="Cambria Math" panose="02040503050406030204" pitchFamily="18" charset="0"/>
                            </a:rPr>
                            <m:t>Δ</m:t>
                          </m:r>
                        </m:e>
                        <m:sub>
                          <m:r>
                            <a:rPr lang="he-IL" sz="2600" i="1">
                              <a:latin typeface="Cambria Math" panose="02040503050406030204" pitchFamily="18" charset="0"/>
                            </a:rPr>
                            <m:t>𝜇</m:t>
                          </m:r>
                        </m:sub>
                      </m:sSub>
                      <m:r>
                        <a:rPr lang="he-IL" sz="2600">
                          <a:latin typeface="Cambria Math" panose="02040503050406030204" pitchFamily="18" charset="0"/>
                        </a:rPr>
                        <m:t>=</m:t>
                      </m:r>
                      <m:r>
                        <a:rPr lang="he-IL" sz="2600">
                          <a:latin typeface="Cambria Math" panose="02040503050406030204" pitchFamily="18" charset="0"/>
                        </a:rPr>
                        <m:t>0</m:t>
                      </m:r>
                    </m:oMath>
                  </m:oMathPara>
                </a14:m>
                <a:endParaRPr lang="he-IL" sz="2600" dirty="0"/>
              </a:p>
              <a:p>
                <a:r>
                  <a:rPr lang="en-US" sz="2600" dirty="0"/>
                  <a:t>Alternative h</a:t>
                </a:r>
                <a:r>
                  <a:rPr lang="he-IL" sz="2600" dirty="0"/>
                  <a:t>ypothesis</a:t>
                </a:r>
                <a:endParaRPr lang="en-US" sz="2600" dirty="0"/>
              </a:p>
              <a:p>
                <a:pPr marL="0" indent="0">
                  <a:buNone/>
                </a:pPr>
                <a14:m>
                  <m:oMathPara xmlns:m="http://schemas.openxmlformats.org/officeDocument/2006/math">
                    <m:oMathParaPr>
                      <m:jc m:val="centerGroup"/>
                    </m:oMathParaPr>
                    <m:oMath xmlns:m="http://schemas.openxmlformats.org/officeDocument/2006/math">
                      <m:sSub>
                        <m:sSubPr>
                          <m:ctrlPr>
                            <a:rPr lang="en-US" sz="2600" i="1" dirty="0">
                              <a:latin typeface="Cambria Math" panose="02040503050406030204" pitchFamily="18" charset="0"/>
                            </a:rPr>
                          </m:ctrlPr>
                        </m:sSubPr>
                        <m:e>
                          <m:r>
                            <a:rPr lang="en-US" sz="2600" i="1" dirty="0">
                              <a:latin typeface="Cambria Math" panose="02040503050406030204" pitchFamily="18" charset="0"/>
                            </a:rPr>
                            <m:t>𝐻</m:t>
                          </m:r>
                        </m:e>
                        <m:sub>
                          <m:r>
                            <a:rPr lang="en-US" sz="2600" b="0" i="1" dirty="0" smtClean="0">
                              <a:latin typeface="Cambria Math" panose="02040503050406030204" pitchFamily="18" charset="0"/>
                            </a:rPr>
                            <m:t>1</m:t>
                          </m:r>
                        </m:sub>
                      </m:sSub>
                      <m:r>
                        <a:rPr lang="en-US" sz="2600" i="1" dirty="0">
                          <a:latin typeface="Cambria Math" panose="02040503050406030204" pitchFamily="18" charset="0"/>
                        </a:rPr>
                        <m:t>: </m:t>
                      </m:r>
                      <m:sSub>
                        <m:sSubPr>
                          <m:ctrlPr>
                            <a:rPr lang="he-IL" sz="2600" i="1">
                              <a:latin typeface="Cambria Math" panose="02040503050406030204" pitchFamily="18" charset="0"/>
                            </a:rPr>
                          </m:ctrlPr>
                        </m:sSubPr>
                        <m:e>
                          <m:r>
                            <m:rPr>
                              <m:sty m:val="p"/>
                            </m:rPr>
                            <a:rPr lang="he-IL" sz="2600">
                              <a:latin typeface="Cambria Math" panose="02040503050406030204" pitchFamily="18" charset="0"/>
                            </a:rPr>
                            <m:t>Δ</m:t>
                          </m:r>
                        </m:e>
                        <m:sub>
                          <m:r>
                            <a:rPr lang="he-IL" sz="2600" i="1">
                              <a:latin typeface="Cambria Math" panose="02040503050406030204" pitchFamily="18" charset="0"/>
                            </a:rPr>
                            <m:t>𝜇</m:t>
                          </m:r>
                        </m:sub>
                      </m:sSub>
                      <m:r>
                        <a:rPr lang="he-IL" sz="2600" i="1" smtClean="0">
                          <a:latin typeface="Cambria Math" panose="02040503050406030204" pitchFamily="18" charset="0"/>
                          <a:ea typeface="Cambria Math" panose="02040503050406030204" pitchFamily="18" charset="0"/>
                        </a:rPr>
                        <m:t>≠</m:t>
                      </m:r>
                      <m:r>
                        <a:rPr lang="he-IL" sz="2600">
                          <a:latin typeface="Cambria Math" panose="02040503050406030204" pitchFamily="18" charset="0"/>
                        </a:rPr>
                        <m:t>0</m:t>
                      </m:r>
                    </m:oMath>
                  </m:oMathPara>
                </a14:m>
                <a:endParaRPr lang="he-IL" sz="2600" dirty="0"/>
              </a:p>
              <a:p>
                <a:pPr marL="0" indent="0">
                  <a:buNone/>
                </a:pPr>
                <a:br>
                  <a:rPr lang="en-US" dirty="0"/>
                </a:br>
                <a:endParaRPr lang="en-US" dirty="0"/>
              </a:p>
              <a:p>
                <a:endParaRPr dirty="0"/>
              </a:p>
            </p:txBody>
          </p:sp>
        </mc:Choice>
        <mc:Fallback xmlns="">
          <p:sp>
            <p:nvSpPr>
              <p:cNvPr id="3" name="Content Placeholder 2">
                <a:extLst>
                  <a:ext uri="{FF2B5EF4-FFF2-40B4-BE49-F238E27FC236}">
                    <a16:creationId xmlns:a16="http://schemas.microsoft.com/office/drawing/2014/main" id="{AFDDD64D-3B19-7CCB-0236-63F934D7AC9E}"/>
                  </a:ext>
                </a:extLst>
              </p:cNvPr>
              <p:cNvSpPr>
                <a:spLocks noGrp="1" noRot="1" noChangeAspect="1" noMove="1" noResize="1" noEditPoints="1" noAdjustHandles="1" noChangeArrowheads="1" noChangeShapeType="1" noTextEdit="1"/>
              </p:cNvSpPr>
              <p:nvPr>
                <p:ph idx="1"/>
              </p:nvPr>
            </p:nvSpPr>
            <p:spPr>
              <a:blipFill>
                <a:blip r:embed="rId3"/>
                <a:stretch>
                  <a:fillRect l="-928" t="-2661"/>
                </a:stretch>
              </a:blipFill>
            </p:spPr>
            <p:txBody>
              <a:bodyPr/>
              <a:lstStyle/>
              <a:p>
                <a:r>
                  <a:rPr lang="he-IL">
                    <a:noFill/>
                  </a:rPr>
                  <a:t> </a:t>
                </a:r>
              </a:p>
            </p:txBody>
          </p:sp>
        </mc:Fallback>
      </mc:AlternateContent>
    </p:spTree>
    <p:extLst>
      <p:ext uri="{BB962C8B-B14F-4D97-AF65-F5344CB8AC3E}">
        <p14:creationId xmlns:p14="http://schemas.microsoft.com/office/powerpoint/2010/main" val="37576113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61075-5F2F-5706-229C-66AFB74C2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055CC-064C-5943-E012-DDE77814B1E4}"/>
              </a:ext>
            </a:extLst>
          </p:cNvPr>
          <p:cNvSpPr>
            <a:spLocks noGrp="1"/>
          </p:cNvSpPr>
          <p:nvPr>
            <p:ph type="title"/>
          </p:nvPr>
        </p:nvSpPr>
        <p:spPr/>
        <p:txBody>
          <a:bodyPr/>
          <a:lstStyle/>
          <a:p>
            <a:r>
              <a:rPr lang="he-IL" dirty="0" err="1"/>
              <a:t>Effect</a:t>
            </a:r>
            <a:r>
              <a:rPr lang="he-IL" dirty="0"/>
              <a:t> size</a:t>
            </a:r>
            <a:r>
              <a:rPr lang="en-US" dirty="0"/>
              <a:t> -</a:t>
            </a:r>
            <a:r>
              <a:rPr lang="he-IL" dirty="0"/>
              <a:t> </a:t>
            </a:r>
            <a:r>
              <a:rPr lang="en-US" dirty="0"/>
              <a:t>Cohen’s d</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3F7A70-4918-DB2D-0EB8-FED37FCC312F}"/>
                  </a:ext>
                </a:extLst>
              </p:cNvPr>
              <p:cNvSpPr>
                <a:spLocks noGrp="1"/>
              </p:cNvSpPr>
              <p:nvPr>
                <p:ph idx="1"/>
              </p:nvPr>
            </p:nvSpPr>
            <p:spPr/>
            <p:txBody>
              <a:bodyPr>
                <a:normAutofit/>
              </a:bodyPr>
              <a:lstStyle/>
              <a:p>
                <a:pPr marL="0" indent="0">
                  <a:buNone/>
                </a:pPr>
                <a:r>
                  <a:rPr lang="en-US" b="1" dirty="0"/>
                  <a:t>Raw effect size</a:t>
                </a:r>
              </a:p>
              <a:p>
                <a:pPr marL="0" indent="0">
                  <a:buNone/>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m:rPr>
                              <m:sty m:val="p"/>
                            </m:rPr>
                            <a:rPr lang="en-US" sz="2400" i="0" dirty="0" smtClean="0">
                              <a:latin typeface="Cambria Math" panose="02040503050406030204" pitchFamily="18" charset="0"/>
                            </a:rPr>
                            <m:t>Δ</m:t>
                          </m:r>
                        </m:e>
                        <m:sub>
                          <m:r>
                            <a:rPr lang="en-US" sz="2400" i="1" dirty="0" smtClean="0">
                              <a:latin typeface="Cambria Math" panose="02040503050406030204" pitchFamily="18" charset="0"/>
                            </a:rPr>
                            <m:t>𝜇</m:t>
                          </m:r>
                        </m:sub>
                      </m:sSub>
                      <m:r>
                        <a:rPr lang="en-US" sz="2400" i="1" dirty="0" smtClean="0">
                          <a:latin typeface="Cambria Math" panose="02040503050406030204" pitchFamily="18" charset="0"/>
                        </a:rPr>
                        <m:t>=</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𝜇</m:t>
                          </m:r>
                        </m:e>
                        <m:sub>
                          <m:r>
                            <a:rPr lang="en-US" sz="2400" i="1" dirty="0" smtClean="0">
                              <a:latin typeface="Cambria Math" panose="02040503050406030204" pitchFamily="18" charset="0"/>
                            </a:rPr>
                            <m:t>𝐴</m:t>
                          </m:r>
                        </m:sub>
                      </m:sSub>
                      <m:r>
                        <a:rPr lang="en-US" sz="2400" i="1" dirty="0" smtClean="0">
                          <a:latin typeface="Cambria Math" panose="02040503050406030204" pitchFamily="18" charset="0"/>
                        </a:rPr>
                        <m:t>−</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𝜇</m:t>
                          </m:r>
                        </m:e>
                        <m:sub>
                          <m:r>
                            <a:rPr lang="en-US" sz="2400" i="1" dirty="0" smtClean="0">
                              <a:latin typeface="Cambria Math" panose="02040503050406030204" pitchFamily="18" charset="0"/>
                            </a:rPr>
                            <m:t>𝐵</m:t>
                          </m:r>
                        </m:sub>
                      </m:sSub>
                    </m:oMath>
                  </m:oMathPara>
                </a14:m>
                <a:endParaRPr lang="en-US" sz="2400" dirty="0"/>
              </a:p>
              <a:p>
                <a:r>
                  <a:rPr lang="en-US" sz="2400" dirty="0"/>
                  <a:t>This is in original units.</a:t>
                </a:r>
              </a:p>
              <a:p>
                <a:endParaRPr lang="en-US" dirty="0"/>
              </a:p>
              <a:p>
                <a:pPr marL="0" indent="0">
                  <a:buNone/>
                </a:pPr>
                <a:r>
                  <a:rPr lang="he-IL" b="1" dirty="0"/>
                  <a:t>Cohen’s d</a:t>
                </a:r>
              </a:p>
              <a:p>
                <a:pPr marL="0" indent="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𝐶𝑜</m:t>
                      </m:r>
                      <m:r>
                        <a:rPr lang="en-US" sz="2400" i="1" dirty="0" smtClean="0">
                          <a:latin typeface="Cambria Math" panose="02040503050406030204" pitchFamily="18" charset="0"/>
                        </a:rPr>
                        <m:t>h</m:t>
                      </m:r>
                      <m:r>
                        <a:rPr lang="en-US" sz="2400" i="1" dirty="0" smtClean="0">
                          <a:latin typeface="Cambria Math" panose="02040503050406030204" pitchFamily="18" charset="0"/>
                        </a:rPr>
                        <m:t>𝑒𝑛</m:t>
                      </m:r>
                      <m:r>
                        <a:rPr lang="en-US" sz="2400" i="1" dirty="0" smtClean="0">
                          <a:latin typeface="Cambria Math" panose="02040503050406030204" pitchFamily="18" charset="0"/>
                        </a:rPr>
                        <m:t>’</m:t>
                      </m:r>
                      <m:r>
                        <a:rPr lang="en-US" sz="2400" i="1" dirty="0" smtClean="0">
                          <a:latin typeface="Cambria Math" panose="02040503050406030204" pitchFamily="18" charset="0"/>
                        </a:rPr>
                        <m:t>𝑠</m:t>
                      </m:r>
                      <m:r>
                        <a:rPr lang="en-US" sz="2400" i="1" dirty="0" smtClean="0">
                          <a:latin typeface="Cambria Math" panose="02040503050406030204" pitchFamily="18" charset="0"/>
                        </a:rPr>
                        <m:t> </m:t>
                      </m:r>
                      <m:r>
                        <a:rPr lang="he-IL" sz="2400" i="1">
                          <a:latin typeface="Cambria Math" panose="02040503050406030204" pitchFamily="18" charset="0"/>
                        </a:rPr>
                        <m:t>𝑑</m:t>
                      </m:r>
                      <m:r>
                        <a:rPr lang="he-IL" sz="2400">
                          <a:latin typeface="Cambria Math" panose="02040503050406030204" pitchFamily="18" charset="0"/>
                        </a:rPr>
                        <m:t>=</m:t>
                      </m:r>
                      <m:f>
                        <m:fPr>
                          <m:ctrlPr>
                            <a:rPr lang="he-IL" sz="2400" i="1">
                              <a:latin typeface="Cambria Math" panose="02040503050406030204" pitchFamily="18" charset="0"/>
                            </a:rPr>
                          </m:ctrlPr>
                        </m:fPr>
                        <m:num>
                          <m:sSub>
                            <m:sSubPr>
                              <m:ctrlPr>
                                <a:rPr lang="he-IL" sz="2400" i="1">
                                  <a:latin typeface="Cambria Math" panose="02040503050406030204" pitchFamily="18" charset="0"/>
                                </a:rPr>
                              </m:ctrlPr>
                            </m:sSubPr>
                            <m:e>
                              <m:r>
                                <a:rPr lang="he-IL" sz="2400" i="1">
                                  <a:latin typeface="Cambria Math" panose="02040503050406030204" pitchFamily="18" charset="0"/>
                                </a:rPr>
                                <m:t>𝜇</m:t>
                              </m:r>
                            </m:e>
                            <m:sub>
                              <m:r>
                                <a:rPr lang="he-IL" sz="2400" i="1">
                                  <a:latin typeface="Cambria Math" panose="02040503050406030204" pitchFamily="18" charset="0"/>
                                </a:rPr>
                                <m:t>𝐴</m:t>
                              </m:r>
                            </m:sub>
                          </m:sSub>
                          <m:r>
                            <a:rPr lang="he-IL" sz="2400">
                              <a:latin typeface="Cambria Math" panose="02040503050406030204" pitchFamily="18" charset="0"/>
                            </a:rPr>
                            <m:t>−</m:t>
                          </m:r>
                          <m:sSub>
                            <m:sSubPr>
                              <m:ctrlPr>
                                <a:rPr lang="he-IL" sz="2400" i="1">
                                  <a:latin typeface="Cambria Math" panose="02040503050406030204" pitchFamily="18" charset="0"/>
                                </a:rPr>
                              </m:ctrlPr>
                            </m:sSubPr>
                            <m:e>
                              <m:r>
                                <a:rPr lang="he-IL" sz="2400" i="1">
                                  <a:latin typeface="Cambria Math" panose="02040503050406030204" pitchFamily="18" charset="0"/>
                                </a:rPr>
                                <m:t>𝜇</m:t>
                              </m:r>
                            </m:e>
                            <m:sub>
                              <m:r>
                                <a:rPr lang="he-IL" sz="2400" i="1">
                                  <a:latin typeface="Cambria Math" panose="02040503050406030204" pitchFamily="18" charset="0"/>
                                </a:rPr>
                                <m:t>𝐵</m:t>
                              </m:r>
                            </m:sub>
                          </m:sSub>
                        </m:num>
                        <m:den>
                          <m:r>
                            <a:rPr lang="he-IL" sz="2400" i="1">
                              <a:latin typeface="Cambria Math" panose="02040503050406030204" pitchFamily="18" charset="0"/>
                            </a:rPr>
                            <m:t>𝜎</m:t>
                          </m:r>
                        </m:den>
                      </m:f>
                    </m:oMath>
                  </m:oMathPara>
                </a14:m>
                <a:endParaRPr lang="he-IL" b="1" dirty="0"/>
              </a:p>
              <a:p>
                <a:r>
                  <a:rPr lang="en-US" sz="2400" dirty="0"/>
                  <a:t>Standardized effect size.</a:t>
                </a:r>
              </a:p>
              <a:p>
                <a:endParaRPr lang="en-US" dirty="0"/>
              </a:p>
              <a:p>
                <a:endParaRPr lang="en-US" dirty="0"/>
              </a:p>
              <a:p>
                <a:endParaRPr lang="en-US" dirty="0"/>
              </a:p>
              <a:p>
                <a:endParaRPr lang="he-IL" dirty="0"/>
              </a:p>
            </p:txBody>
          </p:sp>
        </mc:Choice>
        <mc:Fallback xmlns="">
          <p:sp>
            <p:nvSpPr>
              <p:cNvPr id="3" name="Content Placeholder 2">
                <a:extLst>
                  <a:ext uri="{FF2B5EF4-FFF2-40B4-BE49-F238E27FC236}">
                    <a16:creationId xmlns:a16="http://schemas.microsoft.com/office/drawing/2014/main" id="{E33F7A70-4918-DB2D-0EB8-FED37FCC312F}"/>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he-IL">
                    <a:noFill/>
                  </a:rPr>
                  <a:t> </a:t>
                </a:r>
              </a:p>
            </p:txBody>
          </p:sp>
        </mc:Fallback>
      </mc:AlternateContent>
      <p:graphicFrame>
        <p:nvGraphicFramePr>
          <p:cNvPr id="5" name="Table 4">
            <a:extLst>
              <a:ext uri="{FF2B5EF4-FFF2-40B4-BE49-F238E27FC236}">
                <a16:creationId xmlns:a16="http://schemas.microsoft.com/office/drawing/2014/main" id="{0F9B295A-1D78-DAF5-C004-7EC195FC1CBD}"/>
              </a:ext>
            </a:extLst>
          </p:cNvPr>
          <p:cNvGraphicFramePr>
            <a:graphicFrameLocks noGrp="1"/>
          </p:cNvGraphicFramePr>
          <p:nvPr>
            <p:extLst>
              <p:ext uri="{D42A27DB-BD31-4B8C-83A1-F6EECF244321}">
                <p14:modId xmlns:p14="http://schemas.microsoft.com/office/powerpoint/2010/main" val="2692220029"/>
              </p:ext>
            </p:extLst>
          </p:nvPr>
        </p:nvGraphicFramePr>
        <p:xfrm>
          <a:off x="7779317" y="5009515"/>
          <a:ext cx="3951906" cy="1483360"/>
        </p:xfrm>
        <a:graphic>
          <a:graphicData uri="http://schemas.openxmlformats.org/drawingml/2006/table">
            <a:tbl>
              <a:tblPr rtl="1" firstRow="1" bandRow="1">
                <a:tableStyleId>{5C22544A-7EE6-4342-B048-85BDC9FD1C3A}</a:tableStyleId>
              </a:tblPr>
              <a:tblGrid>
                <a:gridCol w="1975953">
                  <a:extLst>
                    <a:ext uri="{9D8B030D-6E8A-4147-A177-3AD203B41FA5}">
                      <a16:colId xmlns:a16="http://schemas.microsoft.com/office/drawing/2014/main" val="716450484"/>
                    </a:ext>
                  </a:extLst>
                </a:gridCol>
                <a:gridCol w="1975953">
                  <a:extLst>
                    <a:ext uri="{9D8B030D-6E8A-4147-A177-3AD203B41FA5}">
                      <a16:colId xmlns:a16="http://schemas.microsoft.com/office/drawing/2014/main" val="2059995741"/>
                    </a:ext>
                  </a:extLst>
                </a:gridCol>
              </a:tblGrid>
              <a:tr h="370840">
                <a:tc>
                  <a:txBody>
                    <a:bodyPr/>
                    <a:lstStyle/>
                    <a:p>
                      <a:pPr rtl="1"/>
                      <a:endParaRPr lang="he-IL"/>
                    </a:p>
                  </a:txBody>
                  <a:tcPr/>
                </a:tc>
                <a:tc>
                  <a:txBody>
                    <a:bodyPr/>
                    <a:lstStyle/>
                    <a:p>
                      <a:pPr rtl="1"/>
                      <a:r>
                        <a:rPr lang="en-US" dirty="0"/>
                        <a:t>| Cohen’s d |</a:t>
                      </a:r>
                      <a:endParaRPr lang="he-IL" dirty="0"/>
                    </a:p>
                  </a:txBody>
                  <a:tcPr/>
                </a:tc>
                <a:extLst>
                  <a:ext uri="{0D108BD9-81ED-4DB2-BD59-A6C34878D82A}">
                    <a16:rowId xmlns:a16="http://schemas.microsoft.com/office/drawing/2014/main" val="3185727776"/>
                  </a:ext>
                </a:extLst>
              </a:tr>
              <a:tr h="370840">
                <a:tc>
                  <a:txBody>
                    <a:bodyPr/>
                    <a:lstStyle/>
                    <a:p>
                      <a:pPr rtl="1"/>
                      <a:r>
                        <a:rPr lang="en-US" dirty="0"/>
                        <a:t>Small</a:t>
                      </a:r>
                      <a:endParaRPr lang="he-IL" dirty="0"/>
                    </a:p>
                  </a:txBody>
                  <a:tcPr/>
                </a:tc>
                <a:tc>
                  <a:txBody>
                    <a:bodyPr/>
                    <a:lstStyle/>
                    <a:p>
                      <a:pPr rtl="1"/>
                      <a:r>
                        <a:rPr lang="en-US" dirty="0"/>
                        <a:t>0.2</a:t>
                      </a:r>
                      <a:endParaRPr lang="he-IL" dirty="0"/>
                    </a:p>
                  </a:txBody>
                  <a:tcPr/>
                </a:tc>
                <a:extLst>
                  <a:ext uri="{0D108BD9-81ED-4DB2-BD59-A6C34878D82A}">
                    <a16:rowId xmlns:a16="http://schemas.microsoft.com/office/drawing/2014/main" val="2871326208"/>
                  </a:ext>
                </a:extLst>
              </a:tr>
              <a:tr h="370840">
                <a:tc>
                  <a:txBody>
                    <a:bodyPr/>
                    <a:lstStyle/>
                    <a:p>
                      <a:pPr rtl="1"/>
                      <a:r>
                        <a:rPr lang="en-US" dirty="0"/>
                        <a:t>Medium</a:t>
                      </a:r>
                      <a:endParaRPr lang="he-IL" dirty="0"/>
                    </a:p>
                  </a:txBody>
                  <a:tcPr/>
                </a:tc>
                <a:tc>
                  <a:txBody>
                    <a:bodyPr/>
                    <a:lstStyle/>
                    <a:p>
                      <a:pPr rtl="1"/>
                      <a:r>
                        <a:rPr lang="en-US" dirty="0"/>
                        <a:t>0.5</a:t>
                      </a:r>
                      <a:endParaRPr lang="he-IL" dirty="0"/>
                    </a:p>
                  </a:txBody>
                  <a:tcPr/>
                </a:tc>
                <a:extLst>
                  <a:ext uri="{0D108BD9-81ED-4DB2-BD59-A6C34878D82A}">
                    <a16:rowId xmlns:a16="http://schemas.microsoft.com/office/drawing/2014/main" val="4067136656"/>
                  </a:ext>
                </a:extLst>
              </a:tr>
              <a:tr h="370840">
                <a:tc>
                  <a:txBody>
                    <a:bodyPr/>
                    <a:lstStyle/>
                    <a:p>
                      <a:pPr rtl="1"/>
                      <a:r>
                        <a:rPr lang="en-US" dirty="0"/>
                        <a:t>Large</a:t>
                      </a:r>
                      <a:endParaRPr lang="he-IL" dirty="0"/>
                    </a:p>
                  </a:txBody>
                  <a:tcPr/>
                </a:tc>
                <a:tc>
                  <a:txBody>
                    <a:bodyPr/>
                    <a:lstStyle/>
                    <a:p>
                      <a:pPr rtl="1"/>
                      <a:r>
                        <a:rPr lang="en-US" dirty="0"/>
                        <a:t>0.8</a:t>
                      </a:r>
                      <a:endParaRPr lang="he-IL" dirty="0"/>
                    </a:p>
                  </a:txBody>
                  <a:tcPr/>
                </a:tc>
                <a:extLst>
                  <a:ext uri="{0D108BD9-81ED-4DB2-BD59-A6C34878D82A}">
                    <a16:rowId xmlns:a16="http://schemas.microsoft.com/office/drawing/2014/main" val="1837706171"/>
                  </a:ext>
                </a:extLst>
              </a:tr>
            </a:tbl>
          </a:graphicData>
        </a:graphic>
      </p:graphicFrame>
    </p:spTree>
    <p:extLst>
      <p:ext uri="{BB962C8B-B14F-4D97-AF65-F5344CB8AC3E}">
        <p14:creationId xmlns:p14="http://schemas.microsoft.com/office/powerpoint/2010/main" val="3325426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1041B-DE1F-0099-E2B0-C89F021B6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962C1-7E2B-8C74-07D8-8856F5BF6F3B}"/>
              </a:ext>
            </a:extLst>
          </p:cNvPr>
          <p:cNvSpPr>
            <a:spLocks noGrp="1"/>
          </p:cNvSpPr>
          <p:nvPr>
            <p:ph type="title"/>
          </p:nvPr>
        </p:nvSpPr>
        <p:spPr/>
        <p:txBody>
          <a:bodyPr/>
          <a:lstStyle/>
          <a:p>
            <a:r>
              <a:rPr lang="en-US" dirty="0"/>
              <a:t>Reminder- </a:t>
            </a:r>
            <a:r>
              <a:rPr lang="he-IL" dirty="0"/>
              <a:t>ROPE and HDI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C0D1EC-27E0-4A2D-D5D6-5A3D7F9B2B10}"/>
                  </a:ext>
                </a:extLst>
              </p:cNvPr>
              <p:cNvSpPr>
                <a:spLocks noGrp="1"/>
              </p:cNvSpPr>
              <p:nvPr>
                <p:ph idx="1"/>
              </p:nvPr>
            </p:nvSpPr>
            <p:spPr/>
            <p:txBody>
              <a:bodyPr>
                <a:normAutofit/>
              </a:bodyPr>
              <a:lstStyle/>
              <a:p>
                <a:pPr marL="0" indent="0">
                  <a:buNone/>
                </a:pPr>
                <a:r>
                  <a:rPr lang="en-US" b="1" dirty="0"/>
                  <a:t>HDI</a:t>
                </a:r>
              </a:p>
              <a:p>
                <a:r>
                  <a:rPr lang="en-US" dirty="0"/>
                  <a:t>The interval containing the most credible parameter values.</a:t>
                </a:r>
              </a:p>
              <a:p>
                <a:pPr marL="0" indent="0">
                  <a:buNone/>
                </a:pPr>
                <a:r>
                  <a:rPr lang="en-US" b="1" dirty="0"/>
                  <a:t>ROPE</a:t>
                </a:r>
              </a:p>
              <a:p>
                <a:r>
                  <a:rPr lang="en-US" dirty="0"/>
                  <a:t>A region of practical equivalence</a:t>
                </a:r>
                <a:r>
                  <a:rPr lang="he-IL" dirty="0"/>
                  <a:t>:</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𝜖</m:t>
                      </m:r>
                      <m:r>
                        <a:rPr lang="en-US" i="1" dirty="0" smtClean="0">
                          <a:latin typeface="Cambria Math" panose="02040503050406030204" pitchFamily="18" charset="0"/>
                        </a:rPr>
                        <m:t>, </m:t>
                      </m:r>
                      <m:r>
                        <a:rPr lang="en-US" i="1" dirty="0" smtClean="0">
                          <a:latin typeface="Cambria Math" panose="02040503050406030204" pitchFamily="18" charset="0"/>
                          <a:ea typeface="Cambria Math" panose="02040503050406030204" pitchFamily="18" charset="0"/>
                        </a:rPr>
                        <m:t>𝜖</m:t>
                      </m:r>
                      <m:r>
                        <a:rPr lang="en-US" i="1" dirty="0" smtClean="0">
                          <a:latin typeface="Cambria Math" panose="02040503050406030204" pitchFamily="18" charset="0"/>
                        </a:rPr>
                        <m:t>]</m:t>
                      </m:r>
                    </m:oMath>
                  </m:oMathPara>
                </a14:m>
                <a:endParaRPr lang="he-IL" dirty="0"/>
              </a:p>
              <a:p>
                <a:endParaRPr lang="he-IL" dirty="0"/>
              </a:p>
            </p:txBody>
          </p:sp>
        </mc:Choice>
        <mc:Fallback xmlns="">
          <p:sp>
            <p:nvSpPr>
              <p:cNvPr id="3" name="Content Placeholder 2">
                <a:extLst>
                  <a:ext uri="{FF2B5EF4-FFF2-40B4-BE49-F238E27FC236}">
                    <a16:creationId xmlns:a16="http://schemas.microsoft.com/office/drawing/2014/main" id="{C2C0D1EC-27E0-4A2D-D5D6-5A3D7F9B2B10}"/>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he-IL">
                    <a:noFill/>
                  </a:rPr>
                  <a:t> </a:t>
                </a:r>
              </a:p>
            </p:txBody>
          </p:sp>
        </mc:Fallback>
      </mc:AlternateContent>
    </p:spTree>
    <p:extLst>
      <p:ext uri="{BB962C8B-B14F-4D97-AF65-F5344CB8AC3E}">
        <p14:creationId xmlns:p14="http://schemas.microsoft.com/office/powerpoint/2010/main" val="885292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1BC7E-E487-3A07-DA11-FC4CFAA33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10F01-67A2-04D5-E66B-E48FB81E0E1C}"/>
              </a:ext>
            </a:extLst>
          </p:cNvPr>
          <p:cNvSpPr>
            <a:spLocks noGrp="1"/>
          </p:cNvSpPr>
          <p:nvPr>
            <p:ph type="title"/>
          </p:nvPr>
        </p:nvSpPr>
        <p:spPr>
          <a:xfrm>
            <a:off x="838200" y="20997"/>
            <a:ext cx="10515600" cy="1325563"/>
          </a:xfrm>
        </p:spPr>
        <p:txBody>
          <a:bodyPr/>
          <a:lstStyle/>
          <a:p>
            <a:r>
              <a:rPr lang="en-US" dirty="0"/>
              <a:t>Reminder- </a:t>
            </a:r>
            <a:r>
              <a:rPr lang="he-IL" dirty="0"/>
              <a:t>ROPE and HDI </a:t>
            </a:r>
            <a:r>
              <a:rPr lang="en-US" dirty="0"/>
              <a:t>T</a:t>
            </a:r>
            <a:r>
              <a:rPr lang="he-IL" dirty="0" err="1"/>
              <a:t>est</a:t>
            </a:r>
            <a:endParaRPr lang="LID4096" dirty="0"/>
          </a:p>
        </p:txBody>
      </p:sp>
      <p:sp>
        <p:nvSpPr>
          <p:cNvPr id="3" name="Content Placeholder 2">
            <a:extLst>
              <a:ext uri="{FF2B5EF4-FFF2-40B4-BE49-F238E27FC236}">
                <a16:creationId xmlns:a16="http://schemas.microsoft.com/office/drawing/2014/main" id="{7040D5F8-4631-41C7-7278-13A875F19C16}"/>
              </a:ext>
            </a:extLst>
          </p:cNvPr>
          <p:cNvSpPr>
            <a:spLocks noGrp="1"/>
          </p:cNvSpPr>
          <p:nvPr>
            <p:ph idx="1"/>
          </p:nvPr>
        </p:nvSpPr>
        <p:spPr>
          <a:xfrm>
            <a:off x="838199" y="1342771"/>
            <a:ext cx="10428515" cy="4801998"/>
          </a:xfrm>
        </p:spPr>
        <p:txBody>
          <a:bodyPr>
            <a:normAutofit/>
          </a:bodyPr>
          <a:lstStyle/>
          <a:p>
            <a:r>
              <a:rPr lang="en-US" sz="2400" dirty="0"/>
              <a:t>The ROPE is not a mathematical default. It is a domain-based choice.</a:t>
            </a:r>
          </a:p>
          <a:p>
            <a:endParaRPr lang="he-IL" sz="2400" dirty="0"/>
          </a:p>
        </p:txBody>
      </p:sp>
      <p:sp>
        <p:nvSpPr>
          <p:cNvPr id="4" name="מציין מיקום של מספר שקופית 3">
            <a:extLst>
              <a:ext uri="{FF2B5EF4-FFF2-40B4-BE49-F238E27FC236}">
                <a16:creationId xmlns:a16="http://schemas.microsoft.com/office/drawing/2014/main" id="{290E34E1-B80A-72DB-8084-3778C548AB71}"/>
              </a:ext>
            </a:extLst>
          </p:cNvPr>
          <p:cNvSpPr>
            <a:spLocks noGrp="1"/>
          </p:cNvSpPr>
          <p:nvPr>
            <p:ph type="sldNum" sz="quarter" idx="12"/>
          </p:nvPr>
        </p:nvSpPr>
        <p:spPr/>
        <p:txBody>
          <a:bodyPr/>
          <a:lstStyle/>
          <a:p>
            <a:fld id="{B6796F57-8306-40D4-9229-37A3D19F0B5F}" type="slidenum">
              <a:rPr lang="LID4096" smtClean="0"/>
              <a:t>49</a:t>
            </a:fld>
            <a:endParaRPr lang="LID4096"/>
          </a:p>
        </p:txBody>
      </p:sp>
      <p:pic>
        <p:nvPicPr>
          <p:cNvPr id="5" name="Picture 2" descr="Image result for rope examples bayes&quot;">
            <a:extLst>
              <a:ext uri="{FF2B5EF4-FFF2-40B4-BE49-F238E27FC236}">
                <a16:creationId xmlns:a16="http://schemas.microsoft.com/office/drawing/2014/main" id="{97D863E7-6153-4059-F98E-5B29B8966951}"/>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377543" y="2513522"/>
            <a:ext cx="6153145" cy="384282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1A2DCE6-DCAD-5EF3-1CB7-85D9987B01D2}"/>
              </a:ext>
            </a:extLst>
          </p:cNvPr>
          <p:cNvSpPr txBox="1"/>
          <p:nvPr/>
        </p:nvSpPr>
        <p:spPr>
          <a:xfrm>
            <a:off x="838198" y="2148397"/>
            <a:ext cx="4452259" cy="3046988"/>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David" panose="020E0502060401010101" pitchFamily="34" charset="-79"/>
              </a:rPr>
              <a:t>Decision logic:</a:t>
            </a:r>
          </a:p>
          <a:p>
            <a:pPr marL="800100" lvl="1" indent="-342900">
              <a:buFont typeface="Arial" panose="020B0604020202020204" pitchFamily="34" charset="0"/>
              <a:buChar char="•"/>
            </a:pPr>
            <a:r>
              <a:rPr lang="en-US" sz="2400" dirty="0">
                <a:latin typeface="David" panose="020E0502060401010101" pitchFamily="34" charset="-79"/>
              </a:rPr>
              <a:t>HDI </a:t>
            </a:r>
            <a:r>
              <a:rPr lang="en-US" sz="2000" dirty="0">
                <a:latin typeface="David" panose="020E0502060401010101" pitchFamily="34" charset="-79"/>
              </a:rPr>
              <a:t>completely </a:t>
            </a:r>
            <a:r>
              <a:rPr lang="en-US" sz="2000" b="1" dirty="0">
                <a:latin typeface="David" panose="020E0502060401010101" pitchFamily="34" charset="-79"/>
              </a:rPr>
              <a:t>outside</a:t>
            </a:r>
            <a:r>
              <a:rPr lang="en-US" sz="2000" dirty="0">
                <a:latin typeface="David" panose="020E0502060401010101" pitchFamily="34" charset="-79"/>
              </a:rPr>
              <a:t> ROPE → reject the practical null. </a:t>
            </a:r>
            <a:br>
              <a:rPr lang="en-US" sz="2000" dirty="0">
                <a:latin typeface="David" panose="020E0502060401010101" pitchFamily="34" charset="-79"/>
              </a:rPr>
            </a:br>
            <a:endParaRPr lang="en-US" sz="2000" dirty="0">
              <a:latin typeface="David" panose="020E0502060401010101" pitchFamily="34" charset="-79"/>
            </a:endParaRPr>
          </a:p>
          <a:p>
            <a:pPr marL="800100" lvl="1" indent="-342900">
              <a:buFont typeface="Arial" panose="020B0604020202020204" pitchFamily="34" charset="0"/>
              <a:buChar char="•"/>
            </a:pPr>
            <a:r>
              <a:rPr lang="en-US" sz="2000" dirty="0">
                <a:latin typeface="David" panose="020E0502060401010101" pitchFamily="34" charset="-79"/>
              </a:rPr>
              <a:t>HDI completely </a:t>
            </a:r>
            <a:r>
              <a:rPr lang="en-US" sz="2000" b="1" dirty="0">
                <a:latin typeface="David" panose="020E0502060401010101" pitchFamily="34" charset="-79"/>
              </a:rPr>
              <a:t>inside</a:t>
            </a:r>
            <a:r>
              <a:rPr lang="en-US" sz="2000" dirty="0">
                <a:latin typeface="David" panose="020E0502060401010101" pitchFamily="34" charset="-79"/>
              </a:rPr>
              <a:t> ROPE → accept the practical null. </a:t>
            </a:r>
            <a:br>
              <a:rPr lang="en-US" sz="2000" dirty="0">
                <a:latin typeface="David" panose="020E0502060401010101" pitchFamily="34" charset="-79"/>
              </a:rPr>
            </a:br>
            <a:endParaRPr lang="en-US" sz="2000" dirty="0">
              <a:latin typeface="David" panose="020E0502060401010101" pitchFamily="34" charset="-79"/>
            </a:endParaRPr>
          </a:p>
          <a:p>
            <a:pPr marL="800100" lvl="1" indent="-342900">
              <a:buFont typeface="Arial" panose="020B0604020202020204" pitchFamily="34" charset="0"/>
              <a:buChar char="•"/>
            </a:pPr>
            <a:r>
              <a:rPr lang="en-US" sz="2000" dirty="0">
                <a:latin typeface="David" panose="020E0502060401010101" pitchFamily="34" charset="-79"/>
              </a:rPr>
              <a:t>HDI partly </a:t>
            </a:r>
            <a:r>
              <a:rPr lang="en-US" sz="2000" b="1" dirty="0">
                <a:latin typeface="David" panose="020E0502060401010101" pitchFamily="34" charset="-79"/>
              </a:rPr>
              <a:t>overlaps</a:t>
            </a:r>
            <a:r>
              <a:rPr lang="en-US" sz="2000" dirty="0">
                <a:latin typeface="David" panose="020E0502060401010101" pitchFamily="34" charset="-79"/>
              </a:rPr>
              <a:t> ROPE → </a:t>
            </a:r>
            <a:br>
              <a:rPr lang="en-US" sz="2000" dirty="0">
                <a:latin typeface="David" panose="020E0502060401010101" pitchFamily="34" charset="-79"/>
              </a:rPr>
            </a:br>
            <a:r>
              <a:rPr lang="en-US" sz="2000" dirty="0">
                <a:latin typeface="David" panose="020E0502060401010101" pitchFamily="34" charset="-79"/>
              </a:rPr>
              <a:t>no clear decision</a:t>
            </a:r>
            <a:r>
              <a:rPr lang="en-US" sz="2400" dirty="0">
                <a:latin typeface="David" panose="020E0502060401010101" pitchFamily="34" charset="-79"/>
              </a:rPr>
              <a:t>.</a:t>
            </a:r>
          </a:p>
        </p:txBody>
      </p:sp>
    </p:spTree>
    <p:extLst>
      <p:ext uri="{BB962C8B-B14F-4D97-AF65-F5344CB8AC3E}">
        <p14:creationId xmlns:p14="http://schemas.microsoft.com/office/powerpoint/2010/main" val="2965733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587C5-33C8-C385-C74C-6EBBB84BF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DB3AE-F149-72C6-A013-6BCD4D59CC3F}"/>
              </a:ext>
            </a:extLst>
          </p:cNvPr>
          <p:cNvSpPr>
            <a:spLocks noGrp="1"/>
          </p:cNvSpPr>
          <p:nvPr>
            <p:ph type="title"/>
          </p:nvPr>
        </p:nvSpPr>
        <p:spPr/>
        <p:txBody>
          <a:bodyPr/>
          <a:lstStyle/>
          <a:p>
            <a:r>
              <a:rPr lang="en-US" dirty="0"/>
              <a:t>Bayesian Paired Model</a:t>
            </a:r>
            <a:endParaRPr lang="he-IL" dirty="0"/>
          </a:p>
        </p:txBody>
      </p:sp>
      <p:pic>
        <p:nvPicPr>
          <p:cNvPr id="9218" name="Picture 2">
            <a:extLst>
              <a:ext uri="{FF2B5EF4-FFF2-40B4-BE49-F238E27FC236}">
                <a16:creationId xmlns:a16="http://schemas.microsoft.com/office/drawing/2014/main" id="{6DCAD21B-E64E-29CD-8EB6-FADE439E3B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0162" y="1625600"/>
            <a:ext cx="6772275" cy="48672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702EF1A-1AB0-804F-F27F-EC0386FC4945}"/>
              </a:ext>
            </a:extLst>
          </p:cNvPr>
          <p:cNvSpPr txBox="1"/>
          <p:nvPr/>
        </p:nvSpPr>
        <p:spPr>
          <a:xfrm>
            <a:off x="838198" y="2148397"/>
            <a:ext cx="4452259" cy="461665"/>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David" panose="020E0502060401010101" pitchFamily="34" charset="-79"/>
              </a:rPr>
              <a:t>Visualize the paired data:</a:t>
            </a:r>
          </a:p>
        </p:txBody>
      </p:sp>
      <p:pic>
        <p:nvPicPr>
          <p:cNvPr id="5" name="Picture 4">
            <a:extLst>
              <a:ext uri="{FF2B5EF4-FFF2-40B4-BE49-F238E27FC236}">
                <a16:creationId xmlns:a16="http://schemas.microsoft.com/office/drawing/2014/main" id="{5A8D8A35-20E2-6F5E-6EB4-21B3A0CBBF9E}"/>
              </a:ext>
            </a:extLst>
          </p:cNvPr>
          <p:cNvPicPr>
            <a:picLocks noChangeAspect="1"/>
          </p:cNvPicPr>
          <p:nvPr/>
        </p:nvPicPr>
        <p:blipFill>
          <a:blip r:embed="rId4"/>
          <a:srcRect r="32447"/>
          <a:stretch>
            <a:fillRect/>
          </a:stretch>
        </p:blipFill>
        <p:spPr>
          <a:xfrm>
            <a:off x="838198" y="3287604"/>
            <a:ext cx="3861199" cy="1543265"/>
          </a:xfrm>
          <a:prstGeom prst="rect">
            <a:avLst/>
          </a:prstGeom>
        </p:spPr>
      </p:pic>
    </p:spTree>
    <p:extLst>
      <p:ext uri="{BB962C8B-B14F-4D97-AF65-F5344CB8AC3E}">
        <p14:creationId xmlns:p14="http://schemas.microsoft.com/office/powerpoint/2010/main" val="40967997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0A0A5-CDFE-5FB1-3FF1-BF781C844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C896F-DF49-7353-60CB-EC92C3FB0D80}"/>
              </a:ext>
            </a:extLst>
          </p:cNvPr>
          <p:cNvSpPr>
            <a:spLocks noGrp="1"/>
          </p:cNvSpPr>
          <p:nvPr>
            <p:ph type="title"/>
          </p:nvPr>
        </p:nvSpPr>
        <p:spPr/>
        <p:txBody>
          <a:bodyPr/>
          <a:lstStyle/>
          <a:p>
            <a:r>
              <a:rPr lang="en-US" dirty="0"/>
              <a:t>Bayesian Paired Model</a:t>
            </a:r>
            <a:endParaRPr lang="he-IL" dirty="0"/>
          </a:p>
        </p:txBody>
      </p:sp>
      <p:pic>
        <p:nvPicPr>
          <p:cNvPr id="10242" name="Picture 2">
            <a:extLst>
              <a:ext uri="{FF2B5EF4-FFF2-40B4-BE49-F238E27FC236}">
                <a16:creationId xmlns:a16="http://schemas.microsoft.com/office/drawing/2014/main" id="{17F48E26-D1D3-7711-FC7C-09C6C0ECCC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7" y="1981057"/>
            <a:ext cx="11325225"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7285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C5EE3-812C-B6F9-16B5-B41ED9F87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0055B-87AC-3E41-4D2B-0C5B52247866}"/>
              </a:ext>
            </a:extLst>
          </p:cNvPr>
          <p:cNvSpPr>
            <a:spLocks noGrp="1"/>
          </p:cNvSpPr>
          <p:nvPr>
            <p:ph type="title"/>
          </p:nvPr>
        </p:nvSpPr>
        <p:spPr/>
        <p:txBody>
          <a:bodyPr/>
          <a:lstStyle/>
          <a:p>
            <a:r>
              <a:rPr lang="en-US" dirty="0"/>
              <a:t>Bayesian Paired Model</a:t>
            </a:r>
            <a:endParaRPr lang="he-IL" dirty="0"/>
          </a:p>
        </p:txBody>
      </p:sp>
      <p:sp>
        <p:nvSpPr>
          <p:cNvPr id="3" name="Content Placeholder 2">
            <a:extLst>
              <a:ext uri="{FF2B5EF4-FFF2-40B4-BE49-F238E27FC236}">
                <a16:creationId xmlns:a16="http://schemas.microsoft.com/office/drawing/2014/main" id="{A6A97F1E-30FD-5A72-BF14-F2330945E839}"/>
              </a:ext>
            </a:extLst>
          </p:cNvPr>
          <p:cNvSpPr>
            <a:spLocks noGrp="1"/>
          </p:cNvSpPr>
          <p:nvPr>
            <p:ph idx="1"/>
          </p:nvPr>
        </p:nvSpPr>
        <p:spPr>
          <a:xfrm>
            <a:off x="838200" y="1825625"/>
            <a:ext cx="10515600" cy="4351338"/>
          </a:xfrm>
        </p:spPr>
        <p:txBody>
          <a:bodyPr>
            <a:normAutofit/>
          </a:bodyPr>
          <a:lstStyle/>
          <a:p>
            <a:r>
              <a:rPr lang="en-US" dirty="0"/>
              <a:t>Choosing priors for the change</a:t>
            </a:r>
          </a:p>
          <a:p>
            <a:endParaRPr lang="en-US" dirty="0"/>
          </a:p>
          <a:p>
            <a:endParaRPr lang="en-US" dirty="0"/>
          </a:p>
          <a:p>
            <a:endParaRPr lang="he-IL" dirty="0"/>
          </a:p>
        </p:txBody>
      </p:sp>
      <p:pic>
        <p:nvPicPr>
          <p:cNvPr id="6" name="Picture 5">
            <a:extLst>
              <a:ext uri="{FF2B5EF4-FFF2-40B4-BE49-F238E27FC236}">
                <a16:creationId xmlns:a16="http://schemas.microsoft.com/office/drawing/2014/main" id="{F24EC55E-6618-7FD9-037F-26B1843A721D}"/>
              </a:ext>
            </a:extLst>
          </p:cNvPr>
          <p:cNvPicPr>
            <a:picLocks noChangeAspect="1"/>
          </p:cNvPicPr>
          <p:nvPr/>
        </p:nvPicPr>
        <p:blipFill>
          <a:blip r:embed="rId3"/>
          <a:stretch>
            <a:fillRect/>
          </a:stretch>
        </p:blipFill>
        <p:spPr>
          <a:xfrm>
            <a:off x="7105806" y="826733"/>
            <a:ext cx="3586074" cy="1195358"/>
          </a:xfrm>
          <a:prstGeom prst="rect">
            <a:avLst/>
          </a:prstGeom>
        </p:spPr>
      </p:pic>
      <p:pic>
        <p:nvPicPr>
          <p:cNvPr id="11266" name="Picture 2">
            <a:extLst>
              <a:ext uri="{FF2B5EF4-FFF2-40B4-BE49-F238E27FC236}">
                <a16:creationId xmlns:a16="http://schemas.microsoft.com/office/drawing/2014/main" id="{86822E72-B92C-9964-8314-98026F042E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865" y="2778125"/>
            <a:ext cx="11325225"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34674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6EB7-EA66-F290-7FC0-26C90DF32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A92F2-362D-4416-3429-328282E521D0}"/>
              </a:ext>
            </a:extLst>
          </p:cNvPr>
          <p:cNvSpPr>
            <a:spLocks noGrp="1"/>
          </p:cNvSpPr>
          <p:nvPr>
            <p:ph type="title"/>
          </p:nvPr>
        </p:nvSpPr>
        <p:spPr/>
        <p:txBody>
          <a:bodyPr/>
          <a:lstStyle/>
          <a:p>
            <a:r>
              <a:rPr lang="en-US" dirty="0"/>
              <a:t>Bayesian Paired Model</a:t>
            </a:r>
            <a:endParaRPr lang="he-IL" dirty="0"/>
          </a:p>
        </p:txBody>
      </p:sp>
      <p:sp>
        <p:nvSpPr>
          <p:cNvPr id="3" name="Content Placeholder 2">
            <a:extLst>
              <a:ext uri="{FF2B5EF4-FFF2-40B4-BE49-F238E27FC236}">
                <a16:creationId xmlns:a16="http://schemas.microsoft.com/office/drawing/2014/main" id="{56E56AE2-BE85-51B8-2998-5E97FDA4C152}"/>
              </a:ext>
            </a:extLst>
          </p:cNvPr>
          <p:cNvSpPr>
            <a:spLocks noGrp="1"/>
          </p:cNvSpPr>
          <p:nvPr>
            <p:ph idx="1"/>
          </p:nvPr>
        </p:nvSpPr>
        <p:spPr>
          <a:xfrm>
            <a:off x="838200" y="1825625"/>
            <a:ext cx="10515600" cy="4351338"/>
          </a:xfrm>
        </p:spPr>
        <p:txBody>
          <a:bodyPr>
            <a:normAutofit/>
          </a:bodyPr>
          <a:lstStyle/>
          <a:p>
            <a:r>
              <a:rPr lang="en-US" dirty="0"/>
              <a:t>Model</a:t>
            </a:r>
          </a:p>
          <a:p>
            <a:endParaRPr lang="en-US" dirty="0"/>
          </a:p>
          <a:p>
            <a:endParaRPr lang="en-US" dirty="0"/>
          </a:p>
          <a:p>
            <a:endParaRPr lang="he-IL" dirty="0"/>
          </a:p>
        </p:txBody>
      </p:sp>
      <p:pic>
        <p:nvPicPr>
          <p:cNvPr id="6" name="Picture 5">
            <a:extLst>
              <a:ext uri="{FF2B5EF4-FFF2-40B4-BE49-F238E27FC236}">
                <a16:creationId xmlns:a16="http://schemas.microsoft.com/office/drawing/2014/main" id="{AFC758A7-A1C3-EBE1-93F4-E3F7D286CBEC}"/>
              </a:ext>
            </a:extLst>
          </p:cNvPr>
          <p:cNvPicPr>
            <a:picLocks noChangeAspect="1"/>
          </p:cNvPicPr>
          <p:nvPr/>
        </p:nvPicPr>
        <p:blipFill>
          <a:blip r:embed="rId3"/>
          <a:stretch>
            <a:fillRect/>
          </a:stretch>
        </p:blipFill>
        <p:spPr>
          <a:xfrm>
            <a:off x="718285" y="2706082"/>
            <a:ext cx="10755430" cy="3080567"/>
          </a:xfrm>
          <a:prstGeom prst="rect">
            <a:avLst/>
          </a:prstGeom>
        </p:spPr>
      </p:pic>
    </p:spTree>
    <p:extLst>
      <p:ext uri="{BB962C8B-B14F-4D97-AF65-F5344CB8AC3E}">
        <p14:creationId xmlns:p14="http://schemas.microsoft.com/office/powerpoint/2010/main" val="21706239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C471E-FC67-0886-3C09-21FDB5A6D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590C6-F6F8-3C74-DB87-1591565335A7}"/>
              </a:ext>
            </a:extLst>
          </p:cNvPr>
          <p:cNvSpPr>
            <a:spLocks noGrp="1"/>
          </p:cNvSpPr>
          <p:nvPr>
            <p:ph type="title"/>
          </p:nvPr>
        </p:nvSpPr>
        <p:spPr/>
        <p:txBody>
          <a:bodyPr/>
          <a:lstStyle/>
          <a:p>
            <a:r>
              <a:rPr lang="en-US" dirty="0"/>
              <a:t>Bayesian Paired Model</a:t>
            </a:r>
            <a:endParaRPr lang="he-IL" dirty="0"/>
          </a:p>
        </p:txBody>
      </p:sp>
      <p:sp>
        <p:nvSpPr>
          <p:cNvPr id="3" name="Content Placeholder 2">
            <a:extLst>
              <a:ext uri="{FF2B5EF4-FFF2-40B4-BE49-F238E27FC236}">
                <a16:creationId xmlns:a16="http://schemas.microsoft.com/office/drawing/2014/main" id="{69DAC7A2-036E-DB52-4D74-3C248E717770}"/>
              </a:ext>
            </a:extLst>
          </p:cNvPr>
          <p:cNvSpPr>
            <a:spLocks noGrp="1"/>
          </p:cNvSpPr>
          <p:nvPr>
            <p:ph idx="1"/>
          </p:nvPr>
        </p:nvSpPr>
        <p:spPr>
          <a:xfrm>
            <a:off x="838200" y="1825625"/>
            <a:ext cx="10515600" cy="4351338"/>
          </a:xfrm>
        </p:spPr>
        <p:txBody>
          <a:bodyPr>
            <a:normAutofit/>
          </a:bodyPr>
          <a:lstStyle/>
          <a:p>
            <a:r>
              <a:rPr lang="en-US" dirty="0"/>
              <a:t>Model</a:t>
            </a:r>
          </a:p>
          <a:p>
            <a:endParaRPr lang="en-US" dirty="0"/>
          </a:p>
          <a:p>
            <a:endParaRPr lang="en-US" dirty="0"/>
          </a:p>
          <a:p>
            <a:endParaRPr lang="he-IL" dirty="0"/>
          </a:p>
        </p:txBody>
      </p:sp>
      <p:pic>
        <p:nvPicPr>
          <p:cNvPr id="5" name="Picture 4">
            <a:extLst>
              <a:ext uri="{FF2B5EF4-FFF2-40B4-BE49-F238E27FC236}">
                <a16:creationId xmlns:a16="http://schemas.microsoft.com/office/drawing/2014/main" id="{C344FB65-F0F4-6E7D-5ED4-539F15B1A6D3}"/>
              </a:ext>
            </a:extLst>
          </p:cNvPr>
          <p:cNvPicPr>
            <a:picLocks noChangeAspect="1"/>
          </p:cNvPicPr>
          <p:nvPr/>
        </p:nvPicPr>
        <p:blipFill>
          <a:blip r:embed="rId3"/>
          <a:stretch>
            <a:fillRect/>
          </a:stretch>
        </p:blipFill>
        <p:spPr>
          <a:xfrm>
            <a:off x="4281876" y="1968554"/>
            <a:ext cx="4942756" cy="4524321"/>
          </a:xfrm>
          <a:prstGeom prst="rect">
            <a:avLst/>
          </a:prstGeom>
        </p:spPr>
      </p:pic>
    </p:spTree>
    <p:extLst>
      <p:ext uri="{BB962C8B-B14F-4D97-AF65-F5344CB8AC3E}">
        <p14:creationId xmlns:p14="http://schemas.microsoft.com/office/powerpoint/2010/main" val="10483470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FF6F-018D-1CB5-3FC8-C5A047844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C9D4B-10C7-1965-8002-64286A66F837}"/>
              </a:ext>
            </a:extLst>
          </p:cNvPr>
          <p:cNvSpPr>
            <a:spLocks noGrp="1"/>
          </p:cNvSpPr>
          <p:nvPr>
            <p:ph type="title"/>
          </p:nvPr>
        </p:nvSpPr>
        <p:spPr/>
        <p:txBody>
          <a:bodyPr/>
          <a:lstStyle/>
          <a:p>
            <a:r>
              <a:rPr lang="en-US" dirty="0"/>
              <a:t>Bayesian Paired Model</a:t>
            </a:r>
            <a:endParaRPr lang="he-IL" dirty="0"/>
          </a:p>
        </p:txBody>
      </p:sp>
      <p:sp>
        <p:nvSpPr>
          <p:cNvPr id="3" name="Content Placeholder 2">
            <a:extLst>
              <a:ext uri="{FF2B5EF4-FFF2-40B4-BE49-F238E27FC236}">
                <a16:creationId xmlns:a16="http://schemas.microsoft.com/office/drawing/2014/main" id="{7FA9D7BD-72FA-8AAE-4356-D422168F5652}"/>
              </a:ext>
            </a:extLst>
          </p:cNvPr>
          <p:cNvSpPr>
            <a:spLocks noGrp="1"/>
          </p:cNvSpPr>
          <p:nvPr>
            <p:ph idx="1"/>
          </p:nvPr>
        </p:nvSpPr>
        <p:spPr>
          <a:xfrm>
            <a:off x="838200" y="1825625"/>
            <a:ext cx="10515600" cy="4351338"/>
          </a:xfrm>
        </p:spPr>
        <p:txBody>
          <a:bodyPr>
            <a:normAutofit/>
          </a:bodyPr>
          <a:lstStyle/>
          <a:p>
            <a:r>
              <a:rPr lang="en-US" dirty="0"/>
              <a:t>Prior predictive</a:t>
            </a:r>
          </a:p>
          <a:p>
            <a:endParaRPr lang="en-US" dirty="0"/>
          </a:p>
          <a:p>
            <a:endParaRPr lang="en-US" dirty="0"/>
          </a:p>
          <a:p>
            <a:endParaRPr lang="he-IL" dirty="0"/>
          </a:p>
        </p:txBody>
      </p:sp>
      <p:pic>
        <p:nvPicPr>
          <p:cNvPr id="4" name="Picture 2">
            <a:extLst>
              <a:ext uri="{FF2B5EF4-FFF2-40B4-BE49-F238E27FC236}">
                <a16:creationId xmlns:a16="http://schemas.microsoft.com/office/drawing/2014/main" id="{E8A9DC30-E00C-7EFC-FEEA-1DBC9368D4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5742" y="1816100"/>
            <a:ext cx="6962775" cy="467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9861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401D5-BC8A-1AFF-7E96-47E1F11096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670E0-A2FD-1230-96EF-0B10CCB9BA98}"/>
              </a:ext>
            </a:extLst>
          </p:cNvPr>
          <p:cNvSpPr>
            <a:spLocks noGrp="1"/>
          </p:cNvSpPr>
          <p:nvPr>
            <p:ph type="title"/>
          </p:nvPr>
        </p:nvSpPr>
        <p:spPr/>
        <p:txBody>
          <a:bodyPr/>
          <a:lstStyle/>
          <a:p>
            <a:r>
              <a:rPr lang="en-US" dirty="0"/>
              <a:t>Bayesian Paired Model</a:t>
            </a:r>
            <a:endParaRPr lang="he-IL" dirty="0"/>
          </a:p>
        </p:txBody>
      </p:sp>
      <p:sp>
        <p:nvSpPr>
          <p:cNvPr id="3" name="Content Placeholder 2">
            <a:extLst>
              <a:ext uri="{FF2B5EF4-FFF2-40B4-BE49-F238E27FC236}">
                <a16:creationId xmlns:a16="http://schemas.microsoft.com/office/drawing/2014/main" id="{A32356D8-2714-313C-A693-A5BAE983C750}"/>
              </a:ext>
            </a:extLst>
          </p:cNvPr>
          <p:cNvSpPr>
            <a:spLocks noGrp="1"/>
          </p:cNvSpPr>
          <p:nvPr>
            <p:ph idx="1"/>
          </p:nvPr>
        </p:nvSpPr>
        <p:spPr>
          <a:xfrm>
            <a:off x="838200" y="1825625"/>
            <a:ext cx="10515600" cy="4351338"/>
          </a:xfrm>
        </p:spPr>
        <p:txBody>
          <a:bodyPr>
            <a:normAutofit/>
          </a:bodyPr>
          <a:lstStyle/>
          <a:p>
            <a:r>
              <a:rPr lang="en-US" dirty="0"/>
              <a:t>Diagnostics</a:t>
            </a:r>
          </a:p>
          <a:p>
            <a:endParaRPr lang="en-US" dirty="0"/>
          </a:p>
          <a:p>
            <a:endParaRPr lang="en-US" dirty="0"/>
          </a:p>
          <a:p>
            <a:endParaRPr lang="he-IL" dirty="0"/>
          </a:p>
        </p:txBody>
      </p:sp>
      <p:pic>
        <p:nvPicPr>
          <p:cNvPr id="13314" name="Picture 2">
            <a:extLst>
              <a:ext uri="{FF2B5EF4-FFF2-40B4-BE49-F238E27FC236}">
                <a16:creationId xmlns:a16="http://schemas.microsoft.com/office/drawing/2014/main" id="{1628E4DE-42F6-55A0-3CBC-BE0FED63B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1487" y="2941025"/>
            <a:ext cx="7158544" cy="36117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44D9414-8CE4-9EF7-5B4A-D2FE83032C3E}"/>
              </a:ext>
            </a:extLst>
          </p:cNvPr>
          <p:cNvPicPr>
            <a:picLocks noChangeAspect="1"/>
          </p:cNvPicPr>
          <p:nvPr/>
        </p:nvPicPr>
        <p:blipFill>
          <a:blip r:embed="rId4"/>
          <a:stretch>
            <a:fillRect/>
          </a:stretch>
        </p:blipFill>
        <p:spPr>
          <a:xfrm>
            <a:off x="6096000" y="1239616"/>
            <a:ext cx="5109830" cy="1325563"/>
          </a:xfrm>
          <a:prstGeom prst="rect">
            <a:avLst/>
          </a:prstGeom>
        </p:spPr>
      </p:pic>
    </p:spTree>
    <p:extLst>
      <p:ext uri="{BB962C8B-B14F-4D97-AF65-F5344CB8AC3E}">
        <p14:creationId xmlns:p14="http://schemas.microsoft.com/office/powerpoint/2010/main" val="13397214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C78C4-4A98-5B7D-91ED-60D19B459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5AE7B-AB34-889D-F0CA-B939990D8212}"/>
              </a:ext>
            </a:extLst>
          </p:cNvPr>
          <p:cNvSpPr>
            <a:spLocks noGrp="1"/>
          </p:cNvSpPr>
          <p:nvPr>
            <p:ph type="title"/>
          </p:nvPr>
        </p:nvSpPr>
        <p:spPr/>
        <p:txBody>
          <a:bodyPr/>
          <a:lstStyle/>
          <a:p>
            <a:r>
              <a:rPr lang="en-US" dirty="0"/>
              <a:t>Bayesian Paired Model</a:t>
            </a:r>
            <a:endParaRPr lang="he-IL" dirty="0"/>
          </a:p>
        </p:txBody>
      </p:sp>
      <p:sp>
        <p:nvSpPr>
          <p:cNvPr id="3" name="Content Placeholder 2">
            <a:extLst>
              <a:ext uri="{FF2B5EF4-FFF2-40B4-BE49-F238E27FC236}">
                <a16:creationId xmlns:a16="http://schemas.microsoft.com/office/drawing/2014/main" id="{723BB1E8-8B8E-5400-333C-D2C33EC5BE54}"/>
              </a:ext>
            </a:extLst>
          </p:cNvPr>
          <p:cNvSpPr>
            <a:spLocks noGrp="1"/>
          </p:cNvSpPr>
          <p:nvPr>
            <p:ph idx="1"/>
          </p:nvPr>
        </p:nvSpPr>
        <p:spPr>
          <a:xfrm>
            <a:off x="838200" y="1825625"/>
            <a:ext cx="10515600" cy="4351338"/>
          </a:xfrm>
        </p:spPr>
        <p:txBody>
          <a:bodyPr>
            <a:normAutofit/>
          </a:bodyPr>
          <a:lstStyle/>
          <a:p>
            <a:r>
              <a:rPr lang="en-US" dirty="0"/>
              <a:t>Posterior Predictive</a:t>
            </a:r>
          </a:p>
          <a:p>
            <a:endParaRPr lang="en-US" dirty="0"/>
          </a:p>
          <a:p>
            <a:endParaRPr lang="en-US" dirty="0"/>
          </a:p>
          <a:p>
            <a:endParaRPr lang="he-IL" dirty="0"/>
          </a:p>
        </p:txBody>
      </p:sp>
      <p:pic>
        <p:nvPicPr>
          <p:cNvPr id="5" name="Picture 4">
            <a:extLst>
              <a:ext uri="{FF2B5EF4-FFF2-40B4-BE49-F238E27FC236}">
                <a16:creationId xmlns:a16="http://schemas.microsoft.com/office/drawing/2014/main" id="{AF792DD6-2323-1FE5-8494-B9F6ED728D27}"/>
              </a:ext>
            </a:extLst>
          </p:cNvPr>
          <p:cNvPicPr>
            <a:picLocks noChangeAspect="1"/>
          </p:cNvPicPr>
          <p:nvPr/>
        </p:nvPicPr>
        <p:blipFill>
          <a:blip r:embed="rId3"/>
          <a:stretch>
            <a:fillRect/>
          </a:stretch>
        </p:blipFill>
        <p:spPr>
          <a:xfrm>
            <a:off x="564985" y="2634265"/>
            <a:ext cx="4410691" cy="2734057"/>
          </a:xfrm>
          <a:prstGeom prst="rect">
            <a:avLst/>
          </a:prstGeom>
        </p:spPr>
      </p:pic>
      <p:pic>
        <p:nvPicPr>
          <p:cNvPr id="4" name="Picture 4">
            <a:extLst>
              <a:ext uri="{FF2B5EF4-FFF2-40B4-BE49-F238E27FC236}">
                <a16:creationId xmlns:a16="http://schemas.microsoft.com/office/drawing/2014/main" id="{E78FABE1-E4A6-94FD-80A1-370BB72B32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891" y="1960562"/>
            <a:ext cx="647826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7721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31918-EE34-FAD4-6419-DA3169A68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B5DAA-C61C-7C11-4C01-963C73DAE97F}"/>
              </a:ext>
            </a:extLst>
          </p:cNvPr>
          <p:cNvSpPr>
            <a:spLocks noGrp="1"/>
          </p:cNvSpPr>
          <p:nvPr>
            <p:ph type="title"/>
          </p:nvPr>
        </p:nvSpPr>
        <p:spPr/>
        <p:txBody>
          <a:bodyPr/>
          <a:lstStyle/>
          <a:p>
            <a:r>
              <a:rPr lang="en-US" dirty="0"/>
              <a:t>Bayesian Paired Model</a:t>
            </a:r>
            <a:endParaRPr lang="he-IL" dirty="0"/>
          </a:p>
        </p:txBody>
      </p:sp>
      <p:sp>
        <p:nvSpPr>
          <p:cNvPr id="3" name="Content Placeholder 2">
            <a:extLst>
              <a:ext uri="{FF2B5EF4-FFF2-40B4-BE49-F238E27FC236}">
                <a16:creationId xmlns:a16="http://schemas.microsoft.com/office/drawing/2014/main" id="{C0570E2D-9D53-4BCD-6A38-A7C2D85A52F2}"/>
              </a:ext>
            </a:extLst>
          </p:cNvPr>
          <p:cNvSpPr>
            <a:spLocks noGrp="1"/>
          </p:cNvSpPr>
          <p:nvPr>
            <p:ph idx="1"/>
          </p:nvPr>
        </p:nvSpPr>
        <p:spPr>
          <a:xfrm>
            <a:off x="838200" y="1825625"/>
            <a:ext cx="10515600" cy="4351338"/>
          </a:xfrm>
        </p:spPr>
        <p:txBody>
          <a:bodyPr>
            <a:normAutofit/>
          </a:bodyPr>
          <a:lstStyle/>
          <a:p>
            <a:r>
              <a:rPr lang="en-US" dirty="0"/>
              <a:t>Posterior</a:t>
            </a:r>
          </a:p>
          <a:p>
            <a:endParaRPr lang="en-US" dirty="0"/>
          </a:p>
          <a:p>
            <a:endParaRPr lang="en-US" dirty="0"/>
          </a:p>
          <a:p>
            <a:endParaRPr lang="he-IL" dirty="0"/>
          </a:p>
        </p:txBody>
      </p:sp>
      <p:pic>
        <p:nvPicPr>
          <p:cNvPr id="6" name="Picture 5">
            <a:extLst>
              <a:ext uri="{FF2B5EF4-FFF2-40B4-BE49-F238E27FC236}">
                <a16:creationId xmlns:a16="http://schemas.microsoft.com/office/drawing/2014/main" id="{D9EBF7F6-58D0-6935-A981-51FC1980AB97}"/>
              </a:ext>
            </a:extLst>
          </p:cNvPr>
          <p:cNvPicPr>
            <a:picLocks noChangeAspect="1"/>
          </p:cNvPicPr>
          <p:nvPr/>
        </p:nvPicPr>
        <p:blipFill>
          <a:blip r:embed="rId3"/>
          <a:stretch>
            <a:fillRect/>
          </a:stretch>
        </p:blipFill>
        <p:spPr>
          <a:xfrm>
            <a:off x="3021618" y="2578399"/>
            <a:ext cx="5057857" cy="2182706"/>
          </a:xfrm>
          <a:prstGeom prst="rect">
            <a:avLst/>
          </a:prstGeom>
        </p:spPr>
      </p:pic>
    </p:spTree>
    <p:extLst>
      <p:ext uri="{BB962C8B-B14F-4D97-AF65-F5344CB8AC3E}">
        <p14:creationId xmlns:p14="http://schemas.microsoft.com/office/powerpoint/2010/main" val="7670987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C0C98-2CA4-C5B5-CEAF-06FB7D2F4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87C5C-93CF-C82D-09CC-5124CF397D1C}"/>
              </a:ext>
            </a:extLst>
          </p:cNvPr>
          <p:cNvSpPr>
            <a:spLocks noGrp="1"/>
          </p:cNvSpPr>
          <p:nvPr>
            <p:ph type="title"/>
          </p:nvPr>
        </p:nvSpPr>
        <p:spPr/>
        <p:txBody>
          <a:bodyPr/>
          <a:lstStyle/>
          <a:p>
            <a:r>
              <a:rPr lang="en-US" dirty="0"/>
              <a:t>Bayesian Paired Model</a:t>
            </a:r>
            <a:endParaRPr lang="he-IL" dirty="0"/>
          </a:p>
        </p:txBody>
      </p:sp>
      <p:sp>
        <p:nvSpPr>
          <p:cNvPr id="3" name="Content Placeholder 2">
            <a:extLst>
              <a:ext uri="{FF2B5EF4-FFF2-40B4-BE49-F238E27FC236}">
                <a16:creationId xmlns:a16="http://schemas.microsoft.com/office/drawing/2014/main" id="{1AFD403E-B56C-2A2A-6BAD-607E70C9AB1D}"/>
              </a:ext>
            </a:extLst>
          </p:cNvPr>
          <p:cNvSpPr>
            <a:spLocks noGrp="1"/>
          </p:cNvSpPr>
          <p:nvPr>
            <p:ph idx="1"/>
          </p:nvPr>
        </p:nvSpPr>
        <p:spPr>
          <a:xfrm>
            <a:off x="838200" y="1825625"/>
            <a:ext cx="10515600" cy="4351338"/>
          </a:xfrm>
        </p:spPr>
        <p:txBody>
          <a:bodyPr>
            <a:normAutofit/>
          </a:bodyPr>
          <a:lstStyle/>
          <a:p>
            <a:r>
              <a:rPr lang="en-US" dirty="0"/>
              <a:t>HDI\ROPE test</a:t>
            </a:r>
          </a:p>
          <a:p>
            <a:endParaRPr lang="en-US" dirty="0"/>
          </a:p>
          <a:p>
            <a:endParaRPr lang="en-US" dirty="0"/>
          </a:p>
          <a:p>
            <a:endParaRPr lang="he-IL" dirty="0"/>
          </a:p>
        </p:txBody>
      </p:sp>
      <p:pic>
        <p:nvPicPr>
          <p:cNvPr id="15362" name="Picture 2">
            <a:extLst>
              <a:ext uri="{FF2B5EF4-FFF2-40B4-BE49-F238E27FC236}">
                <a16:creationId xmlns:a16="http://schemas.microsoft.com/office/drawing/2014/main" id="{DB2E6DE3-1E71-F4FA-25A4-F037182584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4950" y="1662906"/>
            <a:ext cx="6943725" cy="46767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8B6C93A-2375-2778-F1B9-8A98F2D697A1}"/>
              </a:ext>
            </a:extLst>
          </p:cNvPr>
          <p:cNvPicPr>
            <a:picLocks noChangeAspect="1"/>
          </p:cNvPicPr>
          <p:nvPr/>
        </p:nvPicPr>
        <p:blipFill>
          <a:blip r:embed="rId4"/>
          <a:stretch>
            <a:fillRect/>
          </a:stretch>
        </p:blipFill>
        <p:spPr>
          <a:xfrm>
            <a:off x="835532" y="2816378"/>
            <a:ext cx="3574543" cy="1727916"/>
          </a:xfrm>
          <a:prstGeom prst="rect">
            <a:avLst/>
          </a:prstGeom>
        </p:spPr>
      </p:pic>
    </p:spTree>
    <p:extLst>
      <p:ext uri="{BB962C8B-B14F-4D97-AF65-F5344CB8AC3E}">
        <p14:creationId xmlns:p14="http://schemas.microsoft.com/office/powerpoint/2010/main" val="27959728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7B52D-8FCC-0905-8CC4-65408D255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D800F-141E-6D59-8EC0-E15AA1C2BB4E}"/>
              </a:ext>
            </a:extLst>
          </p:cNvPr>
          <p:cNvSpPr>
            <a:spLocks noGrp="1"/>
          </p:cNvSpPr>
          <p:nvPr>
            <p:ph type="title"/>
          </p:nvPr>
        </p:nvSpPr>
        <p:spPr/>
        <p:txBody>
          <a:bodyPr/>
          <a:lstStyle/>
          <a:p>
            <a:r>
              <a:rPr lang="en-US" dirty="0"/>
              <a:t>Bayesian Paired Model</a:t>
            </a:r>
            <a:endParaRPr lang="he-IL" dirty="0"/>
          </a:p>
        </p:txBody>
      </p:sp>
      <p:sp>
        <p:nvSpPr>
          <p:cNvPr id="3" name="Content Placeholder 2">
            <a:extLst>
              <a:ext uri="{FF2B5EF4-FFF2-40B4-BE49-F238E27FC236}">
                <a16:creationId xmlns:a16="http://schemas.microsoft.com/office/drawing/2014/main" id="{34BCB7EA-0C3B-7BF7-F33C-8FEBE1F12E9B}"/>
              </a:ext>
            </a:extLst>
          </p:cNvPr>
          <p:cNvSpPr>
            <a:spLocks noGrp="1"/>
          </p:cNvSpPr>
          <p:nvPr>
            <p:ph idx="1"/>
          </p:nvPr>
        </p:nvSpPr>
        <p:spPr>
          <a:xfrm>
            <a:off x="838200" y="1825625"/>
            <a:ext cx="10515600" cy="4351338"/>
          </a:xfrm>
        </p:spPr>
        <p:txBody>
          <a:bodyPr>
            <a:normAutofit/>
          </a:bodyPr>
          <a:lstStyle/>
          <a:p>
            <a:r>
              <a:rPr lang="en-US" dirty="0"/>
              <a:t>HDI\ROPE test</a:t>
            </a:r>
          </a:p>
          <a:p>
            <a:endParaRPr lang="en-US" dirty="0"/>
          </a:p>
          <a:p>
            <a:endParaRPr lang="en-US" dirty="0"/>
          </a:p>
          <a:p>
            <a:endParaRPr lang="he-IL" dirty="0"/>
          </a:p>
        </p:txBody>
      </p:sp>
      <p:pic>
        <p:nvPicPr>
          <p:cNvPr id="8" name="Picture 7">
            <a:extLst>
              <a:ext uri="{FF2B5EF4-FFF2-40B4-BE49-F238E27FC236}">
                <a16:creationId xmlns:a16="http://schemas.microsoft.com/office/drawing/2014/main" id="{2381A90A-8FB7-8861-1A46-46ADD9FAB653}"/>
              </a:ext>
            </a:extLst>
          </p:cNvPr>
          <p:cNvPicPr>
            <a:picLocks noChangeAspect="1"/>
          </p:cNvPicPr>
          <p:nvPr/>
        </p:nvPicPr>
        <p:blipFill>
          <a:blip r:embed="rId3"/>
          <a:stretch>
            <a:fillRect/>
          </a:stretch>
        </p:blipFill>
        <p:spPr>
          <a:xfrm>
            <a:off x="1044311" y="2642263"/>
            <a:ext cx="10103378" cy="1955069"/>
          </a:xfrm>
          <a:prstGeom prst="rect">
            <a:avLst/>
          </a:prstGeom>
        </p:spPr>
      </p:pic>
    </p:spTree>
    <p:extLst>
      <p:ext uri="{BB962C8B-B14F-4D97-AF65-F5344CB8AC3E}">
        <p14:creationId xmlns:p14="http://schemas.microsoft.com/office/powerpoint/2010/main" val="24112711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7345C-FC48-56EA-F09A-814783FA2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135D6-1CE6-5279-AA05-C2BE684E99A0}"/>
              </a:ext>
            </a:extLst>
          </p:cNvPr>
          <p:cNvSpPr>
            <a:spLocks noGrp="1"/>
          </p:cNvSpPr>
          <p:nvPr>
            <p:ph type="title"/>
          </p:nvPr>
        </p:nvSpPr>
        <p:spPr/>
        <p:txBody>
          <a:bodyPr/>
          <a:lstStyle/>
          <a:p>
            <a:r>
              <a:rPr lang="en-US" dirty="0"/>
              <a:t>Bayesian Paired Model</a:t>
            </a:r>
            <a:endParaRPr lang="he-IL" dirty="0"/>
          </a:p>
        </p:txBody>
      </p:sp>
      <p:sp>
        <p:nvSpPr>
          <p:cNvPr id="3" name="Content Placeholder 2">
            <a:extLst>
              <a:ext uri="{FF2B5EF4-FFF2-40B4-BE49-F238E27FC236}">
                <a16:creationId xmlns:a16="http://schemas.microsoft.com/office/drawing/2014/main" id="{E1B3AAEB-2269-60FA-150D-0E6E16AEDD29}"/>
              </a:ext>
            </a:extLst>
          </p:cNvPr>
          <p:cNvSpPr>
            <a:spLocks noGrp="1"/>
          </p:cNvSpPr>
          <p:nvPr>
            <p:ph idx="1"/>
          </p:nvPr>
        </p:nvSpPr>
        <p:spPr>
          <a:xfrm>
            <a:off x="838200" y="1825625"/>
            <a:ext cx="10515600" cy="4351338"/>
          </a:xfrm>
        </p:spPr>
        <p:txBody>
          <a:bodyPr>
            <a:normAutofit/>
          </a:bodyPr>
          <a:lstStyle/>
          <a:p>
            <a:r>
              <a:rPr lang="en-US" b="1" dirty="0"/>
              <a:t>Reporting</a:t>
            </a:r>
          </a:p>
          <a:p>
            <a:r>
              <a:rPr lang="en-US" dirty="0"/>
              <a:t>The observed mean change after six weeks was -3.85 kg.</a:t>
            </a:r>
          </a:p>
          <a:p>
            <a:r>
              <a:rPr lang="en-US" dirty="0"/>
              <a:t>The Bayesian paired Normal model estimated the posterior mean change as -3.85 kg, with a 94% HDI from-4.06 to -3.64 kg.</a:t>
            </a:r>
          </a:p>
          <a:p>
            <a:r>
              <a:rPr lang="en-US" dirty="0"/>
              <a:t>The posterior probability that the change is positive was 0.000.</a:t>
            </a:r>
          </a:p>
          <a:p>
            <a:endParaRPr lang="en-US" dirty="0"/>
          </a:p>
          <a:p>
            <a:endParaRPr lang="he-IL" dirty="0"/>
          </a:p>
        </p:txBody>
      </p:sp>
    </p:spTree>
    <p:extLst>
      <p:ext uri="{BB962C8B-B14F-4D97-AF65-F5344CB8AC3E}">
        <p14:creationId xmlns:p14="http://schemas.microsoft.com/office/powerpoint/2010/main" val="32313455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CE70C-9E3B-2B91-F454-D67B2AEC3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7CA3B-8831-B19C-9E2E-6DE364C1E7A0}"/>
              </a:ext>
            </a:extLst>
          </p:cNvPr>
          <p:cNvSpPr>
            <a:spLocks noGrp="1"/>
          </p:cNvSpPr>
          <p:nvPr>
            <p:ph type="title"/>
          </p:nvPr>
        </p:nvSpPr>
        <p:spPr/>
        <p:txBody>
          <a:bodyPr/>
          <a:lstStyle/>
          <a:p>
            <a:r>
              <a:rPr lang="en-US" dirty="0"/>
              <a:t>Frequentist t-tests</a:t>
            </a:r>
            <a:endParaRPr lang="he-IL" dirty="0"/>
          </a:p>
        </p:txBody>
      </p:sp>
      <p:sp>
        <p:nvSpPr>
          <p:cNvPr id="3" name="Content Placeholder 2">
            <a:extLst>
              <a:ext uri="{FF2B5EF4-FFF2-40B4-BE49-F238E27FC236}">
                <a16:creationId xmlns:a16="http://schemas.microsoft.com/office/drawing/2014/main" id="{2F36540F-E351-7FD3-62F9-A70E37DE31A5}"/>
              </a:ext>
            </a:extLst>
          </p:cNvPr>
          <p:cNvSpPr>
            <a:spLocks noGrp="1"/>
          </p:cNvSpPr>
          <p:nvPr>
            <p:ph idx="1"/>
          </p:nvPr>
        </p:nvSpPr>
        <p:spPr/>
        <p:txBody>
          <a:bodyPr>
            <a:normAutofit/>
          </a:bodyPr>
          <a:lstStyle/>
          <a:p>
            <a:r>
              <a:rPr lang="en-US" dirty="0"/>
              <a:t>Frequentist t-tests are used to test hypotheses about means of continuous variables.</a:t>
            </a:r>
          </a:p>
          <a:p>
            <a:r>
              <a:rPr lang="en-US" dirty="0"/>
              <a:t>They compare an observed mean difference to the variation expected under the null hypothesis.</a:t>
            </a:r>
            <a:endParaRPr lang="en-US" b="1" dirty="0">
              <a:solidFill>
                <a:srgbClr val="FF0000"/>
              </a:solidFill>
            </a:endParaRPr>
          </a:p>
          <a:p>
            <a:pPr marL="0" indent="0">
              <a:buNone/>
            </a:pPr>
            <a:endParaRPr lang="he-IL" dirty="0">
              <a:solidFill>
                <a:srgbClr val="FF0000"/>
              </a:solidFill>
            </a:endParaRPr>
          </a:p>
        </p:txBody>
      </p:sp>
    </p:spTree>
    <p:extLst>
      <p:ext uri="{BB962C8B-B14F-4D97-AF65-F5344CB8AC3E}">
        <p14:creationId xmlns:p14="http://schemas.microsoft.com/office/powerpoint/2010/main" val="39889025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0EB3E-3A32-AFDA-84FC-98D27C4182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DE0D9-3745-5F38-3033-6535E0B1EEAD}"/>
              </a:ext>
            </a:extLst>
          </p:cNvPr>
          <p:cNvSpPr>
            <a:spLocks noGrp="1"/>
          </p:cNvSpPr>
          <p:nvPr>
            <p:ph type="title"/>
          </p:nvPr>
        </p:nvSpPr>
        <p:spPr/>
        <p:txBody>
          <a:bodyPr/>
          <a:lstStyle/>
          <a:p>
            <a:r>
              <a:rPr lang="en-US" dirty="0"/>
              <a:t>Frequentist t-tests</a:t>
            </a:r>
            <a:endParaRPr lang="he-I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0155091-AA3E-37C7-127B-E03B1B1AC50A}"/>
                  </a:ext>
                </a:extLst>
              </p:cNvPr>
              <p:cNvSpPr>
                <a:spLocks noGrp="1"/>
              </p:cNvSpPr>
              <p:nvPr>
                <p:ph idx="1"/>
              </p:nvPr>
            </p:nvSpPr>
            <p:spPr/>
            <p:txBody>
              <a:bodyPr>
                <a:normAutofit lnSpcReduction="10000"/>
              </a:bodyPr>
              <a:lstStyle/>
              <a:p>
                <a:r>
                  <a:rPr lang="en-US" dirty="0"/>
                  <a:t>A t-test assumes the null hypothesis is true.</a:t>
                </a:r>
              </a:p>
              <a:p>
                <a:r>
                  <a:rPr lang="en-US" dirty="0"/>
                  <a:t>Under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oMath>
                </a14:m>
                <a:r>
                  <a:rPr lang="en-US" dirty="0"/>
                  <a:t>, the test statistic follows a t-distribution:</a:t>
                </a:r>
              </a:p>
              <a:p>
                <a:pPr marL="0" indent="0">
                  <a:buNone/>
                </a:pPr>
                <a:br>
                  <a:rPr lang="en-US"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 = </m:t>
                      </m:r>
                      <m:f>
                        <m:fPr>
                          <m:ctrlPr>
                            <a:rPr lang="en-US" i="1" dirty="0" smtClean="0">
                              <a:latin typeface="Cambria Math" panose="02040503050406030204" pitchFamily="18" charset="0"/>
                            </a:rPr>
                          </m:ctrlPr>
                        </m:fPr>
                        <m:num>
                          <m:r>
                            <a:rPr lang="en-US" i="1" dirty="0">
                              <a:latin typeface="Cambria Math" panose="02040503050406030204" pitchFamily="18" charset="0"/>
                            </a:rPr>
                            <m:t>𝑜𝑏𝑠𝑒𝑟𝑣𝑒𝑑</m:t>
                          </m:r>
                          <m:r>
                            <a:rPr lang="en-US" i="1" dirty="0">
                              <a:latin typeface="Cambria Math" panose="02040503050406030204" pitchFamily="18" charset="0"/>
                            </a:rPr>
                            <m:t> </m:t>
                          </m:r>
                          <m:r>
                            <a:rPr lang="en-US" i="1" dirty="0">
                              <a:latin typeface="Cambria Math" panose="02040503050406030204" pitchFamily="18" charset="0"/>
                            </a:rPr>
                            <m:t>𝑒𝑠𝑡𝑖𝑚𝑎𝑡𝑒</m:t>
                          </m:r>
                          <m:r>
                            <a:rPr lang="en-US" i="1" dirty="0">
                              <a:latin typeface="Cambria Math" panose="02040503050406030204" pitchFamily="18" charset="0"/>
                            </a:rPr>
                            <m:t> − </m:t>
                          </m:r>
                          <m:r>
                            <a:rPr lang="en-US" i="1" dirty="0">
                              <a:latin typeface="Cambria Math" panose="02040503050406030204" pitchFamily="18" charset="0"/>
                            </a:rPr>
                            <m:t>𝑛𝑢𝑙𝑙</m:t>
                          </m:r>
                          <m:r>
                            <a:rPr lang="en-US" i="1" dirty="0">
                              <a:latin typeface="Cambria Math" panose="02040503050406030204" pitchFamily="18" charset="0"/>
                            </a:rPr>
                            <m:t> </m:t>
                          </m:r>
                          <m:r>
                            <a:rPr lang="en-US" i="1" dirty="0">
                              <a:latin typeface="Cambria Math" panose="02040503050406030204" pitchFamily="18" charset="0"/>
                            </a:rPr>
                            <m:t>𝑣𝑎𝑙𝑢𝑒</m:t>
                          </m:r>
                        </m:num>
                        <m:den>
                          <m:r>
                            <a:rPr lang="en-US" i="1" dirty="0">
                              <a:latin typeface="Cambria Math" panose="02040503050406030204" pitchFamily="18" charset="0"/>
                            </a:rPr>
                            <m:t>𝑠𝑡𝑎𝑛𝑑𝑎𝑟𝑑</m:t>
                          </m:r>
                          <m:r>
                            <a:rPr lang="en-US" i="1" dirty="0">
                              <a:latin typeface="Cambria Math" panose="02040503050406030204" pitchFamily="18" charset="0"/>
                            </a:rPr>
                            <m:t> </m:t>
                          </m:r>
                          <m:r>
                            <a:rPr lang="en-US" i="1" dirty="0">
                              <a:latin typeface="Cambria Math" panose="02040503050406030204" pitchFamily="18" charset="0"/>
                            </a:rPr>
                            <m:t>𝑒𝑟𝑟𝑜𝑟</m:t>
                          </m:r>
                        </m:den>
                      </m:f>
                    </m:oMath>
                  </m:oMathPara>
                </a14:m>
                <a:endParaRPr lang="en-US" dirty="0"/>
              </a:p>
              <a:p>
                <a:pPr marL="0" indent="0">
                  <a:buNone/>
                </a:pPr>
                <a:endParaRPr lang="en-US" dirty="0"/>
              </a:p>
              <a:p>
                <a:r>
                  <a:rPr lang="en-US" dirty="0"/>
                  <a:t>The t-distribution is the null sampling distribution of the t-statistic.</a:t>
                </a:r>
              </a:p>
              <a:p>
                <a:r>
                  <a:rPr lang="en-US" dirty="0"/>
                  <a:t>We ask:</a:t>
                </a:r>
              </a:p>
              <a:p>
                <a:pPr lvl="1"/>
                <a:r>
                  <a:rPr lang="en-US" dirty="0"/>
                  <a:t>If H0 were true, how extreme would our observed t-statistic be?</a:t>
                </a:r>
              </a:p>
              <a:p>
                <a:r>
                  <a:rPr lang="en-US" dirty="0"/>
                  <a:t>A very extreme t-statistic gives a small p-value.</a:t>
                </a:r>
                <a:endParaRPr lang="he-IL" dirty="0">
                  <a:solidFill>
                    <a:srgbClr val="FF0000"/>
                  </a:solidFill>
                </a:endParaRPr>
              </a:p>
            </p:txBody>
          </p:sp>
        </mc:Choice>
        <mc:Fallback>
          <p:sp>
            <p:nvSpPr>
              <p:cNvPr id="3" name="Content Placeholder 2">
                <a:extLst>
                  <a:ext uri="{FF2B5EF4-FFF2-40B4-BE49-F238E27FC236}">
                    <a16:creationId xmlns:a16="http://schemas.microsoft.com/office/drawing/2014/main" id="{50155091-AA3E-37C7-127B-E03B1B1AC50A}"/>
                  </a:ext>
                </a:extLst>
              </p:cNvPr>
              <p:cNvSpPr>
                <a:spLocks noGrp="1" noRot="1" noChangeAspect="1" noMove="1" noResize="1" noEditPoints="1" noAdjustHandles="1" noChangeArrowheads="1" noChangeShapeType="1" noTextEdit="1"/>
              </p:cNvSpPr>
              <p:nvPr>
                <p:ph idx="1"/>
              </p:nvPr>
            </p:nvSpPr>
            <p:spPr>
              <a:blipFill>
                <a:blip r:embed="rId3"/>
                <a:stretch>
                  <a:fillRect l="-1043" t="-2941" b="-1961"/>
                </a:stretch>
              </a:blipFill>
            </p:spPr>
            <p:txBody>
              <a:bodyPr/>
              <a:lstStyle/>
              <a:p>
                <a:r>
                  <a:rPr lang="he-IL">
                    <a:noFill/>
                  </a:rPr>
                  <a:t> </a:t>
                </a:r>
              </a:p>
            </p:txBody>
          </p:sp>
        </mc:Fallback>
      </mc:AlternateContent>
    </p:spTree>
    <p:extLst>
      <p:ext uri="{BB962C8B-B14F-4D97-AF65-F5344CB8AC3E}">
        <p14:creationId xmlns:p14="http://schemas.microsoft.com/office/powerpoint/2010/main" val="22231937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30963-B96C-C08B-2A97-C87576F30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0C52B-91FA-C642-5EEB-77DD741D6902}"/>
              </a:ext>
            </a:extLst>
          </p:cNvPr>
          <p:cNvSpPr>
            <a:spLocks noGrp="1"/>
          </p:cNvSpPr>
          <p:nvPr>
            <p:ph type="title"/>
          </p:nvPr>
        </p:nvSpPr>
        <p:spPr/>
        <p:txBody>
          <a:bodyPr/>
          <a:lstStyle/>
          <a:p>
            <a:r>
              <a:rPr lang="en-US" dirty="0"/>
              <a:t>Frequentist t-tests</a:t>
            </a:r>
            <a:endParaRPr lang="he-I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E961325-EF90-C88C-3126-02FDD15C7424}"/>
                  </a:ext>
                </a:extLst>
              </p:cNvPr>
              <p:cNvSpPr>
                <a:spLocks noGrp="1"/>
              </p:cNvSpPr>
              <p:nvPr>
                <p:ph idx="1"/>
              </p:nvPr>
            </p:nvSpPr>
            <p:spPr/>
            <p:txBody>
              <a:bodyPr>
                <a:normAutofit lnSpcReduction="10000"/>
              </a:bodyPr>
              <a:lstStyle/>
              <a:p>
                <a:r>
                  <a:rPr lang="en-US" b="1" dirty="0"/>
                  <a:t>Why do we use the t-distribution?</a:t>
                </a:r>
              </a:p>
              <a:p>
                <a:r>
                  <a:rPr lang="en-US" dirty="0"/>
                  <a:t>The z-test uses a Normal reference distribution.</a:t>
                </a:r>
              </a:p>
              <a:p>
                <a:r>
                  <a:rPr lang="en-US" dirty="0"/>
                  <a:t>The t-test uses a t-distribution because the population standard deviation is unknown and estimated from the sample.</a:t>
                </a:r>
                <a:endParaRPr lang="he-IL" dirty="0"/>
              </a:p>
              <a:p>
                <a:pPr marL="0" indent="0">
                  <a:buNone/>
                </a:pPr>
                <a14:m>
                  <m:oMathPara xmlns:m="http://schemas.openxmlformats.org/officeDocument/2006/math">
                    <m:oMathParaPr>
                      <m:jc m:val="centerGroup"/>
                    </m:oMathParaPr>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t</m:t>
                      </m:r>
                      <m:r>
                        <a:rPr lang="en-US" dirty="0">
                          <a:latin typeface="Cambria Math" panose="02040503050406030204" pitchFamily="18" charset="0"/>
                        </a:rPr>
                        <m:t> ~</m:t>
                      </m:r>
                      <m:sSub>
                        <m:sSubPr>
                          <m:ctrlPr>
                            <a:rPr lang="en-US" i="1" dirty="0">
                              <a:latin typeface="Cambria Math" panose="02040503050406030204" pitchFamily="18" charset="0"/>
                            </a:rPr>
                          </m:ctrlPr>
                        </m:sSubPr>
                        <m:e>
                          <m:r>
                            <m:rPr>
                              <m:sty m:val="p"/>
                            </m:rPr>
                            <a:rPr lang="en-US" dirty="0">
                              <a:latin typeface="Cambria Math" panose="02040503050406030204" pitchFamily="18" charset="0"/>
                            </a:rPr>
                            <m:t>t</m:t>
                          </m:r>
                        </m:e>
                        <m:sub>
                          <m:r>
                            <m:rPr>
                              <m:sty m:val="p"/>
                            </m:rPr>
                            <a:rPr lang="en-US" dirty="0">
                              <a:latin typeface="Cambria Math" panose="02040503050406030204" pitchFamily="18" charset="0"/>
                            </a:rPr>
                            <m:t>df</m:t>
                          </m:r>
                        </m:sub>
                      </m:sSub>
                    </m:oMath>
                  </m:oMathPara>
                </a14:m>
                <a:endParaRPr lang="en-US" dirty="0"/>
              </a:p>
              <a:p>
                <a:r>
                  <a:rPr lang="en-US" dirty="0"/>
                  <a:t>The t-distribution:</a:t>
                </a:r>
              </a:p>
              <a:p>
                <a:pPr lvl="1"/>
                <a:r>
                  <a:rPr lang="en-US" dirty="0"/>
                  <a:t>Is centered at 0 under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oMath>
                </a14:m>
                <a:endParaRPr lang="en-US" dirty="0"/>
              </a:p>
              <a:p>
                <a:pPr lvl="1"/>
                <a:r>
                  <a:rPr lang="en-US" dirty="0"/>
                  <a:t>Has heavier tails than the Normal distribution</a:t>
                </a:r>
              </a:p>
              <a:p>
                <a:pPr lvl="1"/>
                <a:r>
                  <a:rPr lang="en-US" dirty="0"/>
                  <a:t>Depends on degrees of freedom</a:t>
                </a:r>
                <a:r>
                  <a:rPr lang="he-IL" dirty="0"/>
                  <a:t> </a:t>
                </a:r>
                <a:endParaRPr lang="en-US" dirty="0"/>
              </a:p>
              <a:p>
                <a:pPr lvl="1"/>
                <a:r>
                  <a:rPr lang="en-US" dirty="0"/>
                  <a:t>Becomes closer to Normal as </a:t>
                </a:r>
                <a:r>
                  <a:rPr lang="en-US" dirty="0" err="1"/>
                  <a:t>df</a:t>
                </a:r>
                <a:r>
                  <a:rPr lang="en-US" dirty="0"/>
                  <a:t> increases</a:t>
                </a:r>
                <a:endParaRPr lang="he-IL" dirty="0">
                  <a:solidFill>
                    <a:srgbClr val="FF0000"/>
                  </a:solidFill>
                </a:endParaRPr>
              </a:p>
            </p:txBody>
          </p:sp>
        </mc:Choice>
        <mc:Fallback>
          <p:sp>
            <p:nvSpPr>
              <p:cNvPr id="3" name="Content Placeholder 2">
                <a:extLst>
                  <a:ext uri="{FF2B5EF4-FFF2-40B4-BE49-F238E27FC236}">
                    <a16:creationId xmlns:a16="http://schemas.microsoft.com/office/drawing/2014/main" id="{AE961325-EF90-C88C-3126-02FDD15C7424}"/>
                  </a:ext>
                </a:extLst>
              </p:cNvPr>
              <p:cNvSpPr>
                <a:spLocks noGrp="1" noRot="1" noChangeAspect="1" noMove="1" noResize="1" noEditPoints="1" noAdjustHandles="1" noChangeArrowheads="1" noChangeShapeType="1" noTextEdit="1"/>
              </p:cNvSpPr>
              <p:nvPr>
                <p:ph idx="1"/>
              </p:nvPr>
            </p:nvSpPr>
            <p:spPr>
              <a:blipFill>
                <a:blip r:embed="rId2"/>
                <a:stretch>
                  <a:fillRect l="-1043" t="-2941"/>
                </a:stretch>
              </a:blipFill>
            </p:spPr>
            <p:txBody>
              <a:bodyPr/>
              <a:lstStyle/>
              <a:p>
                <a:r>
                  <a:rPr lang="he-IL">
                    <a:noFill/>
                  </a:rPr>
                  <a:t> </a:t>
                </a:r>
              </a:p>
            </p:txBody>
          </p:sp>
        </mc:Fallback>
      </mc:AlternateContent>
    </p:spTree>
    <p:extLst>
      <p:ext uri="{BB962C8B-B14F-4D97-AF65-F5344CB8AC3E}">
        <p14:creationId xmlns:p14="http://schemas.microsoft.com/office/powerpoint/2010/main" val="5388160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692B6-A663-1190-D7A4-53525B202382}"/>
              </a:ext>
            </a:extLst>
          </p:cNvPr>
          <p:cNvSpPr>
            <a:spLocks noGrp="1"/>
          </p:cNvSpPr>
          <p:nvPr>
            <p:ph type="title"/>
          </p:nvPr>
        </p:nvSpPr>
        <p:spPr/>
        <p:txBody>
          <a:bodyPr/>
          <a:lstStyle/>
          <a:p>
            <a:r>
              <a:rPr lang="en-US" dirty="0"/>
              <a:t>Frequentist t-tests</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197992-90B9-F4AF-0EB8-83A986B5A9E6}"/>
                  </a:ext>
                </a:extLst>
              </p:cNvPr>
              <p:cNvSpPr>
                <a:spLocks noGrp="1"/>
              </p:cNvSpPr>
              <p:nvPr>
                <p:ph idx="1"/>
              </p:nvPr>
            </p:nvSpPr>
            <p:spPr>
              <a:xfrm>
                <a:off x="838200" y="1690688"/>
                <a:ext cx="10515600" cy="4351338"/>
              </a:xfrm>
            </p:spPr>
            <p:txBody>
              <a:bodyPr>
                <a:normAutofit fontScale="85000" lnSpcReduction="20000"/>
              </a:bodyPr>
              <a:lstStyle/>
              <a:p>
                <a:r>
                  <a:rPr lang="en-US" b="1" dirty="0">
                    <a:solidFill>
                      <a:schemeClr val="tx1"/>
                    </a:solidFill>
                  </a:rPr>
                  <a:t>One-sample t-test</a:t>
                </a:r>
              </a:p>
              <a:p>
                <a:pPr lvl="1"/>
                <a:r>
                  <a:rPr lang="en-US" dirty="0">
                    <a:solidFill>
                      <a:schemeClr val="tx1"/>
                    </a:solidFill>
                  </a:rPr>
                  <a:t>Tests whether one mean differs from a reference value.</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𝐻</m:t>
                          </m:r>
                        </m:e>
                        <m:sub>
                          <m:r>
                            <a:rPr lang="en-US" i="1" dirty="0" smtClean="0">
                              <a:solidFill>
                                <a:schemeClr val="tx1"/>
                              </a:solidFill>
                              <a:latin typeface="Cambria Math" panose="02040503050406030204" pitchFamily="18" charset="0"/>
                            </a:rPr>
                            <m:t>0</m:t>
                          </m:r>
                        </m:sub>
                      </m:sSub>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𝜇</m:t>
                      </m:r>
                      <m:r>
                        <a:rPr lang="en-US" i="1" dirty="0" smtClean="0">
                          <a:solidFill>
                            <a:schemeClr val="tx1"/>
                          </a:solidFill>
                          <a:latin typeface="Cambria Math" panose="02040503050406030204" pitchFamily="18" charset="0"/>
                        </a:rPr>
                        <m:t>=</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𝜇</m:t>
                          </m:r>
                        </m:e>
                        <m:sub>
                          <m:r>
                            <a:rPr lang="en-US" i="1" dirty="0" smtClean="0">
                              <a:solidFill>
                                <a:schemeClr val="tx1"/>
                              </a:solidFill>
                              <a:latin typeface="Cambria Math" panose="02040503050406030204" pitchFamily="18" charset="0"/>
                            </a:rPr>
                            <m:t>0</m:t>
                          </m:r>
                        </m:sub>
                      </m:sSub>
                    </m:oMath>
                  </m:oMathPara>
                </a14:m>
                <a:endParaRPr lang="en-US" b="1" dirty="0">
                  <a:solidFill>
                    <a:schemeClr val="tx1"/>
                  </a:solidFill>
                </a:endParaRPr>
              </a:p>
              <a:p>
                <a:r>
                  <a:rPr lang="en-US" b="1" dirty="0">
                    <a:solidFill>
                      <a:schemeClr val="tx1"/>
                    </a:solidFill>
                  </a:rPr>
                  <a:t>Paired t-test</a:t>
                </a:r>
                <a:endParaRPr lang="en-US" dirty="0">
                  <a:solidFill>
                    <a:schemeClr val="tx1"/>
                  </a:solidFill>
                </a:endParaRPr>
              </a:p>
              <a:p>
                <a:pPr lvl="1"/>
                <a:r>
                  <a:rPr lang="en-US" dirty="0">
                    <a:solidFill>
                      <a:schemeClr val="tx1"/>
                    </a:solidFill>
                  </a:rPr>
                  <a:t>Tests whether the mean within-subject change differs from zero.</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𝐻</m:t>
                          </m:r>
                        </m:e>
                        <m:sub>
                          <m:r>
                            <a:rPr lang="en-US" i="1" dirty="0" smtClean="0">
                              <a:solidFill>
                                <a:schemeClr val="tx1"/>
                              </a:solidFill>
                              <a:latin typeface="Cambria Math" panose="02040503050406030204" pitchFamily="18" charset="0"/>
                            </a:rPr>
                            <m:t>0</m:t>
                          </m:r>
                        </m:sub>
                      </m:sSub>
                      <m:r>
                        <a:rPr lang="en-US" i="1" dirty="0" smtClean="0">
                          <a:solidFill>
                            <a:schemeClr val="tx1"/>
                          </a:solidFill>
                          <a:latin typeface="Cambria Math" panose="02040503050406030204" pitchFamily="18" charset="0"/>
                        </a:rPr>
                        <m:t>:</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𝜇</m:t>
                          </m:r>
                        </m:e>
                        <m:sub>
                          <m:r>
                            <m:rPr>
                              <m:nor/>
                            </m:rPr>
                            <a:rPr lang="en-US" i="0" dirty="0" smtClean="0">
                              <a:solidFill>
                                <a:schemeClr val="tx1"/>
                              </a:solidFill>
                              <a:latin typeface="Cambria Math" panose="02040503050406030204" pitchFamily="18" charset="0"/>
                            </a:rPr>
                            <m:t>change</m:t>
                          </m:r>
                        </m:sub>
                      </m:sSub>
                      <m:r>
                        <a:rPr lang="en-US" i="1" dirty="0" smtClean="0">
                          <a:solidFill>
                            <a:schemeClr val="tx1"/>
                          </a:solidFill>
                          <a:latin typeface="Cambria Math" panose="02040503050406030204" pitchFamily="18" charset="0"/>
                        </a:rPr>
                        <m:t> =</m:t>
                      </m:r>
                      <m:r>
                        <a:rPr lang="en-US" i="1" dirty="0" smtClean="0">
                          <a:solidFill>
                            <a:schemeClr val="tx1"/>
                          </a:solidFill>
                          <a:latin typeface="Cambria Math" panose="02040503050406030204" pitchFamily="18" charset="0"/>
                        </a:rPr>
                        <m:t>0</m:t>
                      </m:r>
                    </m:oMath>
                  </m:oMathPara>
                </a14:m>
                <a:endParaRPr lang="en-US" b="1" dirty="0">
                  <a:solidFill>
                    <a:schemeClr val="tx1"/>
                  </a:solidFill>
                </a:endParaRPr>
              </a:p>
              <a:p>
                <a:r>
                  <a:rPr lang="en-US" b="1" dirty="0">
                    <a:solidFill>
                      <a:schemeClr val="tx1"/>
                    </a:solidFill>
                  </a:rPr>
                  <a:t>Independent two-sample t-test </a:t>
                </a:r>
              </a:p>
              <a:p>
                <a:pPr lvl="1"/>
                <a:r>
                  <a:rPr lang="en-US" dirty="0">
                    <a:solidFill>
                      <a:schemeClr val="tx1"/>
                    </a:solidFill>
                  </a:rPr>
                  <a:t>Tests whether two independent group means differ.</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𝐻</m:t>
                          </m:r>
                        </m:e>
                        <m:sub>
                          <m:r>
                            <a:rPr lang="en-US" i="1" dirty="0" smtClean="0">
                              <a:solidFill>
                                <a:schemeClr val="tx1"/>
                              </a:solidFill>
                              <a:latin typeface="Cambria Math" panose="02040503050406030204" pitchFamily="18" charset="0"/>
                            </a:rPr>
                            <m:t>0</m:t>
                          </m:r>
                        </m:sub>
                      </m:sSub>
                      <m:r>
                        <a:rPr lang="en-US" i="1" dirty="0" smtClean="0">
                          <a:solidFill>
                            <a:schemeClr val="tx1"/>
                          </a:solidFill>
                          <a:latin typeface="Cambria Math" panose="02040503050406030204" pitchFamily="18" charset="0"/>
                        </a:rPr>
                        <m:t>:</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𝜇</m:t>
                          </m:r>
                        </m:e>
                        <m:sub>
                          <m:r>
                            <a:rPr lang="en-US" i="1" dirty="0" smtClean="0">
                              <a:solidFill>
                                <a:schemeClr val="tx1"/>
                              </a:solidFill>
                              <a:latin typeface="Cambria Math" panose="02040503050406030204" pitchFamily="18" charset="0"/>
                            </a:rPr>
                            <m:t>𝐴</m:t>
                          </m:r>
                        </m:sub>
                      </m:sSub>
                      <m:r>
                        <a:rPr lang="en-US" i="1" dirty="0" smtClean="0">
                          <a:solidFill>
                            <a:schemeClr val="tx1"/>
                          </a:solidFill>
                          <a:latin typeface="Cambria Math" panose="02040503050406030204" pitchFamily="18" charset="0"/>
                        </a:rPr>
                        <m:t>−</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𝜇</m:t>
                          </m:r>
                        </m:e>
                        <m:sub>
                          <m:r>
                            <a:rPr lang="en-US" i="1" dirty="0" smtClean="0">
                              <a:solidFill>
                                <a:schemeClr val="tx1"/>
                              </a:solidFill>
                              <a:latin typeface="Cambria Math" panose="02040503050406030204" pitchFamily="18" charset="0"/>
                            </a:rPr>
                            <m:t>𝐵</m:t>
                          </m:r>
                        </m:sub>
                      </m:sSub>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0</m:t>
                      </m:r>
                    </m:oMath>
                  </m:oMathPara>
                </a14:m>
                <a:endParaRPr lang="en-US" b="1" dirty="0">
                  <a:solidFill>
                    <a:schemeClr val="tx1"/>
                  </a:solidFill>
                </a:endParaRPr>
              </a:p>
              <a:p>
                <a:r>
                  <a:rPr lang="en-US" b="1" dirty="0">
                    <a:solidFill>
                      <a:schemeClr val="tx1"/>
                    </a:solidFill>
                  </a:rPr>
                  <a:t>Welch t-test</a:t>
                </a:r>
              </a:p>
              <a:p>
                <a:pPr lvl="1"/>
                <a:r>
                  <a:rPr lang="en-US" dirty="0">
                    <a:solidFill>
                      <a:schemeClr val="tx1"/>
                    </a:solidFill>
                  </a:rPr>
                  <a:t>Same mean comparison as the independent t-test, but does not assume equal variances.</a:t>
                </a:r>
              </a:p>
              <a:p>
                <a:r>
                  <a:rPr lang="en-US" b="1" dirty="0">
                    <a:solidFill>
                      <a:schemeClr val="tx1"/>
                    </a:solidFill>
                  </a:rPr>
                  <a:t>Mann–Whitney / Wilcoxon</a:t>
                </a:r>
              </a:p>
              <a:p>
                <a:pPr lvl="1"/>
                <a:r>
                  <a:rPr lang="en-US" dirty="0">
                    <a:solidFill>
                      <a:schemeClr val="tx1"/>
                    </a:solidFill>
                  </a:rPr>
                  <a:t>Rank-based </a:t>
                </a:r>
                <a:r>
                  <a:rPr lang="he-IL" dirty="0">
                    <a:solidFill>
                      <a:schemeClr val="tx1"/>
                    </a:solidFill>
                  </a:rPr>
                  <a:t>alternative</a:t>
                </a:r>
                <a:r>
                  <a:rPr lang="en-US" dirty="0">
                    <a:solidFill>
                      <a:schemeClr val="tx1"/>
                    </a:solidFill>
                  </a:rPr>
                  <a:t>s</a:t>
                </a:r>
              </a:p>
              <a:p>
                <a:endParaRPr lang="he-IL" dirty="0">
                  <a:solidFill>
                    <a:schemeClr val="tx1"/>
                  </a:solidFill>
                </a:endParaRPr>
              </a:p>
            </p:txBody>
          </p:sp>
        </mc:Choice>
        <mc:Fallback xmlns="">
          <p:sp>
            <p:nvSpPr>
              <p:cNvPr id="3" name="Content Placeholder 2">
                <a:extLst>
                  <a:ext uri="{FF2B5EF4-FFF2-40B4-BE49-F238E27FC236}">
                    <a16:creationId xmlns:a16="http://schemas.microsoft.com/office/drawing/2014/main" id="{72197992-90B9-F4AF-0EB8-83A986B5A9E6}"/>
                  </a:ext>
                </a:extLst>
              </p:cNvPr>
              <p:cNvSpPr>
                <a:spLocks noGrp="1" noRot="1" noChangeAspect="1" noMove="1" noResize="1" noEditPoints="1" noAdjustHandles="1" noChangeArrowheads="1" noChangeShapeType="1" noTextEdit="1"/>
              </p:cNvSpPr>
              <p:nvPr>
                <p:ph idx="1"/>
              </p:nvPr>
            </p:nvSpPr>
            <p:spPr>
              <a:xfrm>
                <a:off x="838200" y="1690688"/>
                <a:ext cx="10515600" cy="4351338"/>
              </a:xfrm>
              <a:blipFill>
                <a:blip r:embed="rId2"/>
                <a:stretch>
                  <a:fillRect l="-812" t="-3081" b="-2521"/>
                </a:stretch>
              </a:blipFill>
            </p:spPr>
            <p:txBody>
              <a:bodyPr/>
              <a:lstStyle/>
              <a:p>
                <a:r>
                  <a:rPr lang="he-IL">
                    <a:noFill/>
                  </a:rPr>
                  <a:t> </a:t>
                </a:r>
              </a:p>
            </p:txBody>
          </p:sp>
        </mc:Fallback>
      </mc:AlternateContent>
    </p:spTree>
    <p:extLst>
      <p:ext uri="{BB962C8B-B14F-4D97-AF65-F5344CB8AC3E}">
        <p14:creationId xmlns:p14="http://schemas.microsoft.com/office/powerpoint/2010/main" val="15644879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F981E-05DA-9C70-917D-1DB4BF59845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03D7285D-7DCB-8941-AD0D-D9ECF9170C1C}"/>
              </a:ext>
            </a:extLst>
          </p:cNvPr>
          <p:cNvSpPr>
            <a:spLocks noGrp="1"/>
          </p:cNvSpPr>
          <p:nvPr>
            <p:ph type="title"/>
          </p:nvPr>
        </p:nvSpPr>
        <p:spPr>
          <a:xfrm>
            <a:off x="838200" y="429293"/>
            <a:ext cx="10515600" cy="1325563"/>
          </a:xfrm>
        </p:spPr>
        <p:txBody>
          <a:bodyPr/>
          <a:lstStyle/>
          <a:p>
            <a:pPr algn="l" rtl="0"/>
            <a:r>
              <a:rPr lang="en-US" b="1" dirty="0"/>
              <a:t>t-Test Overview</a:t>
            </a:r>
            <a:endParaRPr lang="he-IL" dirty="0"/>
          </a:p>
        </p:txBody>
      </p:sp>
      <mc:AlternateContent xmlns:mc="http://schemas.openxmlformats.org/markup-compatibility/2006" xmlns:a14="http://schemas.microsoft.com/office/drawing/2010/main">
        <mc:Choice Requires="a14">
          <p:graphicFrame>
            <p:nvGraphicFramePr>
              <p:cNvPr id="6" name="מציין מיקום תוכן 5">
                <a:extLst>
                  <a:ext uri="{FF2B5EF4-FFF2-40B4-BE49-F238E27FC236}">
                    <a16:creationId xmlns:a16="http://schemas.microsoft.com/office/drawing/2014/main" id="{0E3D122B-F5C5-EC66-2FC1-3CABFAAEB05B}"/>
                  </a:ext>
                </a:extLst>
              </p:cNvPr>
              <p:cNvGraphicFramePr>
                <a:graphicFrameLocks noGrp="1"/>
              </p:cNvGraphicFramePr>
              <p:nvPr>
                <p:ph idx="1"/>
                <p:extLst>
                  <p:ext uri="{D42A27DB-BD31-4B8C-83A1-F6EECF244321}">
                    <p14:modId xmlns:p14="http://schemas.microsoft.com/office/powerpoint/2010/main" val="508688678"/>
                  </p:ext>
                </p:extLst>
              </p:nvPr>
            </p:nvGraphicFramePr>
            <p:xfrm>
              <a:off x="1412382" y="1571222"/>
              <a:ext cx="9941418" cy="5009136"/>
            </p:xfrm>
            <a:graphic>
              <a:graphicData uri="http://schemas.openxmlformats.org/drawingml/2006/table">
                <a:tbl>
                  <a:tblPr>
                    <a:tableStyleId>{793D81CF-94F2-401A-BA57-92F5A7B2D0C5}</a:tableStyleId>
                  </a:tblPr>
                  <a:tblGrid>
                    <a:gridCol w="1781036">
                      <a:extLst>
                        <a:ext uri="{9D8B030D-6E8A-4147-A177-3AD203B41FA5}">
                          <a16:colId xmlns:a16="http://schemas.microsoft.com/office/drawing/2014/main" val="729707556"/>
                        </a:ext>
                      </a:extLst>
                    </a:gridCol>
                    <a:gridCol w="2323876">
                      <a:extLst>
                        <a:ext uri="{9D8B030D-6E8A-4147-A177-3AD203B41FA5}">
                          <a16:colId xmlns:a16="http://schemas.microsoft.com/office/drawing/2014/main" val="3998885419"/>
                        </a:ext>
                      </a:extLst>
                    </a:gridCol>
                    <a:gridCol w="2998160">
                      <a:extLst>
                        <a:ext uri="{9D8B030D-6E8A-4147-A177-3AD203B41FA5}">
                          <a16:colId xmlns:a16="http://schemas.microsoft.com/office/drawing/2014/main" val="302053247"/>
                        </a:ext>
                      </a:extLst>
                    </a:gridCol>
                    <a:gridCol w="2838346">
                      <a:extLst>
                        <a:ext uri="{9D8B030D-6E8A-4147-A177-3AD203B41FA5}">
                          <a16:colId xmlns:a16="http://schemas.microsoft.com/office/drawing/2014/main" val="3581297915"/>
                        </a:ext>
                      </a:extLst>
                    </a:gridCol>
                  </a:tblGrid>
                  <a:tr h="364680">
                    <a:tc>
                      <a:txBody>
                        <a:bodyPr/>
                        <a:lstStyle/>
                        <a:p>
                          <a:pPr algn="ctr"/>
                          <a:r>
                            <a:rPr lang="en-US" sz="1800" b="1" dirty="0">
                              <a:solidFill>
                                <a:schemeClr val="tx1"/>
                              </a:solidFill>
                            </a:rPr>
                            <a:t>Test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14:m>
                            <m:oMath xmlns:m="http://schemas.openxmlformats.org/officeDocument/2006/math">
                              <m:sSub>
                                <m:sSubPr>
                                  <m:ctrlPr>
                                    <a:rPr lang="en-US" sz="1800" i="1" dirty="0" smtClean="0">
                                      <a:solidFill>
                                        <a:schemeClr val="tx1"/>
                                      </a:solidFill>
                                      <a:latin typeface="Cambria Math" panose="02040503050406030204" pitchFamily="18" charset="0"/>
                                    </a:rPr>
                                  </m:ctrlPr>
                                </m:sSubPr>
                                <m:e>
                                  <m:r>
                                    <a:rPr lang="en-US" sz="1800" b="0" i="1" dirty="0" smtClean="0">
                                      <a:solidFill>
                                        <a:schemeClr val="tx1"/>
                                      </a:solidFill>
                                      <a:latin typeface="Cambria Math" panose="02040503050406030204" pitchFamily="18" charset="0"/>
                                    </a:rPr>
                                    <m:t>𝐶𝑜𝑚𝑚𝑜𝑛</m:t>
                                  </m:r>
                                  <m:r>
                                    <a:rPr lang="en-US" sz="1800" b="0" i="1" dirty="0" smtClean="0">
                                      <a:solidFill>
                                        <a:schemeClr val="tx1"/>
                                      </a:solidFill>
                                      <a:latin typeface="Cambria Math" panose="02040503050406030204" pitchFamily="18" charset="0"/>
                                    </a:rPr>
                                    <m:t> </m:t>
                                  </m:r>
                                  <m:r>
                                    <a:rPr lang="en-US" sz="1800" i="1" dirty="0" smtClean="0">
                                      <a:solidFill>
                                        <a:schemeClr val="tx1"/>
                                      </a:solidFill>
                                      <a:latin typeface="Cambria Math" panose="02040503050406030204" pitchFamily="18" charset="0"/>
                                    </a:rPr>
                                    <m:t>𝐻</m:t>
                                  </m:r>
                                </m:e>
                                <m:sub>
                                  <m:r>
                                    <a:rPr lang="en-US" sz="1800" i="1" dirty="0" smtClean="0">
                                      <a:solidFill>
                                        <a:schemeClr val="tx1"/>
                                      </a:solidFill>
                                      <a:latin typeface="Cambria Math" panose="02040503050406030204" pitchFamily="18" charset="0"/>
                                    </a:rPr>
                                    <m:t>0</m:t>
                                  </m:r>
                                </m:sub>
                              </m:sSub>
                            </m:oMath>
                          </a14:m>
                          <a:r>
                            <a:rPr lang="en-US" sz="1800" b="1" dirty="0">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1" dirty="0">
                              <a:solidFill>
                                <a:schemeClr val="tx1"/>
                              </a:solidFill>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1" dirty="0">
                              <a:solidFill>
                                <a:schemeClr val="tx1"/>
                              </a:solidFill>
                            </a:rPr>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791215623"/>
                      </a:ext>
                    </a:extLst>
                  </a:tr>
                  <a:tr h="369339">
                    <a:tc>
                      <a:txBody>
                        <a:bodyPr/>
                        <a:lstStyle/>
                        <a:p>
                          <a:pPr algn="ctr"/>
                          <a:r>
                            <a:rPr lang="en-US" sz="1800" dirty="0">
                              <a:solidFill>
                                <a:schemeClr val="tx1"/>
                              </a:solidFill>
                            </a:rPr>
                            <a:t>One-sample </a:t>
                          </a:r>
                          <a:br>
                            <a:rPr lang="en-US" sz="1800" dirty="0">
                              <a:solidFill>
                                <a:schemeClr val="tx1"/>
                              </a:solidFill>
                            </a:rPr>
                          </a:br>
                          <a:r>
                            <a:rPr lang="en-US" sz="1800" dirty="0">
                              <a:solidFill>
                                <a:schemeClr val="tx1"/>
                              </a:solidFill>
                            </a:rPr>
                            <a:t>t-test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𝐻</m:t>
                                    </m:r>
                                  </m:e>
                                  <m:sub>
                                    <m:r>
                                      <a:rPr lang="ar-AE" sz="1600" i="1" dirty="0" smtClean="0">
                                        <a:solidFill>
                                          <a:schemeClr val="tx1"/>
                                        </a:solidFill>
                                        <a:latin typeface="Cambria Math" panose="02040503050406030204" pitchFamily="18" charset="0"/>
                                      </a:rPr>
                                      <m:t>0</m:t>
                                    </m:r>
                                  </m:sub>
                                </m:sSub>
                                <m:r>
                                  <a:rPr lang="ar-AE" sz="1600" i="1" dirty="0" smtClean="0">
                                    <a:solidFill>
                                      <a:schemeClr val="tx1"/>
                                    </a:solidFill>
                                    <a:latin typeface="Cambria Math" panose="02040503050406030204" pitchFamily="18" charset="0"/>
                                  </a:rPr>
                                  <m:t>:</m:t>
                                </m:r>
                                <m:r>
                                  <a:rPr lang="ar-AE" sz="1600" i="1" dirty="0" smtClean="0">
                                    <a:solidFill>
                                      <a:schemeClr val="tx1"/>
                                    </a:solidFill>
                                    <a:latin typeface="Cambria Math" panose="02040503050406030204" pitchFamily="18" charset="0"/>
                                  </a:rPr>
                                  <m:t>𝜇</m:t>
                                </m:r>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a:rPr lang="ar-AE" sz="1600" i="1" dirty="0" smtClean="0">
                                        <a:solidFill>
                                          <a:schemeClr val="tx1"/>
                                        </a:solidFill>
                                        <a:latin typeface="Cambria Math" panose="02040503050406030204" pitchFamily="18" charset="0"/>
                                      </a:rPr>
                                      <m:t>0</m:t>
                                    </m:r>
                                  </m:sub>
                                </m:sSub>
                              </m:oMath>
                            </m:oMathPara>
                          </a14:m>
                          <a:endParaRPr lang="ar-AE"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One continuous variable compared to a reference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Is average reaction time different from 300 </a:t>
                          </a:r>
                          <a:r>
                            <a:rPr lang="en-US" sz="1600" dirty="0" err="1">
                              <a:solidFill>
                                <a:schemeClr val="tx1"/>
                              </a:solidFill>
                            </a:rPr>
                            <a:t>ms</a:t>
                          </a: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195159"/>
                      </a:ext>
                    </a:extLst>
                  </a:tr>
                  <a:tr h="1094039">
                    <a:tc>
                      <a:txBody>
                        <a:bodyPr/>
                        <a:lstStyle/>
                        <a:p>
                          <a:pPr algn="ctr"/>
                          <a:r>
                            <a:rPr lang="en-US" sz="1800" b="1" dirty="0">
                              <a:solidFill>
                                <a:schemeClr val="tx1"/>
                              </a:solidFill>
                            </a:rPr>
                            <a:t>Paired two-sample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𝐻</m:t>
                                    </m:r>
                                  </m:e>
                                  <m:sub>
                                    <m:r>
                                      <a:rPr lang="ar-AE" sz="1600" i="1" dirty="0" smtClean="0">
                                        <a:solidFill>
                                          <a:schemeClr val="tx1"/>
                                        </a:solidFill>
                                        <a:latin typeface="Cambria Math" panose="02040503050406030204" pitchFamily="18" charset="0"/>
                                      </a:rPr>
                                      <m:t>0</m:t>
                                    </m:r>
                                  </m:sub>
                                </m:sSub>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m:rPr>
                                        <m:nor/>
                                      </m:rPr>
                                      <a:rPr lang="fr-FR" sz="1600" i="0" dirty="0" smtClean="0">
                                        <a:solidFill>
                                          <a:schemeClr val="tx1"/>
                                        </a:solidFill>
                                        <a:latin typeface="Cambria Math" panose="02040503050406030204" pitchFamily="18" charset="0"/>
                                      </a:rPr>
                                      <m:t>change</m:t>
                                    </m:r>
                                  </m:sub>
                                </m:sSub>
                                <m:r>
                                  <a:rPr lang="ar-AE" sz="1600" i="1" dirty="0" smtClean="0">
                                    <a:solidFill>
                                      <a:schemeClr val="tx1"/>
                                    </a:solidFill>
                                    <a:latin typeface="Cambria Math" panose="02040503050406030204" pitchFamily="18" charset="0"/>
                                  </a:rPr>
                                  <m:t>   =</m:t>
                                </m:r>
                                <m:r>
                                  <a:rPr lang="ar-AE" sz="1600" i="1" dirty="0" smtClean="0">
                                    <a:solidFill>
                                      <a:schemeClr val="tx1"/>
                                    </a:solidFill>
                                    <a:latin typeface="Cambria Math" panose="02040503050406030204" pitchFamily="18" charset="0"/>
                                  </a:rPr>
                                  <m:t>0</m:t>
                                </m:r>
                              </m:oMath>
                            </m:oMathPara>
                          </a14:m>
                          <a:endParaRPr lang="ar-AE"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Same subjects measured twice, or matched pairs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Pre/post-treatment, left vs. 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8708188"/>
                      </a:ext>
                    </a:extLst>
                  </a:tr>
                  <a:tr h="5791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Independent two-sample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𝐻</m:t>
                                    </m:r>
                                  </m:e>
                                  <m:sub>
                                    <m:r>
                                      <a:rPr lang="ar-AE" sz="1600" i="1" dirty="0" smtClean="0">
                                        <a:solidFill>
                                          <a:schemeClr val="tx1"/>
                                        </a:solidFill>
                                        <a:latin typeface="Cambria Math" panose="02040503050406030204" pitchFamily="18" charset="0"/>
                                      </a:rPr>
                                      <m:t>0</m:t>
                                    </m:r>
                                  </m:sub>
                                </m:sSub>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a:rPr lang="ar-AE" sz="1600" i="1" dirty="0" smtClean="0">
                                        <a:solidFill>
                                          <a:schemeClr val="tx1"/>
                                        </a:solidFill>
                                        <a:latin typeface="Cambria Math" panose="02040503050406030204" pitchFamily="18" charset="0"/>
                                      </a:rPr>
                                      <m:t>𝐴</m:t>
                                    </m:r>
                                  </m:sub>
                                </m:sSub>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a:rPr lang="ar-AE" sz="1600" i="1" dirty="0" smtClean="0">
                                        <a:solidFill>
                                          <a:schemeClr val="tx1"/>
                                        </a:solidFill>
                                        <a:latin typeface="Cambria Math" panose="02040503050406030204" pitchFamily="18" charset="0"/>
                                      </a:rPr>
                                      <m:t>𝐵</m:t>
                                    </m:r>
                                  </m:sub>
                                </m:sSub>
                                <m:r>
                                  <a:rPr lang="ar-AE" sz="1600" i="1" dirty="0" smtClean="0">
                                    <a:solidFill>
                                      <a:schemeClr val="tx1"/>
                                    </a:solidFill>
                                    <a:latin typeface="Cambria Math" panose="02040503050406030204" pitchFamily="18" charset="0"/>
                                  </a:rPr>
                                  <m:t>=</m:t>
                                </m:r>
                                <m:r>
                                  <a:rPr lang="ar-AE" sz="1600" i="1" dirty="0" smtClean="0">
                                    <a:solidFill>
                                      <a:schemeClr val="tx1"/>
                                    </a:solidFill>
                                    <a:latin typeface="Cambria Math" panose="02040503050406030204" pitchFamily="18" charset="0"/>
                                  </a:rPr>
                                  <m:t>0</m:t>
                                </m:r>
                              </m:oMath>
                            </m:oMathPara>
                          </a14:m>
                          <a:endParaRPr lang="ar-AE"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Two separate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Control vs. experimental group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3343179"/>
                      </a:ext>
                    </a:extLst>
                  </a:tr>
                  <a:tr h="836617">
                    <a:tc>
                      <a:txBody>
                        <a:bodyPr/>
                        <a:lstStyle/>
                        <a:p>
                          <a:pPr algn="ctr"/>
                          <a:r>
                            <a:rPr lang="en-US" sz="1800" dirty="0">
                              <a:solidFill>
                                <a:schemeClr val="tx1"/>
                              </a:solidFill>
                            </a:rPr>
                            <a:t>Welch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𝐻</m:t>
                                    </m:r>
                                  </m:e>
                                  <m:sub>
                                    <m:r>
                                      <a:rPr lang="ar-AE" sz="1600" i="1" dirty="0" smtClean="0">
                                        <a:solidFill>
                                          <a:schemeClr val="tx1"/>
                                        </a:solidFill>
                                        <a:latin typeface="Cambria Math" panose="02040503050406030204" pitchFamily="18" charset="0"/>
                                      </a:rPr>
                                      <m:t>0</m:t>
                                    </m:r>
                                  </m:sub>
                                </m:sSub>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a:rPr lang="ar-AE" sz="1600" i="1" dirty="0" smtClean="0">
                                        <a:solidFill>
                                          <a:schemeClr val="tx1"/>
                                        </a:solidFill>
                                        <a:latin typeface="Cambria Math" panose="02040503050406030204" pitchFamily="18" charset="0"/>
                                      </a:rPr>
                                      <m:t>𝐴</m:t>
                                    </m:r>
                                  </m:sub>
                                </m:sSub>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a:rPr lang="ar-AE" sz="1600" i="1" dirty="0" smtClean="0">
                                        <a:solidFill>
                                          <a:schemeClr val="tx1"/>
                                        </a:solidFill>
                                        <a:latin typeface="Cambria Math" panose="02040503050406030204" pitchFamily="18" charset="0"/>
                                      </a:rPr>
                                      <m:t>𝐵</m:t>
                                    </m:r>
                                  </m:sub>
                                </m:sSub>
                                <m:r>
                                  <a:rPr lang="ar-AE" sz="1600" i="1" dirty="0" smtClean="0">
                                    <a:solidFill>
                                      <a:schemeClr val="tx1"/>
                                    </a:solidFill>
                                    <a:latin typeface="Cambria Math" panose="02040503050406030204" pitchFamily="18" charset="0"/>
                                  </a:rPr>
                                  <m:t>=</m:t>
                                </m:r>
                                <m:r>
                                  <a:rPr lang="ar-AE" sz="1600" i="1" dirty="0" smtClean="0">
                                    <a:solidFill>
                                      <a:schemeClr val="tx1"/>
                                    </a:solidFill>
                                    <a:latin typeface="Cambria Math" panose="02040503050406030204" pitchFamily="18" charset="0"/>
                                  </a:rPr>
                                  <m:t>0</m:t>
                                </m:r>
                              </m:oMath>
                            </m:oMathPara>
                          </a14:m>
                          <a:endParaRPr lang="ar-AE"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Two independent groups, unequal variances allowed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Same comparison, but group spreads may differ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5459831"/>
                      </a:ext>
                    </a:extLst>
                  </a:tr>
                  <a:tr h="369339">
                    <a:tc>
                      <a:txBody>
                        <a:bodyPr/>
                        <a:lstStyle/>
                        <a:p>
                          <a:pPr algn="ctr"/>
                          <a:r>
                            <a:rPr lang="en-US" sz="1800" dirty="0">
                              <a:solidFill>
                                <a:schemeClr val="tx1"/>
                              </a:solidFill>
                            </a:rPr>
                            <a:t>Mann–Whitney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600" dirty="0">
                              <a:solidFill>
                                <a:schemeClr val="tx1"/>
                              </a:solidFill>
                            </a:rPr>
                            <a:t>Distributions differ between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Two independent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Rank-based independent-group alternative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6614474"/>
                      </a:ext>
                    </a:extLst>
                  </a:tr>
                  <a:tr h="364680">
                    <a:tc>
                      <a:txBody>
                        <a:bodyPr/>
                        <a:lstStyle/>
                        <a:p>
                          <a:pPr algn="ctr"/>
                          <a:r>
                            <a:rPr lang="en-US" sz="1800" dirty="0">
                              <a:solidFill>
                                <a:schemeClr val="tx1"/>
                              </a:solidFill>
                            </a:rPr>
                            <a:t>Wilcoxon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500" dirty="0">
                              <a:solidFill>
                                <a:schemeClr val="tx1"/>
                              </a:solidFill>
                            </a:rPr>
                            <a:t>Median paired change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Paired / repeated measurements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Rank-based paired alternative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233514"/>
                      </a:ext>
                    </a:extLst>
                  </a:tr>
                </a:tbl>
              </a:graphicData>
            </a:graphic>
          </p:graphicFrame>
        </mc:Choice>
        <mc:Fallback xmlns="">
          <p:graphicFrame>
            <p:nvGraphicFramePr>
              <p:cNvPr id="6" name="מציין מיקום תוכן 5">
                <a:extLst>
                  <a:ext uri="{FF2B5EF4-FFF2-40B4-BE49-F238E27FC236}">
                    <a16:creationId xmlns:a16="http://schemas.microsoft.com/office/drawing/2014/main" id="{0E3D122B-F5C5-EC66-2FC1-3CABFAAEB05B}"/>
                  </a:ext>
                </a:extLst>
              </p:cNvPr>
              <p:cNvGraphicFramePr>
                <a:graphicFrameLocks noGrp="1"/>
              </p:cNvGraphicFramePr>
              <p:nvPr>
                <p:ph idx="1"/>
                <p:extLst>
                  <p:ext uri="{D42A27DB-BD31-4B8C-83A1-F6EECF244321}">
                    <p14:modId xmlns:p14="http://schemas.microsoft.com/office/powerpoint/2010/main" val="508688678"/>
                  </p:ext>
                </p:extLst>
              </p:nvPr>
            </p:nvGraphicFramePr>
            <p:xfrm>
              <a:off x="1412382" y="1571222"/>
              <a:ext cx="9941418" cy="5009136"/>
            </p:xfrm>
            <a:graphic>
              <a:graphicData uri="http://schemas.openxmlformats.org/drawingml/2006/table">
                <a:tbl>
                  <a:tblPr>
                    <a:tableStyleId>{793D81CF-94F2-401A-BA57-92F5A7B2D0C5}</a:tableStyleId>
                  </a:tblPr>
                  <a:tblGrid>
                    <a:gridCol w="1781036">
                      <a:extLst>
                        <a:ext uri="{9D8B030D-6E8A-4147-A177-3AD203B41FA5}">
                          <a16:colId xmlns:a16="http://schemas.microsoft.com/office/drawing/2014/main" val="729707556"/>
                        </a:ext>
                      </a:extLst>
                    </a:gridCol>
                    <a:gridCol w="2323876">
                      <a:extLst>
                        <a:ext uri="{9D8B030D-6E8A-4147-A177-3AD203B41FA5}">
                          <a16:colId xmlns:a16="http://schemas.microsoft.com/office/drawing/2014/main" val="3998885419"/>
                        </a:ext>
                      </a:extLst>
                    </a:gridCol>
                    <a:gridCol w="2998160">
                      <a:extLst>
                        <a:ext uri="{9D8B030D-6E8A-4147-A177-3AD203B41FA5}">
                          <a16:colId xmlns:a16="http://schemas.microsoft.com/office/drawing/2014/main" val="302053247"/>
                        </a:ext>
                      </a:extLst>
                    </a:gridCol>
                    <a:gridCol w="2838346">
                      <a:extLst>
                        <a:ext uri="{9D8B030D-6E8A-4147-A177-3AD203B41FA5}">
                          <a16:colId xmlns:a16="http://schemas.microsoft.com/office/drawing/2014/main" val="3581297915"/>
                        </a:ext>
                      </a:extLst>
                    </a:gridCol>
                  </a:tblGrid>
                  <a:tr h="365760">
                    <a:tc>
                      <a:txBody>
                        <a:bodyPr/>
                        <a:lstStyle/>
                        <a:p>
                          <a:pPr algn="ctr"/>
                          <a:r>
                            <a:rPr lang="en-US" sz="1800" b="1" dirty="0">
                              <a:solidFill>
                                <a:schemeClr val="tx1"/>
                              </a:solidFill>
                            </a:rPr>
                            <a:t>Test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he-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6702" t="-6667" r="-251309" b="-1291667"/>
                          </a:stretch>
                        </a:blipFill>
                      </a:tcPr>
                    </a:tc>
                    <a:tc>
                      <a:txBody>
                        <a:bodyPr/>
                        <a:lstStyle/>
                        <a:p>
                          <a:pPr algn="ctr"/>
                          <a:r>
                            <a:rPr lang="en-US" sz="1800" b="1" dirty="0">
                              <a:solidFill>
                                <a:schemeClr val="tx1"/>
                              </a:solidFill>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1" dirty="0">
                              <a:solidFill>
                                <a:schemeClr val="tx1"/>
                              </a:solidFill>
                            </a:rPr>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791215623"/>
                      </a:ext>
                    </a:extLst>
                  </a:tr>
                  <a:tr h="640080">
                    <a:tc>
                      <a:txBody>
                        <a:bodyPr/>
                        <a:lstStyle/>
                        <a:p>
                          <a:pPr algn="ctr"/>
                          <a:r>
                            <a:rPr lang="en-US" sz="1800" dirty="0">
                              <a:solidFill>
                                <a:schemeClr val="tx1"/>
                              </a:solidFill>
                            </a:rPr>
                            <a:t>One-sample </a:t>
                          </a:r>
                          <a:br>
                            <a:rPr lang="en-US" sz="1800" dirty="0">
                              <a:solidFill>
                                <a:schemeClr val="tx1"/>
                              </a:solidFill>
                            </a:rPr>
                          </a:br>
                          <a:r>
                            <a:rPr lang="en-US" sz="1800" dirty="0">
                              <a:solidFill>
                                <a:schemeClr val="tx1"/>
                              </a:solidFill>
                            </a:rPr>
                            <a:t>t-test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he-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6702" t="-60952" r="-251309" b="-638095"/>
                          </a:stretch>
                        </a:blipFill>
                      </a:tcPr>
                    </a:tc>
                    <a:tc>
                      <a:txBody>
                        <a:bodyPr/>
                        <a:lstStyle/>
                        <a:p>
                          <a:pPr algn="ctr"/>
                          <a:r>
                            <a:rPr lang="en-US" sz="1600" dirty="0">
                              <a:solidFill>
                                <a:schemeClr val="tx1"/>
                              </a:solidFill>
                            </a:rPr>
                            <a:t>One continuous variable compared to a reference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Is average reaction time different from 300 </a:t>
                          </a:r>
                          <a:r>
                            <a:rPr lang="en-US" sz="1600" dirty="0" err="1">
                              <a:solidFill>
                                <a:schemeClr val="tx1"/>
                              </a:solidFill>
                            </a:rPr>
                            <a:t>ms</a:t>
                          </a: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195159"/>
                      </a:ext>
                    </a:extLst>
                  </a:tr>
                  <a:tr h="1094039">
                    <a:tc>
                      <a:txBody>
                        <a:bodyPr/>
                        <a:lstStyle/>
                        <a:p>
                          <a:pPr algn="ctr"/>
                          <a:r>
                            <a:rPr lang="en-US" sz="1800" b="1" dirty="0">
                              <a:solidFill>
                                <a:schemeClr val="tx1"/>
                              </a:solidFill>
                            </a:rPr>
                            <a:t>Paired two-sample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he-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6702" t="-93889" r="-251309" b="-272222"/>
                          </a:stretch>
                        </a:blipFill>
                      </a:tcPr>
                    </a:tc>
                    <a:tc>
                      <a:txBody>
                        <a:bodyPr/>
                        <a:lstStyle/>
                        <a:p>
                          <a:pPr algn="ctr"/>
                          <a:r>
                            <a:rPr lang="en-US" sz="1600" dirty="0">
                              <a:solidFill>
                                <a:schemeClr val="tx1"/>
                              </a:solidFill>
                            </a:rPr>
                            <a:t>Same subjects measured twice, or matched pairs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Pre/post-treatment, left vs. 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8708188"/>
                      </a:ext>
                    </a:extLst>
                  </a:tr>
                  <a:tr h="914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Independent two-sample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he-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6702" t="-232667" r="-251309" b="-226667"/>
                          </a:stretch>
                        </a:blipFill>
                      </a:tcPr>
                    </a:tc>
                    <a:tc>
                      <a:txBody>
                        <a:bodyPr/>
                        <a:lstStyle/>
                        <a:p>
                          <a:pPr algn="ctr"/>
                          <a:r>
                            <a:rPr lang="en-US" sz="1600" dirty="0">
                              <a:solidFill>
                                <a:schemeClr val="tx1"/>
                              </a:solidFill>
                            </a:rPr>
                            <a:t>Two separate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Control vs. experimental group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3343179"/>
                      </a:ext>
                    </a:extLst>
                  </a:tr>
                  <a:tr h="836617">
                    <a:tc>
                      <a:txBody>
                        <a:bodyPr/>
                        <a:lstStyle/>
                        <a:p>
                          <a:pPr algn="ctr"/>
                          <a:r>
                            <a:rPr lang="en-US" sz="1800" dirty="0">
                              <a:solidFill>
                                <a:schemeClr val="tx1"/>
                              </a:solidFill>
                            </a:rPr>
                            <a:t>Welch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he-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6702" t="-361594" r="-251309" b="-146377"/>
                          </a:stretch>
                        </a:blipFill>
                      </a:tcPr>
                    </a:tc>
                    <a:tc>
                      <a:txBody>
                        <a:bodyPr/>
                        <a:lstStyle/>
                        <a:p>
                          <a:pPr algn="ctr"/>
                          <a:r>
                            <a:rPr lang="en-US" sz="1600" dirty="0">
                              <a:solidFill>
                                <a:schemeClr val="tx1"/>
                              </a:solidFill>
                            </a:rPr>
                            <a:t>Two independent groups, unequal variances allowed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Same comparison, but group spreads may differ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5459831"/>
                      </a:ext>
                    </a:extLst>
                  </a:tr>
                  <a:tr h="579120">
                    <a:tc>
                      <a:txBody>
                        <a:bodyPr/>
                        <a:lstStyle/>
                        <a:p>
                          <a:pPr algn="ctr"/>
                          <a:r>
                            <a:rPr lang="en-US" sz="1800" dirty="0">
                              <a:solidFill>
                                <a:schemeClr val="tx1"/>
                              </a:solidFill>
                            </a:rPr>
                            <a:t>Mann–Whitney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600" dirty="0">
                              <a:solidFill>
                                <a:schemeClr val="tx1"/>
                              </a:solidFill>
                            </a:rPr>
                            <a:t>Distributions differ between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Two independent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Rank-based independent-group alternative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6614474"/>
                      </a:ext>
                    </a:extLst>
                  </a:tr>
                  <a:tr h="579120">
                    <a:tc>
                      <a:txBody>
                        <a:bodyPr/>
                        <a:lstStyle/>
                        <a:p>
                          <a:pPr algn="ctr"/>
                          <a:r>
                            <a:rPr lang="en-US" sz="1800" dirty="0">
                              <a:solidFill>
                                <a:schemeClr val="tx1"/>
                              </a:solidFill>
                            </a:rPr>
                            <a:t>Wilcoxon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500" dirty="0">
                              <a:solidFill>
                                <a:schemeClr val="tx1"/>
                              </a:solidFill>
                            </a:rPr>
                            <a:t>Median paired change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Paired / repeated measurements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Rank-based paired alternative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233514"/>
                      </a:ext>
                    </a:extLst>
                  </a:tr>
                </a:tbl>
              </a:graphicData>
            </a:graphic>
          </p:graphicFrame>
        </mc:Fallback>
      </mc:AlternateContent>
    </p:spTree>
    <p:extLst>
      <p:ext uri="{BB962C8B-B14F-4D97-AF65-F5344CB8AC3E}">
        <p14:creationId xmlns:p14="http://schemas.microsoft.com/office/powerpoint/2010/main" val="29862635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3BBA1-A937-5773-7CF2-B595AAE5073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8E32E84-2444-99D7-FA53-2C310271D1D7}"/>
              </a:ext>
            </a:extLst>
          </p:cNvPr>
          <p:cNvSpPr>
            <a:spLocks noGrp="1"/>
          </p:cNvSpPr>
          <p:nvPr>
            <p:ph type="title"/>
          </p:nvPr>
        </p:nvSpPr>
        <p:spPr/>
        <p:txBody>
          <a:bodyPr/>
          <a:lstStyle/>
          <a:p>
            <a:pPr algn="l" rtl="0"/>
            <a:r>
              <a:rPr lang="en-US" b="1" dirty="0"/>
              <a:t>t-Test</a:t>
            </a:r>
            <a:endParaRPr lang="he-IL" dirty="0"/>
          </a:p>
        </p:txBody>
      </p:sp>
      <p:sp>
        <p:nvSpPr>
          <p:cNvPr id="3" name="מציין מיקום תוכן 2">
            <a:extLst>
              <a:ext uri="{FF2B5EF4-FFF2-40B4-BE49-F238E27FC236}">
                <a16:creationId xmlns:a16="http://schemas.microsoft.com/office/drawing/2014/main" id="{6F8F97B6-3F8F-0313-A07B-788A1C9A0B5C}"/>
              </a:ext>
            </a:extLst>
          </p:cNvPr>
          <p:cNvSpPr>
            <a:spLocks noGrp="1"/>
          </p:cNvSpPr>
          <p:nvPr>
            <p:ph idx="1"/>
          </p:nvPr>
        </p:nvSpPr>
        <p:spPr>
          <a:xfrm>
            <a:off x="838200" y="1690688"/>
            <a:ext cx="10515600" cy="4351338"/>
          </a:xfrm>
        </p:spPr>
        <p:txBody>
          <a:bodyPr>
            <a:normAutofit/>
          </a:bodyPr>
          <a:lstStyle/>
          <a:p>
            <a:pPr marL="0" indent="0" algn="l" rtl="0">
              <a:lnSpc>
                <a:spcPct val="150000"/>
              </a:lnSpc>
              <a:buNone/>
            </a:pPr>
            <a:r>
              <a:rPr lang="en-US" sz="3200" u="sng" dirty="0"/>
              <a:t>Assumptions:</a:t>
            </a:r>
          </a:p>
          <a:p>
            <a:pPr algn="l" rtl="0">
              <a:lnSpc>
                <a:spcPct val="150000"/>
              </a:lnSpc>
            </a:pPr>
            <a:r>
              <a:rPr lang="en-US" sz="3000" dirty="0"/>
              <a:t>The outcome variable is </a:t>
            </a:r>
            <a:r>
              <a:rPr lang="en-US" sz="3000" b="1" dirty="0"/>
              <a:t>continuous</a:t>
            </a:r>
            <a:r>
              <a:rPr lang="en-US" sz="3000" dirty="0"/>
              <a:t> (not categorical)</a:t>
            </a:r>
          </a:p>
          <a:p>
            <a:pPr algn="l" rtl="0">
              <a:lnSpc>
                <a:spcPct val="150000"/>
              </a:lnSpc>
            </a:pPr>
            <a:r>
              <a:rPr lang="en-US" sz="3000" dirty="0"/>
              <a:t>Data (or paired differences) are </a:t>
            </a:r>
            <a:r>
              <a:rPr lang="en-US" sz="3000" b="1" dirty="0"/>
              <a:t>approximately normal</a:t>
            </a:r>
          </a:p>
          <a:p>
            <a:pPr algn="l" rtl="0">
              <a:lnSpc>
                <a:spcPct val="150000"/>
              </a:lnSpc>
            </a:pPr>
            <a:r>
              <a:rPr lang="en-US" sz="3000" b="1" dirty="0"/>
              <a:t>Observations are independent </a:t>
            </a:r>
            <a:r>
              <a:rPr lang="en-US" sz="3000" dirty="0"/>
              <a:t>(for independent t-test)</a:t>
            </a:r>
          </a:p>
          <a:p>
            <a:pPr algn="l" rtl="0">
              <a:lnSpc>
                <a:spcPct val="150000"/>
              </a:lnSpc>
            </a:pPr>
            <a:r>
              <a:rPr lang="en-US" sz="3000" b="1" dirty="0"/>
              <a:t>Equal variances between groups </a:t>
            </a:r>
            <a:r>
              <a:rPr lang="en-US" sz="3000" dirty="0"/>
              <a:t>(or use Welch’s correction)</a:t>
            </a:r>
          </a:p>
        </p:txBody>
      </p:sp>
    </p:spTree>
    <p:extLst>
      <p:ext uri="{BB962C8B-B14F-4D97-AF65-F5344CB8AC3E}">
        <p14:creationId xmlns:p14="http://schemas.microsoft.com/office/powerpoint/2010/main" val="40300151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1716E-62BC-AD88-7AD6-EDA81DF735F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A3A8C48-DC47-5323-803A-B68E36F1CA2E}"/>
              </a:ext>
            </a:extLst>
          </p:cNvPr>
          <p:cNvSpPr>
            <a:spLocks noGrp="1"/>
          </p:cNvSpPr>
          <p:nvPr>
            <p:ph type="title"/>
          </p:nvPr>
        </p:nvSpPr>
        <p:spPr/>
        <p:txBody>
          <a:bodyPr/>
          <a:lstStyle/>
          <a:p>
            <a:pPr algn="l" rtl="0"/>
            <a:r>
              <a:rPr lang="en-US" b="1" dirty="0"/>
              <a:t>Paired t-Test</a:t>
            </a:r>
            <a:endParaRPr lang="he-IL" dirty="0"/>
          </a:p>
        </p:txBody>
      </p:sp>
      <p:sp>
        <p:nvSpPr>
          <p:cNvPr id="3" name="מציין מיקום תוכן 2">
            <a:extLst>
              <a:ext uri="{FF2B5EF4-FFF2-40B4-BE49-F238E27FC236}">
                <a16:creationId xmlns:a16="http://schemas.microsoft.com/office/drawing/2014/main" id="{0AAF71BD-5AE7-1778-0387-7FC36F2ADFAA}"/>
              </a:ext>
            </a:extLst>
          </p:cNvPr>
          <p:cNvSpPr>
            <a:spLocks noGrp="1"/>
          </p:cNvSpPr>
          <p:nvPr>
            <p:ph idx="1"/>
          </p:nvPr>
        </p:nvSpPr>
        <p:spPr>
          <a:xfrm>
            <a:off x="838201" y="1662781"/>
            <a:ext cx="6248400" cy="3532438"/>
          </a:xfrm>
        </p:spPr>
        <p:txBody>
          <a:bodyPr>
            <a:normAutofit/>
          </a:bodyPr>
          <a:lstStyle/>
          <a:p>
            <a:pPr>
              <a:lnSpc>
                <a:spcPct val="150000"/>
              </a:lnSpc>
            </a:pPr>
            <a:r>
              <a:rPr lang="en-US" dirty="0"/>
              <a:t>foodDiet_extended.csv dataset: </a:t>
            </a:r>
          </a:p>
          <a:p>
            <a:pPr lvl="1">
              <a:lnSpc>
                <a:spcPct val="150000"/>
              </a:lnSpc>
            </a:pPr>
            <a:r>
              <a:rPr lang="en-US" dirty="0"/>
              <a:t>Same participants measured before and after diet</a:t>
            </a:r>
          </a:p>
          <a:p>
            <a:pPr lvl="1">
              <a:lnSpc>
                <a:spcPct val="150000"/>
              </a:lnSpc>
            </a:pPr>
            <a:r>
              <a:rPr lang="en-US" dirty="0"/>
              <a:t>Tests whether mean weight changed significantly after the diet</a:t>
            </a:r>
          </a:p>
        </p:txBody>
      </p:sp>
      <p:pic>
        <p:nvPicPr>
          <p:cNvPr id="6" name="Picture 2">
            <a:extLst>
              <a:ext uri="{FF2B5EF4-FFF2-40B4-BE49-F238E27FC236}">
                <a16:creationId xmlns:a16="http://schemas.microsoft.com/office/drawing/2014/main" id="{8A04CBFC-FD88-1C16-4179-8B0EA093B3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6102" y="2988344"/>
            <a:ext cx="5105399" cy="3669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9092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61AA4-2F22-914A-496D-150278270DC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3D391003-75D0-872E-DDC4-CF07DFA8C0DA}"/>
              </a:ext>
            </a:extLst>
          </p:cNvPr>
          <p:cNvSpPr>
            <a:spLocks noGrp="1"/>
          </p:cNvSpPr>
          <p:nvPr>
            <p:ph type="title"/>
          </p:nvPr>
        </p:nvSpPr>
        <p:spPr/>
        <p:txBody>
          <a:bodyPr/>
          <a:lstStyle/>
          <a:p>
            <a:pPr algn="l" rtl="0"/>
            <a:r>
              <a:rPr lang="en-US" b="1" dirty="0"/>
              <a:t>Paired t-Test</a:t>
            </a:r>
            <a:endParaRPr lang="he-IL" dirty="0"/>
          </a:p>
        </p:txBody>
      </p:sp>
      <mc:AlternateContent xmlns:mc="http://schemas.openxmlformats.org/markup-compatibility/2006">
        <mc:Choice xmlns:a14="http://schemas.microsoft.com/office/drawing/2010/main" Requires="a14">
          <p:sp>
            <p:nvSpPr>
              <p:cNvPr id="3" name="מציין מיקום תוכן 2">
                <a:extLst>
                  <a:ext uri="{FF2B5EF4-FFF2-40B4-BE49-F238E27FC236}">
                    <a16:creationId xmlns:a16="http://schemas.microsoft.com/office/drawing/2014/main" id="{AC063CE8-FB97-F91A-DD2F-ED57BA6250CD}"/>
                  </a:ext>
                </a:extLst>
              </p:cNvPr>
              <p:cNvSpPr>
                <a:spLocks noGrp="1"/>
              </p:cNvSpPr>
              <p:nvPr>
                <p:ph idx="1"/>
              </p:nvPr>
            </p:nvSpPr>
            <p:spPr>
              <a:xfrm>
                <a:off x="979869" y="1414464"/>
                <a:ext cx="10373932" cy="5078412"/>
              </a:xfrm>
            </p:spPr>
            <p:txBody>
              <a:bodyPr>
                <a:normAutofit lnSpcReduction="10000"/>
              </a:bodyPr>
              <a:lstStyle/>
              <a:p>
                <a:r>
                  <a:rPr lang="en-US" sz="1800" b="0" dirty="0"/>
                  <a:t>The paired t-test asks whether the average within-subject change is different from zero.</a:t>
                </a:r>
              </a:p>
              <a:p>
                <a:r>
                  <a:rPr lang="en-US" sz="1800" b="0" dirty="0"/>
                  <a:t>For each subject:</a:t>
                </a:r>
              </a:p>
              <a:p>
                <a:pPr marL="0" indent="0">
                  <a:buNone/>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m:rPr>
                              <m:nor/>
                            </m:rPr>
                            <a:rPr lang="en-US" sz="1800" b="0" i="0" dirty="0" smtClean="0">
                              <a:latin typeface="Cambria Math" panose="02040503050406030204" pitchFamily="18" charset="0"/>
                            </a:rPr>
                            <m:t>change</m:t>
                          </m:r>
                        </m:e>
                        <m:sub>
                          <m:r>
                            <a:rPr lang="en-US" sz="1800" b="0" i="1" dirty="0" smtClean="0">
                              <a:latin typeface="Cambria Math" panose="02040503050406030204" pitchFamily="18" charset="0"/>
                            </a:rPr>
                            <m:t>𝑖</m:t>
                          </m:r>
                        </m:sub>
                      </m:sSub>
                      <m:r>
                        <a:rPr lang="en-US" sz="1800" b="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m:rPr>
                              <m:nor/>
                            </m:rPr>
                            <a:rPr lang="en-US" sz="1800" b="0" i="0" dirty="0" smtClean="0">
                              <a:latin typeface="Cambria Math" panose="02040503050406030204" pitchFamily="18" charset="0"/>
                            </a:rPr>
                            <m:t>after</m:t>
                          </m:r>
                        </m:e>
                        <m:sub>
                          <m:r>
                            <a:rPr lang="en-US" sz="1800" b="0" i="1" dirty="0" smtClean="0">
                              <a:latin typeface="Cambria Math" panose="02040503050406030204" pitchFamily="18" charset="0"/>
                            </a:rPr>
                            <m:t>𝑖</m:t>
                          </m:r>
                        </m:sub>
                      </m:sSub>
                      <m:sSub>
                        <m:sSubPr>
                          <m:ctrlPr>
                            <a:rPr lang="en-US" sz="1800" b="0" i="1" dirty="0" smtClean="0">
                              <a:latin typeface="Cambria Math" panose="02040503050406030204" pitchFamily="18" charset="0"/>
                            </a:rPr>
                          </m:ctrlPr>
                        </m:sSubPr>
                        <m:e>
                          <m:r>
                            <m:rPr>
                              <m:nor/>
                            </m:rPr>
                            <a:rPr lang="en-US" sz="1800" b="0" i="0" dirty="0" smtClean="0">
                              <a:latin typeface="Cambria Math" panose="02040503050406030204" pitchFamily="18" charset="0"/>
                            </a:rPr>
                            <m:t>− </m:t>
                          </m:r>
                          <m:r>
                            <m:rPr>
                              <m:nor/>
                            </m:rPr>
                            <a:rPr lang="en-US" sz="1800" b="0" i="0" dirty="0" smtClean="0">
                              <a:latin typeface="Cambria Math" panose="02040503050406030204" pitchFamily="18" charset="0"/>
                            </a:rPr>
                            <m:t>before</m:t>
                          </m:r>
                        </m:e>
                        <m:sub>
                          <m:r>
                            <a:rPr lang="en-US" sz="1800" b="0" i="1" dirty="0" smtClean="0">
                              <a:latin typeface="Cambria Math" panose="02040503050406030204" pitchFamily="18" charset="0"/>
                            </a:rPr>
                            <m:t>𝑖</m:t>
                          </m:r>
                        </m:sub>
                      </m:sSub>
                    </m:oMath>
                  </m:oMathPara>
                </a14:m>
                <a:endParaRPr lang="en-US" sz="1800" b="0" dirty="0"/>
              </a:p>
              <a:p>
                <a:r>
                  <a:rPr lang="en-US" sz="1800" b="0" dirty="0"/>
                  <a:t>Null hypothesis:</a:t>
                </a:r>
              </a:p>
              <a:p>
                <a:pPr marL="0" indent="0">
                  <a:buNone/>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𝐻</m:t>
                          </m:r>
                        </m:e>
                        <m:sub>
                          <m:r>
                            <a:rPr lang="en-US" sz="1800" b="0" i="1" dirty="0" smtClean="0">
                              <a:latin typeface="Cambria Math" panose="02040503050406030204" pitchFamily="18" charset="0"/>
                            </a:rPr>
                            <m:t>0</m:t>
                          </m:r>
                        </m:sub>
                      </m:sSub>
                      <m:r>
                        <a:rPr lang="en-US" sz="1800" b="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𝜇</m:t>
                          </m:r>
                        </m:e>
                        <m:sub>
                          <m:r>
                            <a:rPr lang="en-US" sz="1800" b="0" i="1" dirty="0" smtClean="0">
                              <a:latin typeface="Cambria Math" panose="02040503050406030204" pitchFamily="18" charset="0"/>
                            </a:rPr>
                            <m:t>𝑐</m:t>
                          </m:r>
                          <m:r>
                            <a:rPr lang="en-US" sz="1800" b="0" i="1" dirty="0" smtClean="0">
                              <a:latin typeface="Cambria Math" panose="02040503050406030204" pitchFamily="18" charset="0"/>
                            </a:rPr>
                            <m:t>h</m:t>
                          </m:r>
                          <m:r>
                            <a:rPr lang="en-US" sz="1800" b="0" i="1" dirty="0" smtClean="0">
                              <a:latin typeface="Cambria Math" panose="02040503050406030204" pitchFamily="18" charset="0"/>
                            </a:rPr>
                            <m:t>𝑎𝑛𝑔𝑒</m:t>
                          </m:r>
                        </m:sub>
                      </m:sSub>
                      <m:r>
                        <a:rPr lang="en-US" sz="1800" b="0" i="1" dirty="0" smtClean="0">
                          <a:latin typeface="Cambria Math" panose="02040503050406030204" pitchFamily="18" charset="0"/>
                        </a:rPr>
                        <m:t> =</m:t>
                      </m:r>
                      <m:r>
                        <a:rPr lang="en-US" sz="1800" b="0" i="1" dirty="0" smtClean="0">
                          <a:latin typeface="Cambria Math" panose="02040503050406030204" pitchFamily="18" charset="0"/>
                        </a:rPr>
                        <m:t>0</m:t>
                      </m:r>
                    </m:oMath>
                  </m:oMathPara>
                </a14:m>
                <a:endParaRPr lang="en-US" sz="1800" b="0" i="1" dirty="0">
                  <a:latin typeface="Cambria Math" panose="02040503050406030204" pitchFamily="18" charset="0"/>
                </a:endParaRPr>
              </a:p>
              <a:p>
                <a:r>
                  <a:rPr lang="en-US" sz="1800" dirty="0">
                    <a:latin typeface="Cambria Math" panose="02040503050406030204" pitchFamily="18" charset="0"/>
                  </a:rPr>
                  <a:t>In paired t-test :</a:t>
                </a:r>
              </a:p>
              <a:p>
                <a:pPr marL="0" indent="0">
                  <a:buNone/>
                </a:pPr>
                <a14:m>
                  <m:oMathPara xmlns:m="http://schemas.openxmlformats.org/officeDocument/2006/math">
                    <m:oMathParaPr>
                      <m:jc m:val="centerGroup"/>
                    </m:oMathParaPr>
                    <m:oMath xmlns:m="http://schemas.openxmlformats.org/officeDocument/2006/math">
                      <m:r>
                        <a:rPr lang="en-US" sz="1800" dirty="0">
                          <a:latin typeface="Cambria Math" panose="02040503050406030204" pitchFamily="18" charset="0"/>
                        </a:rPr>
                        <m:t>  </m:t>
                      </m:r>
                      <m:r>
                        <m:rPr>
                          <m:sty m:val="p"/>
                        </m:rPr>
                        <a:rPr lang="en-US" sz="1800" dirty="0">
                          <a:latin typeface="Cambria Math" panose="02040503050406030204" pitchFamily="18" charset="0"/>
                        </a:rPr>
                        <m:t>t</m:t>
                      </m:r>
                      <m:r>
                        <a:rPr lang="en-US" sz="1800" dirty="0">
                          <a:latin typeface="Cambria Math" panose="02040503050406030204" pitchFamily="18" charset="0"/>
                        </a:rPr>
                        <m:t> ~</m:t>
                      </m:r>
                      <m:sSub>
                        <m:sSubPr>
                          <m:ctrlPr>
                            <a:rPr lang="en-US" sz="1800" i="1" dirty="0">
                              <a:latin typeface="Cambria Math" panose="02040503050406030204" pitchFamily="18" charset="0"/>
                            </a:rPr>
                          </m:ctrlPr>
                        </m:sSubPr>
                        <m:e>
                          <m:r>
                            <m:rPr>
                              <m:sty m:val="p"/>
                            </m:rPr>
                            <a:rPr lang="en-US" sz="1800" dirty="0">
                              <a:latin typeface="Cambria Math" panose="02040503050406030204" pitchFamily="18" charset="0"/>
                            </a:rPr>
                            <m:t>t</m:t>
                          </m:r>
                        </m:e>
                        <m:sub>
                          <m:r>
                            <m:rPr>
                              <m:sty m:val="p"/>
                            </m:rPr>
                            <a:rPr lang="en-US" sz="1800" dirty="0">
                              <a:latin typeface="Cambria Math" panose="02040503050406030204" pitchFamily="18" charset="0"/>
                            </a:rPr>
                            <m:t>df</m:t>
                          </m:r>
                        </m:sub>
                      </m:sSub>
                      <m:r>
                        <a:rPr lang="en-US" sz="1800" i="1" dirty="0">
                          <a:latin typeface="Cambria Math" panose="02040503050406030204" pitchFamily="18" charset="0"/>
                        </a:rPr>
                        <m:t>,  </m:t>
                      </m:r>
                      <m:r>
                        <a:rPr lang="en-US" sz="1800" i="1" dirty="0">
                          <a:latin typeface="Cambria Math" panose="02040503050406030204" pitchFamily="18" charset="0"/>
                        </a:rPr>
                        <m:t>𝑑𝑓</m:t>
                      </m:r>
                      <m:r>
                        <a:rPr lang="en-US" sz="1800" i="1" dirty="0">
                          <a:latin typeface="Cambria Math" panose="02040503050406030204" pitchFamily="18" charset="0"/>
                        </a:rPr>
                        <m:t>=</m:t>
                      </m:r>
                      <m:r>
                        <a:rPr lang="en-US" sz="1800" i="1" dirty="0">
                          <a:latin typeface="Cambria Math" panose="02040503050406030204" pitchFamily="18" charset="0"/>
                        </a:rPr>
                        <m:t>𝑛</m:t>
                      </m:r>
                      <m:r>
                        <a:rPr lang="en-US" sz="1800" i="1" dirty="0">
                          <a:latin typeface="Cambria Math" panose="02040503050406030204" pitchFamily="18" charset="0"/>
                        </a:rPr>
                        <m:t>−</m:t>
                      </m:r>
                      <m:r>
                        <a:rPr lang="en-US" sz="1800" i="1" dirty="0">
                          <a:latin typeface="Cambria Math" panose="02040503050406030204" pitchFamily="18" charset="0"/>
                        </a:rPr>
                        <m:t>1</m:t>
                      </m:r>
                    </m:oMath>
                  </m:oMathPara>
                </a14:m>
                <a:endParaRPr lang="en-US" sz="1800" b="0" dirty="0"/>
              </a:p>
              <a:p>
                <a:r>
                  <a:rPr lang="en-US" sz="1800" b="0" dirty="0"/>
                  <a:t>Test statistic:</a:t>
                </a:r>
              </a:p>
              <a:p>
                <a:pPr marL="0" indent="0">
                  <a:buNone/>
                </a:pP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rPr>
                        <m:t>𝑡</m:t>
                      </m:r>
                      <m:r>
                        <a:rPr lang="en-US" sz="1800" b="0" i="1" dirty="0" smtClean="0">
                          <a:latin typeface="Cambria Math" panose="02040503050406030204" pitchFamily="18" charset="0"/>
                        </a:rPr>
                        <m:t>=</m:t>
                      </m:r>
                      <m:f>
                        <m:fPr>
                          <m:ctrlPr>
                            <a:rPr lang="en-US" sz="1800" b="0" i="1" dirty="0" smtClean="0">
                              <a:latin typeface="Cambria Math" panose="02040503050406030204" pitchFamily="18" charset="0"/>
                            </a:rPr>
                          </m:ctrlPr>
                        </m:fPr>
                        <m:num>
                          <m:sSub>
                            <m:sSubPr>
                              <m:ctrlPr>
                                <a:rPr lang="en-US" sz="1800" b="0" i="1" dirty="0" smtClean="0">
                                  <a:latin typeface="Cambria Math" panose="02040503050406030204" pitchFamily="18" charset="0"/>
                                </a:rPr>
                              </m:ctrlPr>
                            </m:sSubPr>
                            <m:e>
                              <m:acc>
                                <m:accPr>
                                  <m:chr m:val="̅"/>
                                  <m:ctrlPr>
                                    <a:rPr lang="en-US" sz="1800" b="0" i="1" dirty="0" smtClean="0">
                                      <a:latin typeface="Cambria Math" panose="02040503050406030204" pitchFamily="18" charset="0"/>
                                    </a:rPr>
                                  </m:ctrlPr>
                                </m:accPr>
                                <m:e>
                                  <m:r>
                                    <a:rPr lang="en-US" sz="1800" b="0" i="1" dirty="0" smtClean="0">
                                      <a:latin typeface="Cambria Math" panose="02040503050406030204" pitchFamily="18" charset="0"/>
                                    </a:rPr>
                                    <m:t>𝑥</m:t>
                                  </m:r>
                                </m:e>
                              </m:acc>
                            </m:e>
                            <m:sub>
                              <m:r>
                                <m:rPr>
                                  <m:sty m:val="p"/>
                                </m:rPr>
                                <a:rPr lang="en-US" sz="1800" b="0" i="0" dirty="0" smtClean="0">
                                  <a:latin typeface="Cambria Math" panose="02040503050406030204" pitchFamily="18" charset="0"/>
                                </a:rPr>
                                <m:t>change</m:t>
                              </m:r>
                            </m:sub>
                          </m:sSub>
                          <m:r>
                            <a:rPr lang="en-US" sz="1800" b="0" i="1" dirty="0" smtClean="0">
                              <a:latin typeface="Cambria Math" panose="02040503050406030204" pitchFamily="18" charset="0"/>
                            </a:rPr>
                            <m:t> −</m:t>
                          </m:r>
                          <m:r>
                            <a:rPr lang="en-US" sz="1800" b="0" i="1" dirty="0" smtClean="0">
                              <a:latin typeface="Cambria Math" panose="02040503050406030204" pitchFamily="18" charset="0"/>
                            </a:rPr>
                            <m:t>0</m:t>
                          </m:r>
                        </m:num>
                        <m:den>
                          <m:f>
                            <m:fPr>
                              <m:ctrlPr>
                                <a:rPr lang="en-US" sz="1800" b="0" i="1" dirty="0" smtClean="0">
                                  <a:latin typeface="Cambria Math" panose="02040503050406030204" pitchFamily="18" charset="0"/>
                                </a:rPr>
                              </m:ctrlPr>
                            </m:fPr>
                            <m:num>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𝑠</m:t>
                                  </m:r>
                                </m:e>
                                <m:sub>
                                  <m:r>
                                    <m:rPr>
                                      <m:sty m:val="p"/>
                                    </m:rPr>
                                    <a:rPr lang="en-US" sz="1800" b="0" i="0" dirty="0" smtClean="0">
                                      <a:latin typeface="Cambria Math" panose="02040503050406030204" pitchFamily="18" charset="0"/>
                                    </a:rPr>
                                    <m:t>change</m:t>
                                  </m:r>
                                </m:sub>
                              </m:sSub>
                            </m:num>
                            <m:den>
                              <m:rad>
                                <m:radPr>
                                  <m:degHide m:val="on"/>
                                  <m:ctrlPr>
                                    <a:rPr lang="en-US" sz="1800" b="0" i="1" dirty="0" smtClean="0">
                                      <a:latin typeface="Cambria Math" panose="02040503050406030204" pitchFamily="18" charset="0"/>
                                    </a:rPr>
                                  </m:ctrlPr>
                                </m:radPr>
                                <m:deg/>
                                <m:e>
                                  <m:r>
                                    <a:rPr lang="en-US" sz="1800" b="0" i="1" dirty="0" smtClean="0">
                                      <a:latin typeface="Cambria Math" panose="02040503050406030204" pitchFamily="18" charset="0"/>
                                    </a:rPr>
                                    <m:t>𝑛</m:t>
                                  </m:r>
                                </m:e>
                              </m:rad>
                            </m:den>
                          </m:f>
                        </m:den>
                      </m:f>
                      <m:r>
                        <a:rPr lang="en-US" sz="1800" b="0" i="0" dirty="0" smtClean="0">
                          <a:latin typeface="Cambria Math" panose="02040503050406030204" pitchFamily="18" charset="0"/>
                        </a:rPr>
                        <m:t> </m:t>
                      </m:r>
                    </m:oMath>
                  </m:oMathPara>
                </a14:m>
                <a:endParaRPr lang="en-US" sz="1800" b="0" dirty="0"/>
              </a:p>
              <a:p>
                <a:pPr marL="0" indent="0">
                  <a:buNone/>
                </a:pPr>
                <a:r>
                  <a:rPr lang="en-US" sz="1800" b="0" dirty="0"/>
                  <a:t>where:</a:t>
                </a:r>
              </a:p>
              <a:p>
                <a:pPr marL="457200" lvl="1" indent="0">
                  <a:buNone/>
                </a:pPr>
                <a14:m>
                  <m:oMath xmlns:m="http://schemas.openxmlformats.org/officeDocument/2006/math">
                    <m:sSub>
                      <m:sSubPr>
                        <m:ctrlPr>
                          <a:rPr lang="en-US" sz="1600" b="0" i="1" dirty="0" smtClean="0">
                            <a:latin typeface="Cambria Math" panose="02040503050406030204" pitchFamily="18" charset="0"/>
                          </a:rPr>
                        </m:ctrlPr>
                      </m:sSubPr>
                      <m:e>
                        <m:acc>
                          <m:accPr>
                            <m:chr m:val="̅"/>
                            <m:ctrlPr>
                              <a:rPr lang="en-US" sz="1600" b="0" i="1" dirty="0" smtClean="0">
                                <a:latin typeface="Cambria Math" panose="02040503050406030204" pitchFamily="18" charset="0"/>
                              </a:rPr>
                            </m:ctrlPr>
                          </m:accPr>
                          <m:e>
                            <m:r>
                              <a:rPr lang="en-US" sz="1600" b="0" i="1" dirty="0" smtClean="0">
                                <a:latin typeface="Cambria Math" panose="02040503050406030204" pitchFamily="18" charset="0"/>
                              </a:rPr>
                              <m:t>𝑥</m:t>
                            </m:r>
                          </m:e>
                        </m:acc>
                      </m:e>
                      <m:sub>
                        <m:r>
                          <a:rPr lang="en-US" sz="1600" b="0" i="1" dirty="0" smtClean="0">
                            <a:latin typeface="Cambria Math" panose="02040503050406030204" pitchFamily="18" charset="0"/>
                          </a:rPr>
                          <m:t>𝑐</m:t>
                        </m:r>
                        <m:r>
                          <a:rPr lang="en-US" sz="1600" b="0" i="1" dirty="0" smtClean="0">
                            <a:latin typeface="Cambria Math" panose="02040503050406030204" pitchFamily="18" charset="0"/>
                          </a:rPr>
                          <m:t>h</m:t>
                        </m:r>
                        <m:r>
                          <a:rPr lang="en-US" sz="1600" b="0" i="1" dirty="0" smtClean="0">
                            <a:latin typeface="Cambria Math" panose="02040503050406030204" pitchFamily="18" charset="0"/>
                          </a:rPr>
                          <m:t>𝑎𝑛𝑔𝑒</m:t>
                        </m:r>
                      </m:sub>
                    </m:sSub>
                    <m:r>
                      <a:rPr lang="en-US" sz="1600" b="0" i="1" dirty="0" smtClean="0">
                        <a:latin typeface="Cambria Math" panose="02040503050406030204" pitchFamily="18" charset="0"/>
                      </a:rPr>
                      <m:t>  </m:t>
                    </m:r>
                  </m:oMath>
                </a14:m>
                <a:r>
                  <a:rPr lang="en-US" sz="1600" b="0" dirty="0"/>
                  <a:t>𝑖𝑠 𝑡ℎ𝑒 𝑎𝑣𝑒𝑟𝑎𝑔𝑒 𝑜𝑏𝑠𝑒𝑟𝑣𝑒𝑑 𝑐ℎ𝑎𝑛𝑔𝑒 </a:t>
                </a:r>
              </a:p>
              <a:p>
                <a:pPr marL="457200" lvl="1" indent="0">
                  <a:buNone/>
                </a:pPr>
                <a14:m>
                  <m:oMath xmlns:m="http://schemas.openxmlformats.org/officeDocument/2006/math">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𝑠</m:t>
                        </m:r>
                      </m:e>
                      <m:sub>
                        <m:r>
                          <a:rPr lang="en-US" sz="1600" b="0" i="1" dirty="0" smtClean="0">
                            <a:latin typeface="Cambria Math" panose="02040503050406030204" pitchFamily="18" charset="0"/>
                          </a:rPr>
                          <m:t>𝑐</m:t>
                        </m:r>
                        <m:r>
                          <a:rPr lang="en-US" sz="1600" b="0" i="1" dirty="0" smtClean="0">
                            <a:latin typeface="Cambria Math" panose="02040503050406030204" pitchFamily="18" charset="0"/>
                          </a:rPr>
                          <m:t>h</m:t>
                        </m:r>
                        <m:r>
                          <a:rPr lang="en-US" sz="1600" b="0" i="1" dirty="0" smtClean="0">
                            <a:latin typeface="Cambria Math" panose="02040503050406030204" pitchFamily="18" charset="0"/>
                          </a:rPr>
                          <m:t>𝑎𝑛𝑔𝑒</m:t>
                        </m:r>
                        <m:r>
                          <a:rPr lang="en-US" sz="1600" b="0" i="1" dirty="0" smtClean="0">
                            <a:latin typeface="Cambria Math" panose="02040503050406030204" pitchFamily="18" charset="0"/>
                          </a:rPr>
                          <m:t> </m:t>
                        </m:r>
                      </m:sub>
                    </m:sSub>
                    <m:r>
                      <a:rPr lang="en-US" sz="1600" b="0" i="1" dirty="0" smtClean="0">
                        <a:latin typeface="Cambria Math" panose="02040503050406030204" pitchFamily="18" charset="0"/>
                      </a:rPr>
                      <m:t> </m:t>
                    </m:r>
                  </m:oMath>
                </a14:m>
                <a:r>
                  <a:rPr lang="en-US" sz="1600" b="0" dirty="0"/>
                  <a:t>𝑖𝑠 𝑡ℎ𝑒 𝑠𝑡𝑎𝑛𝑑𝑎𝑟𝑑 𝑑𝑒𝑣𝑖𝑎𝑡𝑖𝑜𝑛 𝑜𝑓 𝑡ℎ𝑒 𝑐ℎ𝑎𝑛𝑔𝑒𝑠 </a:t>
                </a:r>
              </a:p>
              <a:p>
                <a:pPr marL="457200" lvl="1" indent="0">
                  <a:buNone/>
                </a:pPr>
                <a:r>
                  <a:rPr lang="en-US" sz="1600" b="0" dirty="0"/>
                  <a:t>𝑛 𝑖𝑠 𝑡ℎ𝑒 𝑛𝑢𝑚𝑏𝑒𝑟 𝑜𝑓 𝑝𝑎𝑖𝑟𝑒𝑑 𝑜𝑏𝑠𝑒𝑟𝑣𝑎𝑡𝑖𝑜𝑛𝑠 </a:t>
                </a:r>
              </a:p>
              <a:p>
                <a:r>
                  <a:rPr lang="en-US" sz="1800" b="0" dirty="0"/>
                  <a:t>Decision:</a:t>
                </a:r>
              </a:p>
              <a:p>
                <a:pPr marL="0" indent="0">
                  <a:buNone/>
                </a:pP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rPr>
                        <m:t>𝑝</m:t>
                      </m:r>
                      <m:r>
                        <a:rPr lang="en-US" sz="1800" b="0" i="1" dirty="0" smtClean="0">
                          <a:latin typeface="Cambria Math" panose="02040503050406030204" pitchFamily="18" charset="0"/>
                        </a:rPr>
                        <m:t>&lt;</m:t>
                      </m:r>
                      <m:r>
                        <a:rPr lang="en-US" sz="1800" b="0" i="1" dirty="0" smtClean="0">
                          <a:latin typeface="Cambria Math" panose="02040503050406030204" pitchFamily="18" charset="0"/>
                        </a:rPr>
                        <m:t>𝛼</m:t>
                      </m:r>
                      <m:r>
                        <a:rPr lang="en-US" sz="1800" b="0" i="1" dirty="0" smtClean="0">
                          <a:latin typeface="Cambria Math" panose="02040503050406030204" pitchFamily="18" charset="0"/>
                        </a:rPr>
                        <m:t>⇒</m:t>
                      </m:r>
                      <m:r>
                        <m:rPr>
                          <m:nor/>
                        </m:rPr>
                        <a:rPr lang="en-US" sz="1800" b="0" i="0" dirty="0" smtClean="0">
                          <a:latin typeface="Cambria Math" panose="02040503050406030204" pitchFamily="18" charset="0"/>
                        </a:rPr>
                        <m:t>Reject</m:t>
                      </m:r>
                      <m:r>
                        <m:rPr>
                          <m:nor/>
                        </m:rPr>
                        <a:rPr lang="en-US" sz="1800" b="0" i="0"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𝐻</m:t>
                          </m:r>
                        </m:e>
                        <m:sub>
                          <m:r>
                            <a:rPr lang="en-US" sz="1800" b="0" i="1" dirty="0" smtClean="0">
                              <a:latin typeface="Cambria Math" panose="02040503050406030204" pitchFamily="18" charset="0"/>
                            </a:rPr>
                            <m:t>0</m:t>
                          </m:r>
                        </m:sub>
                      </m:sSub>
                    </m:oMath>
                  </m:oMathPara>
                </a14:m>
                <a:endParaRPr lang="en-US" sz="1800" b="0" dirty="0"/>
              </a:p>
              <a:p>
                <a:endParaRPr lang="he-IL" sz="1800" b="0" dirty="0"/>
              </a:p>
            </p:txBody>
          </p:sp>
        </mc:Choice>
        <mc:Fallback>
          <p:sp>
            <p:nvSpPr>
              <p:cNvPr id="3" name="מציין מיקום תוכן 2">
                <a:extLst>
                  <a:ext uri="{FF2B5EF4-FFF2-40B4-BE49-F238E27FC236}">
                    <a16:creationId xmlns:a16="http://schemas.microsoft.com/office/drawing/2014/main" id="{AC063CE8-FB97-F91A-DD2F-ED57BA6250CD}"/>
                  </a:ext>
                </a:extLst>
              </p:cNvPr>
              <p:cNvSpPr>
                <a:spLocks noGrp="1" noRot="1" noChangeAspect="1" noMove="1" noResize="1" noEditPoints="1" noAdjustHandles="1" noChangeArrowheads="1" noChangeShapeType="1" noTextEdit="1"/>
              </p:cNvSpPr>
              <p:nvPr>
                <p:ph idx="1"/>
              </p:nvPr>
            </p:nvSpPr>
            <p:spPr>
              <a:xfrm>
                <a:off x="979869" y="1414464"/>
                <a:ext cx="10373932" cy="5078412"/>
              </a:xfrm>
              <a:blipFill>
                <a:blip r:embed="rId3"/>
                <a:stretch>
                  <a:fillRect l="-529" t="-1441"/>
                </a:stretch>
              </a:blipFill>
            </p:spPr>
            <p:txBody>
              <a:bodyPr/>
              <a:lstStyle/>
              <a:p>
                <a:r>
                  <a:rPr lang="he-IL">
                    <a:noFill/>
                  </a:rPr>
                  <a:t> </a:t>
                </a:r>
              </a:p>
            </p:txBody>
          </p:sp>
        </mc:Fallback>
      </mc:AlternateContent>
    </p:spTree>
    <p:extLst>
      <p:ext uri="{BB962C8B-B14F-4D97-AF65-F5344CB8AC3E}">
        <p14:creationId xmlns:p14="http://schemas.microsoft.com/office/powerpoint/2010/main" val="21589847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AAB9B-B0DB-1CE5-7430-B54147A8018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E2D1041-A212-8FF4-5662-E5B354709C61}"/>
              </a:ext>
            </a:extLst>
          </p:cNvPr>
          <p:cNvPicPr>
            <a:picLocks noChangeAspect="1"/>
          </p:cNvPicPr>
          <p:nvPr/>
        </p:nvPicPr>
        <p:blipFill>
          <a:blip r:embed="rId3"/>
          <a:stretch>
            <a:fillRect/>
          </a:stretch>
        </p:blipFill>
        <p:spPr>
          <a:xfrm>
            <a:off x="1788357" y="1911713"/>
            <a:ext cx="8396074" cy="3474237"/>
          </a:xfrm>
          <a:prstGeom prst="rect">
            <a:avLst/>
          </a:prstGeom>
        </p:spPr>
      </p:pic>
      <p:sp>
        <p:nvSpPr>
          <p:cNvPr id="2" name="כותרת 1">
            <a:extLst>
              <a:ext uri="{FF2B5EF4-FFF2-40B4-BE49-F238E27FC236}">
                <a16:creationId xmlns:a16="http://schemas.microsoft.com/office/drawing/2014/main" id="{33708FB3-9F33-DB2D-2CE3-7C14495A8CF8}"/>
              </a:ext>
            </a:extLst>
          </p:cNvPr>
          <p:cNvSpPr>
            <a:spLocks noGrp="1"/>
          </p:cNvSpPr>
          <p:nvPr>
            <p:ph type="title"/>
          </p:nvPr>
        </p:nvSpPr>
        <p:spPr/>
        <p:txBody>
          <a:bodyPr/>
          <a:lstStyle/>
          <a:p>
            <a:pPr algn="l" rtl="0"/>
            <a:r>
              <a:rPr lang="en-US" b="1" dirty="0"/>
              <a:t>Paired t-Test</a:t>
            </a:r>
            <a:endParaRPr lang="he-IL" dirty="0"/>
          </a:p>
        </p:txBody>
      </p:sp>
      <p:pic>
        <p:nvPicPr>
          <p:cNvPr id="9" name="תמונה 8">
            <a:extLst>
              <a:ext uri="{FF2B5EF4-FFF2-40B4-BE49-F238E27FC236}">
                <a16:creationId xmlns:a16="http://schemas.microsoft.com/office/drawing/2014/main" id="{E8176583-58F1-A079-D406-EE3967058DAC}"/>
              </a:ext>
            </a:extLst>
          </p:cNvPr>
          <p:cNvPicPr>
            <a:picLocks noChangeAspect="1"/>
          </p:cNvPicPr>
          <p:nvPr/>
        </p:nvPicPr>
        <p:blipFill>
          <a:blip r:embed="rId4"/>
          <a:stretch>
            <a:fillRect/>
          </a:stretch>
        </p:blipFill>
        <p:spPr>
          <a:xfrm>
            <a:off x="9121909" y="0"/>
            <a:ext cx="3070090" cy="1579563"/>
          </a:xfrm>
          <a:prstGeom prst="rect">
            <a:avLst/>
          </a:prstGeom>
        </p:spPr>
      </p:pic>
      <p:sp>
        <p:nvSpPr>
          <p:cNvPr id="11" name="תיבת טקסט 10">
            <a:extLst>
              <a:ext uri="{FF2B5EF4-FFF2-40B4-BE49-F238E27FC236}">
                <a16:creationId xmlns:a16="http://schemas.microsoft.com/office/drawing/2014/main" id="{01902AFF-86B7-5877-F1DB-57C6373039B9}"/>
              </a:ext>
            </a:extLst>
          </p:cNvPr>
          <p:cNvSpPr txBox="1"/>
          <p:nvPr/>
        </p:nvSpPr>
        <p:spPr>
          <a:xfrm>
            <a:off x="8085220" y="6550334"/>
            <a:ext cx="4106779" cy="369332"/>
          </a:xfrm>
          <a:prstGeom prst="rect">
            <a:avLst/>
          </a:prstGeom>
          <a:noFill/>
        </p:spPr>
        <p:txBody>
          <a:bodyPr wrap="square">
            <a:spAutoFit/>
          </a:bodyPr>
          <a:lstStyle/>
          <a:p>
            <a:r>
              <a:rPr lang="en-US" sz="900" dirty="0">
                <a:hlinkClick r:id="rId5"/>
              </a:rPr>
              <a:t>https://docs.scipy.org/doc/scipy/reference/generated/scipy.stats.ttest_rel.html</a:t>
            </a:r>
            <a:r>
              <a:rPr lang="en-US" sz="900" dirty="0"/>
              <a:t> </a:t>
            </a:r>
            <a:endParaRPr lang="he-IL" sz="900" dirty="0"/>
          </a:p>
        </p:txBody>
      </p:sp>
      <p:sp>
        <p:nvSpPr>
          <p:cNvPr id="6" name="Rectangle 5">
            <a:extLst>
              <a:ext uri="{FF2B5EF4-FFF2-40B4-BE49-F238E27FC236}">
                <a16:creationId xmlns:a16="http://schemas.microsoft.com/office/drawing/2014/main" id="{06357F09-203B-BBAE-9505-EA11ACEB978B}"/>
              </a:ext>
            </a:extLst>
          </p:cNvPr>
          <p:cNvSpPr/>
          <p:nvPr/>
        </p:nvSpPr>
        <p:spPr>
          <a:xfrm>
            <a:off x="1857541" y="1911713"/>
            <a:ext cx="5531558" cy="338337"/>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Rectangle 6">
            <a:extLst>
              <a:ext uri="{FF2B5EF4-FFF2-40B4-BE49-F238E27FC236}">
                <a16:creationId xmlns:a16="http://schemas.microsoft.com/office/drawing/2014/main" id="{1A8A1E8B-A4A8-A679-A23B-C2F34E62423C}"/>
              </a:ext>
            </a:extLst>
          </p:cNvPr>
          <p:cNvSpPr/>
          <p:nvPr/>
        </p:nvSpPr>
        <p:spPr>
          <a:xfrm>
            <a:off x="1788357" y="3941908"/>
            <a:ext cx="8521216" cy="916568"/>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Rectangle 7">
            <a:extLst>
              <a:ext uri="{FF2B5EF4-FFF2-40B4-BE49-F238E27FC236}">
                <a16:creationId xmlns:a16="http://schemas.microsoft.com/office/drawing/2014/main" id="{97977E0E-E256-F0C0-E1DC-03D9847755FF}"/>
              </a:ext>
            </a:extLst>
          </p:cNvPr>
          <p:cNvSpPr/>
          <p:nvPr/>
        </p:nvSpPr>
        <p:spPr>
          <a:xfrm>
            <a:off x="1857540" y="5024505"/>
            <a:ext cx="4713821" cy="416788"/>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Tree>
    <p:extLst>
      <p:ext uri="{BB962C8B-B14F-4D97-AF65-F5344CB8AC3E}">
        <p14:creationId xmlns:p14="http://schemas.microsoft.com/office/powerpoint/2010/main" val="38950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48837-C1B5-1774-BE23-55582D335C0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19BF440A-1DE3-ECC5-1B69-E46C93128874}"/>
              </a:ext>
            </a:extLst>
          </p:cNvPr>
          <p:cNvSpPr>
            <a:spLocks noGrp="1"/>
          </p:cNvSpPr>
          <p:nvPr>
            <p:ph type="title"/>
          </p:nvPr>
        </p:nvSpPr>
        <p:spPr/>
        <p:txBody>
          <a:bodyPr/>
          <a:lstStyle/>
          <a:p>
            <a:pPr algn="l" rtl="0"/>
            <a:r>
              <a:rPr lang="en-US" b="1" dirty="0"/>
              <a:t>Paired t-Test</a:t>
            </a:r>
            <a:endParaRPr lang="he-IL" dirty="0"/>
          </a:p>
        </p:txBody>
      </p:sp>
      <mc:AlternateContent xmlns:mc="http://schemas.openxmlformats.org/markup-compatibility/2006" xmlns:a14="http://schemas.microsoft.com/office/drawing/2010/main">
        <mc:Choice Requires="a14">
          <p:sp>
            <p:nvSpPr>
              <p:cNvPr id="13" name="תיבת טקסט 12">
                <a:extLst>
                  <a:ext uri="{FF2B5EF4-FFF2-40B4-BE49-F238E27FC236}">
                    <a16:creationId xmlns:a16="http://schemas.microsoft.com/office/drawing/2014/main" id="{198E288B-1339-3EC4-6BE3-0A24E613F233}"/>
                  </a:ext>
                </a:extLst>
              </p:cNvPr>
              <p:cNvSpPr txBox="1"/>
              <p:nvPr/>
            </p:nvSpPr>
            <p:spPr>
              <a:xfrm>
                <a:off x="838200" y="3205236"/>
                <a:ext cx="11209420" cy="3924151"/>
              </a:xfrm>
              <a:prstGeom prst="rect">
                <a:avLst/>
              </a:prstGeom>
              <a:noFill/>
            </p:spPr>
            <p:txBody>
              <a:bodyPr wrap="square">
                <a:spAutoFit/>
              </a:bodyPr>
              <a:lstStyle/>
              <a:p>
                <a:pPr marL="285750" indent="-285750" algn="l" rtl="0">
                  <a:lnSpc>
                    <a:spcPct val="150000"/>
                  </a:lnSpc>
                  <a:buFont typeface="Arial" panose="020B0604020202020204" pitchFamily="34" charset="0"/>
                  <a:buChar char="•"/>
                </a:pPr>
                <a:r>
                  <a:rPr lang="en-US" sz="2400" b="1" dirty="0">
                    <a:latin typeface="David" panose="020E0502060401010101" pitchFamily="34" charset="-79"/>
                    <a:cs typeface="David" panose="020E0502060401010101" pitchFamily="34" charset="-79"/>
                  </a:rPr>
                  <a:t>t-statistic:</a:t>
                </a:r>
                <a:r>
                  <a:rPr lang="en-US" sz="2400" dirty="0">
                    <a:latin typeface="David" panose="020E0502060401010101" pitchFamily="34" charset="-79"/>
                    <a:cs typeface="David" panose="020E0502060401010101" pitchFamily="34" charset="-79"/>
                  </a:rPr>
                  <a:t> -33.319</a:t>
                </a:r>
              </a:p>
              <a:p>
                <a:pPr marL="285750" indent="-285750" algn="l" rtl="0">
                  <a:lnSpc>
                    <a:spcPct val="150000"/>
                  </a:lnSpc>
                  <a:buFont typeface="Arial" panose="020B0604020202020204" pitchFamily="34" charset="0"/>
                  <a:buChar char="•"/>
                </a:pPr>
                <a:r>
                  <a:rPr lang="en-US" sz="2400" b="1" dirty="0">
                    <a:latin typeface="David" panose="020E0502060401010101" pitchFamily="34" charset="-79"/>
                    <a:cs typeface="David" panose="020E0502060401010101" pitchFamily="34" charset="-79"/>
                  </a:rPr>
                  <a:t>p-Value</a:t>
                </a:r>
                <a:r>
                  <a:rPr lang="en-US" sz="2400" dirty="0">
                    <a:latin typeface="David" panose="020E0502060401010101" pitchFamily="34" charset="-79"/>
                    <a:cs typeface="David" panose="020E0502060401010101" pitchFamily="34" charset="-79"/>
                  </a:rPr>
                  <a:t> : </a:t>
                </a:r>
                <a14:m>
                  <m:oMath xmlns:m="http://schemas.openxmlformats.org/officeDocument/2006/math">
                    <m:r>
                      <a:rPr lang="en-US" sz="2400" b="0" i="0" dirty="0" smtClean="0">
                        <a:latin typeface="Cambria Math" panose="02040503050406030204" pitchFamily="18" charset="0"/>
                        <a:cs typeface="David" panose="020E0502060401010101" pitchFamily="34" charset="-79"/>
                      </a:rPr>
                      <m:t>7</m:t>
                    </m:r>
                    <m:r>
                      <a:rPr lang="en-US" sz="2400" b="0" i="0" dirty="0" smtClean="0">
                        <a:latin typeface="Cambria Math" panose="02040503050406030204" pitchFamily="18" charset="0"/>
                        <a:cs typeface="David" panose="020E0502060401010101" pitchFamily="34" charset="-79"/>
                      </a:rPr>
                      <m:t>.</m:t>
                    </m:r>
                    <m:r>
                      <a:rPr lang="en-US" sz="2400" b="0" i="0" dirty="0" smtClean="0">
                        <a:latin typeface="Cambria Math" panose="02040503050406030204" pitchFamily="18" charset="0"/>
                        <a:cs typeface="David" panose="020E0502060401010101" pitchFamily="34" charset="-79"/>
                      </a:rPr>
                      <m:t>976</m:t>
                    </m:r>
                    <m:r>
                      <a:rPr lang="en-US" sz="2400" dirty="0">
                        <a:latin typeface="Cambria Math" panose="02040503050406030204" pitchFamily="18" charset="0"/>
                        <a:cs typeface="David" panose="020E0502060401010101" pitchFamily="34" charset="-79"/>
                      </a:rPr>
                      <m:t>∙</m:t>
                    </m:r>
                    <m:sSup>
                      <m:sSupPr>
                        <m:ctrlPr>
                          <a:rPr lang="en-US" sz="2400" i="1" dirty="0">
                            <a:latin typeface="Cambria Math" panose="02040503050406030204" pitchFamily="18" charset="0"/>
                            <a:cs typeface="David" panose="020E0502060401010101" pitchFamily="34" charset="-79"/>
                          </a:rPr>
                        </m:ctrlPr>
                      </m:sSupPr>
                      <m:e>
                        <m:r>
                          <a:rPr lang="en-US" sz="2400" dirty="0">
                            <a:latin typeface="Cambria Math" panose="02040503050406030204" pitchFamily="18" charset="0"/>
                            <a:cs typeface="David" panose="020E0502060401010101" pitchFamily="34" charset="-79"/>
                          </a:rPr>
                          <m:t>10</m:t>
                        </m:r>
                      </m:e>
                      <m:sup>
                        <m:r>
                          <a:rPr lang="en-US" sz="2400" dirty="0">
                            <a:latin typeface="Cambria Math" panose="02040503050406030204" pitchFamily="18" charset="0"/>
                            <a:cs typeface="David" panose="020E0502060401010101" pitchFamily="34" charset="-79"/>
                          </a:rPr>
                          <m:t>−</m:t>
                        </m:r>
                        <m:r>
                          <a:rPr lang="en-US" sz="2400" b="0" i="0" dirty="0" smtClean="0">
                            <a:latin typeface="Cambria Math" panose="02040503050406030204" pitchFamily="18" charset="0"/>
                            <a:cs typeface="David" panose="020E0502060401010101" pitchFamily="34" charset="-79"/>
                          </a:rPr>
                          <m:t>127</m:t>
                        </m:r>
                      </m:sup>
                    </m:sSup>
                    <m:r>
                      <a:rPr lang="en-US" sz="2400" dirty="0">
                        <a:latin typeface="Cambria Math" panose="02040503050406030204" pitchFamily="18" charset="0"/>
                        <a:cs typeface="David" panose="020E0502060401010101" pitchFamily="34" charset="-79"/>
                      </a:rPr>
                      <m:t> </m:t>
                    </m:r>
                    <m:d>
                      <m:dPr>
                        <m:ctrlPr>
                          <a:rPr lang="en-US" sz="2400" i="1" dirty="0">
                            <a:latin typeface="Cambria Math" panose="02040503050406030204" pitchFamily="18" charset="0"/>
                            <a:cs typeface="David" panose="020E0502060401010101" pitchFamily="34" charset="-79"/>
                          </a:rPr>
                        </m:ctrlPr>
                      </m:dPr>
                      <m:e>
                        <m:r>
                          <a:rPr lang="en-US" sz="2400" dirty="0">
                            <a:latin typeface="Cambria Math" panose="02040503050406030204" pitchFamily="18" charset="0"/>
                            <a:cs typeface="David" panose="020E0502060401010101" pitchFamily="34" charset="-79"/>
                          </a:rPr>
                          <m:t>&lt; </m:t>
                        </m:r>
                        <m:r>
                          <a:rPr lang="en-US" sz="2400" dirty="0">
                            <a:latin typeface="Cambria Math" panose="02040503050406030204" pitchFamily="18" charset="0"/>
                            <a:cs typeface="David" panose="020E0502060401010101" pitchFamily="34" charset="-79"/>
                          </a:rPr>
                          <m:t>0</m:t>
                        </m:r>
                        <m:r>
                          <a:rPr lang="en-US" sz="2400" dirty="0">
                            <a:latin typeface="Cambria Math" panose="02040503050406030204" pitchFamily="18" charset="0"/>
                            <a:cs typeface="David" panose="020E0502060401010101" pitchFamily="34" charset="-79"/>
                          </a:rPr>
                          <m:t>.</m:t>
                        </m:r>
                        <m:r>
                          <a:rPr lang="en-US" sz="2400" dirty="0">
                            <a:latin typeface="Cambria Math" panose="02040503050406030204" pitchFamily="18" charset="0"/>
                            <a:cs typeface="David" panose="020E0502060401010101" pitchFamily="34" charset="-79"/>
                          </a:rPr>
                          <m:t>05</m:t>
                        </m:r>
                      </m:e>
                    </m:d>
                    <m:r>
                      <a:rPr lang="en-US" sz="2400" dirty="0">
                        <a:latin typeface="Cambria Math" panose="02040503050406030204" pitchFamily="18" charset="0"/>
                        <a:cs typeface="David" panose="020E0502060401010101" pitchFamily="34" charset="-79"/>
                      </a:rPr>
                      <m:t>⇒</m:t>
                    </m:r>
                    <m:r>
                      <m:rPr>
                        <m:nor/>
                      </m:rPr>
                      <a:rPr lang="en-US" sz="2400" dirty="0">
                        <a:latin typeface="David" panose="020E0502060401010101" pitchFamily="34" charset="-79"/>
                        <a:cs typeface="David" panose="020E0502060401010101" pitchFamily="34" charset="-79"/>
                      </a:rPr>
                      <m:t>low</m:t>
                    </m:r>
                    <m:r>
                      <m:rPr>
                        <m:nor/>
                      </m:rPr>
                      <a:rPr lang="en-US" sz="2400" dirty="0">
                        <a:latin typeface="David" panose="020E0502060401010101" pitchFamily="34" charset="-79"/>
                        <a:cs typeface="David" panose="020E0502060401010101" pitchFamily="34" charset="-79"/>
                      </a:rPr>
                      <m:t> </m:t>
                    </m:r>
                    <m:r>
                      <m:rPr>
                        <m:nor/>
                      </m:rPr>
                      <a:rPr lang="en-US" sz="2400" dirty="0">
                        <a:latin typeface="David" panose="020E0502060401010101" pitchFamily="34" charset="-79"/>
                        <a:cs typeface="David" panose="020E0502060401010101" pitchFamily="34" charset="-79"/>
                      </a:rPr>
                      <m:t>value</m:t>
                    </m:r>
                    <m:r>
                      <m:rPr>
                        <m:nor/>
                      </m:rPr>
                      <a:rPr lang="en-US" sz="2400" dirty="0">
                        <a:latin typeface="David" panose="020E0502060401010101" pitchFamily="34" charset="-79"/>
                        <a:cs typeface="David" panose="020E0502060401010101" pitchFamily="34" charset="-79"/>
                      </a:rPr>
                      <m:t>, </m:t>
                    </m:r>
                    <m:r>
                      <m:rPr>
                        <m:nor/>
                      </m:rPr>
                      <a:rPr lang="en-US" sz="2400" dirty="0">
                        <a:latin typeface="David" panose="020E0502060401010101" pitchFamily="34" charset="-79"/>
                        <a:cs typeface="David" panose="020E0502060401010101" pitchFamily="34" charset="-79"/>
                      </a:rPr>
                      <m:t>indicating</m:t>
                    </m:r>
                    <m:r>
                      <m:rPr>
                        <m:nor/>
                      </m:rPr>
                      <a:rPr lang="en-US" sz="2400" dirty="0">
                        <a:latin typeface="David" panose="020E0502060401010101" pitchFamily="34" charset="-79"/>
                        <a:cs typeface="David" panose="020E0502060401010101" pitchFamily="34" charset="-79"/>
                      </a:rPr>
                      <m:t> </m:t>
                    </m:r>
                    <m:r>
                      <m:rPr>
                        <m:nor/>
                      </m:rPr>
                      <a:rPr lang="en-US" sz="2400" dirty="0">
                        <a:latin typeface="David" panose="020E0502060401010101" pitchFamily="34" charset="-79"/>
                        <a:cs typeface="David" panose="020E0502060401010101" pitchFamily="34" charset="-79"/>
                      </a:rPr>
                      <m:t>strong</m:t>
                    </m:r>
                    <m:r>
                      <m:rPr>
                        <m:nor/>
                      </m:rPr>
                      <a:rPr lang="en-US" sz="2400" dirty="0">
                        <a:latin typeface="David" panose="020E0502060401010101" pitchFamily="34" charset="-79"/>
                        <a:cs typeface="David" panose="020E0502060401010101" pitchFamily="34" charset="-79"/>
                      </a:rPr>
                      <m:t> </m:t>
                    </m:r>
                    <m:r>
                      <m:rPr>
                        <m:nor/>
                      </m:rPr>
                      <a:rPr lang="en-US" sz="2400" dirty="0">
                        <a:latin typeface="David" panose="020E0502060401010101" pitchFamily="34" charset="-79"/>
                        <a:cs typeface="David" panose="020E0502060401010101" pitchFamily="34" charset="-79"/>
                      </a:rPr>
                      <m:t>statistical</m:t>
                    </m:r>
                    <m:r>
                      <m:rPr>
                        <m:nor/>
                      </m:rPr>
                      <a:rPr lang="en-US" sz="2400" dirty="0">
                        <a:latin typeface="David" panose="020E0502060401010101" pitchFamily="34" charset="-79"/>
                        <a:cs typeface="David" panose="020E0502060401010101" pitchFamily="34" charset="-79"/>
                      </a:rPr>
                      <m:t> </m:t>
                    </m:r>
                    <m:r>
                      <m:rPr>
                        <m:nor/>
                      </m:rPr>
                      <a:rPr lang="en-US" sz="2400" dirty="0">
                        <a:latin typeface="David" panose="020E0502060401010101" pitchFamily="34" charset="-79"/>
                        <a:cs typeface="David" panose="020E0502060401010101" pitchFamily="34" charset="-79"/>
                      </a:rPr>
                      <m:t>significance</m:t>
                    </m:r>
                  </m:oMath>
                </a14:m>
                <a:endParaRPr lang="en-US" sz="2400" dirty="0">
                  <a:latin typeface="David" panose="020E0502060401010101" pitchFamily="34" charset="-79"/>
                  <a:cs typeface="David" panose="020E0502060401010101" pitchFamily="34" charset="-79"/>
                </a:endParaRPr>
              </a:p>
              <a:p>
                <a:pPr marL="285750" indent="-285750" algn="l" rtl="0">
                  <a:lnSpc>
                    <a:spcPct val="150000"/>
                  </a:lnSpc>
                  <a:buFont typeface="Arial" panose="020B0604020202020204" pitchFamily="34" charset="0"/>
                  <a:buChar char="•"/>
                </a:pPr>
                <a:r>
                  <a:rPr lang="en-US" sz="2400" b="1" dirty="0">
                    <a:latin typeface="David" panose="020E0502060401010101" pitchFamily="34" charset="-79"/>
                    <a:cs typeface="David" panose="020E0502060401010101" pitchFamily="34" charset="-79"/>
                  </a:rPr>
                  <a:t>CI</a:t>
                </a:r>
                <a:r>
                  <a:rPr lang="en-US" sz="2400" dirty="0">
                    <a:latin typeface="David" panose="020E0502060401010101" pitchFamily="34" charset="-79"/>
                    <a:cs typeface="David" panose="020E0502060401010101" pitchFamily="34" charset="-79"/>
                  </a:rPr>
                  <a:t>:[-4.078, -3.624] </a:t>
                </a:r>
              </a:p>
              <a:p>
                <a:pPr marL="285750" indent="-285750" algn="l" rtl="0">
                  <a:lnSpc>
                    <a:spcPct val="150000"/>
                  </a:lnSpc>
                  <a:buFont typeface="Arial" panose="020B0604020202020204" pitchFamily="34" charset="0"/>
                  <a:buChar char="•"/>
                </a:pPr>
                <a14:m>
                  <m:oMath xmlns:m="http://schemas.openxmlformats.org/officeDocument/2006/math">
                    <m:r>
                      <a:rPr lang="en-US" sz="2400" b="1" i="1" dirty="0">
                        <a:latin typeface="Cambria Math" panose="02040503050406030204" pitchFamily="18" charset="0"/>
                        <a:cs typeface="David" panose="020E0502060401010101" pitchFamily="34" charset="-79"/>
                      </a:rPr>
                      <m:t>𝐂</m:t>
                    </m:r>
                  </m:oMath>
                </a14:m>
                <a:r>
                  <a:rPr lang="en-US" sz="2400" b="1" dirty="0">
                    <a:latin typeface="David" panose="020E0502060401010101" pitchFamily="34" charset="-79"/>
                    <a:cs typeface="David" panose="020E0502060401010101" pitchFamily="34" charset="-79"/>
                  </a:rPr>
                  <a:t>ohen’s d</a:t>
                </a:r>
                <a:r>
                  <a:rPr lang="en-US" sz="2400" b="0" dirty="0">
                    <a:latin typeface="David" panose="020E0502060401010101" pitchFamily="34" charset="-79"/>
                    <a:cs typeface="David" panose="020E0502060401010101" pitchFamily="34" charset="-79"/>
                  </a:rPr>
                  <a:t>: -1.521 (large effect size)</a:t>
                </a:r>
              </a:p>
              <a:p>
                <a:pPr>
                  <a:lnSpc>
                    <a:spcPct val="150000"/>
                  </a:lnSpc>
                </a:pPr>
                <a:r>
                  <a:rPr lang="en-US" sz="2400" dirty="0">
                    <a:latin typeface="David" panose="020E0502060401010101" pitchFamily="34" charset="-79"/>
                    <a:cs typeface="David" panose="020E0502060401010101" pitchFamily="34" charset="-79"/>
                  </a:rPr>
                  <a:t>-&gt; Weight was significantly lower after the diet.</a:t>
                </a:r>
                <a:endParaRPr lang="en-US" sz="2400" b="0" dirty="0">
                  <a:latin typeface="David" panose="020E0502060401010101" pitchFamily="34" charset="-79"/>
                  <a:cs typeface="David" panose="020E0502060401010101" pitchFamily="34" charset="-79"/>
                </a:endParaRPr>
              </a:p>
              <a:p>
                <a:pPr marL="285750" indent="-285750" algn="l" rtl="0">
                  <a:lnSpc>
                    <a:spcPct val="150000"/>
                  </a:lnSpc>
                  <a:buFont typeface="Arial" panose="020B0604020202020204" pitchFamily="34" charset="0"/>
                  <a:buChar char="•"/>
                </a:pPr>
                <a:endParaRPr lang="en-US" sz="2400" b="0" dirty="0">
                  <a:latin typeface="David" panose="020E0502060401010101" pitchFamily="34" charset="-79"/>
                  <a:cs typeface="David" panose="020E0502060401010101" pitchFamily="34" charset="-79"/>
                </a:endParaRPr>
              </a:p>
            </p:txBody>
          </p:sp>
        </mc:Choice>
        <mc:Fallback xmlns="">
          <p:sp>
            <p:nvSpPr>
              <p:cNvPr id="13" name="תיבת טקסט 12">
                <a:extLst>
                  <a:ext uri="{FF2B5EF4-FFF2-40B4-BE49-F238E27FC236}">
                    <a16:creationId xmlns:a16="http://schemas.microsoft.com/office/drawing/2014/main" id="{198E288B-1339-3EC4-6BE3-0A24E613F233}"/>
                  </a:ext>
                </a:extLst>
              </p:cNvPr>
              <p:cNvSpPr txBox="1">
                <a:spLocks noRot="1" noChangeAspect="1" noMove="1" noResize="1" noEditPoints="1" noAdjustHandles="1" noChangeArrowheads="1" noChangeShapeType="1" noTextEdit="1"/>
              </p:cNvSpPr>
              <p:nvPr/>
            </p:nvSpPr>
            <p:spPr>
              <a:xfrm>
                <a:off x="838200" y="3205236"/>
                <a:ext cx="11209420" cy="3924151"/>
              </a:xfrm>
              <a:prstGeom prst="rect">
                <a:avLst/>
              </a:prstGeom>
              <a:blipFill>
                <a:blip r:embed="rId3"/>
                <a:stretch>
                  <a:fillRect l="-871"/>
                </a:stretch>
              </a:blipFill>
            </p:spPr>
            <p:txBody>
              <a:bodyPr/>
              <a:lstStyle/>
              <a:p>
                <a:r>
                  <a:rPr lang="he-IL">
                    <a:noFill/>
                  </a:rPr>
                  <a:t> </a:t>
                </a:r>
              </a:p>
            </p:txBody>
          </p:sp>
        </mc:Fallback>
      </mc:AlternateContent>
      <p:pic>
        <p:nvPicPr>
          <p:cNvPr id="4" name="Picture 3">
            <a:extLst>
              <a:ext uri="{FF2B5EF4-FFF2-40B4-BE49-F238E27FC236}">
                <a16:creationId xmlns:a16="http://schemas.microsoft.com/office/drawing/2014/main" id="{3D4462F3-456D-F856-B380-F1A3D5B1036C}"/>
              </a:ext>
            </a:extLst>
          </p:cNvPr>
          <p:cNvPicPr>
            <a:picLocks noChangeAspect="1"/>
          </p:cNvPicPr>
          <p:nvPr/>
        </p:nvPicPr>
        <p:blipFill>
          <a:blip r:embed="rId4"/>
          <a:srcRect b="29042"/>
          <a:stretch>
            <a:fillRect/>
          </a:stretch>
        </p:blipFill>
        <p:spPr>
          <a:xfrm>
            <a:off x="1743553" y="1690688"/>
            <a:ext cx="9610247" cy="1008062"/>
          </a:xfrm>
          <a:prstGeom prst="rect">
            <a:avLst/>
          </a:prstGeom>
        </p:spPr>
      </p:pic>
    </p:spTree>
    <p:extLst>
      <p:ext uri="{BB962C8B-B14F-4D97-AF65-F5344CB8AC3E}">
        <p14:creationId xmlns:p14="http://schemas.microsoft.com/office/powerpoint/2010/main" val="236117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506AF-66F1-D8E6-D224-87D9EC3D822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8344C18-1B7B-17A6-ED26-0A99B7429C5A}"/>
              </a:ext>
            </a:extLst>
          </p:cNvPr>
          <p:cNvSpPr>
            <a:spLocks noGrp="1"/>
          </p:cNvSpPr>
          <p:nvPr>
            <p:ph type="title"/>
          </p:nvPr>
        </p:nvSpPr>
        <p:spPr/>
        <p:txBody>
          <a:bodyPr/>
          <a:lstStyle/>
          <a:p>
            <a:pPr algn="l" rtl="0"/>
            <a:r>
              <a:rPr lang="en-US" b="1" dirty="0"/>
              <a:t>Paired t-Test</a:t>
            </a:r>
            <a:endParaRPr lang="he-IL" dirty="0"/>
          </a:p>
        </p:txBody>
      </p:sp>
      <p:pic>
        <p:nvPicPr>
          <p:cNvPr id="16386" name="Picture 2">
            <a:extLst>
              <a:ext uri="{FF2B5EF4-FFF2-40B4-BE49-F238E27FC236}">
                <a16:creationId xmlns:a16="http://schemas.microsoft.com/office/drawing/2014/main" id="{9B7E858C-C44C-9905-61FF-7853E5C4B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3612" y="1625600"/>
            <a:ext cx="7724775" cy="486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6748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9CAC3-CA63-354D-3C8B-37B615AB6DB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73338C1-D4C7-DE0E-7C73-AFDEDEC497F0}"/>
              </a:ext>
            </a:extLst>
          </p:cNvPr>
          <p:cNvSpPr>
            <a:spLocks noGrp="1"/>
          </p:cNvSpPr>
          <p:nvPr>
            <p:ph type="title"/>
          </p:nvPr>
        </p:nvSpPr>
        <p:spPr/>
        <p:txBody>
          <a:bodyPr/>
          <a:lstStyle/>
          <a:p>
            <a:pPr algn="l" rtl="0"/>
            <a:r>
              <a:rPr lang="en-US" b="1" dirty="0"/>
              <a:t>Paired t-Test</a:t>
            </a:r>
            <a:endParaRPr lang="he-IL" dirty="0"/>
          </a:p>
        </p:txBody>
      </p:sp>
      <p:sp>
        <p:nvSpPr>
          <p:cNvPr id="3" name="Content Placeholder 2">
            <a:extLst>
              <a:ext uri="{FF2B5EF4-FFF2-40B4-BE49-F238E27FC236}">
                <a16:creationId xmlns:a16="http://schemas.microsoft.com/office/drawing/2014/main" id="{44559BAB-4CE8-BB0A-5835-41194390D6B9}"/>
              </a:ext>
            </a:extLst>
          </p:cNvPr>
          <p:cNvSpPr>
            <a:spLocks noGrp="1"/>
          </p:cNvSpPr>
          <p:nvPr>
            <p:ph idx="1"/>
          </p:nvPr>
        </p:nvSpPr>
        <p:spPr>
          <a:xfrm>
            <a:off x="580031" y="1479295"/>
            <a:ext cx="11031938" cy="4727541"/>
          </a:xfrm>
        </p:spPr>
        <p:txBody>
          <a:bodyPr>
            <a:normAutofit/>
          </a:bodyPr>
          <a:lstStyle/>
          <a:p>
            <a:pPr>
              <a:lnSpc>
                <a:spcPct val="150000"/>
              </a:lnSpc>
            </a:pPr>
            <a:r>
              <a:rPr lang="en-GB" b="1" dirty="0"/>
              <a:t>Reporting –</a:t>
            </a:r>
            <a:endParaRPr lang="en-US" b="1" dirty="0"/>
          </a:p>
          <a:p>
            <a:pPr>
              <a:lnSpc>
                <a:spcPct val="150000"/>
              </a:lnSpc>
            </a:pPr>
            <a:r>
              <a:rPr lang="en-US" dirty="0"/>
              <a:t>The observed mean change after six weeks was -3.85 kg (after - before), with a 95% confidence interval from -4.08 to -3.62 kg.</a:t>
            </a:r>
          </a:p>
          <a:p>
            <a:pPr>
              <a:lnSpc>
                <a:spcPct val="150000"/>
              </a:lnSpc>
            </a:pPr>
            <a:r>
              <a:rPr lang="en-US" dirty="0"/>
              <a:t>The frequentist paired t-test gave t(479) = -33.32 and p = 7.976e-127. Therefore, using alpha = 0.05, we reject H0.</a:t>
            </a:r>
            <a:endParaRPr lang="en-GB" dirty="0"/>
          </a:p>
        </p:txBody>
      </p:sp>
    </p:spTree>
    <p:extLst>
      <p:ext uri="{BB962C8B-B14F-4D97-AF65-F5344CB8AC3E}">
        <p14:creationId xmlns:p14="http://schemas.microsoft.com/office/powerpoint/2010/main" val="6566233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833E6-AF40-2C93-31FF-176B3ABE9C76}"/>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21AB074-97AD-E1B5-AF68-8E33ED41C27B}"/>
              </a:ext>
            </a:extLst>
          </p:cNvPr>
          <p:cNvSpPr>
            <a:spLocks noGrp="1"/>
          </p:cNvSpPr>
          <p:nvPr>
            <p:ph type="title"/>
          </p:nvPr>
        </p:nvSpPr>
        <p:spPr/>
        <p:txBody>
          <a:bodyPr/>
          <a:lstStyle/>
          <a:p>
            <a:r>
              <a:rPr lang="en-US" b="1" dirty="0"/>
              <a:t>Paired Wilcoxon-Test</a:t>
            </a:r>
            <a:endParaRPr lang="he-IL" b="1" dirty="0"/>
          </a:p>
        </p:txBody>
      </p:sp>
      <p:sp>
        <p:nvSpPr>
          <p:cNvPr id="10" name="מציין מיקום תוכן 2">
            <a:extLst>
              <a:ext uri="{FF2B5EF4-FFF2-40B4-BE49-F238E27FC236}">
                <a16:creationId xmlns:a16="http://schemas.microsoft.com/office/drawing/2014/main" id="{1379BA3F-B0BC-65E7-2288-D79437F48E4D}"/>
              </a:ext>
            </a:extLst>
          </p:cNvPr>
          <p:cNvSpPr>
            <a:spLocks noGrp="1"/>
          </p:cNvSpPr>
          <p:nvPr>
            <p:ph idx="1"/>
          </p:nvPr>
        </p:nvSpPr>
        <p:spPr>
          <a:xfrm>
            <a:off x="735168" y="1474663"/>
            <a:ext cx="10971727" cy="3532438"/>
          </a:xfrm>
        </p:spPr>
        <p:txBody>
          <a:bodyPr>
            <a:normAutofit/>
          </a:bodyPr>
          <a:lstStyle/>
          <a:p>
            <a:pPr>
              <a:lnSpc>
                <a:spcPct val="150000"/>
              </a:lnSpc>
            </a:pPr>
            <a:r>
              <a:rPr lang="en-US" sz="2400" dirty="0"/>
              <a:t>Rank-based test</a:t>
            </a:r>
          </a:p>
          <a:p>
            <a:pPr>
              <a:lnSpc>
                <a:spcPct val="150000"/>
              </a:lnSpc>
            </a:pPr>
            <a:r>
              <a:rPr lang="en-US" sz="2400" dirty="0"/>
              <a:t>It is used for paired data when we do not want to rely as strongly on the Normal model for the change scores. It tests whether the paired differences are systematically above or below zero.</a:t>
            </a:r>
          </a:p>
        </p:txBody>
      </p:sp>
      <p:pic>
        <p:nvPicPr>
          <p:cNvPr id="6" name="Picture 5">
            <a:extLst>
              <a:ext uri="{FF2B5EF4-FFF2-40B4-BE49-F238E27FC236}">
                <a16:creationId xmlns:a16="http://schemas.microsoft.com/office/drawing/2014/main" id="{F7DE5BB4-E9D9-4A34-85FE-3963793442A1}"/>
              </a:ext>
            </a:extLst>
          </p:cNvPr>
          <p:cNvPicPr>
            <a:picLocks noChangeAspect="1"/>
          </p:cNvPicPr>
          <p:nvPr/>
        </p:nvPicPr>
        <p:blipFill>
          <a:blip r:embed="rId3"/>
          <a:stretch>
            <a:fillRect/>
          </a:stretch>
        </p:blipFill>
        <p:spPr>
          <a:xfrm>
            <a:off x="946569" y="4686300"/>
            <a:ext cx="10548927" cy="1595506"/>
          </a:xfrm>
          <a:prstGeom prst="rect">
            <a:avLst/>
          </a:prstGeom>
        </p:spPr>
      </p:pic>
      <p:pic>
        <p:nvPicPr>
          <p:cNvPr id="8" name="Picture 7">
            <a:extLst>
              <a:ext uri="{FF2B5EF4-FFF2-40B4-BE49-F238E27FC236}">
                <a16:creationId xmlns:a16="http://schemas.microsoft.com/office/drawing/2014/main" id="{BF8936A6-FE94-1619-90B1-3A767D84A1FD}"/>
              </a:ext>
            </a:extLst>
          </p:cNvPr>
          <p:cNvPicPr>
            <a:picLocks noChangeAspect="1"/>
          </p:cNvPicPr>
          <p:nvPr/>
        </p:nvPicPr>
        <p:blipFill>
          <a:blip r:embed="rId4"/>
          <a:stretch>
            <a:fillRect/>
          </a:stretch>
        </p:blipFill>
        <p:spPr>
          <a:xfrm>
            <a:off x="1632764" y="3991884"/>
            <a:ext cx="8926472" cy="522966"/>
          </a:xfrm>
          <a:prstGeom prst="rect">
            <a:avLst/>
          </a:prstGeom>
        </p:spPr>
      </p:pic>
    </p:spTree>
    <p:extLst>
      <p:ext uri="{BB962C8B-B14F-4D97-AF65-F5344CB8AC3E}">
        <p14:creationId xmlns:p14="http://schemas.microsoft.com/office/powerpoint/2010/main" val="35595276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FD495-ED38-3CF8-6E65-839AC7C51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429C3-E5CA-60F0-E886-813B87BAE17B}"/>
              </a:ext>
            </a:extLst>
          </p:cNvPr>
          <p:cNvSpPr>
            <a:spLocks noGrp="1"/>
          </p:cNvSpPr>
          <p:nvPr>
            <p:ph type="title"/>
          </p:nvPr>
        </p:nvSpPr>
        <p:spPr>
          <a:xfrm>
            <a:off x="838200" y="20997"/>
            <a:ext cx="10515600" cy="1325563"/>
          </a:xfrm>
        </p:spPr>
        <p:txBody>
          <a:bodyPr/>
          <a:lstStyle/>
          <a:p>
            <a:r>
              <a:rPr lang="en-US" dirty="0"/>
              <a:t>Student’s t-distribution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6F58AA-2B7F-735D-DD36-68B8A443D646}"/>
                  </a:ext>
                </a:extLst>
              </p:cNvPr>
              <p:cNvSpPr>
                <a:spLocks noGrp="1"/>
              </p:cNvSpPr>
              <p:nvPr>
                <p:ph idx="1"/>
              </p:nvPr>
            </p:nvSpPr>
            <p:spPr>
              <a:xfrm>
                <a:off x="580031" y="1173566"/>
                <a:ext cx="11031938" cy="5378705"/>
              </a:xfrm>
            </p:spPr>
            <p:txBody>
              <a:bodyPr>
                <a:normAutofit/>
              </a:bodyPr>
              <a:lstStyle/>
              <a:p>
                <a:pPr>
                  <a:lnSpc>
                    <a:spcPct val="150000"/>
                  </a:lnSpc>
                  <a:buFont typeface="Wingdings" panose="05000000000000000000" pitchFamily="2" charset="2"/>
                  <a:buChar char="§"/>
                </a:pPr>
                <a:r>
                  <a:rPr lang="en-GB" dirty="0"/>
                  <a:t>Similar to Normal distribution but with thicker tails</a:t>
                </a:r>
              </a:p>
              <a:p>
                <a:pPr lvl="1">
                  <a:lnSpc>
                    <a:spcPct val="150000"/>
                  </a:lnSpc>
                  <a:buFont typeface="Wingdings" panose="05000000000000000000" pitchFamily="2" charset="2"/>
                  <a:buChar char="§"/>
                </a:pPr>
                <a:r>
                  <a:rPr lang="en-GB" dirty="0"/>
                  <a:t>Has a parameter </a:t>
                </a:r>
                <a14:m>
                  <m:oMath xmlns:m="http://schemas.openxmlformats.org/officeDocument/2006/math">
                    <m:r>
                      <a:rPr lang="en-GB" b="0" i="1" smtClean="0">
                        <a:latin typeface="Cambria Math" panose="02040503050406030204" pitchFamily="18" charset="0"/>
                      </a:rPr>
                      <m:t>𝜈</m:t>
                    </m:r>
                  </m:oMath>
                </a14:m>
                <a:r>
                  <a:rPr lang="en-GB" dirty="0"/>
                  <a:t>, which is the normality parameter (or degrees of freedom)</a:t>
                </a:r>
              </a:p>
              <a:p>
                <a:pPr lvl="1">
                  <a:lnSpc>
                    <a:spcPct val="150000"/>
                  </a:lnSpc>
                  <a:buFont typeface="Wingdings" panose="05000000000000000000" pitchFamily="2" charset="2"/>
                  <a:buChar char="§"/>
                </a:pPr>
                <a:r>
                  <a:rPr lang="en-GB" dirty="0"/>
                  <a:t>Converges to normal distribution as 𝜈→∞</a:t>
                </a:r>
              </a:p>
              <a:p>
                <a:pPr>
                  <a:lnSpc>
                    <a:spcPct val="150000"/>
                  </a:lnSpc>
                  <a:buFont typeface="Wingdings" panose="05000000000000000000" pitchFamily="2" charset="2"/>
                  <a:buChar char="§"/>
                </a:pPr>
                <a:endParaRPr lang="en-GB" dirty="0"/>
              </a:p>
            </p:txBody>
          </p:sp>
        </mc:Choice>
        <mc:Fallback xmlns="">
          <p:sp>
            <p:nvSpPr>
              <p:cNvPr id="3" name="Content Placeholder 2">
                <a:extLst>
                  <a:ext uri="{FF2B5EF4-FFF2-40B4-BE49-F238E27FC236}">
                    <a16:creationId xmlns:a16="http://schemas.microsoft.com/office/drawing/2014/main" id="{346F58AA-2B7F-735D-DD36-68B8A443D646}"/>
                  </a:ext>
                </a:extLst>
              </p:cNvPr>
              <p:cNvSpPr>
                <a:spLocks noGrp="1" noRot="1" noChangeAspect="1" noMove="1" noResize="1" noEditPoints="1" noAdjustHandles="1" noChangeArrowheads="1" noChangeShapeType="1" noTextEdit="1"/>
              </p:cNvSpPr>
              <p:nvPr>
                <p:ph idx="1"/>
              </p:nvPr>
            </p:nvSpPr>
            <p:spPr>
              <a:xfrm>
                <a:off x="580031" y="1173566"/>
                <a:ext cx="11031938" cy="5378705"/>
              </a:xfrm>
              <a:blipFill>
                <a:blip r:embed="rId3"/>
                <a:stretch>
                  <a:fillRect l="-939"/>
                </a:stretch>
              </a:blipFill>
            </p:spPr>
            <p:txBody>
              <a:bodyPr/>
              <a:lstStyle/>
              <a:p>
                <a:r>
                  <a:rPr lang="LID4096">
                    <a:noFill/>
                  </a:rPr>
                  <a:t> </a:t>
                </a:r>
              </a:p>
            </p:txBody>
          </p:sp>
        </mc:Fallback>
      </mc:AlternateContent>
      <p:pic>
        <p:nvPicPr>
          <p:cNvPr id="4" name="Picture 3">
            <a:extLst>
              <a:ext uri="{FF2B5EF4-FFF2-40B4-BE49-F238E27FC236}">
                <a16:creationId xmlns:a16="http://schemas.microsoft.com/office/drawing/2014/main" id="{9CFD37D6-8F31-B47E-F733-926E61B0C0BC}"/>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262269" y="3333616"/>
            <a:ext cx="11532781" cy="2843182"/>
          </a:xfrm>
          <a:prstGeom prst="rect">
            <a:avLst/>
          </a:prstGeom>
        </p:spPr>
      </p:pic>
    </p:spTree>
    <p:extLst>
      <p:ext uri="{BB962C8B-B14F-4D97-AF65-F5344CB8AC3E}">
        <p14:creationId xmlns:p14="http://schemas.microsoft.com/office/powerpoint/2010/main" val="21173030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7EFEB-5BB1-2E23-8CF6-8A3BD3541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80DDD-BA3B-A9D0-8080-4CA2586DDED5}"/>
              </a:ext>
            </a:extLst>
          </p:cNvPr>
          <p:cNvSpPr>
            <a:spLocks noGrp="1"/>
          </p:cNvSpPr>
          <p:nvPr>
            <p:ph type="title"/>
          </p:nvPr>
        </p:nvSpPr>
        <p:spPr>
          <a:xfrm>
            <a:off x="838200" y="20997"/>
            <a:ext cx="10515600" cy="1325563"/>
          </a:xfrm>
        </p:spPr>
        <p:txBody>
          <a:bodyPr/>
          <a:lstStyle/>
          <a:p>
            <a:r>
              <a:rPr lang="en-US" dirty="0"/>
              <a:t>Student’s t-distribution</a:t>
            </a:r>
            <a:endParaRPr lang="LID4096"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6CBB1BB-EF13-F2DC-56B8-7CB2DEC05CCC}"/>
                  </a:ext>
                </a:extLst>
              </p:cNvPr>
              <p:cNvSpPr>
                <a:spLocks noGrp="1"/>
              </p:cNvSpPr>
              <p:nvPr>
                <p:ph idx="1"/>
              </p:nvPr>
            </p:nvSpPr>
            <p:spPr>
              <a:xfrm>
                <a:off x="580031" y="1173566"/>
                <a:ext cx="11031938" cy="5378705"/>
              </a:xfrm>
            </p:spPr>
            <p:txBody>
              <a:bodyPr>
                <a:normAutofit/>
              </a:bodyPr>
              <a:lstStyle/>
              <a:p>
                <a:pPr>
                  <a:lnSpc>
                    <a:spcPct val="150000"/>
                  </a:lnSpc>
                </a:pPr>
                <a:r>
                  <a:rPr lang="en-GB" dirty="0"/>
                  <a:t>The thicker tails allows for capturing the outliers without necessitating an increase in the variance.</a:t>
                </a:r>
              </a:p>
              <a:p>
                <a:pPr lvl="1">
                  <a:lnSpc>
                    <a:spcPct val="150000"/>
                  </a:lnSpc>
                </a:pPr>
                <a:r>
                  <a:rPr lang="en-GB" dirty="0"/>
                  <a:t>Higher </a:t>
                </a:r>
                <a14:m>
                  <m:oMath xmlns:m="http://schemas.openxmlformats.org/officeDocument/2006/math">
                    <m:r>
                      <a:rPr lang="en-GB" b="0" i="1" smtClean="0">
                        <a:latin typeface="Cambria Math" panose="02040503050406030204" pitchFamily="18" charset="0"/>
                      </a:rPr>
                      <m:t>𝜈</m:t>
                    </m:r>
                  </m:oMath>
                </a14:m>
                <a:r>
                  <a:rPr lang="en-GB" dirty="0"/>
                  <a:t> can mean higher </a:t>
                </a:r>
                <a14:m>
                  <m:oMath xmlns:m="http://schemas.openxmlformats.org/officeDocument/2006/math">
                    <m:r>
                      <a:rPr lang="en-GB" b="0" i="1" smtClean="0">
                        <a:latin typeface="Cambria Math" panose="02040503050406030204" pitchFamily="18" charset="0"/>
                      </a:rPr>
                      <m:t>𝜎</m:t>
                    </m:r>
                  </m:oMath>
                </a14:m>
                <a:r>
                  <a:rPr lang="en-GB" dirty="0"/>
                  <a:t> because the student’s t distribution will be more like a normal distribution and capture the outlier information less well.</a:t>
                </a:r>
              </a:p>
              <a:p>
                <a:pPr>
                  <a:lnSpc>
                    <a:spcPct val="150000"/>
                  </a:lnSpc>
                </a:pPr>
                <a:r>
                  <a:rPr lang="en-GB" dirty="0"/>
                  <a:t>Repeat our analysis with the student’s t distribution</a:t>
                </a:r>
              </a:p>
              <a:p>
                <a:pPr>
                  <a:lnSpc>
                    <a:spcPct val="150000"/>
                  </a:lnSpc>
                </a:pPr>
                <a:endParaRPr lang="en-GB" dirty="0"/>
              </a:p>
            </p:txBody>
          </p:sp>
        </mc:Choice>
        <mc:Fallback>
          <p:sp>
            <p:nvSpPr>
              <p:cNvPr id="3" name="Content Placeholder 2">
                <a:extLst>
                  <a:ext uri="{FF2B5EF4-FFF2-40B4-BE49-F238E27FC236}">
                    <a16:creationId xmlns:a16="http://schemas.microsoft.com/office/drawing/2014/main" id="{A6CBB1BB-EF13-F2DC-56B8-7CB2DEC05CCC}"/>
                  </a:ext>
                </a:extLst>
              </p:cNvPr>
              <p:cNvSpPr>
                <a:spLocks noGrp="1" noRot="1" noChangeAspect="1" noMove="1" noResize="1" noEditPoints="1" noAdjustHandles="1" noChangeArrowheads="1" noChangeShapeType="1" noTextEdit="1"/>
              </p:cNvSpPr>
              <p:nvPr>
                <p:ph idx="1"/>
              </p:nvPr>
            </p:nvSpPr>
            <p:spPr>
              <a:xfrm>
                <a:off x="580031" y="1173566"/>
                <a:ext cx="11031938" cy="5378705"/>
              </a:xfrm>
              <a:blipFill>
                <a:blip r:embed="rId3"/>
                <a:stretch>
                  <a:fillRect l="-994"/>
                </a:stretch>
              </a:blipFill>
            </p:spPr>
            <p:txBody>
              <a:bodyPr/>
              <a:lstStyle/>
              <a:p>
                <a:r>
                  <a:rPr lang="he-IL">
                    <a:noFill/>
                  </a:rPr>
                  <a:t> </a:t>
                </a:r>
              </a:p>
            </p:txBody>
          </p:sp>
        </mc:Fallback>
      </mc:AlternateContent>
    </p:spTree>
    <p:extLst>
      <p:ext uri="{BB962C8B-B14F-4D97-AF65-F5344CB8AC3E}">
        <p14:creationId xmlns:p14="http://schemas.microsoft.com/office/powerpoint/2010/main" val="35110543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C70A9-F087-B8CB-EFFC-A375F6204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25613-7A5A-F718-4920-1E11B7A6866E}"/>
              </a:ext>
            </a:extLst>
          </p:cNvPr>
          <p:cNvSpPr>
            <a:spLocks noGrp="1"/>
          </p:cNvSpPr>
          <p:nvPr>
            <p:ph type="title"/>
          </p:nvPr>
        </p:nvSpPr>
        <p:spPr>
          <a:xfrm>
            <a:off x="838200" y="20997"/>
            <a:ext cx="10515600" cy="1325563"/>
          </a:xfrm>
        </p:spPr>
        <p:txBody>
          <a:bodyPr/>
          <a:lstStyle/>
          <a:p>
            <a:r>
              <a:rPr lang="en-US" dirty="0"/>
              <a:t>Student’s t-distribution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5BD09B-C665-91AD-F9A5-F76AC3D9D5A7}"/>
                  </a:ext>
                </a:extLst>
              </p:cNvPr>
              <p:cNvSpPr>
                <a:spLocks noGrp="1"/>
              </p:cNvSpPr>
              <p:nvPr>
                <p:ph idx="1"/>
              </p:nvPr>
            </p:nvSpPr>
            <p:spPr>
              <a:xfrm>
                <a:off x="580031" y="1173566"/>
                <a:ext cx="11031938" cy="5378705"/>
              </a:xfrm>
            </p:spPr>
            <p:txBody>
              <a:bodyPr>
                <a:normAutofit/>
              </a:bodyPr>
              <a:lstStyle/>
              <a:p>
                <a:pPr>
                  <a:lnSpc>
                    <a:spcPct val="150000"/>
                  </a:lnSpc>
                  <a:buFont typeface="Wingdings" panose="05000000000000000000" pitchFamily="2" charset="2"/>
                  <a:buChar char="§"/>
                </a:pPr>
                <a:r>
                  <a:rPr lang="en-GB" dirty="0"/>
                  <a:t>The thicker tails allows for capturing the outliers without necessitating an increase in the variance.</a:t>
                </a:r>
              </a:p>
              <a:p>
                <a:pPr>
                  <a:lnSpc>
                    <a:spcPct val="150000"/>
                  </a:lnSpc>
                  <a:buFont typeface="Wingdings" panose="05000000000000000000" pitchFamily="2" charset="2"/>
                  <a:buChar char="§"/>
                </a:pPr>
                <a:r>
                  <a:rPr lang="en-US" dirty="0"/>
                  <a:t>The parameter </a:t>
                </a:r>
                <a14:m>
                  <m:oMath xmlns:m="http://schemas.openxmlformats.org/officeDocument/2006/math">
                    <m:r>
                      <a:rPr lang="en-US" i="1" dirty="0" smtClean="0">
                        <a:latin typeface="Cambria Math" panose="02040503050406030204" pitchFamily="18" charset="0"/>
                      </a:rPr>
                      <m:t>𝜈</m:t>
                    </m:r>
                    <m:r>
                      <a:rPr lang="en-US" i="1" dirty="0" smtClean="0">
                        <a:latin typeface="Cambria Math" panose="02040503050406030204" pitchFamily="18" charset="0"/>
                      </a:rPr>
                      <m:t> </m:t>
                    </m:r>
                  </m:oMath>
                </a14:m>
                <a:r>
                  <a:rPr lang="en-US" dirty="0"/>
                  <a:t>controls tail thickness:</a:t>
                </a:r>
              </a:p>
              <a:p>
                <a:pPr lvl="1">
                  <a:lnSpc>
                    <a:spcPct val="150000"/>
                  </a:lnSpc>
                  <a:buFont typeface="Wingdings" panose="05000000000000000000" pitchFamily="2" charset="2"/>
                  <a:buChar char="§"/>
                </a:pPr>
                <a:r>
                  <a:rPr lang="en-US" dirty="0"/>
                  <a:t>smaller </a:t>
                </a:r>
                <a14:m>
                  <m:oMath xmlns:m="http://schemas.openxmlformats.org/officeDocument/2006/math">
                    <m:r>
                      <a:rPr lang="en-US" i="1" dirty="0">
                        <a:latin typeface="Cambria Math" panose="02040503050406030204" pitchFamily="18" charset="0"/>
                      </a:rPr>
                      <m:t>𝜈</m:t>
                    </m:r>
                    <m:r>
                      <a:rPr lang="en-US" i="1" dirty="0">
                        <a:latin typeface="Cambria Math" panose="02040503050406030204" pitchFamily="18" charset="0"/>
                      </a:rPr>
                      <m:t> :</m:t>
                    </m:r>
                  </m:oMath>
                </a14:m>
                <a:r>
                  <a:rPr lang="en-US" dirty="0"/>
                  <a:t>heavier tails</a:t>
                </a:r>
              </a:p>
              <a:p>
                <a:pPr lvl="1">
                  <a:lnSpc>
                    <a:spcPct val="150000"/>
                  </a:lnSpc>
                  <a:buFont typeface="Wingdings" panose="05000000000000000000" pitchFamily="2" charset="2"/>
                  <a:buChar char="§"/>
                </a:pPr>
                <a:r>
                  <a:rPr lang="en-US" dirty="0"/>
                  <a:t>larger </a:t>
                </a:r>
                <a14:m>
                  <m:oMath xmlns:m="http://schemas.openxmlformats.org/officeDocument/2006/math">
                    <m:r>
                      <a:rPr lang="en-US" i="1" dirty="0">
                        <a:latin typeface="Cambria Math" panose="02040503050406030204" pitchFamily="18" charset="0"/>
                      </a:rPr>
                      <m:t>𝜈</m:t>
                    </m:r>
                    <m:r>
                      <a:rPr lang="en-US" i="1" dirty="0">
                        <a:latin typeface="Cambria Math" panose="02040503050406030204" pitchFamily="18" charset="0"/>
                      </a:rPr>
                      <m:t> </m:t>
                    </m:r>
                  </m:oMath>
                </a14:m>
                <a:r>
                  <a:rPr lang="en-US" dirty="0"/>
                  <a:t>: closer to Normal</a:t>
                </a:r>
                <a:endParaRPr lang="en-GB" dirty="0"/>
              </a:p>
              <a:p>
                <a:pPr>
                  <a:lnSpc>
                    <a:spcPct val="150000"/>
                  </a:lnSpc>
                  <a:buFont typeface="Wingdings" panose="05000000000000000000" pitchFamily="2" charset="2"/>
                  <a:buChar char="§"/>
                </a:pPr>
                <a:endParaRPr lang="en-GB" dirty="0"/>
              </a:p>
            </p:txBody>
          </p:sp>
        </mc:Choice>
        <mc:Fallback xmlns="">
          <p:sp>
            <p:nvSpPr>
              <p:cNvPr id="3" name="Content Placeholder 2">
                <a:extLst>
                  <a:ext uri="{FF2B5EF4-FFF2-40B4-BE49-F238E27FC236}">
                    <a16:creationId xmlns:a16="http://schemas.microsoft.com/office/drawing/2014/main" id="{845BD09B-C665-91AD-F9A5-F76AC3D9D5A7}"/>
                  </a:ext>
                </a:extLst>
              </p:cNvPr>
              <p:cNvSpPr>
                <a:spLocks noGrp="1" noRot="1" noChangeAspect="1" noMove="1" noResize="1" noEditPoints="1" noAdjustHandles="1" noChangeArrowheads="1" noChangeShapeType="1" noTextEdit="1"/>
              </p:cNvSpPr>
              <p:nvPr>
                <p:ph idx="1"/>
              </p:nvPr>
            </p:nvSpPr>
            <p:spPr>
              <a:xfrm>
                <a:off x="580031" y="1173566"/>
                <a:ext cx="11031938" cy="5378705"/>
              </a:xfrm>
              <a:blipFill>
                <a:blip r:embed="rId3"/>
                <a:stretch>
                  <a:fillRect l="-939"/>
                </a:stretch>
              </a:blipFill>
            </p:spPr>
            <p:txBody>
              <a:bodyPr/>
              <a:lstStyle/>
              <a:p>
                <a:r>
                  <a:rPr lang="he-IL">
                    <a:noFill/>
                  </a:rPr>
                  <a:t> </a:t>
                </a:r>
              </a:p>
            </p:txBody>
          </p:sp>
        </mc:Fallback>
      </mc:AlternateContent>
      <p:pic>
        <p:nvPicPr>
          <p:cNvPr id="7" name="Picture 6" descr="A diagram of a normal distribution&#10;&#10;AI-generated content may be incorrect.">
            <a:extLst>
              <a:ext uri="{FF2B5EF4-FFF2-40B4-BE49-F238E27FC236}">
                <a16:creationId xmlns:a16="http://schemas.microsoft.com/office/drawing/2014/main" id="{2D689DD2-0737-223B-68A8-AF49BA486ADA}"/>
              </a:ext>
            </a:extLst>
          </p:cNvPr>
          <p:cNvPicPr>
            <a:picLocks noChangeAspect="1"/>
          </p:cNvPicPr>
          <p:nvPr/>
        </p:nvPicPr>
        <p:blipFill>
          <a:blip r:embed="rId4">
            <a:extLst>
              <a:ext uri="{28A0092B-C50C-407E-A947-70E740481C1C}">
                <a14:useLocalDpi xmlns:a14="http://schemas.microsoft.com/office/drawing/2010/main" val="0"/>
              </a:ext>
            </a:extLst>
          </a:blip>
          <a:srcRect l="8480" t="25405" r="29103" b="4458"/>
          <a:stretch/>
        </p:blipFill>
        <p:spPr>
          <a:xfrm>
            <a:off x="7099391" y="2663137"/>
            <a:ext cx="4831490" cy="4070773"/>
          </a:xfrm>
          <a:prstGeom prst="rect">
            <a:avLst/>
          </a:prstGeom>
        </p:spPr>
      </p:pic>
    </p:spTree>
    <p:extLst>
      <p:ext uri="{BB962C8B-B14F-4D97-AF65-F5344CB8AC3E}">
        <p14:creationId xmlns:p14="http://schemas.microsoft.com/office/powerpoint/2010/main" val="9631393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37353-56BC-23AD-3DC8-E3DFA0964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4F3EB-CA82-60FC-B8AB-D0D3E6FB050B}"/>
              </a:ext>
            </a:extLst>
          </p:cNvPr>
          <p:cNvSpPr>
            <a:spLocks noGrp="1"/>
          </p:cNvSpPr>
          <p:nvPr>
            <p:ph type="title"/>
          </p:nvPr>
        </p:nvSpPr>
        <p:spPr>
          <a:xfrm>
            <a:off x="838200" y="20997"/>
            <a:ext cx="10515600" cy="1325563"/>
          </a:xfrm>
        </p:spPr>
        <p:txBody>
          <a:bodyPr/>
          <a:lstStyle/>
          <a:p>
            <a:r>
              <a:rPr lang="en-US" dirty="0"/>
              <a:t>Student’s t-distribution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B34171-AAE4-A1CF-D8CF-7E200BE25D08}"/>
                  </a:ext>
                </a:extLst>
              </p:cNvPr>
              <p:cNvSpPr>
                <a:spLocks noGrp="1"/>
              </p:cNvSpPr>
              <p:nvPr>
                <p:ph idx="1"/>
              </p:nvPr>
            </p:nvSpPr>
            <p:spPr>
              <a:xfrm>
                <a:off x="580031" y="1173566"/>
                <a:ext cx="11031938" cy="5378705"/>
              </a:xfrm>
            </p:spPr>
            <p:txBody>
              <a:bodyPr>
                <a:normAutofit/>
              </a:bodyPr>
              <a:lstStyle/>
              <a:p>
                <a:pPr>
                  <a:lnSpc>
                    <a:spcPct val="150000"/>
                  </a:lnSpc>
                  <a:buFont typeface="Wingdings" panose="05000000000000000000" pitchFamily="2" charset="2"/>
                  <a:buChar char="§"/>
                </a:pPr>
                <a:r>
                  <a:rPr lang="en-US" dirty="0"/>
                  <a:t>The parameter </a:t>
                </a:r>
                <a14:m>
                  <m:oMath xmlns:m="http://schemas.openxmlformats.org/officeDocument/2006/math">
                    <m:r>
                      <a:rPr lang="en-US" i="1" dirty="0" smtClean="0">
                        <a:latin typeface="Cambria Math" panose="02040503050406030204" pitchFamily="18" charset="0"/>
                      </a:rPr>
                      <m:t>𝜈</m:t>
                    </m:r>
                    <m:r>
                      <a:rPr lang="en-US" i="1" dirty="0" smtClean="0">
                        <a:latin typeface="Cambria Math" panose="02040503050406030204" pitchFamily="18" charset="0"/>
                      </a:rPr>
                      <m:t> </m:t>
                    </m:r>
                  </m:oMath>
                </a14:m>
                <a:r>
                  <a:rPr lang="en-US" dirty="0"/>
                  <a:t>controls tail thickness:</a:t>
                </a:r>
              </a:p>
              <a:p>
                <a:pPr lvl="1">
                  <a:lnSpc>
                    <a:spcPct val="150000"/>
                  </a:lnSpc>
                  <a:buFont typeface="Wingdings" panose="05000000000000000000" pitchFamily="2" charset="2"/>
                  <a:buChar char="§"/>
                </a:pPr>
                <a:r>
                  <a:rPr lang="en-US" dirty="0"/>
                  <a:t>smaller </a:t>
                </a:r>
                <a14:m>
                  <m:oMath xmlns:m="http://schemas.openxmlformats.org/officeDocument/2006/math">
                    <m:r>
                      <a:rPr lang="en-US" i="1" dirty="0">
                        <a:latin typeface="Cambria Math" panose="02040503050406030204" pitchFamily="18" charset="0"/>
                      </a:rPr>
                      <m:t>𝜈</m:t>
                    </m:r>
                    <m:r>
                      <a:rPr lang="en-US" i="1" dirty="0">
                        <a:latin typeface="Cambria Math" panose="02040503050406030204" pitchFamily="18" charset="0"/>
                      </a:rPr>
                      <m:t> :</m:t>
                    </m:r>
                  </m:oMath>
                </a14:m>
                <a:r>
                  <a:rPr lang="en-US" dirty="0"/>
                  <a:t>heavier tails</a:t>
                </a:r>
              </a:p>
              <a:p>
                <a:pPr lvl="1">
                  <a:lnSpc>
                    <a:spcPct val="150000"/>
                  </a:lnSpc>
                  <a:buFont typeface="Wingdings" panose="05000000000000000000" pitchFamily="2" charset="2"/>
                  <a:buChar char="§"/>
                </a:pPr>
                <a:r>
                  <a:rPr lang="en-US" dirty="0"/>
                  <a:t>larger </a:t>
                </a:r>
                <a14:m>
                  <m:oMath xmlns:m="http://schemas.openxmlformats.org/officeDocument/2006/math">
                    <m:r>
                      <a:rPr lang="en-US" i="1" dirty="0">
                        <a:latin typeface="Cambria Math" panose="02040503050406030204" pitchFamily="18" charset="0"/>
                      </a:rPr>
                      <m:t>𝜈</m:t>
                    </m:r>
                    <m:r>
                      <a:rPr lang="en-US" i="1" dirty="0">
                        <a:latin typeface="Cambria Math" panose="02040503050406030204" pitchFamily="18" charset="0"/>
                      </a:rPr>
                      <m:t> </m:t>
                    </m:r>
                  </m:oMath>
                </a14:m>
                <a:r>
                  <a:rPr lang="en-US" dirty="0"/>
                  <a:t>: closer to Normal</a:t>
                </a:r>
                <a:endParaRPr lang="en-GB" dirty="0"/>
              </a:p>
              <a:p>
                <a:pPr>
                  <a:lnSpc>
                    <a:spcPct val="150000"/>
                  </a:lnSpc>
                  <a:buFont typeface="Wingdings" panose="05000000000000000000" pitchFamily="2" charset="2"/>
                  <a:buChar char="§"/>
                </a:pPr>
                <a:endParaRPr lang="en-GB" dirty="0"/>
              </a:p>
            </p:txBody>
          </p:sp>
        </mc:Choice>
        <mc:Fallback xmlns="">
          <p:sp>
            <p:nvSpPr>
              <p:cNvPr id="3" name="Content Placeholder 2">
                <a:extLst>
                  <a:ext uri="{FF2B5EF4-FFF2-40B4-BE49-F238E27FC236}">
                    <a16:creationId xmlns:a16="http://schemas.microsoft.com/office/drawing/2014/main" id="{C3B34171-AAE4-A1CF-D8CF-7E200BE25D08}"/>
                  </a:ext>
                </a:extLst>
              </p:cNvPr>
              <p:cNvSpPr>
                <a:spLocks noGrp="1" noRot="1" noChangeAspect="1" noMove="1" noResize="1" noEditPoints="1" noAdjustHandles="1" noChangeArrowheads="1" noChangeShapeType="1" noTextEdit="1"/>
              </p:cNvSpPr>
              <p:nvPr>
                <p:ph idx="1"/>
              </p:nvPr>
            </p:nvSpPr>
            <p:spPr>
              <a:xfrm>
                <a:off x="580031" y="1173566"/>
                <a:ext cx="11031938" cy="5378705"/>
              </a:xfrm>
              <a:blipFill>
                <a:blip r:embed="rId3"/>
                <a:stretch>
                  <a:fillRect l="-939"/>
                </a:stretch>
              </a:blipFill>
            </p:spPr>
            <p:txBody>
              <a:bodyPr/>
              <a:lstStyle/>
              <a:p>
                <a:r>
                  <a:rPr lang="he-IL">
                    <a:noFill/>
                  </a:rPr>
                  <a:t> </a:t>
                </a:r>
              </a:p>
            </p:txBody>
          </p:sp>
        </mc:Fallback>
      </mc:AlternateContent>
      <p:pic>
        <p:nvPicPr>
          <p:cNvPr id="24578" name="Picture 2">
            <a:extLst>
              <a:ext uri="{FF2B5EF4-FFF2-40B4-BE49-F238E27FC236}">
                <a16:creationId xmlns:a16="http://schemas.microsoft.com/office/drawing/2014/main" id="{7E496F1A-AFA3-6921-A874-8D90EFD422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3515" y="2863111"/>
            <a:ext cx="7279583" cy="3689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8639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7990690-598A-3D60-8041-89352595F08E}"/>
              </a:ext>
            </a:extLst>
          </p:cNvPr>
          <p:cNvPicPr>
            <a:picLocks noChangeAspect="1"/>
          </p:cNvPicPr>
          <p:nvPr/>
        </p:nvPicPr>
        <p:blipFill>
          <a:blip r:embed="rId3"/>
          <a:stretch>
            <a:fillRect/>
          </a:stretch>
        </p:blipFill>
        <p:spPr>
          <a:xfrm>
            <a:off x="2116663" y="2391669"/>
            <a:ext cx="9237137" cy="3716718"/>
          </a:xfrm>
          <a:prstGeom prst="rect">
            <a:avLst/>
          </a:prstGeom>
        </p:spPr>
      </p:pic>
      <p:sp>
        <p:nvSpPr>
          <p:cNvPr id="2" name="Title 1">
            <a:extLst>
              <a:ext uri="{FF2B5EF4-FFF2-40B4-BE49-F238E27FC236}">
                <a16:creationId xmlns:a16="http://schemas.microsoft.com/office/drawing/2014/main" id="{07AEA9F6-8A8C-65CF-3AF2-4962065973E8}"/>
              </a:ext>
            </a:extLst>
          </p:cNvPr>
          <p:cNvSpPr>
            <a:spLocks noGrp="1"/>
          </p:cNvSpPr>
          <p:nvPr>
            <p:ph type="title"/>
          </p:nvPr>
        </p:nvSpPr>
        <p:spPr/>
        <p:txBody>
          <a:bodyPr/>
          <a:lstStyle/>
          <a:p>
            <a:r>
              <a:rPr lang="en-US" dirty="0"/>
              <a:t>Robust Model</a:t>
            </a:r>
            <a:endParaRPr lang="he-IL" dirty="0"/>
          </a:p>
        </p:txBody>
      </p:sp>
      <p:sp>
        <p:nvSpPr>
          <p:cNvPr id="3" name="Content Placeholder 2">
            <a:extLst>
              <a:ext uri="{FF2B5EF4-FFF2-40B4-BE49-F238E27FC236}">
                <a16:creationId xmlns:a16="http://schemas.microsoft.com/office/drawing/2014/main" id="{E3D14249-6499-0E94-7A5E-8EC751796BA7}"/>
              </a:ext>
            </a:extLst>
          </p:cNvPr>
          <p:cNvSpPr>
            <a:spLocks noGrp="1"/>
          </p:cNvSpPr>
          <p:nvPr>
            <p:ph idx="1"/>
          </p:nvPr>
        </p:nvSpPr>
        <p:spPr/>
        <p:txBody>
          <a:bodyPr/>
          <a:lstStyle/>
          <a:p>
            <a:r>
              <a:rPr lang="en-US" dirty="0"/>
              <a:t>Model</a:t>
            </a:r>
            <a:endParaRPr lang="he-IL" dirty="0"/>
          </a:p>
        </p:txBody>
      </p:sp>
      <p:sp>
        <p:nvSpPr>
          <p:cNvPr id="8" name="Rectangle 7">
            <a:extLst>
              <a:ext uri="{FF2B5EF4-FFF2-40B4-BE49-F238E27FC236}">
                <a16:creationId xmlns:a16="http://schemas.microsoft.com/office/drawing/2014/main" id="{8DB03DB6-8374-21E1-995A-58C2F7E4C1B1}"/>
              </a:ext>
            </a:extLst>
          </p:cNvPr>
          <p:cNvSpPr/>
          <p:nvPr/>
        </p:nvSpPr>
        <p:spPr>
          <a:xfrm>
            <a:off x="2550016" y="3429000"/>
            <a:ext cx="6384433" cy="821028"/>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8705480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C8E6F-6D5D-5BC1-1018-B564E1E1F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354EA-A430-5E23-D69A-9EAB62CF9983}"/>
              </a:ext>
            </a:extLst>
          </p:cNvPr>
          <p:cNvSpPr>
            <a:spLocks noGrp="1"/>
          </p:cNvSpPr>
          <p:nvPr>
            <p:ph type="title"/>
          </p:nvPr>
        </p:nvSpPr>
        <p:spPr/>
        <p:txBody>
          <a:bodyPr/>
          <a:lstStyle/>
          <a:p>
            <a:r>
              <a:rPr lang="en-US" dirty="0"/>
              <a:t>Robust Model</a:t>
            </a:r>
            <a:endParaRPr lang="he-IL" dirty="0"/>
          </a:p>
        </p:txBody>
      </p:sp>
      <p:sp>
        <p:nvSpPr>
          <p:cNvPr id="3" name="Content Placeholder 2">
            <a:extLst>
              <a:ext uri="{FF2B5EF4-FFF2-40B4-BE49-F238E27FC236}">
                <a16:creationId xmlns:a16="http://schemas.microsoft.com/office/drawing/2014/main" id="{5146156C-3992-3F5D-3E50-905AD4126680}"/>
              </a:ext>
            </a:extLst>
          </p:cNvPr>
          <p:cNvSpPr>
            <a:spLocks noGrp="1"/>
          </p:cNvSpPr>
          <p:nvPr>
            <p:ph idx="1"/>
          </p:nvPr>
        </p:nvSpPr>
        <p:spPr/>
        <p:txBody>
          <a:bodyPr/>
          <a:lstStyle/>
          <a:p>
            <a:r>
              <a:rPr lang="en-US" dirty="0"/>
              <a:t>Model</a:t>
            </a:r>
            <a:endParaRPr lang="he-IL" dirty="0"/>
          </a:p>
        </p:txBody>
      </p:sp>
      <p:pic>
        <p:nvPicPr>
          <p:cNvPr id="5" name="Picture 4">
            <a:extLst>
              <a:ext uri="{FF2B5EF4-FFF2-40B4-BE49-F238E27FC236}">
                <a16:creationId xmlns:a16="http://schemas.microsoft.com/office/drawing/2014/main" id="{FB455B24-3EA6-E01E-BF8A-5E2637FA8FDC}"/>
              </a:ext>
            </a:extLst>
          </p:cNvPr>
          <p:cNvPicPr>
            <a:picLocks noChangeAspect="1"/>
          </p:cNvPicPr>
          <p:nvPr/>
        </p:nvPicPr>
        <p:blipFill>
          <a:blip r:embed="rId2"/>
          <a:stretch>
            <a:fillRect/>
          </a:stretch>
        </p:blipFill>
        <p:spPr>
          <a:xfrm>
            <a:off x="4547817" y="1147537"/>
            <a:ext cx="6101133" cy="5345338"/>
          </a:xfrm>
          <a:prstGeom prst="rect">
            <a:avLst/>
          </a:prstGeom>
        </p:spPr>
      </p:pic>
    </p:spTree>
    <p:extLst>
      <p:ext uri="{BB962C8B-B14F-4D97-AF65-F5344CB8AC3E}">
        <p14:creationId xmlns:p14="http://schemas.microsoft.com/office/powerpoint/2010/main" val="23472295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A458C-5A26-2318-2AEA-0264F3DBE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BD2-705C-FD3A-E161-18833E7022F0}"/>
              </a:ext>
            </a:extLst>
          </p:cNvPr>
          <p:cNvSpPr>
            <a:spLocks noGrp="1"/>
          </p:cNvSpPr>
          <p:nvPr>
            <p:ph type="title"/>
          </p:nvPr>
        </p:nvSpPr>
        <p:spPr/>
        <p:txBody>
          <a:bodyPr/>
          <a:lstStyle/>
          <a:p>
            <a:r>
              <a:rPr lang="en-US" dirty="0"/>
              <a:t>Robust Model</a:t>
            </a:r>
            <a:endParaRPr lang="he-IL" dirty="0"/>
          </a:p>
        </p:txBody>
      </p:sp>
      <p:sp>
        <p:nvSpPr>
          <p:cNvPr id="3" name="Content Placeholder 2">
            <a:extLst>
              <a:ext uri="{FF2B5EF4-FFF2-40B4-BE49-F238E27FC236}">
                <a16:creationId xmlns:a16="http://schemas.microsoft.com/office/drawing/2014/main" id="{1A271BF9-381C-1432-C551-CA4AFCBE4327}"/>
              </a:ext>
            </a:extLst>
          </p:cNvPr>
          <p:cNvSpPr>
            <a:spLocks noGrp="1"/>
          </p:cNvSpPr>
          <p:nvPr>
            <p:ph idx="1"/>
          </p:nvPr>
        </p:nvSpPr>
        <p:spPr/>
        <p:txBody>
          <a:bodyPr/>
          <a:lstStyle/>
          <a:p>
            <a:r>
              <a:rPr lang="en-US" dirty="0"/>
              <a:t>Prior Predictive</a:t>
            </a:r>
          </a:p>
          <a:p>
            <a:pPr marL="0" indent="0">
              <a:buNone/>
            </a:pPr>
            <a:endParaRPr lang="he-IL" dirty="0"/>
          </a:p>
        </p:txBody>
      </p:sp>
      <p:pic>
        <p:nvPicPr>
          <p:cNvPr id="18434" name="Picture 2">
            <a:extLst>
              <a:ext uri="{FF2B5EF4-FFF2-40B4-BE49-F238E27FC236}">
                <a16:creationId xmlns:a16="http://schemas.microsoft.com/office/drawing/2014/main" id="{301C379D-1AF3-065D-8046-AC59FABD11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301" y="1796835"/>
            <a:ext cx="7005638" cy="4705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3596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A86E8-3429-8942-5DCB-5AF8B38D7C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33628-601B-82FF-0B7F-4D97464AF2DF}"/>
              </a:ext>
            </a:extLst>
          </p:cNvPr>
          <p:cNvSpPr>
            <a:spLocks noGrp="1"/>
          </p:cNvSpPr>
          <p:nvPr>
            <p:ph type="title"/>
          </p:nvPr>
        </p:nvSpPr>
        <p:spPr/>
        <p:txBody>
          <a:bodyPr/>
          <a:lstStyle/>
          <a:p>
            <a:r>
              <a:rPr lang="en-US" dirty="0"/>
              <a:t>Robust Model</a:t>
            </a:r>
            <a:endParaRPr lang="he-IL" dirty="0"/>
          </a:p>
        </p:txBody>
      </p:sp>
      <p:sp>
        <p:nvSpPr>
          <p:cNvPr id="3" name="Content Placeholder 2">
            <a:extLst>
              <a:ext uri="{FF2B5EF4-FFF2-40B4-BE49-F238E27FC236}">
                <a16:creationId xmlns:a16="http://schemas.microsoft.com/office/drawing/2014/main" id="{BAE9C671-AEF1-1904-37A6-7C9659022211}"/>
              </a:ext>
            </a:extLst>
          </p:cNvPr>
          <p:cNvSpPr>
            <a:spLocks noGrp="1"/>
          </p:cNvSpPr>
          <p:nvPr>
            <p:ph idx="1"/>
          </p:nvPr>
        </p:nvSpPr>
        <p:spPr/>
        <p:txBody>
          <a:bodyPr/>
          <a:lstStyle/>
          <a:p>
            <a:r>
              <a:rPr lang="en-US" dirty="0"/>
              <a:t>Diagnostics</a:t>
            </a:r>
          </a:p>
          <a:p>
            <a:pPr marL="0" indent="0">
              <a:buNone/>
            </a:pPr>
            <a:endParaRPr lang="he-IL" dirty="0"/>
          </a:p>
        </p:txBody>
      </p:sp>
      <p:pic>
        <p:nvPicPr>
          <p:cNvPr id="5" name="Picture 4">
            <a:extLst>
              <a:ext uri="{FF2B5EF4-FFF2-40B4-BE49-F238E27FC236}">
                <a16:creationId xmlns:a16="http://schemas.microsoft.com/office/drawing/2014/main" id="{6ECBFD94-0485-A125-7F38-A0C3B3750BCB}"/>
              </a:ext>
            </a:extLst>
          </p:cNvPr>
          <p:cNvPicPr>
            <a:picLocks noChangeAspect="1"/>
          </p:cNvPicPr>
          <p:nvPr/>
        </p:nvPicPr>
        <p:blipFill>
          <a:blip r:embed="rId2"/>
          <a:stretch>
            <a:fillRect/>
          </a:stretch>
        </p:blipFill>
        <p:spPr>
          <a:xfrm>
            <a:off x="447032" y="3028950"/>
            <a:ext cx="4795268" cy="1605069"/>
          </a:xfrm>
          <a:prstGeom prst="rect">
            <a:avLst/>
          </a:prstGeom>
        </p:spPr>
      </p:pic>
      <p:pic>
        <p:nvPicPr>
          <p:cNvPr id="19458" name="Picture 2">
            <a:extLst>
              <a:ext uri="{FF2B5EF4-FFF2-40B4-BE49-F238E27FC236}">
                <a16:creationId xmlns:a16="http://schemas.microsoft.com/office/drawing/2014/main" id="{96E92C10-CA73-5BEE-4C99-065AA958E3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7171" y="1690688"/>
            <a:ext cx="649779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352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85A43-A049-DA9E-BCC9-1FE9D3950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0F308-8CD8-4738-A892-29F03503BC6A}"/>
              </a:ext>
            </a:extLst>
          </p:cNvPr>
          <p:cNvSpPr>
            <a:spLocks noGrp="1"/>
          </p:cNvSpPr>
          <p:nvPr>
            <p:ph type="title"/>
          </p:nvPr>
        </p:nvSpPr>
        <p:spPr/>
        <p:txBody>
          <a:bodyPr/>
          <a:lstStyle/>
          <a:p>
            <a:r>
              <a:rPr lang="en-US" dirty="0"/>
              <a:t>Robust Model</a:t>
            </a:r>
            <a:endParaRPr lang="he-IL" dirty="0"/>
          </a:p>
        </p:txBody>
      </p:sp>
      <p:sp>
        <p:nvSpPr>
          <p:cNvPr id="3" name="Content Placeholder 2">
            <a:extLst>
              <a:ext uri="{FF2B5EF4-FFF2-40B4-BE49-F238E27FC236}">
                <a16:creationId xmlns:a16="http://schemas.microsoft.com/office/drawing/2014/main" id="{E375C20A-ADE1-9D36-71CE-A3869B6AF267}"/>
              </a:ext>
            </a:extLst>
          </p:cNvPr>
          <p:cNvSpPr>
            <a:spLocks noGrp="1"/>
          </p:cNvSpPr>
          <p:nvPr>
            <p:ph idx="1"/>
          </p:nvPr>
        </p:nvSpPr>
        <p:spPr/>
        <p:txBody>
          <a:bodyPr/>
          <a:lstStyle/>
          <a:p>
            <a:r>
              <a:rPr lang="en-US" dirty="0"/>
              <a:t>Posterior Predictive</a:t>
            </a:r>
          </a:p>
          <a:p>
            <a:pPr marL="0" indent="0">
              <a:buNone/>
            </a:pPr>
            <a:endParaRPr lang="he-IL" dirty="0"/>
          </a:p>
        </p:txBody>
      </p:sp>
      <p:pic>
        <p:nvPicPr>
          <p:cNvPr id="20482" name="Picture 2">
            <a:extLst>
              <a:ext uri="{FF2B5EF4-FFF2-40B4-BE49-F238E27FC236}">
                <a16:creationId xmlns:a16="http://schemas.microsoft.com/office/drawing/2014/main" id="{8E57E176-1742-9C7A-E651-BECB8C6953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2913" y="1816100"/>
            <a:ext cx="6962775" cy="467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39743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EAECF-7B72-DBF4-9B33-5DD6CF9FE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7055E-3276-2B53-1896-E61E1DDE0B7E}"/>
              </a:ext>
            </a:extLst>
          </p:cNvPr>
          <p:cNvSpPr>
            <a:spLocks noGrp="1"/>
          </p:cNvSpPr>
          <p:nvPr>
            <p:ph type="title"/>
          </p:nvPr>
        </p:nvSpPr>
        <p:spPr/>
        <p:txBody>
          <a:bodyPr/>
          <a:lstStyle/>
          <a:p>
            <a:r>
              <a:rPr lang="en-US" dirty="0"/>
              <a:t>Robust Model</a:t>
            </a:r>
            <a:endParaRPr lang="he-IL" dirty="0"/>
          </a:p>
        </p:txBody>
      </p:sp>
      <p:sp>
        <p:nvSpPr>
          <p:cNvPr id="3" name="Content Placeholder 2">
            <a:extLst>
              <a:ext uri="{FF2B5EF4-FFF2-40B4-BE49-F238E27FC236}">
                <a16:creationId xmlns:a16="http://schemas.microsoft.com/office/drawing/2014/main" id="{7FCA9440-15B1-D278-4D21-FCC057ADA066}"/>
              </a:ext>
            </a:extLst>
          </p:cNvPr>
          <p:cNvSpPr>
            <a:spLocks noGrp="1"/>
          </p:cNvSpPr>
          <p:nvPr>
            <p:ph idx="1"/>
          </p:nvPr>
        </p:nvSpPr>
        <p:spPr/>
        <p:txBody>
          <a:bodyPr/>
          <a:lstStyle/>
          <a:p>
            <a:r>
              <a:rPr lang="en-US" dirty="0"/>
              <a:t>Compare Normal and Student-t posterior predictive</a:t>
            </a:r>
            <a:endParaRPr lang="he-IL" dirty="0"/>
          </a:p>
          <a:p>
            <a:pPr marL="0" indent="0">
              <a:buNone/>
            </a:pPr>
            <a:endParaRPr lang="he-IL" dirty="0"/>
          </a:p>
        </p:txBody>
      </p:sp>
      <p:pic>
        <p:nvPicPr>
          <p:cNvPr id="6" name="Picture 2">
            <a:extLst>
              <a:ext uri="{FF2B5EF4-FFF2-40B4-BE49-F238E27FC236}">
                <a16:creationId xmlns:a16="http://schemas.microsoft.com/office/drawing/2014/main" id="{87E2BB24-718C-E367-EF71-02D79FD2B5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734591"/>
            <a:ext cx="5595327" cy="375828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14C0DAB-EB62-4AD7-F3E5-A90FFD1DFE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673" y="2734591"/>
            <a:ext cx="5595327" cy="3758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56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F267E-0B04-2D2D-807D-7A6C94CB5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85905-A3C4-FE5E-01BD-2E904EE5E3EA}"/>
              </a:ext>
            </a:extLst>
          </p:cNvPr>
          <p:cNvSpPr>
            <a:spLocks noGrp="1"/>
          </p:cNvSpPr>
          <p:nvPr>
            <p:ph type="title"/>
          </p:nvPr>
        </p:nvSpPr>
        <p:spPr/>
        <p:txBody>
          <a:bodyPr/>
          <a:lstStyle/>
          <a:p>
            <a:r>
              <a:rPr lang="en-US" dirty="0"/>
              <a:t>Robust Model</a:t>
            </a:r>
            <a:endParaRPr lang="he-IL" dirty="0"/>
          </a:p>
        </p:txBody>
      </p:sp>
      <p:sp>
        <p:nvSpPr>
          <p:cNvPr id="3" name="Content Placeholder 2">
            <a:extLst>
              <a:ext uri="{FF2B5EF4-FFF2-40B4-BE49-F238E27FC236}">
                <a16:creationId xmlns:a16="http://schemas.microsoft.com/office/drawing/2014/main" id="{88389366-CBC7-0062-E71E-E811D367A9CA}"/>
              </a:ext>
            </a:extLst>
          </p:cNvPr>
          <p:cNvSpPr>
            <a:spLocks noGrp="1"/>
          </p:cNvSpPr>
          <p:nvPr>
            <p:ph idx="1"/>
          </p:nvPr>
        </p:nvSpPr>
        <p:spPr/>
        <p:txBody>
          <a:bodyPr/>
          <a:lstStyle/>
          <a:p>
            <a:r>
              <a:rPr lang="en-US" dirty="0"/>
              <a:t>Compare Normal and Student-t posteriors</a:t>
            </a:r>
            <a:endParaRPr lang="he-IL" dirty="0"/>
          </a:p>
        </p:txBody>
      </p:sp>
      <p:pic>
        <p:nvPicPr>
          <p:cNvPr id="5" name="Picture 4">
            <a:extLst>
              <a:ext uri="{FF2B5EF4-FFF2-40B4-BE49-F238E27FC236}">
                <a16:creationId xmlns:a16="http://schemas.microsoft.com/office/drawing/2014/main" id="{ADC7AEF5-0902-0E76-D7BB-A436075ED4B8}"/>
              </a:ext>
            </a:extLst>
          </p:cNvPr>
          <p:cNvPicPr>
            <a:picLocks noChangeAspect="1"/>
          </p:cNvPicPr>
          <p:nvPr/>
        </p:nvPicPr>
        <p:blipFill>
          <a:blip r:embed="rId2"/>
          <a:stretch>
            <a:fillRect/>
          </a:stretch>
        </p:blipFill>
        <p:spPr>
          <a:xfrm>
            <a:off x="2680967" y="2833562"/>
            <a:ext cx="7866483" cy="3090988"/>
          </a:xfrm>
          <a:prstGeom prst="rect">
            <a:avLst/>
          </a:prstGeom>
        </p:spPr>
      </p:pic>
    </p:spTree>
    <p:extLst>
      <p:ext uri="{BB962C8B-B14F-4D97-AF65-F5344CB8AC3E}">
        <p14:creationId xmlns:p14="http://schemas.microsoft.com/office/powerpoint/2010/main" val="21339435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73A39-0786-B267-DBCA-AEE61007F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24A55-0A3F-F6C8-48A2-DF7D05328758}"/>
              </a:ext>
            </a:extLst>
          </p:cNvPr>
          <p:cNvSpPr>
            <a:spLocks noGrp="1"/>
          </p:cNvSpPr>
          <p:nvPr>
            <p:ph type="title"/>
          </p:nvPr>
        </p:nvSpPr>
        <p:spPr/>
        <p:txBody>
          <a:bodyPr/>
          <a:lstStyle/>
          <a:p>
            <a:r>
              <a:rPr lang="en-US" dirty="0"/>
              <a:t>Robust Model</a:t>
            </a:r>
            <a:endParaRPr lang="he-IL" dirty="0"/>
          </a:p>
        </p:txBody>
      </p:sp>
      <p:sp>
        <p:nvSpPr>
          <p:cNvPr id="3" name="Content Placeholder 2">
            <a:extLst>
              <a:ext uri="{FF2B5EF4-FFF2-40B4-BE49-F238E27FC236}">
                <a16:creationId xmlns:a16="http://schemas.microsoft.com/office/drawing/2014/main" id="{AE4C95E7-3A89-674C-F101-0E9B3EECF2A0}"/>
              </a:ext>
            </a:extLst>
          </p:cNvPr>
          <p:cNvSpPr>
            <a:spLocks noGrp="1"/>
          </p:cNvSpPr>
          <p:nvPr>
            <p:ph idx="1"/>
          </p:nvPr>
        </p:nvSpPr>
        <p:spPr/>
        <p:txBody>
          <a:bodyPr/>
          <a:lstStyle/>
          <a:p>
            <a:r>
              <a:rPr lang="en-US" dirty="0"/>
              <a:t>Compare Normal and Student-t posteriors</a:t>
            </a:r>
            <a:endParaRPr lang="he-IL" dirty="0"/>
          </a:p>
        </p:txBody>
      </p:sp>
      <p:pic>
        <p:nvPicPr>
          <p:cNvPr id="21506" name="Picture 2">
            <a:extLst>
              <a:ext uri="{FF2B5EF4-FFF2-40B4-BE49-F238E27FC236}">
                <a16:creationId xmlns:a16="http://schemas.microsoft.com/office/drawing/2014/main" id="{13943961-3833-4FE8-96B2-7A409C0952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13" y="2315024"/>
            <a:ext cx="8243887" cy="417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99373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647E4-161A-1667-FF0E-D4A03394978D}"/>
              </a:ext>
            </a:extLst>
          </p:cNvPr>
          <p:cNvSpPr>
            <a:spLocks noGrp="1"/>
          </p:cNvSpPr>
          <p:nvPr>
            <p:ph type="title"/>
          </p:nvPr>
        </p:nvSpPr>
        <p:spPr/>
        <p:txBody>
          <a:bodyPr/>
          <a:lstStyle/>
          <a:p>
            <a:r>
              <a:rPr lang="en-US" dirty="0"/>
              <a:t>Unequal variances</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654CA1-774E-4B9A-AB14-F1C001219522}"/>
                  </a:ext>
                </a:extLst>
              </p:cNvPr>
              <p:cNvSpPr>
                <a:spLocks noGrp="1"/>
              </p:cNvSpPr>
              <p:nvPr>
                <p:ph idx="1"/>
              </p:nvPr>
            </p:nvSpPr>
            <p:spPr/>
            <p:txBody>
              <a:bodyPr>
                <a:normAutofit/>
              </a:bodyPr>
              <a:lstStyle/>
              <a:p>
                <a:r>
                  <a:rPr lang="he-IL" b="1" dirty="0"/>
                  <a:t>Shared</a:t>
                </a:r>
                <a:r>
                  <a:rPr lang="en-US" b="1" dirty="0"/>
                  <a:t> </a:t>
                </a:r>
                <a14:m>
                  <m:oMath xmlns:m="http://schemas.openxmlformats.org/officeDocument/2006/math">
                    <m:r>
                      <a:rPr lang="he-IL" i="1">
                        <a:latin typeface="Cambria Math" panose="02040503050406030204" pitchFamily="18" charset="0"/>
                      </a:rPr>
                      <m:t>𝜎</m:t>
                    </m:r>
                  </m:oMath>
                </a14:m>
                <a:r>
                  <a:rPr lang="he-IL" b="1" dirty="0"/>
                  <a:t> model</a:t>
                </a:r>
              </a:p>
              <a:p>
                <a:pPr marL="0" indent="0">
                  <a:buNone/>
                </a:pPr>
                <a14:m>
                  <m:oMathPara xmlns:m="http://schemas.openxmlformats.org/officeDocument/2006/math">
                    <m:oMathParaPr>
                      <m:jc m:val="centerGroup"/>
                    </m:oMathParaPr>
                    <m:oMath xmlns:m="http://schemas.openxmlformats.org/officeDocument/2006/math">
                      <m:sSub>
                        <m:sSubPr>
                          <m:ctrlPr>
                            <a:rPr lang="he-IL" i="1">
                              <a:latin typeface="Cambria Math" panose="02040503050406030204" pitchFamily="18" charset="0"/>
                            </a:rPr>
                          </m:ctrlPr>
                        </m:sSubPr>
                        <m:e>
                          <m:r>
                            <a:rPr lang="he-IL" i="1">
                              <a:latin typeface="Cambria Math" panose="02040503050406030204" pitchFamily="18" charset="0"/>
                            </a:rPr>
                            <m:t>𝑦</m:t>
                          </m:r>
                        </m:e>
                        <m:sub>
                          <m:r>
                            <a:rPr lang="he-IL" i="1">
                              <a:latin typeface="Cambria Math" panose="02040503050406030204" pitchFamily="18" charset="0"/>
                            </a:rPr>
                            <m:t>𝑖</m:t>
                          </m:r>
                        </m:sub>
                      </m:sSub>
                      <m:r>
                        <a:rPr lang="he-IL">
                          <a:latin typeface="Cambria Math" panose="02040503050406030204" pitchFamily="18" charset="0"/>
                        </a:rPr>
                        <m:t>∼</m:t>
                      </m:r>
                      <m:r>
                        <m:rPr>
                          <m:nor/>
                        </m:rPr>
                        <a:rPr lang="he-IL" i="1"/>
                        <m:t>Normal</m:t>
                      </m:r>
                      <m:d>
                        <m:dPr>
                          <m:sepChr m:val=","/>
                          <m:ctrlPr>
                            <a:rPr lang="he-IL" i="1">
                              <a:latin typeface="Cambria Math" panose="02040503050406030204" pitchFamily="18" charset="0"/>
                            </a:rPr>
                          </m:ctrlPr>
                        </m:dPr>
                        <m:e>
                          <m:sSub>
                            <m:sSubPr>
                              <m:ctrlPr>
                                <a:rPr lang="he-IL" i="1">
                                  <a:latin typeface="Cambria Math" panose="02040503050406030204" pitchFamily="18" charset="0"/>
                                </a:rPr>
                              </m:ctrlPr>
                            </m:sSubPr>
                            <m:e>
                              <m:r>
                                <a:rPr lang="he-IL" i="1">
                                  <a:latin typeface="Cambria Math" panose="02040503050406030204" pitchFamily="18" charset="0"/>
                                </a:rPr>
                                <m:t>𝜇</m:t>
                              </m:r>
                            </m:e>
                            <m:sub>
                              <m:r>
                                <m:rPr>
                                  <m:nor/>
                                </m:rPr>
                                <a:rPr lang="he-IL" i="1"/>
                                <m:t>group</m:t>
                              </m:r>
                              <m:d>
                                <m:dPr>
                                  <m:begChr m:val="["/>
                                  <m:endChr m:val="]"/>
                                  <m:ctrlPr>
                                    <a:rPr lang="he-IL" i="1">
                                      <a:latin typeface="Cambria Math" panose="02040503050406030204" pitchFamily="18" charset="0"/>
                                    </a:rPr>
                                  </m:ctrlPr>
                                </m:dPr>
                                <m:e>
                                  <m:r>
                                    <a:rPr lang="he-IL" i="1">
                                      <a:latin typeface="Cambria Math" panose="02040503050406030204" pitchFamily="18" charset="0"/>
                                    </a:rPr>
                                    <m:t>𝑖</m:t>
                                  </m:r>
                                </m:e>
                              </m:d>
                            </m:sub>
                          </m:sSub>
                        </m:e>
                        <m:e>
                          <m:r>
                            <a:rPr lang="he-IL" i="1">
                              <a:latin typeface="Cambria Math" panose="02040503050406030204" pitchFamily="18" charset="0"/>
                            </a:rPr>
                            <m:t>𝜎</m:t>
                          </m:r>
                        </m:e>
                      </m:d>
                    </m:oMath>
                  </m:oMathPara>
                </a14:m>
                <a:endParaRPr lang="he-IL" b="0" dirty="0"/>
              </a:p>
              <a:p>
                <a:r>
                  <a:rPr lang="he-IL" dirty="0"/>
                  <a:t>Assumes:</a:t>
                </a:r>
              </a:p>
              <a:p>
                <a:pPr marL="0" indent="0">
                  <a:buNone/>
                </a:pPr>
                <a14:m>
                  <m:oMathPara xmlns:m="http://schemas.openxmlformats.org/officeDocument/2006/math">
                    <m:oMathParaPr>
                      <m:jc m:val="centerGroup"/>
                    </m:oMathParaPr>
                    <m:oMath xmlns:m="http://schemas.openxmlformats.org/officeDocument/2006/math">
                      <m:sSub>
                        <m:sSubPr>
                          <m:ctrlPr>
                            <a:rPr lang="he-IL" i="1">
                              <a:latin typeface="Cambria Math" panose="02040503050406030204" pitchFamily="18" charset="0"/>
                            </a:rPr>
                          </m:ctrlPr>
                        </m:sSubPr>
                        <m:e>
                          <m:r>
                            <a:rPr lang="he-IL" i="1">
                              <a:latin typeface="Cambria Math" panose="02040503050406030204" pitchFamily="18" charset="0"/>
                            </a:rPr>
                            <m:t>𝜎</m:t>
                          </m:r>
                        </m:e>
                        <m:sub>
                          <m:r>
                            <a:rPr lang="he-IL" i="1">
                              <a:latin typeface="Cambria Math" panose="02040503050406030204" pitchFamily="18" charset="0"/>
                            </a:rPr>
                            <m:t>𝐴</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𝜎</m:t>
                          </m:r>
                        </m:e>
                        <m:sub>
                          <m:r>
                            <a:rPr lang="he-IL" i="1">
                              <a:latin typeface="Cambria Math" panose="02040503050406030204" pitchFamily="18" charset="0"/>
                            </a:rPr>
                            <m:t>𝐵</m:t>
                          </m:r>
                        </m:sub>
                      </m:sSub>
                    </m:oMath>
                  </m:oMathPara>
                </a14:m>
                <a:endParaRPr lang="he-IL" dirty="0"/>
              </a:p>
              <a:p>
                <a:r>
                  <a:rPr lang="he-IL" b="1" dirty="0"/>
                  <a:t>Separate</a:t>
                </a:r>
                <a:r>
                  <a:rPr lang="en-US" b="1" dirty="0"/>
                  <a:t> </a:t>
                </a:r>
                <a14:m>
                  <m:oMath xmlns:m="http://schemas.openxmlformats.org/officeDocument/2006/math">
                    <m:r>
                      <a:rPr lang="he-IL" i="1">
                        <a:latin typeface="Cambria Math" panose="02040503050406030204" pitchFamily="18" charset="0"/>
                      </a:rPr>
                      <m:t>𝜎</m:t>
                    </m:r>
                  </m:oMath>
                </a14:m>
                <a:r>
                  <a:rPr lang="he-IL" b="1" dirty="0"/>
                  <a:t> model</a:t>
                </a:r>
              </a:p>
              <a:p>
                <a:pPr marL="0" indent="0">
                  <a:buNone/>
                </a:pPr>
                <a14:m>
                  <m:oMathPara xmlns:m="http://schemas.openxmlformats.org/officeDocument/2006/math">
                    <m:oMathParaPr>
                      <m:jc m:val="centerGroup"/>
                    </m:oMathParaPr>
                    <m:oMath xmlns:m="http://schemas.openxmlformats.org/officeDocument/2006/math">
                      <m:sSub>
                        <m:sSubPr>
                          <m:ctrlPr>
                            <a:rPr lang="he-IL" i="1">
                              <a:latin typeface="Cambria Math" panose="02040503050406030204" pitchFamily="18" charset="0"/>
                            </a:rPr>
                          </m:ctrlPr>
                        </m:sSubPr>
                        <m:e>
                          <m:r>
                            <a:rPr lang="he-IL" i="1">
                              <a:latin typeface="Cambria Math" panose="02040503050406030204" pitchFamily="18" charset="0"/>
                            </a:rPr>
                            <m:t>𝑦</m:t>
                          </m:r>
                        </m:e>
                        <m:sub>
                          <m:r>
                            <a:rPr lang="he-IL" i="1">
                              <a:latin typeface="Cambria Math" panose="02040503050406030204" pitchFamily="18" charset="0"/>
                            </a:rPr>
                            <m:t>𝑖</m:t>
                          </m:r>
                        </m:sub>
                      </m:sSub>
                      <m:r>
                        <a:rPr lang="he-IL">
                          <a:latin typeface="Cambria Math" panose="02040503050406030204" pitchFamily="18" charset="0"/>
                        </a:rPr>
                        <m:t>∼</m:t>
                      </m:r>
                      <m:r>
                        <m:rPr>
                          <m:nor/>
                        </m:rPr>
                        <a:rPr lang="he-IL" i="1"/>
                        <m:t>Normal</m:t>
                      </m:r>
                      <m:d>
                        <m:dPr>
                          <m:sepChr m:val=","/>
                          <m:ctrlPr>
                            <a:rPr lang="he-IL" i="1">
                              <a:latin typeface="Cambria Math" panose="02040503050406030204" pitchFamily="18" charset="0"/>
                            </a:rPr>
                          </m:ctrlPr>
                        </m:dPr>
                        <m:e>
                          <m:sSub>
                            <m:sSubPr>
                              <m:ctrlPr>
                                <a:rPr lang="he-IL" i="1">
                                  <a:latin typeface="Cambria Math" panose="02040503050406030204" pitchFamily="18" charset="0"/>
                                </a:rPr>
                              </m:ctrlPr>
                            </m:sSubPr>
                            <m:e>
                              <m:r>
                                <a:rPr lang="he-IL" i="1">
                                  <a:latin typeface="Cambria Math" panose="02040503050406030204" pitchFamily="18" charset="0"/>
                                </a:rPr>
                                <m:t>𝜇</m:t>
                              </m:r>
                            </m:e>
                            <m:sub>
                              <m:r>
                                <m:rPr>
                                  <m:nor/>
                                </m:rPr>
                                <a:rPr lang="he-IL" i="1"/>
                                <m:t>group</m:t>
                              </m:r>
                              <m:d>
                                <m:dPr>
                                  <m:begChr m:val="["/>
                                  <m:endChr m:val="]"/>
                                  <m:ctrlPr>
                                    <a:rPr lang="he-IL" i="1">
                                      <a:latin typeface="Cambria Math" panose="02040503050406030204" pitchFamily="18" charset="0"/>
                                    </a:rPr>
                                  </m:ctrlPr>
                                </m:dPr>
                                <m:e>
                                  <m:r>
                                    <a:rPr lang="he-IL" i="1">
                                      <a:latin typeface="Cambria Math" panose="02040503050406030204" pitchFamily="18" charset="0"/>
                                    </a:rPr>
                                    <m:t>𝑖</m:t>
                                  </m:r>
                                </m:e>
                              </m:d>
                            </m:sub>
                          </m:sSub>
                        </m:e>
                        <m:e>
                          <m:sSub>
                            <m:sSubPr>
                              <m:ctrlPr>
                                <a:rPr lang="he-IL" i="1">
                                  <a:latin typeface="Cambria Math" panose="02040503050406030204" pitchFamily="18" charset="0"/>
                                </a:rPr>
                              </m:ctrlPr>
                            </m:sSubPr>
                            <m:e>
                              <m:r>
                                <a:rPr lang="he-IL" i="1">
                                  <a:latin typeface="Cambria Math" panose="02040503050406030204" pitchFamily="18" charset="0"/>
                                </a:rPr>
                                <m:t>𝜎</m:t>
                              </m:r>
                            </m:e>
                            <m:sub>
                              <m:r>
                                <m:rPr>
                                  <m:nor/>
                                </m:rPr>
                                <a:rPr lang="he-IL" i="1"/>
                                <m:t>group</m:t>
                              </m:r>
                              <m:d>
                                <m:dPr>
                                  <m:begChr m:val="["/>
                                  <m:endChr m:val="]"/>
                                  <m:ctrlPr>
                                    <a:rPr lang="he-IL" i="1">
                                      <a:latin typeface="Cambria Math" panose="02040503050406030204" pitchFamily="18" charset="0"/>
                                    </a:rPr>
                                  </m:ctrlPr>
                                </m:dPr>
                                <m:e>
                                  <m:r>
                                    <a:rPr lang="he-IL" i="1">
                                      <a:latin typeface="Cambria Math" panose="02040503050406030204" pitchFamily="18" charset="0"/>
                                    </a:rPr>
                                    <m:t>𝑖</m:t>
                                  </m:r>
                                </m:e>
                              </m:d>
                            </m:sub>
                          </m:sSub>
                        </m:e>
                      </m:d>
                    </m:oMath>
                  </m:oMathPara>
                </a14:m>
                <a:endParaRPr lang="he-IL" b="0" dirty="0"/>
              </a:p>
              <a:p>
                <a:r>
                  <a:rPr lang="he-IL" dirty="0"/>
                  <a:t>Allows:</a:t>
                </a:r>
              </a:p>
              <a:p>
                <a:pPr marL="0" indent="0">
                  <a:buNone/>
                </a:pPr>
                <a14:m>
                  <m:oMathPara xmlns:m="http://schemas.openxmlformats.org/officeDocument/2006/math">
                    <m:oMathParaPr>
                      <m:jc m:val="centerGroup"/>
                    </m:oMathParaPr>
                    <m:oMath xmlns:m="http://schemas.openxmlformats.org/officeDocument/2006/math">
                      <m:sSub>
                        <m:sSubPr>
                          <m:ctrlPr>
                            <a:rPr lang="he-IL" i="1">
                              <a:latin typeface="Cambria Math" panose="02040503050406030204" pitchFamily="18" charset="0"/>
                            </a:rPr>
                          </m:ctrlPr>
                        </m:sSubPr>
                        <m:e>
                          <m:r>
                            <a:rPr lang="he-IL" i="1">
                              <a:latin typeface="Cambria Math" panose="02040503050406030204" pitchFamily="18" charset="0"/>
                            </a:rPr>
                            <m:t>𝜎</m:t>
                          </m:r>
                        </m:e>
                        <m:sub>
                          <m:r>
                            <a:rPr lang="he-IL" i="1">
                              <a:latin typeface="Cambria Math" panose="02040503050406030204" pitchFamily="18" charset="0"/>
                            </a:rPr>
                            <m:t>𝐴</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𝜎</m:t>
                          </m:r>
                        </m:e>
                        <m:sub>
                          <m:r>
                            <a:rPr lang="he-IL" i="1">
                              <a:latin typeface="Cambria Math" panose="02040503050406030204" pitchFamily="18" charset="0"/>
                            </a:rPr>
                            <m:t>𝐵</m:t>
                          </m:r>
                        </m:sub>
                      </m:sSub>
                    </m:oMath>
                  </m:oMathPara>
                </a14:m>
                <a:endParaRPr lang="he-IL" dirty="0"/>
              </a:p>
              <a:p>
                <a:endParaRPr lang="he-IL" dirty="0"/>
              </a:p>
            </p:txBody>
          </p:sp>
        </mc:Choice>
        <mc:Fallback xmlns="">
          <p:sp>
            <p:nvSpPr>
              <p:cNvPr id="3" name="Content Placeholder 2">
                <a:extLst>
                  <a:ext uri="{FF2B5EF4-FFF2-40B4-BE49-F238E27FC236}">
                    <a16:creationId xmlns:a16="http://schemas.microsoft.com/office/drawing/2014/main" id="{F6654CA1-774E-4B9A-AB14-F1C00121952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29764831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64815-DABD-0E5A-D7C0-4D4144B21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4AD5D-5CB4-A03C-A97D-9D33B27108C5}"/>
              </a:ext>
            </a:extLst>
          </p:cNvPr>
          <p:cNvSpPr>
            <a:spLocks noGrp="1"/>
          </p:cNvSpPr>
          <p:nvPr>
            <p:ph type="title"/>
          </p:nvPr>
        </p:nvSpPr>
        <p:spPr/>
        <p:txBody>
          <a:bodyPr/>
          <a:lstStyle/>
          <a:p>
            <a:r>
              <a:rPr lang="en-US" dirty="0"/>
              <a:t>Bayesian group model</a:t>
            </a:r>
            <a:endParaRPr lang="he-IL" dirty="0"/>
          </a:p>
        </p:txBody>
      </p:sp>
      <p:sp>
        <p:nvSpPr>
          <p:cNvPr id="4" name="מציין מיקום תוכן 2">
            <a:extLst>
              <a:ext uri="{FF2B5EF4-FFF2-40B4-BE49-F238E27FC236}">
                <a16:creationId xmlns:a16="http://schemas.microsoft.com/office/drawing/2014/main" id="{97ED7F68-3054-3EC9-3188-FADF971504B8}"/>
              </a:ext>
            </a:extLst>
          </p:cNvPr>
          <p:cNvSpPr txBox="1">
            <a:spLocks/>
          </p:cNvSpPr>
          <p:nvPr/>
        </p:nvSpPr>
        <p:spPr>
          <a:xfrm>
            <a:off x="838200" y="1825625"/>
            <a:ext cx="10229850" cy="41501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SzPts val="2600"/>
            </a:pPr>
            <a:r>
              <a:rPr lang="en-US" dirty="0">
                <a:solidFill>
                  <a:srgbClr val="000000"/>
                </a:solidFill>
              </a:rPr>
              <a:t>The same food diet dataset is used for the independent group comparison.</a:t>
            </a:r>
          </a:p>
          <a:p>
            <a:pPr>
              <a:lnSpc>
                <a:spcPct val="150000"/>
              </a:lnSpc>
              <a:buSzPts val="2600"/>
            </a:pPr>
            <a:r>
              <a:rPr lang="en-US" dirty="0">
                <a:solidFill>
                  <a:srgbClr val="000000"/>
                </a:solidFill>
              </a:rPr>
              <a:t>We will compare pre-diet weight between male and female participants. </a:t>
            </a:r>
          </a:p>
          <a:p>
            <a:pPr>
              <a:lnSpc>
                <a:spcPct val="150000"/>
              </a:lnSpc>
              <a:buSzPts val="2600"/>
            </a:pPr>
            <a:r>
              <a:rPr lang="en-US" dirty="0">
                <a:solidFill>
                  <a:srgbClr val="000000"/>
                </a:solidFill>
              </a:rPr>
              <a:t>This is an unpaired comparison because different people belong to each group.</a:t>
            </a:r>
            <a:endParaRPr lang="en-US" dirty="0"/>
          </a:p>
        </p:txBody>
      </p:sp>
    </p:spTree>
    <p:extLst>
      <p:ext uri="{BB962C8B-B14F-4D97-AF65-F5344CB8AC3E}">
        <p14:creationId xmlns:p14="http://schemas.microsoft.com/office/powerpoint/2010/main" val="31657059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FF4D3-C0CC-2664-8184-D1988A80C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CEC2E-8853-B216-3F09-8AFA014AB0AD}"/>
              </a:ext>
            </a:extLst>
          </p:cNvPr>
          <p:cNvSpPr>
            <a:spLocks noGrp="1"/>
          </p:cNvSpPr>
          <p:nvPr>
            <p:ph type="title"/>
          </p:nvPr>
        </p:nvSpPr>
        <p:spPr/>
        <p:txBody>
          <a:bodyPr/>
          <a:lstStyle/>
          <a:p>
            <a:r>
              <a:rPr lang="en-US" dirty="0"/>
              <a:t>Bayesian group model</a:t>
            </a:r>
            <a:endParaRPr lang="he-IL" dirty="0"/>
          </a:p>
        </p:txBody>
      </p:sp>
      <p:sp>
        <p:nvSpPr>
          <p:cNvPr id="4" name="מציין מיקום תוכן 2">
            <a:extLst>
              <a:ext uri="{FF2B5EF4-FFF2-40B4-BE49-F238E27FC236}">
                <a16:creationId xmlns:a16="http://schemas.microsoft.com/office/drawing/2014/main" id="{73C52F49-47C0-ED79-4FB7-09F946A3ADA5}"/>
              </a:ext>
            </a:extLst>
          </p:cNvPr>
          <p:cNvSpPr txBox="1">
            <a:spLocks/>
          </p:cNvSpPr>
          <p:nvPr/>
        </p:nvSpPr>
        <p:spPr>
          <a:xfrm>
            <a:off x="838200" y="1467073"/>
            <a:ext cx="6627058" cy="41501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dirty="0"/>
              <a:t>Observed data</a:t>
            </a:r>
          </a:p>
          <a:p>
            <a:pPr lvl="1">
              <a:lnSpc>
                <a:spcPct val="150000"/>
              </a:lnSpc>
            </a:pPr>
            <a:endParaRPr lang="en-US" dirty="0"/>
          </a:p>
          <a:p>
            <a:pPr>
              <a:lnSpc>
                <a:spcPct val="150000"/>
              </a:lnSpc>
            </a:pPr>
            <a:endParaRPr lang="en-US" dirty="0"/>
          </a:p>
        </p:txBody>
      </p:sp>
      <p:pic>
        <p:nvPicPr>
          <p:cNvPr id="23554" name="Picture 2">
            <a:extLst>
              <a:ext uri="{FF2B5EF4-FFF2-40B4-BE49-F238E27FC236}">
                <a16:creationId xmlns:a16="http://schemas.microsoft.com/office/drawing/2014/main" id="{4BB47538-EE38-8088-03D8-D7DC141392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7313" y="1851918"/>
            <a:ext cx="6772275" cy="48672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1433D6E-6A02-C66D-0D71-4864A5DBACCD}"/>
              </a:ext>
            </a:extLst>
          </p:cNvPr>
          <p:cNvPicPr>
            <a:picLocks noChangeAspect="1"/>
          </p:cNvPicPr>
          <p:nvPr/>
        </p:nvPicPr>
        <p:blipFill>
          <a:blip r:embed="rId3"/>
          <a:srcRect r="42926"/>
          <a:stretch>
            <a:fillRect/>
          </a:stretch>
        </p:blipFill>
        <p:spPr>
          <a:xfrm>
            <a:off x="692983" y="2792636"/>
            <a:ext cx="4129459" cy="1682629"/>
          </a:xfrm>
          <a:prstGeom prst="rect">
            <a:avLst/>
          </a:prstGeom>
        </p:spPr>
      </p:pic>
    </p:spTree>
    <p:extLst>
      <p:ext uri="{BB962C8B-B14F-4D97-AF65-F5344CB8AC3E}">
        <p14:creationId xmlns:p14="http://schemas.microsoft.com/office/powerpoint/2010/main" val="29217098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576F7-097F-7AB0-5BFB-EFAA1EE78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779D0-ABF8-A96F-42F6-E5A89270E6B4}"/>
              </a:ext>
            </a:extLst>
          </p:cNvPr>
          <p:cNvSpPr>
            <a:spLocks noGrp="1"/>
          </p:cNvSpPr>
          <p:nvPr>
            <p:ph type="title"/>
          </p:nvPr>
        </p:nvSpPr>
        <p:spPr/>
        <p:txBody>
          <a:bodyPr/>
          <a:lstStyle/>
          <a:p>
            <a:r>
              <a:rPr lang="en-US" dirty="0"/>
              <a:t>Bayesian group model</a:t>
            </a:r>
            <a:endParaRPr lang="he-IL" dirty="0"/>
          </a:p>
        </p:txBody>
      </p:sp>
      <p:sp>
        <p:nvSpPr>
          <p:cNvPr id="4" name="מציין מיקום תוכן 2">
            <a:extLst>
              <a:ext uri="{FF2B5EF4-FFF2-40B4-BE49-F238E27FC236}">
                <a16:creationId xmlns:a16="http://schemas.microsoft.com/office/drawing/2014/main" id="{62F1FB0B-6F1A-1B19-3A34-4DFD98905477}"/>
              </a:ext>
            </a:extLst>
          </p:cNvPr>
          <p:cNvSpPr txBox="1">
            <a:spLocks/>
          </p:cNvSpPr>
          <p:nvPr/>
        </p:nvSpPr>
        <p:spPr>
          <a:xfrm>
            <a:off x="838200" y="1754410"/>
            <a:ext cx="5041900" cy="455749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3800" dirty="0"/>
              <a:t>Violin plot:</a:t>
            </a:r>
          </a:p>
          <a:p>
            <a:pPr>
              <a:lnSpc>
                <a:spcPct val="150000"/>
              </a:lnSpc>
            </a:pPr>
            <a:r>
              <a:rPr lang="en-US" dirty="0"/>
              <a:t> Shows </a:t>
            </a:r>
            <a:r>
              <a:rPr lang="en-US" sz="3200" dirty="0"/>
              <a:t>the distribution of the data in each group.</a:t>
            </a:r>
          </a:p>
          <a:p>
            <a:pPr>
              <a:lnSpc>
                <a:spcPct val="150000"/>
              </a:lnSpc>
            </a:pPr>
            <a:r>
              <a:rPr lang="en-US" sz="3200" dirty="0"/>
              <a:t>The width represents where more observations are concentrated.</a:t>
            </a:r>
          </a:p>
          <a:p>
            <a:pPr>
              <a:lnSpc>
                <a:spcPct val="150000"/>
              </a:lnSpc>
            </a:pPr>
            <a:r>
              <a:rPr lang="en-US" sz="3200" dirty="0"/>
              <a:t>A wider area means that more participants had weights around that value.</a:t>
            </a:r>
          </a:p>
          <a:p>
            <a:pPr>
              <a:lnSpc>
                <a:spcPct val="150000"/>
              </a:lnSpc>
            </a:pPr>
            <a:r>
              <a:rPr lang="en-US" sz="3200" dirty="0"/>
              <a:t>Helps us see both the center and the spread of each group, not only </a:t>
            </a:r>
            <a:r>
              <a:rPr lang="en-US" dirty="0"/>
              <a:t>the average.</a:t>
            </a:r>
          </a:p>
          <a:p>
            <a:pPr lvl="1">
              <a:lnSpc>
                <a:spcPct val="150000"/>
              </a:lnSpc>
            </a:pPr>
            <a:endParaRPr lang="en-US" dirty="0"/>
          </a:p>
          <a:p>
            <a:pPr>
              <a:lnSpc>
                <a:spcPct val="150000"/>
              </a:lnSpc>
            </a:pPr>
            <a:endParaRPr lang="en-US" dirty="0"/>
          </a:p>
        </p:txBody>
      </p:sp>
      <p:pic>
        <p:nvPicPr>
          <p:cNvPr id="23554" name="Picture 2">
            <a:extLst>
              <a:ext uri="{FF2B5EF4-FFF2-40B4-BE49-F238E27FC236}">
                <a16:creationId xmlns:a16="http://schemas.microsoft.com/office/drawing/2014/main" id="{434992B5-5090-FE3D-75A4-726B83C8C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0075" y="1854200"/>
            <a:ext cx="5496813" cy="3950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7362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D482D-5F20-C23D-6DD2-AEBDDB7569D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54B9F53-677D-B4F1-1809-A8158F98722F}"/>
              </a:ext>
            </a:extLst>
          </p:cNvPr>
          <p:cNvPicPr>
            <a:picLocks noChangeAspect="1"/>
          </p:cNvPicPr>
          <p:nvPr/>
        </p:nvPicPr>
        <p:blipFill>
          <a:blip r:embed="rId2"/>
          <a:stretch>
            <a:fillRect/>
          </a:stretch>
        </p:blipFill>
        <p:spPr>
          <a:xfrm>
            <a:off x="3275601" y="2095668"/>
            <a:ext cx="7027054" cy="4216232"/>
          </a:xfrm>
          <a:prstGeom prst="rect">
            <a:avLst/>
          </a:prstGeom>
        </p:spPr>
      </p:pic>
      <p:sp>
        <p:nvSpPr>
          <p:cNvPr id="2" name="Title 1">
            <a:extLst>
              <a:ext uri="{FF2B5EF4-FFF2-40B4-BE49-F238E27FC236}">
                <a16:creationId xmlns:a16="http://schemas.microsoft.com/office/drawing/2014/main" id="{D290118D-5A9B-EC7A-5B70-53439351E35B}"/>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1581E023-2CA1-1E0F-0C5F-17A6DC48E49A}"/>
              </a:ext>
            </a:extLst>
          </p:cNvPr>
          <p:cNvSpPr>
            <a:spLocks noGrp="1"/>
          </p:cNvSpPr>
          <p:nvPr>
            <p:ph idx="1"/>
          </p:nvPr>
        </p:nvSpPr>
        <p:spPr/>
        <p:txBody>
          <a:bodyPr>
            <a:normAutofit/>
          </a:bodyPr>
          <a:lstStyle/>
          <a:p>
            <a:pPr marL="0" indent="0">
              <a:buNone/>
            </a:pPr>
            <a:r>
              <a:rPr lang="en-US" dirty="0"/>
              <a:t>Model</a:t>
            </a:r>
            <a:endParaRPr lang="he-IL" dirty="0"/>
          </a:p>
        </p:txBody>
      </p:sp>
      <p:sp>
        <p:nvSpPr>
          <p:cNvPr id="6" name="Rectangle 5">
            <a:extLst>
              <a:ext uri="{FF2B5EF4-FFF2-40B4-BE49-F238E27FC236}">
                <a16:creationId xmlns:a16="http://schemas.microsoft.com/office/drawing/2014/main" id="{3A40B3CF-35B8-47C8-63C0-2B6BF36C1BC3}"/>
              </a:ext>
            </a:extLst>
          </p:cNvPr>
          <p:cNvSpPr/>
          <p:nvPr/>
        </p:nvSpPr>
        <p:spPr>
          <a:xfrm>
            <a:off x="3709116" y="5072130"/>
            <a:ext cx="5061397" cy="395220"/>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Rectangle 6">
            <a:extLst>
              <a:ext uri="{FF2B5EF4-FFF2-40B4-BE49-F238E27FC236}">
                <a16:creationId xmlns:a16="http://schemas.microsoft.com/office/drawing/2014/main" id="{51D9B947-F066-B993-8305-10D04A93E800}"/>
              </a:ext>
            </a:extLst>
          </p:cNvPr>
          <p:cNvSpPr/>
          <p:nvPr/>
        </p:nvSpPr>
        <p:spPr>
          <a:xfrm>
            <a:off x="3709116" y="3966693"/>
            <a:ext cx="3863661" cy="231820"/>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1161976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EAAA1-6EFC-F94B-DE5C-0263D807D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10AE2-5F03-1B70-B22B-971965380267}"/>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D67EE7FB-637F-A79A-D5B7-7C12BAA2C88A}"/>
              </a:ext>
            </a:extLst>
          </p:cNvPr>
          <p:cNvSpPr>
            <a:spLocks noGrp="1"/>
          </p:cNvSpPr>
          <p:nvPr>
            <p:ph idx="1"/>
          </p:nvPr>
        </p:nvSpPr>
        <p:spPr/>
        <p:txBody>
          <a:bodyPr>
            <a:normAutofit/>
          </a:bodyPr>
          <a:lstStyle/>
          <a:p>
            <a:pPr marL="0" indent="0">
              <a:buNone/>
            </a:pPr>
            <a:r>
              <a:rPr lang="en-US" dirty="0"/>
              <a:t>Model</a:t>
            </a:r>
            <a:endParaRPr lang="he-IL" dirty="0"/>
          </a:p>
        </p:txBody>
      </p:sp>
      <p:pic>
        <p:nvPicPr>
          <p:cNvPr id="5" name="Picture 4">
            <a:extLst>
              <a:ext uri="{FF2B5EF4-FFF2-40B4-BE49-F238E27FC236}">
                <a16:creationId xmlns:a16="http://schemas.microsoft.com/office/drawing/2014/main" id="{BBB97C98-8B8E-6495-739E-B77F024851B1}"/>
              </a:ext>
            </a:extLst>
          </p:cNvPr>
          <p:cNvPicPr>
            <a:picLocks noChangeAspect="1"/>
          </p:cNvPicPr>
          <p:nvPr/>
        </p:nvPicPr>
        <p:blipFill>
          <a:blip r:embed="rId2"/>
          <a:stretch>
            <a:fillRect/>
          </a:stretch>
        </p:blipFill>
        <p:spPr>
          <a:xfrm>
            <a:off x="3152396" y="1690688"/>
            <a:ext cx="6221842" cy="4486275"/>
          </a:xfrm>
          <a:prstGeom prst="rect">
            <a:avLst/>
          </a:prstGeom>
        </p:spPr>
      </p:pic>
    </p:spTree>
    <p:extLst>
      <p:ext uri="{BB962C8B-B14F-4D97-AF65-F5344CB8AC3E}">
        <p14:creationId xmlns:p14="http://schemas.microsoft.com/office/powerpoint/2010/main" val="7757370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FB448-A6A4-A853-B835-FD9E48524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B1691-2991-8AA7-4563-859130480B67}"/>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3E0D952E-1E7F-7E1C-C750-612FF20D9420}"/>
              </a:ext>
            </a:extLst>
          </p:cNvPr>
          <p:cNvSpPr>
            <a:spLocks noGrp="1"/>
          </p:cNvSpPr>
          <p:nvPr>
            <p:ph idx="1"/>
          </p:nvPr>
        </p:nvSpPr>
        <p:spPr/>
        <p:txBody>
          <a:bodyPr>
            <a:normAutofit/>
          </a:bodyPr>
          <a:lstStyle/>
          <a:p>
            <a:pPr marL="0" indent="0">
              <a:buNone/>
            </a:pPr>
            <a:r>
              <a:rPr lang="en-US" dirty="0"/>
              <a:t>Prior predictive </a:t>
            </a:r>
            <a:endParaRPr lang="he-IL" dirty="0"/>
          </a:p>
        </p:txBody>
      </p:sp>
      <p:pic>
        <p:nvPicPr>
          <p:cNvPr id="24578" name="Picture 2">
            <a:extLst>
              <a:ext uri="{FF2B5EF4-FFF2-40B4-BE49-F238E27FC236}">
                <a16:creationId xmlns:a16="http://schemas.microsoft.com/office/drawing/2014/main" id="{B47E737C-423B-F9FD-EDE6-A5A45C2188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9963" y="1825625"/>
            <a:ext cx="6962775" cy="467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1108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1586-0A05-E578-6BB7-59B59E6F7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D6C3E-217F-E355-3A36-6D4889A68F25}"/>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0A12B5A3-6DAB-C356-E50A-F913EB2D46B0}"/>
              </a:ext>
            </a:extLst>
          </p:cNvPr>
          <p:cNvSpPr>
            <a:spLocks noGrp="1"/>
          </p:cNvSpPr>
          <p:nvPr>
            <p:ph idx="1"/>
          </p:nvPr>
        </p:nvSpPr>
        <p:spPr/>
        <p:txBody>
          <a:bodyPr>
            <a:normAutofit/>
          </a:bodyPr>
          <a:lstStyle/>
          <a:p>
            <a:pPr marL="0" indent="0">
              <a:buNone/>
            </a:pPr>
            <a:r>
              <a:rPr lang="en-US" dirty="0"/>
              <a:t>Diagnostics</a:t>
            </a:r>
            <a:endParaRPr lang="he-IL" dirty="0"/>
          </a:p>
        </p:txBody>
      </p:sp>
      <p:pic>
        <p:nvPicPr>
          <p:cNvPr id="5" name="Picture 4">
            <a:extLst>
              <a:ext uri="{FF2B5EF4-FFF2-40B4-BE49-F238E27FC236}">
                <a16:creationId xmlns:a16="http://schemas.microsoft.com/office/drawing/2014/main" id="{7AB5E31D-F345-00EB-2446-3512FD09123A}"/>
              </a:ext>
            </a:extLst>
          </p:cNvPr>
          <p:cNvPicPr>
            <a:picLocks noChangeAspect="1"/>
          </p:cNvPicPr>
          <p:nvPr/>
        </p:nvPicPr>
        <p:blipFill>
          <a:blip r:embed="rId2"/>
          <a:stretch>
            <a:fillRect/>
          </a:stretch>
        </p:blipFill>
        <p:spPr>
          <a:xfrm>
            <a:off x="838200" y="2844738"/>
            <a:ext cx="5416203" cy="2043238"/>
          </a:xfrm>
          <a:prstGeom prst="rect">
            <a:avLst/>
          </a:prstGeom>
        </p:spPr>
      </p:pic>
      <p:pic>
        <p:nvPicPr>
          <p:cNvPr id="25602" name="Picture 2">
            <a:extLst>
              <a:ext uri="{FF2B5EF4-FFF2-40B4-BE49-F238E27FC236}">
                <a16:creationId xmlns:a16="http://schemas.microsoft.com/office/drawing/2014/main" id="{A204B4CB-6C25-20F9-5BF1-93131101B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1950" y="1690688"/>
            <a:ext cx="5212541"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6074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C01B3-6A00-AE80-E3C1-64919B70F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34EDF-F7BF-1519-FBB8-F3D3E9911B88}"/>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AD5C7C67-677D-DE03-3522-A4B03F5EFD04}"/>
              </a:ext>
            </a:extLst>
          </p:cNvPr>
          <p:cNvSpPr>
            <a:spLocks noGrp="1"/>
          </p:cNvSpPr>
          <p:nvPr>
            <p:ph idx="1"/>
          </p:nvPr>
        </p:nvSpPr>
        <p:spPr/>
        <p:txBody>
          <a:bodyPr>
            <a:normAutofit/>
          </a:bodyPr>
          <a:lstStyle/>
          <a:p>
            <a:pPr marL="0" indent="0">
              <a:buNone/>
            </a:pPr>
            <a:r>
              <a:rPr lang="en-US" dirty="0"/>
              <a:t>Posterior predictive</a:t>
            </a:r>
            <a:endParaRPr lang="he-IL" dirty="0"/>
          </a:p>
        </p:txBody>
      </p:sp>
      <p:pic>
        <p:nvPicPr>
          <p:cNvPr id="26626" name="Picture 2">
            <a:extLst>
              <a:ext uri="{FF2B5EF4-FFF2-40B4-BE49-F238E27FC236}">
                <a16:creationId xmlns:a16="http://schemas.microsoft.com/office/drawing/2014/main" id="{9358EC52-947E-C53A-B69C-969D853B38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3313" y="2181225"/>
            <a:ext cx="6962775" cy="467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6008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DA5D0-DAD4-A5E9-7530-A15B34BCC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21AA2-E90E-FD42-F016-A02A6B20E3C4}"/>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34AF991F-3D98-9760-9B7B-4486029F1ABB}"/>
              </a:ext>
            </a:extLst>
          </p:cNvPr>
          <p:cNvSpPr>
            <a:spLocks noGrp="1"/>
          </p:cNvSpPr>
          <p:nvPr>
            <p:ph idx="1"/>
          </p:nvPr>
        </p:nvSpPr>
        <p:spPr/>
        <p:txBody>
          <a:bodyPr>
            <a:normAutofit/>
          </a:bodyPr>
          <a:lstStyle/>
          <a:p>
            <a:pPr marL="0" indent="0">
              <a:buNone/>
            </a:pPr>
            <a:r>
              <a:rPr lang="en-US" dirty="0"/>
              <a:t>Posterior effect size</a:t>
            </a:r>
            <a:endParaRPr lang="he-IL" dirty="0"/>
          </a:p>
        </p:txBody>
      </p:sp>
      <p:pic>
        <p:nvPicPr>
          <p:cNvPr id="5" name="Picture 4">
            <a:extLst>
              <a:ext uri="{FF2B5EF4-FFF2-40B4-BE49-F238E27FC236}">
                <a16:creationId xmlns:a16="http://schemas.microsoft.com/office/drawing/2014/main" id="{AFE223C9-233F-0F60-B08C-24E82190153E}"/>
              </a:ext>
            </a:extLst>
          </p:cNvPr>
          <p:cNvPicPr>
            <a:picLocks noChangeAspect="1"/>
          </p:cNvPicPr>
          <p:nvPr/>
        </p:nvPicPr>
        <p:blipFill>
          <a:blip r:embed="rId3"/>
          <a:srcRect t="38416" r="14085"/>
          <a:stretch>
            <a:fillRect/>
          </a:stretch>
        </p:blipFill>
        <p:spPr>
          <a:xfrm>
            <a:off x="488006" y="2569450"/>
            <a:ext cx="6034387" cy="3145768"/>
          </a:xfrm>
          <a:prstGeom prst="rect">
            <a:avLst/>
          </a:prstGeom>
        </p:spPr>
      </p:pic>
      <p:pic>
        <p:nvPicPr>
          <p:cNvPr id="27650" name="Picture 2">
            <a:extLst>
              <a:ext uri="{FF2B5EF4-FFF2-40B4-BE49-F238E27FC236}">
                <a16:creationId xmlns:a16="http://schemas.microsoft.com/office/drawing/2014/main" id="{6FB3028E-1F0D-E12E-AB47-2BA60032BDD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9794"/>
          <a:stretch>
            <a:fillRect/>
          </a:stretch>
        </p:blipFill>
        <p:spPr bwMode="auto">
          <a:xfrm>
            <a:off x="7958438" y="1376772"/>
            <a:ext cx="3752226" cy="252431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319BC4B3-E0EA-6091-6805-24F08FD0F46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883"/>
          <a:stretch>
            <a:fillRect/>
          </a:stretch>
        </p:blipFill>
        <p:spPr bwMode="auto">
          <a:xfrm>
            <a:off x="7958438" y="3968558"/>
            <a:ext cx="3745556" cy="2524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7206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9C9FA-02BA-37A8-52D9-FDFBF5894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20A77-3889-0F49-2991-ED593A4E456E}"/>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0F669266-CE05-B1B4-6F63-FA0E4A51CF66}"/>
              </a:ext>
            </a:extLst>
          </p:cNvPr>
          <p:cNvSpPr>
            <a:spLocks noGrp="1"/>
          </p:cNvSpPr>
          <p:nvPr>
            <p:ph idx="1"/>
          </p:nvPr>
        </p:nvSpPr>
        <p:spPr/>
        <p:txBody>
          <a:bodyPr>
            <a:normAutofit/>
          </a:bodyPr>
          <a:lstStyle/>
          <a:p>
            <a:pPr marL="0" indent="0">
              <a:buNone/>
            </a:pPr>
            <a:r>
              <a:rPr lang="en-US" dirty="0"/>
              <a:t>Posterior</a:t>
            </a:r>
            <a:endParaRPr lang="he-IL" dirty="0"/>
          </a:p>
        </p:txBody>
      </p:sp>
      <p:pic>
        <p:nvPicPr>
          <p:cNvPr id="28674" name="Picture 2">
            <a:extLst>
              <a:ext uri="{FF2B5EF4-FFF2-40B4-BE49-F238E27FC236}">
                <a16:creationId xmlns:a16="http://schemas.microsoft.com/office/drawing/2014/main" id="{BECB5A54-A69A-BABF-2BF4-64840B26A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8113" y="1690688"/>
            <a:ext cx="6962775" cy="46767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CBF57AA9-E0CF-C85C-B649-701B38898E16}"/>
              </a:ext>
            </a:extLst>
          </p:cNvPr>
          <p:cNvPicPr>
            <a:picLocks noChangeAspect="1"/>
          </p:cNvPicPr>
          <p:nvPr/>
        </p:nvPicPr>
        <p:blipFill>
          <a:blip r:embed="rId4"/>
          <a:stretch>
            <a:fillRect/>
          </a:stretch>
        </p:blipFill>
        <p:spPr>
          <a:xfrm>
            <a:off x="738016" y="2893934"/>
            <a:ext cx="3210097" cy="2214719"/>
          </a:xfrm>
          <a:prstGeom prst="rect">
            <a:avLst/>
          </a:prstGeom>
        </p:spPr>
      </p:pic>
    </p:spTree>
    <p:extLst>
      <p:ext uri="{BB962C8B-B14F-4D97-AF65-F5344CB8AC3E}">
        <p14:creationId xmlns:p14="http://schemas.microsoft.com/office/powerpoint/2010/main" val="20315204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1BDF0-A090-8F06-D75E-336F7781B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32AE15-41EA-1E7B-B71D-AC8BDEE7E8AC}"/>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87959EB9-DD13-7878-069C-2F82CD891BC3}"/>
              </a:ext>
            </a:extLst>
          </p:cNvPr>
          <p:cNvSpPr>
            <a:spLocks noGrp="1"/>
          </p:cNvSpPr>
          <p:nvPr>
            <p:ph idx="1"/>
          </p:nvPr>
        </p:nvSpPr>
        <p:spPr/>
        <p:txBody>
          <a:bodyPr>
            <a:normAutofit/>
          </a:bodyPr>
          <a:lstStyle/>
          <a:p>
            <a:pPr marL="0" indent="0">
              <a:buNone/>
            </a:pPr>
            <a:r>
              <a:rPr lang="en-US" dirty="0"/>
              <a:t>ROPE\HDI test</a:t>
            </a:r>
            <a:endParaRPr lang="he-IL" dirty="0"/>
          </a:p>
        </p:txBody>
      </p:sp>
      <p:pic>
        <p:nvPicPr>
          <p:cNvPr id="5" name="Picture 4">
            <a:extLst>
              <a:ext uri="{FF2B5EF4-FFF2-40B4-BE49-F238E27FC236}">
                <a16:creationId xmlns:a16="http://schemas.microsoft.com/office/drawing/2014/main" id="{5D03A976-A299-CF0E-0FCC-EAC3B9B25295}"/>
              </a:ext>
            </a:extLst>
          </p:cNvPr>
          <p:cNvPicPr>
            <a:picLocks noChangeAspect="1"/>
          </p:cNvPicPr>
          <p:nvPr/>
        </p:nvPicPr>
        <p:blipFill>
          <a:blip r:embed="rId3"/>
          <a:stretch>
            <a:fillRect/>
          </a:stretch>
        </p:blipFill>
        <p:spPr>
          <a:xfrm>
            <a:off x="838200" y="3039611"/>
            <a:ext cx="10927566" cy="1923365"/>
          </a:xfrm>
          <a:prstGeom prst="rect">
            <a:avLst/>
          </a:prstGeom>
        </p:spPr>
      </p:pic>
    </p:spTree>
    <p:extLst>
      <p:ext uri="{BB962C8B-B14F-4D97-AF65-F5344CB8AC3E}">
        <p14:creationId xmlns:p14="http://schemas.microsoft.com/office/powerpoint/2010/main" val="10777214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F474-3CE0-4893-B452-204FC1269E64}"/>
              </a:ext>
            </a:extLst>
          </p:cNvPr>
          <p:cNvSpPr>
            <a:spLocks noGrp="1"/>
          </p:cNvSpPr>
          <p:nvPr>
            <p:ph type="title"/>
          </p:nvPr>
        </p:nvSpPr>
        <p:spPr/>
        <p:txBody>
          <a:bodyPr/>
          <a:lstStyle/>
          <a:p>
            <a:r>
              <a:rPr lang="en-US" dirty="0"/>
              <a:t>Bayesian group model with </a:t>
            </a:r>
            <a:r>
              <a:rPr lang="en-US" b="1" dirty="0"/>
              <a:t>separate</a:t>
            </a:r>
            <a:r>
              <a:rPr lang="en-US" dirty="0"/>
              <a:t> sigma</a:t>
            </a:r>
            <a:endParaRPr lang="he-IL" dirty="0"/>
          </a:p>
        </p:txBody>
      </p:sp>
      <p:sp>
        <p:nvSpPr>
          <p:cNvPr id="3" name="Content Placeholder 2">
            <a:extLst>
              <a:ext uri="{FF2B5EF4-FFF2-40B4-BE49-F238E27FC236}">
                <a16:creationId xmlns:a16="http://schemas.microsoft.com/office/drawing/2014/main" id="{BA525BDC-A1FF-A69F-5E2E-98915AA7309D}"/>
              </a:ext>
            </a:extLst>
          </p:cNvPr>
          <p:cNvSpPr>
            <a:spLocks noGrp="1"/>
          </p:cNvSpPr>
          <p:nvPr>
            <p:ph idx="1"/>
          </p:nvPr>
        </p:nvSpPr>
        <p:spPr/>
        <p:txBody>
          <a:bodyPr/>
          <a:lstStyle/>
          <a:p>
            <a:r>
              <a:rPr lang="en-US" dirty="0"/>
              <a:t>What if the different groups had different sigma’s?</a:t>
            </a:r>
            <a:br>
              <a:rPr lang="en-US" dirty="0"/>
            </a:br>
            <a:endParaRPr lang="he-IL" dirty="0"/>
          </a:p>
        </p:txBody>
      </p:sp>
    </p:spTree>
    <p:extLst>
      <p:ext uri="{BB962C8B-B14F-4D97-AF65-F5344CB8AC3E}">
        <p14:creationId xmlns:p14="http://schemas.microsoft.com/office/powerpoint/2010/main" val="34027323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52357-42D7-9C44-7E61-240652E5764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E3596C8-7FE5-92A5-F862-088D4E62E78E}"/>
              </a:ext>
            </a:extLst>
          </p:cNvPr>
          <p:cNvPicPr>
            <a:picLocks noChangeAspect="1"/>
          </p:cNvPicPr>
          <p:nvPr/>
        </p:nvPicPr>
        <p:blipFill>
          <a:blip r:embed="rId2"/>
          <a:stretch>
            <a:fillRect/>
          </a:stretch>
        </p:blipFill>
        <p:spPr>
          <a:xfrm>
            <a:off x="2326580" y="2281791"/>
            <a:ext cx="7639284" cy="3895172"/>
          </a:xfrm>
          <a:prstGeom prst="rect">
            <a:avLst/>
          </a:prstGeom>
        </p:spPr>
      </p:pic>
      <p:sp>
        <p:nvSpPr>
          <p:cNvPr id="2" name="Title 1">
            <a:extLst>
              <a:ext uri="{FF2B5EF4-FFF2-40B4-BE49-F238E27FC236}">
                <a16:creationId xmlns:a16="http://schemas.microsoft.com/office/drawing/2014/main" id="{97320433-0237-B6A7-8111-AB4A0D6FC92E}"/>
              </a:ext>
            </a:extLst>
          </p:cNvPr>
          <p:cNvSpPr>
            <a:spLocks noGrp="1"/>
          </p:cNvSpPr>
          <p:nvPr>
            <p:ph type="title"/>
          </p:nvPr>
        </p:nvSpPr>
        <p:spPr/>
        <p:txBody>
          <a:bodyPr/>
          <a:lstStyle/>
          <a:p>
            <a:r>
              <a:rPr lang="en-US" dirty="0"/>
              <a:t>Bayesian group model with </a:t>
            </a:r>
            <a:r>
              <a:rPr lang="en-US" b="1" dirty="0"/>
              <a:t>separate</a:t>
            </a:r>
            <a:r>
              <a:rPr lang="en-US" dirty="0"/>
              <a:t> sigma</a:t>
            </a:r>
            <a:endParaRPr lang="he-IL" dirty="0"/>
          </a:p>
        </p:txBody>
      </p:sp>
      <p:sp>
        <p:nvSpPr>
          <p:cNvPr id="3" name="Content Placeholder 2">
            <a:extLst>
              <a:ext uri="{FF2B5EF4-FFF2-40B4-BE49-F238E27FC236}">
                <a16:creationId xmlns:a16="http://schemas.microsoft.com/office/drawing/2014/main" id="{5AA559B1-9559-265E-FF8A-2CBD6C491D0F}"/>
              </a:ext>
            </a:extLst>
          </p:cNvPr>
          <p:cNvSpPr>
            <a:spLocks noGrp="1"/>
          </p:cNvSpPr>
          <p:nvPr>
            <p:ph idx="1"/>
          </p:nvPr>
        </p:nvSpPr>
        <p:spPr/>
        <p:txBody>
          <a:bodyPr/>
          <a:lstStyle/>
          <a:p>
            <a:r>
              <a:rPr lang="en-US" dirty="0"/>
              <a:t>Model</a:t>
            </a:r>
            <a:br>
              <a:rPr lang="en-US" dirty="0"/>
            </a:br>
            <a:endParaRPr lang="he-IL" dirty="0"/>
          </a:p>
        </p:txBody>
      </p:sp>
      <p:sp>
        <p:nvSpPr>
          <p:cNvPr id="6" name="Rectangle 5">
            <a:extLst>
              <a:ext uri="{FF2B5EF4-FFF2-40B4-BE49-F238E27FC236}">
                <a16:creationId xmlns:a16="http://schemas.microsoft.com/office/drawing/2014/main" id="{E80FCF5A-CD8A-2AB1-698E-90CE717C8CC7}"/>
              </a:ext>
            </a:extLst>
          </p:cNvPr>
          <p:cNvSpPr/>
          <p:nvPr/>
        </p:nvSpPr>
        <p:spPr>
          <a:xfrm>
            <a:off x="2728175" y="3429000"/>
            <a:ext cx="6246253" cy="338070"/>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Rectangle 6">
            <a:extLst>
              <a:ext uri="{FF2B5EF4-FFF2-40B4-BE49-F238E27FC236}">
                <a16:creationId xmlns:a16="http://schemas.microsoft.com/office/drawing/2014/main" id="{D95BA93A-E9D0-E562-B7E3-007591107BDD}"/>
              </a:ext>
            </a:extLst>
          </p:cNvPr>
          <p:cNvSpPr/>
          <p:nvPr/>
        </p:nvSpPr>
        <p:spPr>
          <a:xfrm>
            <a:off x="2728175" y="4705350"/>
            <a:ext cx="7483179" cy="838200"/>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6373468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4B640-F128-AB1A-D293-619956ED8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85908-66BD-4C7A-91E2-DB738BF7399C}"/>
              </a:ext>
            </a:extLst>
          </p:cNvPr>
          <p:cNvSpPr>
            <a:spLocks noGrp="1"/>
          </p:cNvSpPr>
          <p:nvPr>
            <p:ph type="title"/>
          </p:nvPr>
        </p:nvSpPr>
        <p:spPr/>
        <p:txBody>
          <a:bodyPr/>
          <a:lstStyle/>
          <a:p>
            <a:r>
              <a:rPr lang="en-US" dirty="0"/>
              <a:t>Bayesian group model with </a:t>
            </a:r>
            <a:r>
              <a:rPr lang="en-US" b="1" dirty="0"/>
              <a:t>separate</a:t>
            </a:r>
            <a:r>
              <a:rPr lang="en-US" dirty="0"/>
              <a:t> sigma</a:t>
            </a:r>
            <a:endParaRPr lang="he-IL" dirty="0"/>
          </a:p>
        </p:txBody>
      </p:sp>
      <p:sp>
        <p:nvSpPr>
          <p:cNvPr id="3" name="Content Placeholder 2">
            <a:extLst>
              <a:ext uri="{FF2B5EF4-FFF2-40B4-BE49-F238E27FC236}">
                <a16:creationId xmlns:a16="http://schemas.microsoft.com/office/drawing/2014/main" id="{96118FA8-2413-F52D-056D-B1AF883CED9C}"/>
              </a:ext>
            </a:extLst>
          </p:cNvPr>
          <p:cNvSpPr>
            <a:spLocks noGrp="1"/>
          </p:cNvSpPr>
          <p:nvPr>
            <p:ph idx="1"/>
          </p:nvPr>
        </p:nvSpPr>
        <p:spPr/>
        <p:txBody>
          <a:bodyPr/>
          <a:lstStyle/>
          <a:p>
            <a:r>
              <a:rPr lang="en-US" dirty="0"/>
              <a:t>Model</a:t>
            </a:r>
            <a:br>
              <a:rPr lang="en-US" dirty="0"/>
            </a:br>
            <a:endParaRPr lang="he-IL" dirty="0"/>
          </a:p>
        </p:txBody>
      </p:sp>
      <p:pic>
        <p:nvPicPr>
          <p:cNvPr id="5" name="Picture 4">
            <a:extLst>
              <a:ext uri="{FF2B5EF4-FFF2-40B4-BE49-F238E27FC236}">
                <a16:creationId xmlns:a16="http://schemas.microsoft.com/office/drawing/2014/main" id="{77B6AF2D-8F5A-DEBB-F339-7DC6C4155461}"/>
              </a:ext>
            </a:extLst>
          </p:cNvPr>
          <p:cNvPicPr>
            <a:picLocks noChangeAspect="1"/>
          </p:cNvPicPr>
          <p:nvPr/>
        </p:nvPicPr>
        <p:blipFill>
          <a:blip r:embed="rId2"/>
          <a:stretch>
            <a:fillRect/>
          </a:stretch>
        </p:blipFill>
        <p:spPr>
          <a:xfrm>
            <a:off x="3280945" y="2005528"/>
            <a:ext cx="5973009" cy="3991532"/>
          </a:xfrm>
          <a:prstGeom prst="rect">
            <a:avLst/>
          </a:prstGeom>
        </p:spPr>
      </p:pic>
    </p:spTree>
    <p:extLst>
      <p:ext uri="{BB962C8B-B14F-4D97-AF65-F5344CB8AC3E}">
        <p14:creationId xmlns:p14="http://schemas.microsoft.com/office/powerpoint/2010/main" val="27266156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33CFE-5254-CB10-6F8D-36745C49B79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70C89EB-2D5A-A6E0-D58D-4235E704F58B}"/>
              </a:ext>
            </a:extLst>
          </p:cNvPr>
          <p:cNvPicPr>
            <a:picLocks noChangeAspect="1"/>
          </p:cNvPicPr>
          <p:nvPr/>
        </p:nvPicPr>
        <p:blipFill>
          <a:blip r:embed="rId2"/>
          <a:stretch>
            <a:fillRect/>
          </a:stretch>
        </p:blipFill>
        <p:spPr>
          <a:xfrm>
            <a:off x="675320" y="3017786"/>
            <a:ext cx="4998913" cy="3604479"/>
          </a:xfrm>
          <a:prstGeom prst="rect">
            <a:avLst/>
          </a:prstGeom>
        </p:spPr>
      </p:pic>
      <p:pic>
        <p:nvPicPr>
          <p:cNvPr id="8" name="Picture 7">
            <a:extLst>
              <a:ext uri="{FF2B5EF4-FFF2-40B4-BE49-F238E27FC236}">
                <a16:creationId xmlns:a16="http://schemas.microsoft.com/office/drawing/2014/main" id="{0EFFB4ED-C166-39D1-9CEB-895D38DF4A98}"/>
              </a:ext>
            </a:extLst>
          </p:cNvPr>
          <p:cNvPicPr>
            <a:picLocks noChangeAspect="1"/>
          </p:cNvPicPr>
          <p:nvPr/>
        </p:nvPicPr>
        <p:blipFill>
          <a:blip r:embed="rId3"/>
          <a:stretch>
            <a:fillRect/>
          </a:stretch>
        </p:blipFill>
        <p:spPr>
          <a:xfrm>
            <a:off x="6096000" y="3017786"/>
            <a:ext cx="5393816" cy="3604479"/>
          </a:xfrm>
          <a:prstGeom prst="rect">
            <a:avLst/>
          </a:prstGeom>
        </p:spPr>
      </p:pic>
      <p:sp>
        <p:nvSpPr>
          <p:cNvPr id="2" name="Title 1">
            <a:extLst>
              <a:ext uri="{FF2B5EF4-FFF2-40B4-BE49-F238E27FC236}">
                <a16:creationId xmlns:a16="http://schemas.microsoft.com/office/drawing/2014/main" id="{FC8B4022-61BA-18E7-9403-7D9D1CA9EEC2}"/>
              </a:ext>
            </a:extLst>
          </p:cNvPr>
          <p:cNvSpPr>
            <a:spLocks noGrp="1"/>
          </p:cNvSpPr>
          <p:nvPr>
            <p:ph type="title"/>
          </p:nvPr>
        </p:nvSpPr>
        <p:spPr/>
        <p:txBody>
          <a:bodyPr/>
          <a:lstStyle/>
          <a:p>
            <a:r>
              <a:rPr lang="en-US" dirty="0"/>
              <a:t>Bayesian group model with </a:t>
            </a:r>
            <a:r>
              <a:rPr lang="en-US" b="1" dirty="0"/>
              <a:t>separate</a:t>
            </a:r>
            <a:r>
              <a:rPr lang="en-US" dirty="0"/>
              <a:t> sigma</a:t>
            </a:r>
            <a:endParaRPr lang="he-IL" dirty="0"/>
          </a:p>
        </p:txBody>
      </p:sp>
      <p:sp>
        <p:nvSpPr>
          <p:cNvPr id="3" name="Content Placeholder 2">
            <a:extLst>
              <a:ext uri="{FF2B5EF4-FFF2-40B4-BE49-F238E27FC236}">
                <a16:creationId xmlns:a16="http://schemas.microsoft.com/office/drawing/2014/main" id="{9682B46B-D03A-F2BC-445B-721C3EB7D44D}"/>
              </a:ext>
            </a:extLst>
          </p:cNvPr>
          <p:cNvSpPr>
            <a:spLocks noGrp="1"/>
          </p:cNvSpPr>
          <p:nvPr>
            <p:ph idx="1"/>
          </p:nvPr>
        </p:nvSpPr>
        <p:spPr/>
        <p:txBody>
          <a:bodyPr/>
          <a:lstStyle/>
          <a:p>
            <a:r>
              <a:rPr lang="en-US" dirty="0"/>
              <a:t>Model</a:t>
            </a:r>
            <a:br>
              <a:rPr lang="en-US" dirty="0"/>
            </a:br>
            <a:br>
              <a:rPr lang="en-US" dirty="0"/>
            </a:br>
            <a:r>
              <a:rPr lang="en-US" dirty="0"/>
              <a:t>grouped sigma                                                            separate sigma</a:t>
            </a:r>
          </a:p>
        </p:txBody>
      </p:sp>
      <p:sp>
        <p:nvSpPr>
          <p:cNvPr id="5" name="Rectangle 4">
            <a:extLst>
              <a:ext uri="{FF2B5EF4-FFF2-40B4-BE49-F238E27FC236}">
                <a16:creationId xmlns:a16="http://schemas.microsoft.com/office/drawing/2014/main" id="{DCC2C4FF-9981-1FAD-CFF1-0F9F9A0A708F}"/>
              </a:ext>
            </a:extLst>
          </p:cNvPr>
          <p:cNvSpPr/>
          <p:nvPr/>
        </p:nvSpPr>
        <p:spPr>
          <a:xfrm>
            <a:off x="4384663" y="3180814"/>
            <a:ext cx="1357578" cy="1275008"/>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Rectangle 5">
            <a:extLst>
              <a:ext uri="{FF2B5EF4-FFF2-40B4-BE49-F238E27FC236}">
                <a16:creationId xmlns:a16="http://schemas.microsoft.com/office/drawing/2014/main" id="{898C0207-8904-F5E3-4908-9F21A362FFC7}"/>
              </a:ext>
            </a:extLst>
          </p:cNvPr>
          <p:cNvSpPr/>
          <p:nvPr/>
        </p:nvSpPr>
        <p:spPr>
          <a:xfrm>
            <a:off x="9527718" y="3180814"/>
            <a:ext cx="1457459" cy="1275008"/>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418948030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61C2C-D8F5-C673-A8FF-AD67DA61F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61427-0347-6037-4389-242431A4C3C6}"/>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E09797BE-EEF4-D286-FD42-BCC0E4A7848C}"/>
              </a:ext>
            </a:extLst>
          </p:cNvPr>
          <p:cNvSpPr>
            <a:spLocks noGrp="1"/>
          </p:cNvSpPr>
          <p:nvPr>
            <p:ph idx="1"/>
          </p:nvPr>
        </p:nvSpPr>
        <p:spPr>
          <a:xfrm>
            <a:off x="838200" y="1690688"/>
            <a:ext cx="10515600" cy="4351338"/>
          </a:xfrm>
        </p:spPr>
        <p:txBody>
          <a:bodyPr>
            <a:normAutofit/>
          </a:bodyPr>
          <a:lstStyle/>
          <a:p>
            <a:pPr marL="0" indent="0">
              <a:buNone/>
            </a:pPr>
            <a:r>
              <a:rPr lang="en-US" dirty="0"/>
              <a:t>Posterior predictive</a:t>
            </a:r>
            <a:br>
              <a:rPr lang="en-US" dirty="0"/>
            </a:br>
            <a:br>
              <a:rPr lang="en-US" dirty="0"/>
            </a:br>
            <a:r>
              <a:rPr lang="en-US" dirty="0"/>
              <a:t>                  </a:t>
            </a:r>
            <a:r>
              <a:rPr lang="en-US" sz="2400" dirty="0"/>
              <a:t>grouped sigma                                                                 separate sigma</a:t>
            </a:r>
          </a:p>
          <a:p>
            <a:pPr marL="0" indent="0">
              <a:buNone/>
            </a:pPr>
            <a:endParaRPr lang="he-IL" dirty="0"/>
          </a:p>
        </p:txBody>
      </p:sp>
      <p:pic>
        <p:nvPicPr>
          <p:cNvPr id="29698" name="Picture 2">
            <a:extLst>
              <a:ext uri="{FF2B5EF4-FFF2-40B4-BE49-F238E27FC236}">
                <a16:creationId xmlns:a16="http://schemas.microsoft.com/office/drawing/2014/main" id="{D3B8C77C-92C7-EAA9-9A6E-3BB7C1F66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4931" y="3016251"/>
            <a:ext cx="5485607" cy="368458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8D7D2DA7-0331-3308-9155-9C06EE1453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392" y="3016251"/>
            <a:ext cx="5485608" cy="3684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8423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DF76A-13BD-67A9-676A-8AFD6B43A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33FDC-8F94-5A87-FD5F-4443A064D1A1}"/>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24E914BA-4105-82C3-712B-1F3D0FBD2C6D}"/>
              </a:ext>
            </a:extLst>
          </p:cNvPr>
          <p:cNvSpPr>
            <a:spLocks noGrp="1"/>
          </p:cNvSpPr>
          <p:nvPr>
            <p:ph idx="1"/>
          </p:nvPr>
        </p:nvSpPr>
        <p:spPr/>
        <p:txBody>
          <a:bodyPr>
            <a:normAutofit/>
          </a:bodyPr>
          <a:lstStyle/>
          <a:p>
            <a:pPr marL="0" indent="0">
              <a:buNone/>
            </a:pPr>
            <a:r>
              <a:rPr lang="en-US" dirty="0"/>
              <a:t>Posterior predictive</a:t>
            </a:r>
            <a:endParaRPr lang="he-IL" dirty="0"/>
          </a:p>
          <a:p>
            <a:pPr marL="0" indent="0">
              <a:buNone/>
            </a:pPr>
            <a:r>
              <a:rPr lang="en-US" dirty="0"/>
              <a:t> </a:t>
            </a:r>
            <a:r>
              <a:rPr lang="he-IL" dirty="0"/>
              <a:t>    </a:t>
            </a:r>
            <a:r>
              <a:rPr lang="en-US" dirty="0"/>
              <a:t>grouped sigma                                                            separate sigma</a:t>
            </a:r>
            <a:endParaRPr lang="he-IL" dirty="0"/>
          </a:p>
        </p:txBody>
      </p:sp>
      <p:pic>
        <p:nvPicPr>
          <p:cNvPr id="31746" name="Picture 2">
            <a:extLst>
              <a:ext uri="{FF2B5EF4-FFF2-40B4-BE49-F238E27FC236}">
                <a16:creationId xmlns:a16="http://schemas.microsoft.com/office/drawing/2014/main" id="{4BA90D8F-A119-FBF7-0D87-5DE99C2125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9530" y="2932386"/>
            <a:ext cx="5315031" cy="35700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7D5A4497-3D52-648A-B7B9-3BAAC559E5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458" y="2932386"/>
            <a:ext cx="5315031" cy="3570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12943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18184-BDBE-3F31-3054-1919D3F4A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29E97-AEC0-8DCF-4204-1D850D6578B7}"/>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77C6B6F2-DB0E-78B5-E934-985485E39D9E}"/>
              </a:ext>
            </a:extLst>
          </p:cNvPr>
          <p:cNvSpPr>
            <a:spLocks noGrp="1"/>
          </p:cNvSpPr>
          <p:nvPr>
            <p:ph idx="1"/>
          </p:nvPr>
        </p:nvSpPr>
        <p:spPr>
          <a:xfrm>
            <a:off x="838200" y="1825624"/>
            <a:ext cx="10515600" cy="4561527"/>
          </a:xfrm>
        </p:spPr>
        <p:txBody>
          <a:bodyPr>
            <a:normAutofit/>
          </a:bodyPr>
          <a:lstStyle/>
          <a:p>
            <a:r>
              <a:rPr lang="en-US" dirty="0"/>
              <a:t>In this dataset, the posterior mean difference is almost identical in both models</a:t>
            </a:r>
            <a:r>
              <a:rPr lang="he-IL" dirty="0"/>
              <a:t>.</a:t>
            </a:r>
          </a:p>
          <a:p>
            <a:r>
              <a:rPr lang="en-US" dirty="0"/>
              <a:t>The conclusion that males have higher weight is not sensitive to whether we assume equal or unequal variances.</a:t>
            </a:r>
          </a:p>
          <a:p>
            <a:endParaRPr lang="en-US" dirty="0"/>
          </a:p>
          <a:p>
            <a:endParaRPr lang="en-US" dirty="0"/>
          </a:p>
          <a:p>
            <a:endParaRPr lang="en-US" dirty="0"/>
          </a:p>
          <a:p>
            <a:pPr marL="0" indent="0">
              <a:buNone/>
            </a:pPr>
            <a:endParaRPr lang="he-IL" dirty="0"/>
          </a:p>
        </p:txBody>
      </p:sp>
      <p:pic>
        <p:nvPicPr>
          <p:cNvPr id="5" name="Picture 4">
            <a:extLst>
              <a:ext uri="{FF2B5EF4-FFF2-40B4-BE49-F238E27FC236}">
                <a16:creationId xmlns:a16="http://schemas.microsoft.com/office/drawing/2014/main" id="{715C0CD2-5D82-32B1-28E1-BF945E046855}"/>
              </a:ext>
            </a:extLst>
          </p:cNvPr>
          <p:cNvPicPr>
            <a:picLocks noChangeAspect="1"/>
          </p:cNvPicPr>
          <p:nvPr/>
        </p:nvPicPr>
        <p:blipFill>
          <a:blip r:embed="rId3"/>
          <a:stretch>
            <a:fillRect/>
          </a:stretch>
        </p:blipFill>
        <p:spPr>
          <a:xfrm>
            <a:off x="1827964" y="3896250"/>
            <a:ext cx="8536072" cy="2490901"/>
          </a:xfrm>
          <a:prstGeom prst="rect">
            <a:avLst/>
          </a:prstGeom>
        </p:spPr>
      </p:pic>
    </p:spTree>
    <p:extLst>
      <p:ext uri="{BB962C8B-B14F-4D97-AF65-F5344CB8AC3E}">
        <p14:creationId xmlns:p14="http://schemas.microsoft.com/office/powerpoint/2010/main" val="9999199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BE998-2A1B-FB67-631D-A7E46E09A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71BD6-810F-2F46-65D7-FD3F54519105}"/>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B390CB-9D4A-5E03-6CC2-00B22466D222}"/>
                  </a:ext>
                </a:extLst>
              </p:cNvPr>
              <p:cNvSpPr>
                <a:spLocks noGrp="1"/>
              </p:cNvSpPr>
              <p:nvPr>
                <p:ph idx="1"/>
              </p:nvPr>
            </p:nvSpPr>
            <p:spPr>
              <a:xfrm>
                <a:off x="838200" y="1825625"/>
                <a:ext cx="4094408" cy="4351338"/>
              </a:xfrm>
            </p:spPr>
            <p:txBody>
              <a:bodyPr>
                <a:normAutofit lnSpcReduction="10000"/>
              </a:bodyPr>
              <a:lstStyle/>
              <a:p>
                <a:pPr marL="0" indent="0">
                  <a:buNone/>
                </a:pPr>
                <a:r>
                  <a:rPr lang="en-US" dirty="0"/>
                  <a:t>Posterior</a:t>
                </a:r>
              </a:p>
              <a:p>
                <a:r>
                  <a:rPr lang="en-US" sz="2400" dirty="0"/>
                  <a:t>The separate</a:t>
                </a:r>
                <a:r>
                  <a:rPr lang="he-IL" sz="2400" dirty="0"/>
                  <a:t> </a:t>
                </a:r>
                <a14:m>
                  <m:oMath xmlns:m="http://schemas.openxmlformats.org/officeDocument/2006/math">
                    <m:r>
                      <a:rPr lang="en-US" sz="2400" i="1" dirty="0">
                        <a:latin typeface="Cambria Math" panose="02040503050406030204" pitchFamily="18" charset="0"/>
                        <a:ea typeface="Cambria Math" panose="02040503050406030204" pitchFamily="18" charset="0"/>
                      </a:rPr>
                      <m:t>𝜎</m:t>
                    </m:r>
                    <m:r>
                      <a:rPr lang="he-IL" sz="2400" i="1" dirty="0">
                        <a:latin typeface="Cambria Math" panose="02040503050406030204" pitchFamily="18" charset="0"/>
                        <a:ea typeface="Cambria Math" panose="02040503050406030204" pitchFamily="18" charset="0"/>
                      </a:rPr>
                      <m:t> </m:t>
                    </m:r>
                  </m:oMath>
                </a14:m>
                <a:r>
                  <a:rPr lang="en-US" sz="2400" dirty="0"/>
                  <a:t>model adds information about variability. </a:t>
                </a:r>
                <a:endParaRPr lang="he-IL" sz="2400" dirty="0"/>
              </a:p>
              <a:p>
                <a:r>
                  <a:rPr lang="en-US" sz="2400" dirty="0"/>
                  <a:t>The posterior estimate of </a:t>
                </a:r>
                <a14:m>
                  <m:oMath xmlns:m="http://schemas.openxmlformats.org/officeDocument/2006/math">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𝜎</m:t>
                        </m:r>
                      </m:e>
                      <m:sub>
                        <m:r>
                          <a:rPr lang="en-US" sz="2400" i="1" dirty="0">
                            <a:latin typeface="Cambria Math" panose="02040503050406030204" pitchFamily="18" charset="0"/>
                          </a:rPr>
                          <m:t>𝑚𝑎𝑙𝑒</m:t>
                        </m:r>
                      </m:sub>
                    </m:sSub>
                    <m:r>
                      <a:rPr lang="en-US" sz="2400" i="1" dirty="0">
                        <a:latin typeface="Cambria Math" panose="02040503050406030204" pitchFamily="18" charset="0"/>
                      </a:rPr>
                      <m:t> −</m:t>
                    </m:r>
                    <m:sSub>
                      <m:sSubPr>
                        <m:ctrlPr>
                          <a:rPr lang="en-US" sz="2400" i="1" dirty="0">
                            <a:latin typeface="Cambria Math" panose="02040503050406030204" pitchFamily="18" charset="0"/>
                            <a:ea typeface="Cambria Math" panose="02040503050406030204" pitchFamily="18" charset="0"/>
                          </a:rPr>
                        </m:ctrlPr>
                      </m:sSubPr>
                      <m:e>
                        <m:r>
                          <a:rPr lang="en-US" sz="2400" i="1" dirty="0">
                            <a:latin typeface="Cambria Math" panose="02040503050406030204" pitchFamily="18" charset="0"/>
                            <a:ea typeface="Cambria Math" panose="02040503050406030204" pitchFamily="18" charset="0"/>
                          </a:rPr>
                          <m:t>𝜎</m:t>
                        </m:r>
                      </m:e>
                      <m:sub>
                        <m:r>
                          <a:rPr lang="en-US" sz="2400" i="1" dirty="0">
                            <a:latin typeface="Cambria Math" panose="02040503050406030204" pitchFamily="18" charset="0"/>
                            <a:ea typeface="Cambria Math" panose="02040503050406030204" pitchFamily="18" charset="0"/>
                          </a:rPr>
                          <m:t>𝑓𝑒𝑚𝑎𝑙𝑒</m:t>
                        </m:r>
                      </m:sub>
                    </m:sSub>
                  </m:oMath>
                </a14:m>
                <a:r>
                  <a:rPr lang="en-US" sz="2400" dirty="0"/>
                  <a:t>is negative, and the sigma ratio is under 1 (-0.67), suggesting that females weight may be more variable.</a:t>
                </a:r>
              </a:p>
              <a:p>
                <a:r>
                  <a:rPr lang="en-US" sz="2400" dirty="0"/>
                  <a:t>This affects the spread interpretation, but not the main mean-difference conclusion.</a:t>
                </a:r>
                <a:endParaRPr lang="he-IL" sz="2400" dirty="0"/>
              </a:p>
              <a:p>
                <a:pPr marL="0" indent="0">
                  <a:buNone/>
                </a:pPr>
                <a:endParaRPr lang="he-IL" dirty="0"/>
              </a:p>
            </p:txBody>
          </p:sp>
        </mc:Choice>
        <mc:Fallback xmlns="">
          <p:sp>
            <p:nvSpPr>
              <p:cNvPr id="3" name="Content Placeholder 2">
                <a:extLst>
                  <a:ext uri="{FF2B5EF4-FFF2-40B4-BE49-F238E27FC236}">
                    <a16:creationId xmlns:a16="http://schemas.microsoft.com/office/drawing/2014/main" id="{B3B390CB-9D4A-5E03-6CC2-00B22466D222}"/>
                  </a:ext>
                </a:extLst>
              </p:cNvPr>
              <p:cNvSpPr>
                <a:spLocks noGrp="1" noRot="1" noChangeAspect="1" noMove="1" noResize="1" noEditPoints="1" noAdjustHandles="1" noChangeArrowheads="1" noChangeShapeType="1" noTextEdit="1"/>
              </p:cNvSpPr>
              <p:nvPr>
                <p:ph idx="1"/>
              </p:nvPr>
            </p:nvSpPr>
            <p:spPr>
              <a:xfrm>
                <a:off x="838200" y="1825625"/>
                <a:ext cx="4094408" cy="4351338"/>
              </a:xfrm>
              <a:blipFill>
                <a:blip r:embed="rId3"/>
                <a:stretch>
                  <a:fillRect l="-3130" t="-2941" r="-1341" b="-3501"/>
                </a:stretch>
              </a:blipFill>
            </p:spPr>
            <p:txBody>
              <a:bodyPr/>
              <a:lstStyle/>
              <a:p>
                <a:r>
                  <a:rPr lang="he-IL">
                    <a:noFill/>
                  </a:rPr>
                  <a:t> </a:t>
                </a:r>
              </a:p>
            </p:txBody>
          </p:sp>
        </mc:Fallback>
      </mc:AlternateContent>
      <p:pic>
        <p:nvPicPr>
          <p:cNvPr id="32770" name="Picture 2">
            <a:extLst>
              <a:ext uri="{FF2B5EF4-FFF2-40B4-BE49-F238E27FC236}">
                <a16:creationId xmlns:a16="http://schemas.microsoft.com/office/drawing/2014/main" id="{F48E666D-C72F-A21B-822F-047D637EB2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608" y="1816100"/>
            <a:ext cx="6962775" cy="467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945251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0F3D0-A3E5-9E2D-8C58-61257EB3F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394A1-51A1-5E66-54EA-FB086C936263}"/>
              </a:ext>
            </a:extLst>
          </p:cNvPr>
          <p:cNvSpPr>
            <a:spLocks noGrp="1"/>
          </p:cNvSpPr>
          <p:nvPr>
            <p:ph type="title"/>
          </p:nvPr>
        </p:nvSpPr>
        <p:spPr/>
        <p:txBody>
          <a:bodyPr/>
          <a:lstStyle/>
          <a:p>
            <a:r>
              <a:rPr lang="en-US" dirty="0"/>
              <a:t>Bayesian group model with </a:t>
            </a:r>
            <a:r>
              <a:rPr lang="en-US" b="1" dirty="0"/>
              <a:t>shared</a:t>
            </a:r>
            <a:r>
              <a:rPr lang="en-US" dirty="0"/>
              <a:t> sigma</a:t>
            </a:r>
            <a:endParaRPr lang="he-IL" dirty="0"/>
          </a:p>
        </p:txBody>
      </p:sp>
      <p:sp>
        <p:nvSpPr>
          <p:cNvPr id="3" name="Content Placeholder 2">
            <a:extLst>
              <a:ext uri="{FF2B5EF4-FFF2-40B4-BE49-F238E27FC236}">
                <a16:creationId xmlns:a16="http://schemas.microsoft.com/office/drawing/2014/main" id="{834172B5-6365-8CB5-0E83-80DE4FE76CB8}"/>
              </a:ext>
            </a:extLst>
          </p:cNvPr>
          <p:cNvSpPr>
            <a:spLocks noGrp="1"/>
          </p:cNvSpPr>
          <p:nvPr>
            <p:ph idx="1"/>
          </p:nvPr>
        </p:nvSpPr>
        <p:spPr/>
        <p:txBody>
          <a:bodyPr>
            <a:normAutofit/>
          </a:bodyPr>
          <a:lstStyle/>
          <a:p>
            <a:pPr marL="0" indent="0">
              <a:buNone/>
            </a:pPr>
            <a:r>
              <a:rPr lang="en-US" dirty="0"/>
              <a:t>Posterior comparison</a:t>
            </a:r>
            <a:endParaRPr lang="he-IL" dirty="0"/>
          </a:p>
        </p:txBody>
      </p:sp>
      <p:pic>
        <p:nvPicPr>
          <p:cNvPr id="33794" name="Picture 2">
            <a:extLst>
              <a:ext uri="{FF2B5EF4-FFF2-40B4-BE49-F238E27FC236}">
                <a16:creationId xmlns:a16="http://schemas.microsoft.com/office/drawing/2014/main" id="{26BC95CD-FB66-FB4F-9F86-D572A12D9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3163" y="2578100"/>
            <a:ext cx="7724775" cy="391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15023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DF352-B135-1A1E-3589-A8B96D73208C}"/>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19161B5-8271-5543-0D00-1C43F3B1B621}"/>
              </a:ext>
            </a:extLst>
          </p:cNvPr>
          <p:cNvSpPr>
            <a:spLocks noGrp="1"/>
          </p:cNvSpPr>
          <p:nvPr>
            <p:ph type="title"/>
          </p:nvPr>
        </p:nvSpPr>
        <p:spPr>
          <a:xfrm>
            <a:off x="838200" y="429293"/>
            <a:ext cx="10515600" cy="1325563"/>
          </a:xfrm>
        </p:spPr>
        <p:txBody>
          <a:bodyPr/>
          <a:lstStyle/>
          <a:p>
            <a:pPr algn="l" rtl="0"/>
            <a:r>
              <a:rPr lang="en-US" b="1" dirty="0"/>
              <a:t>t-Test Overview</a:t>
            </a:r>
            <a:endParaRPr lang="he-IL" dirty="0"/>
          </a:p>
        </p:txBody>
      </p:sp>
      <mc:AlternateContent xmlns:mc="http://schemas.openxmlformats.org/markup-compatibility/2006" xmlns:a14="http://schemas.microsoft.com/office/drawing/2010/main">
        <mc:Choice Requires="a14">
          <p:graphicFrame>
            <p:nvGraphicFramePr>
              <p:cNvPr id="6" name="מציין מיקום תוכן 5">
                <a:extLst>
                  <a:ext uri="{FF2B5EF4-FFF2-40B4-BE49-F238E27FC236}">
                    <a16:creationId xmlns:a16="http://schemas.microsoft.com/office/drawing/2014/main" id="{DF098053-F8DB-F15E-39B1-E4E30D99DC9F}"/>
                  </a:ext>
                </a:extLst>
              </p:cNvPr>
              <p:cNvGraphicFramePr>
                <a:graphicFrameLocks noGrp="1"/>
              </p:cNvGraphicFramePr>
              <p:nvPr>
                <p:ph idx="1"/>
                <p:extLst>
                  <p:ext uri="{D42A27DB-BD31-4B8C-83A1-F6EECF244321}">
                    <p14:modId xmlns:p14="http://schemas.microsoft.com/office/powerpoint/2010/main" val="991927174"/>
                  </p:ext>
                </p:extLst>
              </p:nvPr>
            </p:nvGraphicFramePr>
            <p:xfrm>
              <a:off x="1412382" y="1571222"/>
              <a:ext cx="9941418" cy="5009136"/>
            </p:xfrm>
            <a:graphic>
              <a:graphicData uri="http://schemas.openxmlformats.org/drawingml/2006/table">
                <a:tbl>
                  <a:tblPr>
                    <a:tableStyleId>{793D81CF-94F2-401A-BA57-92F5A7B2D0C5}</a:tableStyleId>
                  </a:tblPr>
                  <a:tblGrid>
                    <a:gridCol w="1781036">
                      <a:extLst>
                        <a:ext uri="{9D8B030D-6E8A-4147-A177-3AD203B41FA5}">
                          <a16:colId xmlns:a16="http://schemas.microsoft.com/office/drawing/2014/main" val="729707556"/>
                        </a:ext>
                      </a:extLst>
                    </a:gridCol>
                    <a:gridCol w="2323876">
                      <a:extLst>
                        <a:ext uri="{9D8B030D-6E8A-4147-A177-3AD203B41FA5}">
                          <a16:colId xmlns:a16="http://schemas.microsoft.com/office/drawing/2014/main" val="3998885419"/>
                        </a:ext>
                      </a:extLst>
                    </a:gridCol>
                    <a:gridCol w="2998160">
                      <a:extLst>
                        <a:ext uri="{9D8B030D-6E8A-4147-A177-3AD203B41FA5}">
                          <a16:colId xmlns:a16="http://schemas.microsoft.com/office/drawing/2014/main" val="302053247"/>
                        </a:ext>
                      </a:extLst>
                    </a:gridCol>
                    <a:gridCol w="2838346">
                      <a:extLst>
                        <a:ext uri="{9D8B030D-6E8A-4147-A177-3AD203B41FA5}">
                          <a16:colId xmlns:a16="http://schemas.microsoft.com/office/drawing/2014/main" val="3581297915"/>
                        </a:ext>
                      </a:extLst>
                    </a:gridCol>
                  </a:tblGrid>
                  <a:tr h="364680">
                    <a:tc>
                      <a:txBody>
                        <a:bodyPr/>
                        <a:lstStyle/>
                        <a:p>
                          <a:pPr algn="ctr"/>
                          <a:r>
                            <a:rPr lang="en-US" sz="1800" b="1" dirty="0">
                              <a:solidFill>
                                <a:schemeClr val="tx1"/>
                              </a:solidFill>
                            </a:rPr>
                            <a:t>Test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14:m>
                            <m:oMath xmlns:m="http://schemas.openxmlformats.org/officeDocument/2006/math">
                              <m:sSub>
                                <m:sSubPr>
                                  <m:ctrlPr>
                                    <a:rPr lang="en-US" sz="1800" i="1" dirty="0" smtClean="0">
                                      <a:solidFill>
                                        <a:schemeClr val="tx1"/>
                                      </a:solidFill>
                                      <a:latin typeface="Cambria Math" panose="02040503050406030204" pitchFamily="18" charset="0"/>
                                    </a:rPr>
                                  </m:ctrlPr>
                                </m:sSubPr>
                                <m:e>
                                  <m:r>
                                    <a:rPr lang="en-US" sz="1800" b="0" i="1" dirty="0" smtClean="0">
                                      <a:solidFill>
                                        <a:schemeClr val="tx1"/>
                                      </a:solidFill>
                                      <a:latin typeface="Cambria Math" panose="02040503050406030204" pitchFamily="18" charset="0"/>
                                    </a:rPr>
                                    <m:t>𝐶𝑜𝑚𝑚𝑜𝑛</m:t>
                                  </m:r>
                                  <m:r>
                                    <a:rPr lang="en-US" sz="1800" b="0" i="1" dirty="0" smtClean="0">
                                      <a:solidFill>
                                        <a:schemeClr val="tx1"/>
                                      </a:solidFill>
                                      <a:latin typeface="Cambria Math" panose="02040503050406030204" pitchFamily="18" charset="0"/>
                                    </a:rPr>
                                    <m:t> </m:t>
                                  </m:r>
                                  <m:r>
                                    <a:rPr lang="en-US" sz="1800" i="1" dirty="0" smtClean="0">
                                      <a:solidFill>
                                        <a:schemeClr val="tx1"/>
                                      </a:solidFill>
                                      <a:latin typeface="Cambria Math" panose="02040503050406030204" pitchFamily="18" charset="0"/>
                                    </a:rPr>
                                    <m:t>𝐻</m:t>
                                  </m:r>
                                </m:e>
                                <m:sub>
                                  <m:r>
                                    <a:rPr lang="en-US" sz="1800" i="1" dirty="0" smtClean="0">
                                      <a:solidFill>
                                        <a:schemeClr val="tx1"/>
                                      </a:solidFill>
                                      <a:latin typeface="Cambria Math" panose="02040503050406030204" pitchFamily="18" charset="0"/>
                                    </a:rPr>
                                    <m:t>0</m:t>
                                  </m:r>
                                </m:sub>
                              </m:sSub>
                            </m:oMath>
                          </a14:m>
                          <a:r>
                            <a:rPr lang="en-US" sz="1800" b="1" dirty="0">
                              <a:solidFill>
                                <a:schemeClr val="tx1"/>
                              </a:solidFill>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1" dirty="0">
                              <a:solidFill>
                                <a:schemeClr val="tx1"/>
                              </a:solidFill>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1" dirty="0">
                              <a:solidFill>
                                <a:schemeClr val="tx1"/>
                              </a:solidFill>
                            </a:rPr>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791215623"/>
                      </a:ext>
                    </a:extLst>
                  </a:tr>
                  <a:tr h="369339">
                    <a:tc>
                      <a:txBody>
                        <a:bodyPr/>
                        <a:lstStyle/>
                        <a:p>
                          <a:pPr algn="ctr"/>
                          <a:r>
                            <a:rPr lang="en-US" sz="1800" dirty="0">
                              <a:solidFill>
                                <a:schemeClr val="tx1"/>
                              </a:solidFill>
                            </a:rPr>
                            <a:t>One-sample </a:t>
                          </a:r>
                          <a:br>
                            <a:rPr lang="en-US" sz="1800" dirty="0">
                              <a:solidFill>
                                <a:schemeClr val="tx1"/>
                              </a:solidFill>
                            </a:rPr>
                          </a:br>
                          <a:r>
                            <a:rPr lang="en-US" sz="1800" dirty="0">
                              <a:solidFill>
                                <a:schemeClr val="tx1"/>
                              </a:solidFill>
                            </a:rPr>
                            <a:t>t-test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𝐻</m:t>
                                    </m:r>
                                  </m:e>
                                  <m:sub>
                                    <m:r>
                                      <a:rPr lang="ar-AE" sz="1600" i="1" dirty="0" smtClean="0">
                                        <a:solidFill>
                                          <a:schemeClr val="tx1"/>
                                        </a:solidFill>
                                        <a:latin typeface="Cambria Math" panose="02040503050406030204" pitchFamily="18" charset="0"/>
                                      </a:rPr>
                                      <m:t>0</m:t>
                                    </m:r>
                                  </m:sub>
                                </m:sSub>
                                <m:r>
                                  <a:rPr lang="ar-AE" sz="1600" i="1" dirty="0" smtClean="0">
                                    <a:solidFill>
                                      <a:schemeClr val="tx1"/>
                                    </a:solidFill>
                                    <a:latin typeface="Cambria Math" panose="02040503050406030204" pitchFamily="18" charset="0"/>
                                  </a:rPr>
                                  <m:t>:</m:t>
                                </m:r>
                                <m:r>
                                  <a:rPr lang="ar-AE" sz="1600" i="1" dirty="0" smtClean="0">
                                    <a:solidFill>
                                      <a:schemeClr val="tx1"/>
                                    </a:solidFill>
                                    <a:latin typeface="Cambria Math" panose="02040503050406030204" pitchFamily="18" charset="0"/>
                                  </a:rPr>
                                  <m:t>𝜇</m:t>
                                </m:r>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a:rPr lang="ar-AE" sz="1600" i="1" dirty="0" smtClean="0">
                                        <a:solidFill>
                                          <a:schemeClr val="tx1"/>
                                        </a:solidFill>
                                        <a:latin typeface="Cambria Math" panose="02040503050406030204" pitchFamily="18" charset="0"/>
                                      </a:rPr>
                                      <m:t>0</m:t>
                                    </m:r>
                                  </m:sub>
                                </m:sSub>
                              </m:oMath>
                            </m:oMathPara>
                          </a14:m>
                          <a:endParaRPr lang="ar-AE"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One continuous variable compared to a reference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Is average reaction time different from 300 </a:t>
                          </a:r>
                          <a:r>
                            <a:rPr lang="en-US" sz="1600" dirty="0" err="1">
                              <a:solidFill>
                                <a:schemeClr val="tx1"/>
                              </a:solidFill>
                            </a:rPr>
                            <a:t>ms</a:t>
                          </a: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195159"/>
                      </a:ext>
                    </a:extLst>
                  </a:tr>
                  <a:tr h="1094039">
                    <a:tc>
                      <a:txBody>
                        <a:bodyPr/>
                        <a:lstStyle/>
                        <a:p>
                          <a:pPr algn="ctr"/>
                          <a:r>
                            <a:rPr lang="en-US" sz="1800" b="0" dirty="0">
                              <a:solidFill>
                                <a:schemeClr val="tx1"/>
                              </a:solidFill>
                            </a:rPr>
                            <a:t>Paired two-sample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𝐻</m:t>
                                    </m:r>
                                  </m:e>
                                  <m:sub>
                                    <m:r>
                                      <a:rPr lang="ar-AE" sz="1600" i="1" dirty="0" smtClean="0">
                                        <a:solidFill>
                                          <a:schemeClr val="tx1"/>
                                        </a:solidFill>
                                        <a:latin typeface="Cambria Math" panose="02040503050406030204" pitchFamily="18" charset="0"/>
                                      </a:rPr>
                                      <m:t>0</m:t>
                                    </m:r>
                                  </m:sub>
                                </m:sSub>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m:rPr>
                                        <m:nor/>
                                      </m:rPr>
                                      <a:rPr lang="fr-FR" sz="1600" i="0" dirty="0" smtClean="0">
                                        <a:solidFill>
                                          <a:schemeClr val="tx1"/>
                                        </a:solidFill>
                                        <a:latin typeface="Cambria Math" panose="02040503050406030204" pitchFamily="18" charset="0"/>
                                      </a:rPr>
                                      <m:t>change</m:t>
                                    </m:r>
                                  </m:sub>
                                </m:sSub>
                                <m:r>
                                  <a:rPr lang="ar-AE" sz="1600" i="1" dirty="0" smtClean="0">
                                    <a:solidFill>
                                      <a:schemeClr val="tx1"/>
                                    </a:solidFill>
                                    <a:latin typeface="Cambria Math" panose="02040503050406030204" pitchFamily="18" charset="0"/>
                                  </a:rPr>
                                  <m:t>   =</m:t>
                                </m:r>
                                <m:r>
                                  <a:rPr lang="ar-AE" sz="1600" i="1" dirty="0" smtClean="0">
                                    <a:solidFill>
                                      <a:schemeClr val="tx1"/>
                                    </a:solidFill>
                                    <a:latin typeface="Cambria Math" panose="02040503050406030204" pitchFamily="18" charset="0"/>
                                  </a:rPr>
                                  <m:t>0</m:t>
                                </m:r>
                              </m:oMath>
                            </m:oMathPara>
                          </a14:m>
                          <a:endParaRPr lang="ar-AE"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Same subjects measured twice, or matched pairs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Pre/post-treatment, left vs. 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8708188"/>
                      </a:ext>
                    </a:extLst>
                  </a:tr>
                  <a:tr h="5791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Independent two-sample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𝐻</m:t>
                                    </m:r>
                                  </m:e>
                                  <m:sub>
                                    <m:r>
                                      <a:rPr lang="ar-AE" sz="1600" i="1" dirty="0" smtClean="0">
                                        <a:solidFill>
                                          <a:schemeClr val="tx1"/>
                                        </a:solidFill>
                                        <a:latin typeface="Cambria Math" panose="02040503050406030204" pitchFamily="18" charset="0"/>
                                      </a:rPr>
                                      <m:t>0</m:t>
                                    </m:r>
                                  </m:sub>
                                </m:sSub>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a:rPr lang="ar-AE" sz="1600" i="1" dirty="0" smtClean="0">
                                        <a:solidFill>
                                          <a:schemeClr val="tx1"/>
                                        </a:solidFill>
                                        <a:latin typeface="Cambria Math" panose="02040503050406030204" pitchFamily="18" charset="0"/>
                                      </a:rPr>
                                      <m:t>𝐴</m:t>
                                    </m:r>
                                  </m:sub>
                                </m:sSub>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a:rPr lang="ar-AE" sz="1600" i="1" dirty="0" smtClean="0">
                                        <a:solidFill>
                                          <a:schemeClr val="tx1"/>
                                        </a:solidFill>
                                        <a:latin typeface="Cambria Math" panose="02040503050406030204" pitchFamily="18" charset="0"/>
                                      </a:rPr>
                                      <m:t>𝐵</m:t>
                                    </m:r>
                                  </m:sub>
                                </m:sSub>
                                <m:r>
                                  <a:rPr lang="ar-AE" sz="1600" i="1" dirty="0" smtClean="0">
                                    <a:solidFill>
                                      <a:schemeClr val="tx1"/>
                                    </a:solidFill>
                                    <a:latin typeface="Cambria Math" panose="02040503050406030204" pitchFamily="18" charset="0"/>
                                  </a:rPr>
                                  <m:t>=</m:t>
                                </m:r>
                                <m:r>
                                  <a:rPr lang="ar-AE" sz="1600" i="1" dirty="0" smtClean="0">
                                    <a:solidFill>
                                      <a:schemeClr val="tx1"/>
                                    </a:solidFill>
                                    <a:latin typeface="Cambria Math" panose="02040503050406030204" pitchFamily="18" charset="0"/>
                                  </a:rPr>
                                  <m:t>0</m:t>
                                </m:r>
                              </m:oMath>
                            </m:oMathPara>
                          </a14:m>
                          <a:endParaRPr lang="ar-AE"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Two separate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Control vs. experimental group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3343179"/>
                      </a:ext>
                    </a:extLst>
                  </a:tr>
                  <a:tr h="836617">
                    <a:tc>
                      <a:txBody>
                        <a:bodyPr/>
                        <a:lstStyle/>
                        <a:p>
                          <a:pPr algn="ctr"/>
                          <a:r>
                            <a:rPr lang="en-US" sz="1800" b="1" dirty="0">
                              <a:solidFill>
                                <a:schemeClr val="tx1"/>
                              </a:solidFill>
                            </a:rPr>
                            <a:t>Welch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𝐻</m:t>
                                    </m:r>
                                  </m:e>
                                  <m:sub>
                                    <m:r>
                                      <a:rPr lang="ar-AE" sz="1600" i="1" dirty="0" smtClean="0">
                                        <a:solidFill>
                                          <a:schemeClr val="tx1"/>
                                        </a:solidFill>
                                        <a:latin typeface="Cambria Math" panose="02040503050406030204" pitchFamily="18" charset="0"/>
                                      </a:rPr>
                                      <m:t>0</m:t>
                                    </m:r>
                                  </m:sub>
                                </m:sSub>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a:rPr lang="ar-AE" sz="1600" i="1" dirty="0" smtClean="0">
                                        <a:solidFill>
                                          <a:schemeClr val="tx1"/>
                                        </a:solidFill>
                                        <a:latin typeface="Cambria Math" panose="02040503050406030204" pitchFamily="18" charset="0"/>
                                      </a:rPr>
                                      <m:t>𝐴</m:t>
                                    </m:r>
                                  </m:sub>
                                </m:sSub>
                                <m:r>
                                  <a:rPr lang="ar-AE" sz="1600" i="1" dirty="0" smtClean="0">
                                    <a:solidFill>
                                      <a:schemeClr val="tx1"/>
                                    </a:solidFill>
                                    <a:latin typeface="Cambria Math" panose="02040503050406030204" pitchFamily="18" charset="0"/>
                                  </a:rPr>
                                  <m:t>−</m:t>
                                </m:r>
                                <m:sSub>
                                  <m:sSubPr>
                                    <m:ctrlPr>
                                      <a:rPr lang="ar-AE" sz="1600" i="1" dirty="0" smtClean="0">
                                        <a:solidFill>
                                          <a:schemeClr val="tx1"/>
                                        </a:solidFill>
                                        <a:latin typeface="Cambria Math" panose="02040503050406030204" pitchFamily="18" charset="0"/>
                                      </a:rPr>
                                    </m:ctrlPr>
                                  </m:sSubPr>
                                  <m:e>
                                    <m:r>
                                      <a:rPr lang="ar-AE" sz="1600" i="1" dirty="0" smtClean="0">
                                        <a:solidFill>
                                          <a:schemeClr val="tx1"/>
                                        </a:solidFill>
                                        <a:latin typeface="Cambria Math" panose="02040503050406030204" pitchFamily="18" charset="0"/>
                                      </a:rPr>
                                      <m:t>𝜇</m:t>
                                    </m:r>
                                  </m:e>
                                  <m:sub>
                                    <m:r>
                                      <a:rPr lang="ar-AE" sz="1600" i="1" dirty="0" smtClean="0">
                                        <a:solidFill>
                                          <a:schemeClr val="tx1"/>
                                        </a:solidFill>
                                        <a:latin typeface="Cambria Math" panose="02040503050406030204" pitchFamily="18" charset="0"/>
                                      </a:rPr>
                                      <m:t>𝐵</m:t>
                                    </m:r>
                                  </m:sub>
                                </m:sSub>
                                <m:r>
                                  <a:rPr lang="ar-AE" sz="1600" i="1" dirty="0" smtClean="0">
                                    <a:solidFill>
                                      <a:schemeClr val="tx1"/>
                                    </a:solidFill>
                                    <a:latin typeface="Cambria Math" panose="02040503050406030204" pitchFamily="18" charset="0"/>
                                  </a:rPr>
                                  <m:t>=</m:t>
                                </m:r>
                                <m:r>
                                  <a:rPr lang="ar-AE" sz="1600" i="1" dirty="0" smtClean="0">
                                    <a:solidFill>
                                      <a:schemeClr val="tx1"/>
                                    </a:solidFill>
                                    <a:latin typeface="Cambria Math" panose="02040503050406030204" pitchFamily="18" charset="0"/>
                                  </a:rPr>
                                  <m:t>0</m:t>
                                </m:r>
                              </m:oMath>
                            </m:oMathPara>
                          </a14:m>
                          <a:endParaRPr lang="ar-AE"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Two independent groups, unequal variances allowed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Same comparison, but group spreads may differ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5459831"/>
                      </a:ext>
                    </a:extLst>
                  </a:tr>
                  <a:tr h="369339">
                    <a:tc>
                      <a:txBody>
                        <a:bodyPr/>
                        <a:lstStyle/>
                        <a:p>
                          <a:pPr algn="ctr"/>
                          <a:r>
                            <a:rPr lang="en-US" sz="1800" b="0" dirty="0">
                              <a:solidFill>
                                <a:schemeClr val="tx1"/>
                              </a:solidFill>
                            </a:rPr>
                            <a:t>Mann–Whitney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600" dirty="0">
                              <a:solidFill>
                                <a:schemeClr val="tx1"/>
                              </a:solidFill>
                            </a:rPr>
                            <a:t>Distributions differ between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Two independent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Rank-based independent-group alternative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6614474"/>
                      </a:ext>
                    </a:extLst>
                  </a:tr>
                  <a:tr h="364680">
                    <a:tc>
                      <a:txBody>
                        <a:bodyPr/>
                        <a:lstStyle/>
                        <a:p>
                          <a:pPr algn="ctr"/>
                          <a:r>
                            <a:rPr lang="en-US" sz="1800" b="0" dirty="0">
                              <a:solidFill>
                                <a:schemeClr val="tx1"/>
                              </a:solidFill>
                            </a:rPr>
                            <a:t>Wilcoxon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500" dirty="0">
                              <a:solidFill>
                                <a:schemeClr val="tx1"/>
                              </a:solidFill>
                            </a:rPr>
                            <a:t>Median paired change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Paired / repeated measurements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Rank-based paired alternative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233514"/>
                      </a:ext>
                    </a:extLst>
                  </a:tr>
                </a:tbl>
              </a:graphicData>
            </a:graphic>
          </p:graphicFrame>
        </mc:Choice>
        <mc:Fallback xmlns="">
          <p:graphicFrame>
            <p:nvGraphicFramePr>
              <p:cNvPr id="6" name="מציין מיקום תוכן 5">
                <a:extLst>
                  <a:ext uri="{FF2B5EF4-FFF2-40B4-BE49-F238E27FC236}">
                    <a16:creationId xmlns:a16="http://schemas.microsoft.com/office/drawing/2014/main" id="{DF098053-F8DB-F15E-39B1-E4E30D99DC9F}"/>
                  </a:ext>
                </a:extLst>
              </p:cNvPr>
              <p:cNvGraphicFramePr>
                <a:graphicFrameLocks noGrp="1"/>
              </p:cNvGraphicFramePr>
              <p:nvPr>
                <p:ph idx="1"/>
                <p:extLst>
                  <p:ext uri="{D42A27DB-BD31-4B8C-83A1-F6EECF244321}">
                    <p14:modId xmlns:p14="http://schemas.microsoft.com/office/powerpoint/2010/main" val="991927174"/>
                  </p:ext>
                </p:extLst>
              </p:nvPr>
            </p:nvGraphicFramePr>
            <p:xfrm>
              <a:off x="1412382" y="1571222"/>
              <a:ext cx="9941418" cy="5009136"/>
            </p:xfrm>
            <a:graphic>
              <a:graphicData uri="http://schemas.openxmlformats.org/drawingml/2006/table">
                <a:tbl>
                  <a:tblPr>
                    <a:tableStyleId>{793D81CF-94F2-401A-BA57-92F5A7B2D0C5}</a:tableStyleId>
                  </a:tblPr>
                  <a:tblGrid>
                    <a:gridCol w="1781036">
                      <a:extLst>
                        <a:ext uri="{9D8B030D-6E8A-4147-A177-3AD203B41FA5}">
                          <a16:colId xmlns:a16="http://schemas.microsoft.com/office/drawing/2014/main" val="729707556"/>
                        </a:ext>
                      </a:extLst>
                    </a:gridCol>
                    <a:gridCol w="2323876">
                      <a:extLst>
                        <a:ext uri="{9D8B030D-6E8A-4147-A177-3AD203B41FA5}">
                          <a16:colId xmlns:a16="http://schemas.microsoft.com/office/drawing/2014/main" val="3998885419"/>
                        </a:ext>
                      </a:extLst>
                    </a:gridCol>
                    <a:gridCol w="2998160">
                      <a:extLst>
                        <a:ext uri="{9D8B030D-6E8A-4147-A177-3AD203B41FA5}">
                          <a16:colId xmlns:a16="http://schemas.microsoft.com/office/drawing/2014/main" val="302053247"/>
                        </a:ext>
                      </a:extLst>
                    </a:gridCol>
                    <a:gridCol w="2838346">
                      <a:extLst>
                        <a:ext uri="{9D8B030D-6E8A-4147-A177-3AD203B41FA5}">
                          <a16:colId xmlns:a16="http://schemas.microsoft.com/office/drawing/2014/main" val="3581297915"/>
                        </a:ext>
                      </a:extLst>
                    </a:gridCol>
                  </a:tblGrid>
                  <a:tr h="365760">
                    <a:tc>
                      <a:txBody>
                        <a:bodyPr/>
                        <a:lstStyle/>
                        <a:p>
                          <a:pPr algn="ctr"/>
                          <a:r>
                            <a:rPr lang="en-US" sz="1800" b="1" dirty="0">
                              <a:solidFill>
                                <a:schemeClr val="tx1"/>
                              </a:solidFill>
                            </a:rPr>
                            <a:t>Test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he-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702" t="-6667" r="-251309" b="-1291667"/>
                          </a:stretch>
                        </a:blipFill>
                      </a:tcPr>
                    </a:tc>
                    <a:tc>
                      <a:txBody>
                        <a:bodyPr/>
                        <a:lstStyle/>
                        <a:p>
                          <a:pPr algn="ctr"/>
                          <a:r>
                            <a:rPr lang="en-US" sz="1800" b="1" dirty="0">
                              <a:solidFill>
                                <a:schemeClr val="tx1"/>
                              </a:solidFill>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1" dirty="0">
                              <a:solidFill>
                                <a:schemeClr val="tx1"/>
                              </a:solidFill>
                            </a:rPr>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791215623"/>
                      </a:ext>
                    </a:extLst>
                  </a:tr>
                  <a:tr h="640080">
                    <a:tc>
                      <a:txBody>
                        <a:bodyPr/>
                        <a:lstStyle/>
                        <a:p>
                          <a:pPr algn="ctr"/>
                          <a:r>
                            <a:rPr lang="en-US" sz="1800" dirty="0">
                              <a:solidFill>
                                <a:schemeClr val="tx1"/>
                              </a:solidFill>
                            </a:rPr>
                            <a:t>One-sample </a:t>
                          </a:r>
                          <a:br>
                            <a:rPr lang="en-US" sz="1800" dirty="0">
                              <a:solidFill>
                                <a:schemeClr val="tx1"/>
                              </a:solidFill>
                            </a:rPr>
                          </a:br>
                          <a:r>
                            <a:rPr lang="en-US" sz="1800" dirty="0">
                              <a:solidFill>
                                <a:schemeClr val="tx1"/>
                              </a:solidFill>
                            </a:rPr>
                            <a:t>t-test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he-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702" t="-60952" r="-251309" b="-638095"/>
                          </a:stretch>
                        </a:blipFill>
                      </a:tcPr>
                    </a:tc>
                    <a:tc>
                      <a:txBody>
                        <a:bodyPr/>
                        <a:lstStyle/>
                        <a:p>
                          <a:pPr algn="ctr"/>
                          <a:r>
                            <a:rPr lang="en-US" sz="1600" dirty="0">
                              <a:solidFill>
                                <a:schemeClr val="tx1"/>
                              </a:solidFill>
                            </a:rPr>
                            <a:t>One continuous variable compared to a reference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Is average reaction time different from 300 </a:t>
                          </a:r>
                          <a:r>
                            <a:rPr lang="en-US" sz="1600" dirty="0" err="1">
                              <a:solidFill>
                                <a:schemeClr val="tx1"/>
                              </a:solidFill>
                            </a:rPr>
                            <a:t>ms</a:t>
                          </a: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195159"/>
                      </a:ext>
                    </a:extLst>
                  </a:tr>
                  <a:tr h="1094039">
                    <a:tc>
                      <a:txBody>
                        <a:bodyPr/>
                        <a:lstStyle/>
                        <a:p>
                          <a:pPr algn="ctr"/>
                          <a:r>
                            <a:rPr lang="en-US" sz="1800" b="0" dirty="0">
                              <a:solidFill>
                                <a:schemeClr val="tx1"/>
                              </a:solidFill>
                            </a:rPr>
                            <a:t>Paired two-sample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he-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702" t="-93889" r="-251309" b="-272222"/>
                          </a:stretch>
                        </a:blipFill>
                      </a:tcPr>
                    </a:tc>
                    <a:tc>
                      <a:txBody>
                        <a:bodyPr/>
                        <a:lstStyle/>
                        <a:p>
                          <a:pPr algn="ctr"/>
                          <a:r>
                            <a:rPr lang="en-US" sz="1600" dirty="0">
                              <a:solidFill>
                                <a:schemeClr val="tx1"/>
                              </a:solidFill>
                            </a:rPr>
                            <a:t>Same subjects measured twice, or matched pairs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Pre/post-treatment, left vs. 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8708188"/>
                      </a:ext>
                    </a:extLst>
                  </a:tr>
                  <a:tr h="914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Independent two-sample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he-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702" t="-232667" r="-251309" b="-226667"/>
                          </a:stretch>
                        </a:blipFill>
                      </a:tcPr>
                    </a:tc>
                    <a:tc>
                      <a:txBody>
                        <a:bodyPr/>
                        <a:lstStyle/>
                        <a:p>
                          <a:pPr algn="ctr"/>
                          <a:r>
                            <a:rPr lang="en-US" sz="1600" dirty="0">
                              <a:solidFill>
                                <a:schemeClr val="tx1"/>
                              </a:solidFill>
                            </a:rPr>
                            <a:t>Two separate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Control vs. experimental group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3343179"/>
                      </a:ext>
                    </a:extLst>
                  </a:tr>
                  <a:tr h="836617">
                    <a:tc>
                      <a:txBody>
                        <a:bodyPr/>
                        <a:lstStyle/>
                        <a:p>
                          <a:pPr algn="ctr"/>
                          <a:r>
                            <a:rPr lang="en-US" sz="1800" b="1" dirty="0">
                              <a:solidFill>
                                <a:schemeClr val="tx1"/>
                              </a:solidFill>
                            </a:rPr>
                            <a:t>Welch t-test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he-I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702" t="-361594" r="-251309" b="-146377"/>
                          </a:stretch>
                        </a:blipFill>
                      </a:tcPr>
                    </a:tc>
                    <a:tc>
                      <a:txBody>
                        <a:bodyPr/>
                        <a:lstStyle/>
                        <a:p>
                          <a:pPr algn="ctr"/>
                          <a:r>
                            <a:rPr lang="en-US" sz="1600" dirty="0">
                              <a:solidFill>
                                <a:schemeClr val="tx1"/>
                              </a:solidFill>
                            </a:rPr>
                            <a:t>Two independent groups, unequal variances allowed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Same comparison, but group spreads may differ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5459831"/>
                      </a:ext>
                    </a:extLst>
                  </a:tr>
                  <a:tr h="579120">
                    <a:tc>
                      <a:txBody>
                        <a:bodyPr/>
                        <a:lstStyle/>
                        <a:p>
                          <a:pPr algn="ctr"/>
                          <a:r>
                            <a:rPr lang="en-US" sz="1800" b="0" dirty="0">
                              <a:solidFill>
                                <a:schemeClr val="tx1"/>
                              </a:solidFill>
                            </a:rPr>
                            <a:t>Mann–Whitney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600" dirty="0">
                              <a:solidFill>
                                <a:schemeClr val="tx1"/>
                              </a:solidFill>
                            </a:rPr>
                            <a:t>Distributions differ between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Two independent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Rank-based independent-group alternative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6614474"/>
                      </a:ext>
                    </a:extLst>
                  </a:tr>
                  <a:tr h="579120">
                    <a:tc>
                      <a:txBody>
                        <a:bodyPr/>
                        <a:lstStyle/>
                        <a:p>
                          <a:pPr algn="ctr"/>
                          <a:r>
                            <a:rPr lang="en-US" sz="1800" b="0" dirty="0">
                              <a:solidFill>
                                <a:schemeClr val="tx1"/>
                              </a:solidFill>
                            </a:rPr>
                            <a:t>Wilcoxon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500" dirty="0">
                              <a:solidFill>
                                <a:schemeClr val="tx1"/>
                              </a:solidFill>
                            </a:rPr>
                            <a:t>Median paired change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Paired / repeated measurements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Rank-based paired alternative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233514"/>
                      </a:ext>
                    </a:extLst>
                  </a:tr>
                </a:tbl>
              </a:graphicData>
            </a:graphic>
          </p:graphicFrame>
        </mc:Fallback>
      </mc:AlternateContent>
    </p:spTree>
    <p:extLst>
      <p:ext uri="{BB962C8B-B14F-4D97-AF65-F5344CB8AC3E}">
        <p14:creationId xmlns:p14="http://schemas.microsoft.com/office/powerpoint/2010/main" val="191513453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08BC0-774E-5938-47CD-7E2FB93FBF8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B92F127-26EF-23E2-2E65-D86718588D96}"/>
              </a:ext>
            </a:extLst>
          </p:cNvPr>
          <p:cNvSpPr>
            <a:spLocks noGrp="1"/>
          </p:cNvSpPr>
          <p:nvPr>
            <p:ph type="title"/>
          </p:nvPr>
        </p:nvSpPr>
        <p:spPr/>
        <p:txBody>
          <a:bodyPr/>
          <a:lstStyle/>
          <a:p>
            <a:pPr algn="l" rtl="0"/>
            <a:r>
              <a:rPr lang="en-US" b="1" dirty="0"/>
              <a:t>Independent t-Test</a:t>
            </a:r>
            <a:endParaRPr lang="he-IL" dirty="0"/>
          </a:p>
        </p:txBody>
      </p:sp>
      <p:sp>
        <p:nvSpPr>
          <p:cNvPr id="3" name="מציין מיקום תוכן 2">
            <a:extLst>
              <a:ext uri="{FF2B5EF4-FFF2-40B4-BE49-F238E27FC236}">
                <a16:creationId xmlns:a16="http://schemas.microsoft.com/office/drawing/2014/main" id="{CB5CE59D-8EC3-333D-8DC8-C39FFEEC5AE0}"/>
              </a:ext>
            </a:extLst>
          </p:cNvPr>
          <p:cNvSpPr>
            <a:spLocks noGrp="1"/>
          </p:cNvSpPr>
          <p:nvPr>
            <p:ph idx="1"/>
          </p:nvPr>
        </p:nvSpPr>
        <p:spPr>
          <a:xfrm>
            <a:off x="838200" y="1825625"/>
            <a:ext cx="6627058" cy="4150172"/>
          </a:xfrm>
        </p:spPr>
        <p:txBody>
          <a:bodyPr>
            <a:normAutofit/>
          </a:bodyPr>
          <a:lstStyle/>
          <a:p>
            <a:pPr algn="l" rtl="0">
              <a:lnSpc>
                <a:spcPct val="150000"/>
              </a:lnSpc>
            </a:pPr>
            <a:r>
              <a:rPr lang="en-US" dirty="0"/>
              <a:t>Observed data</a:t>
            </a:r>
          </a:p>
          <a:p>
            <a:pPr lvl="1">
              <a:lnSpc>
                <a:spcPct val="150000"/>
              </a:lnSpc>
            </a:pPr>
            <a:endParaRPr lang="en-US" dirty="0"/>
          </a:p>
          <a:p>
            <a:pPr algn="l" rtl="0">
              <a:lnSpc>
                <a:spcPct val="150000"/>
              </a:lnSpc>
            </a:pPr>
            <a:endParaRPr lang="en-US" dirty="0"/>
          </a:p>
        </p:txBody>
      </p:sp>
      <p:pic>
        <p:nvPicPr>
          <p:cNvPr id="4" name="Picture 2">
            <a:extLst>
              <a:ext uri="{FF2B5EF4-FFF2-40B4-BE49-F238E27FC236}">
                <a16:creationId xmlns:a16="http://schemas.microsoft.com/office/drawing/2014/main" id="{F0BAFE9B-CA4F-B6F0-C605-3F3FF9F3E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7313" y="1851918"/>
            <a:ext cx="6772275" cy="48672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8154DDF-6B51-532D-76AB-A6B6ED0302EC}"/>
              </a:ext>
            </a:extLst>
          </p:cNvPr>
          <p:cNvPicPr>
            <a:picLocks noChangeAspect="1"/>
          </p:cNvPicPr>
          <p:nvPr/>
        </p:nvPicPr>
        <p:blipFill>
          <a:blip r:embed="rId3"/>
          <a:srcRect r="42926"/>
          <a:stretch>
            <a:fillRect/>
          </a:stretch>
        </p:blipFill>
        <p:spPr>
          <a:xfrm>
            <a:off x="692983" y="2792636"/>
            <a:ext cx="4129459" cy="1682629"/>
          </a:xfrm>
          <a:prstGeom prst="rect">
            <a:avLst/>
          </a:prstGeom>
        </p:spPr>
      </p:pic>
    </p:spTree>
    <p:extLst>
      <p:ext uri="{BB962C8B-B14F-4D97-AF65-F5344CB8AC3E}">
        <p14:creationId xmlns:p14="http://schemas.microsoft.com/office/powerpoint/2010/main" val="182821574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BF4C5-BBCE-2CC0-30DB-7A26B376C16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8E0826A-7B37-23EF-33CA-E23A2ADF6D98}"/>
              </a:ext>
            </a:extLst>
          </p:cNvPr>
          <p:cNvSpPr>
            <a:spLocks noGrp="1"/>
          </p:cNvSpPr>
          <p:nvPr>
            <p:ph type="title"/>
          </p:nvPr>
        </p:nvSpPr>
        <p:spPr>
          <a:xfrm>
            <a:off x="838200" y="165100"/>
            <a:ext cx="10515600" cy="1325563"/>
          </a:xfrm>
        </p:spPr>
        <p:txBody>
          <a:bodyPr/>
          <a:lstStyle/>
          <a:p>
            <a:pPr algn="l" rtl="0"/>
            <a:r>
              <a:rPr lang="en-US" b="1" dirty="0"/>
              <a:t>Independent t-Test</a:t>
            </a:r>
            <a:endParaRPr lang="he-IL" dirty="0"/>
          </a:p>
        </p:txBody>
      </p:sp>
      <mc:AlternateContent xmlns:mc="http://schemas.openxmlformats.org/markup-compatibility/2006">
        <mc:Choice xmlns:a14="http://schemas.microsoft.com/office/drawing/2010/main" Requires="a14">
          <p:sp>
            <p:nvSpPr>
              <p:cNvPr id="3" name="מציין מיקום תוכן 2">
                <a:extLst>
                  <a:ext uri="{FF2B5EF4-FFF2-40B4-BE49-F238E27FC236}">
                    <a16:creationId xmlns:a16="http://schemas.microsoft.com/office/drawing/2014/main" id="{97C3CD1B-3529-377E-DB0F-3B1F0E0C06D2}"/>
                  </a:ext>
                </a:extLst>
              </p:cNvPr>
              <p:cNvSpPr>
                <a:spLocks noGrp="1"/>
              </p:cNvSpPr>
              <p:nvPr>
                <p:ph idx="1"/>
              </p:nvPr>
            </p:nvSpPr>
            <p:spPr>
              <a:xfrm>
                <a:off x="838200" y="1490663"/>
                <a:ext cx="10834688" cy="5338986"/>
              </a:xfrm>
            </p:spPr>
            <p:txBody>
              <a:bodyPr>
                <a:noAutofit/>
              </a:bodyPr>
              <a:lstStyle/>
              <a:p>
                <a:pPr>
                  <a:lnSpc>
                    <a:spcPct val="100000"/>
                  </a:lnSpc>
                </a:pPr>
                <a:r>
                  <a:rPr lang="en-US" sz="2000" dirty="0"/>
                  <a:t>In independent t-test we assume independent measurements.</a:t>
                </a:r>
                <a:endParaRPr lang="he-IL" sz="2000" dirty="0"/>
              </a:p>
              <a:p>
                <a:pPr>
                  <a:lnSpc>
                    <a:spcPct val="100000"/>
                  </a:lnSpc>
                </a:pPr>
                <a:r>
                  <a:rPr lang="he-IL" sz="2000" dirty="0" err="1"/>
                  <a:t>Here</a:t>
                </a:r>
                <a:r>
                  <a:rPr lang="he-IL" sz="2000" dirty="0"/>
                  <a:t>, we compare </a:t>
                </a:r>
                <a:r>
                  <a:rPr lang="he-IL" sz="2000" b="1" dirty="0" err="1"/>
                  <a:t>pre-diet</a:t>
                </a:r>
                <a:r>
                  <a:rPr lang="he-IL" sz="2000" b="1" dirty="0"/>
                  <a:t> </a:t>
                </a:r>
                <a:r>
                  <a:rPr lang="he-IL" sz="2000" b="1" dirty="0" err="1"/>
                  <a:t>weight</a:t>
                </a:r>
                <a:r>
                  <a:rPr lang="he-IL" sz="2000" dirty="0"/>
                  <a:t> </a:t>
                </a:r>
                <a:r>
                  <a:rPr lang="he-IL" sz="2000" dirty="0" err="1"/>
                  <a:t>between</a:t>
                </a:r>
                <a:r>
                  <a:rPr lang="he-IL" sz="2000" dirty="0"/>
                  <a:t> </a:t>
                </a:r>
                <a:r>
                  <a:rPr lang="he-IL" sz="2000" dirty="0" err="1"/>
                  <a:t>males</a:t>
                </a:r>
                <a:r>
                  <a:rPr lang="he-IL" sz="2000" dirty="0"/>
                  <a:t> and </a:t>
                </a:r>
                <a:r>
                  <a:rPr lang="he-IL" sz="2000" dirty="0" err="1"/>
                  <a:t>females</a:t>
                </a:r>
                <a:r>
                  <a:rPr lang="he-IL" sz="2000" dirty="0"/>
                  <a:t>:</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he-IL" sz="1800" i="1">
                              <a:latin typeface="Cambria Math" panose="02040503050406030204" pitchFamily="18" charset="0"/>
                            </a:rPr>
                          </m:ctrlPr>
                        </m:sSubPr>
                        <m:e>
                          <m:r>
                            <a:rPr lang="he-IL" sz="1800" i="1">
                              <a:latin typeface="Cambria Math" panose="02040503050406030204" pitchFamily="18" charset="0"/>
                            </a:rPr>
                            <m:t>𝐻</m:t>
                          </m:r>
                        </m:e>
                        <m:sub>
                          <m:r>
                            <a:rPr lang="he-IL" sz="1800">
                              <a:latin typeface="Cambria Math" panose="02040503050406030204" pitchFamily="18" charset="0"/>
                            </a:rPr>
                            <m:t>0</m:t>
                          </m:r>
                        </m:sub>
                      </m:sSub>
                      <m:r>
                        <a:rPr lang="he-IL" sz="1800">
                          <a:latin typeface="Cambria Math" panose="02040503050406030204" pitchFamily="18" charset="0"/>
                        </a:rPr>
                        <m:t>:</m:t>
                      </m:r>
                      <m:sSub>
                        <m:sSubPr>
                          <m:ctrlPr>
                            <a:rPr lang="he-IL" sz="1800" i="1">
                              <a:latin typeface="Cambria Math" panose="02040503050406030204" pitchFamily="18" charset="0"/>
                            </a:rPr>
                          </m:ctrlPr>
                        </m:sSubPr>
                        <m:e>
                          <m:r>
                            <a:rPr lang="he-IL" sz="1800" i="1">
                              <a:latin typeface="Cambria Math" panose="02040503050406030204" pitchFamily="18" charset="0"/>
                            </a:rPr>
                            <m:t>𝜇</m:t>
                          </m:r>
                        </m:e>
                        <m:sub>
                          <m:r>
                            <m:rPr>
                              <m:nor/>
                            </m:rPr>
                            <a:rPr lang="he-IL" sz="1800" i="1"/>
                            <m:t>male</m:t>
                          </m:r>
                        </m:sub>
                      </m:sSub>
                      <m:r>
                        <a:rPr lang="he-IL" sz="1800">
                          <a:latin typeface="Cambria Math" panose="02040503050406030204" pitchFamily="18" charset="0"/>
                        </a:rPr>
                        <m:t>−</m:t>
                      </m:r>
                      <m:sSub>
                        <m:sSubPr>
                          <m:ctrlPr>
                            <a:rPr lang="he-IL" sz="1800" i="1">
                              <a:latin typeface="Cambria Math" panose="02040503050406030204" pitchFamily="18" charset="0"/>
                            </a:rPr>
                          </m:ctrlPr>
                        </m:sSubPr>
                        <m:e>
                          <m:r>
                            <a:rPr lang="he-IL" sz="1800" i="1">
                              <a:latin typeface="Cambria Math" panose="02040503050406030204" pitchFamily="18" charset="0"/>
                            </a:rPr>
                            <m:t>𝜇</m:t>
                          </m:r>
                        </m:e>
                        <m:sub>
                          <m:r>
                            <m:rPr>
                              <m:nor/>
                            </m:rPr>
                            <a:rPr lang="he-IL" sz="1800" i="1"/>
                            <m:t>female</m:t>
                          </m:r>
                        </m:sub>
                      </m:sSub>
                      <m:r>
                        <a:rPr lang="he-IL" sz="1800">
                          <a:latin typeface="Cambria Math" panose="02040503050406030204" pitchFamily="18" charset="0"/>
                        </a:rPr>
                        <m:t>=</m:t>
                      </m:r>
                      <m:r>
                        <a:rPr lang="he-IL" sz="1800">
                          <a:latin typeface="Cambria Math" panose="02040503050406030204" pitchFamily="18" charset="0"/>
                        </a:rPr>
                        <m:t>0</m:t>
                      </m:r>
                    </m:oMath>
                  </m:oMathPara>
                </a14:m>
                <a:endParaRPr lang="he-IL" sz="1800" b="0" dirty="0"/>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he-IL" sz="1800" i="1">
                              <a:latin typeface="Cambria Math" panose="02040503050406030204" pitchFamily="18" charset="0"/>
                            </a:rPr>
                          </m:ctrlPr>
                        </m:sSubPr>
                        <m:e>
                          <m:r>
                            <a:rPr lang="he-IL" sz="1800" i="1">
                              <a:latin typeface="Cambria Math" panose="02040503050406030204" pitchFamily="18" charset="0"/>
                            </a:rPr>
                            <m:t>𝐻</m:t>
                          </m:r>
                        </m:e>
                        <m:sub>
                          <m:r>
                            <a:rPr lang="he-IL" sz="1800">
                              <a:latin typeface="Cambria Math" panose="02040503050406030204" pitchFamily="18" charset="0"/>
                            </a:rPr>
                            <m:t>1</m:t>
                          </m:r>
                        </m:sub>
                      </m:sSub>
                      <m:r>
                        <a:rPr lang="he-IL" sz="1800">
                          <a:latin typeface="Cambria Math" panose="02040503050406030204" pitchFamily="18" charset="0"/>
                        </a:rPr>
                        <m:t>:</m:t>
                      </m:r>
                      <m:sSub>
                        <m:sSubPr>
                          <m:ctrlPr>
                            <a:rPr lang="he-IL" sz="1800" i="1">
                              <a:latin typeface="Cambria Math" panose="02040503050406030204" pitchFamily="18" charset="0"/>
                            </a:rPr>
                          </m:ctrlPr>
                        </m:sSubPr>
                        <m:e>
                          <m:r>
                            <a:rPr lang="he-IL" sz="1800" i="1">
                              <a:latin typeface="Cambria Math" panose="02040503050406030204" pitchFamily="18" charset="0"/>
                            </a:rPr>
                            <m:t>𝜇</m:t>
                          </m:r>
                        </m:e>
                        <m:sub>
                          <m:r>
                            <m:rPr>
                              <m:nor/>
                            </m:rPr>
                            <a:rPr lang="he-IL" sz="1800" i="1"/>
                            <m:t>male</m:t>
                          </m:r>
                        </m:sub>
                      </m:sSub>
                      <m:r>
                        <a:rPr lang="he-IL" sz="1800">
                          <a:latin typeface="Cambria Math" panose="02040503050406030204" pitchFamily="18" charset="0"/>
                        </a:rPr>
                        <m:t>−</m:t>
                      </m:r>
                      <m:sSub>
                        <m:sSubPr>
                          <m:ctrlPr>
                            <a:rPr lang="he-IL" sz="1800" i="1">
                              <a:latin typeface="Cambria Math" panose="02040503050406030204" pitchFamily="18" charset="0"/>
                            </a:rPr>
                          </m:ctrlPr>
                        </m:sSubPr>
                        <m:e>
                          <m:r>
                            <a:rPr lang="he-IL" sz="1800" i="1">
                              <a:latin typeface="Cambria Math" panose="02040503050406030204" pitchFamily="18" charset="0"/>
                            </a:rPr>
                            <m:t>𝜇</m:t>
                          </m:r>
                        </m:e>
                        <m:sub>
                          <m:r>
                            <m:rPr>
                              <m:nor/>
                            </m:rPr>
                            <a:rPr lang="he-IL" sz="1800" i="1"/>
                            <m:t>female</m:t>
                          </m:r>
                        </m:sub>
                      </m:sSub>
                      <m:r>
                        <a:rPr lang="he-IL" sz="1800">
                          <a:latin typeface="Cambria Math" panose="02040503050406030204" pitchFamily="18" charset="0"/>
                        </a:rPr>
                        <m:t>≠</m:t>
                      </m:r>
                      <m:r>
                        <a:rPr lang="he-IL" sz="1800">
                          <a:latin typeface="Cambria Math" panose="02040503050406030204" pitchFamily="18" charset="0"/>
                        </a:rPr>
                        <m:t>0</m:t>
                      </m:r>
                    </m:oMath>
                  </m:oMathPara>
                </a14:m>
                <a:endParaRPr lang="he-IL" sz="1800" b="0" dirty="0"/>
              </a:p>
            </p:txBody>
          </p:sp>
        </mc:Choice>
        <mc:Fallback>
          <p:sp>
            <p:nvSpPr>
              <p:cNvPr id="3" name="מציין מיקום תוכן 2">
                <a:extLst>
                  <a:ext uri="{FF2B5EF4-FFF2-40B4-BE49-F238E27FC236}">
                    <a16:creationId xmlns:a16="http://schemas.microsoft.com/office/drawing/2014/main" id="{97C3CD1B-3529-377E-DB0F-3B1F0E0C06D2}"/>
                  </a:ext>
                </a:extLst>
              </p:cNvPr>
              <p:cNvSpPr>
                <a:spLocks noGrp="1" noRot="1" noChangeAspect="1" noMove="1" noResize="1" noEditPoints="1" noAdjustHandles="1" noChangeArrowheads="1" noChangeShapeType="1" noTextEdit="1"/>
              </p:cNvSpPr>
              <p:nvPr>
                <p:ph idx="1"/>
              </p:nvPr>
            </p:nvSpPr>
            <p:spPr>
              <a:xfrm>
                <a:off x="838200" y="1490663"/>
                <a:ext cx="10834688" cy="5338986"/>
              </a:xfrm>
              <a:blipFill>
                <a:blip r:embed="rId2"/>
                <a:stretch>
                  <a:fillRect l="-506" t="-686"/>
                </a:stretch>
              </a:blipFill>
            </p:spPr>
            <p:txBody>
              <a:bodyPr/>
              <a:lstStyle/>
              <a:p>
                <a:r>
                  <a:rPr lang="he-IL">
                    <a:noFill/>
                  </a:rPr>
                  <a:t> </a:t>
                </a:r>
              </a:p>
            </p:txBody>
          </p:sp>
        </mc:Fallback>
      </mc:AlternateContent>
    </p:spTree>
    <p:extLst>
      <p:ext uri="{BB962C8B-B14F-4D97-AF65-F5344CB8AC3E}">
        <p14:creationId xmlns:p14="http://schemas.microsoft.com/office/powerpoint/2010/main" val="29324809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012C3-DC24-DE4A-C9F7-7915E6D676E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ED9DB2F8-6155-CE34-81A1-F56ADEE3580C}"/>
              </a:ext>
            </a:extLst>
          </p:cNvPr>
          <p:cNvSpPr>
            <a:spLocks noGrp="1"/>
          </p:cNvSpPr>
          <p:nvPr>
            <p:ph type="title"/>
          </p:nvPr>
        </p:nvSpPr>
        <p:spPr>
          <a:xfrm>
            <a:off x="838200" y="165100"/>
            <a:ext cx="10515600" cy="1325563"/>
          </a:xfrm>
        </p:spPr>
        <p:txBody>
          <a:bodyPr/>
          <a:lstStyle/>
          <a:p>
            <a:pPr algn="l" rtl="0"/>
            <a:r>
              <a:rPr lang="en-US" b="1" dirty="0"/>
              <a:t>Independent t-Test</a:t>
            </a:r>
            <a:endParaRPr lang="he-IL" dirty="0"/>
          </a:p>
        </p:txBody>
      </p:sp>
      <mc:AlternateContent xmlns:mc="http://schemas.openxmlformats.org/markup-compatibility/2006">
        <mc:Choice xmlns:a14="http://schemas.microsoft.com/office/drawing/2010/main" Requires="a14">
          <p:sp>
            <p:nvSpPr>
              <p:cNvPr id="3" name="מציין מיקום תוכן 2">
                <a:extLst>
                  <a:ext uri="{FF2B5EF4-FFF2-40B4-BE49-F238E27FC236}">
                    <a16:creationId xmlns:a16="http://schemas.microsoft.com/office/drawing/2014/main" id="{5AE958AF-933A-C4A3-6700-E718007685F1}"/>
                  </a:ext>
                </a:extLst>
              </p:cNvPr>
              <p:cNvSpPr>
                <a:spLocks noGrp="1"/>
              </p:cNvSpPr>
              <p:nvPr>
                <p:ph idx="1"/>
              </p:nvPr>
            </p:nvSpPr>
            <p:spPr>
              <a:xfrm>
                <a:off x="838200" y="1353914"/>
                <a:ext cx="10834688" cy="5338986"/>
              </a:xfrm>
            </p:spPr>
            <p:txBody>
              <a:bodyPr>
                <a:noAutofit/>
              </a:bodyPr>
              <a:lstStyle/>
              <a:p>
                <a:pPr>
                  <a:lnSpc>
                    <a:spcPct val="100000"/>
                  </a:lnSpc>
                </a:pPr>
                <a:r>
                  <a:rPr lang="he-IL" sz="2000" dirty="0"/>
                  <a:t>The </a:t>
                </a:r>
                <a:r>
                  <a:rPr lang="he-IL" sz="2000" dirty="0" err="1"/>
                  <a:t>test</a:t>
                </a:r>
                <a:r>
                  <a:rPr lang="he-IL" sz="2000" dirty="0"/>
                  <a:t> </a:t>
                </a:r>
                <a:r>
                  <a:rPr lang="he-IL" sz="2000" dirty="0" err="1"/>
                  <a:t>statistic</a:t>
                </a:r>
                <a:r>
                  <a:rPr lang="he-IL" sz="2000" dirty="0"/>
                  <a:t> is:</a:t>
                </a:r>
              </a:p>
              <a:p>
                <a:pPr marL="0" indent="0">
                  <a:lnSpc>
                    <a:spcPct val="100000"/>
                  </a:lnSpc>
                  <a:buNone/>
                </a:pPr>
                <a14:m>
                  <m:oMathPara xmlns:m="http://schemas.openxmlformats.org/officeDocument/2006/math">
                    <m:oMathParaPr>
                      <m:jc m:val="centerGroup"/>
                    </m:oMathParaPr>
                    <m:oMath xmlns:m="http://schemas.openxmlformats.org/officeDocument/2006/math">
                      <m:r>
                        <a:rPr lang="he-IL" sz="1800" i="1">
                          <a:latin typeface="Cambria Math" panose="02040503050406030204" pitchFamily="18" charset="0"/>
                        </a:rPr>
                        <m:t>𝑡</m:t>
                      </m:r>
                      <m:r>
                        <a:rPr lang="he-IL" sz="1800">
                          <a:latin typeface="Cambria Math" panose="02040503050406030204" pitchFamily="18" charset="0"/>
                        </a:rPr>
                        <m:t>=</m:t>
                      </m:r>
                      <m:f>
                        <m:fPr>
                          <m:ctrlPr>
                            <a:rPr lang="he-IL" sz="1800" i="1">
                              <a:latin typeface="Cambria Math" panose="02040503050406030204" pitchFamily="18" charset="0"/>
                            </a:rPr>
                          </m:ctrlPr>
                        </m:fPr>
                        <m:num>
                          <m:sSub>
                            <m:sSubPr>
                              <m:ctrlPr>
                                <a:rPr lang="he-IL" sz="1800" i="1" smtClean="0">
                                  <a:latin typeface="Cambria Math" panose="02040503050406030204" pitchFamily="18" charset="0"/>
                                </a:rPr>
                              </m:ctrlPr>
                            </m:sSubPr>
                            <m:e>
                              <m:acc>
                                <m:accPr>
                                  <m:chr m:val="̅"/>
                                  <m:ctrlPr>
                                    <a:rPr lang="he-IL" sz="1800" i="1" smtClean="0">
                                      <a:latin typeface="Cambria Math" panose="02040503050406030204" pitchFamily="18" charset="0"/>
                                    </a:rPr>
                                  </m:ctrlPr>
                                </m:accPr>
                                <m:e>
                                  <m:r>
                                    <a:rPr lang="en-US" sz="1800" b="0" i="1" smtClean="0">
                                      <a:latin typeface="Cambria Math" panose="02040503050406030204" pitchFamily="18" charset="0"/>
                                    </a:rPr>
                                    <m:t>𝑥</m:t>
                                  </m:r>
                                </m:e>
                              </m:acc>
                            </m:e>
                            <m:sub>
                              <m:r>
                                <a:rPr lang="en-US" sz="1800" b="0" i="1" smtClean="0">
                                  <a:latin typeface="Cambria Math" panose="02040503050406030204" pitchFamily="18" charset="0"/>
                                </a:rPr>
                                <m:t>𝑚𝑎𝑙𝑒</m:t>
                              </m:r>
                            </m:sub>
                          </m:sSub>
                          <m:r>
                            <a:rPr lang="he-IL" sz="1800">
                              <a:latin typeface="Cambria Math" panose="02040503050406030204" pitchFamily="18" charset="0"/>
                            </a:rPr>
                            <m:t>−</m:t>
                          </m:r>
                          <m:sSub>
                            <m:sSubPr>
                              <m:ctrlPr>
                                <a:rPr lang="he-IL" sz="1800" i="1">
                                  <a:latin typeface="Cambria Math" panose="02040503050406030204" pitchFamily="18" charset="0"/>
                                </a:rPr>
                              </m:ctrlPr>
                            </m:sSubPr>
                            <m:e>
                              <m:acc>
                                <m:accPr>
                                  <m:chr m:val="̅"/>
                                  <m:ctrlPr>
                                    <a:rPr lang="he-IL" sz="1800" i="1">
                                      <a:latin typeface="Cambria Math" panose="02040503050406030204" pitchFamily="18" charset="0"/>
                                    </a:rPr>
                                  </m:ctrlPr>
                                </m:accPr>
                                <m:e>
                                  <m:r>
                                    <a:rPr lang="en-US" sz="1800" i="1">
                                      <a:latin typeface="Cambria Math" panose="02040503050406030204" pitchFamily="18" charset="0"/>
                                    </a:rPr>
                                    <m:t>𝑥</m:t>
                                  </m:r>
                                </m:e>
                              </m:acc>
                            </m:e>
                            <m:sub>
                              <m:r>
                                <a:rPr lang="en-US" sz="1800" b="0" i="1" smtClean="0">
                                  <a:latin typeface="Cambria Math" panose="02040503050406030204" pitchFamily="18" charset="0"/>
                                </a:rPr>
                                <m:t>𝑓𝑒𝑚𝑎𝑙𝑒</m:t>
                              </m:r>
                            </m:sub>
                          </m:sSub>
                        </m:num>
                        <m:den>
                          <m:sSub>
                            <m:sSubPr>
                              <m:ctrlPr>
                                <a:rPr lang="he-IL" sz="1800" i="1">
                                  <a:latin typeface="Cambria Math" panose="02040503050406030204" pitchFamily="18" charset="0"/>
                                </a:rPr>
                              </m:ctrlPr>
                            </m:sSubPr>
                            <m:e>
                              <m:r>
                                <a:rPr lang="he-IL" sz="1800" i="1">
                                  <a:latin typeface="Cambria Math" panose="02040503050406030204" pitchFamily="18" charset="0"/>
                                </a:rPr>
                                <m:t>𝑠</m:t>
                              </m:r>
                            </m:e>
                            <m:sub>
                              <m:r>
                                <a:rPr lang="he-IL" sz="1800" i="1">
                                  <a:latin typeface="Cambria Math" panose="02040503050406030204" pitchFamily="18" charset="0"/>
                                </a:rPr>
                                <m:t>𝑝</m:t>
                              </m:r>
                            </m:sub>
                          </m:sSub>
                          <m:rad>
                            <m:radPr>
                              <m:degHide m:val="on"/>
                              <m:ctrlPr>
                                <a:rPr lang="he-IL" sz="1800" i="1">
                                  <a:latin typeface="Cambria Math" panose="02040503050406030204" pitchFamily="18" charset="0"/>
                                </a:rPr>
                              </m:ctrlPr>
                            </m:radPr>
                            <m:deg/>
                            <m:e>
                              <m:f>
                                <m:fPr>
                                  <m:ctrlPr>
                                    <a:rPr lang="he-IL" sz="1800" i="1">
                                      <a:latin typeface="Cambria Math" panose="02040503050406030204" pitchFamily="18" charset="0"/>
                                    </a:rPr>
                                  </m:ctrlPr>
                                </m:fPr>
                                <m:num>
                                  <m:r>
                                    <a:rPr lang="he-IL" sz="1800">
                                      <a:latin typeface="Cambria Math" panose="02040503050406030204" pitchFamily="18" charset="0"/>
                                    </a:rPr>
                                    <m:t>1</m:t>
                                  </m:r>
                                </m:num>
                                <m:den>
                                  <m:sSub>
                                    <m:sSubPr>
                                      <m:ctrlPr>
                                        <a:rPr lang="he-IL" sz="1800" i="1">
                                          <a:latin typeface="Cambria Math" panose="02040503050406030204" pitchFamily="18" charset="0"/>
                                        </a:rPr>
                                      </m:ctrlPr>
                                    </m:sSubPr>
                                    <m:e>
                                      <m:r>
                                        <a:rPr lang="he-IL" sz="1800" i="1">
                                          <a:latin typeface="Cambria Math" panose="02040503050406030204" pitchFamily="18" charset="0"/>
                                        </a:rPr>
                                        <m:t>𝑛</m:t>
                                      </m:r>
                                    </m:e>
                                    <m:sub>
                                      <m:r>
                                        <m:rPr>
                                          <m:sty m:val="p"/>
                                        </m:rPr>
                                        <a:rPr lang="he-IL" sz="1800" i="1">
                                          <a:latin typeface="Cambria Math" panose="02040503050406030204" pitchFamily="18" charset="0"/>
                                        </a:rPr>
                                        <m:t>male</m:t>
                                      </m:r>
                                    </m:sub>
                                  </m:sSub>
                                </m:den>
                              </m:f>
                              <m:r>
                                <a:rPr lang="he-IL" sz="1800">
                                  <a:latin typeface="Cambria Math" panose="02040503050406030204" pitchFamily="18" charset="0"/>
                                </a:rPr>
                                <m:t>+</m:t>
                              </m:r>
                              <m:f>
                                <m:fPr>
                                  <m:ctrlPr>
                                    <a:rPr lang="he-IL" sz="1800" i="1">
                                      <a:latin typeface="Cambria Math" panose="02040503050406030204" pitchFamily="18" charset="0"/>
                                    </a:rPr>
                                  </m:ctrlPr>
                                </m:fPr>
                                <m:num>
                                  <m:r>
                                    <a:rPr lang="he-IL" sz="1800">
                                      <a:latin typeface="Cambria Math" panose="02040503050406030204" pitchFamily="18" charset="0"/>
                                    </a:rPr>
                                    <m:t>1</m:t>
                                  </m:r>
                                </m:num>
                                <m:den>
                                  <m:sSub>
                                    <m:sSubPr>
                                      <m:ctrlPr>
                                        <a:rPr lang="he-IL" sz="1800" i="1">
                                          <a:latin typeface="Cambria Math" panose="02040503050406030204" pitchFamily="18" charset="0"/>
                                        </a:rPr>
                                      </m:ctrlPr>
                                    </m:sSubPr>
                                    <m:e>
                                      <m:r>
                                        <a:rPr lang="he-IL" sz="1800" i="1">
                                          <a:latin typeface="Cambria Math" panose="02040503050406030204" pitchFamily="18" charset="0"/>
                                        </a:rPr>
                                        <m:t>𝑛</m:t>
                                      </m:r>
                                    </m:e>
                                    <m:sub>
                                      <m:r>
                                        <m:rPr>
                                          <m:sty m:val="p"/>
                                        </m:rPr>
                                        <a:rPr lang="he-IL" sz="1800" i="1">
                                          <a:latin typeface="Cambria Math" panose="02040503050406030204" pitchFamily="18" charset="0"/>
                                        </a:rPr>
                                        <m:t>female</m:t>
                                      </m:r>
                                    </m:sub>
                                  </m:sSub>
                                </m:den>
                              </m:f>
                            </m:e>
                          </m:rad>
                        </m:den>
                      </m:f>
                    </m:oMath>
                  </m:oMathPara>
                </a14:m>
                <a:endParaRPr lang="he-IL" sz="2000" dirty="0"/>
              </a:p>
              <a:p>
                <a:pPr>
                  <a:lnSpc>
                    <a:spcPct val="100000"/>
                  </a:lnSpc>
                </a:pPr>
                <a:r>
                  <a:rPr lang="he-IL" sz="2000" dirty="0" err="1"/>
                  <a:t>Where</a:t>
                </a:r>
                <a:r>
                  <a:rPr lang="he-IL" sz="2000" dirty="0"/>
                  <a:t>:</a:t>
                </a:r>
              </a:p>
              <a:p>
                <a:pPr lvl="1">
                  <a:lnSpc>
                    <a:spcPct val="100000"/>
                  </a:lnSpc>
                </a:pPr>
                <a14:m>
                  <m:oMath xmlns:m="http://schemas.openxmlformats.org/officeDocument/2006/math">
                    <m:sSub>
                      <m:sSubPr>
                        <m:ctrlPr>
                          <a:rPr lang="he-IL" sz="2000" i="1">
                            <a:latin typeface="Cambria Math" panose="02040503050406030204" pitchFamily="18" charset="0"/>
                          </a:rPr>
                        </m:ctrlPr>
                      </m:sSubPr>
                      <m:e>
                        <m:acc>
                          <m:accPr>
                            <m:chr m:val="̅"/>
                            <m:ctrlPr>
                              <a:rPr lang="he-IL"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𝑚𝑎𝑙𝑒</m:t>
                        </m:r>
                      </m:sub>
                    </m:sSub>
                    <m:r>
                      <a:rPr lang="en-US" sz="2000" b="0" i="1" smtClean="0">
                        <a:latin typeface="Cambria Math" panose="02040503050406030204" pitchFamily="18" charset="0"/>
                      </a:rPr>
                      <m:t>, </m:t>
                    </m:r>
                    <m:sSub>
                      <m:sSubPr>
                        <m:ctrlPr>
                          <a:rPr lang="he-IL" sz="2000" i="1">
                            <a:latin typeface="Cambria Math" panose="02040503050406030204" pitchFamily="18" charset="0"/>
                          </a:rPr>
                        </m:ctrlPr>
                      </m:sSubPr>
                      <m:e>
                        <m:acc>
                          <m:accPr>
                            <m:chr m:val="̅"/>
                            <m:ctrlPr>
                              <a:rPr lang="he-IL"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𝑓𝑒𝑚𝑎𝑙𝑒</m:t>
                        </m:r>
                      </m:sub>
                    </m:sSub>
                  </m:oMath>
                </a14:m>
                <a:r>
                  <a:rPr lang="he-IL" sz="2000" dirty="0"/>
                  <a:t>are the sample </a:t>
                </a:r>
                <a:r>
                  <a:rPr lang="he-IL" sz="2000" dirty="0" err="1"/>
                  <a:t>means</a:t>
                </a:r>
                <a:r>
                  <a:rPr lang="he-IL" sz="2000" dirty="0"/>
                  <a:t>,</a:t>
                </a:r>
              </a:p>
              <a:p>
                <a:pPr lvl="1">
                  <a:lnSpc>
                    <a:spcPct val="100000"/>
                  </a:lnSpc>
                </a:pPr>
                <a14:m>
                  <m:oMath xmlns:m="http://schemas.openxmlformats.org/officeDocument/2006/math">
                    <m:sSub>
                      <m:sSubPr>
                        <m:ctrlPr>
                          <a:rPr lang="he-IL" sz="2000" i="1">
                            <a:latin typeface="Cambria Math" panose="02040503050406030204" pitchFamily="18" charset="0"/>
                          </a:rPr>
                        </m:ctrlPr>
                      </m:sSubPr>
                      <m:e>
                        <m:r>
                          <a:rPr lang="he-IL" sz="2000" i="1">
                            <a:latin typeface="Cambria Math" panose="02040503050406030204" pitchFamily="18" charset="0"/>
                          </a:rPr>
                          <m:t>𝑛</m:t>
                        </m:r>
                      </m:e>
                      <m:sub>
                        <m:r>
                          <m:rPr>
                            <m:nor/>
                          </m:rPr>
                          <a:rPr lang="he-IL" sz="2000" i="1"/>
                          <m:t>male</m:t>
                        </m:r>
                      </m:sub>
                    </m:sSub>
                    <m:r>
                      <a:rPr lang="he-IL" sz="2000">
                        <a:latin typeface="Cambria Math" panose="02040503050406030204" pitchFamily="18" charset="0"/>
                      </a:rPr>
                      <m:t>,</m:t>
                    </m:r>
                    <m:sSub>
                      <m:sSubPr>
                        <m:ctrlPr>
                          <a:rPr lang="he-IL" sz="2000" i="1">
                            <a:latin typeface="Cambria Math" panose="02040503050406030204" pitchFamily="18" charset="0"/>
                          </a:rPr>
                        </m:ctrlPr>
                      </m:sSubPr>
                      <m:e>
                        <m:r>
                          <a:rPr lang="he-IL" sz="2000" i="1">
                            <a:latin typeface="Cambria Math" panose="02040503050406030204" pitchFamily="18" charset="0"/>
                          </a:rPr>
                          <m:t>𝑛</m:t>
                        </m:r>
                      </m:e>
                      <m:sub>
                        <m:r>
                          <m:rPr>
                            <m:nor/>
                          </m:rPr>
                          <a:rPr lang="he-IL" sz="2000" i="1"/>
                          <m:t>female</m:t>
                        </m:r>
                      </m:sub>
                    </m:sSub>
                  </m:oMath>
                </a14:m>
                <a:r>
                  <a:rPr lang="he-IL" sz="2000" dirty="0"/>
                  <a:t> are the sample </a:t>
                </a:r>
                <a:r>
                  <a:rPr lang="he-IL" sz="2000" dirty="0" err="1"/>
                  <a:t>sizes</a:t>
                </a:r>
                <a:r>
                  <a:rPr lang="he-IL" sz="2000" dirty="0"/>
                  <a:t>,</a:t>
                </a:r>
              </a:p>
              <a:p>
                <a:pPr lvl="1">
                  <a:lnSpc>
                    <a:spcPct val="100000"/>
                  </a:lnSpc>
                </a:pPr>
                <a14:m>
                  <m:oMath xmlns:m="http://schemas.openxmlformats.org/officeDocument/2006/math">
                    <m:sSub>
                      <m:sSubPr>
                        <m:ctrlPr>
                          <a:rPr lang="he-IL" sz="2000" i="1">
                            <a:latin typeface="Cambria Math" panose="02040503050406030204" pitchFamily="18" charset="0"/>
                          </a:rPr>
                        </m:ctrlPr>
                      </m:sSubPr>
                      <m:e>
                        <m:r>
                          <a:rPr lang="he-IL" sz="2000" i="1">
                            <a:latin typeface="Cambria Math" panose="02040503050406030204" pitchFamily="18" charset="0"/>
                          </a:rPr>
                          <m:t>𝑠</m:t>
                        </m:r>
                      </m:e>
                      <m:sub>
                        <m:r>
                          <m:rPr>
                            <m:nor/>
                          </m:rPr>
                          <a:rPr lang="he-IL" sz="2000" i="1"/>
                          <m:t>male</m:t>
                        </m:r>
                      </m:sub>
                    </m:sSub>
                    <m:r>
                      <a:rPr lang="he-IL" sz="2000">
                        <a:latin typeface="Cambria Math" panose="02040503050406030204" pitchFamily="18" charset="0"/>
                      </a:rPr>
                      <m:t>,</m:t>
                    </m:r>
                    <m:sSub>
                      <m:sSubPr>
                        <m:ctrlPr>
                          <a:rPr lang="he-IL" sz="2000" i="1">
                            <a:latin typeface="Cambria Math" panose="02040503050406030204" pitchFamily="18" charset="0"/>
                          </a:rPr>
                        </m:ctrlPr>
                      </m:sSubPr>
                      <m:e>
                        <m:r>
                          <a:rPr lang="he-IL" sz="2000" i="1">
                            <a:latin typeface="Cambria Math" panose="02040503050406030204" pitchFamily="18" charset="0"/>
                          </a:rPr>
                          <m:t>𝑠</m:t>
                        </m:r>
                      </m:e>
                      <m:sub>
                        <m:r>
                          <m:rPr>
                            <m:nor/>
                          </m:rPr>
                          <a:rPr lang="he-IL" sz="2000" i="1"/>
                          <m:t>female</m:t>
                        </m:r>
                      </m:sub>
                    </m:sSub>
                  </m:oMath>
                </a14:m>
                <a:r>
                  <a:rPr lang="he-IL" sz="2000" dirty="0"/>
                  <a:t> are the sample </a:t>
                </a:r>
                <a:r>
                  <a:rPr lang="he-IL" sz="2000" dirty="0" err="1"/>
                  <a:t>standard</a:t>
                </a:r>
                <a:r>
                  <a:rPr lang="he-IL" sz="2000" dirty="0"/>
                  <a:t> </a:t>
                </a:r>
                <a:r>
                  <a:rPr lang="he-IL" sz="2000" dirty="0" err="1"/>
                  <a:t>deviations</a:t>
                </a:r>
                <a:r>
                  <a:rPr lang="he-IL" sz="2000" dirty="0"/>
                  <a:t>,</a:t>
                </a:r>
              </a:p>
              <a:p>
                <a:pPr lvl="1">
                  <a:lnSpc>
                    <a:spcPct val="100000"/>
                  </a:lnSpc>
                </a:pPr>
                <a:r>
                  <a:rPr lang="he-IL" sz="2000" dirty="0"/>
                  <a:t> </a:t>
                </a:r>
                <a14:m>
                  <m:oMath xmlns:m="http://schemas.openxmlformats.org/officeDocument/2006/math">
                    <m:sSub>
                      <m:sSubPr>
                        <m:ctrlPr>
                          <a:rPr lang="he-IL" sz="2000" i="1">
                            <a:latin typeface="Cambria Math" panose="02040503050406030204" pitchFamily="18" charset="0"/>
                          </a:rPr>
                        </m:ctrlPr>
                      </m:sSubPr>
                      <m:e>
                        <m:r>
                          <a:rPr lang="he-IL" sz="2000">
                            <a:latin typeface="Cambria Math" panose="02040503050406030204" pitchFamily="18" charset="0"/>
                          </a:rPr>
                          <m:t>𝑠</m:t>
                        </m:r>
                      </m:e>
                      <m:sub>
                        <m:r>
                          <a:rPr lang="he-IL" sz="2000">
                            <a:latin typeface="Cambria Math" panose="02040503050406030204" pitchFamily="18" charset="0"/>
                          </a:rPr>
                          <m:t>𝑝</m:t>
                        </m:r>
                      </m:sub>
                    </m:sSub>
                  </m:oMath>
                </a14:m>
                <a:r>
                  <a:rPr lang="he-IL" sz="2000" dirty="0"/>
                  <a:t>is the </a:t>
                </a:r>
                <a:r>
                  <a:rPr lang="he-IL" sz="2000" dirty="0" err="1"/>
                  <a:t>pooled</a:t>
                </a:r>
                <a:r>
                  <a:rPr lang="he-IL" sz="2000" dirty="0"/>
                  <a:t> </a:t>
                </a:r>
                <a:r>
                  <a:rPr lang="he-IL" sz="2000" dirty="0" err="1"/>
                  <a:t>standard</a:t>
                </a:r>
                <a:r>
                  <a:rPr lang="he-IL" sz="2000" dirty="0"/>
                  <a:t> </a:t>
                </a:r>
                <a:r>
                  <a:rPr lang="he-IL" sz="2000" dirty="0" err="1"/>
                  <a:t>deviation</a:t>
                </a:r>
                <a:endParaRPr lang="he-IL" sz="2000" dirty="0"/>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he-IL" sz="1800" i="1">
                              <a:latin typeface="Cambria Math" panose="02040503050406030204" pitchFamily="18" charset="0"/>
                            </a:rPr>
                          </m:ctrlPr>
                        </m:sSubPr>
                        <m:e>
                          <m:r>
                            <a:rPr lang="he-IL" sz="1800" i="1">
                              <a:latin typeface="Cambria Math" panose="02040503050406030204" pitchFamily="18" charset="0"/>
                            </a:rPr>
                            <m:t>𝑠</m:t>
                          </m:r>
                        </m:e>
                        <m:sub>
                          <m:r>
                            <a:rPr lang="he-IL" sz="1800" i="1">
                              <a:latin typeface="Cambria Math" panose="02040503050406030204" pitchFamily="18" charset="0"/>
                            </a:rPr>
                            <m:t>𝑝</m:t>
                          </m:r>
                        </m:sub>
                      </m:sSub>
                      <m:r>
                        <a:rPr lang="he-IL" sz="1800">
                          <a:latin typeface="Cambria Math" panose="02040503050406030204" pitchFamily="18" charset="0"/>
                        </a:rPr>
                        <m:t>=</m:t>
                      </m:r>
                      <m:rad>
                        <m:radPr>
                          <m:degHide m:val="on"/>
                          <m:ctrlPr>
                            <a:rPr lang="he-IL" sz="1800" i="1">
                              <a:latin typeface="Cambria Math" panose="02040503050406030204" pitchFamily="18" charset="0"/>
                            </a:rPr>
                          </m:ctrlPr>
                        </m:radPr>
                        <m:deg/>
                        <m:e>
                          <m:f>
                            <m:fPr>
                              <m:ctrlPr>
                                <a:rPr lang="he-IL" sz="1800" i="1">
                                  <a:latin typeface="Cambria Math" panose="02040503050406030204" pitchFamily="18" charset="0"/>
                                </a:rPr>
                              </m:ctrlPr>
                            </m:fPr>
                            <m:num>
                              <m:d>
                                <m:dPr>
                                  <m:ctrlPr>
                                    <a:rPr lang="he-IL" sz="1800" i="1">
                                      <a:latin typeface="Cambria Math" panose="02040503050406030204" pitchFamily="18" charset="0"/>
                                    </a:rPr>
                                  </m:ctrlPr>
                                </m:dPr>
                                <m:e>
                                  <m:sSub>
                                    <m:sSubPr>
                                      <m:ctrlPr>
                                        <a:rPr lang="he-IL" sz="1800" i="1">
                                          <a:latin typeface="Cambria Math" panose="02040503050406030204" pitchFamily="18" charset="0"/>
                                        </a:rPr>
                                      </m:ctrlPr>
                                    </m:sSubPr>
                                    <m:e>
                                      <m:r>
                                        <a:rPr lang="he-IL" sz="1800" i="1">
                                          <a:latin typeface="Cambria Math" panose="02040503050406030204" pitchFamily="18" charset="0"/>
                                        </a:rPr>
                                        <m:t>𝑛</m:t>
                                      </m:r>
                                    </m:e>
                                    <m:sub>
                                      <m:r>
                                        <m:rPr>
                                          <m:sty m:val="p"/>
                                        </m:rPr>
                                        <a:rPr lang="he-IL" sz="1800" i="1">
                                          <a:latin typeface="Cambria Math" panose="02040503050406030204" pitchFamily="18" charset="0"/>
                                        </a:rPr>
                                        <m:t>male</m:t>
                                      </m:r>
                                    </m:sub>
                                  </m:sSub>
                                  <m:r>
                                    <a:rPr lang="he-IL" sz="1800">
                                      <a:latin typeface="Cambria Math" panose="02040503050406030204" pitchFamily="18" charset="0"/>
                                    </a:rPr>
                                    <m:t>−</m:t>
                                  </m:r>
                                  <m:r>
                                    <a:rPr lang="he-IL" sz="1800">
                                      <a:latin typeface="Cambria Math" panose="02040503050406030204" pitchFamily="18" charset="0"/>
                                    </a:rPr>
                                    <m:t>1</m:t>
                                  </m:r>
                                </m:e>
                              </m:d>
                              <m:sSubSup>
                                <m:sSubSupPr>
                                  <m:ctrlPr>
                                    <a:rPr lang="he-IL" sz="1800" i="1">
                                      <a:latin typeface="Cambria Math" panose="02040503050406030204" pitchFamily="18" charset="0"/>
                                    </a:rPr>
                                  </m:ctrlPr>
                                </m:sSubSupPr>
                                <m:e>
                                  <m:r>
                                    <a:rPr lang="he-IL" sz="1800" i="1">
                                      <a:latin typeface="Cambria Math" panose="02040503050406030204" pitchFamily="18" charset="0"/>
                                    </a:rPr>
                                    <m:t>𝑠</m:t>
                                  </m:r>
                                </m:e>
                                <m:sub>
                                  <m:r>
                                    <m:rPr>
                                      <m:sty m:val="p"/>
                                    </m:rPr>
                                    <a:rPr lang="he-IL" sz="1800" i="1">
                                      <a:latin typeface="Cambria Math" panose="02040503050406030204" pitchFamily="18" charset="0"/>
                                    </a:rPr>
                                    <m:t>male</m:t>
                                  </m:r>
                                </m:sub>
                                <m:sup>
                                  <m:r>
                                    <a:rPr lang="he-IL" sz="1800">
                                      <a:latin typeface="Cambria Math" panose="02040503050406030204" pitchFamily="18" charset="0"/>
                                    </a:rPr>
                                    <m:t>2</m:t>
                                  </m:r>
                                </m:sup>
                              </m:sSubSup>
                              <m:r>
                                <a:rPr lang="he-IL" sz="1800">
                                  <a:latin typeface="Cambria Math" panose="02040503050406030204" pitchFamily="18" charset="0"/>
                                </a:rPr>
                                <m:t>+</m:t>
                              </m:r>
                              <m:d>
                                <m:dPr>
                                  <m:ctrlPr>
                                    <a:rPr lang="he-IL" sz="1800" i="1">
                                      <a:latin typeface="Cambria Math" panose="02040503050406030204" pitchFamily="18" charset="0"/>
                                    </a:rPr>
                                  </m:ctrlPr>
                                </m:dPr>
                                <m:e>
                                  <m:sSub>
                                    <m:sSubPr>
                                      <m:ctrlPr>
                                        <a:rPr lang="he-IL" sz="1800" i="1">
                                          <a:latin typeface="Cambria Math" panose="02040503050406030204" pitchFamily="18" charset="0"/>
                                        </a:rPr>
                                      </m:ctrlPr>
                                    </m:sSubPr>
                                    <m:e>
                                      <m:r>
                                        <a:rPr lang="he-IL" sz="1800" i="1">
                                          <a:latin typeface="Cambria Math" panose="02040503050406030204" pitchFamily="18" charset="0"/>
                                        </a:rPr>
                                        <m:t>𝑛</m:t>
                                      </m:r>
                                    </m:e>
                                    <m:sub>
                                      <m:r>
                                        <m:rPr>
                                          <m:sty m:val="p"/>
                                        </m:rPr>
                                        <a:rPr lang="he-IL" sz="1800" i="1">
                                          <a:latin typeface="Cambria Math" panose="02040503050406030204" pitchFamily="18" charset="0"/>
                                        </a:rPr>
                                        <m:t>female</m:t>
                                      </m:r>
                                    </m:sub>
                                  </m:sSub>
                                  <m:r>
                                    <a:rPr lang="he-IL" sz="1800">
                                      <a:latin typeface="Cambria Math" panose="02040503050406030204" pitchFamily="18" charset="0"/>
                                    </a:rPr>
                                    <m:t>−</m:t>
                                  </m:r>
                                  <m:r>
                                    <a:rPr lang="he-IL" sz="1800">
                                      <a:latin typeface="Cambria Math" panose="02040503050406030204" pitchFamily="18" charset="0"/>
                                    </a:rPr>
                                    <m:t>1</m:t>
                                  </m:r>
                                </m:e>
                              </m:d>
                              <m:sSubSup>
                                <m:sSubSupPr>
                                  <m:ctrlPr>
                                    <a:rPr lang="he-IL" sz="1800" i="1">
                                      <a:latin typeface="Cambria Math" panose="02040503050406030204" pitchFamily="18" charset="0"/>
                                    </a:rPr>
                                  </m:ctrlPr>
                                </m:sSubSupPr>
                                <m:e>
                                  <m:r>
                                    <a:rPr lang="he-IL" sz="1800" i="1">
                                      <a:latin typeface="Cambria Math" panose="02040503050406030204" pitchFamily="18" charset="0"/>
                                    </a:rPr>
                                    <m:t>𝑠</m:t>
                                  </m:r>
                                </m:e>
                                <m:sub>
                                  <m:r>
                                    <m:rPr>
                                      <m:sty m:val="p"/>
                                    </m:rPr>
                                    <a:rPr lang="he-IL" sz="1800" i="1">
                                      <a:latin typeface="Cambria Math" panose="02040503050406030204" pitchFamily="18" charset="0"/>
                                    </a:rPr>
                                    <m:t>female</m:t>
                                  </m:r>
                                </m:sub>
                                <m:sup>
                                  <m:r>
                                    <a:rPr lang="he-IL" sz="1800">
                                      <a:latin typeface="Cambria Math" panose="02040503050406030204" pitchFamily="18" charset="0"/>
                                    </a:rPr>
                                    <m:t>2</m:t>
                                  </m:r>
                                </m:sup>
                              </m:sSubSup>
                            </m:num>
                            <m:den>
                              <m:sSub>
                                <m:sSubPr>
                                  <m:ctrlPr>
                                    <a:rPr lang="he-IL" sz="1800" i="1">
                                      <a:latin typeface="Cambria Math" panose="02040503050406030204" pitchFamily="18" charset="0"/>
                                    </a:rPr>
                                  </m:ctrlPr>
                                </m:sSubPr>
                                <m:e>
                                  <m:r>
                                    <a:rPr lang="he-IL" sz="1800" i="1">
                                      <a:latin typeface="Cambria Math" panose="02040503050406030204" pitchFamily="18" charset="0"/>
                                    </a:rPr>
                                    <m:t>𝑛</m:t>
                                  </m:r>
                                </m:e>
                                <m:sub>
                                  <m:r>
                                    <m:rPr>
                                      <m:sty m:val="p"/>
                                    </m:rPr>
                                    <a:rPr lang="he-IL" sz="1800" i="1">
                                      <a:latin typeface="Cambria Math" panose="02040503050406030204" pitchFamily="18" charset="0"/>
                                    </a:rPr>
                                    <m:t>male</m:t>
                                  </m:r>
                                </m:sub>
                              </m:sSub>
                              <m:r>
                                <a:rPr lang="he-IL" sz="1800">
                                  <a:latin typeface="Cambria Math" panose="02040503050406030204" pitchFamily="18" charset="0"/>
                                </a:rPr>
                                <m:t>+</m:t>
                              </m:r>
                              <m:sSub>
                                <m:sSubPr>
                                  <m:ctrlPr>
                                    <a:rPr lang="he-IL" sz="1800" i="1">
                                      <a:latin typeface="Cambria Math" panose="02040503050406030204" pitchFamily="18" charset="0"/>
                                    </a:rPr>
                                  </m:ctrlPr>
                                </m:sSubPr>
                                <m:e>
                                  <m:r>
                                    <a:rPr lang="he-IL" sz="1800" i="1">
                                      <a:latin typeface="Cambria Math" panose="02040503050406030204" pitchFamily="18" charset="0"/>
                                    </a:rPr>
                                    <m:t>𝑛</m:t>
                                  </m:r>
                                </m:e>
                                <m:sub>
                                  <m:r>
                                    <m:rPr>
                                      <m:sty m:val="p"/>
                                    </m:rPr>
                                    <a:rPr lang="he-IL" sz="1800" i="1">
                                      <a:latin typeface="Cambria Math" panose="02040503050406030204" pitchFamily="18" charset="0"/>
                                    </a:rPr>
                                    <m:t>female</m:t>
                                  </m:r>
                                </m:sub>
                              </m:sSub>
                              <m:r>
                                <a:rPr lang="he-IL" sz="1800">
                                  <a:latin typeface="Cambria Math" panose="02040503050406030204" pitchFamily="18" charset="0"/>
                                </a:rPr>
                                <m:t>−</m:t>
                              </m:r>
                              <m:r>
                                <a:rPr lang="he-IL" sz="1800">
                                  <a:latin typeface="Cambria Math" panose="02040503050406030204" pitchFamily="18" charset="0"/>
                                </a:rPr>
                                <m:t>2</m:t>
                              </m:r>
                            </m:den>
                          </m:f>
                        </m:e>
                      </m:rad>
                    </m:oMath>
                  </m:oMathPara>
                </a14:m>
                <a:endParaRPr lang="he-IL" sz="2000" b="0" dirty="0"/>
              </a:p>
              <a:p>
                <a:pPr>
                  <a:lnSpc>
                    <a:spcPct val="100000"/>
                  </a:lnSpc>
                </a:pPr>
                <a:r>
                  <a:rPr lang="he-IL" sz="2000" dirty="0"/>
                  <a:t>Under the </a:t>
                </a:r>
                <a:r>
                  <a:rPr lang="he-IL" sz="2000" dirty="0" err="1"/>
                  <a:t>null</a:t>
                </a:r>
                <a:r>
                  <a:rPr lang="he-IL" sz="2000" dirty="0"/>
                  <a:t> hypothesis:</a:t>
                </a:r>
              </a:p>
              <a:p>
                <a:pPr marL="0" indent="0">
                  <a:lnSpc>
                    <a:spcPct val="100000"/>
                  </a:lnSpc>
                  <a:buNone/>
                </a:pPr>
                <a14:m>
                  <m:oMathPara xmlns:m="http://schemas.openxmlformats.org/officeDocument/2006/math">
                    <m:oMathParaPr>
                      <m:jc m:val="centerGroup"/>
                    </m:oMathParaPr>
                    <m:oMath xmlns:m="http://schemas.openxmlformats.org/officeDocument/2006/math">
                      <m:r>
                        <a:rPr lang="he-IL" sz="2000" i="1">
                          <a:latin typeface="Cambria Math" panose="02040503050406030204" pitchFamily="18" charset="0"/>
                        </a:rPr>
                        <m:t>𝑡</m:t>
                      </m:r>
                      <m:r>
                        <a:rPr lang="he-IL" sz="2000">
                          <a:latin typeface="Cambria Math" panose="02040503050406030204" pitchFamily="18" charset="0"/>
                        </a:rPr>
                        <m:t>∼</m:t>
                      </m:r>
                      <m:sSub>
                        <m:sSubPr>
                          <m:ctrlPr>
                            <a:rPr lang="he-IL" sz="2000" i="1">
                              <a:latin typeface="Cambria Math" panose="02040503050406030204" pitchFamily="18" charset="0"/>
                            </a:rPr>
                          </m:ctrlPr>
                        </m:sSubPr>
                        <m:e>
                          <m:r>
                            <a:rPr lang="he-IL" sz="2000" i="1">
                              <a:latin typeface="Cambria Math" panose="02040503050406030204" pitchFamily="18" charset="0"/>
                            </a:rPr>
                            <m:t>𝑡</m:t>
                          </m:r>
                        </m:e>
                        <m:sub>
                          <m:sSub>
                            <m:sSubPr>
                              <m:ctrlPr>
                                <a:rPr lang="he-IL" sz="2000" i="1">
                                  <a:latin typeface="Cambria Math" panose="02040503050406030204" pitchFamily="18" charset="0"/>
                                </a:rPr>
                              </m:ctrlPr>
                            </m:sSubPr>
                            <m:e>
                              <m:r>
                                <a:rPr lang="he-IL" sz="2000" i="1">
                                  <a:latin typeface="Cambria Math" panose="02040503050406030204" pitchFamily="18" charset="0"/>
                                </a:rPr>
                                <m:t>𝑛</m:t>
                              </m:r>
                            </m:e>
                            <m:sub>
                              <m:r>
                                <m:rPr>
                                  <m:sty m:val="p"/>
                                </m:rPr>
                                <a:rPr lang="he-IL" sz="2000" i="1">
                                  <a:latin typeface="Cambria Math" panose="02040503050406030204" pitchFamily="18" charset="0"/>
                                </a:rPr>
                                <m:t>male</m:t>
                              </m:r>
                            </m:sub>
                          </m:sSub>
                          <m:r>
                            <a:rPr lang="he-IL" sz="2000">
                              <a:latin typeface="Cambria Math" panose="02040503050406030204" pitchFamily="18" charset="0"/>
                            </a:rPr>
                            <m:t>+</m:t>
                          </m:r>
                          <m:sSub>
                            <m:sSubPr>
                              <m:ctrlPr>
                                <a:rPr lang="he-IL" sz="2000" i="1">
                                  <a:latin typeface="Cambria Math" panose="02040503050406030204" pitchFamily="18" charset="0"/>
                                </a:rPr>
                              </m:ctrlPr>
                            </m:sSubPr>
                            <m:e>
                              <m:r>
                                <a:rPr lang="he-IL" sz="2000" i="1">
                                  <a:latin typeface="Cambria Math" panose="02040503050406030204" pitchFamily="18" charset="0"/>
                                </a:rPr>
                                <m:t>𝑛</m:t>
                              </m:r>
                            </m:e>
                            <m:sub>
                              <m:r>
                                <m:rPr>
                                  <m:sty m:val="p"/>
                                </m:rPr>
                                <a:rPr lang="he-IL" sz="2000" i="1">
                                  <a:latin typeface="Cambria Math" panose="02040503050406030204" pitchFamily="18" charset="0"/>
                                </a:rPr>
                                <m:t>female</m:t>
                              </m:r>
                            </m:sub>
                          </m:sSub>
                          <m:r>
                            <a:rPr lang="he-IL" sz="2000">
                              <a:latin typeface="Cambria Math" panose="02040503050406030204" pitchFamily="18" charset="0"/>
                            </a:rPr>
                            <m:t>−</m:t>
                          </m:r>
                          <m:r>
                            <a:rPr lang="he-IL" sz="2000">
                              <a:latin typeface="Cambria Math" panose="02040503050406030204" pitchFamily="18" charset="0"/>
                            </a:rPr>
                            <m:t>2</m:t>
                          </m:r>
                        </m:sub>
                      </m:sSub>
                    </m:oMath>
                  </m:oMathPara>
                </a14:m>
                <a:endParaRPr lang="he-IL" sz="2000" b="0" dirty="0"/>
              </a:p>
              <a:p>
                <a:pPr>
                  <a:lnSpc>
                    <a:spcPct val="100000"/>
                  </a:lnSpc>
                </a:pPr>
                <a:r>
                  <a:rPr lang="he-IL" sz="2000" dirty="0"/>
                  <a:t>If the p-</a:t>
                </a:r>
                <a:r>
                  <a:rPr lang="he-IL" sz="2000" dirty="0" err="1"/>
                  <a:t>value</a:t>
                </a:r>
                <a:r>
                  <a:rPr lang="he-IL" sz="2000" dirty="0"/>
                  <a:t> is </a:t>
                </a:r>
                <a:r>
                  <a:rPr lang="he-IL" sz="2000" dirty="0" err="1"/>
                  <a:t>smaller</a:t>
                </a:r>
                <a:r>
                  <a:rPr lang="he-IL" sz="2000" dirty="0"/>
                  <a:t> </a:t>
                </a:r>
                <a:r>
                  <a:rPr lang="he-IL" sz="2000" dirty="0" err="1"/>
                  <a:t>than</a:t>
                </a:r>
                <a:r>
                  <a:rPr lang="he-IL" sz="2000" dirty="0"/>
                  <a:t> </a:t>
                </a:r>
                <a14:m>
                  <m:oMath xmlns:m="http://schemas.openxmlformats.org/officeDocument/2006/math">
                    <m:r>
                      <a:rPr lang="he-IL" sz="2000" i="1">
                        <a:latin typeface="Cambria Math" panose="02040503050406030204" pitchFamily="18" charset="0"/>
                      </a:rPr>
                      <m:t>𝛼</m:t>
                    </m:r>
                  </m:oMath>
                </a14:m>
                <a:r>
                  <a:rPr lang="he-IL" sz="2000" dirty="0"/>
                  <a:t>, we </a:t>
                </a:r>
                <a:r>
                  <a:rPr lang="he-IL" sz="2000" dirty="0" err="1"/>
                  <a:t>reject</a:t>
                </a:r>
                <a:r>
                  <a:rPr lang="he-IL" sz="2000" dirty="0"/>
                  <a:t> </a:t>
                </a:r>
                <a14:m>
                  <m:oMath xmlns:m="http://schemas.openxmlformats.org/officeDocument/2006/math">
                    <m:sSub>
                      <m:sSubPr>
                        <m:ctrlPr>
                          <a:rPr lang="he-IL" sz="2000" i="1">
                            <a:latin typeface="Cambria Math" panose="02040503050406030204" pitchFamily="18" charset="0"/>
                          </a:rPr>
                        </m:ctrlPr>
                      </m:sSubPr>
                      <m:e>
                        <m:r>
                          <a:rPr lang="he-IL" sz="2000" i="1">
                            <a:latin typeface="Cambria Math" panose="02040503050406030204" pitchFamily="18" charset="0"/>
                          </a:rPr>
                          <m:t>𝐻</m:t>
                        </m:r>
                      </m:e>
                      <m:sub>
                        <m:r>
                          <a:rPr lang="he-IL" sz="2000">
                            <a:latin typeface="Cambria Math" panose="02040503050406030204" pitchFamily="18" charset="0"/>
                          </a:rPr>
                          <m:t>0</m:t>
                        </m:r>
                      </m:sub>
                    </m:sSub>
                  </m:oMath>
                </a14:m>
                <a:endParaRPr lang="en-US" sz="2000" dirty="0"/>
              </a:p>
            </p:txBody>
          </p:sp>
        </mc:Choice>
        <mc:Fallback>
          <p:sp>
            <p:nvSpPr>
              <p:cNvPr id="3" name="מציין מיקום תוכן 2">
                <a:extLst>
                  <a:ext uri="{FF2B5EF4-FFF2-40B4-BE49-F238E27FC236}">
                    <a16:creationId xmlns:a16="http://schemas.microsoft.com/office/drawing/2014/main" id="{5AE958AF-933A-C4A3-6700-E718007685F1}"/>
                  </a:ext>
                </a:extLst>
              </p:cNvPr>
              <p:cNvSpPr>
                <a:spLocks noGrp="1" noRot="1" noChangeAspect="1" noMove="1" noResize="1" noEditPoints="1" noAdjustHandles="1" noChangeArrowheads="1" noChangeShapeType="1" noTextEdit="1"/>
              </p:cNvSpPr>
              <p:nvPr>
                <p:ph idx="1"/>
              </p:nvPr>
            </p:nvSpPr>
            <p:spPr>
              <a:xfrm>
                <a:off x="838200" y="1353914"/>
                <a:ext cx="10834688" cy="5338986"/>
              </a:xfrm>
              <a:blipFill>
                <a:blip r:embed="rId3"/>
                <a:stretch>
                  <a:fillRect l="-506" t="-799" b="-571"/>
                </a:stretch>
              </a:blipFill>
            </p:spPr>
            <p:txBody>
              <a:bodyPr/>
              <a:lstStyle/>
              <a:p>
                <a:r>
                  <a:rPr lang="he-IL">
                    <a:noFill/>
                  </a:rPr>
                  <a:t> </a:t>
                </a:r>
              </a:p>
            </p:txBody>
          </p:sp>
        </mc:Fallback>
      </mc:AlternateContent>
    </p:spTree>
    <p:extLst>
      <p:ext uri="{BB962C8B-B14F-4D97-AF65-F5344CB8AC3E}">
        <p14:creationId xmlns:p14="http://schemas.microsoft.com/office/powerpoint/2010/main" val="274491361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04864-5FB5-60FD-5F56-23CE295A7F5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1AAAF4D-C167-4DD6-AB3D-736FBFE027C8}"/>
              </a:ext>
            </a:extLst>
          </p:cNvPr>
          <p:cNvPicPr>
            <a:picLocks noChangeAspect="1"/>
          </p:cNvPicPr>
          <p:nvPr/>
        </p:nvPicPr>
        <p:blipFill>
          <a:blip r:embed="rId3"/>
          <a:stretch>
            <a:fillRect/>
          </a:stretch>
        </p:blipFill>
        <p:spPr>
          <a:xfrm>
            <a:off x="1300766" y="1401802"/>
            <a:ext cx="6776434" cy="5192214"/>
          </a:xfrm>
          <a:prstGeom prst="rect">
            <a:avLst/>
          </a:prstGeom>
        </p:spPr>
      </p:pic>
      <p:sp>
        <p:nvSpPr>
          <p:cNvPr id="2" name="כותרת 1">
            <a:extLst>
              <a:ext uri="{FF2B5EF4-FFF2-40B4-BE49-F238E27FC236}">
                <a16:creationId xmlns:a16="http://schemas.microsoft.com/office/drawing/2014/main" id="{D6EF3096-0829-393B-DA58-948F7E900267}"/>
              </a:ext>
            </a:extLst>
          </p:cNvPr>
          <p:cNvSpPr>
            <a:spLocks noGrp="1"/>
          </p:cNvSpPr>
          <p:nvPr>
            <p:ph type="title"/>
          </p:nvPr>
        </p:nvSpPr>
        <p:spPr/>
        <p:txBody>
          <a:bodyPr/>
          <a:lstStyle/>
          <a:p>
            <a:pPr algn="l" rtl="0"/>
            <a:r>
              <a:rPr lang="en-US" b="1" dirty="0"/>
              <a:t>Independent t-Test</a:t>
            </a:r>
            <a:endParaRPr lang="he-IL" dirty="0"/>
          </a:p>
        </p:txBody>
      </p:sp>
      <p:pic>
        <p:nvPicPr>
          <p:cNvPr id="7" name="תמונה 6">
            <a:extLst>
              <a:ext uri="{FF2B5EF4-FFF2-40B4-BE49-F238E27FC236}">
                <a16:creationId xmlns:a16="http://schemas.microsoft.com/office/drawing/2014/main" id="{7384C47B-4FF1-7971-4A9D-9ECBFBD32EA5}"/>
              </a:ext>
            </a:extLst>
          </p:cNvPr>
          <p:cNvPicPr>
            <a:picLocks noChangeAspect="1"/>
          </p:cNvPicPr>
          <p:nvPr/>
        </p:nvPicPr>
        <p:blipFill>
          <a:blip r:embed="rId4"/>
          <a:stretch>
            <a:fillRect/>
          </a:stretch>
        </p:blipFill>
        <p:spPr>
          <a:xfrm>
            <a:off x="8313366" y="263984"/>
            <a:ext cx="3702539" cy="1527843"/>
          </a:xfrm>
          <a:prstGeom prst="rect">
            <a:avLst/>
          </a:prstGeom>
        </p:spPr>
      </p:pic>
      <p:sp>
        <p:nvSpPr>
          <p:cNvPr id="5" name="Rectangle 4">
            <a:extLst>
              <a:ext uri="{FF2B5EF4-FFF2-40B4-BE49-F238E27FC236}">
                <a16:creationId xmlns:a16="http://schemas.microsoft.com/office/drawing/2014/main" id="{E604C62D-B1B5-03CC-8BFB-C487FB3857A4}"/>
              </a:ext>
            </a:extLst>
          </p:cNvPr>
          <p:cNvSpPr/>
          <p:nvPr/>
        </p:nvSpPr>
        <p:spPr>
          <a:xfrm>
            <a:off x="1300766" y="1978836"/>
            <a:ext cx="2604484" cy="916763"/>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Rectangle 5">
            <a:extLst>
              <a:ext uri="{FF2B5EF4-FFF2-40B4-BE49-F238E27FC236}">
                <a16:creationId xmlns:a16="http://schemas.microsoft.com/office/drawing/2014/main" id="{97E9DC98-FEF9-F87D-DB31-4124633D032A}"/>
              </a:ext>
            </a:extLst>
          </p:cNvPr>
          <p:cNvSpPr/>
          <p:nvPr/>
        </p:nvSpPr>
        <p:spPr>
          <a:xfrm>
            <a:off x="1300766" y="4411869"/>
            <a:ext cx="4838061" cy="916763"/>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Rectangle 7">
            <a:extLst>
              <a:ext uri="{FF2B5EF4-FFF2-40B4-BE49-F238E27FC236}">
                <a16:creationId xmlns:a16="http://schemas.microsoft.com/office/drawing/2014/main" id="{05BE33DD-F664-D8F7-704A-2D9AAF376F53}"/>
              </a:ext>
            </a:extLst>
          </p:cNvPr>
          <p:cNvSpPr/>
          <p:nvPr/>
        </p:nvSpPr>
        <p:spPr>
          <a:xfrm>
            <a:off x="1300766" y="5810249"/>
            <a:ext cx="5252434" cy="361951"/>
          </a:xfrm>
          <a:prstGeom prst="rect">
            <a:avLst/>
          </a:prstGeom>
          <a:solidFill>
            <a:srgbClr val="FFFF66">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40925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D6DE6-9457-A71A-F215-147B928AE7DB}"/>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EE08946-DA37-409B-5D64-C707A83E2FAF}"/>
              </a:ext>
            </a:extLst>
          </p:cNvPr>
          <p:cNvSpPr>
            <a:spLocks noGrp="1"/>
          </p:cNvSpPr>
          <p:nvPr>
            <p:ph type="title"/>
          </p:nvPr>
        </p:nvSpPr>
        <p:spPr/>
        <p:txBody>
          <a:bodyPr/>
          <a:lstStyle/>
          <a:p>
            <a:pPr algn="l" rtl="0"/>
            <a:r>
              <a:rPr lang="en-US" b="1" dirty="0"/>
              <a:t>Independent t-Test</a:t>
            </a:r>
            <a:endParaRPr lang="he-IL" dirty="0"/>
          </a:p>
        </p:txBody>
      </p:sp>
      <mc:AlternateContent xmlns:mc="http://schemas.openxmlformats.org/markup-compatibility/2006" xmlns:a14="http://schemas.microsoft.com/office/drawing/2010/main">
        <mc:Choice Requires="a14">
          <p:sp>
            <p:nvSpPr>
              <p:cNvPr id="5" name="תיבת טקסט 12">
                <a:extLst>
                  <a:ext uri="{FF2B5EF4-FFF2-40B4-BE49-F238E27FC236}">
                    <a16:creationId xmlns:a16="http://schemas.microsoft.com/office/drawing/2014/main" id="{2C26D277-5CD9-12A9-0070-629B358306B0}"/>
                  </a:ext>
                </a:extLst>
              </p:cNvPr>
              <p:cNvSpPr txBox="1"/>
              <p:nvPr/>
            </p:nvSpPr>
            <p:spPr>
              <a:xfrm>
                <a:off x="806485" y="3589194"/>
                <a:ext cx="11209420" cy="3370153"/>
              </a:xfrm>
              <a:prstGeom prst="rect">
                <a:avLst/>
              </a:prstGeom>
              <a:noFill/>
            </p:spPr>
            <p:txBody>
              <a:bodyPr wrap="square">
                <a:spAutoFit/>
              </a:bodyPr>
              <a:lstStyle/>
              <a:p>
                <a:pPr marL="285750" indent="-285750" algn="l" rtl="0">
                  <a:lnSpc>
                    <a:spcPct val="150000"/>
                  </a:lnSpc>
                  <a:buFont typeface="Arial" panose="020B0604020202020204" pitchFamily="34" charset="0"/>
                  <a:buChar char="•"/>
                </a:pPr>
                <a:r>
                  <a:rPr lang="en-US" sz="2400" b="1" dirty="0">
                    <a:latin typeface="David" panose="020E0502060401010101" pitchFamily="34" charset="-79"/>
                    <a:cs typeface="David" panose="020E0502060401010101" pitchFamily="34" charset="-79"/>
                  </a:rPr>
                  <a:t>t-statistic:</a:t>
                </a:r>
                <a:r>
                  <a:rPr lang="en-US" sz="2400" dirty="0">
                    <a:latin typeface="David" panose="020E0502060401010101" pitchFamily="34" charset="-79"/>
                    <a:cs typeface="David" panose="020E0502060401010101" pitchFamily="34" charset="-79"/>
                  </a:rPr>
                  <a:t> 19.085</a:t>
                </a:r>
              </a:p>
              <a:p>
                <a:pPr marL="285750" indent="-285750" algn="l" rtl="0">
                  <a:lnSpc>
                    <a:spcPct val="150000"/>
                  </a:lnSpc>
                  <a:buFont typeface="Arial" panose="020B0604020202020204" pitchFamily="34" charset="0"/>
                  <a:buChar char="•"/>
                </a:pPr>
                <a:r>
                  <a:rPr lang="en-US" sz="2400" b="1" dirty="0">
                    <a:latin typeface="David" panose="020E0502060401010101" pitchFamily="34" charset="-79"/>
                    <a:cs typeface="David" panose="020E0502060401010101" pitchFamily="34" charset="-79"/>
                  </a:rPr>
                  <a:t>p-Value</a:t>
                </a:r>
                <a:r>
                  <a:rPr lang="en-US" sz="2400" dirty="0">
                    <a:latin typeface="David" panose="020E0502060401010101" pitchFamily="34" charset="-79"/>
                    <a:cs typeface="David" panose="020E0502060401010101" pitchFamily="34" charset="-79"/>
                  </a:rPr>
                  <a:t> : </a:t>
                </a:r>
                <a14:m>
                  <m:oMath xmlns:m="http://schemas.openxmlformats.org/officeDocument/2006/math">
                    <m:r>
                      <a:rPr lang="en-US" sz="2400" b="0" i="0" dirty="0" smtClean="0">
                        <a:latin typeface="Cambria Math" panose="02040503050406030204" pitchFamily="18" charset="0"/>
                        <a:cs typeface="David" panose="020E0502060401010101" pitchFamily="34" charset="-79"/>
                      </a:rPr>
                      <m:t>8</m:t>
                    </m:r>
                    <m:r>
                      <a:rPr lang="en-US" sz="2400" b="0" i="0" dirty="0" smtClean="0">
                        <a:latin typeface="Cambria Math" panose="02040503050406030204" pitchFamily="18" charset="0"/>
                        <a:cs typeface="David" panose="020E0502060401010101" pitchFamily="34" charset="-79"/>
                      </a:rPr>
                      <m:t>.</m:t>
                    </m:r>
                    <m:r>
                      <a:rPr lang="en-US" sz="2400" b="0" i="0" dirty="0" smtClean="0">
                        <a:latin typeface="Cambria Math" panose="02040503050406030204" pitchFamily="18" charset="0"/>
                        <a:cs typeface="David" panose="020E0502060401010101" pitchFamily="34" charset="-79"/>
                      </a:rPr>
                      <m:t>826</m:t>
                    </m:r>
                    <m:r>
                      <a:rPr lang="en-US" sz="2400" dirty="0">
                        <a:latin typeface="Cambria Math" panose="02040503050406030204" pitchFamily="18" charset="0"/>
                        <a:cs typeface="David" panose="020E0502060401010101" pitchFamily="34" charset="-79"/>
                      </a:rPr>
                      <m:t>∙</m:t>
                    </m:r>
                    <m:sSup>
                      <m:sSupPr>
                        <m:ctrlPr>
                          <a:rPr lang="en-US" sz="2400" i="1" dirty="0">
                            <a:latin typeface="Cambria Math" panose="02040503050406030204" pitchFamily="18" charset="0"/>
                            <a:cs typeface="David" panose="020E0502060401010101" pitchFamily="34" charset="-79"/>
                          </a:rPr>
                        </m:ctrlPr>
                      </m:sSupPr>
                      <m:e>
                        <m:r>
                          <a:rPr lang="en-US" sz="2400" dirty="0">
                            <a:latin typeface="Cambria Math" panose="02040503050406030204" pitchFamily="18" charset="0"/>
                            <a:cs typeface="David" panose="020E0502060401010101" pitchFamily="34" charset="-79"/>
                          </a:rPr>
                          <m:t>10</m:t>
                        </m:r>
                      </m:e>
                      <m:sup>
                        <m:r>
                          <a:rPr lang="en-US" sz="2400" dirty="0">
                            <a:latin typeface="Cambria Math" panose="02040503050406030204" pitchFamily="18" charset="0"/>
                            <a:cs typeface="David" panose="020E0502060401010101" pitchFamily="34" charset="-79"/>
                          </a:rPr>
                          <m:t>−</m:t>
                        </m:r>
                        <m:r>
                          <a:rPr lang="en-US" sz="2400" b="0" i="0" dirty="0" smtClean="0">
                            <a:latin typeface="Cambria Math" panose="02040503050406030204" pitchFamily="18" charset="0"/>
                            <a:cs typeface="David" panose="020E0502060401010101" pitchFamily="34" charset="-79"/>
                          </a:rPr>
                          <m:t>61</m:t>
                        </m:r>
                      </m:sup>
                    </m:sSup>
                    <m:r>
                      <a:rPr lang="en-US" sz="2400" dirty="0">
                        <a:latin typeface="Cambria Math" panose="02040503050406030204" pitchFamily="18" charset="0"/>
                        <a:cs typeface="David" panose="020E0502060401010101" pitchFamily="34" charset="-79"/>
                      </a:rPr>
                      <m:t> </m:t>
                    </m:r>
                    <m:d>
                      <m:dPr>
                        <m:ctrlPr>
                          <a:rPr lang="en-US" sz="2400" i="1" dirty="0">
                            <a:latin typeface="Cambria Math" panose="02040503050406030204" pitchFamily="18" charset="0"/>
                            <a:cs typeface="David" panose="020E0502060401010101" pitchFamily="34" charset="-79"/>
                          </a:rPr>
                        </m:ctrlPr>
                      </m:dPr>
                      <m:e>
                        <m:r>
                          <a:rPr lang="en-US" sz="2400" dirty="0">
                            <a:latin typeface="Cambria Math" panose="02040503050406030204" pitchFamily="18" charset="0"/>
                            <a:cs typeface="David" panose="020E0502060401010101" pitchFamily="34" charset="-79"/>
                          </a:rPr>
                          <m:t>&lt; </m:t>
                        </m:r>
                        <m:r>
                          <a:rPr lang="en-US" sz="2400" dirty="0">
                            <a:latin typeface="Cambria Math" panose="02040503050406030204" pitchFamily="18" charset="0"/>
                            <a:cs typeface="David" panose="020E0502060401010101" pitchFamily="34" charset="-79"/>
                          </a:rPr>
                          <m:t>0</m:t>
                        </m:r>
                        <m:r>
                          <a:rPr lang="en-US" sz="2400" dirty="0">
                            <a:latin typeface="Cambria Math" panose="02040503050406030204" pitchFamily="18" charset="0"/>
                            <a:cs typeface="David" panose="020E0502060401010101" pitchFamily="34" charset="-79"/>
                          </a:rPr>
                          <m:t>.</m:t>
                        </m:r>
                        <m:r>
                          <a:rPr lang="en-US" sz="2400" dirty="0">
                            <a:latin typeface="Cambria Math" panose="02040503050406030204" pitchFamily="18" charset="0"/>
                            <a:cs typeface="David" panose="020E0502060401010101" pitchFamily="34" charset="-79"/>
                          </a:rPr>
                          <m:t>05</m:t>
                        </m:r>
                      </m:e>
                    </m:d>
                    <m:r>
                      <a:rPr lang="en-US" sz="2400" dirty="0">
                        <a:latin typeface="Cambria Math" panose="02040503050406030204" pitchFamily="18" charset="0"/>
                        <a:cs typeface="David" panose="020E0502060401010101" pitchFamily="34" charset="-79"/>
                      </a:rPr>
                      <m:t>⇒</m:t>
                    </m:r>
                    <m:r>
                      <m:rPr>
                        <m:nor/>
                      </m:rPr>
                      <a:rPr lang="en-US" sz="2400" dirty="0">
                        <a:latin typeface="David" panose="020E0502060401010101" pitchFamily="34" charset="-79"/>
                        <a:cs typeface="David" panose="020E0502060401010101" pitchFamily="34" charset="-79"/>
                      </a:rPr>
                      <m:t>low</m:t>
                    </m:r>
                    <m:r>
                      <m:rPr>
                        <m:nor/>
                      </m:rPr>
                      <a:rPr lang="en-US" sz="2400" dirty="0">
                        <a:latin typeface="David" panose="020E0502060401010101" pitchFamily="34" charset="-79"/>
                        <a:cs typeface="David" panose="020E0502060401010101" pitchFamily="34" charset="-79"/>
                      </a:rPr>
                      <m:t> </m:t>
                    </m:r>
                    <m:r>
                      <m:rPr>
                        <m:nor/>
                      </m:rPr>
                      <a:rPr lang="en-US" sz="2400" dirty="0">
                        <a:latin typeface="David" panose="020E0502060401010101" pitchFamily="34" charset="-79"/>
                        <a:cs typeface="David" panose="020E0502060401010101" pitchFamily="34" charset="-79"/>
                      </a:rPr>
                      <m:t>value</m:t>
                    </m:r>
                    <m:r>
                      <m:rPr>
                        <m:nor/>
                      </m:rPr>
                      <a:rPr lang="en-US" sz="2400" dirty="0">
                        <a:latin typeface="David" panose="020E0502060401010101" pitchFamily="34" charset="-79"/>
                        <a:cs typeface="David" panose="020E0502060401010101" pitchFamily="34" charset="-79"/>
                      </a:rPr>
                      <m:t>, </m:t>
                    </m:r>
                    <m:r>
                      <m:rPr>
                        <m:nor/>
                      </m:rPr>
                      <a:rPr lang="en-US" sz="2400" dirty="0">
                        <a:latin typeface="David" panose="020E0502060401010101" pitchFamily="34" charset="-79"/>
                        <a:cs typeface="David" panose="020E0502060401010101" pitchFamily="34" charset="-79"/>
                      </a:rPr>
                      <m:t>indicating</m:t>
                    </m:r>
                    <m:r>
                      <m:rPr>
                        <m:nor/>
                      </m:rPr>
                      <a:rPr lang="en-US" sz="2400" dirty="0">
                        <a:latin typeface="David" panose="020E0502060401010101" pitchFamily="34" charset="-79"/>
                        <a:cs typeface="David" panose="020E0502060401010101" pitchFamily="34" charset="-79"/>
                      </a:rPr>
                      <m:t> </m:t>
                    </m:r>
                    <m:r>
                      <m:rPr>
                        <m:nor/>
                      </m:rPr>
                      <a:rPr lang="en-US" sz="2400" dirty="0">
                        <a:latin typeface="David" panose="020E0502060401010101" pitchFamily="34" charset="-79"/>
                        <a:cs typeface="David" panose="020E0502060401010101" pitchFamily="34" charset="-79"/>
                      </a:rPr>
                      <m:t>strong</m:t>
                    </m:r>
                    <m:r>
                      <m:rPr>
                        <m:nor/>
                      </m:rPr>
                      <a:rPr lang="en-US" sz="2400" dirty="0">
                        <a:latin typeface="David" panose="020E0502060401010101" pitchFamily="34" charset="-79"/>
                        <a:cs typeface="David" panose="020E0502060401010101" pitchFamily="34" charset="-79"/>
                      </a:rPr>
                      <m:t> </m:t>
                    </m:r>
                    <m:r>
                      <m:rPr>
                        <m:nor/>
                      </m:rPr>
                      <a:rPr lang="en-US" sz="2400" dirty="0">
                        <a:latin typeface="David" panose="020E0502060401010101" pitchFamily="34" charset="-79"/>
                        <a:cs typeface="David" panose="020E0502060401010101" pitchFamily="34" charset="-79"/>
                      </a:rPr>
                      <m:t>statistical</m:t>
                    </m:r>
                    <m:r>
                      <m:rPr>
                        <m:nor/>
                      </m:rPr>
                      <a:rPr lang="en-US" sz="2400" dirty="0">
                        <a:latin typeface="David" panose="020E0502060401010101" pitchFamily="34" charset="-79"/>
                        <a:cs typeface="David" panose="020E0502060401010101" pitchFamily="34" charset="-79"/>
                      </a:rPr>
                      <m:t> </m:t>
                    </m:r>
                    <m:r>
                      <m:rPr>
                        <m:nor/>
                      </m:rPr>
                      <a:rPr lang="en-US" sz="2400" dirty="0">
                        <a:latin typeface="David" panose="020E0502060401010101" pitchFamily="34" charset="-79"/>
                        <a:cs typeface="David" panose="020E0502060401010101" pitchFamily="34" charset="-79"/>
                      </a:rPr>
                      <m:t>significance</m:t>
                    </m:r>
                  </m:oMath>
                </a14:m>
                <a:endParaRPr lang="en-US" sz="2400" dirty="0">
                  <a:latin typeface="David" panose="020E0502060401010101" pitchFamily="34" charset="-79"/>
                  <a:cs typeface="David" panose="020E0502060401010101" pitchFamily="34" charset="-79"/>
                </a:endParaRPr>
              </a:p>
              <a:p>
                <a:pPr marL="285750" indent="-285750" algn="l" rtl="0">
                  <a:lnSpc>
                    <a:spcPct val="150000"/>
                  </a:lnSpc>
                  <a:buFont typeface="Arial" panose="020B0604020202020204" pitchFamily="34" charset="0"/>
                  <a:buChar char="•"/>
                </a:pPr>
                <a:r>
                  <a:rPr lang="en-US" sz="2400" b="1" dirty="0">
                    <a:latin typeface="David" panose="020E0502060401010101" pitchFamily="34" charset="-79"/>
                    <a:cs typeface="David" panose="020E0502060401010101" pitchFamily="34" charset="-79"/>
                  </a:rPr>
                  <a:t>CI</a:t>
                </a:r>
                <a:r>
                  <a:rPr lang="en-US" sz="2400" dirty="0">
                    <a:latin typeface="David" panose="020E0502060401010101" pitchFamily="34" charset="-79"/>
                    <a:cs typeface="David" panose="020E0502060401010101" pitchFamily="34" charset="-79"/>
                  </a:rPr>
                  <a:t>:[10.04, 12.34] </a:t>
                </a:r>
              </a:p>
              <a:p>
                <a:pPr marL="285750" indent="-285750" algn="l" rtl="0">
                  <a:lnSpc>
                    <a:spcPct val="150000"/>
                  </a:lnSpc>
                  <a:buFont typeface="Arial" panose="020B0604020202020204" pitchFamily="34" charset="0"/>
                  <a:buChar char="•"/>
                </a:pPr>
                <a14:m>
                  <m:oMath xmlns:m="http://schemas.openxmlformats.org/officeDocument/2006/math">
                    <m:r>
                      <a:rPr lang="en-US" sz="2400" b="1" i="1" dirty="0">
                        <a:latin typeface="Cambria Math" panose="02040503050406030204" pitchFamily="18" charset="0"/>
                        <a:cs typeface="David" panose="020E0502060401010101" pitchFamily="34" charset="-79"/>
                      </a:rPr>
                      <m:t>𝐂</m:t>
                    </m:r>
                  </m:oMath>
                </a14:m>
                <a:r>
                  <a:rPr lang="en-US" sz="2400" b="1" dirty="0">
                    <a:latin typeface="David" panose="020E0502060401010101" pitchFamily="34" charset="-79"/>
                    <a:cs typeface="David" panose="020E0502060401010101" pitchFamily="34" charset="-79"/>
                  </a:rPr>
                  <a:t>ohen’s d</a:t>
                </a:r>
                <a:r>
                  <a:rPr lang="en-US" sz="2400" b="0" dirty="0">
                    <a:latin typeface="David" panose="020E0502060401010101" pitchFamily="34" charset="-79"/>
                    <a:cs typeface="David" panose="020E0502060401010101" pitchFamily="34" charset="-79"/>
                  </a:rPr>
                  <a:t>: 1.742 (large effect size)</a:t>
                </a:r>
              </a:p>
              <a:p>
                <a:pPr marL="285750" indent="-285750" algn="l" rtl="0">
                  <a:lnSpc>
                    <a:spcPct val="150000"/>
                  </a:lnSpc>
                  <a:buFont typeface="Arial" panose="020B0604020202020204" pitchFamily="34" charset="0"/>
                  <a:buChar char="•"/>
                </a:pPr>
                <a:endParaRPr lang="en-US" sz="2400" b="0" dirty="0">
                  <a:latin typeface="David" panose="020E0502060401010101" pitchFamily="34" charset="-79"/>
                  <a:cs typeface="David" panose="020E0502060401010101" pitchFamily="34" charset="-79"/>
                </a:endParaRPr>
              </a:p>
            </p:txBody>
          </p:sp>
        </mc:Choice>
        <mc:Fallback xmlns="">
          <p:sp>
            <p:nvSpPr>
              <p:cNvPr id="5" name="תיבת טקסט 12">
                <a:extLst>
                  <a:ext uri="{FF2B5EF4-FFF2-40B4-BE49-F238E27FC236}">
                    <a16:creationId xmlns:a16="http://schemas.microsoft.com/office/drawing/2014/main" id="{2C26D277-5CD9-12A9-0070-629B358306B0}"/>
                  </a:ext>
                </a:extLst>
              </p:cNvPr>
              <p:cNvSpPr txBox="1">
                <a:spLocks noRot="1" noChangeAspect="1" noMove="1" noResize="1" noEditPoints="1" noAdjustHandles="1" noChangeArrowheads="1" noChangeShapeType="1" noTextEdit="1"/>
              </p:cNvSpPr>
              <p:nvPr/>
            </p:nvSpPr>
            <p:spPr>
              <a:xfrm>
                <a:off x="806485" y="3589194"/>
                <a:ext cx="11209420" cy="3370153"/>
              </a:xfrm>
              <a:prstGeom prst="rect">
                <a:avLst/>
              </a:prstGeom>
              <a:blipFill>
                <a:blip r:embed="rId3"/>
                <a:stretch>
                  <a:fillRect l="-707"/>
                </a:stretch>
              </a:blipFill>
            </p:spPr>
            <p:txBody>
              <a:bodyPr/>
              <a:lstStyle/>
              <a:p>
                <a:r>
                  <a:rPr lang="he-IL">
                    <a:noFill/>
                  </a:rPr>
                  <a:t> </a:t>
                </a:r>
              </a:p>
            </p:txBody>
          </p:sp>
        </mc:Fallback>
      </mc:AlternateContent>
      <p:pic>
        <p:nvPicPr>
          <p:cNvPr id="4" name="Picture 3">
            <a:extLst>
              <a:ext uri="{FF2B5EF4-FFF2-40B4-BE49-F238E27FC236}">
                <a16:creationId xmlns:a16="http://schemas.microsoft.com/office/drawing/2014/main" id="{38F1196E-32BA-EE20-1FAF-26814DFC0DB6}"/>
              </a:ext>
            </a:extLst>
          </p:cNvPr>
          <p:cNvPicPr>
            <a:picLocks noChangeAspect="1"/>
          </p:cNvPicPr>
          <p:nvPr/>
        </p:nvPicPr>
        <p:blipFill>
          <a:blip r:embed="rId4"/>
          <a:stretch>
            <a:fillRect/>
          </a:stretch>
        </p:blipFill>
        <p:spPr>
          <a:xfrm>
            <a:off x="365536" y="2379700"/>
            <a:ext cx="11650369" cy="889107"/>
          </a:xfrm>
          <a:prstGeom prst="rect">
            <a:avLst/>
          </a:prstGeom>
        </p:spPr>
      </p:pic>
    </p:spTree>
    <p:extLst>
      <p:ext uri="{BB962C8B-B14F-4D97-AF65-F5344CB8AC3E}">
        <p14:creationId xmlns:p14="http://schemas.microsoft.com/office/powerpoint/2010/main" val="3458907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BC56A-BCDC-35BF-8F02-EC8FE9AAA5A5}"/>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0446F60-0D4D-EDC0-5617-F70DD4C88A89}"/>
              </a:ext>
            </a:extLst>
          </p:cNvPr>
          <p:cNvSpPr>
            <a:spLocks noGrp="1"/>
          </p:cNvSpPr>
          <p:nvPr>
            <p:ph type="title"/>
          </p:nvPr>
        </p:nvSpPr>
        <p:spPr/>
        <p:txBody>
          <a:bodyPr/>
          <a:lstStyle/>
          <a:p>
            <a:r>
              <a:rPr lang="en-US" b="1" dirty="0"/>
              <a:t>Independent t-Test</a:t>
            </a:r>
            <a:endParaRPr lang="he-IL" dirty="0"/>
          </a:p>
        </p:txBody>
      </p:sp>
      <p:sp>
        <p:nvSpPr>
          <p:cNvPr id="3" name="Content Placeholder 2">
            <a:extLst>
              <a:ext uri="{FF2B5EF4-FFF2-40B4-BE49-F238E27FC236}">
                <a16:creationId xmlns:a16="http://schemas.microsoft.com/office/drawing/2014/main" id="{8BA35F30-610A-8EA1-5D8B-92938CCE0A12}"/>
              </a:ext>
            </a:extLst>
          </p:cNvPr>
          <p:cNvSpPr>
            <a:spLocks noGrp="1"/>
          </p:cNvSpPr>
          <p:nvPr>
            <p:ph idx="1"/>
          </p:nvPr>
        </p:nvSpPr>
        <p:spPr>
          <a:xfrm>
            <a:off x="580031" y="1479295"/>
            <a:ext cx="11031938" cy="4727541"/>
          </a:xfrm>
        </p:spPr>
        <p:txBody>
          <a:bodyPr>
            <a:normAutofit/>
          </a:bodyPr>
          <a:lstStyle/>
          <a:p>
            <a:pPr>
              <a:lnSpc>
                <a:spcPct val="150000"/>
              </a:lnSpc>
            </a:pPr>
            <a:r>
              <a:rPr lang="en-GB" b="1" dirty="0"/>
              <a:t>Reporting</a:t>
            </a:r>
            <a:endParaRPr lang="he-IL" b="1" dirty="0"/>
          </a:p>
          <a:p>
            <a:pPr>
              <a:lnSpc>
                <a:spcPct val="150000"/>
              </a:lnSpc>
            </a:pPr>
            <a:r>
              <a:rPr lang="en-US" sz="2400" dirty="0"/>
              <a:t>Males had higher pre-diet weight than females. The difference was statistically significant, t(478)=</a:t>
            </a:r>
            <a:r>
              <a:rPr lang="en-US" sz="2400" dirty="0">
                <a:cs typeface="David" panose="020E0502060401010101" pitchFamily="34" charset="-79"/>
              </a:rPr>
              <a:t> 19.085</a:t>
            </a:r>
            <a:r>
              <a:rPr lang="en-US" sz="2400" dirty="0"/>
              <a:t>, p&lt;0.001. The estimated mean difference was 11.197 kg, with a 95% confidence interval of [</a:t>
            </a:r>
            <a:r>
              <a:rPr lang="en-US" sz="2400" dirty="0">
                <a:cs typeface="David" panose="020E0502060401010101" pitchFamily="34" charset="-79"/>
              </a:rPr>
              <a:t>10.04, 12.34</a:t>
            </a:r>
            <a:r>
              <a:rPr lang="en-US" sz="2400" dirty="0"/>
              <a:t>]. The standardized effect size was large, </a:t>
            </a:r>
            <a:r>
              <a:rPr lang="en-US" sz="2400" dirty="0" err="1"/>
              <a:t>cohen’s</a:t>
            </a:r>
            <a:r>
              <a:rPr lang="en-US" sz="2400" dirty="0"/>
              <a:t> d=</a:t>
            </a:r>
            <a:r>
              <a:rPr lang="en-US" sz="2400" dirty="0">
                <a:cs typeface="David" panose="020E0502060401010101" pitchFamily="34" charset="-79"/>
              </a:rPr>
              <a:t> 1.742</a:t>
            </a:r>
            <a:r>
              <a:rPr lang="en-US" sz="2400" dirty="0"/>
              <a:t>.</a:t>
            </a:r>
            <a:endParaRPr lang="en-GB" sz="2400" dirty="0"/>
          </a:p>
          <a:p>
            <a:pPr>
              <a:lnSpc>
                <a:spcPct val="150000"/>
              </a:lnSpc>
              <a:buFont typeface="Wingdings" panose="05000000000000000000" pitchFamily="2" charset="2"/>
              <a:buChar char="§"/>
            </a:pPr>
            <a:endParaRPr lang="en-GB" dirty="0"/>
          </a:p>
        </p:txBody>
      </p:sp>
    </p:spTree>
    <p:extLst>
      <p:ext uri="{BB962C8B-B14F-4D97-AF65-F5344CB8AC3E}">
        <p14:creationId xmlns:p14="http://schemas.microsoft.com/office/powerpoint/2010/main" val="228998091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8EEFF-BF48-60EB-4980-765127AF0EC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789EB70-0309-2EF9-58A8-C87A9770E5C6}"/>
              </a:ext>
            </a:extLst>
          </p:cNvPr>
          <p:cNvSpPr>
            <a:spLocks noGrp="1"/>
          </p:cNvSpPr>
          <p:nvPr>
            <p:ph type="title"/>
          </p:nvPr>
        </p:nvSpPr>
        <p:spPr/>
        <p:txBody>
          <a:bodyPr/>
          <a:lstStyle/>
          <a:p>
            <a:r>
              <a:rPr lang="en-US" b="1" dirty="0"/>
              <a:t>Independent t-Test</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7C09E8-24C6-D73E-FD76-577035490FE8}"/>
                  </a:ext>
                </a:extLst>
              </p:cNvPr>
              <p:cNvSpPr>
                <a:spLocks noGrp="1"/>
              </p:cNvSpPr>
              <p:nvPr>
                <p:ph idx="1"/>
              </p:nvPr>
            </p:nvSpPr>
            <p:spPr>
              <a:xfrm>
                <a:off x="580031" y="1479295"/>
                <a:ext cx="11031938" cy="4727541"/>
              </a:xfrm>
            </p:spPr>
            <p:txBody>
              <a:bodyPr>
                <a:normAutofit/>
              </a:bodyPr>
              <a:lstStyle/>
              <a:p>
                <a:pPr>
                  <a:lnSpc>
                    <a:spcPct val="150000"/>
                  </a:lnSpc>
                </a:pPr>
                <a:r>
                  <a:rPr lang="en-GB" sz="2400" b="1" dirty="0">
                    <a:solidFill>
                      <a:schemeClr val="tx1"/>
                    </a:solidFill>
                  </a:rPr>
                  <a:t>Welch t-test</a:t>
                </a:r>
                <a:endParaRPr lang="he-IL" sz="2400" b="1" dirty="0">
                  <a:solidFill>
                    <a:schemeClr val="tx1"/>
                  </a:solidFill>
                </a:endParaRPr>
              </a:p>
              <a:p>
                <a:pPr>
                  <a:lnSpc>
                    <a:spcPct val="150000"/>
                  </a:lnSpc>
                </a:pPr>
                <a:r>
                  <a:rPr lang="en-US" sz="2400" dirty="0">
                    <a:solidFill>
                      <a:schemeClr val="tx1"/>
                    </a:solidFill>
                  </a:rPr>
                  <a:t>U</a:t>
                </a:r>
                <a:r>
                  <a:rPr lang="en-US" sz="2400" dirty="0"/>
                  <a:t>sed</a:t>
                </a:r>
                <a:r>
                  <a:rPr lang="en-US" sz="2400" b="1" dirty="0"/>
                  <a:t> </a:t>
                </a:r>
                <a:r>
                  <a:rPr lang="en-US" sz="2400" dirty="0">
                    <a:solidFill>
                      <a:schemeClr val="tx1"/>
                    </a:solidFill>
                  </a:rPr>
                  <a:t>for the same comparison as the independent two-sample t-test:</a:t>
                </a:r>
                <a:endParaRPr lang="he-IL" sz="2400" dirty="0">
                  <a:solidFill>
                    <a:schemeClr val="tx1"/>
                  </a:solidFill>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sz="2400" i="1" dirty="0" smtClean="0">
                          <a:solidFill>
                            <a:schemeClr val="tx1"/>
                          </a:solidFill>
                          <a:latin typeface="Cambria Math" panose="02040503050406030204" pitchFamily="18" charset="0"/>
                        </a:rPr>
                        <m:t>𝐻</m:t>
                      </m:r>
                      <m:r>
                        <a:rPr lang="en-US" sz="2400" i="1" dirty="0" smtClean="0">
                          <a:solidFill>
                            <a:schemeClr val="tx1"/>
                          </a:solidFill>
                          <a:latin typeface="Cambria Math" panose="02040503050406030204" pitchFamily="18" charset="0"/>
                        </a:rPr>
                        <m:t>0</m:t>
                      </m:r>
                      <m:r>
                        <a:rPr lang="en-US" sz="2400" i="1" dirty="0" smtClean="0">
                          <a:solidFill>
                            <a:schemeClr val="tx1"/>
                          </a:solidFill>
                          <a:latin typeface="Cambria Math" panose="02040503050406030204" pitchFamily="18" charset="0"/>
                        </a:rPr>
                        <m:t>	</m:t>
                      </m:r>
                      <m:r>
                        <a:rPr lang="en-US" sz="2400" i="1" dirty="0" smtClean="0">
                          <a:solidFill>
                            <a:schemeClr val="tx1"/>
                          </a:solidFill>
                          <a:latin typeface="Cambria Math" panose="02040503050406030204" pitchFamily="18" charset="0"/>
                        </a:rPr>
                        <m:t>​:</m:t>
                      </m:r>
                      <m:sSub>
                        <m:sSubPr>
                          <m:ctrlPr>
                            <a:rPr lang="he-IL" sz="2400" b="0" i="1" dirty="0" smtClean="0">
                              <a:solidFill>
                                <a:schemeClr val="tx1"/>
                              </a:solidFill>
                              <a:latin typeface="Cambria Math" panose="02040503050406030204" pitchFamily="18" charset="0"/>
                            </a:rPr>
                          </m:ctrlPr>
                        </m:sSubPr>
                        <m:e>
                          <m:r>
                            <a:rPr lang="en-US" sz="2400" i="1" dirty="0" err="1" smtClean="0">
                              <a:solidFill>
                                <a:schemeClr val="tx1"/>
                              </a:solidFill>
                              <a:latin typeface="Cambria Math" panose="02040503050406030204" pitchFamily="18" charset="0"/>
                            </a:rPr>
                            <m:t>𝜇</m:t>
                          </m:r>
                        </m:e>
                        <m:sub>
                          <m:r>
                            <a:rPr lang="en-US" sz="2400" i="1" dirty="0" err="1" smtClean="0">
                              <a:solidFill>
                                <a:schemeClr val="tx1"/>
                              </a:solidFill>
                              <a:latin typeface="Cambria Math" panose="02040503050406030204" pitchFamily="18" charset="0"/>
                            </a:rPr>
                            <m:t>𝐴</m:t>
                          </m:r>
                        </m:sub>
                      </m:sSub>
                      <m:r>
                        <a:rPr lang="en-US" sz="2400" i="1" dirty="0" smtClean="0">
                          <a:solidFill>
                            <a:schemeClr val="tx1"/>
                          </a:solidFill>
                          <a:latin typeface="Cambria Math" panose="02040503050406030204" pitchFamily="18" charset="0"/>
                        </a:rPr>
                        <m:t>	</m:t>
                      </m:r>
                      <m:r>
                        <a:rPr lang="en-US" sz="2400" i="1" dirty="0" smtClean="0">
                          <a:solidFill>
                            <a:schemeClr val="tx1"/>
                          </a:solidFill>
                          <a:latin typeface="Cambria Math" panose="02040503050406030204" pitchFamily="18" charset="0"/>
                        </a:rPr>
                        <m:t>​−</m:t>
                      </m:r>
                      <m:sSub>
                        <m:sSubPr>
                          <m:ctrlPr>
                            <a:rPr lang="he-IL" sz="2400" b="0" i="1" dirty="0" smtClean="0">
                              <a:solidFill>
                                <a:schemeClr val="tx1"/>
                              </a:solidFill>
                              <a:latin typeface="Cambria Math" panose="02040503050406030204" pitchFamily="18" charset="0"/>
                            </a:rPr>
                          </m:ctrlPr>
                        </m:sSubPr>
                        <m:e>
                          <m:r>
                            <a:rPr lang="en-US" sz="2400" i="1" dirty="0" err="1" smtClean="0">
                              <a:solidFill>
                                <a:schemeClr val="tx1"/>
                              </a:solidFill>
                              <a:latin typeface="Cambria Math" panose="02040503050406030204" pitchFamily="18" charset="0"/>
                            </a:rPr>
                            <m:t>𝜇</m:t>
                          </m:r>
                        </m:e>
                        <m:sub>
                          <m:r>
                            <a:rPr lang="en-US" sz="2400" i="1" dirty="0" err="1" smtClean="0">
                              <a:solidFill>
                                <a:schemeClr val="tx1"/>
                              </a:solidFill>
                              <a:latin typeface="Cambria Math" panose="02040503050406030204" pitchFamily="18" charset="0"/>
                            </a:rPr>
                            <m:t>𝐵</m:t>
                          </m:r>
                        </m:sub>
                      </m:sSub>
                      <m:r>
                        <a:rPr lang="en-US" sz="2400" i="1" dirty="0" smtClean="0">
                          <a:solidFill>
                            <a:schemeClr val="tx1"/>
                          </a:solidFill>
                          <a:latin typeface="Cambria Math" panose="02040503050406030204" pitchFamily="18" charset="0"/>
                        </a:rPr>
                        <m:t>	</m:t>
                      </m:r>
                      <m:r>
                        <a:rPr lang="en-US" sz="2400" i="1"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0</m:t>
                      </m:r>
                    </m:oMath>
                  </m:oMathPara>
                </a14:m>
                <a:endParaRPr lang="he-IL" sz="2400" dirty="0">
                  <a:solidFill>
                    <a:schemeClr val="tx1"/>
                  </a:solidFill>
                </a:endParaRPr>
              </a:p>
              <a:p>
                <a:pPr>
                  <a:lnSpc>
                    <a:spcPct val="150000"/>
                  </a:lnSpc>
                </a:pPr>
                <a:r>
                  <a:rPr lang="en-US" sz="2400" dirty="0">
                    <a:solidFill>
                      <a:schemeClr val="tx1"/>
                    </a:solidFill>
                  </a:rPr>
                  <a:t>but it does not assume equal variances between the two groups. :</a:t>
                </a:r>
                <a:endParaRPr lang="he-IL" sz="2400" dirty="0">
                  <a:solidFill>
                    <a:schemeClr val="tx1"/>
                  </a:solidFill>
                </a:endParaRPr>
              </a:p>
              <a:p>
                <a:pPr marL="0" indent="0">
                  <a:lnSpc>
                    <a:spcPct val="150000"/>
                  </a:lnSpc>
                  <a:buNone/>
                </a:pPr>
                <a14:m>
                  <m:oMathPara xmlns:m="http://schemas.openxmlformats.org/officeDocument/2006/math">
                    <m:oMathParaPr>
                      <m:jc m:val="centerGroup"/>
                    </m:oMathParaPr>
                    <m:oMath xmlns:m="http://schemas.openxmlformats.org/officeDocument/2006/math">
                      <m:sSubSup>
                        <m:sSubSupPr>
                          <m:ctrlPr>
                            <a:rPr lang="he-IL" sz="2400" b="0" i="1" dirty="0" smtClean="0">
                              <a:solidFill>
                                <a:schemeClr val="tx1"/>
                              </a:solidFill>
                              <a:latin typeface="Cambria Math" panose="02040503050406030204" pitchFamily="18" charset="0"/>
                            </a:rPr>
                          </m:ctrlPr>
                        </m:sSubSupPr>
                        <m:e>
                          <m:r>
                            <a:rPr lang="en-US" sz="2400" i="1" dirty="0" smtClean="0">
                              <a:solidFill>
                                <a:schemeClr val="tx1"/>
                              </a:solidFill>
                              <a:latin typeface="Cambria Math" panose="02040503050406030204" pitchFamily="18" charset="0"/>
                            </a:rPr>
                            <m:t>𝜎</m:t>
                          </m:r>
                        </m:e>
                        <m:sub>
                          <m:r>
                            <a:rPr lang="en-US" sz="2400" i="1" dirty="0" smtClean="0">
                              <a:solidFill>
                                <a:schemeClr val="tx1"/>
                              </a:solidFill>
                              <a:latin typeface="Cambria Math" panose="02040503050406030204" pitchFamily="18" charset="0"/>
                            </a:rPr>
                            <m:t>𝐴</m:t>
                          </m:r>
                        </m:sub>
                        <m:sup>
                          <m:r>
                            <a:rPr lang="en-US" sz="2400" i="1" dirty="0" smtClean="0">
                              <a:solidFill>
                                <a:schemeClr val="tx1"/>
                              </a:solidFill>
                              <a:latin typeface="Cambria Math" panose="02040503050406030204" pitchFamily="18" charset="0"/>
                            </a:rPr>
                            <m:t>2</m:t>
                          </m:r>
                        </m:sup>
                      </m:sSubSup>
                      <m:r>
                        <a:rPr lang="en-US" sz="2400" i="1" dirty="0" smtClean="0">
                          <a:solidFill>
                            <a:schemeClr val="tx1"/>
                          </a:solidFill>
                          <a:latin typeface="Cambria Math" panose="02040503050406030204" pitchFamily="18" charset="0"/>
                        </a:rPr>
                        <m:t>	</m:t>
                      </m:r>
                      <m:r>
                        <a:rPr lang="en-US" sz="2400" i="1" dirty="0" smtClean="0">
                          <a:solidFill>
                            <a:schemeClr val="tx1"/>
                          </a:solidFill>
                          <a:latin typeface="Cambria Math" panose="02040503050406030204" pitchFamily="18" charset="0"/>
                        </a:rPr>
                        <m:t>​≠</m:t>
                      </m:r>
                      <m:sSubSup>
                        <m:sSubSupPr>
                          <m:ctrlPr>
                            <a:rPr lang="he-IL" sz="2400" b="0" i="1" dirty="0" smtClean="0">
                              <a:solidFill>
                                <a:schemeClr val="tx1"/>
                              </a:solidFill>
                              <a:latin typeface="Cambria Math" panose="02040503050406030204" pitchFamily="18" charset="0"/>
                            </a:rPr>
                          </m:ctrlPr>
                        </m:sSubSupPr>
                        <m:e>
                          <m:r>
                            <a:rPr lang="en-US" sz="2400" i="1" dirty="0" smtClean="0">
                              <a:solidFill>
                                <a:schemeClr val="tx1"/>
                              </a:solidFill>
                              <a:latin typeface="Cambria Math" panose="02040503050406030204" pitchFamily="18" charset="0"/>
                            </a:rPr>
                            <m:t>𝜎</m:t>
                          </m:r>
                        </m:e>
                        <m:sub>
                          <m:r>
                            <a:rPr lang="en-US" sz="2400" i="1" dirty="0" smtClean="0">
                              <a:solidFill>
                                <a:schemeClr val="tx1"/>
                              </a:solidFill>
                              <a:latin typeface="Cambria Math" panose="02040503050406030204" pitchFamily="18" charset="0"/>
                            </a:rPr>
                            <m:t>𝐵</m:t>
                          </m:r>
                        </m:sub>
                        <m:sup>
                          <m:r>
                            <a:rPr lang="en-US" sz="2400" i="1" dirty="0" smtClean="0">
                              <a:solidFill>
                                <a:schemeClr val="tx1"/>
                              </a:solidFill>
                              <a:latin typeface="Cambria Math" panose="02040503050406030204" pitchFamily="18" charset="0"/>
                            </a:rPr>
                            <m:t>2</m:t>
                          </m:r>
                        </m:sup>
                      </m:sSubSup>
                      <m:r>
                        <a:rPr lang="en-US" sz="2400" i="1" dirty="0" smtClean="0">
                          <a:solidFill>
                            <a:schemeClr val="tx1"/>
                          </a:solidFill>
                          <a:latin typeface="Cambria Math" panose="02040503050406030204" pitchFamily="18" charset="0"/>
                        </a:rPr>
                        <m:t>	</m:t>
                      </m:r>
                      <m:r>
                        <a:rPr lang="en-US" sz="2400" i="1" dirty="0" smtClean="0">
                          <a:solidFill>
                            <a:schemeClr val="tx1"/>
                          </a:solidFill>
                          <a:latin typeface="Cambria Math" panose="02040503050406030204" pitchFamily="18" charset="0"/>
                        </a:rPr>
                        <m:t>​</m:t>
                      </m:r>
                    </m:oMath>
                  </m:oMathPara>
                </a14:m>
                <a:endParaRPr lang="he-IL" sz="2400" dirty="0">
                  <a:solidFill>
                    <a:schemeClr val="tx1"/>
                  </a:solidFill>
                </a:endParaRPr>
              </a:p>
              <a:p>
                <a:pPr marL="0" indent="0">
                  <a:lnSpc>
                    <a:spcPct val="150000"/>
                  </a:lnSpc>
                  <a:buNone/>
                </a:pPr>
                <a:endParaRPr lang="en-GB" sz="2400" dirty="0">
                  <a:solidFill>
                    <a:schemeClr val="tx1"/>
                  </a:solidFill>
                </a:endParaRPr>
              </a:p>
            </p:txBody>
          </p:sp>
        </mc:Choice>
        <mc:Fallback xmlns="">
          <p:sp>
            <p:nvSpPr>
              <p:cNvPr id="3" name="Content Placeholder 2">
                <a:extLst>
                  <a:ext uri="{FF2B5EF4-FFF2-40B4-BE49-F238E27FC236}">
                    <a16:creationId xmlns:a16="http://schemas.microsoft.com/office/drawing/2014/main" id="{E57C09E8-24C6-D73E-FD76-577035490FE8}"/>
                  </a:ext>
                </a:extLst>
              </p:cNvPr>
              <p:cNvSpPr>
                <a:spLocks noGrp="1" noRot="1" noChangeAspect="1" noMove="1" noResize="1" noEditPoints="1" noAdjustHandles="1" noChangeArrowheads="1" noChangeShapeType="1" noTextEdit="1"/>
              </p:cNvSpPr>
              <p:nvPr>
                <p:ph idx="1"/>
              </p:nvPr>
            </p:nvSpPr>
            <p:spPr>
              <a:xfrm>
                <a:off x="580031" y="1479295"/>
                <a:ext cx="11031938" cy="4727541"/>
              </a:xfrm>
              <a:blipFill>
                <a:blip r:embed="rId3"/>
                <a:stretch>
                  <a:fillRect l="-718"/>
                </a:stretch>
              </a:blipFill>
            </p:spPr>
            <p:txBody>
              <a:bodyPr/>
              <a:lstStyle/>
              <a:p>
                <a:r>
                  <a:rPr lang="he-IL">
                    <a:noFill/>
                  </a:rPr>
                  <a:t> </a:t>
                </a:r>
              </a:p>
            </p:txBody>
          </p:sp>
        </mc:Fallback>
      </mc:AlternateContent>
      <p:pic>
        <p:nvPicPr>
          <p:cNvPr id="6" name="Picture 5">
            <a:extLst>
              <a:ext uri="{FF2B5EF4-FFF2-40B4-BE49-F238E27FC236}">
                <a16:creationId xmlns:a16="http://schemas.microsoft.com/office/drawing/2014/main" id="{16BF3A13-6A6A-3DC0-5FB6-10FC99BBC99C}"/>
              </a:ext>
            </a:extLst>
          </p:cNvPr>
          <p:cNvPicPr>
            <a:picLocks noChangeAspect="1"/>
          </p:cNvPicPr>
          <p:nvPr/>
        </p:nvPicPr>
        <p:blipFill>
          <a:blip r:embed="rId4"/>
          <a:stretch>
            <a:fillRect/>
          </a:stretch>
        </p:blipFill>
        <p:spPr>
          <a:xfrm>
            <a:off x="580031" y="4881273"/>
            <a:ext cx="11193638" cy="1325563"/>
          </a:xfrm>
          <a:prstGeom prst="rect">
            <a:avLst/>
          </a:prstGeom>
        </p:spPr>
      </p:pic>
    </p:spTree>
    <p:extLst>
      <p:ext uri="{BB962C8B-B14F-4D97-AF65-F5344CB8AC3E}">
        <p14:creationId xmlns:p14="http://schemas.microsoft.com/office/powerpoint/2010/main" val="7309422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EBCF4-5D4E-1349-EA2B-EBC034C83C49}"/>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706D78F-AD4A-C456-A043-1118008D8F96}"/>
              </a:ext>
            </a:extLst>
          </p:cNvPr>
          <p:cNvSpPr>
            <a:spLocks noGrp="1"/>
          </p:cNvSpPr>
          <p:nvPr>
            <p:ph type="title"/>
          </p:nvPr>
        </p:nvSpPr>
        <p:spPr/>
        <p:txBody>
          <a:bodyPr/>
          <a:lstStyle/>
          <a:p>
            <a:r>
              <a:rPr lang="en-US" b="1" dirty="0"/>
              <a:t>Tutorial 6: Main ideas</a:t>
            </a:r>
          </a:p>
        </p:txBody>
      </p:sp>
      <p:sp>
        <p:nvSpPr>
          <p:cNvPr id="3" name="Content Placeholder 2">
            <a:extLst>
              <a:ext uri="{FF2B5EF4-FFF2-40B4-BE49-F238E27FC236}">
                <a16:creationId xmlns:a16="http://schemas.microsoft.com/office/drawing/2014/main" id="{0D72A893-9ED6-E8DF-E6B5-67D2DC271CF0}"/>
              </a:ext>
            </a:extLst>
          </p:cNvPr>
          <p:cNvSpPr>
            <a:spLocks noGrp="1"/>
          </p:cNvSpPr>
          <p:nvPr>
            <p:ph idx="1"/>
          </p:nvPr>
        </p:nvSpPr>
        <p:spPr>
          <a:xfrm>
            <a:off x="580031" y="1694282"/>
            <a:ext cx="4999631" cy="4727541"/>
          </a:xfrm>
        </p:spPr>
        <p:txBody>
          <a:bodyPr>
            <a:normAutofit lnSpcReduction="10000"/>
          </a:bodyPr>
          <a:lstStyle/>
          <a:p>
            <a:pPr>
              <a:lnSpc>
                <a:spcPct val="110000"/>
              </a:lnSpc>
            </a:pPr>
            <a:r>
              <a:rPr lang="en-US" sz="2400" b="1" dirty="0">
                <a:solidFill>
                  <a:schemeClr val="tx1"/>
                </a:solidFill>
              </a:rPr>
              <a:t>Continuous data </a:t>
            </a:r>
            <a:r>
              <a:rPr lang="en-US" sz="2400" dirty="0">
                <a:solidFill>
                  <a:schemeClr val="tx1"/>
                </a:solidFill>
              </a:rPr>
              <a:t>require continuous likelihoods.</a:t>
            </a:r>
          </a:p>
          <a:p>
            <a:pPr>
              <a:lnSpc>
                <a:spcPct val="110000"/>
              </a:lnSpc>
            </a:pPr>
            <a:r>
              <a:rPr lang="en-US" sz="2400" b="1" dirty="0">
                <a:solidFill>
                  <a:schemeClr val="tx1"/>
                </a:solidFill>
              </a:rPr>
              <a:t>The Normal model </a:t>
            </a:r>
            <a:r>
              <a:rPr lang="en-US" sz="2400" dirty="0">
                <a:solidFill>
                  <a:schemeClr val="tx1"/>
                </a:solidFill>
              </a:rPr>
              <a:t>describes data using center (</a:t>
            </a:r>
            <a:r>
              <a:rPr lang="en-US" sz="2400" dirty="0"/>
              <a:t>μ)</a:t>
            </a:r>
            <a:r>
              <a:rPr lang="en-US" sz="2400" dirty="0">
                <a:solidFill>
                  <a:schemeClr val="tx1"/>
                </a:solidFill>
              </a:rPr>
              <a:t> and spread </a:t>
            </a:r>
            <a:r>
              <a:rPr lang="en-US" sz="2400" dirty="0"/>
              <a:t>(σ)</a:t>
            </a:r>
            <a:endParaRPr lang="en-US" sz="2400" dirty="0">
              <a:solidFill>
                <a:schemeClr val="tx1"/>
              </a:solidFill>
            </a:endParaRPr>
          </a:p>
          <a:p>
            <a:pPr>
              <a:lnSpc>
                <a:spcPct val="110000"/>
              </a:lnSpc>
            </a:pPr>
            <a:r>
              <a:rPr lang="en-US" sz="2400" b="1" dirty="0">
                <a:solidFill>
                  <a:schemeClr val="tx1"/>
                </a:solidFill>
              </a:rPr>
              <a:t>Addition to the Bayesian workflow:</a:t>
            </a:r>
          </a:p>
          <a:p>
            <a:pPr lvl="1">
              <a:lnSpc>
                <a:spcPct val="110000"/>
              </a:lnSpc>
            </a:pPr>
            <a:r>
              <a:rPr lang="en-US" dirty="0">
                <a:solidFill>
                  <a:schemeClr val="tx1"/>
                </a:solidFill>
              </a:rPr>
              <a:t>Bayesian p-values as model-fit checks</a:t>
            </a:r>
          </a:p>
          <a:p>
            <a:pPr>
              <a:lnSpc>
                <a:spcPct val="110000"/>
              </a:lnSpc>
            </a:pPr>
            <a:r>
              <a:rPr lang="en-US" sz="2400" b="1" dirty="0"/>
              <a:t>Paired data:</a:t>
            </a:r>
          </a:p>
          <a:p>
            <a:pPr lvl="1">
              <a:lnSpc>
                <a:spcPct val="110000"/>
              </a:lnSpc>
            </a:pPr>
            <a:r>
              <a:rPr lang="en-US" dirty="0"/>
              <a:t>Analyze within-subject change scores.</a:t>
            </a:r>
          </a:p>
        </p:txBody>
      </p:sp>
      <p:sp>
        <p:nvSpPr>
          <p:cNvPr id="4" name="Content Placeholder 2">
            <a:extLst>
              <a:ext uri="{FF2B5EF4-FFF2-40B4-BE49-F238E27FC236}">
                <a16:creationId xmlns:a16="http://schemas.microsoft.com/office/drawing/2014/main" id="{1E978000-E6C3-3718-0739-C0D937015398}"/>
              </a:ext>
            </a:extLst>
          </p:cNvPr>
          <p:cNvSpPr txBox="1">
            <a:spLocks/>
          </p:cNvSpPr>
          <p:nvPr/>
        </p:nvSpPr>
        <p:spPr>
          <a:xfrm>
            <a:off x="5837831" y="1584991"/>
            <a:ext cx="5774138" cy="47275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2400" b="1" dirty="0"/>
              <a:t>Group data:</a:t>
            </a:r>
          </a:p>
          <a:p>
            <a:pPr lvl="1">
              <a:lnSpc>
                <a:spcPct val="110000"/>
              </a:lnSpc>
            </a:pPr>
            <a:r>
              <a:rPr lang="en-US" dirty="0"/>
              <a:t>Use group-specific means, and decide whether σ should be shared or group-specific.</a:t>
            </a:r>
          </a:p>
          <a:p>
            <a:pPr>
              <a:lnSpc>
                <a:spcPct val="110000"/>
              </a:lnSpc>
            </a:pPr>
            <a:r>
              <a:rPr lang="en-US" sz="2400" b="1" dirty="0"/>
              <a:t>Student-t likelihood:</a:t>
            </a:r>
          </a:p>
          <a:p>
            <a:pPr lvl="1">
              <a:lnSpc>
                <a:spcPct val="110000"/>
              </a:lnSpc>
            </a:pPr>
            <a:r>
              <a:rPr lang="en-US" dirty="0"/>
              <a:t>A robust alternative when data have heavy tails or outliers.</a:t>
            </a:r>
          </a:p>
          <a:p>
            <a:pPr>
              <a:lnSpc>
                <a:spcPct val="110000"/>
              </a:lnSpc>
            </a:pPr>
            <a:r>
              <a:rPr lang="en-US" sz="2400" b="1" dirty="0"/>
              <a:t>Frequentist t-tests:</a:t>
            </a:r>
          </a:p>
          <a:p>
            <a:pPr lvl="1">
              <a:lnSpc>
                <a:spcPct val="110000"/>
              </a:lnSpc>
            </a:pPr>
            <a:r>
              <a:rPr lang="en-US" dirty="0"/>
              <a:t>Answer questions through null sampling distributions and p-values rather than posterior uncertainty.</a:t>
            </a:r>
            <a:endParaRPr lang="en-GB" dirty="0"/>
          </a:p>
        </p:txBody>
      </p:sp>
    </p:spTree>
    <p:extLst>
      <p:ext uri="{BB962C8B-B14F-4D97-AF65-F5344CB8AC3E}">
        <p14:creationId xmlns:p14="http://schemas.microsoft.com/office/powerpoint/2010/main" val="1362710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2714</TotalTime>
  <Words>5174</Words>
  <Application>Microsoft Office PowerPoint</Application>
  <PresentationFormat>Widescreen</PresentationFormat>
  <Paragraphs>812</Paragraphs>
  <Slides>116</Slides>
  <Notes>70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116</vt:i4>
      </vt:variant>
    </vt:vector>
  </HeadingPairs>
  <TitlesOfParts>
    <vt:vector size="121" baseType="lpstr">
      <vt:lpstr>Arial</vt:lpstr>
      <vt:lpstr>Cambria Math</vt:lpstr>
      <vt:lpstr>David</vt:lpstr>
      <vt:lpstr>Wingdings</vt:lpstr>
      <vt:lpstr>Office Theme</vt:lpstr>
      <vt:lpstr>Tutorial 6</vt:lpstr>
      <vt:lpstr>Tutorial Outline</vt:lpstr>
      <vt:lpstr>Type I and Type II Errors</vt:lpstr>
      <vt:lpstr>Type I and Type II Errors</vt:lpstr>
      <vt:lpstr>Significance Level and p-value</vt:lpstr>
      <vt:lpstr>Significance Level and p-value</vt:lpstr>
      <vt:lpstr>Power and Type II error</vt:lpstr>
      <vt:lpstr>Power and Type II error</vt:lpstr>
      <vt:lpstr>Frequentist Two-proportion Z-test</vt:lpstr>
      <vt:lpstr>Frequentist Two-proportion Z-test</vt:lpstr>
      <vt:lpstr>Frequentist Two-proportion z-Test</vt:lpstr>
      <vt:lpstr>Z Statistic</vt:lpstr>
      <vt:lpstr>Z Statistic  - Two-proportion </vt:lpstr>
      <vt:lpstr>Z Statistic - Interpretation</vt:lpstr>
      <vt:lpstr>Two-tailed z-test</vt:lpstr>
      <vt:lpstr>Two-sided p-Value</vt:lpstr>
      <vt:lpstr>z-Test</vt:lpstr>
      <vt:lpstr>z-Test</vt:lpstr>
      <vt:lpstr>z-Test</vt:lpstr>
      <vt:lpstr>Statistical reporting</vt:lpstr>
      <vt:lpstr>Normal Models</vt:lpstr>
      <vt:lpstr>Continuous data</vt:lpstr>
      <vt:lpstr>Normal Distribution</vt:lpstr>
      <vt:lpstr>Normal Distribution</vt:lpstr>
      <vt:lpstr>Normal Distribution Bayesian Model</vt:lpstr>
      <vt:lpstr>Normal Distribution Bayesian Model</vt:lpstr>
      <vt:lpstr>Normal Distribution Bayesian Model</vt:lpstr>
      <vt:lpstr>Normal Distribution Bayesian Model</vt:lpstr>
      <vt:lpstr>Normal Distribution Bayesian Model</vt:lpstr>
      <vt:lpstr>Normal Distribution Bayesian Model</vt:lpstr>
      <vt:lpstr>Normal Distribution Bayesian Model</vt:lpstr>
      <vt:lpstr>Normal Distribution Bayesian Model</vt:lpstr>
      <vt:lpstr>Normal Distribution Bayesian Model</vt:lpstr>
      <vt:lpstr>Normal Distribution Bayesian Model</vt:lpstr>
      <vt:lpstr>Bayesian p-value</vt:lpstr>
      <vt:lpstr>Bayesian p-value</vt:lpstr>
      <vt:lpstr>Normal Distribution Bayesian Model</vt:lpstr>
      <vt:lpstr>Normal Distribution Bayesian Model</vt:lpstr>
      <vt:lpstr>Normal Distribution Bayesian Model</vt:lpstr>
      <vt:lpstr>Normal Distribution Bayesian Model</vt:lpstr>
      <vt:lpstr>Normal Distribution Bayesian Model</vt:lpstr>
      <vt:lpstr>Paired vs. Unpaired Data</vt:lpstr>
      <vt:lpstr>Paired Data</vt:lpstr>
      <vt:lpstr>Unpaired Data</vt:lpstr>
      <vt:lpstr>Bayesian Paired Model &amp; Hypothesis testing</vt:lpstr>
      <vt:lpstr>Bayesian Paired Model</vt:lpstr>
      <vt:lpstr>Effect size - Cohen’s d</vt:lpstr>
      <vt:lpstr>Reminder- ROPE and HDI </vt:lpstr>
      <vt:lpstr>Reminder- ROPE and HDI Test</vt:lpstr>
      <vt:lpstr>Bayesian Paired Model</vt:lpstr>
      <vt:lpstr>Bayesian Paired Model</vt:lpstr>
      <vt:lpstr>Bayesian Paired Model</vt:lpstr>
      <vt:lpstr>Bayesian Paired Model</vt:lpstr>
      <vt:lpstr>Bayesian Paired Model</vt:lpstr>
      <vt:lpstr>Bayesian Paired Model</vt:lpstr>
      <vt:lpstr>Bayesian Paired Model</vt:lpstr>
      <vt:lpstr>Bayesian Paired Model</vt:lpstr>
      <vt:lpstr>Bayesian Paired Model</vt:lpstr>
      <vt:lpstr>Bayesian Paired Model</vt:lpstr>
      <vt:lpstr>Bayesian Paired Model</vt:lpstr>
      <vt:lpstr>Bayesian Paired Model</vt:lpstr>
      <vt:lpstr>Frequentist t-tests</vt:lpstr>
      <vt:lpstr>Frequentist t-tests</vt:lpstr>
      <vt:lpstr>Frequentist t-tests</vt:lpstr>
      <vt:lpstr>Frequentist t-tests</vt:lpstr>
      <vt:lpstr>t-Test Overview</vt:lpstr>
      <vt:lpstr>t-Test</vt:lpstr>
      <vt:lpstr>Paired t-Test</vt:lpstr>
      <vt:lpstr>Paired t-Test</vt:lpstr>
      <vt:lpstr>Paired t-Test</vt:lpstr>
      <vt:lpstr>Paired t-Test</vt:lpstr>
      <vt:lpstr>Paired t-Test</vt:lpstr>
      <vt:lpstr>Paired t-Test</vt:lpstr>
      <vt:lpstr>Paired Wilcoxon-Test</vt:lpstr>
      <vt:lpstr>Student’s t-distribution</vt:lpstr>
      <vt:lpstr>Student’s t-distribution</vt:lpstr>
      <vt:lpstr>Student’s t-distribution</vt:lpstr>
      <vt:lpstr>Student’s t-distribution</vt:lpstr>
      <vt:lpstr>Robust Model</vt:lpstr>
      <vt:lpstr>Robust Model</vt:lpstr>
      <vt:lpstr>Robust Model</vt:lpstr>
      <vt:lpstr>Robust Model</vt:lpstr>
      <vt:lpstr>Robust Model</vt:lpstr>
      <vt:lpstr>Robust Model</vt:lpstr>
      <vt:lpstr>Robust Model</vt:lpstr>
      <vt:lpstr>Robust Model</vt:lpstr>
      <vt:lpstr>Unequal variances</vt:lpstr>
      <vt:lpstr>Bayesian group model</vt:lpstr>
      <vt:lpstr>Bayesian group model</vt:lpstr>
      <vt:lpstr>Bayesian group model</vt:lpstr>
      <vt:lpstr>Bayesian group model with shared sigma</vt:lpstr>
      <vt:lpstr>Bayesian group model with shared sigma</vt:lpstr>
      <vt:lpstr>Bayesian group model with shared sigma</vt:lpstr>
      <vt:lpstr>Bayesian group model with shared sigma</vt:lpstr>
      <vt:lpstr>Bayesian group model with shared sigma</vt:lpstr>
      <vt:lpstr>Bayesian group model with shared sigma</vt:lpstr>
      <vt:lpstr>Bayesian group model with shared sigma</vt:lpstr>
      <vt:lpstr>Bayesian group model with shared sigma</vt:lpstr>
      <vt:lpstr>Bayesian group model with separate sigma</vt:lpstr>
      <vt:lpstr>Bayesian group model with separate sigma</vt:lpstr>
      <vt:lpstr>Bayesian group model with separate sigma</vt:lpstr>
      <vt:lpstr>Bayesian group model with separate sigma</vt:lpstr>
      <vt:lpstr>Bayesian group model with shared sigma</vt:lpstr>
      <vt:lpstr>Bayesian group model with shared sigma</vt:lpstr>
      <vt:lpstr>Bayesian group model with shared sigma</vt:lpstr>
      <vt:lpstr>Bayesian group model with shared sigma</vt:lpstr>
      <vt:lpstr>Bayesian group model with shared sigma</vt:lpstr>
      <vt:lpstr>t-Test Overview</vt:lpstr>
      <vt:lpstr>Independent t-Test</vt:lpstr>
      <vt:lpstr>Independent t-Test</vt:lpstr>
      <vt:lpstr>Independent t-Test</vt:lpstr>
      <vt:lpstr>Independent t-Test</vt:lpstr>
      <vt:lpstr>Independent t-Test</vt:lpstr>
      <vt:lpstr>Independent t-Test</vt:lpstr>
      <vt:lpstr>Independent t-Test</vt:lpstr>
      <vt:lpstr>Tutorial 6: Main ideas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נעם גונן</dc:creator>
  <cp:lastModifiedBy>נעם גונן</cp:lastModifiedBy>
  <cp:revision>285</cp:revision>
  <dcterms:created xsi:type="dcterms:W3CDTF">2026-05-24T10:38:18Z</dcterms:created>
  <dcterms:modified xsi:type="dcterms:W3CDTF">2026-06-02T08:28:14Z</dcterms:modified>
</cp:coreProperties>
</file>