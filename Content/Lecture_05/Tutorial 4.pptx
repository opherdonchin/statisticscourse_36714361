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75"/>
  </p:notesMasterIdLst>
  <p:sldIdLst>
    <p:sldId id="257" r:id="rId2"/>
    <p:sldId id="259" r:id="rId3"/>
    <p:sldId id="266" r:id="rId4"/>
    <p:sldId id="262" r:id="rId5"/>
    <p:sldId id="329" r:id="rId6"/>
    <p:sldId id="263" r:id="rId7"/>
    <p:sldId id="328" r:id="rId8"/>
    <p:sldId id="261" r:id="rId9"/>
    <p:sldId id="279" r:id="rId10"/>
    <p:sldId id="264" r:id="rId11"/>
    <p:sldId id="280" r:id="rId12"/>
    <p:sldId id="283" r:id="rId13"/>
    <p:sldId id="282" r:id="rId14"/>
    <p:sldId id="281" r:id="rId15"/>
    <p:sldId id="260" r:id="rId16"/>
    <p:sldId id="284" r:id="rId17"/>
    <p:sldId id="265" r:id="rId18"/>
    <p:sldId id="325" r:id="rId19"/>
    <p:sldId id="326" r:id="rId20"/>
    <p:sldId id="330" r:id="rId21"/>
    <p:sldId id="268" r:id="rId22"/>
    <p:sldId id="327" r:id="rId23"/>
    <p:sldId id="267" r:id="rId24"/>
    <p:sldId id="269" r:id="rId25"/>
    <p:sldId id="286" r:id="rId26"/>
    <p:sldId id="287" r:id="rId27"/>
    <p:sldId id="285" r:id="rId28"/>
    <p:sldId id="331" r:id="rId29"/>
    <p:sldId id="270" r:id="rId30"/>
    <p:sldId id="288" r:id="rId31"/>
    <p:sldId id="289" r:id="rId32"/>
    <p:sldId id="290" r:id="rId33"/>
    <p:sldId id="291" r:id="rId34"/>
    <p:sldId id="292" r:id="rId35"/>
    <p:sldId id="293" r:id="rId36"/>
    <p:sldId id="294" r:id="rId37"/>
    <p:sldId id="296" r:id="rId38"/>
    <p:sldId id="297" r:id="rId39"/>
    <p:sldId id="298" r:id="rId40"/>
    <p:sldId id="295" r:id="rId41"/>
    <p:sldId id="271" r:id="rId42"/>
    <p:sldId id="299" r:id="rId43"/>
    <p:sldId id="300" r:id="rId44"/>
    <p:sldId id="301" r:id="rId45"/>
    <p:sldId id="302" r:id="rId46"/>
    <p:sldId id="303" r:id="rId47"/>
    <p:sldId id="304" r:id="rId48"/>
    <p:sldId id="305" r:id="rId49"/>
    <p:sldId id="322" r:id="rId50"/>
    <p:sldId id="332" r:id="rId51"/>
    <p:sldId id="272" r:id="rId52"/>
    <p:sldId id="306" r:id="rId53"/>
    <p:sldId id="307" r:id="rId54"/>
    <p:sldId id="308" r:id="rId55"/>
    <p:sldId id="312" r:id="rId56"/>
    <p:sldId id="309" r:id="rId57"/>
    <p:sldId id="310" r:id="rId58"/>
    <p:sldId id="275" r:id="rId59"/>
    <p:sldId id="277" r:id="rId60"/>
    <p:sldId id="311" r:id="rId61"/>
    <p:sldId id="314" r:id="rId62"/>
    <p:sldId id="313" r:id="rId63"/>
    <p:sldId id="274" r:id="rId64"/>
    <p:sldId id="324" r:id="rId65"/>
    <p:sldId id="273" r:id="rId66"/>
    <p:sldId id="315" r:id="rId67"/>
    <p:sldId id="316" r:id="rId68"/>
    <p:sldId id="317" r:id="rId69"/>
    <p:sldId id="318" r:id="rId70"/>
    <p:sldId id="319" r:id="rId71"/>
    <p:sldId id="321" r:id="rId72"/>
    <p:sldId id="320" r:id="rId73"/>
    <p:sldId id="323" r:id="rId7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2F7C37-2B13-4323-9FB9-771CD11863F7}">
          <p14:sldIdLst>
            <p14:sldId id="257"/>
            <p14:sldId id="259"/>
            <p14:sldId id="266"/>
            <p14:sldId id="262"/>
            <p14:sldId id="329"/>
            <p14:sldId id="263"/>
            <p14:sldId id="328"/>
            <p14:sldId id="261"/>
            <p14:sldId id="279"/>
            <p14:sldId id="264"/>
            <p14:sldId id="280"/>
            <p14:sldId id="283"/>
            <p14:sldId id="282"/>
            <p14:sldId id="281"/>
            <p14:sldId id="260"/>
            <p14:sldId id="284"/>
            <p14:sldId id="265"/>
            <p14:sldId id="325"/>
            <p14:sldId id="326"/>
            <p14:sldId id="330"/>
            <p14:sldId id="268"/>
            <p14:sldId id="327"/>
            <p14:sldId id="267"/>
            <p14:sldId id="269"/>
            <p14:sldId id="286"/>
            <p14:sldId id="287"/>
            <p14:sldId id="285"/>
            <p14:sldId id="331"/>
            <p14:sldId id="270"/>
            <p14:sldId id="288"/>
            <p14:sldId id="289"/>
            <p14:sldId id="290"/>
            <p14:sldId id="291"/>
            <p14:sldId id="292"/>
            <p14:sldId id="293"/>
            <p14:sldId id="294"/>
            <p14:sldId id="296"/>
            <p14:sldId id="297"/>
            <p14:sldId id="298"/>
            <p14:sldId id="295"/>
            <p14:sldId id="271"/>
            <p14:sldId id="299"/>
            <p14:sldId id="300"/>
            <p14:sldId id="301"/>
            <p14:sldId id="302"/>
            <p14:sldId id="303"/>
            <p14:sldId id="304"/>
            <p14:sldId id="305"/>
            <p14:sldId id="322"/>
            <p14:sldId id="332"/>
            <p14:sldId id="272"/>
            <p14:sldId id="306"/>
            <p14:sldId id="307"/>
            <p14:sldId id="308"/>
            <p14:sldId id="312"/>
            <p14:sldId id="309"/>
            <p14:sldId id="310"/>
            <p14:sldId id="275"/>
            <p14:sldId id="277"/>
            <p14:sldId id="311"/>
            <p14:sldId id="314"/>
            <p14:sldId id="313"/>
            <p14:sldId id="274"/>
            <p14:sldId id="324"/>
            <p14:sldId id="273"/>
            <p14:sldId id="315"/>
            <p14:sldId id="316"/>
            <p14:sldId id="317"/>
            <p14:sldId id="318"/>
            <p14:sldId id="319"/>
            <p14:sldId id="321"/>
            <p14:sldId id="320"/>
            <p14:sldId id="3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78692" autoAdjust="0"/>
  </p:normalViewPr>
  <p:slideViewPr>
    <p:cSldViewPr snapToGrid="0">
      <p:cViewPr varScale="1">
        <p:scale>
          <a:sx n="87" d="100"/>
          <a:sy n="87" d="100"/>
        </p:scale>
        <p:origin x="151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atin typeface="David" panose="020E0502060401010101" pitchFamily="34" charset="-79"/>
                <a:cs typeface="David" panose="020E0502060401010101" pitchFamily="34" charset="-79"/>
              </a:defRPr>
            </a:lvl1pPr>
          </a:lstStyle>
          <a:p>
            <a:endParaRPr lang="he-IL" dirty="0"/>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atin typeface="David" panose="020E0502060401010101" pitchFamily="34" charset="-79"/>
                <a:cs typeface="David" panose="020E0502060401010101" pitchFamily="34" charset="-79"/>
              </a:defRPr>
            </a:lvl1pPr>
          </a:lstStyle>
          <a:p>
            <a:fld id="{03B74774-4BFC-4DC9-A9E0-599248F8E502}" type="datetimeFigureOut">
              <a:rPr lang="he-IL" smtClean="0"/>
              <a:pPr/>
              <a:t>ג'/סיון/תשפ"ו</a:t>
            </a:fld>
            <a:endParaRPr lang="he-IL" dirty="0"/>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dirty="0"/>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atin typeface="David" panose="020E0502060401010101" pitchFamily="34" charset="-79"/>
                <a:cs typeface="David" panose="020E0502060401010101" pitchFamily="34" charset="-79"/>
              </a:defRPr>
            </a:lvl1pPr>
          </a:lstStyle>
          <a:p>
            <a:endParaRPr lang="he-IL" dirty="0"/>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atin typeface="David" panose="020E0502060401010101" pitchFamily="34" charset="-79"/>
                <a:cs typeface="David" panose="020E0502060401010101" pitchFamily="34" charset="-79"/>
              </a:defRPr>
            </a:lvl1pPr>
          </a:lstStyle>
          <a:p>
            <a:fld id="{C92EB490-81AD-4E58-8FB4-217ABE50CF56}" type="slidenum">
              <a:rPr lang="he-IL" smtClean="0"/>
              <a:pPr/>
              <a:t>‹#›</a:t>
            </a:fld>
            <a:endParaRPr lang="he-IL" dirty="0"/>
          </a:p>
        </p:txBody>
      </p:sp>
    </p:spTree>
    <p:extLst>
      <p:ext uri="{BB962C8B-B14F-4D97-AF65-F5344CB8AC3E}">
        <p14:creationId xmlns:p14="http://schemas.microsoft.com/office/powerpoint/2010/main" val="358919654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David" panose="020E0502060401010101" pitchFamily="34" charset="-79"/>
        <a:ea typeface="+mn-ea"/>
        <a:cs typeface="David" panose="020E0502060401010101" pitchFamily="34" charset="-79"/>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A96E01F-8DBD-4634-ACB5-33D503B64F6E}" type="slidenum">
              <a:rPr lang="LID4096" smtClean="0"/>
              <a:t>1</a:t>
            </a:fld>
            <a:endParaRPr lang="LID4096"/>
          </a:p>
        </p:txBody>
      </p:sp>
    </p:spTree>
    <p:extLst>
      <p:ext uri="{BB962C8B-B14F-4D97-AF65-F5344CB8AC3E}">
        <p14:creationId xmlns:p14="http://schemas.microsoft.com/office/powerpoint/2010/main" val="2206652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en-US" dirty="0"/>
              <a:t>This is partial revision. </a:t>
            </a:r>
          </a:p>
          <a:p>
            <a:pPr algn="l" rtl="0"/>
            <a:r>
              <a:rPr lang="en-US" dirty="0"/>
              <a:t>The algorithms are also important!</a:t>
            </a:r>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3</a:t>
            </a:fld>
            <a:endParaRPr lang="he-IL" dirty="0"/>
          </a:p>
        </p:txBody>
      </p:sp>
    </p:spTree>
    <p:extLst>
      <p:ext uri="{BB962C8B-B14F-4D97-AF65-F5344CB8AC3E}">
        <p14:creationId xmlns:p14="http://schemas.microsoft.com/office/powerpoint/2010/main" val="4229984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en-US" dirty="0"/>
              <a:t>Up </a:t>
            </a:r>
            <a:r>
              <a:rPr lang="en-US" dirty="0" err="1"/>
              <a:t>untill</a:t>
            </a:r>
            <a:r>
              <a:rPr lang="en-US" dirty="0"/>
              <a:t> now</a:t>
            </a:r>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4</a:t>
            </a:fld>
            <a:endParaRPr lang="he-IL" dirty="0"/>
          </a:p>
        </p:txBody>
      </p:sp>
    </p:spTree>
    <p:extLst>
      <p:ext uri="{BB962C8B-B14F-4D97-AF65-F5344CB8AC3E}">
        <p14:creationId xmlns:p14="http://schemas.microsoft.com/office/powerpoint/2010/main" val="2196488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33FA0-C551-C310-EB4E-8ABBBD733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AACBB-564A-B93B-6477-BA0505BCD71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AE58E410-BBF6-E6B4-7272-4C7AA41A53F7}"/>
              </a:ext>
            </a:extLst>
          </p:cNvPr>
          <p:cNvSpPr>
            <a:spLocks noGrp="1"/>
          </p:cNvSpPr>
          <p:nvPr>
            <p:ph type="body" idx="1"/>
          </p:nvPr>
        </p:nvSpPr>
        <p:spPr/>
        <p:txBody>
          <a:bodyPr/>
          <a:lstStyle/>
          <a:p>
            <a:pPr algn="l" rtl="0"/>
            <a:r>
              <a:rPr lang="en-US" dirty="0"/>
              <a:t>New Definitions and Terms </a:t>
            </a:r>
          </a:p>
          <a:p>
            <a:pPr algn="l" rtl="0"/>
            <a:r>
              <a:rPr lang="en-US" dirty="0"/>
              <a:t>• Bayesian workflow — an iterative process for building, checking, sampling, and revising statistical models </a:t>
            </a:r>
          </a:p>
          <a:p>
            <a:pPr algn="l" rtl="0"/>
            <a:r>
              <a:rPr lang="en-US" dirty="0"/>
              <a:t>• Sampling validity — whether the algorithm actually sampled from the posterior distribution </a:t>
            </a:r>
          </a:p>
          <a:p>
            <a:pPr algn="l" rtl="0"/>
            <a:r>
              <a:rPr lang="en-US" dirty="0"/>
              <a:t>• Model fit — whether the fitted model can generate data resembling the observed data</a:t>
            </a:r>
          </a:p>
          <a:p>
            <a:pPr algn="l" rtl="0"/>
            <a:r>
              <a:rPr lang="en-US" dirty="0"/>
              <a:t>• Prior predictive sampling — simulating parameters from the prior and data from the likelihood before fitting the model </a:t>
            </a:r>
          </a:p>
          <a:p>
            <a:pPr algn="l" rtl="0"/>
            <a:r>
              <a:rPr lang="en-US" dirty="0"/>
              <a:t>• Posterior predictive sampling — simulating new data from parameter values drawn from the posterior </a:t>
            </a:r>
          </a:p>
          <a:p>
            <a:pPr algn="l" rtl="0"/>
            <a:r>
              <a:rPr lang="en-US" dirty="0"/>
              <a:t>• Iterative workflow — the process of revising data procedures, priors, models, parameterizations, or sampler settings when checks fail </a:t>
            </a:r>
            <a:endParaRPr lang="he-IL" dirty="0"/>
          </a:p>
          <a:p>
            <a:endParaRPr lang="he-IL" dirty="0"/>
          </a:p>
        </p:txBody>
      </p:sp>
      <p:sp>
        <p:nvSpPr>
          <p:cNvPr id="4" name="Slide Number Placeholder 3">
            <a:extLst>
              <a:ext uri="{FF2B5EF4-FFF2-40B4-BE49-F238E27FC236}">
                <a16:creationId xmlns:a16="http://schemas.microsoft.com/office/drawing/2014/main" id="{8AFF563C-6113-1E1C-A496-E9934378C583}"/>
              </a:ext>
            </a:extLst>
          </p:cNvPr>
          <p:cNvSpPr>
            <a:spLocks noGrp="1"/>
          </p:cNvSpPr>
          <p:nvPr>
            <p:ph type="sldNum" sz="quarter" idx="5"/>
          </p:nvPr>
        </p:nvSpPr>
        <p:spPr/>
        <p:txBody>
          <a:bodyPr/>
          <a:lstStyle/>
          <a:p>
            <a:fld id="{C92EB490-81AD-4E58-8FB4-217ABE50CF56}" type="slidenum">
              <a:rPr lang="he-IL" smtClean="0"/>
              <a:pPr/>
              <a:t>5</a:t>
            </a:fld>
            <a:endParaRPr lang="he-IL" dirty="0"/>
          </a:p>
        </p:txBody>
      </p:sp>
    </p:spTree>
    <p:extLst>
      <p:ext uri="{BB962C8B-B14F-4D97-AF65-F5344CB8AC3E}">
        <p14:creationId xmlns:p14="http://schemas.microsoft.com/office/powerpoint/2010/main" val="4101755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en-US" dirty="0"/>
              <a:t>New Definitions and Terms </a:t>
            </a:r>
          </a:p>
          <a:p>
            <a:pPr algn="l" rtl="0"/>
            <a:r>
              <a:rPr lang="en-US" dirty="0"/>
              <a:t>• Bayesian workflow — an iterative process for building, checking, sampling, and revising statistical models </a:t>
            </a:r>
          </a:p>
          <a:p>
            <a:pPr algn="l" rtl="0"/>
            <a:r>
              <a:rPr lang="en-US" dirty="0"/>
              <a:t>• Sampling validity — whether the algorithm actually sampled from the posterior distribution </a:t>
            </a:r>
          </a:p>
          <a:p>
            <a:pPr algn="l" rtl="0"/>
            <a:r>
              <a:rPr lang="en-US" dirty="0"/>
              <a:t>• Model fit — whether the fitted model can generate data resembling the observed data</a:t>
            </a:r>
          </a:p>
          <a:p>
            <a:pPr algn="l" rtl="0"/>
            <a:r>
              <a:rPr lang="en-US" dirty="0"/>
              <a:t>• Prior predictive sampling — simulating parameters from the prior and data from the likelihood before fitting the model </a:t>
            </a:r>
          </a:p>
          <a:p>
            <a:pPr algn="l" rtl="0"/>
            <a:r>
              <a:rPr lang="en-US" dirty="0"/>
              <a:t>• Posterior predictive sampling — simulating new data from parameter values drawn from the posterior </a:t>
            </a:r>
          </a:p>
          <a:p>
            <a:pPr algn="l" rtl="0"/>
            <a:r>
              <a:rPr lang="en-US" dirty="0"/>
              <a:t>• Iterative workflow — the process of revising data procedures, priors, models, parameterizations, or sampler settings when checks fail </a:t>
            </a:r>
            <a:endParaRPr lang="he-IL" dirty="0"/>
          </a:p>
          <a:p>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6</a:t>
            </a:fld>
            <a:endParaRPr lang="he-IL" dirty="0"/>
          </a:p>
        </p:txBody>
      </p:sp>
    </p:spTree>
    <p:extLst>
      <p:ext uri="{BB962C8B-B14F-4D97-AF65-F5344CB8AC3E}">
        <p14:creationId xmlns:p14="http://schemas.microsoft.com/office/powerpoint/2010/main" val="3692533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he-IL" dirty="0"/>
              <a:t>Fitting the model </a:t>
            </a:r>
            <a:r>
              <a:rPr lang="he-IL" dirty="0" err="1"/>
              <a:t>samples</a:t>
            </a:r>
            <a:r>
              <a:rPr lang="he-IL" dirty="0"/>
              <a:t> </a:t>
            </a:r>
            <a:r>
              <a:rPr lang="he-IL" dirty="0" err="1"/>
              <a:t>unknown</a:t>
            </a:r>
            <a:r>
              <a:rPr lang="he-IL" dirty="0"/>
              <a:t> parameters from the </a:t>
            </a:r>
            <a:r>
              <a:rPr lang="he-IL" dirty="0" err="1"/>
              <a:t>posterior</a:t>
            </a:r>
            <a:r>
              <a:rPr lang="he-IL" dirty="0"/>
              <a:t> </a:t>
            </a:r>
            <a:r>
              <a:rPr lang="he-IL" dirty="0" err="1"/>
              <a:t>after</a:t>
            </a:r>
            <a:r>
              <a:rPr lang="he-IL" dirty="0"/>
              <a:t> </a:t>
            </a:r>
            <a:r>
              <a:rPr lang="he-IL" dirty="0" err="1"/>
              <a:t>conditioning</a:t>
            </a:r>
            <a:r>
              <a:rPr lang="he-IL" dirty="0"/>
              <a:t> </a:t>
            </a:r>
            <a:r>
              <a:rPr lang="he-IL" dirty="0" err="1"/>
              <a:t>on</a:t>
            </a:r>
            <a:r>
              <a:rPr lang="he-IL" dirty="0"/>
              <a:t> the </a:t>
            </a:r>
            <a:r>
              <a:rPr lang="he-IL" dirty="0" err="1"/>
              <a:t>observed</a:t>
            </a:r>
            <a:r>
              <a:rPr lang="he-IL" dirty="0"/>
              <a:t> </a:t>
            </a:r>
            <a:r>
              <a:rPr lang="he-IL" dirty="0" err="1"/>
              <a:t>data</a:t>
            </a:r>
            <a:r>
              <a:rPr lang="he-IL" dirty="0"/>
              <a:t>.</a:t>
            </a:r>
            <a:endParaRPr lang="en-US" dirty="0"/>
          </a:p>
          <a:p>
            <a:pPr algn="l" rtl="0"/>
            <a:r>
              <a:rPr lang="he-IL" dirty="0" err="1"/>
              <a:t>Predictive</a:t>
            </a:r>
            <a:r>
              <a:rPr lang="he-IL" dirty="0"/>
              <a:t> sampling </a:t>
            </a:r>
            <a:r>
              <a:rPr lang="he-IL" dirty="0" err="1"/>
              <a:t>simulates</a:t>
            </a:r>
            <a:r>
              <a:rPr lang="he-IL" dirty="0"/>
              <a:t> </a:t>
            </a:r>
            <a:r>
              <a:rPr lang="he-IL" dirty="0" err="1"/>
              <a:t>data</a:t>
            </a:r>
            <a:r>
              <a:rPr lang="he-IL" dirty="0"/>
              <a:t> from the model: </a:t>
            </a:r>
            <a:r>
              <a:rPr lang="he-IL" b="1" dirty="0" err="1"/>
              <a:t>prior</a:t>
            </a:r>
            <a:r>
              <a:rPr lang="he-IL" b="1" dirty="0"/>
              <a:t> </a:t>
            </a:r>
            <a:r>
              <a:rPr lang="he-IL" b="1" dirty="0" err="1"/>
              <a:t>predictive</a:t>
            </a:r>
            <a:r>
              <a:rPr lang="he-IL" b="1" dirty="0"/>
              <a:t> sampling</a:t>
            </a:r>
            <a:r>
              <a:rPr lang="he-IL" dirty="0"/>
              <a:t> </a:t>
            </a:r>
            <a:r>
              <a:rPr lang="he-IL" dirty="0" err="1"/>
              <a:t>simulates</a:t>
            </a:r>
            <a:r>
              <a:rPr lang="he-IL" dirty="0"/>
              <a:t> </a:t>
            </a:r>
            <a:r>
              <a:rPr lang="he-IL" dirty="0" err="1"/>
              <a:t>data</a:t>
            </a:r>
            <a:r>
              <a:rPr lang="he-IL" dirty="0"/>
              <a:t> </a:t>
            </a:r>
            <a:r>
              <a:rPr lang="he-IL" dirty="0" err="1"/>
              <a:t>before</a:t>
            </a:r>
            <a:r>
              <a:rPr lang="he-IL" dirty="0"/>
              <a:t> </a:t>
            </a:r>
            <a:r>
              <a:rPr lang="he-IL" dirty="0" err="1"/>
              <a:t>fitting</a:t>
            </a:r>
            <a:r>
              <a:rPr lang="he-IL" dirty="0"/>
              <a:t> to </a:t>
            </a:r>
            <a:r>
              <a:rPr lang="he-IL" dirty="0" err="1"/>
              <a:t>check</a:t>
            </a:r>
            <a:r>
              <a:rPr lang="he-IL" dirty="0"/>
              <a:t> </a:t>
            </a:r>
            <a:r>
              <a:rPr lang="he-IL" dirty="0" err="1"/>
              <a:t>whether</a:t>
            </a:r>
            <a:r>
              <a:rPr lang="he-IL" dirty="0"/>
              <a:t> the model </a:t>
            </a:r>
            <a:r>
              <a:rPr lang="he-IL" dirty="0" err="1"/>
              <a:t>is</a:t>
            </a:r>
            <a:r>
              <a:rPr lang="he-IL" dirty="0"/>
              <a:t> </a:t>
            </a:r>
            <a:r>
              <a:rPr lang="he-IL" dirty="0" err="1"/>
              <a:t>plausible</a:t>
            </a:r>
            <a:r>
              <a:rPr lang="he-IL" dirty="0"/>
              <a:t>, </a:t>
            </a:r>
            <a:r>
              <a:rPr lang="he-IL" dirty="0" err="1"/>
              <a:t>while</a:t>
            </a:r>
            <a:r>
              <a:rPr lang="he-IL" dirty="0"/>
              <a:t> </a:t>
            </a:r>
            <a:r>
              <a:rPr lang="he-IL" b="1" dirty="0" err="1"/>
              <a:t>posterior</a:t>
            </a:r>
            <a:r>
              <a:rPr lang="he-IL" b="1" dirty="0"/>
              <a:t> </a:t>
            </a:r>
            <a:r>
              <a:rPr lang="he-IL" b="1" dirty="0" err="1"/>
              <a:t>predictive</a:t>
            </a:r>
            <a:r>
              <a:rPr lang="he-IL" b="1" dirty="0"/>
              <a:t> sampling </a:t>
            </a:r>
            <a:r>
              <a:rPr lang="he-IL" dirty="0" err="1"/>
              <a:t>simulates</a:t>
            </a:r>
            <a:r>
              <a:rPr lang="he-IL" dirty="0"/>
              <a:t> </a:t>
            </a:r>
            <a:r>
              <a:rPr lang="he-IL" dirty="0" err="1"/>
              <a:t>data</a:t>
            </a:r>
            <a:r>
              <a:rPr lang="he-IL" dirty="0"/>
              <a:t> </a:t>
            </a:r>
            <a:r>
              <a:rPr lang="he-IL" dirty="0" err="1"/>
              <a:t>after</a:t>
            </a:r>
            <a:r>
              <a:rPr lang="he-IL" dirty="0"/>
              <a:t> </a:t>
            </a:r>
            <a:r>
              <a:rPr lang="he-IL" dirty="0" err="1"/>
              <a:t>fitting</a:t>
            </a:r>
            <a:r>
              <a:rPr lang="he-IL" dirty="0"/>
              <a:t> to </a:t>
            </a:r>
            <a:r>
              <a:rPr lang="he-IL" dirty="0" err="1"/>
              <a:t>check</a:t>
            </a:r>
            <a:r>
              <a:rPr lang="he-IL" dirty="0"/>
              <a:t> </a:t>
            </a:r>
            <a:r>
              <a:rPr lang="he-IL" dirty="0" err="1"/>
              <a:t>whether</a:t>
            </a:r>
            <a:r>
              <a:rPr lang="he-IL" dirty="0"/>
              <a:t> the </a:t>
            </a:r>
            <a:r>
              <a:rPr lang="he-IL" dirty="0" err="1"/>
              <a:t>fitted</a:t>
            </a:r>
            <a:r>
              <a:rPr lang="he-IL" dirty="0"/>
              <a:t> model </a:t>
            </a:r>
            <a:r>
              <a:rPr lang="he-IL" dirty="0" err="1"/>
              <a:t>can</a:t>
            </a:r>
            <a:r>
              <a:rPr lang="he-IL" dirty="0"/>
              <a:t> </a:t>
            </a:r>
            <a:r>
              <a:rPr lang="he-IL" dirty="0" err="1"/>
              <a:t>reproduce</a:t>
            </a:r>
            <a:r>
              <a:rPr lang="he-IL" dirty="0"/>
              <a:t> the </a:t>
            </a:r>
            <a:r>
              <a:rPr lang="he-IL" dirty="0" err="1"/>
              <a:t>observed</a:t>
            </a:r>
            <a:r>
              <a:rPr lang="he-IL" dirty="0"/>
              <a:t> </a:t>
            </a:r>
            <a:r>
              <a:rPr lang="he-IL" dirty="0" err="1"/>
              <a:t>data</a:t>
            </a:r>
            <a:r>
              <a:rPr lang="he-IL" dirty="0"/>
              <a:t>.</a:t>
            </a:r>
          </a:p>
        </p:txBody>
      </p:sp>
      <p:sp>
        <p:nvSpPr>
          <p:cNvPr id="4" name="Slide Number Placeholder 3"/>
          <p:cNvSpPr>
            <a:spLocks noGrp="1"/>
          </p:cNvSpPr>
          <p:nvPr>
            <p:ph type="sldNum" sz="quarter" idx="5"/>
          </p:nvPr>
        </p:nvSpPr>
        <p:spPr/>
        <p:txBody>
          <a:bodyPr/>
          <a:lstStyle/>
          <a:p>
            <a:fld id="{C92EB490-81AD-4E58-8FB4-217ABE50CF56}" type="slidenum">
              <a:rPr lang="he-IL" smtClean="0"/>
              <a:pPr/>
              <a:t>7</a:t>
            </a:fld>
            <a:endParaRPr lang="he-IL" dirty="0"/>
          </a:p>
        </p:txBody>
      </p:sp>
    </p:spTree>
    <p:extLst>
      <p:ext uri="{BB962C8B-B14F-4D97-AF65-F5344CB8AC3E}">
        <p14:creationId xmlns:p14="http://schemas.microsoft.com/office/powerpoint/2010/main" val="451289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We want to see both kinds! Today we’ll focus on the ‘diagnostics’</a:t>
            </a:r>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9</a:t>
            </a:fld>
            <a:endParaRPr lang="he-IL" dirty="0"/>
          </a:p>
        </p:txBody>
      </p:sp>
    </p:spTree>
    <p:extLst>
      <p:ext uri="{BB962C8B-B14F-4D97-AF65-F5344CB8AC3E}">
        <p14:creationId xmlns:p14="http://schemas.microsoft.com/office/powerpoint/2010/main" val="524007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he-IL" dirty="0" err="1"/>
              <a:t>Example</a:t>
            </a:r>
            <a:r>
              <a:rPr lang="he-IL" dirty="0"/>
              <a:t>:</a:t>
            </a:r>
          </a:p>
          <a:p>
            <a:pPr algn="l" rtl="0"/>
            <a:r>
              <a:rPr lang="he-IL" sz="1200" kern="1200" dirty="0">
                <a:solidFill>
                  <a:schemeClr val="tx1"/>
                </a:solidFill>
                <a:latin typeface="David" panose="020E0502060401010101" pitchFamily="34" charset="-79"/>
                <a:ea typeface="+mn-ea"/>
                <a:cs typeface="David" panose="020E0502060401010101" pitchFamily="34" charset="-79"/>
              </a:rPr>
              <a:t>4 </a:t>
            </a:r>
            <a:r>
              <a:rPr lang="en-US" sz="1200" kern="1200" dirty="0">
                <a:solidFill>
                  <a:schemeClr val="tx1"/>
                </a:solidFill>
                <a:latin typeface="David" panose="020E0502060401010101" pitchFamily="34" charset="-79"/>
                <a:ea typeface="+mn-ea"/>
                <a:cs typeface="David" panose="020E0502060401010101" pitchFamily="34" charset="-79"/>
              </a:rPr>
              <a:t> </a:t>
            </a:r>
            <a:r>
              <a:rPr lang="he-IL" sz="1200" kern="1200" dirty="0" err="1">
                <a:solidFill>
                  <a:schemeClr val="tx1"/>
                </a:solidFill>
                <a:latin typeface="David" panose="020E0502060401010101" pitchFamily="34" charset="-79"/>
                <a:ea typeface="+mn-ea"/>
                <a:cs typeface="David" panose="020E0502060401010101" pitchFamily="34" charset="-79"/>
              </a:rPr>
              <a:t>chains</a:t>
            </a:r>
            <a:r>
              <a:rPr lang="he-IL" sz="1200" kern="1200" dirty="0">
                <a:solidFill>
                  <a:schemeClr val="tx1"/>
                </a:solidFill>
                <a:latin typeface="David" panose="020E0502060401010101" pitchFamily="34" charset="-79"/>
                <a:ea typeface="+mn-ea"/>
                <a:cs typeface="David" panose="020E0502060401010101" pitchFamily="34" charset="-79"/>
              </a:rPr>
              <a:t> × 1000 </a:t>
            </a:r>
            <a:r>
              <a:rPr lang="he-IL" sz="1200" kern="1200" dirty="0" err="1">
                <a:solidFill>
                  <a:schemeClr val="tx1"/>
                </a:solidFill>
                <a:latin typeface="David" panose="020E0502060401010101" pitchFamily="34" charset="-79"/>
                <a:ea typeface="+mn-ea"/>
                <a:cs typeface="David" panose="020E0502060401010101" pitchFamily="34" charset="-79"/>
              </a:rPr>
              <a:t>draws</a:t>
            </a:r>
            <a:r>
              <a:rPr lang="he-IL" sz="1200" kern="1200" dirty="0">
                <a:solidFill>
                  <a:schemeClr val="tx1"/>
                </a:solidFill>
                <a:latin typeface="David" panose="020E0502060401010101" pitchFamily="34" charset="-79"/>
                <a:ea typeface="+mn-ea"/>
                <a:cs typeface="David" panose="020E0502060401010101" pitchFamily="34" charset="-79"/>
              </a:rPr>
              <a:t> = 4000 </a:t>
            </a:r>
            <a:r>
              <a:rPr lang="en-US" sz="1200" kern="1200" dirty="0">
                <a:solidFill>
                  <a:schemeClr val="tx1"/>
                </a:solidFill>
                <a:latin typeface="David" panose="020E0502060401010101" pitchFamily="34" charset="-79"/>
                <a:ea typeface="+mn-ea"/>
                <a:cs typeface="David" panose="020E0502060401010101" pitchFamily="34" charset="-79"/>
              </a:rPr>
              <a:t> </a:t>
            </a:r>
            <a:r>
              <a:rPr lang="he-IL" sz="1200" kern="1200" dirty="0" err="1">
                <a:solidFill>
                  <a:schemeClr val="tx1"/>
                </a:solidFill>
                <a:latin typeface="David" panose="020E0502060401010101" pitchFamily="34" charset="-79"/>
                <a:ea typeface="+mn-ea"/>
                <a:cs typeface="David" panose="020E0502060401010101" pitchFamily="34" charset="-79"/>
              </a:rPr>
              <a:t>total</a:t>
            </a:r>
            <a:r>
              <a:rPr lang="he-IL" sz="1200" kern="1200" dirty="0">
                <a:solidFill>
                  <a:schemeClr val="tx1"/>
                </a:solidFill>
                <a:latin typeface="David" panose="020E0502060401010101" pitchFamily="34" charset="-79"/>
                <a:ea typeface="+mn-ea"/>
                <a:cs typeface="David" panose="020E0502060401010101" pitchFamily="34" charset="-79"/>
              </a:rPr>
              <a:t> </a:t>
            </a:r>
            <a:r>
              <a:rPr lang="he-IL" sz="1200" kern="1200" dirty="0" err="1">
                <a:solidFill>
                  <a:schemeClr val="tx1"/>
                </a:solidFill>
                <a:latin typeface="David" panose="020E0502060401010101" pitchFamily="34" charset="-79"/>
                <a:ea typeface="+mn-ea"/>
                <a:cs typeface="David" panose="020E0502060401010101" pitchFamily="34" charset="-79"/>
              </a:rPr>
              <a:t>draws</a:t>
            </a:r>
            <a:endParaRPr lang="he-IL" sz="1200" kern="1200" dirty="0">
              <a:solidFill>
                <a:schemeClr val="tx1"/>
              </a:solidFill>
              <a:latin typeface="David" panose="020E0502060401010101" pitchFamily="34" charset="-79"/>
              <a:ea typeface="+mn-ea"/>
              <a:cs typeface="David" panose="020E0502060401010101" pitchFamily="34" charset="-79"/>
            </a:endParaRPr>
          </a:p>
          <a:p>
            <a:pPr algn="l" rtl="0"/>
            <a:r>
              <a:rPr lang="he-IL" dirty="0" err="1"/>
              <a:t>But</a:t>
            </a:r>
            <a:r>
              <a:rPr lang="he-IL" dirty="0"/>
              <a:t> </a:t>
            </a:r>
            <a:r>
              <a:rPr lang="he-IL" dirty="0" err="1"/>
              <a:t>if</a:t>
            </a:r>
            <a:r>
              <a:rPr lang="he-IL" dirty="0"/>
              <a:t> the </a:t>
            </a:r>
            <a:r>
              <a:rPr lang="he-IL" dirty="0" err="1"/>
              <a:t>samples</a:t>
            </a:r>
            <a:r>
              <a:rPr lang="he-IL" dirty="0"/>
              <a:t> </a:t>
            </a:r>
            <a:r>
              <a:rPr lang="he-IL" dirty="0" err="1"/>
              <a:t>are</a:t>
            </a:r>
            <a:r>
              <a:rPr lang="he-IL" dirty="0"/>
              <a:t> </a:t>
            </a:r>
            <a:r>
              <a:rPr lang="he-IL" dirty="0" err="1"/>
              <a:t>strongly</a:t>
            </a:r>
            <a:r>
              <a:rPr lang="he-IL" dirty="0"/>
              <a:t> </a:t>
            </a:r>
            <a:r>
              <a:rPr lang="he-IL" dirty="0" err="1"/>
              <a:t>autocorrelated</a:t>
            </a:r>
            <a:r>
              <a:rPr lang="he-IL" dirty="0"/>
              <a:t>, </a:t>
            </a:r>
            <a:r>
              <a:rPr lang="he-IL" dirty="0" err="1"/>
              <a:t>many</a:t>
            </a:r>
            <a:r>
              <a:rPr lang="he-IL" dirty="0"/>
              <a:t> </a:t>
            </a:r>
            <a:r>
              <a:rPr lang="he-IL" dirty="0" err="1"/>
              <a:t>draws</a:t>
            </a:r>
            <a:r>
              <a:rPr lang="he-IL" dirty="0"/>
              <a:t> </a:t>
            </a:r>
            <a:r>
              <a:rPr lang="he-IL" dirty="0" err="1"/>
              <a:t>are</a:t>
            </a:r>
            <a:r>
              <a:rPr lang="he-IL" dirty="0"/>
              <a:t> </a:t>
            </a:r>
            <a:r>
              <a:rPr lang="he-IL" dirty="0" err="1"/>
              <a:t>redundant</a:t>
            </a:r>
            <a:r>
              <a:rPr lang="he-IL" dirty="0"/>
              <a:t>. The ESS </a:t>
            </a:r>
            <a:r>
              <a:rPr lang="he-IL" dirty="0" err="1"/>
              <a:t>might</a:t>
            </a:r>
            <a:r>
              <a:rPr lang="he-IL" dirty="0"/>
              <a:t> </a:t>
            </a:r>
            <a:r>
              <a:rPr lang="he-IL" dirty="0" err="1"/>
              <a:t>be</a:t>
            </a:r>
            <a:r>
              <a:rPr lang="he-IL" dirty="0"/>
              <a:t>:</a:t>
            </a:r>
          </a:p>
          <a:p>
            <a:pPr algn="l" rtl="0"/>
            <a:r>
              <a:rPr lang="he-IL" sz="1200" kern="1200" dirty="0">
                <a:solidFill>
                  <a:schemeClr val="tx1"/>
                </a:solidFill>
                <a:latin typeface="David" panose="020E0502060401010101" pitchFamily="34" charset="-79"/>
                <a:ea typeface="+mn-ea"/>
                <a:cs typeface="David" panose="020E0502060401010101" pitchFamily="34" charset="-79"/>
              </a:rPr>
              <a:t>ESS = 600</a:t>
            </a:r>
          </a:p>
          <a:p>
            <a:pPr algn="l" rtl="0"/>
            <a:r>
              <a:rPr lang="he-IL" dirty="0" err="1"/>
              <a:t>This</a:t>
            </a:r>
            <a:r>
              <a:rPr lang="he-IL" dirty="0"/>
              <a:t> </a:t>
            </a:r>
            <a:r>
              <a:rPr lang="he-IL" dirty="0" err="1"/>
              <a:t>means</a:t>
            </a:r>
            <a:r>
              <a:rPr lang="he-IL" dirty="0"/>
              <a:t>:</a:t>
            </a:r>
          </a:p>
          <a:p>
            <a:pPr algn="l" rtl="0"/>
            <a:r>
              <a:rPr lang="he-IL" dirty="0" err="1"/>
              <a:t>These</a:t>
            </a:r>
            <a:r>
              <a:rPr lang="he-IL" dirty="0"/>
              <a:t> 4,000 </a:t>
            </a:r>
            <a:r>
              <a:rPr lang="en-US" dirty="0"/>
              <a:t> </a:t>
            </a:r>
            <a:r>
              <a:rPr lang="he-IL" dirty="0" err="1"/>
              <a:t>correlated</a:t>
            </a:r>
            <a:r>
              <a:rPr lang="he-IL" dirty="0"/>
              <a:t> MCMC </a:t>
            </a:r>
            <a:r>
              <a:rPr lang="he-IL" dirty="0" err="1"/>
              <a:t>draws</a:t>
            </a:r>
            <a:r>
              <a:rPr lang="he-IL" dirty="0"/>
              <a:t> </a:t>
            </a:r>
            <a:r>
              <a:rPr lang="he-IL" dirty="0" err="1"/>
              <a:t>are</a:t>
            </a:r>
            <a:r>
              <a:rPr lang="he-IL" dirty="0"/>
              <a:t> </a:t>
            </a:r>
            <a:r>
              <a:rPr lang="he-IL" dirty="0" err="1"/>
              <a:t>approximately</a:t>
            </a:r>
            <a:r>
              <a:rPr lang="he-IL" dirty="0"/>
              <a:t> </a:t>
            </a:r>
            <a:r>
              <a:rPr lang="he-IL" dirty="0" err="1"/>
              <a:t>as</a:t>
            </a:r>
            <a:r>
              <a:rPr lang="he-IL" dirty="0"/>
              <a:t> </a:t>
            </a:r>
            <a:r>
              <a:rPr lang="he-IL" dirty="0" err="1"/>
              <a:t>informative</a:t>
            </a:r>
            <a:r>
              <a:rPr lang="he-IL" dirty="0"/>
              <a:t> </a:t>
            </a:r>
            <a:r>
              <a:rPr lang="he-IL" dirty="0" err="1"/>
              <a:t>as</a:t>
            </a:r>
            <a:r>
              <a:rPr lang="he-IL" dirty="0"/>
              <a:t> 600 </a:t>
            </a:r>
            <a:r>
              <a:rPr lang="he-IL" dirty="0" err="1"/>
              <a:t>independent</a:t>
            </a:r>
            <a:r>
              <a:rPr lang="he-IL" dirty="0"/>
              <a:t> </a:t>
            </a:r>
            <a:r>
              <a:rPr lang="he-IL" dirty="0" err="1"/>
              <a:t>draws</a:t>
            </a:r>
            <a:r>
              <a:rPr lang="he-IL" dirty="0"/>
              <a:t> from the </a:t>
            </a:r>
            <a:r>
              <a:rPr lang="he-IL" dirty="0" err="1"/>
              <a:t>posterior</a:t>
            </a:r>
            <a:r>
              <a:rPr lang="he-IL" dirty="0"/>
              <a:t>.</a:t>
            </a:r>
          </a:p>
          <a:p>
            <a:pPr algn="l" rtl="0"/>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12</a:t>
            </a:fld>
            <a:endParaRPr lang="he-IL" dirty="0"/>
          </a:p>
        </p:txBody>
      </p:sp>
    </p:spTree>
    <p:extLst>
      <p:ext uri="{BB962C8B-B14F-4D97-AF65-F5344CB8AC3E}">
        <p14:creationId xmlns:p14="http://schemas.microsoft.com/office/powerpoint/2010/main" val="1036167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en-US" altLang="he-IL" dirty="0"/>
              <a:t>As an empirical rule of thumb, a value below 1.01 is considered acceptable, while higher values usually signal a lack of convergence. However, values around 1.1 might be acceptable in the early stages of modeling. </a:t>
            </a:r>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13</a:t>
            </a:fld>
            <a:endParaRPr lang="he-IL" dirty="0"/>
          </a:p>
        </p:txBody>
      </p:sp>
    </p:spTree>
    <p:extLst>
      <p:ext uri="{BB962C8B-B14F-4D97-AF65-F5344CB8AC3E}">
        <p14:creationId xmlns:p14="http://schemas.microsoft.com/office/powerpoint/2010/main" val="18060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MCSE shows how autocorrelation affects uncertainty.</a:t>
            </a:r>
            <a:endParaRPr lang="en-US" dirty="0"/>
          </a:p>
          <a:p>
            <a:pPr algn="l" rtl="0"/>
            <a:endParaRPr lang="en-US" sz="1200" b="0" i="0" kern="1200" dirty="0">
              <a:solidFill>
                <a:schemeClr val="tx1"/>
              </a:solidFill>
              <a:effectLst/>
              <a:latin typeface="David" panose="020E0502060401010101" pitchFamily="34" charset="-79"/>
              <a:ea typeface="+mn-ea"/>
              <a:cs typeface="David" panose="020E0502060401010101" pitchFamily="34" charset="-79"/>
            </a:endParaRPr>
          </a:p>
          <a:p>
            <a:pPr algn="l" rtl="0"/>
            <a:r>
              <a:rPr lang="en-US" sz="1200" b="0" i="0" kern="1200" dirty="0">
                <a:solidFill>
                  <a:schemeClr val="tx1"/>
                </a:solidFill>
                <a:effectLst/>
                <a:latin typeface="David" panose="020E0502060401010101" pitchFamily="34" charset="-79"/>
                <a:ea typeface="+mn-ea"/>
                <a:cs typeface="David" panose="020E0502060401010101" pitchFamily="34" charset="-79"/>
              </a:rPr>
              <a:t>Even if your chains have converged (low </a:t>
            </a:r>
            <a:r>
              <a:rPr lang="en-US" sz="1200" b="0" i="1" kern="1200" dirty="0">
                <a:solidFill>
                  <a:schemeClr val="tx1"/>
                </a:solidFill>
                <a:effectLst/>
                <a:latin typeface="David" panose="020E0502060401010101" pitchFamily="34" charset="-79"/>
                <a:ea typeface="+mn-ea"/>
                <a:cs typeface="David" panose="020E0502060401010101" pitchFamily="34" charset="-79"/>
              </a:rPr>
              <a:t>R</a:t>
            </a:r>
            <a:r>
              <a:rPr lang="en-US" sz="1200" b="0" i="0" kern="1200" dirty="0">
                <a:solidFill>
                  <a:schemeClr val="tx1"/>
                </a:solidFill>
                <a:effectLst/>
                <a:latin typeface="David" panose="020E0502060401010101" pitchFamily="34" charset="-79"/>
                <a:ea typeface="+mn-ea"/>
                <a:cs typeface="David" panose="020E0502060401010101" pitchFamily="34" charset="-79"/>
              </a:rPr>
              <a:t>^) and you have a high ESS, your samples are still finite, meaning there will always be some error in your estimation of the posterior parameters.</a:t>
            </a:r>
          </a:p>
          <a:p>
            <a:pPr algn="l" rtl="0"/>
            <a:r>
              <a:rPr lang="en-US" sz="1200" b="0" i="0" kern="1200" dirty="0">
                <a:solidFill>
                  <a:schemeClr val="tx1"/>
                </a:solidFill>
                <a:effectLst/>
                <a:latin typeface="David" panose="020E0502060401010101" pitchFamily="34" charset="-79"/>
                <a:ea typeface="+mn-ea"/>
                <a:cs typeface="David" panose="020E0502060401010101" pitchFamily="34" charset="-79"/>
              </a:rPr>
              <a:t>MCSE estimates this error, taking into account that your samples are not truly independent</a:t>
            </a:r>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14</a:t>
            </a:fld>
            <a:endParaRPr lang="he-IL" dirty="0"/>
          </a:p>
        </p:txBody>
      </p:sp>
    </p:spTree>
    <p:extLst>
      <p:ext uri="{BB962C8B-B14F-4D97-AF65-F5344CB8AC3E}">
        <p14:creationId xmlns:p14="http://schemas.microsoft.com/office/powerpoint/2010/main" val="1264062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en-US" b="1" dirty="0"/>
              <a:t>How to Fix Divergences</a:t>
            </a:r>
            <a:r>
              <a:rPr lang="en-US" dirty="0"/>
              <a:t> </a:t>
            </a:r>
          </a:p>
          <a:p>
            <a:pPr algn="l" rtl="0"/>
            <a:r>
              <a:rPr lang="en-US" dirty="0"/>
              <a:t>Increase the </a:t>
            </a:r>
            <a:r>
              <a:rPr lang="en-US" dirty="0" err="1"/>
              <a:t>target_accept</a:t>
            </a:r>
            <a:r>
              <a:rPr lang="en-US" dirty="0"/>
              <a:t> parameter: The easiest first step is to instruct the sampler to increase its target acceptance rate, which defaults to 0.8 (80%). </a:t>
            </a:r>
            <a:r>
              <a:rPr lang="en-US" dirty="0" err="1"/>
              <a:t>PyMC</a:t>
            </a:r>
            <a:r>
              <a:rPr lang="en-US" dirty="0"/>
              <a:t> will often suggest this automatically. Increasing this value to 0.85, 0.90, or even 0.99 can sometimes force the sampler to take smaller, more careful steps and resolve the divergences. However, if you have to push this value extremely high (e.g., 0.999), this simple trick might not be enough</a:t>
            </a:r>
          </a:p>
          <a:p>
            <a:pPr algn="l" rtl="0"/>
            <a:r>
              <a:rPr lang="en-US" dirty="0"/>
              <a:t>Reparameterize the model: If tweaking the sampler doesn't work, you must change the model itself. </a:t>
            </a:r>
            <a:r>
              <a:rPr lang="en-US" dirty="0" err="1"/>
              <a:t>Reparametrization</a:t>
            </a:r>
            <a:r>
              <a:rPr lang="en-US" dirty="0"/>
              <a:t> means rewriting the model in a mathematically equivalent way that creates a friendlier geometry for the sampler . For example, switching a hierarchical model from a "centered" parametrization to a "non-centered" parametrization can effectively eliminate the funnel shape, transforming it into a more manageable, spherical geometry that the sampler can navigate without triggering divergences</a:t>
            </a:r>
          </a:p>
          <a:p>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15</a:t>
            </a:fld>
            <a:endParaRPr lang="he-IL" dirty="0"/>
          </a:p>
        </p:txBody>
      </p:sp>
    </p:spTree>
    <p:extLst>
      <p:ext uri="{BB962C8B-B14F-4D97-AF65-F5344CB8AC3E}">
        <p14:creationId xmlns:p14="http://schemas.microsoft.com/office/powerpoint/2010/main" val="323371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en-US" dirty="0"/>
              <a:t>We can still have divergences with “ok\good looking” trace plots</a:t>
            </a:r>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16</a:t>
            </a:fld>
            <a:endParaRPr lang="he-IL" dirty="0"/>
          </a:p>
        </p:txBody>
      </p:sp>
    </p:spTree>
    <p:extLst>
      <p:ext uri="{BB962C8B-B14F-4D97-AF65-F5344CB8AC3E}">
        <p14:creationId xmlns:p14="http://schemas.microsoft.com/office/powerpoint/2010/main" val="760696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dirty="0"/>
              <a:t>These will be our </a:t>
            </a:r>
            <a:r>
              <a:rPr lang="en-US" dirty="0" err="1"/>
              <a:t>omega_alpha</a:t>
            </a:r>
            <a:r>
              <a:rPr lang="en-US" dirty="0"/>
              <a:t> and </a:t>
            </a:r>
            <a:r>
              <a:rPr lang="en-US" dirty="0" err="1"/>
              <a:t>omega_beta</a:t>
            </a:r>
            <a:r>
              <a:rPr lang="en-US" dirty="0"/>
              <a:t> prior parameters for the rest of the tutorial</a:t>
            </a:r>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21</a:t>
            </a:fld>
            <a:endParaRPr lang="he-IL" dirty="0"/>
          </a:p>
        </p:txBody>
      </p:sp>
    </p:spTree>
    <p:extLst>
      <p:ext uri="{BB962C8B-B14F-4D97-AF65-F5344CB8AC3E}">
        <p14:creationId xmlns:p14="http://schemas.microsoft.com/office/powerpoint/2010/main" val="3071700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1448-8F93-35F2-9A7C-AACFBEB92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906A3-3717-8AE7-6B42-1F7147C4BD3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0DA7131-C298-C191-C01A-046800328053}"/>
              </a:ext>
            </a:extLst>
          </p:cNvPr>
          <p:cNvSpPr>
            <a:spLocks noGrp="1"/>
          </p:cNvSpPr>
          <p:nvPr>
            <p:ph type="body" idx="1"/>
          </p:nvPr>
        </p:nvSpPr>
        <p:spPr/>
        <p:txBody>
          <a:bodyPr/>
          <a:lstStyle/>
          <a:p>
            <a:pPr algn="l" rtl="0"/>
            <a:r>
              <a:rPr lang="en-US" dirty="0"/>
              <a:t>mu controls where the distribution is centered.</a:t>
            </a:r>
            <a:br>
              <a:rPr lang="en-US" dirty="0"/>
            </a:br>
            <a:r>
              <a:rPr lang="en-US" dirty="0"/>
              <a:t>nu controls how narrow or wide it is.</a:t>
            </a:r>
            <a:endParaRPr lang="he-IL" dirty="0"/>
          </a:p>
        </p:txBody>
      </p:sp>
      <p:sp>
        <p:nvSpPr>
          <p:cNvPr id="4" name="Slide Number Placeholder 3">
            <a:extLst>
              <a:ext uri="{FF2B5EF4-FFF2-40B4-BE49-F238E27FC236}">
                <a16:creationId xmlns:a16="http://schemas.microsoft.com/office/drawing/2014/main" id="{17889F77-4275-218A-C4A4-5D787D8F6365}"/>
              </a:ext>
            </a:extLst>
          </p:cNvPr>
          <p:cNvSpPr>
            <a:spLocks noGrp="1"/>
          </p:cNvSpPr>
          <p:nvPr>
            <p:ph type="sldNum" sz="quarter" idx="5"/>
          </p:nvPr>
        </p:nvSpPr>
        <p:spPr/>
        <p:txBody>
          <a:bodyPr/>
          <a:lstStyle/>
          <a:p>
            <a:fld id="{C92EB490-81AD-4E58-8FB4-217ABE50CF56}" type="slidenum">
              <a:rPr lang="he-IL" smtClean="0"/>
              <a:pPr/>
              <a:t>22</a:t>
            </a:fld>
            <a:endParaRPr lang="he-IL" dirty="0"/>
          </a:p>
        </p:txBody>
      </p:sp>
    </p:spTree>
    <p:extLst>
      <p:ext uri="{BB962C8B-B14F-4D97-AF65-F5344CB8AC3E}">
        <p14:creationId xmlns:p14="http://schemas.microsoft.com/office/powerpoint/2010/main" val="5829137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en-US" dirty="0"/>
              <a:t>mu controls where the distribution is centered.</a:t>
            </a:r>
            <a:br>
              <a:rPr lang="en-US" dirty="0"/>
            </a:br>
            <a:r>
              <a:rPr lang="en-US" dirty="0"/>
              <a:t>nu controls how narrow or wide it is.</a:t>
            </a:r>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23</a:t>
            </a:fld>
            <a:endParaRPr lang="he-IL" dirty="0"/>
          </a:p>
        </p:txBody>
      </p:sp>
    </p:spTree>
    <p:extLst>
      <p:ext uri="{BB962C8B-B14F-4D97-AF65-F5344CB8AC3E}">
        <p14:creationId xmlns:p14="http://schemas.microsoft.com/office/powerpoint/2010/main" val="3599770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37AF9-CBA6-D727-1ABE-7B21D5B1FC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63D32-A61F-5724-DB48-E4FF515B3715}"/>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C911A33F-2E99-4D7B-C3A7-97878271DCA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mu controls where the distribution is centered.</a:t>
            </a:r>
            <a:br>
              <a:rPr lang="en-US" dirty="0"/>
            </a:br>
            <a:r>
              <a:rPr lang="he-IL" sz="1200" kern="1200" dirty="0" err="1">
                <a:solidFill>
                  <a:schemeClr val="tx1"/>
                </a:solidFill>
                <a:latin typeface="David" panose="020E0502060401010101" pitchFamily="34" charset="-79"/>
                <a:ea typeface="+mn-ea"/>
                <a:cs typeface="David" panose="020E0502060401010101" pitchFamily="34" charset="-79"/>
              </a:rPr>
              <a:t>sigma</a:t>
            </a:r>
            <a:r>
              <a:rPr lang="he-IL" sz="1200" kern="1200" dirty="0">
                <a:solidFill>
                  <a:schemeClr val="tx1"/>
                </a:solidFill>
                <a:latin typeface="David" panose="020E0502060401010101" pitchFamily="34" charset="-79"/>
                <a:ea typeface="+mn-ea"/>
                <a:cs typeface="David" panose="020E0502060401010101" pitchFamily="34" charset="-79"/>
              </a:rPr>
              <a:t> </a:t>
            </a:r>
            <a:r>
              <a:rPr lang="he-IL" sz="1200" kern="1200" dirty="0" err="1">
                <a:solidFill>
                  <a:schemeClr val="tx1"/>
                </a:solidFill>
                <a:latin typeface="David" panose="020E0502060401010101" pitchFamily="34" charset="-79"/>
                <a:ea typeface="+mn-ea"/>
                <a:cs typeface="David" panose="020E0502060401010101" pitchFamily="34" charset="-79"/>
              </a:rPr>
              <a:t>controls</a:t>
            </a:r>
            <a:r>
              <a:rPr lang="he-IL" sz="1200" kern="1200" dirty="0">
                <a:solidFill>
                  <a:schemeClr val="tx1"/>
                </a:solidFill>
                <a:latin typeface="David" panose="020E0502060401010101" pitchFamily="34" charset="-79"/>
                <a:ea typeface="+mn-ea"/>
                <a:cs typeface="David" panose="020E0502060401010101" pitchFamily="34" charset="-79"/>
              </a:rPr>
              <a:t> the </a:t>
            </a:r>
            <a:r>
              <a:rPr lang="he-IL" sz="1200" kern="1200" dirty="0" err="1">
                <a:solidFill>
                  <a:schemeClr val="tx1"/>
                </a:solidFill>
                <a:latin typeface="David" panose="020E0502060401010101" pitchFamily="34" charset="-79"/>
                <a:ea typeface="+mn-ea"/>
                <a:cs typeface="David" panose="020E0502060401010101" pitchFamily="34" charset="-79"/>
              </a:rPr>
              <a:t>width</a:t>
            </a:r>
            <a:r>
              <a:rPr lang="he-IL" sz="1200" kern="1200" dirty="0">
                <a:solidFill>
                  <a:schemeClr val="tx1"/>
                </a:solidFill>
                <a:latin typeface="David" panose="020E0502060401010101" pitchFamily="34" charset="-79"/>
                <a:ea typeface="+mn-ea"/>
                <a:cs typeface="David" panose="020E0502060401010101" pitchFamily="34" charset="-79"/>
              </a:rPr>
              <a:t> / </a:t>
            </a:r>
            <a:r>
              <a:rPr lang="he-IL" sz="1200" kern="1200" dirty="0" err="1">
                <a:solidFill>
                  <a:schemeClr val="tx1"/>
                </a:solidFill>
                <a:latin typeface="David" panose="020E0502060401010101" pitchFamily="34" charset="-79"/>
                <a:ea typeface="+mn-ea"/>
                <a:cs typeface="David" panose="020E0502060401010101" pitchFamily="34" charset="-79"/>
              </a:rPr>
              <a:t>standard</a:t>
            </a:r>
            <a:r>
              <a:rPr lang="he-IL" sz="1200" kern="1200" dirty="0">
                <a:solidFill>
                  <a:schemeClr val="tx1"/>
                </a:solidFill>
                <a:latin typeface="David" panose="020E0502060401010101" pitchFamily="34" charset="-79"/>
                <a:ea typeface="+mn-ea"/>
                <a:cs typeface="David" panose="020E0502060401010101" pitchFamily="34" charset="-79"/>
              </a:rPr>
              <a:t> </a:t>
            </a:r>
            <a:r>
              <a:rPr lang="he-IL" sz="1200" kern="1200" dirty="0" err="1">
                <a:solidFill>
                  <a:schemeClr val="tx1"/>
                </a:solidFill>
                <a:latin typeface="David" panose="020E0502060401010101" pitchFamily="34" charset="-79"/>
                <a:ea typeface="+mn-ea"/>
                <a:cs typeface="David" panose="020E0502060401010101" pitchFamily="34" charset="-79"/>
              </a:rPr>
              <a:t>deviation</a:t>
            </a:r>
            <a:r>
              <a:rPr lang="he-IL" sz="1200" kern="1200" dirty="0">
                <a:solidFill>
                  <a:schemeClr val="tx1"/>
                </a:solidFill>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a:extLst>
              <a:ext uri="{FF2B5EF4-FFF2-40B4-BE49-F238E27FC236}">
                <a16:creationId xmlns:a16="http://schemas.microsoft.com/office/drawing/2014/main" id="{35AEEC1B-261D-E0AF-9A42-CECD74A3C1F0}"/>
              </a:ext>
            </a:extLst>
          </p:cNvPr>
          <p:cNvSpPr>
            <a:spLocks noGrp="1"/>
          </p:cNvSpPr>
          <p:nvPr>
            <p:ph type="sldNum" sz="quarter" idx="5"/>
          </p:nvPr>
        </p:nvSpPr>
        <p:spPr/>
        <p:txBody>
          <a:bodyPr/>
          <a:lstStyle/>
          <a:p>
            <a:fld id="{C92EB490-81AD-4E58-8FB4-217ABE50CF56}" type="slidenum">
              <a:rPr lang="he-IL" smtClean="0"/>
              <a:pPr/>
              <a:t>24</a:t>
            </a:fld>
            <a:endParaRPr lang="he-IL" dirty="0"/>
          </a:p>
        </p:txBody>
      </p:sp>
    </p:spTree>
    <p:extLst>
      <p:ext uri="{BB962C8B-B14F-4D97-AF65-F5344CB8AC3E}">
        <p14:creationId xmlns:p14="http://schemas.microsoft.com/office/powerpoint/2010/main" val="4032314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27</a:t>
            </a:fld>
            <a:endParaRPr lang="he-IL" dirty="0"/>
          </a:p>
        </p:txBody>
      </p:sp>
    </p:spTree>
    <p:extLst>
      <p:ext uri="{BB962C8B-B14F-4D97-AF65-F5344CB8AC3E}">
        <p14:creationId xmlns:p14="http://schemas.microsoft.com/office/powerpoint/2010/main" val="2443927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95A6F-D698-19D7-B09E-708DC3EA4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0BE5E-2808-9E55-8604-C9ABCC717B49}"/>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151C2E2F-3A08-C5B6-3827-E8C6124F7648}"/>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590CDFB7-7885-4C31-C5A3-85A0D358EA0A}"/>
              </a:ext>
            </a:extLst>
          </p:cNvPr>
          <p:cNvSpPr>
            <a:spLocks noGrp="1"/>
          </p:cNvSpPr>
          <p:nvPr>
            <p:ph type="sldNum" sz="quarter" idx="5"/>
          </p:nvPr>
        </p:nvSpPr>
        <p:spPr/>
        <p:txBody>
          <a:bodyPr/>
          <a:lstStyle/>
          <a:p>
            <a:fld id="{FA96E01F-8DBD-4634-ACB5-33D503B64F6E}" type="slidenum">
              <a:rPr lang="LID4096" smtClean="0"/>
              <a:t>28</a:t>
            </a:fld>
            <a:endParaRPr lang="LID4096"/>
          </a:p>
        </p:txBody>
      </p:sp>
    </p:spTree>
    <p:extLst>
      <p:ext uri="{BB962C8B-B14F-4D97-AF65-F5344CB8AC3E}">
        <p14:creationId xmlns:p14="http://schemas.microsoft.com/office/powerpoint/2010/main" val="18728287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en-US" dirty="0"/>
              <a:t>Prior choice – </a:t>
            </a:r>
          </a:p>
          <a:p>
            <a:pPr algn="l" rtl="0"/>
            <a:r>
              <a:rPr lang="en-US" sz="1200" b="0" kern="1200" dirty="0" err="1">
                <a:solidFill>
                  <a:schemeClr val="tx1"/>
                </a:solidFill>
                <a:effectLst/>
                <a:latin typeface="David" panose="020E0502060401010101" pitchFamily="34" charset="-79"/>
                <a:ea typeface="+mn-ea"/>
                <a:cs typeface="David" panose="020E0502060401010101" pitchFamily="34" charset="-79"/>
              </a:rPr>
              <a:t>biotech_rate_prior</a:t>
            </a:r>
            <a:r>
              <a:rPr lang="en-US" sz="1200" b="0" kern="1200" dirty="0">
                <a:solidFill>
                  <a:schemeClr val="tx1"/>
                </a:solidFill>
                <a:effectLst/>
                <a:latin typeface="David" panose="020E0502060401010101" pitchFamily="34" charset="-79"/>
                <a:ea typeface="+mn-ea"/>
                <a:cs typeface="David" panose="020E0502060401010101" pitchFamily="34" charset="-79"/>
              </a:rPr>
              <a:t>, ax = </a:t>
            </a:r>
            <a:r>
              <a:rPr lang="en-US" sz="1200" b="0" kern="1200" dirty="0" err="1">
                <a:solidFill>
                  <a:schemeClr val="tx1"/>
                </a:solidFill>
                <a:effectLst/>
                <a:latin typeface="David" panose="020E0502060401010101" pitchFamily="34" charset="-79"/>
                <a:ea typeface="+mn-ea"/>
                <a:cs typeface="David" panose="020E0502060401010101" pitchFamily="34" charset="-79"/>
              </a:rPr>
              <a:t>pz.maxent</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a:t>
            </a:r>
            <a:r>
              <a:rPr lang="en-US" sz="1200" b="0" kern="1200" dirty="0" err="1">
                <a:solidFill>
                  <a:schemeClr val="tx1"/>
                </a:solidFill>
                <a:effectLst/>
                <a:latin typeface="David" panose="020E0502060401010101" pitchFamily="34" charset="-79"/>
                <a:ea typeface="+mn-ea"/>
                <a:cs typeface="David" panose="020E0502060401010101" pitchFamily="34" charset="-79"/>
              </a:rPr>
              <a:t>pz.Beta</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lower=0.01,</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upper=0.20,</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mass=0.95,</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plot=True</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29</a:t>
            </a:fld>
            <a:endParaRPr lang="he-IL" dirty="0"/>
          </a:p>
        </p:txBody>
      </p:sp>
    </p:spTree>
    <p:extLst>
      <p:ext uri="{BB962C8B-B14F-4D97-AF65-F5344CB8AC3E}">
        <p14:creationId xmlns:p14="http://schemas.microsoft.com/office/powerpoint/2010/main" val="1841868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43D17-45A8-B331-8602-C304C5A3BD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A1B69-A083-E5EB-1683-C138044A2E83}"/>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E96CEBD-AD4C-D4A3-64A4-1FD46F709367}"/>
              </a:ext>
            </a:extLst>
          </p:cNvPr>
          <p:cNvSpPr>
            <a:spLocks noGrp="1"/>
          </p:cNvSpPr>
          <p:nvPr>
            <p:ph type="body" idx="1"/>
          </p:nvPr>
        </p:nvSpPr>
        <p:spPr/>
        <p:txBody>
          <a:bodyPr/>
          <a:lstStyle/>
          <a:p>
            <a:pPr algn="l" rtl="0"/>
            <a:r>
              <a:rPr lang="en-US" dirty="0"/>
              <a:t>Prior choice – </a:t>
            </a:r>
          </a:p>
          <a:p>
            <a:pPr algn="l" rtl="0"/>
            <a:endParaRPr lang="en-US" dirty="0"/>
          </a:p>
          <a:p>
            <a:pPr algn="l" rtl="0"/>
            <a:r>
              <a:rPr lang="en-US" sz="1200" b="0" kern="1200" dirty="0" err="1">
                <a:solidFill>
                  <a:schemeClr val="tx1"/>
                </a:solidFill>
                <a:effectLst/>
                <a:latin typeface="David" panose="020E0502060401010101" pitchFamily="34" charset="-79"/>
                <a:ea typeface="+mn-ea"/>
                <a:cs typeface="David" panose="020E0502060401010101" pitchFamily="34" charset="-79"/>
              </a:rPr>
              <a:t>biotech_rate_prior</a:t>
            </a:r>
            <a:r>
              <a:rPr lang="en-US" sz="1200" b="0" kern="1200" dirty="0">
                <a:solidFill>
                  <a:schemeClr val="tx1"/>
                </a:solidFill>
                <a:effectLst/>
                <a:latin typeface="David" panose="020E0502060401010101" pitchFamily="34" charset="-79"/>
                <a:ea typeface="+mn-ea"/>
                <a:cs typeface="David" panose="020E0502060401010101" pitchFamily="34" charset="-79"/>
              </a:rPr>
              <a:t>, ax = </a:t>
            </a:r>
            <a:r>
              <a:rPr lang="en-US" sz="1200" b="0" kern="1200" dirty="0" err="1">
                <a:solidFill>
                  <a:schemeClr val="tx1"/>
                </a:solidFill>
                <a:effectLst/>
                <a:latin typeface="David" panose="020E0502060401010101" pitchFamily="34" charset="-79"/>
                <a:ea typeface="+mn-ea"/>
                <a:cs typeface="David" panose="020E0502060401010101" pitchFamily="34" charset="-79"/>
              </a:rPr>
              <a:t>pz.maxent</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a:t>
            </a:r>
            <a:r>
              <a:rPr lang="en-US" sz="1200" b="0" kern="1200" dirty="0" err="1">
                <a:solidFill>
                  <a:schemeClr val="tx1"/>
                </a:solidFill>
                <a:effectLst/>
                <a:latin typeface="David" panose="020E0502060401010101" pitchFamily="34" charset="-79"/>
                <a:ea typeface="+mn-ea"/>
                <a:cs typeface="David" panose="020E0502060401010101" pitchFamily="34" charset="-79"/>
              </a:rPr>
              <a:t>pz.Beta</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lower=0.01,</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upper=0.20,</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mass=0.95,</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plot=True</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a:extLst>
              <a:ext uri="{FF2B5EF4-FFF2-40B4-BE49-F238E27FC236}">
                <a16:creationId xmlns:a16="http://schemas.microsoft.com/office/drawing/2014/main" id="{2C51FE85-A394-1A52-A644-FCBF2B940787}"/>
              </a:ext>
            </a:extLst>
          </p:cNvPr>
          <p:cNvSpPr>
            <a:spLocks noGrp="1"/>
          </p:cNvSpPr>
          <p:nvPr>
            <p:ph type="sldNum" sz="quarter" idx="5"/>
          </p:nvPr>
        </p:nvSpPr>
        <p:spPr/>
        <p:txBody>
          <a:bodyPr/>
          <a:lstStyle/>
          <a:p>
            <a:fld id="{C92EB490-81AD-4E58-8FB4-217ABE50CF56}" type="slidenum">
              <a:rPr lang="he-IL" smtClean="0"/>
              <a:pPr/>
              <a:t>30</a:t>
            </a:fld>
            <a:endParaRPr lang="he-IL" dirty="0"/>
          </a:p>
        </p:txBody>
      </p:sp>
    </p:spTree>
    <p:extLst>
      <p:ext uri="{BB962C8B-B14F-4D97-AF65-F5344CB8AC3E}">
        <p14:creationId xmlns:p14="http://schemas.microsoft.com/office/powerpoint/2010/main" val="545064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CF44C-F91B-4CEC-D0C5-C227B2E1D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24B00F-B66D-B457-1602-7EAF5EF8B9F4}"/>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4F78336A-B482-95D5-7089-C3EF1408BF4E}"/>
              </a:ext>
            </a:extLst>
          </p:cNvPr>
          <p:cNvSpPr>
            <a:spLocks noGrp="1"/>
          </p:cNvSpPr>
          <p:nvPr>
            <p:ph type="body" idx="1"/>
          </p:nvPr>
        </p:nvSpPr>
        <p:spPr/>
        <p:txBody>
          <a:bodyPr/>
          <a:lstStyle/>
          <a:p>
            <a:pPr algn="l" rtl="0"/>
            <a:r>
              <a:rPr lang="en-US" dirty="0"/>
              <a:t>Prior choice – </a:t>
            </a:r>
          </a:p>
          <a:p>
            <a:pPr algn="l" rtl="0"/>
            <a:endParaRPr lang="en-US" dirty="0"/>
          </a:p>
          <a:p>
            <a:pPr algn="l" rtl="0"/>
            <a:r>
              <a:rPr lang="en-US" sz="1200" b="0" kern="1200" dirty="0" err="1">
                <a:solidFill>
                  <a:schemeClr val="tx1"/>
                </a:solidFill>
                <a:effectLst/>
                <a:latin typeface="David" panose="020E0502060401010101" pitchFamily="34" charset="-79"/>
                <a:ea typeface="+mn-ea"/>
                <a:cs typeface="David" panose="020E0502060401010101" pitchFamily="34" charset="-79"/>
              </a:rPr>
              <a:t>biotech_rate_prior</a:t>
            </a:r>
            <a:r>
              <a:rPr lang="en-US" sz="1200" b="0" kern="1200" dirty="0">
                <a:solidFill>
                  <a:schemeClr val="tx1"/>
                </a:solidFill>
                <a:effectLst/>
                <a:latin typeface="David" panose="020E0502060401010101" pitchFamily="34" charset="-79"/>
                <a:ea typeface="+mn-ea"/>
                <a:cs typeface="David" panose="020E0502060401010101" pitchFamily="34" charset="-79"/>
              </a:rPr>
              <a:t>, ax = </a:t>
            </a:r>
            <a:r>
              <a:rPr lang="en-US" sz="1200" b="0" kern="1200" dirty="0" err="1">
                <a:solidFill>
                  <a:schemeClr val="tx1"/>
                </a:solidFill>
                <a:effectLst/>
                <a:latin typeface="David" panose="020E0502060401010101" pitchFamily="34" charset="-79"/>
                <a:ea typeface="+mn-ea"/>
                <a:cs typeface="David" panose="020E0502060401010101" pitchFamily="34" charset="-79"/>
              </a:rPr>
              <a:t>pz.maxent</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a:t>
            </a:r>
            <a:r>
              <a:rPr lang="en-US" sz="1200" b="0" kern="1200" dirty="0" err="1">
                <a:solidFill>
                  <a:schemeClr val="tx1"/>
                </a:solidFill>
                <a:effectLst/>
                <a:latin typeface="David" panose="020E0502060401010101" pitchFamily="34" charset="-79"/>
                <a:ea typeface="+mn-ea"/>
                <a:cs typeface="David" panose="020E0502060401010101" pitchFamily="34" charset="-79"/>
              </a:rPr>
              <a:t>pz.Beta</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lower=0.01,</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upper=0.20,</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mass=0.95,</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plot=True</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a:extLst>
              <a:ext uri="{FF2B5EF4-FFF2-40B4-BE49-F238E27FC236}">
                <a16:creationId xmlns:a16="http://schemas.microsoft.com/office/drawing/2014/main" id="{EC99963E-3805-3892-C289-DBB1F75716EB}"/>
              </a:ext>
            </a:extLst>
          </p:cNvPr>
          <p:cNvSpPr>
            <a:spLocks noGrp="1"/>
          </p:cNvSpPr>
          <p:nvPr>
            <p:ph type="sldNum" sz="quarter" idx="5"/>
          </p:nvPr>
        </p:nvSpPr>
        <p:spPr/>
        <p:txBody>
          <a:bodyPr/>
          <a:lstStyle/>
          <a:p>
            <a:fld id="{C92EB490-81AD-4E58-8FB4-217ABE50CF56}" type="slidenum">
              <a:rPr lang="he-IL" smtClean="0"/>
              <a:pPr/>
              <a:t>31</a:t>
            </a:fld>
            <a:endParaRPr lang="he-IL" dirty="0"/>
          </a:p>
        </p:txBody>
      </p:sp>
    </p:spTree>
    <p:extLst>
      <p:ext uri="{BB962C8B-B14F-4D97-AF65-F5344CB8AC3E}">
        <p14:creationId xmlns:p14="http://schemas.microsoft.com/office/powerpoint/2010/main" val="20123138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F8E0B-C8BA-2F4A-C7F6-D35BE6455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5E47B-14BF-8CBC-D186-58B4DED2FDC2}"/>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7480E543-FEAC-C4DD-C676-944AED8E9692}"/>
              </a:ext>
            </a:extLst>
          </p:cNvPr>
          <p:cNvSpPr>
            <a:spLocks noGrp="1"/>
          </p:cNvSpPr>
          <p:nvPr>
            <p:ph type="body" idx="1"/>
          </p:nvPr>
        </p:nvSpPr>
        <p:spPr/>
        <p:txBody>
          <a:bodyPr/>
          <a:lstStyle/>
          <a:p>
            <a:pPr algn="l" rtl="0"/>
            <a:r>
              <a:rPr lang="en-US" dirty="0"/>
              <a:t>Prior choice – </a:t>
            </a:r>
          </a:p>
          <a:p>
            <a:pPr algn="l" rtl="0"/>
            <a:endParaRPr lang="en-US" dirty="0"/>
          </a:p>
          <a:p>
            <a:pPr algn="l" rtl="0"/>
            <a:r>
              <a:rPr lang="en-US" sz="1200" b="0" kern="1200" dirty="0" err="1">
                <a:solidFill>
                  <a:schemeClr val="tx1"/>
                </a:solidFill>
                <a:effectLst/>
                <a:latin typeface="David" panose="020E0502060401010101" pitchFamily="34" charset="-79"/>
                <a:ea typeface="+mn-ea"/>
                <a:cs typeface="David" panose="020E0502060401010101" pitchFamily="34" charset="-79"/>
              </a:rPr>
              <a:t>biotech_rate_prior</a:t>
            </a:r>
            <a:r>
              <a:rPr lang="en-US" sz="1200" b="0" kern="1200" dirty="0">
                <a:solidFill>
                  <a:schemeClr val="tx1"/>
                </a:solidFill>
                <a:effectLst/>
                <a:latin typeface="David" panose="020E0502060401010101" pitchFamily="34" charset="-79"/>
                <a:ea typeface="+mn-ea"/>
                <a:cs typeface="David" panose="020E0502060401010101" pitchFamily="34" charset="-79"/>
              </a:rPr>
              <a:t>, ax = </a:t>
            </a:r>
            <a:r>
              <a:rPr lang="en-US" sz="1200" b="0" kern="1200" dirty="0" err="1">
                <a:solidFill>
                  <a:schemeClr val="tx1"/>
                </a:solidFill>
                <a:effectLst/>
                <a:latin typeface="David" panose="020E0502060401010101" pitchFamily="34" charset="-79"/>
                <a:ea typeface="+mn-ea"/>
                <a:cs typeface="David" panose="020E0502060401010101" pitchFamily="34" charset="-79"/>
              </a:rPr>
              <a:t>pz.maxent</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a:t>
            </a:r>
            <a:r>
              <a:rPr lang="en-US" sz="1200" b="0" kern="1200" dirty="0" err="1">
                <a:solidFill>
                  <a:schemeClr val="tx1"/>
                </a:solidFill>
                <a:effectLst/>
                <a:latin typeface="David" panose="020E0502060401010101" pitchFamily="34" charset="-79"/>
                <a:ea typeface="+mn-ea"/>
                <a:cs typeface="David" panose="020E0502060401010101" pitchFamily="34" charset="-79"/>
              </a:rPr>
              <a:t>pz.Beta</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lower=0.01,</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upper=0.20,</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mass=0.95,</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plot=True</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a:extLst>
              <a:ext uri="{FF2B5EF4-FFF2-40B4-BE49-F238E27FC236}">
                <a16:creationId xmlns:a16="http://schemas.microsoft.com/office/drawing/2014/main" id="{84D6A013-F872-AC59-A25A-95410D8888E8}"/>
              </a:ext>
            </a:extLst>
          </p:cNvPr>
          <p:cNvSpPr>
            <a:spLocks noGrp="1"/>
          </p:cNvSpPr>
          <p:nvPr>
            <p:ph type="sldNum" sz="quarter" idx="5"/>
          </p:nvPr>
        </p:nvSpPr>
        <p:spPr/>
        <p:txBody>
          <a:bodyPr/>
          <a:lstStyle/>
          <a:p>
            <a:fld id="{C92EB490-81AD-4E58-8FB4-217ABE50CF56}" type="slidenum">
              <a:rPr lang="he-IL" smtClean="0"/>
              <a:pPr/>
              <a:t>32</a:t>
            </a:fld>
            <a:endParaRPr lang="he-IL" dirty="0"/>
          </a:p>
        </p:txBody>
      </p:sp>
    </p:spTree>
    <p:extLst>
      <p:ext uri="{BB962C8B-B14F-4D97-AF65-F5344CB8AC3E}">
        <p14:creationId xmlns:p14="http://schemas.microsoft.com/office/powerpoint/2010/main" val="12245761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4108-E284-93D5-71A5-29F096D53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6A13A-CDCF-90DD-B217-7D172D1E4B16}"/>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6CAE6979-559A-EE4D-9F5F-5CB844DF066D}"/>
              </a:ext>
            </a:extLst>
          </p:cNvPr>
          <p:cNvSpPr>
            <a:spLocks noGrp="1"/>
          </p:cNvSpPr>
          <p:nvPr>
            <p:ph type="body" idx="1"/>
          </p:nvPr>
        </p:nvSpPr>
        <p:spPr/>
        <p:txBody>
          <a:bodyPr/>
          <a:lstStyle/>
          <a:p>
            <a:pPr algn="l" rtl="0"/>
            <a:r>
              <a:rPr lang="en-US" dirty="0"/>
              <a:t>Prior choice – </a:t>
            </a:r>
          </a:p>
          <a:p>
            <a:pPr algn="l" rtl="0"/>
            <a:endParaRPr lang="en-US" dirty="0"/>
          </a:p>
          <a:p>
            <a:pPr algn="l" rtl="0"/>
            <a:r>
              <a:rPr lang="en-US" sz="1200" b="0" kern="1200" dirty="0" err="1">
                <a:solidFill>
                  <a:schemeClr val="tx1"/>
                </a:solidFill>
                <a:effectLst/>
                <a:latin typeface="David" panose="020E0502060401010101" pitchFamily="34" charset="-79"/>
                <a:ea typeface="+mn-ea"/>
                <a:cs typeface="David" panose="020E0502060401010101" pitchFamily="34" charset="-79"/>
              </a:rPr>
              <a:t>biotech_rate_prior</a:t>
            </a:r>
            <a:r>
              <a:rPr lang="en-US" sz="1200" b="0" kern="1200" dirty="0">
                <a:solidFill>
                  <a:schemeClr val="tx1"/>
                </a:solidFill>
                <a:effectLst/>
                <a:latin typeface="David" panose="020E0502060401010101" pitchFamily="34" charset="-79"/>
                <a:ea typeface="+mn-ea"/>
                <a:cs typeface="David" panose="020E0502060401010101" pitchFamily="34" charset="-79"/>
              </a:rPr>
              <a:t>, ax = </a:t>
            </a:r>
            <a:r>
              <a:rPr lang="en-US" sz="1200" b="0" kern="1200" dirty="0" err="1">
                <a:solidFill>
                  <a:schemeClr val="tx1"/>
                </a:solidFill>
                <a:effectLst/>
                <a:latin typeface="David" panose="020E0502060401010101" pitchFamily="34" charset="-79"/>
                <a:ea typeface="+mn-ea"/>
                <a:cs typeface="David" panose="020E0502060401010101" pitchFamily="34" charset="-79"/>
              </a:rPr>
              <a:t>pz.maxent</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a:t>
            </a:r>
            <a:r>
              <a:rPr lang="en-US" sz="1200" b="0" kern="1200" dirty="0" err="1">
                <a:solidFill>
                  <a:schemeClr val="tx1"/>
                </a:solidFill>
                <a:effectLst/>
                <a:latin typeface="David" panose="020E0502060401010101" pitchFamily="34" charset="-79"/>
                <a:ea typeface="+mn-ea"/>
                <a:cs typeface="David" panose="020E0502060401010101" pitchFamily="34" charset="-79"/>
              </a:rPr>
              <a:t>pz.Beta</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lower=0.01,</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upper=0.20,</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mass=0.95,</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plot=True</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a:extLst>
              <a:ext uri="{FF2B5EF4-FFF2-40B4-BE49-F238E27FC236}">
                <a16:creationId xmlns:a16="http://schemas.microsoft.com/office/drawing/2014/main" id="{EFCF1641-F4B8-6BDB-FC30-F1CCD02BA683}"/>
              </a:ext>
            </a:extLst>
          </p:cNvPr>
          <p:cNvSpPr>
            <a:spLocks noGrp="1"/>
          </p:cNvSpPr>
          <p:nvPr>
            <p:ph type="sldNum" sz="quarter" idx="5"/>
          </p:nvPr>
        </p:nvSpPr>
        <p:spPr/>
        <p:txBody>
          <a:bodyPr/>
          <a:lstStyle/>
          <a:p>
            <a:fld id="{C92EB490-81AD-4E58-8FB4-217ABE50CF56}" type="slidenum">
              <a:rPr lang="he-IL" smtClean="0"/>
              <a:pPr/>
              <a:t>33</a:t>
            </a:fld>
            <a:endParaRPr lang="he-IL" dirty="0"/>
          </a:p>
        </p:txBody>
      </p:sp>
    </p:spTree>
    <p:extLst>
      <p:ext uri="{BB962C8B-B14F-4D97-AF65-F5344CB8AC3E}">
        <p14:creationId xmlns:p14="http://schemas.microsoft.com/office/powerpoint/2010/main" val="38144683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AF52-5142-314C-CDED-EEF445281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8F652-9F7F-1CA9-7542-12D5C0610DE3}"/>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EE395831-E0D6-9EBC-C5CC-BCCE798B23C8}"/>
              </a:ext>
            </a:extLst>
          </p:cNvPr>
          <p:cNvSpPr>
            <a:spLocks noGrp="1"/>
          </p:cNvSpPr>
          <p:nvPr>
            <p:ph type="body" idx="1"/>
          </p:nvPr>
        </p:nvSpPr>
        <p:spPr/>
        <p:txBody>
          <a:bodyPr/>
          <a:lstStyle/>
          <a:p>
            <a:pPr algn="l" rtl="0"/>
            <a:r>
              <a:rPr lang="en-US" dirty="0"/>
              <a:t>Prior choice – </a:t>
            </a:r>
          </a:p>
          <a:p>
            <a:pPr algn="l" rtl="0"/>
            <a:endParaRPr lang="en-US" dirty="0"/>
          </a:p>
          <a:p>
            <a:pPr algn="l" rtl="0"/>
            <a:r>
              <a:rPr lang="en-US" sz="1200" b="0" kern="1200" dirty="0" err="1">
                <a:solidFill>
                  <a:schemeClr val="tx1"/>
                </a:solidFill>
                <a:effectLst/>
                <a:latin typeface="David" panose="020E0502060401010101" pitchFamily="34" charset="-79"/>
                <a:ea typeface="+mn-ea"/>
                <a:cs typeface="David" panose="020E0502060401010101" pitchFamily="34" charset="-79"/>
              </a:rPr>
              <a:t>biotech_rate_prior</a:t>
            </a:r>
            <a:r>
              <a:rPr lang="en-US" sz="1200" b="0" kern="1200" dirty="0">
                <a:solidFill>
                  <a:schemeClr val="tx1"/>
                </a:solidFill>
                <a:effectLst/>
                <a:latin typeface="David" panose="020E0502060401010101" pitchFamily="34" charset="-79"/>
                <a:ea typeface="+mn-ea"/>
                <a:cs typeface="David" panose="020E0502060401010101" pitchFamily="34" charset="-79"/>
              </a:rPr>
              <a:t>, ax = </a:t>
            </a:r>
            <a:r>
              <a:rPr lang="en-US" sz="1200" b="0" kern="1200" dirty="0" err="1">
                <a:solidFill>
                  <a:schemeClr val="tx1"/>
                </a:solidFill>
                <a:effectLst/>
                <a:latin typeface="David" panose="020E0502060401010101" pitchFamily="34" charset="-79"/>
                <a:ea typeface="+mn-ea"/>
                <a:cs typeface="David" panose="020E0502060401010101" pitchFamily="34" charset="-79"/>
              </a:rPr>
              <a:t>pz.maxent</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a:t>
            </a:r>
            <a:r>
              <a:rPr lang="en-US" sz="1200" b="0" kern="1200" dirty="0" err="1">
                <a:solidFill>
                  <a:schemeClr val="tx1"/>
                </a:solidFill>
                <a:effectLst/>
                <a:latin typeface="David" panose="020E0502060401010101" pitchFamily="34" charset="-79"/>
                <a:ea typeface="+mn-ea"/>
                <a:cs typeface="David" panose="020E0502060401010101" pitchFamily="34" charset="-79"/>
              </a:rPr>
              <a:t>pz.Beta</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lower=0.01,</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upper=0.20,</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mass=0.95,</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plot=True</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a:extLst>
              <a:ext uri="{FF2B5EF4-FFF2-40B4-BE49-F238E27FC236}">
                <a16:creationId xmlns:a16="http://schemas.microsoft.com/office/drawing/2014/main" id="{2A7CD064-8245-60D5-16C1-4FE8C95770D5}"/>
              </a:ext>
            </a:extLst>
          </p:cNvPr>
          <p:cNvSpPr>
            <a:spLocks noGrp="1"/>
          </p:cNvSpPr>
          <p:nvPr>
            <p:ph type="sldNum" sz="quarter" idx="5"/>
          </p:nvPr>
        </p:nvSpPr>
        <p:spPr/>
        <p:txBody>
          <a:bodyPr/>
          <a:lstStyle/>
          <a:p>
            <a:fld id="{C92EB490-81AD-4E58-8FB4-217ABE50CF56}" type="slidenum">
              <a:rPr lang="he-IL" smtClean="0"/>
              <a:pPr/>
              <a:t>34</a:t>
            </a:fld>
            <a:endParaRPr lang="he-IL" dirty="0"/>
          </a:p>
        </p:txBody>
      </p:sp>
    </p:spTree>
    <p:extLst>
      <p:ext uri="{BB962C8B-B14F-4D97-AF65-F5344CB8AC3E}">
        <p14:creationId xmlns:p14="http://schemas.microsoft.com/office/powerpoint/2010/main" val="195955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C24A0-90A4-89C6-9A3B-E59FB5D64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2F0A5-C2DA-5634-F501-F9344B342ABD}"/>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BECF3A4-9B4F-9A26-F815-AF73A2ADF119}"/>
              </a:ext>
            </a:extLst>
          </p:cNvPr>
          <p:cNvSpPr>
            <a:spLocks noGrp="1"/>
          </p:cNvSpPr>
          <p:nvPr>
            <p:ph type="body" idx="1"/>
          </p:nvPr>
        </p:nvSpPr>
        <p:spPr/>
        <p:txBody>
          <a:bodyPr/>
          <a:lstStyle/>
          <a:p>
            <a:pPr algn="l" rtl="0"/>
            <a:r>
              <a:rPr lang="en-US" dirty="0"/>
              <a:t>Today we focus on the diagnostics but the stats are also important. </a:t>
            </a:r>
            <a:endParaRPr lang="he-IL" dirty="0"/>
          </a:p>
        </p:txBody>
      </p:sp>
      <p:sp>
        <p:nvSpPr>
          <p:cNvPr id="4" name="Slide Number Placeholder 3">
            <a:extLst>
              <a:ext uri="{FF2B5EF4-FFF2-40B4-BE49-F238E27FC236}">
                <a16:creationId xmlns:a16="http://schemas.microsoft.com/office/drawing/2014/main" id="{4C9272FF-E3C5-44C0-317B-E04E37A946B6}"/>
              </a:ext>
            </a:extLst>
          </p:cNvPr>
          <p:cNvSpPr>
            <a:spLocks noGrp="1"/>
          </p:cNvSpPr>
          <p:nvPr>
            <p:ph type="sldNum" sz="quarter" idx="5"/>
          </p:nvPr>
        </p:nvSpPr>
        <p:spPr/>
        <p:txBody>
          <a:bodyPr/>
          <a:lstStyle/>
          <a:p>
            <a:fld id="{C92EB490-81AD-4E58-8FB4-217ABE50CF56}" type="slidenum">
              <a:rPr lang="he-IL" smtClean="0"/>
              <a:pPr/>
              <a:t>35</a:t>
            </a:fld>
            <a:endParaRPr lang="he-IL" dirty="0"/>
          </a:p>
        </p:txBody>
      </p:sp>
    </p:spTree>
    <p:extLst>
      <p:ext uri="{BB962C8B-B14F-4D97-AF65-F5344CB8AC3E}">
        <p14:creationId xmlns:p14="http://schemas.microsoft.com/office/powerpoint/2010/main" val="4906691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5802D-7AE5-0605-2D0D-A1F5E716C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F8834-2962-17AC-071C-4159894BF90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ECB22AD-6419-06E0-9EEE-BEED11A4DBEE}"/>
              </a:ext>
            </a:extLst>
          </p:cNvPr>
          <p:cNvSpPr>
            <a:spLocks noGrp="1"/>
          </p:cNvSpPr>
          <p:nvPr>
            <p:ph type="body" idx="1"/>
          </p:nvPr>
        </p:nvSpPr>
        <p:spPr/>
        <p:txBody>
          <a:bodyPr/>
          <a:lstStyle/>
          <a:p>
            <a:pPr algn="l" rtl="0"/>
            <a:r>
              <a:rPr lang="en-US" dirty="0"/>
              <a:t>Prior choice – </a:t>
            </a:r>
          </a:p>
          <a:p>
            <a:pPr algn="l" rtl="0"/>
            <a:endParaRPr lang="en-US" dirty="0"/>
          </a:p>
          <a:p>
            <a:pPr algn="l" rtl="0"/>
            <a:r>
              <a:rPr lang="en-US" sz="1200" b="0" kern="1200" dirty="0" err="1">
                <a:solidFill>
                  <a:schemeClr val="tx1"/>
                </a:solidFill>
                <a:effectLst/>
                <a:latin typeface="David" panose="020E0502060401010101" pitchFamily="34" charset="-79"/>
                <a:ea typeface="+mn-ea"/>
                <a:cs typeface="David" panose="020E0502060401010101" pitchFamily="34" charset="-79"/>
              </a:rPr>
              <a:t>biotech_rate_prior</a:t>
            </a:r>
            <a:r>
              <a:rPr lang="en-US" sz="1200" b="0" kern="1200" dirty="0">
                <a:solidFill>
                  <a:schemeClr val="tx1"/>
                </a:solidFill>
                <a:effectLst/>
                <a:latin typeface="David" panose="020E0502060401010101" pitchFamily="34" charset="-79"/>
                <a:ea typeface="+mn-ea"/>
                <a:cs typeface="David" panose="020E0502060401010101" pitchFamily="34" charset="-79"/>
              </a:rPr>
              <a:t>, ax = </a:t>
            </a:r>
            <a:r>
              <a:rPr lang="en-US" sz="1200" b="0" kern="1200" dirty="0" err="1">
                <a:solidFill>
                  <a:schemeClr val="tx1"/>
                </a:solidFill>
                <a:effectLst/>
                <a:latin typeface="David" panose="020E0502060401010101" pitchFamily="34" charset="-79"/>
                <a:ea typeface="+mn-ea"/>
                <a:cs typeface="David" panose="020E0502060401010101" pitchFamily="34" charset="-79"/>
              </a:rPr>
              <a:t>pz.maxent</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a:t>
            </a:r>
            <a:r>
              <a:rPr lang="en-US" sz="1200" b="0" kern="1200" dirty="0" err="1">
                <a:solidFill>
                  <a:schemeClr val="tx1"/>
                </a:solidFill>
                <a:effectLst/>
                <a:latin typeface="David" panose="020E0502060401010101" pitchFamily="34" charset="-79"/>
                <a:ea typeface="+mn-ea"/>
                <a:cs typeface="David" panose="020E0502060401010101" pitchFamily="34" charset="-79"/>
              </a:rPr>
              <a:t>pz.Beta</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lower=0.01,</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upper=0.20,</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mass=0.95,</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plot=True</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a:extLst>
              <a:ext uri="{FF2B5EF4-FFF2-40B4-BE49-F238E27FC236}">
                <a16:creationId xmlns:a16="http://schemas.microsoft.com/office/drawing/2014/main" id="{DF56BE63-1D5C-1A9C-8EEC-5E80CD5543D1}"/>
              </a:ext>
            </a:extLst>
          </p:cNvPr>
          <p:cNvSpPr>
            <a:spLocks noGrp="1"/>
          </p:cNvSpPr>
          <p:nvPr>
            <p:ph type="sldNum" sz="quarter" idx="5"/>
          </p:nvPr>
        </p:nvSpPr>
        <p:spPr/>
        <p:txBody>
          <a:bodyPr/>
          <a:lstStyle/>
          <a:p>
            <a:fld id="{C92EB490-81AD-4E58-8FB4-217ABE50CF56}" type="slidenum">
              <a:rPr lang="he-IL" smtClean="0"/>
              <a:pPr/>
              <a:t>36</a:t>
            </a:fld>
            <a:endParaRPr lang="he-IL" dirty="0"/>
          </a:p>
        </p:txBody>
      </p:sp>
    </p:spTree>
    <p:extLst>
      <p:ext uri="{BB962C8B-B14F-4D97-AF65-F5344CB8AC3E}">
        <p14:creationId xmlns:p14="http://schemas.microsoft.com/office/powerpoint/2010/main" val="36411410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66244-8744-D403-43FE-B22D9E505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8CBB8-FFF1-4BF0-4AAD-296B16B7B456}"/>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73D99DE-0867-D0C9-563E-7EB1F97A2284}"/>
              </a:ext>
            </a:extLst>
          </p:cNvPr>
          <p:cNvSpPr>
            <a:spLocks noGrp="1"/>
          </p:cNvSpPr>
          <p:nvPr>
            <p:ph type="body" idx="1"/>
          </p:nvPr>
        </p:nvSpPr>
        <p:spPr/>
        <p:txBody>
          <a:bodyPr/>
          <a:lstStyle/>
          <a:p>
            <a:pPr algn="l" rtl="0"/>
            <a:r>
              <a:rPr lang="en-US" dirty="0"/>
              <a:t>Prior choice – </a:t>
            </a:r>
          </a:p>
          <a:p>
            <a:pPr algn="l" rtl="0"/>
            <a:endParaRPr lang="en-US" dirty="0"/>
          </a:p>
          <a:p>
            <a:pPr algn="l" rtl="0"/>
            <a:r>
              <a:rPr lang="en-US" sz="1200" b="0" kern="1200" dirty="0" err="1">
                <a:solidFill>
                  <a:schemeClr val="tx1"/>
                </a:solidFill>
                <a:effectLst/>
                <a:latin typeface="David" panose="020E0502060401010101" pitchFamily="34" charset="-79"/>
                <a:ea typeface="+mn-ea"/>
                <a:cs typeface="David" panose="020E0502060401010101" pitchFamily="34" charset="-79"/>
              </a:rPr>
              <a:t>biotech_rate_prior</a:t>
            </a:r>
            <a:r>
              <a:rPr lang="en-US" sz="1200" b="0" kern="1200" dirty="0">
                <a:solidFill>
                  <a:schemeClr val="tx1"/>
                </a:solidFill>
                <a:effectLst/>
                <a:latin typeface="David" panose="020E0502060401010101" pitchFamily="34" charset="-79"/>
                <a:ea typeface="+mn-ea"/>
                <a:cs typeface="David" panose="020E0502060401010101" pitchFamily="34" charset="-79"/>
              </a:rPr>
              <a:t>, ax = </a:t>
            </a:r>
            <a:r>
              <a:rPr lang="en-US" sz="1200" b="0" kern="1200" dirty="0" err="1">
                <a:solidFill>
                  <a:schemeClr val="tx1"/>
                </a:solidFill>
                <a:effectLst/>
                <a:latin typeface="David" panose="020E0502060401010101" pitchFamily="34" charset="-79"/>
                <a:ea typeface="+mn-ea"/>
                <a:cs typeface="David" panose="020E0502060401010101" pitchFamily="34" charset="-79"/>
              </a:rPr>
              <a:t>pz.maxent</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a:t>
            </a:r>
            <a:r>
              <a:rPr lang="en-US" sz="1200" b="0" kern="1200" dirty="0" err="1">
                <a:solidFill>
                  <a:schemeClr val="tx1"/>
                </a:solidFill>
                <a:effectLst/>
                <a:latin typeface="David" panose="020E0502060401010101" pitchFamily="34" charset="-79"/>
                <a:ea typeface="+mn-ea"/>
                <a:cs typeface="David" panose="020E0502060401010101" pitchFamily="34" charset="-79"/>
              </a:rPr>
              <a:t>pz.Beta</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lower=0.01,</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upper=0.20,</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mass=0.95,</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plot=True</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a:extLst>
              <a:ext uri="{FF2B5EF4-FFF2-40B4-BE49-F238E27FC236}">
                <a16:creationId xmlns:a16="http://schemas.microsoft.com/office/drawing/2014/main" id="{1B62CB15-CE52-F9F1-BFE6-E33D847F5E07}"/>
              </a:ext>
            </a:extLst>
          </p:cNvPr>
          <p:cNvSpPr>
            <a:spLocks noGrp="1"/>
          </p:cNvSpPr>
          <p:nvPr>
            <p:ph type="sldNum" sz="quarter" idx="5"/>
          </p:nvPr>
        </p:nvSpPr>
        <p:spPr/>
        <p:txBody>
          <a:bodyPr/>
          <a:lstStyle/>
          <a:p>
            <a:fld id="{C92EB490-81AD-4E58-8FB4-217ABE50CF56}" type="slidenum">
              <a:rPr lang="he-IL" smtClean="0"/>
              <a:pPr/>
              <a:t>37</a:t>
            </a:fld>
            <a:endParaRPr lang="he-IL" dirty="0"/>
          </a:p>
        </p:txBody>
      </p:sp>
    </p:spTree>
    <p:extLst>
      <p:ext uri="{BB962C8B-B14F-4D97-AF65-F5344CB8AC3E}">
        <p14:creationId xmlns:p14="http://schemas.microsoft.com/office/powerpoint/2010/main" val="38596730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644B1-6593-2007-1983-2C97BE397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40BA9-DF1A-B822-045D-52148B4DBC8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67427B8-AF51-0F41-1DE3-5504C246C7D8}"/>
              </a:ext>
            </a:extLst>
          </p:cNvPr>
          <p:cNvSpPr>
            <a:spLocks noGrp="1"/>
          </p:cNvSpPr>
          <p:nvPr>
            <p:ph type="body" idx="1"/>
          </p:nvPr>
        </p:nvSpPr>
        <p:spPr/>
        <p:txBody>
          <a:bodyPr/>
          <a:lstStyle/>
          <a:p>
            <a:pPr algn="l" rtl="0"/>
            <a:r>
              <a:rPr lang="en-US" dirty="0"/>
              <a:t>Prior choice – </a:t>
            </a:r>
          </a:p>
          <a:p>
            <a:pPr algn="l" rtl="0"/>
            <a:endParaRPr lang="en-US" dirty="0"/>
          </a:p>
          <a:p>
            <a:pPr algn="l" rtl="0"/>
            <a:r>
              <a:rPr lang="en-US" sz="1200" b="0" kern="1200" dirty="0" err="1">
                <a:solidFill>
                  <a:schemeClr val="tx1"/>
                </a:solidFill>
                <a:effectLst/>
                <a:latin typeface="David" panose="020E0502060401010101" pitchFamily="34" charset="-79"/>
                <a:ea typeface="+mn-ea"/>
                <a:cs typeface="David" panose="020E0502060401010101" pitchFamily="34" charset="-79"/>
              </a:rPr>
              <a:t>biotech_rate_prior</a:t>
            </a:r>
            <a:r>
              <a:rPr lang="en-US" sz="1200" b="0" kern="1200" dirty="0">
                <a:solidFill>
                  <a:schemeClr val="tx1"/>
                </a:solidFill>
                <a:effectLst/>
                <a:latin typeface="David" panose="020E0502060401010101" pitchFamily="34" charset="-79"/>
                <a:ea typeface="+mn-ea"/>
                <a:cs typeface="David" panose="020E0502060401010101" pitchFamily="34" charset="-79"/>
              </a:rPr>
              <a:t>, ax = </a:t>
            </a:r>
            <a:r>
              <a:rPr lang="en-US" sz="1200" b="0" kern="1200" dirty="0" err="1">
                <a:solidFill>
                  <a:schemeClr val="tx1"/>
                </a:solidFill>
                <a:effectLst/>
                <a:latin typeface="David" panose="020E0502060401010101" pitchFamily="34" charset="-79"/>
                <a:ea typeface="+mn-ea"/>
                <a:cs typeface="David" panose="020E0502060401010101" pitchFamily="34" charset="-79"/>
              </a:rPr>
              <a:t>pz.maxent</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a:t>
            </a:r>
            <a:r>
              <a:rPr lang="en-US" sz="1200" b="0" kern="1200" dirty="0" err="1">
                <a:solidFill>
                  <a:schemeClr val="tx1"/>
                </a:solidFill>
                <a:effectLst/>
                <a:latin typeface="David" panose="020E0502060401010101" pitchFamily="34" charset="-79"/>
                <a:ea typeface="+mn-ea"/>
                <a:cs typeface="David" panose="020E0502060401010101" pitchFamily="34" charset="-79"/>
              </a:rPr>
              <a:t>pz.Beta</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lower=0.01,</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upper=0.20,</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mass=0.95,</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plot=True</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a:extLst>
              <a:ext uri="{FF2B5EF4-FFF2-40B4-BE49-F238E27FC236}">
                <a16:creationId xmlns:a16="http://schemas.microsoft.com/office/drawing/2014/main" id="{D3D15755-CABA-7BCC-4413-9BE88BF02A5A}"/>
              </a:ext>
            </a:extLst>
          </p:cNvPr>
          <p:cNvSpPr>
            <a:spLocks noGrp="1"/>
          </p:cNvSpPr>
          <p:nvPr>
            <p:ph type="sldNum" sz="quarter" idx="5"/>
          </p:nvPr>
        </p:nvSpPr>
        <p:spPr/>
        <p:txBody>
          <a:bodyPr/>
          <a:lstStyle/>
          <a:p>
            <a:fld id="{C92EB490-81AD-4E58-8FB4-217ABE50CF56}" type="slidenum">
              <a:rPr lang="he-IL" smtClean="0"/>
              <a:pPr/>
              <a:t>38</a:t>
            </a:fld>
            <a:endParaRPr lang="he-IL" dirty="0"/>
          </a:p>
        </p:txBody>
      </p:sp>
    </p:spTree>
    <p:extLst>
      <p:ext uri="{BB962C8B-B14F-4D97-AF65-F5344CB8AC3E}">
        <p14:creationId xmlns:p14="http://schemas.microsoft.com/office/powerpoint/2010/main" val="28822412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E2474-BD5B-B875-F113-8696327E5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56747-7951-CB93-CF9D-13DD1D296A98}"/>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1763A248-10FF-C19C-3F7C-75B4EE691543}"/>
              </a:ext>
            </a:extLst>
          </p:cNvPr>
          <p:cNvSpPr>
            <a:spLocks noGrp="1"/>
          </p:cNvSpPr>
          <p:nvPr>
            <p:ph type="body" idx="1"/>
          </p:nvPr>
        </p:nvSpPr>
        <p:spPr/>
        <p:txBody>
          <a:bodyPr/>
          <a:lstStyle/>
          <a:p>
            <a:pPr algn="l" rtl="0"/>
            <a:r>
              <a:rPr lang="en-US" dirty="0"/>
              <a:t>Prior choice – </a:t>
            </a:r>
          </a:p>
          <a:p>
            <a:pPr algn="l" rtl="0"/>
            <a:endParaRPr lang="en-US" dirty="0"/>
          </a:p>
          <a:p>
            <a:pPr algn="l" rtl="0"/>
            <a:r>
              <a:rPr lang="en-US" sz="1200" b="0" kern="1200" dirty="0" err="1">
                <a:solidFill>
                  <a:schemeClr val="tx1"/>
                </a:solidFill>
                <a:effectLst/>
                <a:latin typeface="David" panose="020E0502060401010101" pitchFamily="34" charset="-79"/>
                <a:ea typeface="+mn-ea"/>
                <a:cs typeface="David" panose="020E0502060401010101" pitchFamily="34" charset="-79"/>
              </a:rPr>
              <a:t>biotech_rate_prior</a:t>
            </a:r>
            <a:r>
              <a:rPr lang="en-US" sz="1200" b="0" kern="1200" dirty="0">
                <a:solidFill>
                  <a:schemeClr val="tx1"/>
                </a:solidFill>
                <a:effectLst/>
                <a:latin typeface="David" panose="020E0502060401010101" pitchFamily="34" charset="-79"/>
                <a:ea typeface="+mn-ea"/>
                <a:cs typeface="David" panose="020E0502060401010101" pitchFamily="34" charset="-79"/>
              </a:rPr>
              <a:t>, ax = </a:t>
            </a:r>
            <a:r>
              <a:rPr lang="en-US" sz="1200" b="0" kern="1200" dirty="0" err="1">
                <a:solidFill>
                  <a:schemeClr val="tx1"/>
                </a:solidFill>
                <a:effectLst/>
                <a:latin typeface="David" panose="020E0502060401010101" pitchFamily="34" charset="-79"/>
                <a:ea typeface="+mn-ea"/>
                <a:cs typeface="David" panose="020E0502060401010101" pitchFamily="34" charset="-79"/>
              </a:rPr>
              <a:t>pz.maxent</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a:t>
            </a:r>
            <a:r>
              <a:rPr lang="en-US" sz="1200" b="0" kern="1200" dirty="0" err="1">
                <a:solidFill>
                  <a:schemeClr val="tx1"/>
                </a:solidFill>
                <a:effectLst/>
                <a:latin typeface="David" panose="020E0502060401010101" pitchFamily="34" charset="-79"/>
                <a:ea typeface="+mn-ea"/>
                <a:cs typeface="David" panose="020E0502060401010101" pitchFamily="34" charset="-79"/>
              </a:rPr>
              <a:t>pz.Beta</a:t>
            </a:r>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lower=0.01,</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upper=0.20,</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mass=0.95,</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    plot=True</a:t>
            </a:r>
          </a:p>
          <a:p>
            <a:pPr algn="l" rtl="0"/>
            <a:r>
              <a:rPr lang="en-US" sz="1200" b="0" kern="1200" dirty="0">
                <a:solidFill>
                  <a:schemeClr val="tx1"/>
                </a:solidFill>
                <a:effectLst/>
                <a:latin typeface="David" panose="020E0502060401010101" pitchFamily="34" charset="-79"/>
                <a:ea typeface="+mn-ea"/>
                <a:cs typeface="David" panose="020E0502060401010101" pitchFamily="34" charset="-79"/>
              </a:rPr>
              <a:t>)</a:t>
            </a:r>
          </a:p>
          <a:p>
            <a:pPr algn="l" rtl="0"/>
            <a:endParaRPr lang="he-IL" dirty="0"/>
          </a:p>
        </p:txBody>
      </p:sp>
      <p:sp>
        <p:nvSpPr>
          <p:cNvPr id="4" name="Slide Number Placeholder 3">
            <a:extLst>
              <a:ext uri="{FF2B5EF4-FFF2-40B4-BE49-F238E27FC236}">
                <a16:creationId xmlns:a16="http://schemas.microsoft.com/office/drawing/2014/main" id="{2B776E15-7433-E602-7AA3-34546E91C1F5}"/>
              </a:ext>
            </a:extLst>
          </p:cNvPr>
          <p:cNvSpPr>
            <a:spLocks noGrp="1"/>
          </p:cNvSpPr>
          <p:nvPr>
            <p:ph type="sldNum" sz="quarter" idx="5"/>
          </p:nvPr>
        </p:nvSpPr>
        <p:spPr/>
        <p:txBody>
          <a:bodyPr/>
          <a:lstStyle/>
          <a:p>
            <a:fld id="{C92EB490-81AD-4E58-8FB4-217ABE50CF56}" type="slidenum">
              <a:rPr lang="he-IL" smtClean="0"/>
              <a:pPr/>
              <a:t>39</a:t>
            </a:fld>
            <a:endParaRPr lang="he-IL" dirty="0"/>
          </a:p>
        </p:txBody>
      </p:sp>
    </p:spTree>
    <p:extLst>
      <p:ext uri="{BB962C8B-B14F-4D97-AF65-F5344CB8AC3E}">
        <p14:creationId xmlns:p14="http://schemas.microsoft.com/office/powerpoint/2010/main" val="13763919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32C89-BE00-C908-514F-0D98895AA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69E7B-692A-6E36-2360-371E09917468}"/>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098602C3-D606-1993-4AFC-6A5BD0F81E2C}"/>
              </a:ext>
            </a:extLst>
          </p:cNvPr>
          <p:cNvSpPr>
            <a:spLocks noGrp="1"/>
          </p:cNvSpPr>
          <p:nvPr>
            <p:ph type="body" idx="1"/>
          </p:nvPr>
        </p:nvSpPr>
        <p:spPr/>
        <p:txBody>
          <a:bodyPr/>
          <a:lstStyle/>
          <a:p>
            <a:pPr algn="l" rtl="0"/>
            <a:endParaRPr lang="he-IL" dirty="0"/>
          </a:p>
        </p:txBody>
      </p:sp>
      <p:sp>
        <p:nvSpPr>
          <p:cNvPr id="4" name="Slide Number Placeholder 3">
            <a:extLst>
              <a:ext uri="{FF2B5EF4-FFF2-40B4-BE49-F238E27FC236}">
                <a16:creationId xmlns:a16="http://schemas.microsoft.com/office/drawing/2014/main" id="{02BF0E4B-EB68-A64A-B347-11D1D0FD3768}"/>
              </a:ext>
            </a:extLst>
          </p:cNvPr>
          <p:cNvSpPr>
            <a:spLocks noGrp="1"/>
          </p:cNvSpPr>
          <p:nvPr>
            <p:ph type="sldNum" sz="quarter" idx="5"/>
          </p:nvPr>
        </p:nvSpPr>
        <p:spPr/>
        <p:txBody>
          <a:bodyPr/>
          <a:lstStyle/>
          <a:p>
            <a:fld id="{C92EB490-81AD-4E58-8FB4-217ABE50CF56}" type="slidenum">
              <a:rPr lang="he-IL" smtClean="0"/>
              <a:pPr/>
              <a:t>40</a:t>
            </a:fld>
            <a:endParaRPr lang="he-IL" dirty="0"/>
          </a:p>
        </p:txBody>
      </p:sp>
    </p:spTree>
    <p:extLst>
      <p:ext uri="{BB962C8B-B14F-4D97-AF65-F5344CB8AC3E}">
        <p14:creationId xmlns:p14="http://schemas.microsoft.com/office/powerpoint/2010/main" val="12185696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a:t>
            </a:r>
            <a:r>
              <a:rPr lang="en-US" dirty="0" err="1"/>
              <a:t>unpooled</a:t>
            </a:r>
            <a:r>
              <a:rPr lang="en-US" dirty="0"/>
              <a:t> model, we have different prior parameter (theta) for each </a:t>
            </a:r>
            <a:r>
              <a:rPr lang="en-US" sz="1200" b="0" kern="1200" dirty="0">
                <a:solidFill>
                  <a:schemeClr val="tx1"/>
                </a:solidFill>
                <a:effectLst/>
                <a:latin typeface="David" panose="020E0502060401010101" pitchFamily="34" charset="-79"/>
                <a:ea typeface="+mn-ea"/>
                <a:cs typeface="David" panose="020E0502060401010101" pitchFamily="34" charset="-79"/>
              </a:rPr>
              <a:t>country</a:t>
            </a:r>
          </a:p>
          <a:p>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44</a:t>
            </a:fld>
            <a:endParaRPr lang="he-IL" dirty="0"/>
          </a:p>
        </p:txBody>
      </p:sp>
    </p:spTree>
    <p:extLst>
      <p:ext uri="{BB962C8B-B14F-4D97-AF65-F5344CB8AC3E}">
        <p14:creationId xmlns:p14="http://schemas.microsoft.com/office/powerpoint/2010/main" val="1937902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32302-1DE0-2099-F135-052435458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36CC7-E434-0B33-E176-C35514EC7CE2}"/>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766701AA-D53C-2B96-F2D9-443939164612}"/>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C9D3E29A-B652-AD69-0994-4FE6E119942E}"/>
              </a:ext>
            </a:extLst>
          </p:cNvPr>
          <p:cNvSpPr>
            <a:spLocks noGrp="1"/>
          </p:cNvSpPr>
          <p:nvPr>
            <p:ph type="sldNum" sz="quarter" idx="5"/>
          </p:nvPr>
        </p:nvSpPr>
        <p:spPr/>
        <p:txBody>
          <a:bodyPr/>
          <a:lstStyle/>
          <a:p>
            <a:fld id="{C92EB490-81AD-4E58-8FB4-217ABE50CF56}" type="slidenum">
              <a:rPr lang="he-IL" smtClean="0"/>
              <a:pPr/>
              <a:t>45</a:t>
            </a:fld>
            <a:endParaRPr lang="he-IL" dirty="0"/>
          </a:p>
        </p:txBody>
      </p:sp>
    </p:spTree>
    <p:extLst>
      <p:ext uri="{BB962C8B-B14F-4D97-AF65-F5344CB8AC3E}">
        <p14:creationId xmlns:p14="http://schemas.microsoft.com/office/powerpoint/2010/main" val="41584815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6105D-375F-258B-F8FC-9AB7C54E3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956932-09B2-EB2F-4325-184F9E896924}"/>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9F4D490-1EEE-8AFD-BDD2-1421B324DB9C}"/>
              </a:ext>
            </a:extLst>
          </p:cNvPr>
          <p:cNvSpPr>
            <a:spLocks noGrp="1"/>
          </p:cNvSpPr>
          <p:nvPr>
            <p:ph type="body" idx="1"/>
          </p:nvPr>
        </p:nvSpPr>
        <p:spPr/>
        <p:txBody>
          <a:bodyPr/>
          <a:lstStyle/>
          <a:p>
            <a:r>
              <a:rPr lang="en-US" dirty="0"/>
              <a:t>These are just part of them</a:t>
            </a:r>
            <a:endParaRPr lang="he-IL" dirty="0"/>
          </a:p>
        </p:txBody>
      </p:sp>
      <p:sp>
        <p:nvSpPr>
          <p:cNvPr id="4" name="Slide Number Placeholder 3">
            <a:extLst>
              <a:ext uri="{FF2B5EF4-FFF2-40B4-BE49-F238E27FC236}">
                <a16:creationId xmlns:a16="http://schemas.microsoft.com/office/drawing/2014/main" id="{C751D177-5D62-E2B7-C715-3BFAA5EF6AC0}"/>
              </a:ext>
            </a:extLst>
          </p:cNvPr>
          <p:cNvSpPr>
            <a:spLocks noGrp="1"/>
          </p:cNvSpPr>
          <p:nvPr>
            <p:ph type="sldNum" sz="quarter" idx="5"/>
          </p:nvPr>
        </p:nvSpPr>
        <p:spPr/>
        <p:txBody>
          <a:bodyPr/>
          <a:lstStyle/>
          <a:p>
            <a:fld id="{C92EB490-81AD-4E58-8FB4-217ABE50CF56}" type="slidenum">
              <a:rPr lang="he-IL" smtClean="0"/>
              <a:pPr/>
              <a:t>46</a:t>
            </a:fld>
            <a:endParaRPr lang="he-IL" dirty="0"/>
          </a:p>
        </p:txBody>
      </p:sp>
    </p:spTree>
    <p:extLst>
      <p:ext uri="{BB962C8B-B14F-4D97-AF65-F5344CB8AC3E}">
        <p14:creationId xmlns:p14="http://schemas.microsoft.com/office/powerpoint/2010/main" val="26027105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A469A-CCF9-DBAA-91C2-889AC3830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CCB9E-EE81-4D00-F22A-ADB882C3F953}"/>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EF19746F-DE3C-970F-9113-D3728C4E2DE3}"/>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19184601-1CC0-1BEF-5EAB-FF5799555384}"/>
              </a:ext>
            </a:extLst>
          </p:cNvPr>
          <p:cNvSpPr>
            <a:spLocks noGrp="1"/>
          </p:cNvSpPr>
          <p:nvPr>
            <p:ph type="sldNum" sz="quarter" idx="5"/>
          </p:nvPr>
        </p:nvSpPr>
        <p:spPr/>
        <p:txBody>
          <a:bodyPr/>
          <a:lstStyle/>
          <a:p>
            <a:fld id="{C92EB490-81AD-4E58-8FB4-217ABE50CF56}" type="slidenum">
              <a:rPr lang="he-IL" smtClean="0"/>
              <a:pPr/>
              <a:t>47</a:t>
            </a:fld>
            <a:endParaRPr lang="he-IL" dirty="0"/>
          </a:p>
        </p:txBody>
      </p:sp>
    </p:spTree>
    <p:extLst>
      <p:ext uri="{BB962C8B-B14F-4D97-AF65-F5344CB8AC3E}">
        <p14:creationId xmlns:p14="http://schemas.microsoft.com/office/powerpoint/2010/main" val="10720040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B5EBD-0594-7F99-2C5B-6AA476316E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DC71C-35ED-B664-E20D-DA0EFFCECE09}"/>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60AA804-03F5-EDCD-0269-2CD62925D585}"/>
              </a:ext>
            </a:extLst>
          </p:cNvPr>
          <p:cNvSpPr>
            <a:spLocks noGrp="1"/>
          </p:cNvSpPr>
          <p:nvPr>
            <p:ph type="body" idx="1"/>
          </p:nvPr>
        </p:nvSpPr>
        <p:spPr/>
        <p:txBody>
          <a:bodyPr/>
          <a:lstStyle/>
          <a:p>
            <a:r>
              <a:rPr lang="en-US" dirty="0"/>
              <a:t>These are just part of them</a:t>
            </a:r>
            <a:endParaRPr lang="he-IL" dirty="0"/>
          </a:p>
        </p:txBody>
      </p:sp>
      <p:sp>
        <p:nvSpPr>
          <p:cNvPr id="4" name="Slide Number Placeholder 3">
            <a:extLst>
              <a:ext uri="{FF2B5EF4-FFF2-40B4-BE49-F238E27FC236}">
                <a16:creationId xmlns:a16="http://schemas.microsoft.com/office/drawing/2014/main" id="{AFEAB960-454A-3BEE-3F53-5829F39793CC}"/>
              </a:ext>
            </a:extLst>
          </p:cNvPr>
          <p:cNvSpPr>
            <a:spLocks noGrp="1"/>
          </p:cNvSpPr>
          <p:nvPr>
            <p:ph type="sldNum" sz="quarter" idx="5"/>
          </p:nvPr>
        </p:nvSpPr>
        <p:spPr/>
        <p:txBody>
          <a:bodyPr/>
          <a:lstStyle/>
          <a:p>
            <a:fld id="{C92EB490-81AD-4E58-8FB4-217ABE50CF56}" type="slidenum">
              <a:rPr lang="he-IL" smtClean="0"/>
              <a:pPr/>
              <a:t>48</a:t>
            </a:fld>
            <a:endParaRPr lang="he-IL" dirty="0"/>
          </a:p>
        </p:txBody>
      </p:sp>
    </p:spTree>
    <p:extLst>
      <p:ext uri="{BB962C8B-B14F-4D97-AF65-F5344CB8AC3E}">
        <p14:creationId xmlns:p14="http://schemas.microsoft.com/office/powerpoint/2010/main" val="4251376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5732F-9B71-B7DC-DD78-E35B27C49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CB6FAE-74A7-C972-346D-E66118453404}"/>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06C24CC4-0130-E913-4C7B-4E66E9BB3E15}"/>
              </a:ext>
            </a:extLst>
          </p:cNvPr>
          <p:cNvSpPr>
            <a:spLocks noGrp="1"/>
          </p:cNvSpPr>
          <p:nvPr>
            <p:ph type="body" idx="1"/>
          </p:nvPr>
        </p:nvSpPr>
        <p:spPr/>
        <p:txBody>
          <a:bodyPr/>
          <a:lstStyle/>
          <a:p>
            <a:r>
              <a:rPr lang="en-US" dirty="0"/>
              <a:t>These are just part of them</a:t>
            </a:r>
            <a:endParaRPr lang="he-IL" dirty="0"/>
          </a:p>
        </p:txBody>
      </p:sp>
      <p:sp>
        <p:nvSpPr>
          <p:cNvPr id="4" name="Slide Number Placeholder 3">
            <a:extLst>
              <a:ext uri="{FF2B5EF4-FFF2-40B4-BE49-F238E27FC236}">
                <a16:creationId xmlns:a16="http://schemas.microsoft.com/office/drawing/2014/main" id="{98503F8B-8870-E0A3-4319-0D45A6062D9C}"/>
              </a:ext>
            </a:extLst>
          </p:cNvPr>
          <p:cNvSpPr>
            <a:spLocks noGrp="1"/>
          </p:cNvSpPr>
          <p:nvPr>
            <p:ph type="sldNum" sz="quarter" idx="5"/>
          </p:nvPr>
        </p:nvSpPr>
        <p:spPr/>
        <p:txBody>
          <a:bodyPr/>
          <a:lstStyle/>
          <a:p>
            <a:fld id="{C92EB490-81AD-4E58-8FB4-217ABE50CF56}" type="slidenum">
              <a:rPr lang="he-IL" smtClean="0"/>
              <a:pPr/>
              <a:t>49</a:t>
            </a:fld>
            <a:endParaRPr lang="he-IL" dirty="0"/>
          </a:p>
        </p:txBody>
      </p:sp>
    </p:spTree>
    <p:extLst>
      <p:ext uri="{BB962C8B-B14F-4D97-AF65-F5344CB8AC3E}">
        <p14:creationId xmlns:p14="http://schemas.microsoft.com/office/powerpoint/2010/main" val="3711468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1466A-1026-FE5F-E33C-8AA8E732A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C78E8-3F87-8D87-6BEB-A8EA7AD37AEC}"/>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248E5A53-D4DE-CC3A-B091-A3FD0EA5429B}"/>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4E484E2B-FCF3-D7FF-6F9B-E7331DB6FEE1}"/>
              </a:ext>
            </a:extLst>
          </p:cNvPr>
          <p:cNvSpPr>
            <a:spLocks noGrp="1"/>
          </p:cNvSpPr>
          <p:nvPr>
            <p:ph type="sldNum" sz="quarter" idx="5"/>
          </p:nvPr>
        </p:nvSpPr>
        <p:spPr/>
        <p:txBody>
          <a:bodyPr/>
          <a:lstStyle/>
          <a:p>
            <a:fld id="{FA96E01F-8DBD-4634-ACB5-33D503B64F6E}" type="slidenum">
              <a:rPr lang="LID4096" smtClean="0"/>
              <a:t>50</a:t>
            </a:fld>
            <a:endParaRPr lang="LID4096"/>
          </a:p>
        </p:txBody>
      </p:sp>
    </p:spTree>
    <p:extLst>
      <p:ext uri="{BB962C8B-B14F-4D97-AF65-F5344CB8AC3E}">
        <p14:creationId xmlns:p14="http://schemas.microsoft.com/office/powerpoint/2010/main" val="20012447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dirty="0"/>
              <a:t>For nu we want only positive distributions (no negative values). We usually use </a:t>
            </a:r>
            <a:r>
              <a:rPr lang="en-US" dirty="0" err="1"/>
              <a:t>HalfNormal</a:t>
            </a:r>
            <a:r>
              <a:rPr lang="en-US" dirty="0"/>
              <a:t>\Gamma. </a:t>
            </a:r>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53</a:t>
            </a:fld>
            <a:endParaRPr lang="he-IL" dirty="0"/>
          </a:p>
        </p:txBody>
      </p:sp>
    </p:spTree>
    <p:extLst>
      <p:ext uri="{BB962C8B-B14F-4D97-AF65-F5344CB8AC3E}">
        <p14:creationId xmlns:p14="http://schemas.microsoft.com/office/powerpoint/2010/main" val="11922251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54</a:t>
            </a:fld>
            <a:endParaRPr lang="he-IL" dirty="0"/>
          </a:p>
        </p:txBody>
      </p:sp>
    </p:spTree>
    <p:extLst>
      <p:ext uri="{BB962C8B-B14F-4D97-AF65-F5344CB8AC3E}">
        <p14:creationId xmlns:p14="http://schemas.microsoft.com/office/powerpoint/2010/main" val="33805184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62</a:t>
            </a:fld>
            <a:endParaRPr lang="he-IL" dirty="0"/>
          </a:p>
        </p:txBody>
      </p:sp>
    </p:spTree>
    <p:extLst>
      <p:ext uri="{BB962C8B-B14F-4D97-AF65-F5344CB8AC3E}">
        <p14:creationId xmlns:p14="http://schemas.microsoft.com/office/powerpoint/2010/main" val="32310234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pPr algn="l" rtl="0"/>
            <a:r>
              <a:rPr lang="en-US" dirty="0"/>
              <a:t>The estimates have shrunk toward the common mean due to each group informing the rest, and each group being informed by the estimation of the others</a:t>
            </a:r>
            <a:endParaRPr lang="he-IL" dirty="0"/>
          </a:p>
        </p:txBody>
      </p:sp>
      <p:sp>
        <p:nvSpPr>
          <p:cNvPr id="4" name="Slide Number Placeholder 3"/>
          <p:cNvSpPr>
            <a:spLocks noGrp="1"/>
          </p:cNvSpPr>
          <p:nvPr>
            <p:ph type="sldNum" sz="quarter" idx="5"/>
          </p:nvPr>
        </p:nvSpPr>
        <p:spPr/>
        <p:txBody>
          <a:bodyPr/>
          <a:lstStyle/>
          <a:p>
            <a:fld id="{C92EB490-81AD-4E58-8FB4-217ABE50CF56}" type="slidenum">
              <a:rPr lang="he-IL" smtClean="0"/>
              <a:pPr/>
              <a:t>63</a:t>
            </a:fld>
            <a:endParaRPr lang="he-IL" dirty="0"/>
          </a:p>
        </p:txBody>
      </p:sp>
    </p:spTree>
    <p:extLst>
      <p:ext uri="{BB962C8B-B14F-4D97-AF65-F5344CB8AC3E}">
        <p14:creationId xmlns:p14="http://schemas.microsoft.com/office/powerpoint/2010/main" val="11183122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3038B-4838-C534-A0BA-E164BB8B69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E195A-B172-6B7F-7BEE-C8FA7C1975B4}"/>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68E91DC6-1DA2-868A-3201-589579D0F334}"/>
              </a:ext>
            </a:extLst>
          </p:cNvPr>
          <p:cNvSpPr>
            <a:spLocks noGrp="1"/>
          </p:cNvSpPr>
          <p:nvPr>
            <p:ph type="body" idx="1"/>
          </p:nvPr>
        </p:nvSpPr>
        <p:spPr/>
        <p:txBody>
          <a:bodyPr/>
          <a:lstStyle/>
          <a:p>
            <a:pPr algn="l" rtl="0"/>
            <a:r>
              <a:rPr lang="en-US" dirty="0"/>
              <a:t>The estimates have shrunk toward the common mean due to each group informing the rest, and each group being informed by the estimation of the others</a:t>
            </a:r>
            <a:endParaRPr lang="he-IL" dirty="0"/>
          </a:p>
        </p:txBody>
      </p:sp>
      <p:sp>
        <p:nvSpPr>
          <p:cNvPr id="4" name="Slide Number Placeholder 3">
            <a:extLst>
              <a:ext uri="{FF2B5EF4-FFF2-40B4-BE49-F238E27FC236}">
                <a16:creationId xmlns:a16="http://schemas.microsoft.com/office/drawing/2014/main" id="{A1B07B73-5095-A8D3-8EEC-81FA5776086A}"/>
              </a:ext>
            </a:extLst>
          </p:cNvPr>
          <p:cNvSpPr>
            <a:spLocks noGrp="1"/>
          </p:cNvSpPr>
          <p:nvPr>
            <p:ph type="sldNum" sz="quarter" idx="5"/>
          </p:nvPr>
        </p:nvSpPr>
        <p:spPr/>
        <p:txBody>
          <a:bodyPr/>
          <a:lstStyle/>
          <a:p>
            <a:fld id="{C92EB490-81AD-4E58-8FB4-217ABE50CF56}" type="slidenum">
              <a:rPr lang="he-IL" smtClean="0"/>
              <a:pPr/>
              <a:t>64</a:t>
            </a:fld>
            <a:endParaRPr lang="he-IL" dirty="0"/>
          </a:p>
        </p:txBody>
      </p:sp>
    </p:spTree>
    <p:extLst>
      <p:ext uri="{BB962C8B-B14F-4D97-AF65-F5344CB8AC3E}">
        <p14:creationId xmlns:p14="http://schemas.microsoft.com/office/powerpoint/2010/main" val="4092571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23C59AF-3049-E8FF-0710-F6DDAF14AB33}"/>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8947CCC6-BCD4-83D3-D4C1-4650353616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EB0A12D0-4CD7-7E5C-1EE4-7F361542B94B}"/>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5" name="מציין מיקום של כותרת תחתונה 4">
            <a:extLst>
              <a:ext uri="{FF2B5EF4-FFF2-40B4-BE49-F238E27FC236}">
                <a16:creationId xmlns:a16="http://schemas.microsoft.com/office/drawing/2014/main" id="{CEF1230F-16EC-9E18-E37B-C5C84AC383CF}"/>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143D7713-F765-8854-BC89-95643C94F112}"/>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3364429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4B9FA90-632B-CBA1-1CBE-90520AA4B23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453F47DB-D4CB-A3F2-C5C9-8AAD3775A52C}"/>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FF8EBAC2-A6B8-8BD4-700C-CFD988A523DD}"/>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5" name="מציין מיקום של כותרת תחתונה 4">
            <a:extLst>
              <a:ext uri="{FF2B5EF4-FFF2-40B4-BE49-F238E27FC236}">
                <a16:creationId xmlns:a16="http://schemas.microsoft.com/office/drawing/2014/main" id="{521971FD-CA1E-1896-016B-6B0BB6B913C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0FC3CF7D-199C-3156-D6BE-4E00DFD11A6B}"/>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332882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899C9E3-DACD-B5A1-8030-2D0046099342}"/>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6DD939C-1A08-A836-E0FD-FD4D0D10A4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EC431B5A-7136-6A7D-E5FF-8872D587AC80}"/>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5" name="מציין מיקום של כותרת תחתונה 4">
            <a:extLst>
              <a:ext uri="{FF2B5EF4-FFF2-40B4-BE49-F238E27FC236}">
                <a16:creationId xmlns:a16="http://schemas.microsoft.com/office/drawing/2014/main" id="{3C941115-B870-2E32-CA74-A495A4132034}"/>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257468A-CDCD-1F57-A48E-BA60E713E951}"/>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2135869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B61664D-0ACB-6248-734D-7EFA4A50A19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EEF9686D-A297-C2B7-790A-6A1A99980692}"/>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664011B1-93CA-9B7E-9E27-63EAC110F1F5}"/>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37CCE8C5-0C72-DEBE-028D-40410458D887}"/>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6" name="מציין מיקום של כותרת תחתונה 5">
            <a:extLst>
              <a:ext uri="{FF2B5EF4-FFF2-40B4-BE49-F238E27FC236}">
                <a16:creationId xmlns:a16="http://schemas.microsoft.com/office/drawing/2014/main" id="{2DAEE172-D6FB-B8BA-FDD5-57239BC15FE2}"/>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782A20B0-E4D2-6747-7039-2A4B83B8B4B4}"/>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3287281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2832B48-99DB-2E3F-7458-37797B5B4FED}"/>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770F5AD-B980-BC0D-55C0-B14FF20F2D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CA611E36-9B08-2E91-3FCC-98584CB1752E}"/>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2B191917-F982-58C5-3D54-5445DB44DE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CF9982CD-59F4-42FF-BD5D-5DB3E112C1AB}"/>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6F8D3421-77DF-87AE-9651-48D2A86EEAC2}"/>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8" name="מציין מיקום של כותרת תחתונה 7">
            <a:extLst>
              <a:ext uri="{FF2B5EF4-FFF2-40B4-BE49-F238E27FC236}">
                <a16:creationId xmlns:a16="http://schemas.microsoft.com/office/drawing/2014/main" id="{8207B03B-FCBC-820F-CE85-5A9D574FF520}"/>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E5525F25-1CE5-A94D-3B76-79D5883AFB71}"/>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3702121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86EEFE8-96D0-EA47-CF58-CB1EB943449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9285BCC3-E496-7E4D-AC60-F9F98AF87C40}"/>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4" name="מציין מיקום של כותרת תחתונה 3">
            <a:extLst>
              <a:ext uri="{FF2B5EF4-FFF2-40B4-BE49-F238E27FC236}">
                <a16:creationId xmlns:a16="http://schemas.microsoft.com/office/drawing/2014/main" id="{94E0A0E6-AD7A-D6BF-13A9-75F0396C700B}"/>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4720DE7C-B22C-9899-0265-0610CEA43FAB}"/>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3532162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6C437F8-51BB-BBA5-09F3-8A48709484AB}"/>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3" name="מציין מיקום של כותרת תחתונה 2">
            <a:extLst>
              <a:ext uri="{FF2B5EF4-FFF2-40B4-BE49-F238E27FC236}">
                <a16:creationId xmlns:a16="http://schemas.microsoft.com/office/drawing/2014/main" id="{29D599D5-907C-1F81-5091-6D94D7942891}"/>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C8512454-7793-E615-D483-DA88711C02B3}"/>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1512146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D9B09A-2810-1811-2B92-D970AEFD411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D75A830-AFEF-D744-1C02-4C37D4BD42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CEF6A857-21F8-A37A-3012-240BE8E2AC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CC3E244-570F-5A77-2641-1056D0DA9D47}"/>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6" name="מציין מיקום של כותרת תחתונה 5">
            <a:extLst>
              <a:ext uri="{FF2B5EF4-FFF2-40B4-BE49-F238E27FC236}">
                <a16:creationId xmlns:a16="http://schemas.microsoft.com/office/drawing/2014/main" id="{D5012943-E79F-B79E-C97B-DBBBEF16F475}"/>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94A6E5D1-C744-C1D0-FA10-9CF354488E58}"/>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3092259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852C408-16CA-C0F4-B745-B2B32AF26D6C}"/>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119F3793-B319-4D50-4140-CF0F6BF8B5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C75160D4-B37D-EB7A-7F57-87E83C0271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93DD4676-8B3E-1FCC-651F-8247EA1BBCE7}"/>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6" name="מציין מיקום של כותרת תחתונה 5">
            <a:extLst>
              <a:ext uri="{FF2B5EF4-FFF2-40B4-BE49-F238E27FC236}">
                <a16:creationId xmlns:a16="http://schemas.microsoft.com/office/drawing/2014/main" id="{E2A53869-0168-0CD4-34D8-07E004EDBE09}"/>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B4123D6-897D-FADC-1A97-9846D2A6D888}"/>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4016865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56795B1-4B71-A94E-7926-E9CF52BF47A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936E055-B891-C958-2E96-13BDA3D88BA0}"/>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F120DFBD-C0BE-B26F-6992-6B0D9F5F3402}"/>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5" name="מציין מיקום של כותרת תחתונה 4">
            <a:extLst>
              <a:ext uri="{FF2B5EF4-FFF2-40B4-BE49-F238E27FC236}">
                <a16:creationId xmlns:a16="http://schemas.microsoft.com/office/drawing/2014/main" id="{32CEEDF3-F3A4-B7A4-3295-AECA9D0C8CE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602DCFB-D87F-05CA-A49E-329711675C06}"/>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2070191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D8F054B4-78BE-18C3-0A4E-381BBF13067E}"/>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67BF9895-AA51-7824-42DC-59BDEB56D292}"/>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CAA1836-14B9-E1D5-3E91-673FDF1EEE87}"/>
              </a:ext>
            </a:extLst>
          </p:cNvPr>
          <p:cNvSpPr>
            <a:spLocks noGrp="1"/>
          </p:cNvSpPr>
          <p:nvPr>
            <p:ph type="dt" sz="half" idx="10"/>
          </p:nvPr>
        </p:nvSpPr>
        <p:spPr/>
        <p:txBody>
          <a:bodyPr/>
          <a:lstStyle/>
          <a:p>
            <a:fld id="{F6C3B445-AE54-448B-8B42-B1602BEDC802}" type="datetimeFigureOut">
              <a:rPr lang="he-IL" smtClean="0"/>
              <a:t>ג'/סיון/תשפ"ו</a:t>
            </a:fld>
            <a:endParaRPr lang="he-IL"/>
          </a:p>
        </p:txBody>
      </p:sp>
      <p:sp>
        <p:nvSpPr>
          <p:cNvPr id="5" name="מציין מיקום של כותרת תחתונה 4">
            <a:extLst>
              <a:ext uri="{FF2B5EF4-FFF2-40B4-BE49-F238E27FC236}">
                <a16:creationId xmlns:a16="http://schemas.microsoft.com/office/drawing/2014/main" id="{677E4072-4DCB-6A59-4349-032446ACB33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F38D313-728F-F592-6E6F-C240E0DC2F20}"/>
              </a:ext>
            </a:extLst>
          </p:cNvPr>
          <p:cNvSpPr>
            <a:spLocks noGrp="1"/>
          </p:cNvSpPr>
          <p:nvPr>
            <p:ph type="sldNum" sz="quarter" idx="12"/>
          </p:nvPr>
        </p:nvSpPr>
        <p:spPr/>
        <p:txBody>
          <a:bodyPr/>
          <a:lstStyle/>
          <a:p>
            <a:fld id="{F080626A-6ED3-488F-B993-FD77EBA2A1BE}" type="slidenum">
              <a:rPr lang="he-IL" smtClean="0"/>
              <a:t>‹#›</a:t>
            </a:fld>
            <a:endParaRPr lang="he-IL"/>
          </a:p>
        </p:txBody>
      </p:sp>
    </p:spTree>
    <p:extLst>
      <p:ext uri="{BB962C8B-B14F-4D97-AF65-F5344CB8AC3E}">
        <p14:creationId xmlns:p14="http://schemas.microsoft.com/office/powerpoint/2010/main" val="2430753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5D008C9C-1A1D-C417-51F6-12AE3136FC4D}"/>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dirty="0"/>
              <a:t>לחץ כדי לערוך סגנון כותרת של תבנית בסיס</a:t>
            </a:r>
          </a:p>
        </p:txBody>
      </p:sp>
      <p:sp>
        <p:nvSpPr>
          <p:cNvPr id="3" name="מציין מיקום טקסט 2">
            <a:extLst>
              <a:ext uri="{FF2B5EF4-FFF2-40B4-BE49-F238E27FC236}">
                <a16:creationId xmlns:a16="http://schemas.microsoft.com/office/drawing/2014/main" id="{61AA110D-D9C5-B8B0-5DA3-AAE3E690AACA}"/>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p>
        </p:txBody>
      </p:sp>
      <p:sp>
        <p:nvSpPr>
          <p:cNvPr id="4" name="מציין מיקום של תאריך 3">
            <a:extLst>
              <a:ext uri="{FF2B5EF4-FFF2-40B4-BE49-F238E27FC236}">
                <a16:creationId xmlns:a16="http://schemas.microsoft.com/office/drawing/2014/main" id="{8C7F951A-F897-16AB-55A9-C7241946468F}"/>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latin typeface="David" panose="020E0502060401010101" pitchFamily="34" charset="-79"/>
                <a:cs typeface="David" panose="020E0502060401010101" pitchFamily="34" charset="-79"/>
              </a:defRPr>
            </a:lvl1pPr>
          </a:lstStyle>
          <a:p>
            <a:fld id="{F6C3B445-AE54-448B-8B42-B1602BEDC802}" type="datetimeFigureOut">
              <a:rPr lang="he-IL" smtClean="0"/>
              <a:pPr/>
              <a:t>ג'/סיון/תשפ"ו</a:t>
            </a:fld>
            <a:endParaRPr lang="he-IL" dirty="0"/>
          </a:p>
        </p:txBody>
      </p:sp>
      <p:sp>
        <p:nvSpPr>
          <p:cNvPr id="5" name="מציין מיקום של כותרת תחתונה 4">
            <a:extLst>
              <a:ext uri="{FF2B5EF4-FFF2-40B4-BE49-F238E27FC236}">
                <a16:creationId xmlns:a16="http://schemas.microsoft.com/office/drawing/2014/main" id="{1CE3D3A5-93AA-D20A-7F33-0D67FE2C53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latin typeface="David" panose="020E0502060401010101" pitchFamily="34" charset="-79"/>
                <a:cs typeface="David" panose="020E0502060401010101" pitchFamily="34" charset="-79"/>
              </a:defRPr>
            </a:lvl1pPr>
          </a:lstStyle>
          <a:p>
            <a:endParaRPr lang="he-IL" dirty="0"/>
          </a:p>
        </p:txBody>
      </p:sp>
      <p:sp>
        <p:nvSpPr>
          <p:cNvPr id="6" name="מציין מיקום של מספר שקופית 5">
            <a:extLst>
              <a:ext uri="{FF2B5EF4-FFF2-40B4-BE49-F238E27FC236}">
                <a16:creationId xmlns:a16="http://schemas.microsoft.com/office/drawing/2014/main" id="{7784785A-5392-E3EC-2B70-7108F6C6D55E}"/>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latin typeface="David" panose="020E0502060401010101" pitchFamily="34" charset="-79"/>
                <a:cs typeface="David" panose="020E0502060401010101" pitchFamily="34" charset="-79"/>
              </a:defRPr>
            </a:lvl1pPr>
          </a:lstStyle>
          <a:p>
            <a:fld id="{F080626A-6ED3-488F-B993-FD77EBA2A1BE}" type="slidenum">
              <a:rPr lang="he-IL" smtClean="0"/>
              <a:pPr/>
              <a:t>‹#›</a:t>
            </a:fld>
            <a:endParaRPr lang="he-IL" dirty="0"/>
          </a:p>
        </p:txBody>
      </p:sp>
    </p:spTree>
    <p:extLst>
      <p:ext uri="{BB962C8B-B14F-4D97-AF65-F5344CB8AC3E}">
        <p14:creationId xmlns:p14="http://schemas.microsoft.com/office/powerpoint/2010/main" val="1842950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David" panose="020E0502060401010101" pitchFamily="34" charset="-79"/>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21.png"/></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7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7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7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39AA4-DC6F-AC25-85E9-23B70AA841D1}"/>
              </a:ext>
            </a:extLst>
          </p:cNvPr>
          <p:cNvSpPr>
            <a:spLocks noGrp="1"/>
          </p:cNvSpPr>
          <p:nvPr>
            <p:ph type="ctrTitle"/>
          </p:nvPr>
        </p:nvSpPr>
        <p:spPr>
          <a:xfrm>
            <a:off x="1524000" y="1869640"/>
            <a:ext cx="9144000" cy="1267695"/>
          </a:xfrm>
        </p:spPr>
        <p:txBody>
          <a:bodyPr/>
          <a:lstStyle/>
          <a:p>
            <a:r>
              <a:rPr lang="en-US" dirty="0"/>
              <a:t>Tutorial 4</a:t>
            </a:r>
            <a:endParaRPr lang="LID4096" dirty="0"/>
          </a:p>
        </p:txBody>
      </p:sp>
      <p:sp>
        <p:nvSpPr>
          <p:cNvPr id="3" name="Subtitle 2">
            <a:extLst>
              <a:ext uri="{FF2B5EF4-FFF2-40B4-BE49-F238E27FC236}">
                <a16:creationId xmlns:a16="http://schemas.microsoft.com/office/drawing/2014/main" id="{06ABFF89-9CAA-78A3-9827-25C0441AF86F}"/>
              </a:ext>
            </a:extLst>
          </p:cNvPr>
          <p:cNvSpPr>
            <a:spLocks noGrp="1"/>
          </p:cNvSpPr>
          <p:nvPr>
            <p:ph type="subTitle" idx="1"/>
          </p:nvPr>
        </p:nvSpPr>
        <p:spPr/>
        <p:txBody>
          <a:bodyPr/>
          <a:lstStyle/>
          <a:p>
            <a:r>
              <a:rPr lang="en-US" dirty="0"/>
              <a:t>Statistical Computation and Analysis</a:t>
            </a:r>
          </a:p>
          <a:p>
            <a:r>
              <a:rPr lang="en-US" dirty="0"/>
              <a:t>Spring 2026</a:t>
            </a:r>
            <a:endParaRPr lang="LID4096" dirty="0"/>
          </a:p>
        </p:txBody>
      </p:sp>
      <p:sp>
        <p:nvSpPr>
          <p:cNvPr id="4" name="מציין מיקום של מספר שקופית 3">
            <a:extLst>
              <a:ext uri="{FF2B5EF4-FFF2-40B4-BE49-F238E27FC236}">
                <a16:creationId xmlns:a16="http://schemas.microsoft.com/office/drawing/2014/main" id="{5A626382-5653-EECD-4173-5FECADC55935}"/>
              </a:ext>
            </a:extLst>
          </p:cNvPr>
          <p:cNvSpPr>
            <a:spLocks noGrp="1"/>
          </p:cNvSpPr>
          <p:nvPr>
            <p:ph type="sldNum" sz="quarter" idx="12"/>
          </p:nvPr>
        </p:nvSpPr>
        <p:spPr/>
        <p:txBody>
          <a:bodyPr/>
          <a:lstStyle/>
          <a:p>
            <a:fld id="{B6796F57-8306-40D4-9229-37A3D19F0B5F}" type="slidenum">
              <a:rPr lang="LID4096" smtClean="0"/>
              <a:t>1</a:t>
            </a:fld>
            <a:endParaRPr lang="LID4096" dirty="0"/>
          </a:p>
        </p:txBody>
      </p:sp>
    </p:spTree>
    <p:extLst>
      <p:ext uri="{BB962C8B-B14F-4D97-AF65-F5344CB8AC3E}">
        <p14:creationId xmlns:p14="http://schemas.microsoft.com/office/powerpoint/2010/main" val="163377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pPr algn="l" rtl="0"/>
            <a:r>
              <a:rPr lang="en-US" dirty="0"/>
              <a:t>Tutorial Outline</a:t>
            </a:r>
            <a:endParaRPr lang="LID4096" dirty="0"/>
          </a:p>
        </p:txBody>
      </p:sp>
      <p:sp>
        <p:nvSpPr>
          <p:cNvPr id="3" name="Content Placeholder 2">
            <a:extLst>
              <a:ext uri="{FF2B5EF4-FFF2-40B4-BE49-F238E27FC236}">
                <a16:creationId xmlns:a16="http://schemas.microsoft.com/office/drawing/2014/main" id="{7220153A-0E02-CB25-A797-F3303E23640F}"/>
              </a:ext>
            </a:extLst>
          </p:cNvPr>
          <p:cNvSpPr>
            <a:spLocks noGrp="1"/>
          </p:cNvSpPr>
          <p:nvPr>
            <p:ph idx="1"/>
          </p:nvPr>
        </p:nvSpPr>
        <p:spPr>
          <a:xfrm>
            <a:off x="838200" y="1342771"/>
            <a:ext cx="10445496" cy="4801998"/>
          </a:xfrm>
        </p:spPr>
        <p:txBody>
          <a:bodyPr>
            <a:normAutofit/>
          </a:bodyPr>
          <a:lstStyle/>
          <a:p>
            <a:pPr algn="l" rtl="0">
              <a:lnSpc>
                <a:spcPct val="150000"/>
              </a:lnSpc>
            </a:pPr>
            <a:r>
              <a:rPr lang="en-US" sz="2400" dirty="0">
                <a:ea typeface="Source Sans Pro"/>
              </a:rPr>
              <a:t>Short revision on lecture 4</a:t>
            </a:r>
          </a:p>
          <a:p>
            <a:pPr algn="l" rtl="0">
              <a:lnSpc>
                <a:spcPct val="150000"/>
              </a:lnSpc>
            </a:pPr>
            <a:r>
              <a:rPr lang="en-US" sz="2400" dirty="0">
                <a:ea typeface="Source Sans Pro"/>
              </a:rPr>
              <a:t>Lecture 5 models </a:t>
            </a:r>
          </a:p>
          <a:p>
            <a:pPr marL="0" indent="0" algn="l" rtl="0">
              <a:lnSpc>
                <a:spcPct val="150000"/>
              </a:lnSpc>
              <a:buNone/>
            </a:pPr>
            <a:endParaRPr lang="en-US" sz="2400" dirty="0">
              <a:ea typeface="Source Sans Pro" panose="020B0503030403020204" pitchFamily="34" charset="0"/>
            </a:endParaRPr>
          </a:p>
          <a:p>
            <a:pPr algn="l" rtl="0">
              <a:lnSpc>
                <a:spcPct val="150000"/>
              </a:lnSpc>
            </a:pPr>
            <a:endParaRPr lang="en-US" sz="2400" dirty="0">
              <a:ea typeface="Source Sans Pro" panose="020B0503030403020204" pitchFamily="34" charset="0"/>
            </a:endParaRPr>
          </a:p>
          <a:p>
            <a:pPr algn="l" rtl="0">
              <a:lnSpc>
                <a:spcPct val="150000"/>
              </a:lnSpc>
            </a:pPr>
            <a:endParaRPr lang="en-US" sz="2400" dirty="0">
              <a:cs typeface="David" panose="020E0502060401010101" pitchFamily="34" charset="-79"/>
            </a:endParaRPr>
          </a:p>
        </p:txBody>
      </p:sp>
      <p:sp>
        <p:nvSpPr>
          <p:cNvPr id="4" name="מציין מיקום של מספר שקופית 3">
            <a:extLst>
              <a:ext uri="{FF2B5EF4-FFF2-40B4-BE49-F238E27FC236}">
                <a16:creationId xmlns:a16="http://schemas.microsoft.com/office/drawing/2014/main" id="{49FB8A29-817C-0AE9-3536-E610EF5AEFA9}"/>
              </a:ext>
            </a:extLst>
          </p:cNvPr>
          <p:cNvSpPr>
            <a:spLocks noGrp="1"/>
          </p:cNvSpPr>
          <p:nvPr>
            <p:ph type="sldNum" sz="quarter" idx="12"/>
          </p:nvPr>
        </p:nvSpPr>
        <p:spPr/>
        <p:txBody>
          <a:bodyPr/>
          <a:lstStyle/>
          <a:p>
            <a:fld id="{B6796F57-8306-40D4-9229-37A3D19F0B5F}" type="slidenum">
              <a:rPr lang="LID4096" smtClean="0"/>
              <a:t>2</a:t>
            </a:fld>
            <a:endParaRPr lang="LID4096"/>
          </a:p>
        </p:txBody>
      </p:sp>
    </p:spTree>
    <p:extLst>
      <p:ext uri="{BB962C8B-B14F-4D97-AF65-F5344CB8AC3E}">
        <p14:creationId xmlns:p14="http://schemas.microsoft.com/office/powerpoint/2010/main" val="2932639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722A-B8F8-B84C-503B-23D134921FD7}"/>
              </a:ext>
            </a:extLst>
          </p:cNvPr>
          <p:cNvSpPr>
            <a:spLocks noGrp="1"/>
          </p:cNvSpPr>
          <p:nvPr>
            <p:ph type="title"/>
          </p:nvPr>
        </p:nvSpPr>
        <p:spPr/>
        <p:txBody>
          <a:bodyPr/>
          <a:lstStyle/>
          <a:p>
            <a:pPr algn="l" rtl="0"/>
            <a:r>
              <a:rPr lang="en-US" dirty="0"/>
              <a:t>Revision</a:t>
            </a:r>
            <a:endParaRPr lang="he-IL" dirty="0"/>
          </a:p>
        </p:txBody>
      </p:sp>
      <p:sp>
        <p:nvSpPr>
          <p:cNvPr id="3" name="Content Placeholder 2">
            <a:extLst>
              <a:ext uri="{FF2B5EF4-FFF2-40B4-BE49-F238E27FC236}">
                <a16:creationId xmlns:a16="http://schemas.microsoft.com/office/drawing/2014/main" id="{1CDAE972-1EC1-7DE2-90BE-121EF0E1116C}"/>
              </a:ext>
            </a:extLst>
          </p:cNvPr>
          <p:cNvSpPr>
            <a:spLocks noGrp="1"/>
          </p:cNvSpPr>
          <p:nvPr>
            <p:ph idx="1"/>
          </p:nvPr>
        </p:nvSpPr>
        <p:spPr/>
        <p:txBody>
          <a:bodyPr>
            <a:normAutofit/>
          </a:bodyPr>
          <a:lstStyle/>
          <a:p>
            <a:pPr algn="l" rtl="0">
              <a:lnSpc>
                <a:spcPct val="150000"/>
              </a:lnSpc>
            </a:pPr>
            <a:r>
              <a:rPr lang="en-US" sz="2400" dirty="0">
                <a:ea typeface="Source Sans Pro"/>
              </a:rPr>
              <a:t>Bayesian workflow</a:t>
            </a:r>
          </a:p>
          <a:p>
            <a:pPr algn="l" rtl="0">
              <a:lnSpc>
                <a:spcPct val="150000"/>
              </a:lnSpc>
            </a:pPr>
            <a:r>
              <a:rPr lang="en-US" sz="2400" dirty="0">
                <a:ea typeface="Source Sans Pro"/>
              </a:rPr>
              <a:t>Sampling diagnostics </a:t>
            </a:r>
          </a:p>
          <a:p>
            <a:pPr algn="l" rtl="0">
              <a:lnSpc>
                <a:spcPct val="150000"/>
              </a:lnSpc>
            </a:pPr>
            <a:r>
              <a:rPr lang="en-US" sz="2400" dirty="0">
                <a:ea typeface="Source Sans Pro"/>
              </a:rPr>
              <a:t>Divergences</a:t>
            </a:r>
          </a:p>
          <a:p>
            <a:pPr algn="l" rtl="0">
              <a:lnSpc>
                <a:spcPct val="150000"/>
              </a:lnSpc>
            </a:pPr>
            <a:r>
              <a:rPr lang="en-US" sz="2400" dirty="0">
                <a:ea typeface="Source Sans Pro"/>
              </a:rPr>
              <a:t>Validation</a:t>
            </a:r>
          </a:p>
          <a:p>
            <a:pPr lvl="1" algn="l" rtl="0">
              <a:lnSpc>
                <a:spcPct val="150000"/>
              </a:lnSpc>
            </a:pPr>
            <a:r>
              <a:rPr lang="en-US" dirty="0">
                <a:ea typeface="Source Sans Pro"/>
              </a:rPr>
              <a:t>Prior predictive plots</a:t>
            </a:r>
          </a:p>
          <a:p>
            <a:pPr lvl="1" algn="l" rtl="0">
              <a:lnSpc>
                <a:spcPct val="150000"/>
              </a:lnSpc>
            </a:pPr>
            <a:r>
              <a:rPr lang="en-US" dirty="0">
                <a:ea typeface="Source Sans Pro"/>
              </a:rPr>
              <a:t>Posterior predictive plots</a:t>
            </a:r>
            <a:endParaRPr lang="he-IL" dirty="0">
              <a:ea typeface="Source Sans Pro"/>
            </a:endParaRPr>
          </a:p>
          <a:p>
            <a:endParaRPr lang="he-IL" dirty="0"/>
          </a:p>
        </p:txBody>
      </p:sp>
    </p:spTree>
    <p:extLst>
      <p:ext uri="{BB962C8B-B14F-4D97-AF65-F5344CB8AC3E}">
        <p14:creationId xmlns:p14="http://schemas.microsoft.com/office/powerpoint/2010/main" val="560434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1EBA5-A722-EBBE-0D6A-F28BC627BCF3}"/>
              </a:ext>
            </a:extLst>
          </p:cNvPr>
          <p:cNvSpPr>
            <a:spLocks noGrp="1"/>
          </p:cNvSpPr>
          <p:nvPr>
            <p:ph type="title"/>
          </p:nvPr>
        </p:nvSpPr>
        <p:spPr/>
        <p:txBody>
          <a:bodyPr/>
          <a:lstStyle/>
          <a:p>
            <a:pPr algn="l" rtl="0"/>
            <a:r>
              <a:rPr lang="en-US" dirty="0">
                <a:latin typeface="David" panose="020E0502060401010101" pitchFamily="34" charset="-79"/>
                <a:ea typeface="Source Sans Pro"/>
                <a:cs typeface="David" panose="020E0502060401010101" pitchFamily="34" charset="-79"/>
              </a:rPr>
              <a:t>Bayesian workflow</a:t>
            </a:r>
            <a:endParaRPr lang="he-IL" dirty="0">
              <a:latin typeface="David" panose="020E0502060401010101" pitchFamily="34" charset="-79"/>
              <a:cs typeface="David" panose="020E0502060401010101" pitchFamily="34" charset="-79"/>
            </a:endParaRPr>
          </a:p>
        </p:txBody>
      </p:sp>
      <p:sp>
        <p:nvSpPr>
          <p:cNvPr id="4" name="Oval 3">
            <a:extLst>
              <a:ext uri="{FF2B5EF4-FFF2-40B4-BE49-F238E27FC236}">
                <a16:creationId xmlns:a16="http://schemas.microsoft.com/office/drawing/2014/main" id="{1D87E21F-EB37-247B-B211-55C544DCABCD}"/>
              </a:ext>
            </a:extLst>
          </p:cNvPr>
          <p:cNvSpPr/>
          <p:nvPr/>
        </p:nvSpPr>
        <p:spPr bwMode="auto">
          <a:xfrm>
            <a:off x="387348"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Data</a:t>
            </a:r>
            <a:endParaRPr dirty="0"/>
          </a:p>
        </p:txBody>
      </p:sp>
      <p:sp>
        <p:nvSpPr>
          <p:cNvPr id="5" name="Oval 4">
            <a:extLst>
              <a:ext uri="{FF2B5EF4-FFF2-40B4-BE49-F238E27FC236}">
                <a16:creationId xmlns:a16="http://schemas.microsoft.com/office/drawing/2014/main" id="{39DF5268-4169-04A9-9820-A4822C3B33E7}"/>
              </a:ext>
            </a:extLst>
          </p:cNvPr>
          <p:cNvSpPr/>
          <p:nvPr/>
        </p:nvSpPr>
        <p:spPr bwMode="auto">
          <a:xfrm>
            <a:off x="2781299"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a:t>Model</a:t>
            </a:r>
            <a:endParaRPr/>
          </a:p>
        </p:txBody>
      </p:sp>
      <p:cxnSp>
        <p:nvCxnSpPr>
          <p:cNvPr id="6" name="Straight Arrow Connector 6">
            <a:extLst>
              <a:ext uri="{FF2B5EF4-FFF2-40B4-BE49-F238E27FC236}">
                <a16:creationId xmlns:a16="http://schemas.microsoft.com/office/drawing/2014/main" id="{F1D21282-093C-955D-1C3F-D957FB3916D1}"/>
              </a:ext>
            </a:extLst>
          </p:cNvPr>
          <p:cNvCxnSpPr>
            <a:stCxn id="4" idx="6"/>
            <a:endCxn id="5" idx="2"/>
          </p:cNvCxnSpPr>
          <p:nvPr/>
        </p:nvCxnSpPr>
        <p:spPr bwMode="auto">
          <a:xfrm>
            <a:off x="1828633" y="3946524"/>
            <a:ext cx="952666"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7" name="Oval 13">
            <a:extLst>
              <a:ext uri="{FF2B5EF4-FFF2-40B4-BE49-F238E27FC236}">
                <a16:creationId xmlns:a16="http://schemas.microsoft.com/office/drawing/2014/main" id="{4A286BAA-2707-286B-2448-9C1B326E24CB}"/>
              </a:ext>
            </a:extLst>
          </p:cNvPr>
          <p:cNvSpPr/>
          <p:nvPr/>
        </p:nvSpPr>
        <p:spPr bwMode="auto">
          <a:xfrm>
            <a:off x="5599112"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Sample</a:t>
            </a:r>
            <a:endParaRPr dirty="0"/>
          </a:p>
        </p:txBody>
      </p:sp>
      <p:cxnSp>
        <p:nvCxnSpPr>
          <p:cNvPr id="8" name="Straight Arrow Connector 14">
            <a:extLst>
              <a:ext uri="{FF2B5EF4-FFF2-40B4-BE49-F238E27FC236}">
                <a16:creationId xmlns:a16="http://schemas.microsoft.com/office/drawing/2014/main" id="{147E04DA-0282-04BD-3EFE-06CCA0D6D181}"/>
              </a:ext>
            </a:extLst>
          </p:cNvPr>
          <p:cNvCxnSpPr>
            <a:stCxn id="5" idx="6"/>
            <a:endCxn id="7" idx="2"/>
          </p:cNvCxnSpPr>
          <p:nvPr/>
        </p:nvCxnSpPr>
        <p:spPr bwMode="auto">
          <a:xfrm>
            <a:off x="4222584" y="3946524"/>
            <a:ext cx="1376528"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9" name="Oval 70">
            <a:extLst>
              <a:ext uri="{FF2B5EF4-FFF2-40B4-BE49-F238E27FC236}">
                <a16:creationId xmlns:a16="http://schemas.microsoft.com/office/drawing/2014/main" id="{67954B20-4F95-5EA6-5102-A4681F9BD7BD}"/>
              </a:ext>
            </a:extLst>
          </p:cNvPr>
          <p:cNvSpPr/>
          <p:nvPr/>
        </p:nvSpPr>
        <p:spPr bwMode="auto">
          <a:xfrm>
            <a:off x="7821612" y="3657600"/>
            <a:ext cx="1662626"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a:t>Posterior</a:t>
            </a:r>
            <a:endParaRPr/>
          </a:p>
        </p:txBody>
      </p:sp>
      <p:cxnSp>
        <p:nvCxnSpPr>
          <p:cNvPr id="10" name="Straight Arrow Connector 71">
            <a:extLst>
              <a:ext uri="{FF2B5EF4-FFF2-40B4-BE49-F238E27FC236}">
                <a16:creationId xmlns:a16="http://schemas.microsoft.com/office/drawing/2014/main" id="{45759363-C11C-FC8A-41C3-88217C9C0E7F}"/>
              </a:ext>
            </a:extLst>
          </p:cNvPr>
          <p:cNvCxnSpPr>
            <a:stCxn id="7" idx="6"/>
            <a:endCxn id="9" idx="2"/>
          </p:cNvCxnSpPr>
          <p:nvPr/>
        </p:nvCxnSpPr>
        <p:spPr bwMode="auto">
          <a:xfrm>
            <a:off x="7040397" y="3946524"/>
            <a:ext cx="781215"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11" name="Oval 74">
            <a:extLst>
              <a:ext uri="{FF2B5EF4-FFF2-40B4-BE49-F238E27FC236}">
                <a16:creationId xmlns:a16="http://schemas.microsoft.com/office/drawing/2014/main" id="{E70BFF9C-B230-5FBD-AB17-AC9A8986135A}"/>
              </a:ext>
            </a:extLst>
          </p:cNvPr>
          <p:cNvSpPr/>
          <p:nvPr/>
        </p:nvSpPr>
        <p:spPr bwMode="auto">
          <a:xfrm>
            <a:off x="10037761" y="3657600"/>
            <a:ext cx="1662626"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Inference</a:t>
            </a:r>
            <a:endParaRPr dirty="0"/>
          </a:p>
        </p:txBody>
      </p:sp>
      <p:cxnSp>
        <p:nvCxnSpPr>
          <p:cNvPr id="12" name="Straight Arrow Connector 75">
            <a:extLst>
              <a:ext uri="{FF2B5EF4-FFF2-40B4-BE49-F238E27FC236}">
                <a16:creationId xmlns:a16="http://schemas.microsoft.com/office/drawing/2014/main" id="{0141F42B-214B-D228-CA1A-8A19A2561DB1}"/>
              </a:ext>
            </a:extLst>
          </p:cNvPr>
          <p:cNvCxnSpPr>
            <a:stCxn id="9" idx="6"/>
            <a:endCxn id="11" idx="2"/>
          </p:cNvCxnSpPr>
          <p:nvPr/>
        </p:nvCxnSpPr>
        <p:spPr bwMode="auto">
          <a:xfrm>
            <a:off x="9484238" y="3946524"/>
            <a:ext cx="553523"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Tree>
    <p:extLst>
      <p:ext uri="{BB962C8B-B14F-4D97-AF65-F5344CB8AC3E}">
        <p14:creationId xmlns:p14="http://schemas.microsoft.com/office/powerpoint/2010/main" val="1928844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9AFD4-422E-8CB4-3A1B-C1E779B90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BD6D0-582A-A24D-D97B-20A3DD11237D}"/>
              </a:ext>
            </a:extLst>
          </p:cNvPr>
          <p:cNvSpPr>
            <a:spLocks noGrp="1"/>
          </p:cNvSpPr>
          <p:nvPr>
            <p:ph type="title"/>
          </p:nvPr>
        </p:nvSpPr>
        <p:spPr/>
        <p:txBody>
          <a:bodyPr/>
          <a:lstStyle/>
          <a:p>
            <a:pPr algn="l" rtl="0"/>
            <a:r>
              <a:rPr lang="en-US" dirty="0">
                <a:latin typeface="David" panose="020E0502060401010101" pitchFamily="34" charset="-79"/>
                <a:ea typeface="Source Sans Pro"/>
                <a:cs typeface="David" panose="020E0502060401010101" pitchFamily="34" charset="-79"/>
              </a:rPr>
              <a:t>Bayesian workflow</a:t>
            </a:r>
            <a:endParaRPr lang="he-IL" dirty="0">
              <a:latin typeface="David" panose="020E0502060401010101" pitchFamily="34" charset="-79"/>
              <a:cs typeface="David" panose="020E0502060401010101" pitchFamily="34" charset="-79"/>
            </a:endParaRPr>
          </a:p>
        </p:txBody>
      </p:sp>
      <p:grpSp>
        <p:nvGrpSpPr>
          <p:cNvPr id="26" name="Group 25">
            <a:extLst>
              <a:ext uri="{FF2B5EF4-FFF2-40B4-BE49-F238E27FC236}">
                <a16:creationId xmlns:a16="http://schemas.microsoft.com/office/drawing/2014/main" id="{3B6776F5-8427-B6F7-4691-5B87C35FC3B2}"/>
              </a:ext>
            </a:extLst>
          </p:cNvPr>
          <p:cNvGrpSpPr/>
          <p:nvPr/>
        </p:nvGrpSpPr>
        <p:grpSpPr>
          <a:xfrm>
            <a:off x="387348" y="2197895"/>
            <a:ext cx="11471329" cy="3570680"/>
            <a:chOff x="387348" y="2197895"/>
            <a:chExt cx="11471329" cy="3570680"/>
          </a:xfrm>
        </p:grpSpPr>
        <p:sp>
          <p:nvSpPr>
            <p:cNvPr id="4" name="Oval 3">
              <a:extLst>
                <a:ext uri="{FF2B5EF4-FFF2-40B4-BE49-F238E27FC236}">
                  <a16:creationId xmlns:a16="http://schemas.microsoft.com/office/drawing/2014/main" id="{DC2FD7F9-0564-66A4-1A36-36F839E08E4E}"/>
                </a:ext>
              </a:extLst>
            </p:cNvPr>
            <p:cNvSpPr/>
            <p:nvPr/>
          </p:nvSpPr>
          <p:spPr bwMode="auto">
            <a:xfrm>
              <a:off x="387348"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Data</a:t>
              </a:r>
              <a:endParaRPr dirty="0"/>
            </a:p>
          </p:txBody>
        </p:sp>
        <p:sp>
          <p:nvSpPr>
            <p:cNvPr id="5" name="Oval 4">
              <a:extLst>
                <a:ext uri="{FF2B5EF4-FFF2-40B4-BE49-F238E27FC236}">
                  <a16:creationId xmlns:a16="http://schemas.microsoft.com/office/drawing/2014/main" id="{6668FF28-59BD-BA30-2B2E-B4D5C9DFB2BE}"/>
                </a:ext>
              </a:extLst>
            </p:cNvPr>
            <p:cNvSpPr/>
            <p:nvPr/>
          </p:nvSpPr>
          <p:spPr bwMode="auto">
            <a:xfrm>
              <a:off x="2781299"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Model</a:t>
              </a:r>
              <a:endParaRPr dirty="0"/>
            </a:p>
          </p:txBody>
        </p:sp>
        <p:cxnSp>
          <p:nvCxnSpPr>
            <p:cNvPr id="6" name="Straight Arrow Connector 6">
              <a:extLst>
                <a:ext uri="{FF2B5EF4-FFF2-40B4-BE49-F238E27FC236}">
                  <a16:creationId xmlns:a16="http://schemas.microsoft.com/office/drawing/2014/main" id="{0849565E-730B-428E-5727-4166B8E9668F}"/>
                </a:ext>
              </a:extLst>
            </p:cNvPr>
            <p:cNvCxnSpPr>
              <a:stCxn id="4" idx="6"/>
              <a:endCxn id="5" idx="2"/>
            </p:cNvCxnSpPr>
            <p:nvPr/>
          </p:nvCxnSpPr>
          <p:spPr bwMode="auto">
            <a:xfrm>
              <a:off x="1828633" y="3946524"/>
              <a:ext cx="952666"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7" name="Oval 13">
              <a:extLst>
                <a:ext uri="{FF2B5EF4-FFF2-40B4-BE49-F238E27FC236}">
                  <a16:creationId xmlns:a16="http://schemas.microsoft.com/office/drawing/2014/main" id="{D2B0F053-8769-43E7-9557-B82B3E731C36}"/>
                </a:ext>
              </a:extLst>
            </p:cNvPr>
            <p:cNvSpPr/>
            <p:nvPr/>
          </p:nvSpPr>
          <p:spPr bwMode="auto">
            <a:xfrm>
              <a:off x="5599112"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Sample</a:t>
              </a:r>
              <a:endParaRPr dirty="0"/>
            </a:p>
          </p:txBody>
        </p:sp>
        <p:cxnSp>
          <p:nvCxnSpPr>
            <p:cNvPr id="8" name="Straight Arrow Connector 14">
              <a:extLst>
                <a:ext uri="{FF2B5EF4-FFF2-40B4-BE49-F238E27FC236}">
                  <a16:creationId xmlns:a16="http://schemas.microsoft.com/office/drawing/2014/main" id="{DBAF7968-D172-DB4E-89A3-D8445F22DD2E}"/>
                </a:ext>
              </a:extLst>
            </p:cNvPr>
            <p:cNvCxnSpPr>
              <a:stCxn id="5" idx="6"/>
              <a:endCxn id="7" idx="2"/>
            </p:cNvCxnSpPr>
            <p:nvPr/>
          </p:nvCxnSpPr>
          <p:spPr bwMode="auto">
            <a:xfrm>
              <a:off x="4222584" y="3946524"/>
              <a:ext cx="1376528"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9" name="Oval 70">
              <a:extLst>
                <a:ext uri="{FF2B5EF4-FFF2-40B4-BE49-F238E27FC236}">
                  <a16:creationId xmlns:a16="http://schemas.microsoft.com/office/drawing/2014/main" id="{E0D70187-7001-B8D9-D6BA-98CFC99E1D32}"/>
                </a:ext>
              </a:extLst>
            </p:cNvPr>
            <p:cNvSpPr/>
            <p:nvPr/>
          </p:nvSpPr>
          <p:spPr bwMode="auto">
            <a:xfrm>
              <a:off x="7821612" y="3657600"/>
              <a:ext cx="1662626"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Posterior</a:t>
              </a:r>
              <a:endParaRPr dirty="0"/>
            </a:p>
          </p:txBody>
        </p:sp>
        <p:cxnSp>
          <p:nvCxnSpPr>
            <p:cNvPr id="10" name="Straight Arrow Connector 71">
              <a:extLst>
                <a:ext uri="{FF2B5EF4-FFF2-40B4-BE49-F238E27FC236}">
                  <a16:creationId xmlns:a16="http://schemas.microsoft.com/office/drawing/2014/main" id="{7DEBB62F-7585-B2F0-CBEA-235C51A15F79}"/>
                </a:ext>
              </a:extLst>
            </p:cNvPr>
            <p:cNvCxnSpPr>
              <a:stCxn id="7" idx="6"/>
              <a:endCxn id="9" idx="2"/>
            </p:cNvCxnSpPr>
            <p:nvPr/>
          </p:nvCxnSpPr>
          <p:spPr bwMode="auto">
            <a:xfrm>
              <a:off x="7040397" y="3946524"/>
              <a:ext cx="781215"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11" name="Oval 74">
              <a:extLst>
                <a:ext uri="{FF2B5EF4-FFF2-40B4-BE49-F238E27FC236}">
                  <a16:creationId xmlns:a16="http://schemas.microsoft.com/office/drawing/2014/main" id="{17F2C5EB-C77D-A0F6-4BC5-62D79A2AFED1}"/>
                </a:ext>
              </a:extLst>
            </p:cNvPr>
            <p:cNvSpPr/>
            <p:nvPr/>
          </p:nvSpPr>
          <p:spPr bwMode="auto">
            <a:xfrm>
              <a:off x="10196051" y="3657600"/>
              <a:ext cx="1662626"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a:t>Inference</a:t>
              </a:r>
              <a:endParaRPr/>
            </a:p>
          </p:txBody>
        </p:sp>
        <p:cxnSp>
          <p:nvCxnSpPr>
            <p:cNvPr id="12" name="Straight Arrow Connector 75">
              <a:extLst>
                <a:ext uri="{FF2B5EF4-FFF2-40B4-BE49-F238E27FC236}">
                  <a16:creationId xmlns:a16="http://schemas.microsoft.com/office/drawing/2014/main" id="{B50D5173-287B-9B1C-F873-A3A3EE2229A0}"/>
                </a:ext>
              </a:extLst>
            </p:cNvPr>
            <p:cNvCxnSpPr>
              <a:cxnSpLocks/>
              <a:stCxn id="9" idx="6"/>
              <a:endCxn id="11" idx="2"/>
            </p:cNvCxnSpPr>
            <p:nvPr/>
          </p:nvCxnSpPr>
          <p:spPr bwMode="auto">
            <a:xfrm>
              <a:off x="9484238" y="3946524"/>
              <a:ext cx="711813"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3" name="Oval 7">
              <a:extLst>
                <a:ext uri="{FF2B5EF4-FFF2-40B4-BE49-F238E27FC236}">
                  <a16:creationId xmlns:a16="http://schemas.microsoft.com/office/drawing/2014/main" id="{DEE66424-8BF7-ED3F-1D94-362C2A6C2969}"/>
                </a:ext>
              </a:extLst>
            </p:cNvPr>
            <p:cNvSpPr/>
            <p:nvPr/>
          </p:nvSpPr>
          <p:spPr bwMode="auto">
            <a:xfrm>
              <a:off x="2676922" y="4828776"/>
              <a:ext cx="1682749" cy="939799"/>
            </a:xfrm>
            <a:prstGeom prst="ellipse">
              <a:avLst/>
            </a:prstGeom>
            <a:solidFill>
              <a:schemeClr val="accent6">
                <a:lumMod val="40000"/>
                <a:lumOff val="60000"/>
              </a:schemeClr>
            </a:solidFill>
            <a:ln>
              <a:solidFill>
                <a:schemeClr val="accent6">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1600"/>
                <a:t>Prior predictive sampling</a:t>
              </a:r>
              <a:endParaRPr sz="1600"/>
            </a:p>
          </p:txBody>
        </p:sp>
        <p:cxnSp>
          <p:nvCxnSpPr>
            <p:cNvPr id="13" name="Straight Arrow Connector 8">
              <a:extLst>
                <a:ext uri="{FF2B5EF4-FFF2-40B4-BE49-F238E27FC236}">
                  <a16:creationId xmlns:a16="http://schemas.microsoft.com/office/drawing/2014/main" id="{5DEEA599-42F7-F0A9-D8C6-8D06EDCDB220}"/>
                </a:ext>
              </a:extLst>
            </p:cNvPr>
            <p:cNvCxnSpPr>
              <a:cxnSpLocks/>
              <a:endCxn id="3" idx="0"/>
            </p:cNvCxnSpPr>
            <p:nvPr/>
          </p:nvCxnSpPr>
          <p:spPr bwMode="auto">
            <a:xfrm>
              <a:off x="3518296" y="4229100"/>
              <a:ext cx="0" cy="599676"/>
            </a:xfrm>
            <a:prstGeom prst="straightConnector1">
              <a:avLst/>
            </a:prstGeom>
            <a:ln w="38100" cap="flat" cmpd="sng" algn="ctr">
              <a:solidFill>
                <a:schemeClr val="accent6">
                  <a:lumMod val="75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cxnSp>
          <p:nvCxnSpPr>
            <p:cNvPr id="14" name="Connector: Elbow 12">
              <a:extLst>
                <a:ext uri="{FF2B5EF4-FFF2-40B4-BE49-F238E27FC236}">
                  <a16:creationId xmlns:a16="http://schemas.microsoft.com/office/drawing/2014/main" id="{D96ADBF3-1A8C-E67C-B5DA-09AB06B77777}"/>
                </a:ext>
              </a:extLst>
            </p:cNvPr>
            <p:cNvCxnSpPr>
              <a:stCxn id="3" idx="2"/>
            </p:cNvCxnSpPr>
            <p:nvPr/>
          </p:nvCxnSpPr>
          <p:spPr bwMode="auto">
            <a:xfrm rot="10800000" flipH="1">
              <a:off x="2676922" y="4144478"/>
              <a:ext cx="369911" cy="1154200"/>
            </a:xfrm>
            <a:prstGeom prst="bentConnector4">
              <a:avLst>
                <a:gd name="adj1" fmla="val -93694"/>
                <a:gd name="adj2" fmla="val 58171"/>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sp>
          <p:nvSpPr>
            <p:cNvPr id="15" name="Oval 32">
              <a:extLst>
                <a:ext uri="{FF2B5EF4-FFF2-40B4-BE49-F238E27FC236}">
                  <a16:creationId xmlns:a16="http://schemas.microsoft.com/office/drawing/2014/main" id="{3F217236-EFD4-9F58-FAA5-5E2DAF85B3CC}"/>
                </a:ext>
              </a:extLst>
            </p:cNvPr>
            <p:cNvSpPr/>
            <p:nvPr/>
          </p:nvSpPr>
          <p:spPr bwMode="auto">
            <a:xfrm>
              <a:off x="5449487" y="2197895"/>
              <a:ext cx="1727996" cy="939799"/>
            </a:xfrm>
            <a:prstGeom prst="ellipse">
              <a:avLst/>
            </a:prstGeom>
            <a:solidFill>
              <a:schemeClr val="accent6">
                <a:lumMod val="40000"/>
                <a:lumOff val="60000"/>
              </a:schemeClr>
            </a:solidFill>
            <a:ln>
              <a:solidFill>
                <a:schemeClr val="accent6">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1600"/>
                <a:t>Diagnostics</a:t>
              </a:r>
              <a:endParaRPr sz="1600"/>
            </a:p>
          </p:txBody>
        </p:sp>
        <p:cxnSp>
          <p:nvCxnSpPr>
            <p:cNvPr id="16" name="Straight Arrow Connector 33">
              <a:extLst>
                <a:ext uri="{FF2B5EF4-FFF2-40B4-BE49-F238E27FC236}">
                  <a16:creationId xmlns:a16="http://schemas.microsoft.com/office/drawing/2014/main" id="{5E15FDD0-30F6-2AC5-9257-0C7F7B20ED40}"/>
                </a:ext>
              </a:extLst>
            </p:cNvPr>
            <p:cNvCxnSpPr>
              <a:cxnSpLocks/>
              <a:endCxn id="15" idx="4"/>
            </p:cNvCxnSpPr>
            <p:nvPr/>
          </p:nvCxnSpPr>
          <p:spPr bwMode="auto">
            <a:xfrm flipH="1" flipV="1">
              <a:off x="6313485" y="3137694"/>
              <a:ext cx="22623" cy="513555"/>
            </a:xfrm>
            <a:prstGeom prst="straightConnector1">
              <a:avLst/>
            </a:prstGeom>
            <a:ln w="38100" cap="flat" cmpd="sng" algn="ctr">
              <a:solidFill>
                <a:schemeClr val="accent6">
                  <a:lumMod val="75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cxnSp>
          <p:nvCxnSpPr>
            <p:cNvPr id="17" name="Connector: Elbow 36">
              <a:extLst>
                <a:ext uri="{FF2B5EF4-FFF2-40B4-BE49-F238E27FC236}">
                  <a16:creationId xmlns:a16="http://schemas.microsoft.com/office/drawing/2014/main" id="{2DD9D49A-3CB9-4F0B-DEAD-7C733992349D}"/>
                </a:ext>
              </a:extLst>
            </p:cNvPr>
            <p:cNvCxnSpPr>
              <a:cxnSpLocks/>
              <a:stCxn id="15" idx="2"/>
            </p:cNvCxnSpPr>
            <p:nvPr/>
          </p:nvCxnSpPr>
          <p:spPr bwMode="auto">
            <a:xfrm rot="10800000" flipH="1" flipV="1">
              <a:off x="5449487" y="2667794"/>
              <a:ext cx="415156" cy="1068071"/>
            </a:xfrm>
            <a:prstGeom prst="bentConnector4">
              <a:avLst>
                <a:gd name="adj1" fmla="val -55064"/>
                <a:gd name="adj2" fmla="val 71998"/>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cxnSp>
          <p:nvCxnSpPr>
            <p:cNvPr id="18" name="Connector: Elbow 39">
              <a:extLst>
                <a:ext uri="{FF2B5EF4-FFF2-40B4-BE49-F238E27FC236}">
                  <a16:creationId xmlns:a16="http://schemas.microsoft.com/office/drawing/2014/main" id="{2492463A-A1F0-7B04-06EB-700454581D05}"/>
                </a:ext>
              </a:extLst>
            </p:cNvPr>
            <p:cNvCxnSpPr>
              <a:cxnSpLocks/>
              <a:stCxn id="15" idx="2"/>
            </p:cNvCxnSpPr>
            <p:nvPr/>
          </p:nvCxnSpPr>
          <p:spPr bwMode="auto">
            <a:xfrm rot="10800000" flipV="1">
              <a:off x="3989759" y="2667794"/>
              <a:ext cx="1459728" cy="1068071"/>
            </a:xfrm>
            <a:prstGeom prst="bentConnector3">
              <a:avLst>
                <a:gd name="adj1" fmla="val 99844"/>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sp>
          <p:nvSpPr>
            <p:cNvPr id="19" name="Oval 60">
              <a:extLst>
                <a:ext uri="{FF2B5EF4-FFF2-40B4-BE49-F238E27FC236}">
                  <a16:creationId xmlns:a16="http://schemas.microsoft.com/office/drawing/2014/main" id="{691D3228-97CB-87D5-5DBC-9FE03E441E60}"/>
                </a:ext>
              </a:extLst>
            </p:cNvPr>
            <p:cNvSpPr/>
            <p:nvPr/>
          </p:nvSpPr>
          <p:spPr bwMode="auto">
            <a:xfrm>
              <a:off x="5494733" y="4676378"/>
              <a:ext cx="1682749" cy="939799"/>
            </a:xfrm>
            <a:prstGeom prst="ellipse">
              <a:avLst/>
            </a:prstGeom>
            <a:solidFill>
              <a:schemeClr val="accent6">
                <a:lumMod val="40000"/>
                <a:lumOff val="60000"/>
              </a:schemeClr>
            </a:solidFill>
            <a:ln>
              <a:solidFill>
                <a:schemeClr val="accent6">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1600"/>
                <a:t>Posterior predictive sampling</a:t>
              </a:r>
              <a:endParaRPr sz="1600"/>
            </a:p>
          </p:txBody>
        </p:sp>
        <p:cxnSp>
          <p:nvCxnSpPr>
            <p:cNvPr id="20" name="Straight Arrow Connector 63">
              <a:extLst>
                <a:ext uri="{FF2B5EF4-FFF2-40B4-BE49-F238E27FC236}">
                  <a16:creationId xmlns:a16="http://schemas.microsoft.com/office/drawing/2014/main" id="{05781EFD-0456-0AB2-0E51-B35B3F103091}"/>
                </a:ext>
              </a:extLst>
            </p:cNvPr>
            <p:cNvCxnSpPr>
              <a:endCxn id="19" idx="0"/>
            </p:cNvCxnSpPr>
            <p:nvPr/>
          </p:nvCxnSpPr>
          <p:spPr bwMode="auto">
            <a:xfrm>
              <a:off x="6336108" y="4229100"/>
              <a:ext cx="0" cy="447276"/>
            </a:xfrm>
            <a:prstGeom prst="straightConnector1">
              <a:avLst/>
            </a:prstGeom>
            <a:ln w="38100" cap="flat" cmpd="sng" algn="ctr">
              <a:solidFill>
                <a:schemeClr val="accent6">
                  <a:lumMod val="75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cxnSp>
          <p:nvCxnSpPr>
            <p:cNvPr id="21" name="Connector: Elbow 66">
              <a:extLst>
                <a:ext uri="{FF2B5EF4-FFF2-40B4-BE49-F238E27FC236}">
                  <a16:creationId xmlns:a16="http://schemas.microsoft.com/office/drawing/2014/main" id="{81FD48B6-4125-1B48-96FC-EA5C03C73FCB}"/>
                </a:ext>
              </a:extLst>
            </p:cNvPr>
            <p:cNvCxnSpPr>
              <a:stCxn id="19" idx="1"/>
            </p:cNvCxnSpPr>
            <p:nvPr/>
          </p:nvCxnSpPr>
          <p:spPr bwMode="auto">
            <a:xfrm rot="16199998" flipV="1">
              <a:off x="4530697" y="3603538"/>
              <a:ext cx="669531" cy="1751406"/>
            </a:xfrm>
            <a:prstGeom prst="bentConnector3">
              <a:avLst>
                <a:gd name="adj1" fmla="val 50000"/>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cxnSp>
          <p:nvCxnSpPr>
            <p:cNvPr id="22" name="Straight Arrow Connector 2">
              <a:extLst>
                <a:ext uri="{FF2B5EF4-FFF2-40B4-BE49-F238E27FC236}">
                  <a16:creationId xmlns:a16="http://schemas.microsoft.com/office/drawing/2014/main" id="{7C54E0AC-AE78-9AEC-178D-6846DF82C814}"/>
                </a:ext>
              </a:extLst>
            </p:cNvPr>
            <p:cNvCxnSpPr/>
            <p:nvPr/>
          </p:nvCxnSpPr>
          <p:spPr bwMode="auto">
            <a:xfrm rot="16199998" flipV="1">
              <a:off x="6089650" y="1079897"/>
              <a:ext cx="12699" cy="5142705"/>
            </a:xfrm>
            <a:prstGeom prst="bentConnector3">
              <a:avLst>
                <a:gd name="adj1" fmla="val 14947287"/>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grpSp>
    </p:spTree>
    <p:extLst>
      <p:ext uri="{BB962C8B-B14F-4D97-AF65-F5344CB8AC3E}">
        <p14:creationId xmlns:p14="http://schemas.microsoft.com/office/powerpoint/2010/main" val="4234655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C46D6-115F-25BD-AD10-F846BDCFF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2A9C8-D79A-7A6D-01CF-4E5A0572AAC0}"/>
              </a:ext>
            </a:extLst>
          </p:cNvPr>
          <p:cNvSpPr>
            <a:spLocks noGrp="1"/>
          </p:cNvSpPr>
          <p:nvPr>
            <p:ph type="title"/>
          </p:nvPr>
        </p:nvSpPr>
        <p:spPr/>
        <p:txBody>
          <a:bodyPr/>
          <a:lstStyle/>
          <a:p>
            <a:pPr algn="l" rtl="0"/>
            <a:r>
              <a:rPr lang="en-US" dirty="0">
                <a:latin typeface="David" panose="020E0502060401010101" pitchFamily="34" charset="-79"/>
                <a:ea typeface="Source Sans Pro"/>
                <a:cs typeface="David" panose="020E0502060401010101" pitchFamily="34" charset="-79"/>
              </a:rPr>
              <a:t>Bayesian workflow</a:t>
            </a:r>
            <a:endParaRPr lang="he-IL" dirty="0">
              <a:latin typeface="David" panose="020E0502060401010101" pitchFamily="34" charset="-79"/>
              <a:cs typeface="David" panose="020E0502060401010101" pitchFamily="34" charset="-79"/>
            </a:endParaRPr>
          </a:p>
        </p:txBody>
      </p:sp>
      <p:grpSp>
        <p:nvGrpSpPr>
          <p:cNvPr id="26" name="Group 25">
            <a:extLst>
              <a:ext uri="{FF2B5EF4-FFF2-40B4-BE49-F238E27FC236}">
                <a16:creationId xmlns:a16="http://schemas.microsoft.com/office/drawing/2014/main" id="{8761E328-EB8B-6798-53E8-11494A14104A}"/>
              </a:ext>
            </a:extLst>
          </p:cNvPr>
          <p:cNvGrpSpPr/>
          <p:nvPr/>
        </p:nvGrpSpPr>
        <p:grpSpPr>
          <a:xfrm>
            <a:off x="387348" y="1888488"/>
            <a:ext cx="11471329" cy="4248008"/>
            <a:chOff x="387348" y="1888488"/>
            <a:chExt cx="11471329" cy="4248008"/>
          </a:xfrm>
        </p:grpSpPr>
        <p:sp>
          <p:nvSpPr>
            <p:cNvPr id="4" name="Oval 3">
              <a:extLst>
                <a:ext uri="{FF2B5EF4-FFF2-40B4-BE49-F238E27FC236}">
                  <a16:creationId xmlns:a16="http://schemas.microsoft.com/office/drawing/2014/main" id="{89F3138E-3000-7A84-BBDA-871730B196A6}"/>
                </a:ext>
              </a:extLst>
            </p:cNvPr>
            <p:cNvSpPr/>
            <p:nvPr/>
          </p:nvSpPr>
          <p:spPr bwMode="auto">
            <a:xfrm>
              <a:off x="387348"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Data</a:t>
              </a:r>
              <a:endParaRPr dirty="0"/>
            </a:p>
          </p:txBody>
        </p:sp>
        <p:sp>
          <p:nvSpPr>
            <p:cNvPr id="5" name="Oval 4">
              <a:extLst>
                <a:ext uri="{FF2B5EF4-FFF2-40B4-BE49-F238E27FC236}">
                  <a16:creationId xmlns:a16="http://schemas.microsoft.com/office/drawing/2014/main" id="{721C609B-283A-CF1B-73FB-C596675343E4}"/>
                </a:ext>
              </a:extLst>
            </p:cNvPr>
            <p:cNvSpPr/>
            <p:nvPr/>
          </p:nvSpPr>
          <p:spPr bwMode="auto">
            <a:xfrm>
              <a:off x="2781299"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Model</a:t>
              </a:r>
              <a:endParaRPr dirty="0"/>
            </a:p>
          </p:txBody>
        </p:sp>
        <p:cxnSp>
          <p:nvCxnSpPr>
            <p:cNvPr id="6" name="Straight Arrow Connector 6">
              <a:extLst>
                <a:ext uri="{FF2B5EF4-FFF2-40B4-BE49-F238E27FC236}">
                  <a16:creationId xmlns:a16="http://schemas.microsoft.com/office/drawing/2014/main" id="{C1142832-DE4D-7914-3B95-3F5F7E287E56}"/>
                </a:ext>
              </a:extLst>
            </p:cNvPr>
            <p:cNvCxnSpPr>
              <a:stCxn id="4" idx="6"/>
              <a:endCxn id="5" idx="2"/>
            </p:cNvCxnSpPr>
            <p:nvPr/>
          </p:nvCxnSpPr>
          <p:spPr bwMode="auto">
            <a:xfrm>
              <a:off x="1828633" y="3946524"/>
              <a:ext cx="952666"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7" name="Oval 13">
              <a:extLst>
                <a:ext uri="{FF2B5EF4-FFF2-40B4-BE49-F238E27FC236}">
                  <a16:creationId xmlns:a16="http://schemas.microsoft.com/office/drawing/2014/main" id="{04C1F25F-8C1D-1BB3-7DBA-0EB4DF4379D5}"/>
                </a:ext>
              </a:extLst>
            </p:cNvPr>
            <p:cNvSpPr/>
            <p:nvPr/>
          </p:nvSpPr>
          <p:spPr bwMode="auto">
            <a:xfrm>
              <a:off x="5599112"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Sample</a:t>
              </a:r>
              <a:endParaRPr dirty="0"/>
            </a:p>
          </p:txBody>
        </p:sp>
        <p:cxnSp>
          <p:nvCxnSpPr>
            <p:cNvPr id="8" name="Straight Arrow Connector 14">
              <a:extLst>
                <a:ext uri="{FF2B5EF4-FFF2-40B4-BE49-F238E27FC236}">
                  <a16:creationId xmlns:a16="http://schemas.microsoft.com/office/drawing/2014/main" id="{BB431ED0-1248-DDF2-E659-EE956839A033}"/>
                </a:ext>
              </a:extLst>
            </p:cNvPr>
            <p:cNvCxnSpPr>
              <a:stCxn id="5" idx="6"/>
              <a:endCxn id="7" idx="2"/>
            </p:cNvCxnSpPr>
            <p:nvPr/>
          </p:nvCxnSpPr>
          <p:spPr bwMode="auto">
            <a:xfrm>
              <a:off x="4222584" y="3946524"/>
              <a:ext cx="1376528"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9" name="Oval 70">
              <a:extLst>
                <a:ext uri="{FF2B5EF4-FFF2-40B4-BE49-F238E27FC236}">
                  <a16:creationId xmlns:a16="http://schemas.microsoft.com/office/drawing/2014/main" id="{AA76218E-A830-A069-B853-12C3C77E4DCD}"/>
                </a:ext>
              </a:extLst>
            </p:cNvPr>
            <p:cNvSpPr/>
            <p:nvPr/>
          </p:nvSpPr>
          <p:spPr bwMode="auto">
            <a:xfrm>
              <a:off x="7821612" y="3657600"/>
              <a:ext cx="1662626"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dirty="0"/>
                <a:t>Posterior</a:t>
              </a:r>
              <a:endParaRPr dirty="0"/>
            </a:p>
          </p:txBody>
        </p:sp>
        <p:cxnSp>
          <p:nvCxnSpPr>
            <p:cNvPr id="10" name="Straight Arrow Connector 71">
              <a:extLst>
                <a:ext uri="{FF2B5EF4-FFF2-40B4-BE49-F238E27FC236}">
                  <a16:creationId xmlns:a16="http://schemas.microsoft.com/office/drawing/2014/main" id="{CB27B611-3835-FBC1-402E-8BBB8928F5F0}"/>
                </a:ext>
              </a:extLst>
            </p:cNvPr>
            <p:cNvCxnSpPr>
              <a:stCxn id="7" idx="6"/>
              <a:endCxn id="9" idx="2"/>
            </p:cNvCxnSpPr>
            <p:nvPr/>
          </p:nvCxnSpPr>
          <p:spPr bwMode="auto">
            <a:xfrm>
              <a:off x="7040397" y="3946524"/>
              <a:ext cx="781215"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11" name="Oval 74">
              <a:extLst>
                <a:ext uri="{FF2B5EF4-FFF2-40B4-BE49-F238E27FC236}">
                  <a16:creationId xmlns:a16="http://schemas.microsoft.com/office/drawing/2014/main" id="{50B7C1B5-9E5A-97F0-0113-BAE9F5A7BF8B}"/>
                </a:ext>
              </a:extLst>
            </p:cNvPr>
            <p:cNvSpPr/>
            <p:nvPr/>
          </p:nvSpPr>
          <p:spPr bwMode="auto">
            <a:xfrm>
              <a:off x="10196051" y="3657600"/>
              <a:ext cx="1662626"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a:t>Inference</a:t>
              </a:r>
              <a:endParaRPr/>
            </a:p>
          </p:txBody>
        </p:sp>
        <p:cxnSp>
          <p:nvCxnSpPr>
            <p:cNvPr id="12" name="Straight Arrow Connector 75">
              <a:extLst>
                <a:ext uri="{FF2B5EF4-FFF2-40B4-BE49-F238E27FC236}">
                  <a16:creationId xmlns:a16="http://schemas.microsoft.com/office/drawing/2014/main" id="{121A7EEB-6E65-175B-AB91-E5CD1DC218F5}"/>
                </a:ext>
              </a:extLst>
            </p:cNvPr>
            <p:cNvCxnSpPr>
              <a:cxnSpLocks/>
              <a:stCxn id="9" idx="6"/>
              <a:endCxn id="11" idx="2"/>
            </p:cNvCxnSpPr>
            <p:nvPr/>
          </p:nvCxnSpPr>
          <p:spPr bwMode="auto">
            <a:xfrm>
              <a:off x="9484238" y="3946524"/>
              <a:ext cx="711813"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3" name="Oval 7">
              <a:extLst>
                <a:ext uri="{FF2B5EF4-FFF2-40B4-BE49-F238E27FC236}">
                  <a16:creationId xmlns:a16="http://schemas.microsoft.com/office/drawing/2014/main" id="{C4F24F2C-E97A-667D-44A6-91E0E7953778}"/>
                </a:ext>
              </a:extLst>
            </p:cNvPr>
            <p:cNvSpPr/>
            <p:nvPr/>
          </p:nvSpPr>
          <p:spPr bwMode="auto">
            <a:xfrm>
              <a:off x="2676922" y="4828776"/>
              <a:ext cx="1682749" cy="939799"/>
            </a:xfrm>
            <a:prstGeom prst="ellipse">
              <a:avLst/>
            </a:prstGeom>
            <a:solidFill>
              <a:schemeClr val="accent6">
                <a:lumMod val="40000"/>
                <a:lumOff val="60000"/>
              </a:schemeClr>
            </a:solidFill>
            <a:ln>
              <a:solidFill>
                <a:schemeClr val="accent6">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1600"/>
                <a:t>Prior predictive sampling</a:t>
              </a:r>
              <a:endParaRPr sz="1600"/>
            </a:p>
          </p:txBody>
        </p:sp>
        <p:cxnSp>
          <p:nvCxnSpPr>
            <p:cNvPr id="13" name="Straight Arrow Connector 8">
              <a:extLst>
                <a:ext uri="{FF2B5EF4-FFF2-40B4-BE49-F238E27FC236}">
                  <a16:creationId xmlns:a16="http://schemas.microsoft.com/office/drawing/2014/main" id="{C41C6DD6-45F7-971E-5DB7-09A765EF1576}"/>
                </a:ext>
              </a:extLst>
            </p:cNvPr>
            <p:cNvCxnSpPr>
              <a:cxnSpLocks/>
              <a:endCxn id="3" idx="0"/>
            </p:cNvCxnSpPr>
            <p:nvPr/>
          </p:nvCxnSpPr>
          <p:spPr bwMode="auto">
            <a:xfrm>
              <a:off x="3518296" y="4229100"/>
              <a:ext cx="0" cy="599676"/>
            </a:xfrm>
            <a:prstGeom prst="straightConnector1">
              <a:avLst/>
            </a:prstGeom>
            <a:ln w="38100" cap="flat" cmpd="sng" algn="ctr">
              <a:solidFill>
                <a:schemeClr val="accent6">
                  <a:lumMod val="75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cxnSp>
          <p:nvCxnSpPr>
            <p:cNvPr id="14" name="Connector: Elbow 12">
              <a:extLst>
                <a:ext uri="{FF2B5EF4-FFF2-40B4-BE49-F238E27FC236}">
                  <a16:creationId xmlns:a16="http://schemas.microsoft.com/office/drawing/2014/main" id="{895675F6-863A-9DB0-B031-CE9BB3AEA195}"/>
                </a:ext>
              </a:extLst>
            </p:cNvPr>
            <p:cNvCxnSpPr>
              <a:stCxn id="3" idx="2"/>
            </p:cNvCxnSpPr>
            <p:nvPr/>
          </p:nvCxnSpPr>
          <p:spPr bwMode="auto">
            <a:xfrm rot="10800000" flipH="1">
              <a:off x="2676922" y="4144478"/>
              <a:ext cx="369911" cy="1154200"/>
            </a:xfrm>
            <a:prstGeom prst="bentConnector4">
              <a:avLst>
                <a:gd name="adj1" fmla="val -93694"/>
                <a:gd name="adj2" fmla="val 58171"/>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sp>
          <p:nvSpPr>
            <p:cNvPr id="15" name="Oval 32">
              <a:extLst>
                <a:ext uri="{FF2B5EF4-FFF2-40B4-BE49-F238E27FC236}">
                  <a16:creationId xmlns:a16="http://schemas.microsoft.com/office/drawing/2014/main" id="{A8959CE0-38CA-5523-E640-B427D1865763}"/>
                </a:ext>
              </a:extLst>
            </p:cNvPr>
            <p:cNvSpPr/>
            <p:nvPr/>
          </p:nvSpPr>
          <p:spPr bwMode="auto">
            <a:xfrm>
              <a:off x="5449487" y="2197895"/>
              <a:ext cx="1727996" cy="939799"/>
            </a:xfrm>
            <a:prstGeom prst="ellipse">
              <a:avLst/>
            </a:prstGeom>
            <a:solidFill>
              <a:schemeClr val="accent6">
                <a:lumMod val="40000"/>
                <a:lumOff val="60000"/>
              </a:schemeClr>
            </a:solidFill>
            <a:ln>
              <a:solidFill>
                <a:schemeClr val="accent6">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1600"/>
                <a:t>Diagnostics</a:t>
              </a:r>
              <a:endParaRPr sz="1600"/>
            </a:p>
          </p:txBody>
        </p:sp>
        <p:cxnSp>
          <p:nvCxnSpPr>
            <p:cNvPr id="16" name="Straight Arrow Connector 33">
              <a:extLst>
                <a:ext uri="{FF2B5EF4-FFF2-40B4-BE49-F238E27FC236}">
                  <a16:creationId xmlns:a16="http://schemas.microsoft.com/office/drawing/2014/main" id="{CDA84073-D7AE-3AAF-00EF-3D8A29F1C5F6}"/>
                </a:ext>
              </a:extLst>
            </p:cNvPr>
            <p:cNvCxnSpPr>
              <a:cxnSpLocks/>
              <a:endCxn id="15" idx="4"/>
            </p:cNvCxnSpPr>
            <p:nvPr/>
          </p:nvCxnSpPr>
          <p:spPr bwMode="auto">
            <a:xfrm flipH="1" flipV="1">
              <a:off x="6313485" y="3137694"/>
              <a:ext cx="22623" cy="513555"/>
            </a:xfrm>
            <a:prstGeom prst="straightConnector1">
              <a:avLst/>
            </a:prstGeom>
            <a:ln w="38100" cap="flat" cmpd="sng" algn="ctr">
              <a:solidFill>
                <a:schemeClr val="accent6">
                  <a:lumMod val="75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cxnSp>
          <p:nvCxnSpPr>
            <p:cNvPr id="17" name="Connector: Elbow 36">
              <a:extLst>
                <a:ext uri="{FF2B5EF4-FFF2-40B4-BE49-F238E27FC236}">
                  <a16:creationId xmlns:a16="http://schemas.microsoft.com/office/drawing/2014/main" id="{FBADBC26-172F-AE5A-3F69-5CEEA3A6ACD4}"/>
                </a:ext>
              </a:extLst>
            </p:cNvPr>
            <p:cNvCxnSpPr>
              <a:cxnSpLocks/>
              <a:stCxn id="15" idx="2"/>
            </p:cNvCxnSpPr>
            <p:nvPr/>
          </p:nvCxnSpPr>
          <p:spPr bwMode="auto">
            <a:xfrm rot="10800000" flipH="1" flipV="1">
              <a:off x="5449487" y="2667794"/>
              <a:ext cx="415156" cy="1068071"/>
            </a:xfrm>
            <a:prstGeom prst="bentConnector4">
              <a:avLst>
                <a:gd name="adj1" fmla="val -55064"/>
                <a:gd name="adj2" fmla="val 71998"/>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cxnSp>
          <p:nvCxnSpPr>
            <p:cNvPr id="18" name="Connector: Elbow 39">
              <a:extLst>
                <a:ext uri="{FF2B5EF4-FFF2-40B4-BE49-F238E27FC236}">
                  <a16:creationId xmlns:a16="http://schemas.microsoft.com/office/drawing/2014/main" id="{8968F777-AC7E-AF8C-5308-7DA4DB1A0212}"/>
                </a:ext>
              </a:extLst>
            </p:cNvPr>
            <p:cNvCxnSpPr>
              <a:cxnSpLocks/>
              <a:stCxn id="15" idx="2"/>
            </p:cNvCxnSpPr>
            <p:nvPr/>
          </p:nvCxnSpPr>
          <p:spPr bwMode="auto">
            <a:xfrm rot="10800000" flipV="1">
              <a:off x="3989759" y="2667794"/>
              <a:ext cx="1459728" cy="1068071"/>
            </a:xfrm>
            <a:prstGeom prst="bentConnector3">
              <a:avLst>
                <a:gd name="adj1" fmla="val 99844"/>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sp>
          <p:nvSpPr>
            <p:cNvPr id="19" name="Oval 60">
              <a:extLst>
                <a:ext uri="{FF2B5EF4-FFF2-40B4-BE49-F238E27FC236}">
                  <a16:creationId xmlns:a16="http://schemas.microsoft.com/office/drawing/2014/main" id="{96002CCB-2FE6-6C08-4B44-C7D6BC9EB9E3}"/>
                </a:ext>
              </a:extLst>
            </p:cNvPr>
            <p:cNvSpPr/>
            <p:nvPr/>
          </p:nvSpPr>
          <p:spPr bwMode="auto">
            <a:xfrm>
              <a:off x="5494733" y="4676378"/>
              <a:ext cx="1682749" cy="939799"/>
            </a:xfrm>
            <a:prstGeom prst="ellipse">
              <a:avLst/>
            </a:prstGeom>
            <a:solidFill>
              <a:schemeClr val="accent6">
                <a:lumMod val="40000"/>
                <a:lumOff val="60000"/>
              </a:schemeClr>
            </a:solidFill>
            <a:ln>
              <a:solidFill>
                <a:schemeClr val="accent6">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1600"/>
                <a:t>Posterior predictive sampling</a:t>
              </a:r>
              <a:endParaRPr sz="1600"/>
            </a:p>
          </p:txBody>
        </p:sp>
        <p:cxnSp>
          <p:nvCxnSpPr>
            <p:cNvPr id="20" name="Straight Arrow Connector 63">
              <a:extLst>
                <a:ext uri="{FF2B5EF4-FFF2-40B4-BE49-F238E27FC236}">
                  <a16:creationId xmlns:a16="http://schemas.microsoft.com/office/drawing/2014/main" id="{215EBE59-9035-C919-02E1-ED53D2C60CA5}"/>
                </a:ext>
              </a:extLst>
            </p:cNvPr>
            <p:cNvCxnSpPr>
              <a:endCxn id="19" idx="0"/>
            </p:cNvCxnSpPr>
            <p:nvPr/>
          </p:nvCxnSpPr>
          <p:spPr bwMode="auto">
            <a:xfrm>
              <a:off x="6336108" y="4229100"/>
              <a:ext cx="0" cy="447276"/>
            </a:xfrm>
            <a:prstGeom prst="straightConnector1">
              <a:avLst/>
            </a:prstGeom>
            <a:ln w="38100" cap="flat" cmpd="sng" algn="ctr">
              <a:solidFill>
                <a:schemeClr val="accent6">
                  <a:lumMod val="75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cxnSp>
          <p:nvCxnSpPr>
            <p:cNvPr id="21" name="Connector: Elbow 66">
              <a:extLst>
                <a:ext uri="{FF2B5EF4-FFF2-40B4-BE49-F238E27FC236}">
                  <a16:creationId xmlns:a16="http://schemas.microsoft.com/office/drawing/2014/main" id="{3336D218-1853-05B1-7D4D-3270F78E4B46}"/>
                </a:ext>
              </a:extLst>
            </p:cNvPr>
            <p:cNvCxnSpPr>
              <a:stCxn id="19" idx="1"/>
            </p:cNvCxnSpPr>
            <p:nvPr/>
          </p:nvCxnSpPr>
          <p:spPr bwMode="auto">
            <a:xfrm rot="16199998" flipV="1">
              <a:off x="4530697" y="3603538"/>
              <a:ext cx="669531" cy="1751406"/>
            </a:xfrm>
            <a:prstGeom prst="bentConnector3">
              <a:avLst>
                <a:gd name="adj1" fmla="val 50000"/>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cxnSp>
          <p:nvCxnSpPr>
            <p:cNvPr id="22" name="Straight Arrow Connector 2">
              <a:extLst>
                <a:ext uri="{FF2B5EF4-FFF2-40B4-BE49-F238E27FC236}">
                  <a16:creationId xmlns:a16="http://schemas.microsoft.com/office/drawing/2014/main" id="{452D6FD5-B142-40B2-7F36-7F4A15F3E379}"/>
                </a:ext>
              </a:extLst>
            </p:cNvPr>
            <p:cNvCxnSpPr/>
            <p:nvPr/>
          </p:nvCxnSpPr>
          <p:spPr bwMode="auto">
            <a:xfrm rot="16199998" flipV="1">
              <a:off x="6089650" y="1079897"/>
              <a:ext cx="12699" cy="5142705"/>
            </a:xfrm>
            <a:prstGeom prst="bentConnector3">
              <a:avLst>
                <a:gd name="adj1" fmla="val 14947287"/>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23" name="TextBox 2">
              <a:extLst>
                <a:ext uri="{FF2B5EF4-FFF2-40B4-BE49-F238E27FC236}">
                  <a16:creationId xmlns:a16="http://schemas.microsoft.com/office/drawing/2014/main" id="{A2AFA17F-5885-56B7-6F9E-0E61C07F2FCD}"/>
                </a:ext>
              </a:extLst>
            </p:cNvPr>
            <p:cNvSpPr txBox="1"/>
            <p:nvPr/>
          </p:nvSpPr>
          <p:spPr bwMode="auto">
            <a:xfrm>
              <a:off x="2638819" y="5767164"/>
              <a:ext cx="1834156" cy="369332"/>
            </a:xfrm>
            <a:prstGeom prst="rect">
              <a:avLst/>
            </a:prstGeom>
            <a:noFill/>
          </p:spPr>
          <p:txBody>
            <a:bodyPr wrap="none" rtlCol="0">
              <a:spAutoFit/>
            </a:bodyPr>
            <a:lstStyle/>
            <a:p>
              <a:pPr>
                <a:defRPr/>
              </a:pPr>
              <a:r>
                <a:rPr lang="en-US">
                  <a:solidFill>
                    <a:srgbClr val="FF0000"/>
                  </a:solidFill>
                </a:rPr>
                <a:t>Model coherence</a:t>
              </a:r>
              <a:endParaRPr>
                <a:solidFill>
                  <a:srgbClr val="FF0000"/>
                </a:solidFill>
              </a:endParaRPr>
            </a:p>
          </p:txBody>
        </p:sp>
        <p:sp>
          <p:nvSpPr>
            <p:cNvPr id="24" name="TextBox 3">
              <a:extLst>
                <a:ext uri="{FF2B5EF4-FFF2-40B4-BE49-F238E27FC236}">
                  <a16:creationId xmlns:a16="http://schemas.microsoft.com/office/drawing/2014/main" id="{77EC2B39-76D3-009D-F0C6-5D2879E98C39}"/>
                </a:ext>
              </a:extLst>
            </p:cNvPr>
            <p:cNvSpPr txBox="1"/>
            <p:nvPr/>
          </p:nvSpPr>
          <p:spPr bwMode="auto">
            <a:xfrm>
              <a:off x="5449486" y="1888488"/>
              <a:ext cx="1773242" cy="369332"/>
            </a:xfrm>
            <a:prstGeom prst="rect">
              <a:avLst/>
            </a:prstGeom>
            <a:noFill/>
          </p:spPr>
          <p:txBody>
            <a:bodyPr wrap="none" rtlCol="0">
              <a:spAutoFit/>
            </a:bodyPr>
            <a:lstStyle/>
            <a:p>
              <a:pPr>
                <a:defRPr/>
              </a:pPr>
              <a:r>
                <a:rPr lang="en-US">
                  <a:solidFill>
                    <a:srgbClr val="FF0000"/>
                  </a:solidFill>
                </a:rPr>
                <a:t>Sampling validity</a:t>
              </a:r>
              <a:endParaRPr>
                <a:solidFill>
                  <a:srgbClr val="FF0000"/>
                </a:solidFill>
              </a:endParaRPr>
            </a:p>
          </p:txBody>
        </p:sp>
        <p:sp>
          <p:nvSpPr>
            <p:cNvPr id="25" name="TextBox 4">
              <a:extLst>
                <a:ext uri="{FF2B5EF4-FFF2-40B4-BE49-F238E27FC236}">
                  <a16:creationId xmlns:a16="http://schemas.microsoft.com/office/drawing/2014/main" id="{1080E281-C5EE-8305-4EBE-B0DE0FFB4F8E}"/>
                </a:ext>
              </a:extLst>
            </p:cNvPr>
            <p:cNvSpPr txBox="1"/>
            <p:nvPr/>
          </p:nvSpPr>
          <p:spPr bwMode="auto">
            <a:xfrm>
              <a:off x="5862129" y="5767164"/>
              <a:ext cx="1047082" cy="369332"/>
            </a:xfrm>
            <a:prstGeom prst="rect">
              <a:avLst/>
            </a:prstGeom>
            <a:noFill/>
          </p:spPr>
          <p:txBody>
            <a:bodyPr wrap="none" rtlCol="0">
              <a:spAutoFit/>
            </a:bodyPr>
            <a:lstStyle/>
            <a:p>
              <a:pPr>
                <a:defRPr/>
              </a:pPr>
              <a:r>
                <a:rPr lang="en-US" dirty="0">
                  <a:solidFill>
                    <a:srgbClr val="FF0000"/>
                  </a:solidFill>
                </a:rPr>
                <a:t>Model fit</a:t>
              </a:r>
              <a:endParaRPr dirty="0">
                <a:solidFill>
                  <a:srgbClr val="FF0000"/>
                </a:solidFill>
              </a:endParaRPr>
            </a:p>
          </p:txBody>
        </p:sp>
      </p:grpSp>
    </p:spTree>
    <p:extLst>
      <p:ext uri="{BB962C8B-B14F-4D97-AF65-F5344CB8AC3E}">
        <p14:creationId xmlns:p14="http://schemas.microsoft.com/office/powerpoint/2010/main" val="2088332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AFF6E-97AF-5846-A4F5-06196B77F34C}"/>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D9E4EDB-F722-A8CB-5D44-A04C8ECA8A99}"/>
              </a:ext>
            </a:extLst>
          </p:cNvPr>
          <p:cNvSpPr>
            <a:spLocks noGrp="1"/>
          </p:cNvSpPr>
          <p:nvPr>
            <p:ph type="title"/>
          </p:nvPr>
        </p:nvSpPr>
        <p:spPr/>
        <p:txBody>
          <a:bodyPr/>
          <a:lstStyle/>
          <a:p>
            <a:pPr algn="l" rtl="0"/>
            <a:r>
              <a:rPr lang="en-US" dirty="0">
                <a:ea typeface="Source Sans Pro"/>
                <a:cs typeface="David" panose="020E0502060401010101" pitchFamily="34" charset="-79"/>
              </a:rPr>
              <a:t>Bayesian workflow</a:t>
            </a:r>
            <a:endParaRPr lang="he-IL" dirty="0"/>
          </a:p>
        </p:txBody>
      </p:sp>
      <p:sp>
        <p:nvSpPr>
          <p:cNvPr id="3" name="Content Placeholder 2">
            <a:extLst>
              <a:ext uri="{FF2B5EF4-FFF2-40B4-BE49-F238E27FC236}">
                <a16:creationId xmlns:a16="http://schemas.microsoft.com/office/drawing/2014/main" id="{E9307D8E-50AA-A6D6-85FF-54B5B3E800E3}"/>
              </a:ext>
            </a:extLst>
          </p:cNvPr>
          <p:cNvSpPr>
            <a:spLocks noGrp="1"/>
          </p:cNvSpPr>
          <p:nvPr>
            <p:ph idx="1"/>
          </p:nvPr>
        </p:nvSpPr>
        <p:spPr/>
        <p:txBody>
          <a:bodyPr>
            <a:normAutofit/>
          </a:bodyPr>
          <a:lstStyle/>
          <a:p>
            <a:pPr algn="l" rtl="0"/>
            <a:r>
              <a:rPr lang="en-US" sz="2000" b="1" dirty="0"/>
              <a:t>Prior predictive sampling </a:t>
            </a:r>
            <a:r>
              <a:rPr lang="en-US" sz="2000" dirty="0"/>
              <a:t>- simulating parameters from the prior and data from the likelihood before fitting the model.</a:t>
            </a:r>
          </a:p>
          <a:p>
            <a:pPr algn="l" rtl="0"/>
            <a:r>
              <a:rPr lang="en-US" sz="2000" b="1" dirty="0"/>
              <a:t>Sampling validity </a:t>
            </a:r>
            <a:r>
              <a:rPr lang="en-US" sz="2000" dirty="0"/>
              <a:t>- whether the algorithm actually sampled from the posterior distribution. </a:t>
            </a:r>
          </a:p>
          <a:p>
            <a:pPr algn="l" rtl="0"/>
            <a:r>
              <a:rPr lang="en-US" sz="2000" b="1" dirty="0"/>
              <a:t>Model fit </a:t>
            </a:r>
            <a:r>
              <a:rPr lang="en-US" sz="2000" dirty="0"/>
              <a:t>- whether the fitted model can generate data resembling the observed data.</a:t>
            </a:r>
          </a:p>
          <a:p>
            <a:pPr algn="l" rtl="0"/>
            <a:r>
              <a:rPr lang="en-US" sz="2000" b="1" dirty="0"/>
              <a:t>Posterior predictive sampling </a:t>
            </a:r>
            <a:r>
              <a:rPr lang="en-US" sz="2000" dirty="0"/>
              <a:t>- simulating new data from parameter values drawn from the posterior. </a:t>
            </a:r>
          </a:p>
          <a:p>
            <a:pPr algn="l" rtl="0"/>
            <a:r>
              <a:rPr lang="en-US" sz="2000" b="1" dirty="0"/>
              <a:t>Iterative workflow </a:t>
            </a:r>
            <a:r>
              <a:rPr lang="en-US" sz="2000" dirty="0"/>
              <a:t>- the process of revising data procedures, priors, models, parameterizations, or sampler settings when checks fail. </a:t>
            </a:r>
            <a:endParaRPr lang="he-IL" sz="2000" dirty="0"/>
          </a:p>
        </p:txBody>
      </p:sp>
      <p:grpSp>
        <p:nvGrpSpPr>
          <p:cNvPr id="4" name="Group 3">
            <a:extLst>
              <a:ext uri="{FF2B5EF4-FFF2-40B4-BE49-F238E27FC236}">
                <a16:creationId xmlns:a16="http://schemas.microsoft.com/office/drawing/2014/main" id="{160E4A2B-6375-7257-72F5-C7864D46CDF8}"/>
              </a:ext>
            </a:extLst>
          </p:cNvPr>
          <p:cNvGrpSpPr/>
          <p:nvPr/>
        </p:nvGrpSpPr>
        <p:grpSpPr>
          <a:xfrm>
            <a:off x="4750028" y="4547336"/>
            <a:ext cx="6993953" cy="2206004"/>
            <a:chOff x="387348" y="1756966"/>
            <a:chExt cx="11471329" cy="4536211"/>
          </a:xfrm>
        </p:grpSpPr>
        <p:sp>
          <p:nvSpPr>
            <p:cNvPr id="5" name="Oval 4">
              <a:extLst>
                <a:ext uri="{FF2B5EF4-FFF2-40B4-BE49-F238E27FC236}">
                  <a16:creationId xmlns:a16="http://schemas.microsoft.com/office/drawing/2014/main" id="{33B4711D-07A5-EBF9-CC8C-F6D198E65DFE}"/>
                </a:ext>
              </a:extLst>
            </p:cNvPr>
            <p:cNvSpPr/>
            <p:nvPr/>
          </p:nvSpPr>
          <p:spPr bwMode="auto">
            <a:xfrm>
              <a:off x="387348"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900" dirty="0"/>
                <a:t>Data</a:t>
              </a:r>
              <a:endParaRPr sz="900" dirty="0"/>
            </a:p>
          </p:txBody>
        </p:sp>
        <p:sp>
          <p:nvSpPr>
            <p:cNvPr id="6" name="Oval 5">
              <a:extLst>
                <a:ext uri="{FF2B5EF4-FFF2-40B4-BE49-F238E27FC236}">
                  <a16:creationId xmlns:a16="http://schemas.microsoft.com/office/drawing/2014/main" id="{0FA28191-A9EB-5C23-17C8-BE181FEE861E}"/>
                </a:ext>
              </a:extLst>
            </p:cNvPr>
            <p:cNvSpPr/>
            <p:nvPr/>
          </p:nvSpPr>
          <p:spPr bwMode="auto">
            <a:xfrm>
              <a:off x="2781299"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900" dirty="0"/>
                <a:t>Model</a:t>
              </a:r>
              <a:endParaRPr sz="900" dirty="0"/>
            </a:p>
          </p:txBody>
        </p:sp>
        <p:cxnSp>
          <p:nvCxnSpPr>
            <p:cNvPr id="7" name="Straight Arrow Connector 6">
              <a:extLst>
                <a:ext uri="{FF2B5EF4-FFF2-40B4-BE49-F238E27FC236}">
                  <a16:creationId xmlns:a16="http://schemas.microsoft.com/office/drawing/2014/main" id="{4E395015-FFCC-3310-2DBF-5C5509BE99A4}"/>
                </a:ext>
              </a:extLst>
            </p:cNvPr>
            <p:cNvCxnSpPr>
              <a:stCxn id="5" idx="6"/>
              <a:endCxn id="6" idx="2"/>
            </p:cNvCxnSpPr>
            <p:nvPr/>
          </p:nvCxnSpPr>
          <p:spPr bwMode="auto">
            <a:xfrm>
              <a:off x="1828633" y="3946524"/>
              <a:ext cx="952666"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9" name="Oval 13">
              <a:extLst>
                <a:ext uri="{FF2B5EF4-FFF2-40B4-BE49-F238E27FC236}">
                  <a16:creationId xmlns:a16="http://schemas.microsoft.com/office/drawing/2014/main" id="{D56D815B-D53D-6837-B250-2B4085F317AE}"/>
                </a:ext>
              </a:extLst>
            </p:cNvPr>
            <p:cNvSpPr/>
            <p:nvPr/>
          </p:nvSpPr>
          <p:spPr bwMode="auto">
            <a:xfrm>
              <a:off x="5599112" y="3657600"/>
              <a:ext cx="1441285"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900" dirty="0"/>
                <a:t>Sample</a:t>
              </a:r>
              <a:endParaRPr sz="900" dirty="0"/>
            </a:p>
          </p:txBody>
        </p:sp>
        <p:cxnSp>
          <p:nvCxnSpPr>
            <p:cNvPr id="10" name="Straight Arrow Connector 14">
              <a:extLst>
                <a:ext uri="{FF2B5EF4-FFF2-40B4-BE49-F238E27FC236}">
                  <a16:creationId xmlns:a16="http://schemas.microsoft.com/office/drawing/2014/main" id="{95C07AD2-29C8-066F-A4EF-046FBAB0FEAD}"/>
                </a:ext>
              </a:extLst>
            </p:cNvPr>
            <p:cNvCxnSpPr>
              <a:stCxn id="6" idx="6"/>
              <a:endCxn id="9" idx="2"/>
            </p:cNvCxnSpPr>
            <p:nvPr/>
          </p:nvCxnSpPr>
          <p:spPr bwMode="auto">
            <a:xfrm>
              <a:off x="4222584" y="3946524"/>
              <a:ext cx="1376528"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11" name="Oval 70">
              <a:extLst>
                <a:ext uri="{FF2B5EF4-FFF2-40B4-BE49-F238E27FC236}">
                  <a16:creationId xmlns:a16="http://schemas.microsoft.com/office/drawing/2014/main" id="{D7B8694E-246D-3AA1-DCBA-C09E74FED6A5}"/>
                </a:ext>
              </a:extLst>
            </p:cNvPr>
            <p:cNvSpPr/>
            <p:nvPr/>
          </p:nvSpPr>
          <p:spPr bwMode="auto">
            <a:xfrm>
              <a:off x="7821612" y="3657600"/>
              <a:ext cx="1662626"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900" dirty="0"/>
                <a:t>Posterior</a:t>
              </a:r>
              <a:endParaRPr sz="900" dirty="0"/>
            </a:p>
          </p:txBody>
        </p:sp>
        <p:cxnSp>
          <p:nvCxnSpPr>
            <p:cNvPr id="12" name="Straight Arrow Connector 71">
              <a:extLst>
                <a:ext uri="{FF2B5EF4-FFF2-40B4-BE49-F238E27FC236}">
                  <a16:creationId xmlns:a16="http://schemas.microsoft.com/office/drawing/2014/main" id="{ABC7981D-89C3-6480-748B-7A13421CEE28}"/>
                </a:ext>
              </a:extLst>
            </p:cNvPr>
            <p:cNvCxnSpPr>
              <a:stCxn id="9" idx="6"/>
              <a:endCxn id="11" idx="2"/>
            </p:cNvCxnSpPr>
            <p:nvPr/>
          </p:nvCxnSpPr>
          <p:spPr bwMode="auto">
            <a:xfrm>
              <a:off x="7040397" y="3946524"/>
              <a:ext cx="781215"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13" name="Oval 74">
              <a:extLst>
                <a:ext uri="{FF2B5EF4-FFF2-40B4-BE49-F238E27FC236}">
                  <a16:creationId xmlns:a16="http://schemas.microsoft.com/office/drawing/2014/main" id="{910AE16D-92D0-39B0-3F3B-9011E375CF93}"/>
                </a:ext>
              </a:extLst>
            </p:cNvPr>
            <p:cNvSpPr/>
            <p:nvPr/>
          </p:nvSpPr>
          <p:spPr bwMode="auto">
            <a:xfrm>
              <a:off x="10196051" y="3657600"/>
              <a:ext cx="1662626" cy="577848"/>
            </a:xfrm>
            <a:prstGeom prst="ellipse">
              <a:avLst/>
            </a:prstGeom>
            <a:solidFill>
              <a:schemeClr val="tx2">
                <a:lumMod val="25000"/>
                <a:lumOff val="75000"/>
              </a:schemeClr>
            </a:solidFill>
            <a:ln>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sz="900"/>
                <a:t>Inference</a:t>
              </a:r>
              <a:endParaRPr sz="900"/>
            </a:p>
          </p:txBody>
        </p:sp>
        <p:cxnSp>
          <p:nvCxnSpPr>
            <p:cNvPr id="14" name="Straight Arrow Connector 75">
              <a:extLst>
                <a:ext uri="{FF2B5EF4-FFF2-40B4-BE49-F238E27FC236}">
                  <a16:creationId xmlns:a16="http://schemas.microsoft.com/office/drawing/2014/main" id="{E9F64E02-1BEA-8B51-AEB5-4FE9CD5B5805}"/>
                </a:ext>
              </a:extLst>
            </p:cNvPr>
            <p:cNvCxnSpPr>
              <a:cxnSpLocks/>
              <a:stCxn id="11" idx="6"/>
              <a:endCxn id="13" idx="2"/>
            </p:cNvCxnSpPr>
            <p:nvPr/>
          </p:nvCxnSpPr>
          <p:spPr bwMode="auto">
            <a:xfrm>
              <a:off x="9484238" y="3946524"/>
              <a:ext cx="711813" cy="0"/>
            </a:xfrm>
            <a:prstGeom prst="straightConnector1">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15" name="Oval 7">
              <a:extLst>
                <a:ext uri="{FF2B5EF4-FFF2-40B4-BE49-F238E27FC236}">
                  <a16:creationId xmlns:a16="http://schemas.microsoft.com/office/drawing/2014/main" id="{5117DE3F-B674-0570-DAB5-450EC2316DC9}"/>
                </a:ext>
              </a:extLst>
            </p:cNvPr>
            <p:cNvSpPr/>
            <p:nvPr/>
          </p:nvSpPr>
          <p:spPr bwMode="auto">
            <a:xfrm>
              <a:off x="2676922" y="4828776"/>
              <a:ext cx="1682749" cy="939799"/>
            </a:xfrm>
            <a:prstGeom prst="ellipse">
              <a:avLst/>
            </a:prstGeom>
            <a:solidFill>
              <a:schemeClr val="accent6">
                <a:lumMod val="40000"/>
                <a:lumOff val="60000"/>
              </a:schemeClr>
            </a:solidFill>
            <a:ln>
              <a:solidFill>
                <a:schemeClr val="accent6">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800"/>
                <a:t>Prior predictive sampling</a:t>
              </a:r>
              <a:endParaRPr sz="800"/>
            </a:p>
          </p:txBody>
        </p:sp>
        <p:cxnSp>
          <p:nvCxnSpPr>
            <p:cNvPr id="16" name="Straight Arrow Connector 8">
              <a:extLst>
                <a:ext uri="{FF2B5EF4-FFF2-40B4-BE49-F238E27FC236}">
                  <a16:creationId xmlns:a16="http://schemas.microsoft.com/office/drawing/2014/main" id="{F1293DCD-85A0-77E2-478B-3A170C76DF12}"/>
                </a:ext>
              </a:extLst>
            </p:cNvPr>
            <p:cNvCxnSpPr>
              <a:cxnSpLocks/>
              <a:endCxn id="15" idx="0"/>
            </p:cNvCxnSpPr>
            <p:nvPr/>
          </p:nvCxnSpPr>
          <p:spPr bwMode="auto">
            <a:xfrm>
              <a:off x="3518296" y="4229100"/>
              <a:ext cx="0" cy="599676"/>
            </a:xfrm>
            <a:prstGeom prst="straightConnector1">
              <a:avLst/>
            </a:prstGeom>
            <a:ln w="38100" cap="flat" cmpd="sng" algn="ctr">
              <a:solidFill>
                <a:schemeClr val="accent6">
                  <a:lumMod val="75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cxnSp>
          <p:nvCxnSpPr>
            <p:cNvPr id="17" name="Connector: Elbow 12">
              <a:extLst>
                <a:ext uri="{FF2B5EF4-FFF2-40B4-BE49-F238E27FC236}">
                  <a16:creationId xmlns:a16="http://schemas.microsoft.com/office/drawing/2014/main" id="{2243BFC6-3A17-6024-0B91-DE5A0A38BE46}"/>
                </a:ext>
              </a:extLst>
            </p:cNvPr>
            <p:cNvCxnSpPr>
              <a:stCxn id="15" idx="2"/>
            </p:cNvCxnSpPr>
            <p:nvPr/>
          </p:nvCxnSpPr>
          <p:spPr bwMode="auto">
            <a:xfrm rot="10800000" flipH="1">
              <a:off x="2676922" y="4144478"/>
              <a:ext cx="369911" cy="1154200"/>
            </a:xfrm>
            <a:prstGeom prst="bentConnector4">
              <a:avLst>
                <a:gd name="adj1" fmla="val -93694"/>
                <a:gd name="adj2" fmla="val 58171"/>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sp>
          <p:nvSpPr>
            <p:cNvPr id="18" name="Oval 32">
              <a:extLst>
                <a:ext uri="{FF2B5EF4-FFF2-40B4-BE49-F238E27FC236}">
                  <a16:creationId xmlns:a16="http://schemas.microsoft.com/office/drawing/2014/main" id="{2CA1D802-0483-87DB-A12C-756CD19C878F}"/>
                </a:ext>
              </a:extLst>
            </p:cNvPr>
            <p:cNvSpPr/>
            <p:nvPr/>
          </p:nvSpPr>
          <p:spPr bwMode="auto">
            <a:xfrm>
              <a:off x="5449484" y="2197896"/>
              <a:ext cx="1839413" cy="939800"/>
            </a:xfrm>
            <a:prstGeom prst="ellipse">
              <a:avLst/>
            </a:prstGeom>
            <a:solidFill>
              <a:schemeClr val="accent6">
                <a:lumMod val="40000"/>
                <a:lumOff val="60000"/>
              </a:schemeClr>
            </a:solidFill>
            <a:ln>
              <a:solidFill>
                <a:schemeClr val="accent6">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800"/>
                <a:t>Diagnostics</a:t>
              </a:r>
              <a:endParaRPr sz="800"/>
            </a:p>
          </p:txBody>
        </p:sp>
        <p:cxnSp>
          <p:nvCxnSpPr>
            <p:cNvPr id="19" name="Straight Arrow Connector 33">
              <a:extLst>
                <a:ext uri="{FF2B5EF4-FFF2-40B4-BE49-F238E27FC236}">
                  <a16:creationId xmlns:a16="http://schemas.microsoft.com/office/drawing/2014/main" id="{36DA4C09-9182-790D-D54E-A61B94A7DB87}"/>
                </a:ext>
              </a:extLst>
            </p:cNvPr>
            <p:cNvCxnSpPr>
              <a:cxnSpLocks/>
              <a:endCxn id="18" idx="4"/>
            </p:cNvCxnSpPr>
            <p:nvPr/>
          </p:nvCxnSpPr>
          <p:spPr bwMode="auto">
            <a:xfrm flipV="1">
              <a:off x="6336108" y="3137696"/>
              <a:ext cx="33084" cy="513552"/>
            </a:xfrm>
            <a:prstGeom prst="straightConnector1">
              <a:avLst/>
            </a:prstGeom>
            <a:ln w="38100" cap="flat" cmpd="sng" algn="ctr">
              <a:solidFill>
                <a:schemeClr val="accent6">
                  <a:lumMod val="75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cxnSp>
          <p:nvCxnSpPr>
            <p:cNvPr id="20" name="Connector: Elbow 36">
              <a:extLst>
                <a:ext uri="{FF2B5EF4-FFF2-40B4-BE49-F238E27FC236}">
                  <a16:creationId xmlns:a16="http://schemas.microsoft.com/office/drawing/2014/main" id="{A8127E40-843F-83F4-3759-6BD8526EF01B}"/>
                </a:ext>
              </a:extLst>
            </p:cNvPr>
            <p:cNvCxnSpPr>
              <a:cxnSpLocks/>
              <a:stCxn id="18" idx="2"/>
            </p:cNvCxnSpPr>
            <p:nvPr/>
          </p:nvCxnSpPr>
          <p:spPr bwMode="auto">
            <a:xfrm rot="10800000" flipH="1" flipV="1">
              <a:off x="5449483" y="2667794"/>
              <a:ext cx="415153" cy="1068061"/>
            </a:xfrm>
            <a:prstGeom prst="bentConnector4">
              <a:avLst>
                <a:gd name="adj1" fmla="val -98542"/>
                <a:gd name="adj2" fmla="val 71998"/>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cxnSp>
          <p:nvCxnSpPr>
            <p:cNvPr id="21" name="Connector: Elbow 39">
              <a:extLst>
                <a:ext uri="{FF2B5EF4-FFF2-40B4-BE49-F238E27FC236}">
                  <a16:creationId xmlns:a16="http://schemas.microsoft.com/office/drawing/2014/main" id="{0817CE8A-24F3-1C27-109A-5DDE3795542F}"/>
                </a:ext>
              </a:extLst>
            </p:cNvPr>
            <p:cNvCxnSpPr>
              <a:cxnSpLocks/>
              <a:stCxn id="18" idx="2"/>
            </p:cNvCxnSpPr>
            <p:nvPr/>
          </p:nvCxnSpPr>
          <p:spPr bwMode="auto">
            <a:xfrm rot="10800000" flipV="1">
              <a:off x="3989761" y="2667794"/>
              <a:ext cx="1459723" cy="1068061"/>
            </a:xfrm>
            <a:prstGeom prst="bentConnector3">
              <a:avLst>
                <a:gd name="adj1" fmla="val 50000"/>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sp>
          <p:nvSpPr>
            <p:cNvPr id="22" name="Oval 60">
              <a:extLst>
                <a:ext uri="{FF2B5EF4-FFF2-40B4-BE49-F238E27FC236}">
                  <a16:creationId xmlns:a16="http://schemas.microsoft.com/office/drawing/2014/main" id="{F9FD810F-2CC4-77E5-434B-DB653627F484}"/>
                </a:ext>
              </a:extLst>
            </p:cNvPr>
            <p:cNvSpPr/>
            <p:nvPr/>
          </p:nvSpPr>
          <p:spPr bwMode="auto">
            <a:xfrm>
              <a:off x="5494733" y="4676378"/>
              <a:ext cx="1682749" cy="939799"/>
            </a:xfrm>
            <a:prstGeom prst="ellipse">
              <a:avLst/>
            </a:prstGeom>
            <a:solidFill>
              <a:schemeClr val="accent6">
                <a:lumMod val="40000"/>
                <a:lumOff val="60000"/>
              </a:schemeClr>
            </a:solidFill>
            <a:ln>
              <a:solidFill>
                <a:schemeClr val="accent6">
                  <a:lumMod val="7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sz="800"/>
                <a:t>Posterior predictive sampling</a:t>
              </a:r>
              <a:endParaRPr sz="800"/>
            </a:p>
          </p:txBody>
        </p:sp>
        <p:cxnSp>
          <p:nvCxnSpPr>
            <p:cNvPr id="23" name="Straight Arrow Connector 63">
              <a:extLst>
                <a:ext uri="{FF2B5EF4-FFF2-40B4-BE49-F238E27FC236}">
                  <a16:creationId xmlns:a16="http://schemas.microsoft.com/office/drawing/2014/main" id="{9A738E29-BF63-EDA9-77A7-6ED297209683}"/>
                </a:ext>
              </a:extLst>
            </p:cNvPr>
            <p:cNvCxnSpPr>
              <a:endCxn id="22" idx="0"/>
            </p:cNvCxnSpPr>
            <p:nvPr/>
          </p:nvCxnSpPr>
          <p:spPr bwMode="auto">
            <a:xfrm>
              <a:off x="6336108" y="4229100"/>
              <a:ext cx="0" cy="447276"/>
            </a:xfrm>
            <a:prstGeom prst="straightConnector1">
              <a:avLst/>
            </a:prstGeom>
            <a:ln w="38100" cap="flat" cmpd="sng" algn="ctr">
              <a:solidFill>
                <a:schemeClr val="accent6">
                  <a:lumMod val="75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cxnSp>
          <p:nvCxnSpPr>
            <p:cNvPr id="24" name="Connector: Elbow 66">
              <a:extLst>
                <a:ext uri="{FF2B5EF4-FFF2-40B4-BE49-F238E27FC236}">
                  <a16:creationId xmlns:a16="http://schemas.microsoft.com/office/drawing/2014/main" id="{C3CACF40-CD8D-B5AA-CA50-0222336CAA09}"/>
                </a:ext>
              </a:extLst>
            </p:cNvPr>
            <p:cNvCxnSpPr>
              <a:stCxn id="22" idx="1"/>
            </p:cNvCxnSpPr>
            <p:nvPr/>
          </p:nvCxnSpPr>
          <p:spPr bwMode="auto">
            <a:xfrm rot="16199998" flipV="1">
              <a:off x="4530697" y="3603538"/>
              <a:ext cx="669531" cy="1751406"/>
            </a:xfrm>
            <a:prstGeom prst="bentConnector3">
              <a:avLst>
                <a:gd name="adj1" fmla="val 50000"/>
              </a:avLst>
            </a:prstGeom>
            <a:ln w="38100">
              <a:solidFill>
                <a:schemeClr val="accent6">
                  <a:lumMod val="75000"/>
                </a:schemeClr>
              </a:solidFill>
              <a:tailEnd type="triangle"/>
            </a:ln>
          </p:spPr>
          <p:style>
            <a:lnRef idx="3">
              <a:schemeClr val="accent4"/>
            </a:lnRef>
            <a:fillRef idx="0">
              <a:schemeClr val="accent4"/>
            </a:fillRef>
            <a:effectRef idx="2">
              <a:schemeClr val="accent4"/>
            </a:effectRef>
            <a:fontRef idx="minor">
              <a:schemeClr val="tx1"/>
            </a:fontRef>
          </p:style>
        </p:cxnSp>
        <p:cxnSp>
          <p:nvCxnSpPr>
            <p:cNvPr id="25" name="Straight Arrow Connector 2">
              <a:extLst>
                <a:ext uri="{FF2B5EF4-FFF2-40B4-BE49-F238E27FC236}">
                  <a16:creationId xmlns:a16="http://schemas.microsoft.com/office/drawing/2014/main" id="{63FAC3D1-7783-F16A-370F-534EE8952D82}"/>
                </a:ext>
              </a:extLst>
            </p:cNvPr>
            <p:cNvCxnSpPr/>
            <p:nvPr/>
          </p:nvCxnSpPr>
          <p:spPr bwMode="auto">
            <a:xfrm rot="16199998" flipV="1">
              <a:off x="6089650" y="1079897"/>
              <a:ext cx="12699" cy="5142705"/>
            </a:xfrm>
            <a:prstGeom prst="bentConnector3">
              <a:avLst>
                <a:gd name="adj1" fmla="val 14947287"/>
              </a:avLst>
            </a:prstGeom>
            <a:ln w="38100" cap="flat" cmpd="sng" algn="ctr">
              <a:solidFill>
                <a:schemeClr val="tx2">
                  <a:lumMod val="50000"/>
                  <a:lumOff val="50000"/>
                </a:schemeClr>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26" name="TextBox 2">
              <a:extLst>
                <a:ext uri="{FF2B5EF4-FFF2-40B4-BE49-F238E27FC236}">
                  <a16:creationId xmlns:a16="http://schemas.microsoft.com/office/drawing/2014/main" id="{46995D14-7CD2-F40F-84AF-2D4EB947A4EB}"/>
                </a:ext>
              </a:extLst>
            </p:cNvPr>
            <p:cNvSpPr txBox="1"/>
            <p:nvPr/>
          </p:nvSpPr>
          <p:spPr bwMode="auto">
            <a:xfrm>
              <a:off x="2584792" y="5767162"/>
              <a:ext cx="1888183" cy="526015"/>
            </a:xfrm>
            <a:prstGeom prst="rect">
              <a:avLst/>
            </a:prstGeom>
            <a:noFill/>
          </p:spPr>
          <p:txBody>
            <a:bodyPr wrap="none" rtlCol="0">
              <a:spAutoFit/>
            </a:bodyPr>
            <a:lstStyle/>
            <a:p>
              <a:pPr>
                <a:defRPr/>
              </a:pPr>
              <a:r>
                <a:rPr lang="en-US" sz="900">
                  <a:solidFill>
                    <a:srgbClr val="FF0000"/>
                  </a:solidFill>
                </a:rPr>
                <a:t>Model coherence</a:t>
              </a:r>
              <a:endParaRPr sz="900">
                <a:solidFill>
                  <a:srgbClr val="FF0000"/>
                </a:solidFill>
              </a:endParaRPr>
            </a:p>
          </p:txBody>
        </p:sp>
        <p:sp>
          <p:nvSpPr>
            <p:cNvPr id="27" name="TextBox 3">
              <a:extLst>
                <a:ext uri="{FF2B5EF4-FFF2-40B4-BE49-F238E27FC236}">
                  <a16:creationId xmlns:a16="http://schemas.microsoft.com/office/drawing/2014/main" id="{DD7A8042-9103-BA68-F03C-BE95DA2C1353}"/>
                </a:ext>
              </a:extLst>
            </p:cNvPr>
            <p:cNvSpPr txBox="1"/>
            <p:nvPr/>
          </p:nvSpPr>
          <p:spPr bwMode="auto">
            <a:xfrm>
              <a:off x="5340123" y="1756966"/>
              <a:ext cx="1839413" cy="526015"/>
            </a:xfrm>
            <a:prstGeom prst="rect">
              <a:avLst/>
            </a:prstGeom>
            <a:noFill/>
          </p:spPr>
          <p:txBody>
            <a:bodyPr wrap="none" rtlCol="0">
              <a:spAutoFit/>
            </a:bodyPr>
            <a:lstStyle/>
            <a:p>
              <a:pPr>
                <a:defRPr/>
              </a:pPr>
              <a:r>
                <a:rPr lang="en-US" sz="900" dirty="0">
                  <a:solidFill>
                    <a:srgbClr val="FF0000"/>
                  </a:solidFill>
                </a:rPr>
                <a:t>Sampling validity</a:t>
              </a:r>
              <a:endParaRPr sz="900" dirty="0">
                <a:solidFill>
                  <a:srgbClr val="FF0000"/>
                </a:solidFill>
              </a:endParaRPr>
            </a:p>
          </p:txBody>
        </p:sp>
        <p:sp>
          <p:nvSpPr>
            <p:cNvPr id="28" name="TextBox 4">
              <a:extLst>
                <a:ext uri="{FF2B5EF4-FFF2-40B4-BE49-F238E27FC236}">
                  <a16:creationId xmlns:a16="http://schemas.microsoft.com/office/drawing/2014/main" id="{200D76DD-A7D7-B56C-3CF1-1E53DD7A4A98}"/>
                </a:ext>
              </a:extLst>
            </p:cNvPr>
            <p:cNvSpPr txBox="1"/>
            <p:nvPr/>
          </p:nvSpPr>
          <p:spPr bwMode="auto">
            <a:xfrm>
              <a:off x="5801314" y="5767162"/>
              <a:ext cx="1107895" cy="526015"/>
            </a:xfrm>
            <a:prstGeom prst="rect">
              <a:avLst/>
            </a:prstGeom>
            <a:noFill/>
          </p:spPr>
          <p:txBody>
            <a:bodyPr wrap="none" rtlCol="0">
              <a:spAutoFit/>
            </a:bodyPr>
            <a:lstStyle/>
            <a:p>
              <a:pPr>
                <a:defRPr/>
              </a:pPr>
              <a:r>
                <a:rPr lang="en-US" sz="900" dirty="0">
                  <a:solidFill>
                    <a:srgbClr val="FF0000"/>
                  </a:solidFill>
                </a:rPr>
                <a:t>Model fit</a:t>
              </a:r>
              <a:endParaRPr sz="900" dirty="0">
                <a:solidFill>
                  <a:srgbClr val="FF0000"/>
                </a:solidFill>
              </a:endParaRPr>
            </a:p>
          </p:txBody>
        </p:sp>
      </p:grpSp>
    </p:spTree>
    <p:extLst>
      <p:ext uri="{BB962C8B-B14F-4D97-AF65-F5344CB8AC3E}">
        <p14:creationId xmlns:p14="http://schemas.microsoft.com/office/powerpoint/2010/main" val="2374436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CF4E20B-A828-3E93-665B-C8A58AD3BE43}"/>
              </a:ext>
            </a:extLst>
          </p:cNvPr>
          <p:cNvSpPr>
            <a:spLocks noGrp="1"/>
          </p:cNvSpPr>
          <p:nvPr>
            <p:ph type="title"/>
          </p:nvPr>
        </p:nvSpPr>
        <p:spPr/>
        <p:txBody>
          <a:bodyPr/>
          <a:lstStyle/>
          <a:p>
            <a:pPr algn="l" rtl="0"/>
            <a:r>
              <a:rPr lang="en-US" dirty="0">
                <a:latin typeface="David" panose="020E0502060401010101" pitchFamily="34" charset="-79"/>
                <a:ea typeface="Source Sans Pro"/>
              </a:rPr>
              <a:t>Sampling diagnostics </a:t>
            </a:r>
            <a:endParaRPr lang="he-IL" dirty="0"/>
          </a:p>
        </p:txBody>
      </p:sp>
      <p:sp>
        <p:nvSpPr>
          <p:cNvPr id="3" name="Content Placeholder 2">
            <a:extLst>
              <a:ext uri="{FF2B5EF4-FFF2-40B4-BE49-F238E27FC236}">
                <a16:creationId xmlns:a16="http://schemas.microsoft.com/office/drawing/2014/main" id="{157C5AB1-755D-A530-5372-4D209AC15AC2}"/>
              </a:ext>
            </a:extLst>
          </p:cNvPr>
          <p:cNvSpPr>
            <a:spLocks noGrp="1"/>
          </p:cNvSpPr>
          <p:nvPr>
            <p:ph idx="1"/>
          </p:nvPr>
        </p:nvSpPr>
        <p:spPr/>
        <p:txBody>
          <a:bodyPr/>
          <a:lstStyle/>
          <a:p>
            <a:pPr algn="l" rtl="0"/>
            <a:r>
              <a:rPr lang="en-US" dirty="0"/>
              <a:t>Posterior Summary</a:t>
            </a:r>
            <a:endParaRPr lang="he-IL" dirty="0"/>
          </a:p>
        </p:txBody>
      </p:sp>
      <p:pic>
        <p:nvPicPr>
          <p:cNvPr id="8" name="Picture 7">
            <a:extLst>
              <a:ext uri="{FF2B5EF4-FFF2-40B4-BE49-F238E27FC236}">
                <a16:creationId xmlns:a16="http://schemas.microsoft.com/office/drawing/2014/main" id="{2F938E96-5915-C85B-2368-F020E24521EF}"/>
              </a:ext>
            </a:extLst>
          </p:cNvPr>
          <p:cNvPicPr>
            <a:picLocks noChangeAspect="1"/>
          </p:cNvPicPr>
          <p:nvPr/>
        </p:nvPicPr>
        <p:blipFill>
          <a:blip r:embed="rId2"/>
          <a:srcRect t="12630"/>
          <a:stretch>
            <a:fillRect/>
          </a:stretch>
        </p:blipFill>
        <p:spPr>
          <a:xfrm>
            <a:off x="695867" y="2941504"/>
            <a:ext cx="10800266" cy="3052896"/>
          </a:xfrm>
          <a:prstGeom prst="rect">
            <a:avLst/>
          </a:prstGeom>
        </p:spPr>
      </p:pic>
    </p:spTree>
    <p:extLst>
      <p:ext uri="{BB962C8B-B14F-4D97-AF65-F5344CB8AC3E}">
        <p14:creationId xmlns:p14="http://schemas.microsoft.com/office/powerpoint/2010/main" val="201255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FDD8-6EFC-EEE0-E431-157E1B63CAB7}"/>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22854D11-6969-1B7A-DEC1-80FCE9EF91BE}"/>
              </a:ext>
            </a:extLst>
          </p:cNvPr>
          <p:cNvSpPr>
            <a:spLocks noGrp="1"/>
          </p:cNvSpPr>
          <p:nvPr>
            <p:ph type="title"/>
          </p:nvPr>
        </p:nvSpPr>
        <p:spPr/>
        <p:txBody>
          <a:bodyPr/>
          <a:lstStyle/>
          <a:p>
            <a:pPr algn="l" rtl="0"/>
            <a:r>
              <a:rPr lang="en-US" dirty="0">
                <a:latin typeface="David" panose="020E0502060401010101" pitchFamily="34" charset="-79"/>
                <a:ea typeface="Source Sans Pro"/>
              </a:rPr>
              <a:t>Sampling diagnostics </a:t>
            </a:r>
            <a:endParaRPr lang="he-IL" dirty="0"/>
          </a:p>
        </p:txBody>
      </p:sp>
      <p:sp>
        <p:nvSpPr>
          <p:cNvPr id="3" name="Content Placeholder 2">
            <a:extLst>
              <a:ext uri="{FF2B5EF4-FFF2-40B4-BE49-F238E27FC236}">
                <a16:creationId xmlns:a16="http://schemas.microsoft.com/office/drawing/2014/main" id="{0096A6F5-984F-480F-2917-3F283601E820}"/>
              </a:ext>
            </a:extLst>
          </p:cNvPr>
          <p:cNvSpPr>
            <a:spLocks noGrp="1"/>
          </p:cNvSpPr>
          <p:nvPr>
            <p:ph idx="1"/>
          </p:nvPr>
        </p:nvSpPr>
        <p:spPr/>
        <p:txBody>
          <a:bodyPr/>
          <a:lstStyle/>
          <a:p>
            <a:pPr algn="l" rtl="0"/>
            <a:r>
              <a:rPr lang="en-US" dirty="0"/>
              <a:t>Posterior Summary</a:t>
            </a:r>
          </a:p>
          <a:p>
            <a:pPr marL="0" indent="0" algn="l" rtl="0">
              <a:buNone/>
            </a:pPr>
            <a:endParaRPr lang="en-US" dirty="0"/>
          </a:p>
          <a:p>
            <a:pPr marL="0" indent="0" algn="l" rtl="0">
              <a:buNone/>
            </a:pPr>
            <a:r>
              <a:rPr lang="en-US" dirty="0"/>
              <a:t>kind=‘stats’					kind=‘diagnostics’</a:t>
            </a:r>
          </a:p>
          <a:p>
            <a:pPr marL="0" indent="0" algn="l" rtl="0">
              <a:buNone/>
            </a:pPr>
            <a:endParaRPr lang="he-IL" dirty="0"/>
          </a:p>
        </p:txBody>
      </p:sp>
      <p:pic>
        <p:nvPicPr>
          <p:cNvPr id="10" name="Picture 9">
            <a:extLst>
              <a:ext uri="{FF2B5EF4-FFF2-40B4-BE49-F238E27FC236}">
                <a16:creationId xmlns:a16="http://schemas.microsoft.com/office/drawing/2014/main" id="{77D9D752-8718-3786-6528-B4FDF086FA79}"/>
              </a:ext>
            </a:extLst>
          </p:cNvPr>
          <p:cNvPicPr>
            <a:picLocks noChangeAspect="1"/>
          </p:cNvPicPr>
          <p:nvPr/>
        </p:nvPicPr>
        <p:blipFill>
          <a:blip r:embed="rId3"/>
          <a:stretch>
            <a:fillRect/>
          </a:stretch>
        </p:blipFill>
        <p:spPr>
          <a:xfrm>
            <a:off x="6498772" y="3429000"/>
            <a:ext cx="4968947" cy="2603920"/>
          </a:xfrm>
          <a:prstGeom prst="rect">
            <a:avLst/>
          </a:prstGeom>
        </p:spPr>
      </p:pic>
      <p:pic>
        <p:nvPicPr>
          <p:cNvPr id="12" name="Picture 11">
            <a:extLst>
              <a:ext uri="{FF2B5EF4-FFF2-40B4-BE49-F238E27FC236}">
                <a16:creationId xmlns:a16="http://schemas.microsoft.com/office/drawing/2014/main" id="{78F9BBD9-CF40-EFBD-5A71-EA0AA784E179}"/>
              </a:ext>
            </a:extLst>
          </p:cNvPr>
          <p:cNvPicPr>
            <a:picLocks noChangeAspect="1"/>
          </p:cNvPicPr>
          <p:nvPr/>
        </p:nvPicPr>
        <p:blipFill>
          <a:blip r:embed="rId4"/>
          <a:stretch>
            <a:fillRect/>
          </a:stretch>
        </p:blipFill>
        <p:spPr>
          <a:xfrm>
            <a:off x="1012372" y="3405112"/>
            <a:ext cx="3356429" cy="2627808"/>
          </a:xfrm>
          <a:prstGeom prst="rect">
            <a:avLst/>
          </a:prstGeom>
        </p:spPr>
      </p:pic>
    </p:spTree>
    <p:extLst>
      <p:ext uri="{BB962C8B-B14F-4D97-AF65-F5344CB8AC3E}">
        <p14:creationId xmlns:p14="http://schemas.microsoft.com/office/powerpoint/2010/main" val="2286437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2FC11-6857-6786-F340-A597568FFD55}"/>
              </a:ext>
            </a:extLst>
          </p:cNvPr>
          <p:cNvSpPr>
            <a:spLocks noGrp="1"/>
          </p:cNvSpPr>
          <p:nvPr>
            <p:ph type="title"/>
          </p:nvPr>
        </p:nvSpPr>
        <p:spPr/>
        <p:txBody>
          <a:bodyPr/>
          <a:lstStyle/>
          <a:p>
            <a:pPr algn="l" rtl="0"/>
            <a:r>
              <a:rPr lang="en-US" dirty="0">
                <a:ea typeface="Source Sans Pro"/>
              </a:rPr>
              <a:t>Sampling diagnostics </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269949-EB1B-E270-9EC3-2495F9F13F98}"/>
                  </a:ext>
                </a:extLst>
              </p:cNvPr>
              <p:cNvSpPr>
                <a:spLocks noGrp="1"/>
              </p:cNvSpPr>
              <p:nvPr>
                <p:ph idx="1"/>
              </p:nvPr>
            </p:nvSpPr>
            <p:spPr/>
            <p:txBody>
              <a:bodyPr>
                <a:normAutofit/>
              </a:bodyPr>
              <a:lstStyle/>
              <a:p>
                <a:pPr lvl="1" algn="l" rtl="0">
                  <a:lnSpc>
                    <a:spcPct val="150000"/>
                  </a:lnSpc>
                </a:pPr>
                <a:r>
                  <a:rPr lang="en-US" dirty="0"/>
                  <a:t>Trace plots &amp; </a:t>
                </a:r>
                <a:r>
                  <a:rPr lang="en-US" dirty="0">
                    <a:ea typeface="Source Sans Pro"/>
                  </a:rPr>
                  <a:t>divergences</a:t>
                </a:r>
                <a:endParaRPr lang="en-US" dirty="0"/>
              </a:p>
              <a:p>
                <a:pPr lvl="1" algn="l" rtl="0">
                  <a:lnSpc>
                    <a:spcPct val="150000"/>
                  </a:lnSpc>
                </a:pPr>
                <a14:m>
                  <m:oMath xmlns:m="http://schemas.openxmlformats.org/officeDocument/2006/math">
                    <m:acc>
                      <m:accPr>
                        <m:chr m:val="̂"/>
                        <m:ctrlPr>
                          <a:rPr lang="en-US" altLang="he-IL" i="1" dirty="0">
                            <a:latin typeface="Cambria Math" panose="02040503050406030204" pitchFamily="18" charset="0"/>
                          </a:rPr>
                        </m:ctrlPr>
                      </m:accPr>
                      <m:e>
                        <m:r>
                          <a:rPr lang="en-US" altLang="he-IL" i="1" dirty="0">
                            <a:latin typeface="Cambria Math" panose="02040503050406030204" pitchFamily="18" charset="0"/>
                          </a:rPr>
                          <m:t>𝑅</m:t>
                        </m:r>
                      </m:e>
                    </m:acc>
                  </m:oMath>
                </a14:m>
                <a:endParaRPr lang="en-US" dirty="0"/>
              </a:p>
              <a:p>
                <a:pPr lvl="1" algn="l" rtl="0">
                  <a:lnSpc>
                    <a:spcPct val="150000"/>
                  </a:lnSpc>
                </a:pPr>
                <a:r>
                  <a:rPr lang="en-US" dirty="0"/>
                  <a:t>ESS</a:t>
                </a:r>
              </a:p>
              <a:p>
                <a:pPr lvl="1" algn="l" rtl="0">
                  <a:lnSpc>
                    <a:spcPct val="150000"/>
                  </a:lnSpc>
                </a:pPr>
                <a:r>
                  <a:rPr lang="en-US" dirty="0"/>
                  <a:t>MCSE </a:t>
                </a:r>
              </a:p>
            </p:txBody>
          </p:sp>
        </mc:Choice>
        <mc:Fallback xmlns="">
          <p:sp>
            <p:nvSpPr>
              <p:cNvPr id="3" name="Content Placeholder 2">
                <a:extLst>
                  <a:ext uri="{FF2B5EF4-FFF2-40B4-BE49-F238E27FC236}">
                    <a16:creationId xmlns:a16="http://schemas.microsoft.com/office/drawing/2014/main" id="{15269949-EB1B-E270-9EC3-2495F9F13F98}"/>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459246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50BA4-9BFF-5310-324E-180450FAA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A1C4A-AB32-3502-EA65-A20F8DE37F8F}"/>
              </a:ext>
            </a:extLst>
          </p:cNvPr>
          <p:cNvSpPr>
            <a:spLocks noGrp="1"/>
          </p:cNvSpPr>
          <p:nvPr>
            <p:ph type="title"/>
          </p:nvPr>
        </p:nvSpPr>
        <p:spPr/>
        <p:txBody>
          <a:bodyPr/>
          <a:lstStyle/>
          <a:p>
            <a:pPr algn="l" rtl="0"/>
            <a:r>
              <a:rPr lang="en-US" dirty="0">
                <a:ea typeface="Source Sans Pro"/>
              </a:rPr>
              <a:t>Sampling diagnostics </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A488C2-81E4-6447-471B-EE71571C6816}"/>
                  </a:ext>
                </a:extLst>
              </p:cNvPr>
              <p:cNvSpPr>
                <a:spLocks noGrp="1"/>
              </p:cNvSpPr>
              <p:nvPr>
                <p:ph idx="1"/>
              </p:nvPr>
            </p:nvSpPr>
            <p:spPr/>
            <p:txBody>
              <a:bodyPr>
                <a:normAutofit/>
              </a:bodyPr>
              <a:lstStyle/>
              <a:p>
                <a:pPr lvl="1" algn="l" rtl="0">
                  <a:lnSpc>
                    <a:spcPct val="150000"/>
                  </a:lnSpc>
                </a:pPr>
                <a14:m>
                  <m:oMath xmlns:m="http://schemas.openxmlformats.org/officeDocument/2006/math">
                    <m:acc>
                      <m:accPr>
                        <m:chr m:val="̂"/>
                        <m:ctrlPr>
                          <a:rPr lang="en-US" altLang="he-IL" i="1" dirty="0" smtClean="0">
                            <a:latin typeface="Cambria Math" panose="02040503050406030204" pitchFamily="18" charset="0"/>
                          </a:rPr>
                        </m:ctrlPr>
                      </m:accPr>
                      <m:e>
                        <m:r>
                          <a:rPr lang="en-US" altLang="he-IL" b="0" i="1" dirty="0" smtClean="0">
                            <a:latin typeface="Cambria Math" panose="02040503050406030204" pitchFamily="18" charset="0"/>
                          </a:rPr>
                          <m:t>𝑅</m:t>
                        </m:r>
                      </m:e>
                    </m:acc>
                  </m:oMath>
                </a14:m>
                <a:r>
                  <a:rPr lang="en-US" altLang="he-IL" dirty="0"/>
                  <a:t>, ESS and </a:t>
                </a:r>
                <a:r>
                  <a:rPr lang="en-US" dirty="0"/>
                  <a:t>MCSE:</a:t>
                </a:r>
              </a:p>
              <a:p>
                <a:pPr lvl="2" algn="l" rtl="0">
                  <a:lnSpc>
                    <a:spcPct val="150000"/>
                  </a:lnSpc>
                </a:pPr>
                <a:r>
                  <a:rPr lang="en-US" altLang="he-IL" dirty="0"/>
                  <a:t>D</a:t>
                </a:r>
                <a:r>
                  <a:rPr lang="he-IL" altLang="he-IL" dirty="0"/>
                  <a:t>iagnostic metrics used to evaluate whether samples generated by Markov Chain Monte </a:t>
                </a:r>
                <a:r>
                  <a:rPr lang="he-IL" altLang="he-IL" dirty="0" err="1"/>
                  <a:t>Carlo</a:t>
                </a:r>
                <a:r>
                  <a:rPr lang="he-IL" altLang="he-IL" dirty="0"/>
                  <a:t> </a:t>
                </a:r>
                <a:r>
                  <a:rPr lang="en-US" altLang="he-IL" dirty="0"/>
                  <a:t>(MCMC) </a:t>
                </a:r>
                <a:r>
                  <a:rPr lang="he-IL" altLang="he-IL" dirty="0" err="1"/>
                  <a:t>methods</a:t>
                </a:r>
                <a:r>
                  <a:rPr lang="he-IL" altLang="he-IL" dirty="0"/>
                  <a:t> are reliable and have converged properly</a:t>
                </a:r>
                <a:r>
                  <a:rPr lang="en-US" altLang="he-IL" dirty="0"/>
                  <a:t>.</a:t>
                </a:r>
              </a:p>
            </p:txBody>
          </p:sp>
        </mc:Choice>
        <mc:Fallback xmlns="">
          <p:sp>
            <p:nvSpPr>
              <p:cNvPr id="3" name="Content Placeholder 2">
                <a:extLst>
                  <a:ext uri="{FF2B5EF4-FFF2-40B4-BE49-F238E27FC236}">
                    <a16:creationId xmlns:a16="http://schemas.microsoft.com/office/drawing/2014/main" id="{3AA488C2-81E4-6447-471B-EE71571C681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he-IL">
                    <a:noFill/>
                  </a:rPr>
                  <a:t> </a:t>
                </a:r>
              </a:p>
            </p:txBody>
          </p:sp>
        </mc:Fallback>
      </mc:AlternateContent>
      <p:pic>
        <p:nvPicPr>
          <p:cNvPr id="4" name="Picture 3">
            <a:extLst>
              <a:ext uri="{FF2B5EF4-FFF2-40B4-BE49-F238E27FC236}">
                <a16:creationId xmlns:a16="http://schemas.microsoft.com/office/drawing/2014/main" id="{7E4DB344-181D-C46E-D87C-1068738118F3}"/>
              </a:ext>
            </a:extLst>
          </p:cNvPr>
          <p:cNvPicPr>
            <a:picLocks noChangeAspect="1"/>
          </p:cNvPicPr>
          <p:nvPr/>
        </p:nvPicPr>
        <p:blipFill>
          <a:blip r:embed="rId3"/>
          <a:srcRect t="63152" b="1354"/>
          <a:stretch>
            <a:fillRect/>
          </a:stretch>
        </p:blipFill>
        <p:spPr>
          <a:xfrm>
            <a:off x="3470436" y="4444180"/>
            <a:ext cx="4968947" cy="924233"/>
          </a:xfrm>
          <a:prstGeom prst="rect">
            <a:avLst/>
          </a:prstGeom>
        </p:spPr>
      </p:pic>
    </p:spTree>
    <p:extLst>
      <p:ext uri="{BB962C8B-B14F-4D97-AF65-F5344CB8AC3E}">
        <p14:creationId xmlns:p14="http://schemas.microsoft.com/office/powerpoint/2010/main" val="2485985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EE895-4E9F-9B07-1C87-03A02A426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199A6-65A6-7E52-1184-6BB6FCED5F4E}"/>
              </a:ext>
            </a:extLst>
          </p:cNvPr>
          <p:cNvSpPr>
            <a:spLocks noGrp="1"/>
          </p:cNvSpPr>
          <p:nvPr>
            <p:ph type="title"/>
          </p:nvPr>
        </p:nvSpPr>
        <p:spPr/>
        <p:txBody>
          <a:bodyPr/>
          <a:lstStyle/>
          <a:p>
            <a:pPr algn="l" rtl="0"/>
            <a:r>
              <a:rPr lang="en-US" dirty="0">
                <a:ea typeface="Source Sans Pro"/>
              </a:rPr>
              <a:t>Sampling diagnostics </a:t>
            </a:r>
            <a:endParaRPr lang="he-IL" dirty="0"/>
          </a:p>
        </p:txBody>
      </p:sp>
      <p:sp>
        <p:nvSpPr>
          <p:cNvPr id="3" name="Content Placeholder 2">
            <a:extLst>
              <a:ext uri="{FF2B5EF4-FFF2-40B4-BE49-F238E27FC236}">
                <a16:creationId xmlns:a16="http://schemas.microsoft.com/office/drawing/2014/main" id="{A855A881-925A-9A67-E95D-C5CE682ABAAB}"/>
              </a:ext>
            </a:extLst>
          </p:cNvPr>
          <p:cNvSpPr>
            <a:spLocks noGrp="1"/>
          </p:cNvSpPr>
          <p:nvPr>
            <p:ph idx="1"/>
          </p:nvPr>
        </p:nvSpPr>
        <p:spPr>
          <a:xfrm>
            <a:off x="838200" y="1504335"/>
            <a:ext cx="10515600" cy="4537691"/>
          </a:xfrm>
        </p:spPr>
        <p:txBody>
          <a:bodyPr>
            <a:normAutofit fontScale="92500"/>
          </a:bodyPr>
          <a:lstStyle/>
          <a:p>
            <a:pPr lvl="1" algn="l" rtl="0">
              <a:lnSpc>
                <a:spcPct val="150000"/>
              </a:lnSpc>
            </a:pPr>
            <a:r>
              <a:rPr lang="en-US" b="1" dirty="0"/>
              <a:t>Effective Sample Size (ESS) - </a:t>
            </a:r>
            <a:r>
              <a:rPr lang="en-US" dirty="0"/>
              <a:t>the number of independent draws with roughly equivalent information content.</a:t>
            </a:r>
          </a:p>
          <a:p>
            <a:pPr lvl="1" algn="l" rtl="0">
              <a:lnSpc>
                <a:spcPct val="150000"/>
              </a:lnSpc>
            </a:pPr>
            <a:r>
              <a:rPr lang="en-US" dirty="0"/>
              <a:t>MCMC methods use the current position to generate the next position, the samples they produce are correlated.  Because of this autocorrelation, the actual number of "useful" or independent draws is lower than the total number of samples generated.</a:t>
            </a:r>
          </a:p>
          <a:p>
            <a:pPr lvl="1" algn="l" rtl="0">
              <a:lnSpc>
                <a:spcPct val="150000"/>
              </a:lnSpc>
            </a:pPr>
            <a:r>
              <a:rPr lang="en-US" dirty="0"/>
              <a:t>You can check the </a:t>
            </a:r>
            <a:r>
              <a:rPr lang="en-US" b="1" dirty="0"/>
              <a:t>bulk-ESS</a:t>
            </a:r>
            <a:r>
              <a:rPr lang="en-US" dirty="0"/>
              <a:t> to see how well the center of the distribution was resolved, or the </a:t>
            </a:r>
            <a:r>
              <a:rPr lang="en-US" b="1" dirty="0"/>
              <a:t>tail-ESS</a:t>
            </a:r>
            <a:r>
              <a:rPr lang="en-US" dirty="0"/>
              <a:t> if you are interested in reporting extreme quantiles or rare events. </a:t>
            </a:r>
          </a:p>
          <a:p>
            <a:pPr lvl="1" algn="l" rtl="0">
              <a:lnSpc>
                <a:spcPct val="150000"/>
              </a:lnSpc>
            </a:pPr>
            <a:endParaRPr lang="en-US" dirty="0"/>
          </a:p>
        </p:txBody>
      </p:sp>
      <p:grpSp>
        <p:nvGrpSpPr>
          <p:cNvPr id="6" name="Group 5">
            <a:extLst>
              <a:ext uri="{FF2B5EF4-FFF2-40B4-BE49-F238E27FC236}">
                <a16:creationId xmlns:a16="http://schemas.microsoft.com/office/drawing/2014/main" id="{378B41E0-C675-1F33-388F-E6146185F2A1}"/>
              </a:ext>
            </a:extLst>
          </p:cNvPr>
          <p:cNvGrpSpPr/>
          <p:nvPr/>
        </p:nvGrpSpPr>
        <p:grpSpPr>
          <a:xfrm>
            <a:off x="3302490" y="5663381"/>
            <a:ext cx="5443303" cy="1076632"/>
            <a:chOff x="3214000" y="4306348"/>
            <a:chExt cx="5763999" cy="1189884"/>
          </a:xfrm>
        </p:grpSpPr>
        <p:pic>
          <p:nvPicPr>
            <p:cNvPr id="4" name="Picture 3">
              <a:extLst>
                <a:ext uri="{FF2B5EF4-FFF2-40B4-BE49-F238E27FC236}">
                  <a16:creationId xmlns:a16="http://schemas.microsoft.com/office/drawing/2014/main" id="{7E85426A-2D9D-87AB-35BB-6E082F3B4595}"/>
                </a:ext>
              </a:extLst>
            </p:cNvPr>
            <p:cNvPicPr>
              <a:picLocks noChangeAspect="1"/>
            </p:cNvPicPr>
            <p:nvPr/>
          </p:nvPicPr>
          <p:blipFill>
            <a:blip r:embed="rId3"/>
            <a:srcRect t="63152" b="1354"/>
            <a:stretch>
              <a:fillRect/>
            </a:stretch>
          </p:blipFill>
          <p:spPr>
            <a:xfrm>
              <a:off x="3214000" y="4306348"/>
              <a:ext cx="5763999" cy="1072114"/>
            </a:xfrm>
            <a:prstGeom prst="rect">
              <a:avLst/>
            </a:prstGeom>
          </p:spPr>
        </p:pic>
        <p:sp>
          <p:nvSpPr>
            <p:cNvPr id="5" name="Rectangle: Rounded Corners 4">
              <a:extLst>
                <a:ext uri="{FF2B5EF4-FFF2-40B4-BE49-F238E27FC236}">
                  <a16:creationId xmlns:a16="http://schemas.microsoft.com/office/drawing/2014/main" id="{B5E81671-0766-2225-CF2D-9E99602CF156}"/>
                </a:ext>
              </a:extLst>
            </p:cNvPr>
            <p:cNvSpPr/>
            <p:nvPr/>
          </p:nvSpPr>
          <p:spPr>
            <a:xfrm>
              <a:off x="6096000" y="4306348"/>
              <a:ext cx="2113936" cy="1189884"/>
            </a:xfrm>
            <a:prstGeom prst="roundRect">
              <a:avLst>
                <a:gd name="adj" fmla="val 50000"/>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grpSp>
    </p:spTree>
    <p:extLst>
      <p:ext uri="{BB962C8B-B14F-4D97-AF65-F5344CB8AC3E}">
        <p14:creationId xmlns:p14="http://schemas.microsoft.com/office/powerpoint/2010/main" val="3302893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63918-8194-8B22-8B73-2147AF3E0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80B63-9D40-1469-B58F-596F2DE37D67}"/>
              </a:ext>
            </a:extLst>
          </p:cNvPr>
          <p:cNvSpPr>
            <a:spLocks noGrp="1"/>
          </p:cNvSpPr>
          <p:nvPr>
            <p:ph type="title"/>
          </p:nvPr>
        </p:nvSpPr>
        <p:spPr/>
        <p:txBody>
          <a:bodyPr/>
          <a:lstStyle/>
          <a:p>
            <a:pPr algn="l" rtl="0"/>
            <a:r>
              <a:rPr lang="en-US" dirty="0">
                <a:ea typeface="Source Sans Pro"/>
              </a:rPr>
              <a:t>Sampling diagnostics </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B96A85-D8B5-7BA0-204D-B9667510970B}"/>
                  </a:ext>
                </a:extLst>
              </p:cNvPr>
              <p:cNvSpPr>
                <a:spLocks noGrp="1"/>
              </p:cNvSpPr>
              <p:nvPr>
                <p:ph idx="1"/>
              </p:nvPr>
            </p:nvSpPr>
            <p:spPr/>
            <p:txBody>
              <a:bodyPr>
                <a:normAutofit/>
              </a:bodyPr>
              <a:lstStyle/>
              <a:p>
                <a:pPr lvl="1" algn="l" rtl="0">
                  <a:lnSpc>
                    <a:spcPct val="150000"/>
                  </a:lnSpc>
                </a:pPr>
                <a14:m>
                  <m:oMath xmlns:m="http://schemas.openxmlformats.org/officeDocument/2006/math">
                    <m:acc>
                      <m:accPr>
                        <m:chr m:val="̂"/>
                        <m:ctrlPr>
                          <a:rPr lang="en-US" altLang="he-IL" b="1" i="1" dirty="0" smtClean="0">
                            <a:latin typeface="Cambria Math" panose="02040503050406030204" pitchFamily="18" charset="0"/>
                          </a:rPr>
                        </m:ctrlPr>
                      </m:accPr>
                      <m:e>
                        <m:r>
                          <a:rPr lang="en-US" altLang="he-IL" b="1" i="1" dirty="0">
                            <a:latin typeface="Cambria Math" panose="02040503050406030204" pitchFamily="18" charset="0"/>
                          </a:rPr>
                          <m:t>𝑹</m:t>
                        </m:r>
                      </m:e>
                    </m:acc>
                  </m:oMath>
                </a14:m>
                <a:r>
                  <a:rPr lang="en-US" altLang="he-IL" dirty="0"/>
                  <a:t> - a convergence diagnostic comparing between-chain variation to within-chain variation.</a:t>
                </a:r>
              </a:p>
              <a:p>
                <a:pPr lvl="1" algn="l" rtl="0">
                  <a:lnSpc>
                    <a:spcPct val="150000"/>
                  </a:lnSpc>
                </a:pPr>
                <a:r>
                  <a:rPr lang="en-US" altLang="he-IL" dirty="0"/>
                  <a:t>Ideally we want </a:t>
                </a:r>
                <a14:m>
                  <m:oMath xmlns:m="http://schemas.openxmlformats.org/officeDocument/2006/math">
                    <m:acc>
                      <m:accPr>
                        <m:chr m:val="̂"/>
                        <m:ctrlPr>
                          <a:rPr lang="en-US" altLang="he-IL" i="1" dirty="0">
                            <a:latin typeface="Cambria Math" panose="02040503050406030204" pitchFamily="18" charset="0"/>
                          </a:rPr>
                        </m:ctrlPr>
                      </m:accPr>
                      <m:e>
                        <m:r>
                          <a:rPr lang="en-US" altLang="he-IL" i="1" dirty="0">
                            <a:latin typeface="Cambria Math" panose="02040503050406030204" pitchFamily="18" charset="0"/>
                          </a:rPr>
                          <m:t>𝑅</m:t>
                        </m:r>
                      </m:e>
                    </m:acc>
                    <m:r>
                      <a:rPr lang="en-US" altLang="he-IL" b="0" i="1" dirty="0" smtClean="0">
                        <a:latin typeface="Cambria Math" panose="02040503050406030204" pitchFamily="18" charset="0"/>
                      </a:rPr>
                      <m:t>=</m:t>
                    </m:r>
                    <m:r>
                      <a:rPr lang="en-US" altLang="he-IL" b="0" i="1" dirty="0" smtClean="0">
                        <a:latin typeface="Cambria Math" panose="02040503050406030204" pitchFamily="18" charset="0"/>
                      </a:rPr>
                      <m:t>1</m:t>
                    </m:r>
                  </m:oMath>
                </a14:m>
                <a:r>
                  <a:rPr lang="en-US" altLang="he-IL" dirty="0"/>
                  <a:t>. </a:t>
                </a:r>
              </a:p>
              <a:p>
                <a:pPr lvl="1" algn="l" rtl="0">
                  <a:lnSpc>
                    <a:spcPct val="150000"/>
                  </a:lnSpc>
                </a:pPr>
                <a:endParaRPr lang="en-US" altLang="he-IL" dirty="0"/>
              </a:p>
            </p:txBody>
          </p:sp>
        </mc:Choice>
        <mc:Fallback xmlns="">
          <p:sp>
            <p:nvSpPr>
              <p:cNvPr id="3" name="Content Placeholder 2">
                <a:extLst>
                  <a:ext uri="{FF2B5EF4-FFF2-40B4-BE49-F238E27FC236}">
                    <a16:creationId xmlns:a16="http://schemas.microsoft.com/office/drawing/2014/main" id="{20B96A85-D8B5-7BA0-204D-B9667510970B}"/>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he-IL">
                    <a:noFill/>
                  </a:rPr>
                  <a:t> </a:t>
                </a:r>
              </a:p>
            </p:txBody>
          </p:sp>
        </mc:Fallback>
      </mc:AlternateContent>
      <p:grpSp>
        <p:nvGrpSpPr>
          <p:cNvPr id="6" name="Group 5">
            <a:extLst>
              <a:ext uri="{FF2B5EF4-FFF2-40B4-BE49-F238E27FC236}">
                <a16:creationId xmlns:a16="http://schemas.microsoft.com/office/drawing/2014/main" id="{A2E057F6-D23F-25BE-B654-3AE76C5CC673}"/>
              </a:ext>
            </a:extLst>
          </p:cNvPr>
          <p:cNvGrpSpPr/>
          <p:nvPr/>
        </p:nvGrpSpPr>
        <p:grpSpPr>
          <a:xfrm>
            <a:off x="2389239" y="4337932"/>
            <a:ext cx="6980902" cy="1458184"/>
            <a:chOff x="3214000" y="4306348"/>
            <a:chExt cx="5861174" cy="1207051"/>
          </a:xfrm>
        </p:grpSpPr>
        <p:pic>
          <p:nvPicPr>
            <p:cNvPr id="4" name="Picture 3">
              <a:extLst>
                <a:ext uri="{FF2B5EF4-FFF2-40B4-BE49-F238E27FC236}">
                  <a16:creationId xmlns:a16="http://schemas.microsoft.com/office/drawing/2014/main" id="{880C93BF-738D-0B2A-7D26-05F9644167B1}"/>
                </a:ext>
              </a:extLst>
            </p:cNvPr>
            <p:cNvPicPr>
              <a:picLocks noChangeAspect="1"/>
            </p:cNvPicPr>
            <p:nvPr/>
          </p:nvPicPr>
          <p:blipFill>
            <a:blip r:embed="rId4"/>
            <a:srcRect t="63152" b="1354"/>
            <a:stretch>
              <a:fillRect/>
            </a:stretch>
          </p:blipFill>
          <p:spPr>
            <a:xfrm>
              <a:off x="3214000" y="4306348"/>
              <a:ext cx="5763999" cy="1072114"/>
            </a:xfrm>
            <a:prstGeom prst="rect">
              <a:avLst/>
            </a:prstGeom>
          </p:spPr>
        </p:pic>
        <p:sp>
          <p:nvSpPr>
            <p:cNvPr id="5" name="Rectangle: Rounded Corners 4">
              <a:extLst>
                <a:ext uri="{FF2B5EF4-FFF2-40B4-BE49-F238E27FC236}">
                  <a16:creationId xmlns:a16="http://schemas.microsoft.com/office/drawing/2014/main" id="{984435C8-3FC6-EC7A-CEED-966847F9C5D5}"/>
                </a:ext>
              </a:extLst>
            </p:cNvPr>
            <p:cNvSpPr/>
            <p:nvPr/>
          </p:nvSpPr>
          <p:spPr>
            <a:xfrm>
              <a:off x="8072284" y="4323515"/>
              <a:ext cx="1002890" cy="1189884"/>
            </a:xfrm>
            <a:prstGeom prst="roundRect">
              <a:avLst>
                <a:gd name="adj" fmla="val 50000"/>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grpSp>
    </p:spTree>
    <p:extLst>
      <p:ext uri="{BB962C8B-B14F-4D97-AF65-F5344CB8AC3E}">
        <p14:creationId xmlns:p14="http://schemas.microsoft.com/office/powerpoint/2010/main" val="411619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5E341-D1D6-29CD-1554-C25CB6F1C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FCDED-2594-A43C-9371-4BCC3B56BC00}"/>
              </a:ext>
            </a:extLst>
          </p:cNvPr>
          <p:cNvSpPr>
            <a:spLocks noGrp="1"/>
          </p:cNvSpPr>
          <p:nvPr>
            <p:ph type="title"/>
          </p:nvPr>
        </p:nvSpPr>
        <p:spPr/>
        <p:txBody>
          <a:bodyPr/>
          <a:lstStyle/>
          <a:p>
            <a:pPr algn="l" rtl="0"/>
            <a:r>
              <a:rPr lang="en-US" dirty="0">
                <a:ea typeface="Source Sans Pro"/>
              </a:rPr>
              <a:t>Sampling diagnostics </a:t>
            </a:r>
            <a:endParaRPr lang="he-IL" dirty="0"/>
          </a:p>
        </p:txBody>
      </p:sp>
      <p:sp>
        <p:nvSpPr>
          <p:cNvPr id="3" name="Content Placeholder 2">
            <a:extLst>
              <a:ext uri="{FF2B5EF4-FFF2-40B4-BE49-F238E27FC236}">
                <a16:creationId xmlns:a16="http://schemas.microsoft.com/office/drawing/2014/main" id="{7A188CCA-0E1F-3F3F-2391-F00C84AD5E88}"/>
              </a:ext>
            </a:extLst>
          </p:cNvPr>
          <p:cNvSpPr>
            <a:spLocks noGrp="1"/>
          </p:cNvSpPr>
          <p:nvPr>
            <p:ph idx="1"/>
          </p:nvPr>
        </p:nvSpPr>
        <p:spPr/>
        <p:txBody>
          <a:bodyPr>
            <a:normAutofit/>
          </a:bodyPr>
          <a:lstStyle/>
          <a:p>
            <a:pPr lvl="1" algn="l" rtl="0">
              <a:lnSpc>
                <a:spcPct val="150000"/>
              </a:lnSpc>
            </a:pPr>
            <a:r>
              <a:rPr lang="en-US" b="1" dirty="0"/>
              <a:t>Monte Carlo Standard Error </a:t>
            </a:r>
            <a:r>
              <a:rPr lang="en-US" dirty="0"/>
              <a:t>- Uncertainty in posterior summaries caused by finite sampling.</a:t>
            </a:r>
          </a:p>
          <a:p>
            <a:pPr lvl="1" algn="l" rtl="0">
              <a:lnSpc>
                <a:spcPct val="150000"/>
              </a:lnSpc>
            </a:pPr>
            <a:r>
              <a:rPr lang="en-US" dirty="0"/>
              <a:t>Should be less than 1–2%.</a:t>
            </a:r>
          </a:p>
          <a:p>
            <a:pPr lvl="1" algn="l" rtl="0">
              <a:lnSpc>
                <a:spcPct val="150000"/>
              </a:lnSpc>
            </a:pPr>
            <a:endParaRPr lang="en-US" dirty="0"/>
          </a:p>
        </p:txBody>
      </p:sp>
      <p:pic>
        <p:nvPicPr>
          <p:cNvPr id="5" name="Picture 4">
            <a:extLst>
              <a:ext uri="{FF2B5EF4-FFF2-40B4-BE49-F238E27FC236}">
                <a16:creationId xmlns:a16="http://schemas.microsoft.com/office/drawing/2014/main" id="{88B86157-5B11-C81B-B1EC-9056CBEC055C}"/>
              </a:ext>
            </a:extLst>
          </p:cNvPr>
          <p:cNvPicPr>
            <a:picLocks noChangeAspect="1"/>
          </p:cNvPicPr>
          <p:nvPr/>
        </p:nvPicPr>
        <p:blipFill>
          <a:blip r:embed="rId3"/>
          <a:stretch>
            <a:fillRect/>
          </a:stretch>
        </p:blipFill>
        <p:spPr>
          <a:xfrm>
            <a:off x="6629000" y="2872058"/>
            <a:ext cx="2044175" cy="879471"/>
          </a:xfrm>
          <a:prstGeom prst="rect">
            <a:avLst/>
          </a:prstGeom>
        </p:spPr>
      </p:pic>
      <p:grpSp>
        <p:nvGrpSpPr>
          <p:cNvPr id="4" name="Group 3">
            <a:extLst>
              <a:ext uri="{FF2B5EF4-FFF2-40B4-BE49-F238E27FC236}">
                <a16:creationId xmlns:a16="http://schemas.microsoft.com/office/drawing/2014/main" id="{5C8BFEB7-B688-F502-1EC8-F686504E73A7}"/>
              </a:ext>
            </a:extLst>
          </p:cNvPr>
          <p:cNvGrpSpPr/>
          <p:nvPr/>
        </p:nvGrpSpPr>
        <p:grpSpPr>
          <a:xfrm>
            <a:off x="3214000" y="4760498"/>
            <a:ext cx="5763999" cy="1189884"/>
            <a:chOff x="3214000" y="4268885"/>
            <a:chExt cx="5763999" cy="1189884"/>
          </a:xfrm>
        </p:grpSpPr>
        <p:pic>
          <p:nvPicPr>
            <p:cNvPr id="6" name="Picture 5">
              <a:extLst>
                <a:ext uri="{FF2B5EF4-FFF2-40B4-BE49-F238E27FC236}">
                  <a16:creationId xmlns:a16="http://schemas.microsoft.com/office/drawing/2014/main" id="{B44D9A16-8B85-B75C-EDFA-E41B2F4DEF87}"/>
                </a:ext>
              </a:extLst>
            </p:cNvPr>
            <p:cNvPicPr>
              <a:picLocks noChangeAspect="1"/>
            </p:cNvPicPr>
            <p:nvPr/>
          </p:nvPicPr>
          <p:blipFill>
            <a:blip r:embed="rId4"/>
            <a:srcRect t="63152" b="1354"/>
            <a:stretch>
              <a:fillRect/>
            </a:stretch>
          </p:blipFill>
          <p:spPr>
            <a:xfrm>
              <a:off x="3214000" y="4306348"/>
              <a:ext cx="5763999" cy="1072114"/>
            </a:xfrm>
            <a:prstGeom prst="rect">
              <a:avLst/>
            </a:prstGeom>
          </p:spPr>
        </p:pic>
        <p:sp>
          <p:nvSpPr>
            <p:cNvPr id="7" name="Rectangle: Rounded Corners 6">
              <a:extLst>
                <a:ext uri="{FF2B5EF4-FFF2-40B4-BE49-F238E27FC236}">
                  <a16:creationId xmlns:a16="http://schemas.microsoft.com/office/drawing/2014/main" id="{B63845CC-842A-140E-B884-AFF1947607CC}"/>
                </a:ext>
              </a:extLst>
            </p:cNvPr>
            <p:cNvSpPr/>
            <p:nvPr/>
          </p:nvSpPr>
          <p:spPr>
            <a:xfrm>
              <a:off x="3982062" y="4268885"/>
              <a:ext cx="2182763" cy="1189884"/>
            </a:xfrm>
            <a:prstGeom prst="roundRect">
              <a:avLst>
                <a:gd name="adj" fmla="val 50000"/>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grpSp>
    </p:spTree>
    <p:extLst>
      <p:ext uri="{BB962C8B-B14F-4D97-AF65-F5344CB8AC3E}">
        <p14:creationId xmlns:p14="http://schemas.microsoft.com/office/powerpoint/2010/main" val="3478968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6A3EF03-BDEE-21C8-B5AF-2AF5B86B97A6}"/>
              </a:ext>
            </a:extLst>
          </p:cNvPr>
          <p:cNvSpPr>
            <a:spLocks noGrp="1"/>
          </p:cNvSpPr>
          <p:nvPr>
            <p:ph type="title"/>
          </p:nvPr>
        </p:nvSpPr>
        <p:spPr/>
        <p:txBody>
          <a:bodyPr/>
          <a:lstStyle/>
          <a:p>
            <a:pPr algn="l" rtl="0"/>
            <a:r>
              <a:rPr lang="en-US" dirty="0">
                <a:latin typeface="David" panose="020E0502060401010101" pitchFamily="34" charset="-79"/>
                <a:ea typeface="Source Sans Pro"/>
              </a:rPr>
              <a:t>Divergences</a:t>
            </a:r>
            <a:endParaRPr lang="he-IL" dirty="0"/>
          </a:p>
        </p:txBody>
      </p:sp>
      <p:sp>
        <p:nvSpPr>
          <p:cNvPr id="3" name="מציין מיקום תוכן 2">
            <a:extLst>
              <a:ext uri="{FF2B5EF4-FFF2-40B4-BE49-F238E27FC236}">
                <a16:creationId xmlns:a16="http://schemas.microsoft.com/office/drawing/2014/main" id="{130BC2A1-6D1B-3836-7ED2-7AD9C1BA2BF4}"/>
              </a:ext>
            </a:extLst>
          </p:cNvPr>
          <p:cNvSpPr>
            <a:spLocks noGrp="1"/>
          </p:cNvSpPr>
          <p:nvPr>
            <p:ph idx="1"/>
          </p:nvPr>
        </p:nvSpPr>
        <p:spPr/>
        <p:txBody>
          <a:bodyPr>
            <a:normAutofit lnSpcReduction="10000"/>
          </a:bodyPr>
          <a:lstStyle/>
          <a:p>
            <a:pPr algn="l" rtl="0"/>
            <a:r>
              <a:rPr lang="en-US" dirty="0"/>
              <a:t>Diagnostic warning exclusive to the NUTS (No-U-Turn Sampler) method.</a:t>
            </a:r>
          </a:p>
          <a:p>
            <a:pPr algn="l" rtl="0"/>
            <a:r>
              <a:rPr lang="en-US" dirty="0"/>
              <a:t>Unlike the other that evaluate the properties of the generated samples, divergences are based on the inner workings of the sampling algorithm itself.</a:t>
            </a:r>
          </a:p>
          <a:p>
            <a:pPr algn="l" rtl="0"/>
            <a:r>
              <a:rPr lang="en-US" dirty="0"/>
              <a:t>How to fix:</a:t>
            </a:r>
          </a:p>
          <a:p>
            <a:pPr lvl="1" algn="l" rtl="0"/>
            <a:r>
              <a:rPr lang="en-US" b="1" dirty="0"/>
              <a:t>Increase the </a:t>
            </a:r>
            <a:r>
              <a:rPr lang="en-US" b="1" dirty="0" err="1"/>
              <a:t>target_accept</a:t>
            </a:r>
            <a:r>
              <a:rPr lang="en-US" b="1" dirty="0"/>
              <a:t> parameter: </a:t>
            </a:r>
            <a:r>
              <a:rPr lang="en-US" dirty="0"/>
              <a:t>force the sampler to take smaller, more careful steps and resolve the divergences. Default is 0.8, If you have to push this value extremely high (e.g., 0.999 it might not be enough.</a:t>
            </a:r>
          </a:p>
          <a:p>
            <a:pPr lvl="1" algn="l" rtl="0"/>
            <a:r>
              <a:rPr lang="en-US" b="1" dirty="0"/>
              <a:t>Reparameterize the model: </a:t>
            </a:r>
            <a:r>
              <a:rPr lang="en-US" dirty="0"/>
              <a:t>rewriting the model in a mathematically equivalent way that creates a friendlier geometry for the sampler. </a:t>
            </a:r>
            <a:endParaRPr lang="he-IL" dirty="0"/>
          </a:p>
        </p:txBody>
      </p:sp>
    </p:spTree>
    <p:extLst>
      <p:ext uri="{BB962C8B-B14F-4D97-AF65-F5344CB8AC3E}">
        <p14:creationId xmlns:p14="http://schemas.microsoft.com/office/powerpoint/2010/main" val="2732742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D373E-17B3-648A-8A43-02034C154C1A}"/>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3D7B9AC-E30B-A037-C6FC-455B3031DA31}"/>
              </a:ext>
            </a:extLst>
          </p:cNvPr>
          <p:cNvSpPr>
            <a:spLocks noGrp="1"/>
          </p:cNvSpPr>
          <p:nvPr>
            <p:ph type="title"/>
          </p:nvPr>
        </p:nvSpPr>
        <p:spPr/>
        <p:txBody>
          <a:bodyPr/>
          <a:lstStyle/>
          <a:p>
            <a:pPr algn="l" rtl="0"/>
            <a:r>
              <a:rPr lang="en-US" dirty="0">
                <a:latin typeface="David" panose="020E0502060401010101" pitchFamily="34" charset="-79"/>
                <a:ea typeface="Source Sans Pro"/>
              </a:rPr>
              <a:t>Divergences</a:t>
            </a:r>
            <a:endParaRPr lang="he-IL" dirty="0"/>
          </a:p>
        </p:txBody>
      </p:sp>
      <p:sp>
        <p:nvSpPr>
          <p:cNvPr id="3" name="מציין מיקום תוכן 2">
            <a:extLst>
              <a:ext uri="{FF2B5EF4-FFF2-40B4-BE49-F238E27FC236}">
                <a16:creationId xmlns:a16="http://schemas.microsoft.com/office/drawing/2014/main" id="{8CC2ED33-593F-9CEC-D7B8-DFE8B2637085}"/>
              </a:ext>
            </a:extLst>
          </p:cNvPr>
          <p:cNvSpPr>
            <a:spLocks noGrp="1"/>
          </p:cNvSpPr>
          <p:nvPr>
            <p:ph idx="1"/>
          </p:nvPr>
        </p:nvSpPr>
        <p:spPr/>
        <p:txBody>
          <a:bodyPr>
            <a:normAutofit/>
          </a:bodyPr>
          <a:lstStyle/>
          <a:p>
            <a:pPr algn="l" rtl="0"/>
            <a:r>
              <a:rPr lang="en-US" dirty="0"/>
              <a:t>Trace plots with divergences examples</a:t>
            </a:r>
            <a:endParaRPr lang="he-IL" dirty="0"/>
          </a:p>
        </p:txBody>
      </p:sp>
      <p:pic>
        <p:nvPicPr>
          <p:cNvPr id="5" name="Picture 4">
            <a:extLst>
              <a:ext uri="{FF2B5EF4-FFF2-40B4-BE49-F238E27FC236}">
                <a16:creationId xmlns:a16="http://schemas.microsoft.com/office/drawing/2014/main" id="{2ACA82A7-ABDC-691F-2334-F4E13B21770D}"/>
              </a:ext>
            </a:extLst>
          </p:cNvPr>
          <p:cNvPicPr>
            <a:picLocks noChangeAspect="1"/>
          </p:cNvPicPr>
          <p:nvPr/>
        </p:nvPicPr>
        <p:blipFill>
          <a:blip r:embed="rId3"/>
          <a:srcRect t="59695"/>
          <a:stretch>
            <a:fillRect/>
          </a:stretch>
        </p:blipFill>
        <p:spPr>
          <a:xfrm>
            <a:off x="1092705" y="2541605"/>
            <a:ext cx="9720438" cy="1482621"/>
          </a:xfrm>
          <a:prstGeom prst="rect">
            <a:avLst/>
          </a:prstGeom>
        </p:spPr>
      </p:pic>
      <p:pic>
        <p:nvPicPr>
          <p:cNvPr id="6" name="Picture 5">
            <a:extLst>
              <a:ext uri="{FF2B5EF4-FFF2-40B4-BE49-F238E27FC236}">
                <a16:creationId xmlns:a16="http://schemas.microsoft.com/office/drawing/2014/main" id="{7EB0D0C1-B751-CFDC-FF34-FC35FC63DC3F}"/>
              </a:ext>
            </a:extLst>
          </p:cNvPr>
          <p:cNvPicPr>
            <a:picLocks noChangeAspect="1"/>
          </p:cNvPicPr>
          <p:nvPr/>
        </p:nvPicPr>
        <p:blipFill>
          <a:blip r:embed="rId4"/>
          <a:stretch>
            <a:fillRect/>
          </a:stretch>
        </p:blipFill>
        <p:spPr>
          <a:xfrm>
            <a:off x="1092705" y="4401589"/>
            <a:ext cx="10006589" cy="1375078"/>
          </a:xfrm>
          <a:prstGeom prst="rect">
            <a:avLst/>
          </a:prstGeom>
        </p:spPr>
      </p:pic>
    </p:spTree>
    <p:extLst>
      <p:ext uri="{BB962C8B-B14F-4D97-AF65-F5344CB8AC3E}">
        <p14:creationId xmlns:p14="http://schemas.microsoft.com/office/powerpoint/2010/main" val="2804506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BF532-AD03-1CF8-B960-0D2EF051FC5B}"/>
              </a:ext>
            </a:extLst>
          </p:cNvPr>
          <p:cNvSpPr>
            <a:spLocks noGrp="1"/>
          </p:cNvSpPr>
          <p:nvPr>
            <p:ph type="title"/>
          </p:nvPr>
        </p:nvSpPr>
        <p:spPr/>
        <p:txBody>
          <a:bodyPr/>
          <a:lstStyle/>
          <a:p>
            <a:pPr algn="l" rtl="0"/>
            <a:r>
              <a:rPr lang="en-US" dirty="0">
                <a:ea typeface="Source Sans Pro"/>
              </a:rPr>
              <a:t>Validation</a:t>
            </a:r>
            <a:endParaRPr lang="he-IL" dirty="0"/>
          </a:p>
        </p:txBody>
      </p:sp>
      <p:sp>
        <p:nvSpPr>
          <p:cNvPr id="3" name="Content Placeholder 2">
            <a:extLst>
              <a:ext uri="{FF2B5EF4-FFF2-40B4-BE49-F238E27FC236}">
                <a16:creationId xmlns:a16="http://schemas.microsoft.com/office/drawing/2014/main" id="{E21D79E5-9023-7461-E90C-E462C1011A9B}"/>
              </a:ext>
            </a:extLst>
          </p:cNvPr>
          <p:cNvSpPr>
            <a:spLocks noGrp="1"/>
          </p:cNvSpPr>
          <p:nvPr>
            <p:ph idx="1"/>
          </p:nvPr>
        </p:nvSpPr>
        <p:spPr/>
        <p:txBody>
          <a:bodyPr>
            <a:normAutofit/>
          </a:bodyPr>
          <a:lstStyle/>
          <a:p>
            <a:pPr marL="0" indent="0" algn="l" rtl="0">
              <a:buNone/>
            </a:pPr>
            <a:r>
              <a:rPr lang="en-US" dirty="0">
                <a:ea typeface="Source Sans Pro"/>
              </a:rPr>
              <a:t>Reminder</a:t>
            </a:r>
          </a:p>
          <a:p>
            <a:pPr algn="l" rtl="0"/>
            <a:r>
              <a:rPr lang="en-US" dirty="0">
                <a:ea typeface="Source Sans Pro"/>
              </a:rPr>
              <a:t>Prior predictive sampling shows model coherence </a:t>
            </a:r>
          </a:p>
          <a:p>
            <a:pPr algn="l" rtl="0"/>
            <a:r>
              <a:rPr lang="en-US" dirty="0">
                <a:ea typeface="Source Sans Pro"/>
              </a:rPr>
              <a:t>Diagnostics shows sampling validity</a:t>
            </a:r>
          </a:p>
          <a:p>
            <a:pPr algn="l" rtl="0"/>
            <a:r>
              <a:rPr lang="en-US" dirty="0">
                <a:ea typeface="Source Sans Pro"/>
              </a:rPr>
              <a:t> Posterior predictive sampling shows model fit</a:t>
            </a:r>
            <a:endParaRPr lang="he-IL" dirty="0">
              <a:ea typeface="Source Sans Pro"/>
            </a:endParaRPr>
          </a:p>
        </p:txBody>
      </p:sp>
    </p:spTree>
    <p:extLst>
      <p:ext uri="{BB962C8B-B14F-4D97-AF65-F5344CB8AC3E}">
        <p14:creationId xmlns:p14="http://schemas.microsoft.com/office/powerpoint/2010/main" val="2387929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CDF3D-DB79-16D5-196A-1602FB8CA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13433-9DEC-E808-D46D-60EE805AF3EE}"/>
              </a:ext>
            </a:extLst>
          </p:cNvPr>
          <p:cNvSpPr>
            <a:spLocks noGrp="1"/>
          </p:cNvSpPr>
          <p:nvPr>
            <p:ph type="title"/>
          </p:nvPr>
        </p:nvSpPr>
        <p:spPr/>
        <p:txBody>
          <a:bodyPr/>
          <a:lstStyle/>
          <a:p>
            <a:pPr algn="l" rtl="0"/>
            <a:r>
              <a:rPr lang="en-US" dirty="0">
                <a:ea typeface="Source Sans Pro"/>
              </a:rPr>
              <a:t>Validation</a:t>
            </a:r>
            <a:endParaRPr lang="he-IL" dirty="0"/>
          </a:p>
        </p:txBody>
      </p:sp>
      <p:sp>
        <p:nvSpPr>
          <p:cNvPr id="3" name="Content Placeholder 2">
            <a:extLst>
              <a:ext uri="{FF2B5EF4-FFF2-40B4-BE49-F238E27FC236}">
                <a16:creationId xmlns:a16="http://schemas.microsoft.com/office/drawing/2014/main" id="{312C91F7-8C21-7002-9DB0-C8DFA7B2D053}"/>
              </a:ext>
            </a:extLst>
          </p:cNvPr>
          <p:cNvSpPr>
            <a:spLocks noGrp="1"/>
          </p:cNvSpPr>
          <p:nvPr>
            <p:ph idx="1"/>
          </p:nvPr>
        </p:nvSpPr>
        <p:spPr/>
        <p:txBody>
          <a:bodyPr>
            <a:normAutofit/>
          </a:bodyPr>
          <a:lstStyle/>
          <a:p>
            <a:pPr algn="l" rtl="0"/>
            <a:r>
              <a:rPr lang="en-US" b="1" dirty="0"/>
              <a:t>A prior predictive plot </a:t>
            </a:r>
            <a:r>
              <a:rPr lang="en-US" dirty="0"/>
              <a:t>shows data simulated from the model before seeing the observed data.</a:t>
            </a:r>
          </a:p>
          <a:p>
            <a:pPr algn="l" rtl="0"/>
            <a:r>
              <a:rPr lang="en-US" dirty="0"/>
              <a:t>If my priors and likelihood are true, what kind of data could this model generate?</a:t>
            </a:r>
          </a:p>
          <a:p>
            <a:pPr algn="l" rtl="0"/>
            <a:r>
              <a:rPr lang="en-US" dirty="0">
                <a:ea typeface="Source Sans Pro"/>
              </a:rPr>
              <a:t>Usually we want the </a:t>
            </a:r>
            <a:r>
              <a:rPr lang="en-US" dirty="0"/>
              <a:t>prior predictive samples to be wider than the observed data.</a:t>
            </a:r>
            <a:endParaRPr lang="he-IL" dirty="0">
              <a:ea typeface="Source Sans Pro"/>
            </a:endParaRPr>
          </a:p>
        </p:txBody>
      </p:sp>
    </p:spTree>
    <p:extLst>
      <p:ext uri="{BB962C8B-B14F-4D97-AF65-F5344CB8AC3E}">
        <p14:creationId xmlns:p14="http://schemas.microsoft.com/office/powerpoint/2010/main" val="1370753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B7BA-C168-DB98-6A12-1DBF2A63D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55337-F2B5-D663-054F-98B3C497FCE2}"/>
              </a:ext>
            </a:extLst>
          </p:cNvPr>
          <p:cNvSpPr>
            <a:spLocks noGrp="1"/>
          </p:cNvSpPr>
          <p:nvPr>
            <p:ph type="title"/>
          </p:nvPr>
        </p:nvSpPr>
        <p:spPr/>
        <p:txBody>
          <a:bodyPr/>
          <a:lstStyle/>
          <a:p>
            <a:pPr algn="l" rtl="0"/>
            <a:r>
              <a:rPr lang="en-US" dirty="0">
                <a:ea typeface="Source Sans Pro"/>
              </a:rPr>
              <a:t>Validation</a:t>
            </a:r>
            <a:endParaRPr lang="he-IL" dirty="0"/>
          </a:p>
        </p:txBody>
      </p:sp>
      <p:sp>
        <p:nvSpPr>
          <p:cNvPr id="3" name="Content Placeholder 2">
            <a:extLst>
              <a:ext uri="{FF2B5EF4-FFF2-40B4-BE49-F238E27FC236}">
                <a16:creationId xmlns:a16="http://schemas.microsoft.com/office/drawing/2014/main" id="{7F6FFA53-6A41-8720-53AF-12B6DAB0D3F0}"/>
              </a:ext>
            </a:extLst>
          </p:cNvPr>
          <p:cNvSpPr>
            <a:spLocks noGrp="1"/>
          </p:cNvSpPr>
          <p:nvPr>
            <p:ph idx="1"/>
          </p:nvPr>
        </p:nvSpPr>
        <p:spPr/>
        <p:txBody>
          <a:bodyPr>
            <a:normAutofit/>
          </a:bodyPr>
          <a:lstStyle/>
          <a:p>
            <a:pPr algn="l" rtl="0"/>
            <a:r>
              <a:rPr lang="en-US" b="1" dirty="0"/>
              <a:t>A posterior predictive plot </a:t>
            </a:r>
            <a:r>
              <a:rPr lang="en-US" dirty="0"/>
              <a:t>shows data simulated from the model after fitting the model.</a:t>
            </a:r>
          </a:p>
          <a:p>
            <a:pPr algn="l" rtl="0"/>
            <a:r>
              <a:rPr lang="en-US" dirty="0"/>
              <a:t>After learning from the observed data, can the model generate data that look like the real data? </a:t>
            </a:r>
          </a:p>
          <a:p>
            <a:pPr algn="l" rtl="0"/>
            <a:r>
              <a:rPr lang="en-US" dirty="0">
                <a:ea typeface="Source Sans Pro"/>
              </a:rPr>
              <a:t>Usually we want to see if</a:t>
            </a:r>
            <a:r>
              <a:rPr lang="en-US" dirty="0"/>
              <a:t> the fitted model reproduce the important patterns in the observed data</a:t>
            </a:r>
          </a:p>
          <a:p>
            <a:pPr algn="l" rtl="0"/>
            <a:endParaRPr lang="he-IL" dirty="0">
              <a:ea typeface="Source Sans Pro"/>
            </a:endParaRPr>
          </a:p>
        </p:txBody>
      </p:sp>
    </p:spTree>
    <p:extLst>
      <p:ext uri="{BB962C8B-B14F-4D97-AF65-F5344CB8AC3E}">
        <p14:creationId xmlns:p14="http://schemas.microsoft.com/office/powerpoint/2010/main" val="2854282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58905-3319-9338-C453-266B28A73088}"/>
              </a:ext>
            </a:extLst>
          </p:cNvPr>
          <p:cNvSpPr>
            <a:spLocks noGrp="1"/>
          </p:cNvSpPr>
          <p:nvPr>
            <p:ph type="title"/>
          </p:nvPr>
        </p:nvSpPr>
        <p:spPr/>
        <p:txBody>
          <a:bodyPr/>
          <a:lstStyle/>
          <a:p>
            <a:pPr algn="l" rtl="0"/>
            <a:r>
              <a:rPr lang="en-US" dirty="0"/>
              <a:t>Lecture 5 </a:t>
            </a:r>
            <a:endParaRPr lang="he-IL" dirty="0"/>
          </a:p>
        </p:txBody>
      </p:sp>
      <p:sp>
        <p:nvSpPr>
          <p:cNvPr id="3" name="Content Placeholder 2">
            <a:extLst>
              <a:ext uri="{FF2B5EF4-FFF2-40B4-BE49-F238E27FC236}">
                <a16:creationId xmlns:a16="http://schemas.microsoft.com/office/drawing/2014/main" id="{4FC5F9B9-1245-1823-8090-D2676A15CF46}"/>
              </a:ext>
            </a:extLst>
          </p:cNvPr>
          <p:cNvSpPr>
            <a:spLocks noGrp="1"/>
          </p:cNvSpPr>
          <p:nvPr>
            <p:ph idx="1"/>
          </p:nvPr>
        </p:nvSpPr>
        <p:spPr/>
        <p:txBody>
          <a:bodyPr/>
          <a:lstStyle/>
          <a:p>
            <a:pPr algn="l" rtl="0">
              <a:lnSpc>
                <a:spcPct val="150000"/>
              </a:lnSpc>
            </a:pPr>
            <a:r>
              <a:rPr lang="en-US" dirty="0">
                <a:ea typeface="Source Sans Pro"/>
              </a:rPr>
              <a:t>Pooled &amp; </a:t>
            </a:r>
            <a:r>
              <a:rPr lang="en-US" dirty="0" err="1">
                <a:ea typeface="Source Sans Pro"/>
              </a:rPr>
              <a:t>unpooled</a:t>
            </a:r>
            <a:r>
              <a:rPr lang="en-US" dirty="0">
                <a:ea typeface="Source Sans Pro"/>
              </a:rPr>
              <a:t> models</a:t>
            </a:r>
          </a:p>
          <a:p>
            <a:pPr algn="l" rtl="0">
              <a:lnSpc>
                <a:spcPct val="150000"/>
              </a:lnSpc>
            </a:pPr>
            <a:r>
              <a:rPr lang="en-US" dirty="0">
                <a:ea typeface="Source Sans Pro"/>
              </a:rPr>
              <a:t>Hierarchical model</a:t>
            </a:r>
          </a:p>
          <a:p>
            <a:pPr algn="l" rtl="0">
              <a:lnSpc>
                <a:spcPct val="150000"/>
              </a:lnSpc>
            </a:pPr>
            <a:r>
              <a:rPr lang="en-US" dirty="0">
                <a:ea typeface="Source Sans Pro"/>
              </a:rPr>
              <a:t>Multi-level models</a:t>
            </a:r>
          </a:p>
        </p:txBody>
      </p:sp>
    </p:spTree>
    <p:extLst>
      <p:ext uri="{BB962C8B-B14F-4D97-AF65-F5344CB8AC3E}">
        <p14:creationId xmlns:p14="http://schemas.microsoft.com/office/powerpoint/2010/main" val="566423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44904-4C87-3F65-E871-89F9C35DE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CD192-68F6-31B8-E2DF-C4FBD28B57CD}"/>
              </a:ext>
            </a:extLst>
          </p:cNvPr>
          <p:cNvSpPr>
            <a:spLocks noGrp="1"/>
          </p:cNvSpPr>
          <p:nvPr>
            <p:ph type="title"/>
          </p:nvPr>
        </p:nvSpPr>
        <p:spPr/>
        <p:txBody>
          <a:bodyPr/>
          <a:lstStyle/>
          <a:p>
            <a:pPr algn="l" rtl="0"/>
            <a:r>
              <a:rPr lang="en-US" dirty="0"/>
              <a:t>Beta Distribution – Clarification </a:t>
            </a:r>
            <a:endParaRPr lang="he-IL" dirty="0"/>
          </a:p>
        </p:txBody>
      </p:sp>
      <p:sp>
        <p:nvSpPr>
          <p:cNvPr id="3" name="Content Placeholder 2">
            <a:extLst>
              <a:ext uri="{FF2B5EF4-FFF2-40B4-BE49-F238E27FC236}">
                <a16:creationId xmlns:a16="http://schemas.microsoft.com/office/drawing/2014/main" id="{C41A66B8-358E-62D2-5C22-9BB68F8E959E}"/>
              </a:ext>
            </a:extLst>
          </p:cNvPr>
          <p:cNvSpPr>
            <a:spLocks noGrp="1"/>
          </p:cNvSpPr>
          <p:nvPr>
            <p:ph idx="1"/>
          </p:nvPr>
        </p:nvSpPr>
        <p:spPr>
          <a:xfrm>
            <a:off x="838200" y="1638528"/>
            <a:ext cx="10515600" cy="4725534"/>
          </a:xfrm>
        </p:spPr>
        <p:txBody>
          <a:bodyPr>
            <a:normAutofit/>
          </a:bodyPr>
          <a:lstStyle/>
          <a:p>
            <a:pPr marL="0" indent="0" algn="l" rtl="0">
              <a:buNone/>
            </a:pPr>
            <a:r>
              <a:rPr lang="en-US" sz="2400" dirty="0"/>
              <a:t>Up until now we used alpha and beta:</a:t>
            </a:r>
          </a:p>
          <a:p>
            <a:pPr marL="0" indent="0" algn="l" rtl="0">
              <a:buNone/>
            </a:pPr>
            <a:endParaRPr lang="en-US" sz="2400" dirty="0"/>
          </a:p>
          <a:p>
            <a:pPr marL="0" indent="0" algn="l" rtl="0">
              <a:buNone/>
            </a:pPr>
            <a:endParaRPr lang="en-US" sz="2400" dirty="0"/>
          </a:p>
          <a:p>
            <a:pPr marL="0" indent="0" algn="l" rtl="0">
              <a:buNone/>
            </a:pPr>
            <a:br>
              <a:rPr lang="en-US" sz="2400" dirty="0"/>
            </a:br>
            <a:endParaRPr lang="en-US" sz="2400" dirty="0"/>
          </a:p>
          <a:p>
            <a:pPr marL="0" indent="0" algn="l" rtl="0">
              <a:buNone/>
            </a:pPr>
            <a:r>
              <a:rPr lang="en-US" sz="2400" dirty="0"/>
              <a:t>Another function worth knowing: </a:t>
            </a:r>
          </a:p>
          <a:p>
            <a:pPr marL="0" indent="0" algn="l" rtl="0">
              <a:buNone/>
            </a:pPr>
            <a:endParaRPr lang="he-IL" sz="2400" dirty="0"/>
          </a:p>
        </p:txBody>
      </p:sp>
      <p:pic>
        <p:nvPicPr>
          <p:cNvPr id="5" name="Picture 4">
            <a:extLst>
              <a:ext uri="{FF2B5EF4-FFF2-40B4-BE49-F238E27FC236}">
                <a16:creationId xmlns:a16="http://schemas.microsoft.com/office/drawing/2014/main" id="{14292FA7-2CD3-69BC-A400-202C1939A895}"/>
              </a:ext>
            </a:extLst>
          </p:cNvPr>
          <p:cNvPicPr>
            <a:picLocks noChangeAspect="1"/>
          </p:cNvPicPr>
          <p:nvPr/>
        </p:nvPicPr>
        <p:blipFill>
          <a:blip r:embed="rId3"/>
          <a:srcRect b="26069"/>
          <a:stretch>
            <a:fillRect/>
          </a:stretch>
        </p:blipFill>
        <p:spPr>
          <a:xfrm>
            <a:off x="904150" y="4338493"/>
            <a:ext cx="5191850" cy="1936797"/>
          </a:xfrm>
          <a:prstGeom prst="rect">
            <a:avLst/>
          </a:prstGeom>
        </p:spPr>
      </p:pic>
      <p:pic>
        <p:nvPicPr>
          <p:cNvPr id="1026" name="Picture 2">
            <a:extLst>
              <a:ext uri="{FF2B5EF4-FFF2-40B4-BE49-F238E27FC236}">
                <a16:creationId xmlns:a16="http://schemas.microsoft.com/office/drawing/2014/main" id="{4D91C024-9648-6D4C-DE4B-F79349E7DED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7192"/>
          <a:stretch>
            <a:fillRect/>
          </a:stretch>
        </p:blipFill>
        <p:spPr bwMode="auto">
          <a:xfrm>
            <a:off x="7118599" y="2924718"/>
            <a:ext cx="4383314" cy="310592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F2943F5-407D-1235-CFC7-5B87A19FB82F}"/>
              </a:ext>
            </a:extLst>
          </p:cNvPr>
          <p:cNvPicPr>
            <a:picLocks noChangeAspect="1"/>
          </p:cNvPicPr>
          <p:nvPr/>
        </p:nvPicPr>
        <p:blipFill>
          <a:blip r:embed="rId5"/>
          <a:stretch>
            <a:fillRect/>
          </a:stretch>
        </p:blipFill>
        <p:spPr>
          <a:xfrm>
            <a:off x="986314" y="2235365"/>
            <a:ext cx="3572374" cy="1066949"/>
          </a:xfrm>
          <a:prstGeom prst="rect">
            <a:avLst/>
          </a:prstGeom>
        </p:spPr>
      </p:pic>
      <p:pic>
        <p:nvPicPr>
          <p:cNvPr id="7" name="Picture 6">
            <a:extLst>
              <a:ext uri="{FF2B5EF4-FFF2-40B4-BE49-F238E27FC236}">
                <a16:creationId xmlns:a16="http://schemas.microsoft.com/office/drawing/2014/main" id="{7074A21C-A39A-06DB-B68C-8BEDC084596D}"/>
              </a:ext>
            </a:extLst>
          </p:cNvPr>
          <p:cNvPicPr>
            <a:picLocks noChangeAspect="1"/>
          </p:cNvPicPr>
          <p:nvPr/>
        </p:nvPicPr>
        <p:blipFill>
          <a:blip r:embed="rId6"/>
          <a:stretch>
            <a:fillRect/>
          </a:stretch>
        </p:blipFill>
        <p:spPr>
          <a:xfrm>
            <a:off x="7709833" y="6108579"/>
            <a:ext cx="3200847" cy="333422"/>
          </a:xfrm>
          <a:prstGeom prst="rect">
            <a:avLst/>
          </a:prstGeom>
        </p:spPr>
      </p:pic>
    </p:spTree>
    <p:extLst>
      <p:ext uri="{BB962C8B-B14F-4D97-AF65-F5344CB8AC3E}">
        <p14:creationId xmlns:p14="http://schemas.microsoft.com/office/powerpoint/2010/main" val="519273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26CD-BBBE-4DC1-DAD8-219016AD5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5E53D-851D-E82B-CAF0-A3EE89F48CDC}"/>
              </a:ext>
            </a:extLst>
          </p:cNvPr>
          <p:cNvSpPr>
            <a:spLocks noGrp="1"/>
          </p:cNvSpPr>
          <p:nvPr>
            <p:ph type="title"/>
          </p:nvPr>
        </p:nvSpPr>
        <p:spPr/>
        <p:txBody>
          <a:bodyPr/>
          <a:lstStyle/>
          <a:p>
            <a:pPr algn="l" rtl="0"/>
            <a:r>
              <a:rPr lang="en-US" dirty="0"/>
              <a:t>Beta Distribution</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CB938A-735A-69A8-2072-5015227D6221}"/>
                  </a:ext>
                </a:extLst>
              </p:cNvPr>
              <p:cNvSpPr>
                <a:spLocks noGrp="1"/>
              </p:cNvSpPr>
              <p:nvPr>
                <p:ph idx="1"/>
              </p:nvPr>
            </p:nvSpPr>
            <p:spPr>
              <a:xfrm>
                <a:off x="838200" y="1578077"/>
                <a:ext cx="10515600" cy="5088193"/>
              </a:xfrm>
            </p:spPr>
            <p:txBody>
              <a:bodyPr>
                <a:normAutofit/>
              </a:bodyPr>
              <a:lstStyle/>
              <a:p>
                <a:pPr algn="l" rtl="0"/>
                <a:r>
                  <a:rPr lang="en-US" dirty="0"/>
                  <a:t>The same Beta distribution can be written using different parameterizations</a:t>
                </a:r>
              </a:p>
              <a:p>
                <a:pPr algn="l" rtl="0"/>
                <a:r>
                  <a:rPr lang="en-US" dirty="0"/>
                  <a:t>Alpha and beta:</a:t>
                </a:r>
              </a:p>
              <a:p>
                <a:pPr lvl="1" algn="l" rtl="0"/>
                <a14:m>
                  <m:oMath xmlns:m="http://schemas.openxmlformats.org/officeDocument/2006/math">
                    <m:r>
                      <a:rPr lang="en-US" i="1" dirty="0">
                        <a:latin typeface="Cambria Math" panose="02040503050406030204" pitchFamily="18" charset="0"/>
                        <a:ea typeface="Cambria Math" panose="02040503050406030204" pitchFamily="18" charset="0"/>
                      </a:rPr>
                      <m:t>𝛼</m:t>
                    </m:r>
                  </m:oMath>
                </a14:m>
                <a:r>
                  <a:rPr lang="en-US" dirty="0"/>
                  <a:t> = success-like prior information</a:t>
                </a:r>
                <a:br>
                  <a:rPr lang="en-US" dirty="0"/>
                </a:br>
                <a14:m>
                  <m:oMath xmlns:m="http://schemas.openxmlformats.org/officeDocument/2006/math">
                    <m:r>
                      <a:rPr lang="en-US" i="1" dirty="0">
                        <a:latin typeface="Cambria Math" panose="02040503050406030204" pitchFamily="18" charset="0"/>
                        <a:ea typeface="Cambria Math" panose="02040503050406030204" pitchFamily="18" charset="0"/>
                      </a:rPr>
                      <m:t>𝛽</m:t>
                    </m:r>
                  </m:oMath>
                </a14:m>
                <a:r>
                  <a:rPr lang="en-US" dirty="0"/>
                  <a:t> = failure-like prior information</a:t>
                </a:r>
                <a:br>
                  <a:rPr lang="en-US" dirty="0"/>
                </a:br>
                <a:endParaRPr lang="en-US" dirty="0"/>
              </a:p>
              <a:p>
                <a:pPr lvl="1" algn="l" rtl="0"/>
                <a:r>
                  <a:rPr lang="en-US" dirty="0"/>
                  <a:t>Mean centered around </a:t>
                </a:r>
                <a14:m>
                  <m:oMath xmlns:m="http://schemas.openxmlformats.org/officeDocument/2006/math">
                    <m:f>
                      <m:fPr>
                        <m:ctrlPr>
                          <a:rPr lang="en-US" i="1" dirty="0">
                            <a:latin typeface="Cambria Math" panose="02040503050406030204" pitchFamily="18" charset="0"/>
                            <a:ea typeface="Cambria Math" panose="02040503050406030204" pitchFamily="18" charset="0"/>
                          </a:rPr>
                        </m:ctrlPr>
                      </m:fPr>
                      <m:num>
                        <m:r>
                          <a:rPr lang="en-US" i="1" dirty="0">
                            <a:latin typeface="Cambria Math" panose="02040503050406030204" pitchFamily="18" charset="0"/>
                            <a:ea typeface="Cambria Math" panose="02040503050406030204" pitchFamily="18" charset="0"/>
                          </a:rPr>
                          <m:t>𝛼</m:t>
                        </m:r>
                      </m:num>
                      <m:den>
                        <m:r>
                          <a:rPr lang="en-US" i="1" dirty="0">
                            <a:latin typeface="Cambria Math" panose="02040503050406030204" pitchFamily="18" charset="0"/>
                            <a:ea typeface="Cambria Math" panose="02040503050406030204" pitchFamily="18" charset="0"/>
                          </a:rPr>
                          <m:t>𝛼</m:t>
                        </m:r>
                        <m:r>
                          <a:rPr lang="en-US" i="1" dirty="0" err="1">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𝛽</m:t>
                        </m:r>
                      </m:den>
                    </m:f>
                  </m:oMath>
                </a14:m>
                <a:br>
                  <a:rPr lang="en-US" dirty="0">
                    <a:ea typeface="Cambria Math" panose="02040503050406030204" pitchFamily="18" charset="0"/>
                  </a:rPr>
                </a:br>
                <a:endParaRPr lang="en-US" dirty="0">
                  <a:ea typeface="Cambria Math" panose="02040503050406030204" pitchFamily="18" charset="0"/>
                </a:endParaRPr>
              </a:p>
              <a:p>
                <a:pPr lvl="1" algn="l" rtl="0"/>
                <a:r>
                  <a:rPr lang="sv-SE" dirty="0">
                    <a:solidFill>
                      <a:schemeClr val="accent1"/>
                    </a:solidFill>
                  </a:rPr>
                  <a:t>pm.Beta("theta", alpha=2, beta=18)</a:t>
                </a:r>
                <a:endParaRPr lang="en-US" dirty="0">
                  <a:solidFill>
                    <a:schemeClr val="accent1"/>
                  </a:solidFill>
                  <a:ea typeface="Cambria Math" panose="02040503050406030204" pitchFamily="18" charset="0"/>
                </a:endParaRPr>
              </a:p>
              <a:p>
                <a:pPr marL="457200" lvl="1" indent="0" algn="l" rtl="0">
                  <a:buNone/>
                </a:pPr>
                <a:endParaRPr lang="en-US"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52CB938A-735A-69A8-2072-5015227D6221}"/>
                  </a:ext>
                </a:extLst>
              </p:cNvPr>
              <p:cNvSpPr>
                <a:spLocks noGrp="1" noRot="1" noChangeAspect="1" noMove="1" noResize="1" noEditPoints="1" noAdjustHandles="1" noChangeArrowheads="1" noChangeShapeType="1" noTextEdit="1"/>
              </p:cNvSpPr>
              <p:nvPr>
                <p:ph idx="1"/>
              </p:nvPr>
            </p:nvSpPr>
            <p:spPr>
              <a:xfrm>
                <a:off x="838200" y="1578077"/>
                <a:ext cx="10515600" cy="5088193"/>
              </a:xfrm>
              <a:blipFill>
                <a:blip r:embed="rId3"/>
                <a:stretch>
                  <a:fillRect l="-1043" t="-2036"/>
                </a:stretch>
              </a:blipFill>
            </p:spPr>
            <p:txBody>
              <a:bodyPr/>
              <a:lstStyle/>
              <a:p>
                <a:r>
                  <a:rPr lang="he-IL">
                    <a:noFill/>
                  </a:rPr>
                  <a:t> </a:t>
                </a:r>
              </a:p>
            </p:txBody>
          </p:sp>
        </mc:Fallback>
      </mc:AlternateContent>
    </p:spTree>
    <p:extLst>
      <p:ext uri="{BB962C8B-B14F-4D97-AF65-F5344CB8AC3E}">
        <p14:creationId xmlns:p14="http://schemas.microsoft.com/office/powerpoint/2010/main" val="2369530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52ADB-27D8-7D90-6568-83A459AF3F35}"/>
              </a:ext>
            </a:extLst>
          </p:cNvPr>
          <p:cNvSpPr>
            <a:spLocks noGrp="1"/>
          </p:cNvSpPr>
          <p:nvPr>
            <p:ph type="title"/>
          </p:nvPr>
        </p:nvSpPr>
        <p:spPr/>
        <p:txBody>
          <a:bodyPr/>
          <a:lstStyle/>
          <a:p>
            <a:pPr algn="l" rtl="0"/>
            <a:r>
              <a:rPr lang="en-US" dirty="0"/>
              <a:t>Beta Distribution</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C6903A-7013-FDAB-B220-91E172306972}"/>
                  </a:ext>
                </a:extLst>
              </p:cNvPr>
              <p:cNvSpPr>
                <a:spLocks noGrp="1"/>
              </p:cNvSpPr>
              <p:nvPr>
                <p:ph idx="1"/>
              </p:nvPr>
            </p:nvSpPr>
            <p:spPr>
              <a:xfrm>
                <a:off x="838200" y="1578077"/>
                <a:ext cx="10515600" cy="5088193"/>
              </a:xfrm>
            </p:spPr>
            <p:txBody>
              <a:bodyPr>
                <a:normAutofit/>
              </a:bodyPr>
              <a:lstStyle/>
              <a:p>
                <a:pPr algn="l" rtl="0"/>
                <a:r>
                  <a:rPr lang="en-US" dirty="0"/>
                  <a:t>We can also use mu and nu:</a:t>
                </a:r>
              </a:p>
              <a:p>
                <a:pPr lvl="1" algn="l" rtl="0"/>
                <a:r>
                  <a:rPr lang="en-US" dirty="0"/>
                  <a:t>mu = mean of the Beta distribution</a:t>
                </a:r>
                <a:br>
                  <a:rPr lang="en-US" dirty="0"/>
                </a:br>
                <a:r>
                  <a:rPr lang="en-US" dirty="0"/>
                  <a:t>nu = concentration around that mean</a:t>
                </a:r>
                <a:br>
                  <a:rPr lang="en-US" dirty="0"/>
                </a:br>
                <a:endParaRPr lang="en-US" dirty="0"/>
              </a:p>
              <a:p>
                <a:pPr lvl="1" algn="l" rtl="0"/>
                <a14:m>
                  <m:oMath xmlns:m="http://schemas.openxmlformats.org/officeDocument/2006/math">
                    <m:r>
                      <a:rPr lang="sv-SE" i="1" dirty="0" smtClean="0">
                        <a:latin typeface="Cambria Math" panose="02040503050406030204" pitchFamily="18" charset="0"/>
                        <a:ea typeface="Cambria Math" panose="02040503050406030204" pitchFamily="18" charset="0"/>
                      </a:rPr>
                      <m:t>𝜇</m:t>
                    </m:r>
                  </m:oMath>
                </a14:m>
                <a:r>
                  <a:rPr lang="sv-SE" dirty="0"/>
                  <a:t> = </a:t>
                </a:r>
                <a14:m>
                  <m:oMath xmlns:m="http://schemas.openxmlformats.org/officeDocument/2006/math">
                    <m:f>
                      <m:fPr>
                        <m:ctrlPr>
                          <a:rPr lang="en-US" i="1" dirty="0">
                            <a:latin typeface="Cambria Math" panose="02040503050406030204" pitchFamily="18" charset="0"/>
                            <a:ea typeface="Cambria Math" panose="02040503050406030204" pitchFamily="18" charset="0"/>
                          </a:rPr>
                        </m:ctrlPr>
                      </m:fPr>
                      <m:num>
                        <m:r>
                          <a:rPr lang="en-US" i="1" dirty="0">
                            <a:latin typeface="Cambria Math" panose="02040503050406030204" pitchFamily="18" charset="0"/>
                            <a:ea typeface="Cambria Math" panose="02040503050406030204" pitchFamily="18" charset="0"/>
                          </a:rPr>
                          <m:t>𝛼</m:t>
                        </m:r>
                      </m:num>
                      <m:den>
                        <m:r>
                          <a:rPr lang="en-US" i="1" dirty="0">
                            <a:latin typeface="Cambria Math" panose="02040503050406030204" pitchFamily="18" charset="0"/>
                            <a:ea typeface="Cambria Math" panose="02040503050406030204" pitchFamily="18" charset="0"/>
                          </a:rPr>
                          <m:t>𝛼</m:t>
                        </m:r>
                        <m:r>
                          <a:rPr lang="en-US" i="1" dirty="0" err="1">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𝛽</m:t>
                        </m:r>
                      </m:den>
                    </m:f>
                  </m:oMath>
                </a14:m>
                <a:br>
                  <a:rPr lang="en-US" dirty="0"/>
                </a:br>
                <a14:m>
                  <m:oMath xmlns:m="http://schemas.openxmlformats.org/officeDocument/2006/math">
                    <m:r>
                      <a:rPr lang="sv-SE" i="1" dirty="0" smtClean="0">
                        <a:latin typeface="Cambria Math" panose="02040503050406030204" pitchFamily="18" charset="0"/>
                        <a:ea typeface="Cambria Math" panose="02040503050406030204" pitchFamily="18" charset="0"/>
                      </a:rPr>
                      <m:t>𝜈</m:t>
                    </m:r>
                  </m:oMath>
                </a14:m>
                <a:r>
                  <a:rPr lang="sv-SE" dirty="0"/>
                  <a:t> = </a:t>
                </a:r>
                <a14:m>
                  <m:oMath xmlns:m="http://schemas.openxmlformats.org/officeDocument/2006/math">
                    <m:r>
                      <a:rPr lang="en-US" i="1" dirty="0">
                        <a:latin typeface="Cambria Math" panose="02040503050406030204" pitchFamily="18" charset="0"/>
                        <a:ea typeface="Cambria Math" panose="02040503050406030204" pitchFamily="18" charset="0"/>
                      </a:rPr>
                      <m:t>𝛼</m:t>
                    </m:r>
                    <m:r>
                      <a:rPr lang="en-US" i="1" dirty="0" err="1">
                        <a:latin typeface="Cambria Math" panose="02040503050406030204" pitchFamily="18" charset="0"/>
                      </a:rPr>
                      <m:t>+</m:t>
                    </m:r>
                    <m:r>
                      <a:rPr lang="en-US" i="1" dirty="0">
                        <a:latin typeface="Cambria Math" panose="02040503050406030204" pitchFamily="18" charset="0"/>
                        <a:ea typeface="Cambria Math" panose="02040503050406030204" pitchFamily="18" charset="0"/>
                      </a:rPr>
                      <m:t>𝛽</m:t>
                    </m:r>
                  </m:oMath>
                </a14:m>
                <a:br>
                  <a:rPr lang="en-US" dirty="0"/>
                </a:br>
                <a:endParaRPr lang="en-US" dirty="0"/>
              </a:p>
              <a:p>
                <a:pPr lvl="1" algn="l" rtl="0"/>
                <a:r>
                  <a:rPr lang="sv-SE" dirty="0">
                    <a:solidFill>
                      <a:schemeClr val="accent1"/>
                    </a:solidFill>
                  </a:rPr>
                  <a:t>pm.Beta("theta", mu=0.10, nu=20)</a:t>
                </a:r>
              </a:p>
              <a:p>
                <a:pPr marL="0" indent="0" algn="l" rtl="0">
                  <a:buNone/>
                </a:pPr>
                <a:endParaRPr lang="he-IL" dirty="0"/>
              </a:p>
            </p:txBody>
          </p:sp>
        </mc:Choice>
        <mc:Fallback xmlns="">
          <p:sp>
            <p:nvSpPr>
              <p:cNvPr id="3" name="Content Placeholder 2">
                <a:extLst>
                  <a:ext uri="{FF2B5EF4-FFF2-40B4-BE49-F238E27FC236}">
                    <a16:creationId xmlns:a16="http://schemas.microsoft.com/office/drawing/2014/main" id="{64C6903A-7013-FDAB-B220-91E172306972}"/>
                  </a:ext>
                </a:extLst>
              </p:cNvPr>
              <p:cNvSpPr>
                <a:spLocks noGrp="1" noRot="1" noChangeAspect="1" noMove="1" noResize="1" noEditPoints="1" noAdjustHandles="1" noChangeArrowheads="1" noChangeShapeType="1" noTextEdit="1"/>
              </p:cNvSpPr>
              <p:nvPr>
                <p:ph idx="1"/>
              </p:nvPr>
            </p:nvSpPr>
            <p:spPr>
              <a:xfrm>
                <a:off x="838200" y="1578077"/>
                <a:ext cx="10515600" cy="5088193"/>
              </a:xfrm>
              <a:blipFill>
                <a:blip r:embed="rId3"/>
                <a:stretch>
                  <a:fillRect l="-1217" t="-2036"/>
                </a:stretch>
              </a:blipFill>
            </p:spPr>
            <p:txBody>
              <a:bodyPr/>
              <a:lstStyle/>
              <a:p>
                <a:r>
                  <a:rPr lang="he-IL">
                    <a:noFill/>
                  </a:rPr>
                  <a:t> </a:t>
                </a:r>
              </a:p>
            </p:txBody>
          </p:sp>
        </mc:Fallback>
      </mc:AlternateContent>
    </p:spTree>
    <p:extLst>
      <p:ext uri="{BB962C8B-B14F-4D97-AF65-F5344CB8AC3E}">
        <p14:creationId xmlns:p14="http://schemas.microsoft.com/office/powerpoint/2010/main" val="365060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61148-96A7-3531-22E5-A89D2DE2F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B90AE-064B-4619-2F3F-ADAB1B2A1B5E}"/>
              </a:ext>
            </a:extLst>
          </p:cNvPr>
          <p:cNvSpPr>
            <a:spLocks noGrp="1"/>
          </p:cNvSpPr>
          <p:nvPr>
            <p:ph type="title"/>
          </p:nvPr>
        </p:nvSpPr>
        <p:spPr/>
        <p:txBody>
          <a:bodyPr/>
          <a:lstStyle/>
          <a:p>
            <a:pPr algn="l" rtl="0"/>
            <a:r>
              <a:rPr lang="en-US" dirty="0"/>
              <a:t>Beta Distribution</a:t>
            </a:r>
            <a:endParaRPr lang="he-IL" dirty="0"/>
          </a:p>
        </p:txBody>
      </p:sp>
      <p:sp>
        <p:nvSpPr>
          <p:cNvPr id="3" name="Content Placeholder 2">
            <a:extLst>
              <a:ext uri="{FF2B5EF4-FFF2-40B4-BE49-F238E27FC236}">
                <a16:creationId xmlns:a16="http://schemas.microsoft.com/office/drawing/2014/main" id="{C25F2D1F-0660-0D78-9C48-9EB0BC1EAA40}"/>
              </a:ext>
            </a:extLst>
          </p:cNvPr>
          <p:cNvSpPr>
            <a:spLocks noGrp="1"/>
          </p:cNvSpPr>
          <p:nvPr>
            <p:ph idx="1"/>
          </p:nvPr>
        </p:nvSpPr>
        <p:spPr>
          <a:xfrm>
            <a:off x="838200" y="1690688"/>
            <a:ext cx="10515600" cy="4695598"/>
          </a:xfrm>
        </p:spPr>
        <p:txBody>
          <a:bodyPr>
            <a:normAutofit/>
          </a:bodyPr>
          <a:lstStyle/>
          <a:p>
            <a:pPr algn="l" rtl="0"/>
            <a:r>
              <a:rPr lang="en-US" dirty="0"/>
              <a:t>Or use mu with sigma</a:t>
            </a:r>
            <a:r>
              <a:rPr lang="en-US" sz="2400" dirty="0"/>
              <a:t>:</a:t>
            </a:r>
          </a:p>
          <a:p>
            <a:pPr marL="742950" lvl="1" indent="-285750" algn="l" rtl="0"/>
            <a:r>
              <a:rPr lang="en-US" dirty="0"/>
              <a:t>sigma: standard deviation / width</a:t>
            </a:r>
            <a:br>
              <a:rPr lang="en-US" dirty="0"/>
            </a:br>
            <a:endParaRPr lang="en-US" dirty="0"/>
          </a:p>
          <a:p>
            <a:pPr marL="800100" lvl="2" indent="-342900" algn="l" rtl="0"/>
            <a:r>
              <a:rPr lang="pl-PL" sz="2400" dirty="0">
                <a:solidFill>
                  <a:schemeClr val="accent1"/>
                </a:solidFill>
              </a:rPr>
              <a:t>pm.Beta("theta", mu=0.10, sigma=0.05)</a:t>
            </a:r>
            <a:endParaRPr lang="he-IL" sz="2400" dirty="0">
              <a:solidFill>
                <a:schemeClr val="accent1"/>
              </a:solidFill>
            </a:endParaRPr>
          </a:p>
          <a:p>
            <a:pPr marL="0" lvl="1" indent="0" algn="l" rtl="0">
              <a:buNone/>
            </a:pPr>
            <a:endParaRPr lang="he-IL" dirty="0">
              <a:highlight>
                <a:srgbClr val="C0C0C0"/>
              </a:highlight>
            </a:endParaRPr>
          </a:p>
        </p:txBody>
      </p:sp>
      <p:pic>
        <p:nvPicPr>
          <p:cNvPr id="5" name="Picture 4">
            <a:extLst>
              <a:ext uri="{FF2B5EF4-FFF2-40B4-BE49-F238E27FC236}">
                <a16:creationId xmlns:a16="http://schemas.microsoft.com/office/drawing/2014/main" id="{EEE1A2AD-C51E-B358-3B85-4BDE69264668}"/>
              </a:ext>
            </a:extLst>
          </p:cNvPr>
          <p:cNvPicPr>
            <a:picLocks noChangeAspect="1"/>
          </p:cNvPicPr>
          <p:nvPr/>
        </p:nvPicPr>
        <p:blipFill>
          <a:blip r:embed="rId3"/>
          <a:stretch>
            <a:fillRect/>
          </a:stretch>
        </p:blipFill>
        <p:spPr>
          <a:xfrm>
            <a:off x="10174629" y="4087472"/>
            <a:ext cx="1676634" cy="2200582"/>
          </a:xfrm>
          <a:prstGeom prst="rect">
            <a:avLst/>
          </a:prstGeom>
        </p:spPr>
      </p:pic>
      <p:pic>
        <p:nvPicPr>
          <p:cNvPr id="7" name="Picture 6">
            <a:extLst>
              <a:ext uri="{FF2B5EF4-FFF2-40B4-BE49-F238E27FC236}">
                <a16:creationId xmlns:a16="http://schemas.microsoft.com/office/drawing/2014/main" id="{E4957211-09A6-7792-97B0-F58EE77B526B}"/>
              </a:ext>
            </a:extLst>
          </p:cNvPr>
          <p:cNvPicPr>
            <a:picLocks noChangeAspect="1"/>
          </p:cNvPicPr>
          <p:nvPr/>
        </p:nvPicPr>
        <p:blipFill>
          <a:blip r:embed="rId4"/>
          <a:stretch>
            <a:fillRect/>
          </a:stretch>
        </p:blipFill>
        <p:spPr>
          <a:xfrm>
            <a:off x="5866634" y="4038487"/>
            <a:ext cx="3810532" cy="1876687"/>
          </a:xfrm>
          <a:prstGeom prst="rect">
            <a:avLst/>
          </a:prstGeom>
        </p:spPr>
      </p:pic>
      <p:sp>
        <p:nvSpPr>
          <p:cNvPr id="8" name="TextBox 7">
            <a:extLst>
              <a:ext uri="{FF2B5EF4-FFF2-40B4-BE49-F238E27FC236}">
                <a16:creationId xmlns:a16="http://schemas.microsoft.com/office/drawing/2014/main" id="{A4AD01CD-E60F-4F26-B4CB-0EDB48B15D02}"/>
              </a:ext>
            </a:extLst>
          </p:cNvPr>
          <p:cNvSpPr txBox="1"/>
          <p:nvPr/>
        </p:nvSpPr>
        <p:spPr>
          <a:xfrm>
            <a:off x="9562041" y="4836232"/>
            <a:ext cx="612588" cy="461665"/>
          </a:xfrm>
          <a:prstGeom prst="rect">
            <a:avLst/>
          </a:prstGeom>
          <a:noFill/>
        </p:spPr>
        <p:txBody>
          <a:bodyPr wrap="square" rtlCol="1">
            <a:spAutoFit/>
          </a:bodyPr>
          <a:lstStyle/>
          <a:p>
            <a:r>
              <a:rPr lang="en-US" sz="2400" dirty="0">
                <a:latin typeface="David" panose="020E0502060401010101" pitchFamily="34" charset="-79"/>
                <a:cs typeface="David" panose="020E0502060401010101" pitchFamily="34" charset="-79"/>
              </a:rPr>
              <a:t>or</a:t>
            </a:r>
            <a:endParaRPr lang="he-IL" sz="24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1252023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C67BD-D9F1-535B-872C-75C65306B7A1}"/>
              </a:ext>
            </a:extLst>
          </p:cNvPr>
          <p:cNvSpPr>
            <a:spLocks noGrp="1"/>
          </p:cNvSpPr>
          <p:nvPr>
            <p:ph type="title"/>
          </p:nvPr>
        </p:nvSpPr>
        <p:spPr/>
        <p:txBody>
          <a:bodyPr/>
          <a:lstStyle/>
          <a:p>
            <a:pPr algn="l" rtl="0"/>
            <a:r>
              <a:rPr lang="en-US" dirty="0"/>
              <a:t>Today’s Dataset</a:t>
            </a:r>
            <a:endParaRPr lang="he-IL" dirty="0"/>
          </a:p>
        </p:txBody>
      </p:sp>
      <p:sp>
        <p:nvSpPr>
          <p:cNvPr id="3" name="Content Placeholder 2">
            <a:extLst>
              <a:ext uri="{FF2B5EF4-FFF2-40B4-BE49-F238E27FC236}">
                <a16:creationId xmlns:a16="http://schemas.microsoft.com/office/drawing/2014/main" id="{043EB4AA-D3A7-BB7F-193F-614F008293AA}"/>
              </a:ext>
            </a:extLst>
          </p:cNvPr>
          <p:cNvSpPr>
            <a:spLocks noGrp="1"/>
          </p:cNvSpPr>
          <p:nvPr>
            <p:ph idx="1"/>
          </p:nvPr>
        </p:nvSpPr>
        <p:spPr/>
        <p:txBody>
          <a:bodyPr/>
          <a:lstStyle/>
          <a:p>
            <a:pPr algn="l" rtl="0"/>
            <a:r>
              <a:rPr lang="en-US" dirty="0"/>
              <a:t>Startup dataset</a:t>
            </a:r>
          </a:p>
          <a:p>
            <a:pPr marL="0" indent="0" algn="l" rtl="0">
              <a:buNone/>
            </a:pPr>
            <a:endParaRPr lang="he-IL" dirty="0"/>
          </a:p>
        </p:txBody>
      </p:sp>
      <p:pic>
        <p:nvPicPr>
          <p:cNvPr id="5" name="Picture 4">
            <a:extLst>
              <a:ext uri="{FF2B5EF4-FFF2-40B4-BE49-F238E27FC236}">
                <a16:creationId xmlns:a16="http://schemas.microsoft.com/office/drawing/2014/main" id="{4974F194-62A0-4BB3-F5C7-E4BD1D71090B}"/>
              </a:ext>
            </a:extLst>
          </p:cNvPr>
          <p:cNvPicPr>
            <a:picLocks noChangeAspect="1"/>
          </p:cNvPicPr>
          <p:nvPr/>
        </p:nvPicPr>
        <p:blipFill>
          <a:blip r:embed="rId2"/>
          <a:srcRect t="1602"/>
          <a:stretch>
            <a:fillRect/>
          </a:stretch>
        </p:blipFill>
        <p:spPr>
          <a:xfrm>
            <a:off x="2097220" y="2588964"/>
            <a:ext cx="8543117" cy="3376407"/>
          </a:xfrm>
          <a:prstGeom prst="rect">
            <a:avLst/>
          </a:prstGeom>
        </p:spPr>
      </p:pic>
    </p:spTree>
    <p:extLst>
      <p:ext uri="{BB962C8B-B14F-4D97-AF65-F5344CB8AC3E}">
        <p14:creationId xmlns:p14="http://schemas.microsoft.com/office/powerpoint/2010/main" val="3909328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2AEC3-85D5-C2AF-5F3D-76083EE15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22DD1-8739-7F89-E327-6E7E6503C1F8}"/>
              </a:ext>
            </a:extLst>
          </p:cNvPr>
          <p:cNvSpPr>
            <a:spLocks noGrp="1"/>
          </p:cNvSpPr>
          <p:nvPr>
            <p:ph type="title"/>
          </p:nvPr>
        </p:nvSpPr>
        <p:spPr/>
        <p:txBody>
          <a:bodyPr/>
          <a:lstStyle/>
          <a:p>
            <a:pPr algn="l" rtl="0"/>
            <a:r>
              <a:rPr lang="en-US" dirty="0"/>
              <a:t>Today’s Dataset</a:t>
            </a:r>
            <a:endParaRPr lang="he-IL" dirty="0"/>
          </a:p>
        </p:txBody>
      </p:sp>
      <p:pic>
        <p:nvPicPr>
          <p:cNvPr id="3074" name="Picture 2">
            <a:extLst>
              <a:ext uri="{FF2B5EF4-FFF2-40B4-BE49-F238E27FC236}">
                <a16:creationId xmlns:a16="http://schemas.microsoft.com/office/drawing/2014/main" id="{74F52A9D-39F0-BD32-0280-147D7EFC3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3612" y="1625600"/>
            <a:ext cx="7724775" cy="486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38047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9041F-8AB7-6831-9A55-1BC498B0D4DF}"/>
              </a:ext>
            </a:extLst>
          </p:cNvPr>
          <p:cNvSpPr>
            <a:spLocks noGrp="1"/>
          </p:cNvSpPr>
          <p:nvPr>
            <p:ph type="title"/>
          </p:nvPr>
        </p:nvSpPr>
        <p:spPr/>
        <p:txBody>
          <a:bodyPr/>
          <a:lstStyle/>
          <a:p>
            <a:pPr algn="l" rtl="0"/>
            <a:r>
              <a:rPr lang="en-US" dirty="0"/>
              <a:t>Our current workflow (code wise)</a:t>
            </a:r>
            <a:endParaRPr lang="he-IL" dirty="0"/>
          </a:p>
        </p:txBody>
      </p:sp>
      <p:sp>
        <p:nvSpPr>
          <p:cNvPr id="3" name="Content Placeholder 2">
            <a:extLst>
              <a:ext uri="{FF2B5EF4-FFF2-40B4-BE49-F238E27FC236}">
                <a16:creationId xmlns:a16="http://schemas.microsoft.com/office/drawing/2014/main" id="{A311FE33-9B4A-B9A6-2714-7C350A088632}"/>
              </a:ext>
            </a:extLst>
          </p:cNvPr>
          <p:cNvSpPr>
            <a:spLocks noGrp="1"/>
          </p:cNvSpPr>
          <p:nvPr>
            <p:ph idx="1"/>
          </p:nvPr>
        </p:nvSpPr>
        <p:spPr/>
        <p:txBody>
          <a:bodyPr>
            <a:normAutofit/>
          </a:bodyPr>
          <a:lstStyle/>
          <a:p>
            <a:pPr marL="514350" indent="-514350" algn="l" rtl="0">
              <a:buFont typeface="+mj-lt"/>
              <a:buAutoNum type="arabicPeriod"/>
            </a:pPr>
            <a:r>
              <a:rPr lang="en-US" dirty="0"/>
              <a:t>Load &amp; describe at the data</a:t>
            </a:r>
          </a:p>
          <a:p>
            <a:pPr marL="514350" indent="-514350" algn="l" rtl="0">
              <a:buFont typeface="+mj-lt"/>
              <a:buAutoNum type="arabicPeriod"/>
            </a:pPr>
            <a:r>
              <a:rPr lang="en-US" dirty="0"/>
              <a:t>Choose a prior </a:t>
            </a:r>
            <a:r>
              <a:rPr lang="en-US" dirty="0">
                <a:solidFill>
                  <a:schemeClr val="accent1"/>
                </a:solidFill>
              </a:rPr>
              <a:t>(and hyperpriors)</a:t>
            </a:r>
          </a:p>
          <a:p>
            <a:pPr marL="514350" indent="-514350" algn="l" rtl="0">
              <a:buFont typeface="+mj-lt"/>
              <a:buAutoNum type="arabicPeriod"/>
            </a:pPr>
            <a:r>
              <a:rPr lang="en-US" dirty="0"/>
              <a:t>Write the model + plot it as a graph</a:t>
            </a:r>
          </a:p>
          <a:p>
            <a:pPr marL="514350" indent="-514350" algn="l" rtl="0">
              <a:buFont typeface="+mj-lt"/>
              <a:buAutoNum type="arabicPeriod"/>
            </a:pPr>
            <a:r>
              <a:rPr lang="en-US" dirty="0">
                <a:solidFill>
                  <a:schemeClr val="accent1"/>
                </a:solidFill>
              </a:rPr>
              <a:t>Prior predictive check (sample &amp; plot)</a:t>
            </a:r>
          </a:p>
          <a:p>
            <a:pPr marL="514350" indent="-514350" algn="l" rtl="0">
              <a:buFont typeface="+mj-lt"/>
              <a:buAutoNum type="arabicPeriod"/>
            </a:pPr>
            <a:r>
              <a:rPr lang="en-US" dirty="0"/>
              <a:t>Sample &amp; diagnostics (</a:t>
            </a:r>
            <a:r>
              <a:rPr lang="en-US" dirty="0">
                <a:solidFill>
                  <a:schemeClr val="accent1"/>
                </a:solidFill>
              </a:rPr>
              <a:t>posterior summary</a:t>
            </a:r>
            <a:r>
              <a:rPr lang="en-US" dirty="0"/>
              <a:t>, trace plot)</a:t>
            </a:r>
          </a:p>
          <a:p>
            <a:pPr marL="514350" indent="-514350" algn="l" rtl="0">
              <a:buFont typeface="+mj-lt"/>
              <a:buAutoNum type="arabicPeriod"/>
            </a:pPr>
            <a:r>
              <a:rPr lang="en-US" dirty="0">
                <a:solidFill>
                  <a:schemeClr val="accent1"/>
                </a:solidFill>
              </a:rPr>
              <a:t>Posterior predictive check (sample &amp; plot)</a:t>
            </a:r>
          </a:p>
          <a:p>
            <a:pPr marL="514350" indent="-514350" algn="l" rtl="0">
              <a:buFont typeface="+mj-lt"/>
              <a:buAutoNum type="arabicPeriod"/>
            </a:pPr>
            <a:r>
              <a:rPr lang="en-US" dirty="0"/>
              <a:t>Posterior (plot &amp; HDI)</a:t>
            </a:r>
            <a:endParaRPr lang="en-US" dirty="0">
              <a:solidFill>
                <a:schemeClr val="accent1"/>
              </a:solidFill>
            </a:endParaRPr>
          </a:p>
          <a:p>
            <a:pPr marL="0" indent="0" algn="l" rtl="0">
              <a:buNone/>
            </a:pPr>
            <a:r>
              <a:rPr lang="en-US" dirty="0"/>
              <a:t>Go back and change at any point if needed</a:t>
            </a:r>
          </a:p>
          <a:p>
            <a:pPr algn="l" rtl="0"/>
            <a:endParaRPr lang="he-IL" dirty="0"/>
          </a:p>
        </p:txBody>
      </p:sp>
    </p:spTree>
    <p:extLst>
      <p:ext uri="{BB962C8B-B14F-4D97-AF65-F5344CB8AC3E}">
        <p14:creationId xmlns:p14="http://schemas.microsoft.com/office/powerpoint/2010/main" val="1331771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4B244-402D-39FD-08FB-AF7F04603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1536A-C14C-4CBE-D527-91C4FA4D437D}"/>
              </a:ext>
            </a:extLst>
          </p:cNvPr>
          <p:cNvSpPr>
            <a:spLocks noGrp="1"/>
          </p:cNvSpPr>
          <p:nvPr>
            <p:ph type="ctrTitle"/>
          </p:nvPr>
        </p:nvSpPr>
        <p:spPr>
          <a:xfrm>
            <a:off x="1524000" y="2693288"/>
            <a:ext cx="9144000" cy="1267695"/>
          </a:xfrm>
        </p:spPr>
        <p:txBody>
          <a:bodyPr/>
          <a:lstStyle/>
          <a:p>
            <a:r>
              <a:rPr lang="en-US" dirty="0"/>
              <a:t>Pooled &amp; </a:t>
            </a:r>
            <a:r>
              <a:rPr lang="en-US" dirty="0" err="1"/>
              <a:t>Unpooled</a:t>
            </a:r>
            <a:r>
              <a:rPr lang="en-US" dirty="0"/>
              <a:t> Models</a:t>
            </a:r>
            <a:endParaRPr lang="LID4096" dirty="0"/>
          </a:p>
        </p:txBody>
      </p:sp>
      <p:sp>
        <p:nvSpPr>
          <p:cNvPr id="4" name="מציין מיקום של מספר שקופית 3">
            <a:extLst>
              <a:ext uri="{FF2B5EF4-FFF2-40B4-BE49-F238E27FC236}">
                <a16:creationId xmlns:a16="http://schemas.microsoft.com/office/drawing/2014/main" id="{5B5A9002-854D-865F-9DBC-E23DC22D871A}"/>
              </a:ext>
            </a:extLst>
          </p:cNvPr>
          <p:cNvSpPr>
            <a:spLocks noGrp="1"/>
          </p:cNvSpPr>
          <p:nvPr>
            <p:ph type="sldNum" sz="quarter" idx="12"/>
          </p:nvPr>
        </p:nvSpPr>
        <p:spPr/>
        <p:txBody>
          <a:bodyPr/>
          <a:lstStyle/>
          <a:p>
            <a:fld id="{B6796F57-8306-40D4-9229-37A3D19F0B5F}" type="slidenum">
              <a:rPr lang="LID4096" smtClean="0"/>
              <a:t>28</a:t>
            </a:fld>
            <a:endParaRPr lang="LID4096" dirty="0"/>
          </a:p>
        </p:txBody>
      </p:sp>
    </p:spTree>
    <p:extLst>
      <p:ext uri="{BB962C8B-B14F-4D97-AF65-F5344CB8AC3E}">
        <p14:creationId xmlns:p14="http://schemas.microsoft.com/office/powerpoint/2010/main" val="1228488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6BCFC-CDAB-5D87-E701-E4F11C6A9E6B}"/>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37BFA58D-C7EB-E189-34DC-0FDE343BF06A}"/>
              </a:ext>
            </a:extLst>
          </p:cNvPr>
          <p:cNvSpPr>
            <a:spLocks noGrp="1"/>
          </p:cNvSpPr>
          <p:nvPr>
            <p:ph idx="1"/>
          </p:nvPr>
        </p:nvSpPr>
        <p:spPr/>
        <p:txBody>
          <a:bodyPr/>
          <a:lstStyle/>
          <a:p>
            <a:pPr algn="l" rtl="0"/>
            <a:r>
              <a:rPr lang="en-US" dirty="0"/>
              <a:t>A model that ignores group structure and estimates a single parameter from all observations together.</a:t>
            </a:r>
          </a:p>
          <a:p>
            <a:pPr algn="l" rtl="0"/>
            <a:r>
              <a:rPr lang="en-US" dirty="0"/>
              <a:t>The “baseline model, what we’ve done until now.</a:t>
            </a:r>
          </a:p>
        </p:txBody>
      </p:sp>
      <p:pic>
        <p:nvPicPr>
          <p:cNvPr id="5" name="Picture 4">
            <a:extLst>
              <a:ext uri="{FF2B5EF4-FFF2-40B4-BE49-F238E27FC236}">
                <a16:creationId xmlns:a16="http://schemas.microsoft.com/office/drawing/2014/main" id="{F0B4C3B0-42A3-FF45-305F-B8E257C99106}"/>
              </a:ext>
            </a:extLst>
          </p:cNvPr>
          <p:cNvPicPr>
            <a:picLocks noChangeAspect="1"/>
          </p:cNvPicPr>
          <p:nvPr/>
        </p:nvPicPr>
        <p:blipFill>
          <a:blip r:embed="rId3"/>
          <a:stretch>
            <a:fillRect/>
          </a:stretch>
        </p:blipFill>
        <p:spPr>
          <a:xfrm>
            <a:off x="1642125" y="3692644"/>
            <a:ext cx="8907749" cy="2156613"/>
          </a:xfrm>
          <a:prstGeom prst="rect">
            <a:avLst/>
          </a:prstGeom>
        </p:spPr>
      </p:pic>
    </p:spTree>
    <p:extLst>
      <p:ext uri="{BB962C8B-B14F-4D97-AF65-F5344CB8AC3E}">
        <p14:creationId xmlns:p14="http://schemas.microsoft.com/office/powerpoint/2010/main" val="1241665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C2265-4315-A582-92E0-7D125E24E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92BCC4-32D1-55C4-400A-9DF2AD120104}"/>
              </a:ext>
            </a:extLst>
          </p:cNvPr>
          <p:cNvSpPr>
            <a:spLocks noGrp="1"/>
          </p:cNvSpPr>
          <p:nvPr>
            <p:ph type="title"/>
          </p:nvPr>
        </p:nvSpPr>
        <p:spPr/>
        <p:txBody>
          <a:bodyPr/>
          <a:lstStyle/>
          <a:p>
            <a:pPr algn="l" rtl="0"/>
            <a:r>
              <a:rPr lang="en-US" dirty="0"/>
              <a:t>Pooled Models</a:t>
            </a:r>
            <a:endParaRPr lang="he-IL" dirty="0"/>
          </a:p>
        </p:txBody>
      </p:sp>
      <p:pic>
        <p:nvPicPr>
          <p:cNvPr id="5" name="Picture 4">
            <a:extLst>
              <a:ext uri="{FF2B5EF4-FFF2-40B4-BE49-F238E27FC236}">
                <a16:creationId xmlns:a16="http://schemas.microsoft.com/office/drawing/2014/main" id="{EEECEA74-B591-A4D8-6103-4F9DF4843D67}"/>
              </a:ext>
            </a:extLst>
          </p:cNvPr>
          <p:cNvPicPr>
            <a:picLocks noChangeAspect="1"/>
          </p:cNvPicPr>
          <p:nvPr/>
        </p:nvPicPr>
        <p:blipFill>
          <a:blip r:embed="rId3"/>
          <a:stretch>
            <a:fillRect/>
          </a:stretch>
        </p:blipFill>
        <p:spPr>
          <a:xfrm>
            <a:off x="607984" y="2450598"/>
            <a:ext cx="8082446" cy="1956803"/>
          </a:xfrm>
          <a:prstGeom prst="rect">
            <a:avLst/>
          </a:prstGeom>
        </p:spPr>
      </p:pic>
      <p:pic>
        <p:nvPicPr>
          <p:cNvPr id="9" name="Picture 8">
            <a:extLst>
              <a:ext uri="{FF2B5EF4-FFF2-40B4-BE49-F238E27FC236}">
                <a16:creationId xmlns:a16="http://schemas.microsoft.com/office/drawing/2014/main" id="{C4D63676-47A0-1FEB-0446-92636DA96008}"/>
              </a:ext>
            </a:extLst>
          </p:cNvPr>
          <p:cNvPicPr>
            <a:picLocks noChangeAspect="1"/>
          </p:cNvPicPr>
          <p:nvPr/>
        </p:nvPicPr>
        <p:blipFill>
          <a:blip r:embed="rId4"/>
          <a:srcRect t="3251"/>
          <a:stretch>
            <a:fillRect/>
          </a:stretch>
        </p:blipFill>
        <p:spPr>
          <a:xfrm>
            <a:off x="8821059" y="1489861"/>
            <a:ext cx="2762957" cy="4380575"/>
          </a:xfrm>
          <a:prstGeom prst="rect">
            <a:avLst/>
          </a:prstGeom>
        </p:spPr>
      </p:pic>
      <p:sp>
        <p:nvSpPr>
          <p:cNvPr id="10" name="Content Placeholder 2">
            <a:extLst>
              <a:ext uri="{FF2B5EF4-FFF2-40B4-BE49-F238E27FC236}">
                <a16:creationId xmlns:a16="http://schemas.microsoft.com/office/drawing/2014/main" id="{C4A87269-8286-BFDD-1A55-F7593A7DB73E}"/>
              </a:ext>
            </a:extLst>
          </p:cNvPr>
          <p:cNvSpPr>
            <a:spLocks noGrp="1"/>
          </p:cNvSpPr>
          <p:nvPr>
            <p:ph idx="1"/>
          </p:nvPr>
        </p:nvSpPr>
        <p:spPr>
          <a:xfrm>
            <a:off x="838200" y="1825625"/>
            <a:ext cx="10515600" cy="4351338"/>
          </a:xfrm>
        </p:spPr>
        <p:txBody>
          <a:bodyPr/>
          <a:lstStyle/>
          <a:p>
            <a:pPr algn="l" rtl="0"/>
            <a:r>
              <a:rPr lang="en-US" dirty="0"/>
              <a:t>As a graph: </a:t>
            </a:r>
          </a:p>
          <a:p>
            <a:pPr algn="l" rtl="0"/>
            <a:endParaRPr lang="en-US" dirty="0"/>
          </a:p>
        </p:txBody>
      </p:sp>
    </p:spTree>
    <p:extLst>
      <p:ext uri="{BB962C8B-B14F-4D97-AF65-F5344CB8AC3E}">
        <p14:creationId xmlns:p14="http://schemas.microsoft.com/office/powerpoint/2010/main" val="469553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81067-967A-B01E-3907-ECA60BA1B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4E5BA-94DC-CB25-58DA-FACDAE0CF46E}"/>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94BED70B-AE3D-B0EA-AB4D-33F945635341}"/>
              </a:ext>
            </a:extLst>
          </p:cNvPr>
          <p:cNvSpPr>
            <a:spLocks noGrp="1"/>
          </p:cNvSpPr>
          <p:nvPr>
            <p:ph idx="1"/>
          </p:nvPr>
        </p:nvSpPr>
        <p:spPr>
          <a:xfrm>
            <a:off x="838200" y="1825625"/>
            <a:ext cx="10515600" cy="4351338"/>
          </a:xfrm>
        </p:spPr>
        <p:txBody>
          <a:bodyPr/>
          <a:lstStyle/>
          <a:p>
            <a:pPr algn="l" rtl="0"/>
            <a:r>
              <a:rPr lang="en-US" dirty="0"/>
              <a:t>Prior Predictive Check</a:t>
            </a:r>
          </a:p>
          <a:p>
            <a:pPr marL="514350" indent="-514350" algn="l" rtl="0">
              <a:buAutoNum type="arabicPeriod"/>
            </a:pPr>
            <a:r>
              <a:rPr lang="en-US" dirty="0"/>
              <a:t>Sample: </a:t>
            </a:r>
          </a:p>
          <a:p>
            <a:pPr marL="514350" indent="-514350" algn="l" rtl="0">
              <a:buAutoNum type="arabicPeriod"/>
            </a:pPr>
            <a:endParaRPr lang="en-US" dirty="0"/>
          </a:p>
          <a:p>
            <a:pPr marL="457200" lvl="1" indent="0" algn="l" rtl="0">
              <a:buNone/>
            </a:pPr>
            <a:endParaRPr lang="en-US" dirty="0"/>
          </a:p>
        </p:txBody>
      </p:sp>
      <p:pic>
        <p:nvPicPr>
          <p:cNvPr id="6" name="Picture 5">
            <a:extLst>
              <a:ext uri="{FF2B5EF4-FFF2-40B4-BE49-F238E27FC236}">
                <a16:creationId xmlns:a16="http://schemas.microsoft.com/office/drawing/2014/main" id="{202C0438-EC9F-F6D8-4DB2-E15439B4CD93}"/>
              </a:ext>
            </a:extLst>
          </p:cNvPr>
          <p:cNvPicPr>
            <a:picLocks noChangeAspect="1"/>
          </p:cNvPicPr>
          <p:nvPr/>
        </p:nvPicPr>
        <p:blipFill>
          <a:blip r:embed="rId3"/>
          <a:stretch>
            <a:fillRect/>
          </a:stretch>
        </p:blipFill>
        <p:spPr>
          <a:xfrm>
            <a:off x="1680028" y="2980518"/>
            <a:ext cx="6160587" cy="1398148"/>
          </a:xfrm>
          <a:prstGeom prst="rect">
            <a:avLst/>
          </a:prstGeom>
        </p:spPr>
      </p:pic>
    </p:spTree>
    <p:extLst>
      <p:ext uri="{BB962C8B-B14F-4D97-AF65-F5344CB8AC3E}">
        <p14:creationId xmlns:p14="http://schemas.microsoft.com/office/powerpoint/2010/main" val="1804023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68ADB-83DE-0CF8-32D9-A026D3CF1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3BA95-8E99-9590-08E3-0AD4C078AAF4}"/>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90C095E9-94E4-EBE1-ADD8-CE3FC8302B16}"/>
              </a:ext>
            </a:extLst>
          </p:cNvPr>
          <p:cNvSpPr>
            <a:spLocks noGrp="1"/>
          </p:cNvSpPr>
          <p:nvPr>
            <p:ph idx="1"/>
          </p:nvPr>
        </p:nvSpPr>
        <p:spPr>
          <a:xfrm>
            <a:off x="838200" y="1825625"/>
            <a:ext cx="3878943" cy="4351338"/>
          </a:xfrm>
        </p:spPr>
        <p:txBody>
          <a:bodyPr/>
          <a:lstStyle/>
          <a:p>
            <a:pPr algn="l" rtl="0"/>
            <a:r>
              <a:rPr lang="en-US" dirty="0"/>
              <a:t>Prior Predictive Check</a:t>
            </a:r>
          </a:p>
          <a:p>
            <a:pPr marL="514350" indent="-514350" algn="l" rtl="0">
              <a:buAutoNum type="arabicPeriod"/>
            </a:pPr>
            <a:r>
              <a:rPr lang="en-US" dirty="0"/>
              <a:t>Sample</a:t>
            </a:r>
          </a:p>
          <a:p>
            <a:pPr marL="514350" indent="-514350" algn="l" rtl="0">
              <a:buAutoNum type="arabicPeriod"/>
            </a:pPr>
            <a:r>
              <a:rPr lang="en-US" dirty="0"/>
              <a:t>Plot:</a:t>
            </a:r>
          </a:p>
          <a:p>
            <a:pPr marL="971550" lvl="1" indent="-514350" algn="l" rtl="0">
              <a:buFont typeface="Arial" panose="020B0604020202020204" pitchFamily="34" charset="0"/>
              <a:buAutoNum type="arabicPeriod"/>
            </a:pPr>
            <a:r>
              <a:rPr lang="en-US" dirty="0" err="1"/>
              <a:t>az.plot_ppc</a:t>
            </a:r>
            <a:r>
              <a:rPr lang="en-US" dirty="0"/>
              <a:t>() – for “z” (number of startups in biotech.</a:t>
            </a:r>
            <a:br>
              <a:rPr lang="en-US" dirty="0"/>
            </a:br>
            <a:r>
              <a:rPr lang="en-US" sz="2000" dirty="0"/>
              <a:t>* Mainly used for count data in the discrete models</a:t>
            </a:r>
          </a:p>
          <a:p>
            <a:pPr marL="971550" lvl="1" indent="-514350" algn="l" rtl="0">
              <a:buFont typeface="Arial" panose="020B0604020202020204" pitchFamily="34" charset="0"/>
              <a:buAutoNum type="arabicPeriod"/>
            </a:pPr>
            <a:endParaRPr lang="en-US" dirty="0"/>
          </a:p>
          <a:p>
            <a:pPr marL="971550" lvl="1" indent="-514350" algn="l" rtl="0">
              <a:buAutoNum type="arabicPeriod"/>
            </a:pPr>
            <a:endParaRPr lang="en-US" dirty="0"/>
          </a:p>
          <a:p>
            <a:pPr marL="514350" indent="-514350" algn="l" rtl="0">
              <a:buAutoNum type="arabicPeriod"/>
            </a:pPr>
            <a:endParaRPr lang="en-US" dirty="0"/>
          </a:p>
          <a:p>
            <a:pPr marL="457200" lvl="1" indent="0" algn="l" rtl="0">
              <a:buNone/>
            </a:pPr>
            <a:endParaRPr lang="en-US" dirty="0"/>
          </a:p>
        </p:txBody>
      </p:sp>
      <p:pic>
        <p:nvPicPr>
          <p:cNvPr id="6146" name="Picture 2">
            <a:extLst>
              <a:ext uri="{FF2B5EF4-FFF2-40B4-BE49-F238E27FC236}">
                <a16:creationId xmlns:a16="http://schemas.microsoft.com/office/drawing/2014/main" id="{2F42DC2B-6046-7896-7B5A-EE1C40D4FA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3513" y="3040386"/>
            <a:ext cx="4945582" cy="332186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31FAA6F-B3F5-77B9-C8EB-91597B24D41F}"/>
              </a:ext>
            </a:extLst>
          </p:cNvPr>
          <p:cNvPicPr>
            <a:picLocks noChangeAspect="1"/>
          </p:cNvPicPr>
          <p:nvPr/>
        </p:nvPicPr>
        <p:blipFill>
          <a:blip r:embed="rId4"/>
          <a:stretch>
            <a:fillRect/>
          </a:stretch>
        </p:blipFill>
        <p:spPr>
          <a:xfrm>
            <a:off x="7206511" y="1038823"/>
            <a:ext cx="2884940" cy="1573604"/>
          </a:xfrm>
          <a:prstGeom prst="rect">
            <a:avLst/>
          </a:prstGeom>
        </p:spPr>
      </p:pic>
    </p:spTree>
    <p:extLst>
      <p:ext uri="{BB962C8B-B14F-4D97-AF65-F5344CB8AC3E}">
        <p14:creationId xmlns:p14="http://schemas.microsoft.com/office/powerpoint/2010/main" val="111981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C0FBA-31B6-C567-9830-59AC171F4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687E4-CD91-5ADA-C45F-A5409D5CE565}"/>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DA0E771D-8A4C-F158-B267-2EB6BF4F757A}"/>
              </a:ext>
            </a:extLst>
          </p:cNvPr>
          <p:cNvSpPr>
            <a:spLocks noGrp="1"/>
          </p:cNvSpPr>
          <p:nvPr>
            <p:ph idx="1"/>
          </p:nvPr>
        </p:nvSpPr>
        <p:spPr>
          <a:xfrm>
            <a:off x="838200" y="1825625"/>
            <a:ext cx="3878943" cy="4351338"/>
          </a:xfrm>
        </p:spPr>
        <p:txBody>
          <a:bodyPr>
            <a:normAutofit lnSpcReduction="10000"/>
          </a:bodyPr>
          <a:lstStyle/>
          <a:p>
            <a:pPr algn="l" rtl="0"/>
            <a:r>
              <a:rPr lang="en-US" dirty="0"/>
              <a:t>Prior Predictive Check</a:t>
            </a:r>
          </a:p>
          <a:p>
            <a:pPr marL="514350" indent="-514350" algn="l" rtl="0">
              <a:buAutoNum type="arabicPeriod"/>
            </a:pPr>
            <a:r>
              <a:rPr lang="en-US" dirty="0"/>
              <a:t>Sample</a:t>
            </a:r>
          </a:p>
          <a:p>
            <a:pPr marL="514350" indent="-514350" algn="l" rtl="0">
              <a:buAutoNum type="arabicPeriod"/>
            </a:pPr>
            <a:r>
              <a:rPr lang="en-US" dirty="0"/>
              <a:t>Plot:</a:t>
            </a:r>
          </a:p>
          <a:p>
            <a:pPr marL="457200" lvl="1" indent="0" algn="l" rtl="0">
              <a:buNone/>
            </a:pPr>
            <a:r>
              <a:rPr lang="en-US" dirty="0"/>
              <a:t>2. Create a function that extracts the </a:t>
            </a:r>
            <a:r>
              <a:rPr lang="en-US" dirty="0" err="1"/>
              <a:t>idata</a:t>
            </a:r>
            <a:r>
              <a:rPr lang="en-US" dirty="0"/>
              <a:t>, converts the counts to rates and plots it using </a:t>
            </a:r>
            <a:r>
              <a:rPr lang="en-US" dirty="0" err="1"/>
              <a:t>plt.hist</a:t>
            </a:r>
            <a:r>
              <a:rPr lang="en-US" dirty="0"/>
              <a:t>()</a:t>
            </a:r>
          </a:p>
          <a:p>
            <a:pPr marL="457200" lvl="1" indent="0" algn="l" rtl="0">
              <a:buNone/>
            </a:pPr>
            <a:endParaRPr lang="en-US" dirty="0"/>
          </a:p>
          <a:p>
            <a:pPr marL="457200" lvl="1" indent="0" algn="l" rtl="0">
              <a:buNone/>
            </a:pPr>
            <a:r>
              <a:rPr lang="en-US" dirty="0"/>
              <a:t>*Note – I created a “helper function” to plot both the prior &amp; posterior predictive.</a:t>
            </a:r>
          </a:p>
          <a:p>
            <a:pPr marL="971550" lvl="1" indent="-514350" algn="l" rtl="0">
              <a:buAutoNum type="arabicPeriod"/>
            </a:pPr>
            <a:endParaRPr lang="en-US" dirty="0"/>
          </a:p>
          <a:p>
            <a:pPr marL="514350" indent="-514350" algn="l" rtl="0">
              <a:buAutoNum type="arabicPeriod"/>
            </a:pPr>
            <a:endParaRPr lang="en-US" dirty="0"/>
          </a:p>
          <a:p>
            <a:pPr marL="457200" lvl="1" indent="0" algn="l" rtl="0">
              <a:buNone/>
            </a:pPr>
            <a:endParaRPr lang="en-US" dirty="0"/>
          </a:p>
        </p:txBody>
      </p:sp>
      <p:pic>
        <p:nvPicPr>
          <p:cNvPr id="7170" name="Picture 2">
            <a:extLst>
              <a:ext uri="{FF2B5EF4-FFF2-40B4-BE49-F238E27FC236}">
                <a16:creationId xmlns:a16="http://schemas.microsoft.com/office/drawing/2014/main" id="{C48183DD-C13C-899C-E5EB-84CA226D2A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2571" y="1675144"/>
            <a:ext cx="6512731" cy="4103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10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DB438-D66E-7C43-6B75-C46FFFCAE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6196C-694E-00D2-A2F6-59F307B3152C}"/>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EF89125A-E0CB-12DF-DBDF-CB6138DC9D9D}"/>
              </a:ext>
            </a:extLst>
          </p:cNvPr>
          <p:cNvSpPr>
            <a:spLocks noGrp="1"/>
          </p:cNvSpPr>
          <p:nvPr>
            <p:ph idx="1"/>
          </p:nvPr>
        </p:nvSpPr>
        <p:spPr/>
        <p:txBody>
          <a:bodyPr/>
          <a:lstStyle/>
          <a:p>
            <a:pPr algn="l" rtl="0"/>
            <a:r>
              <a:rPr lang="en-US" dirty="0"/>
              <a:t>Sample</a:t>
            </a:r>
          </a:p>
        </p:txBody>
      </p:sp>
      <p:pic>
        <p:nvPicPr>
          <p:cNvPr id="8" name="Picture 7">
            <a:extLst>
              <a:ext uri="{FF2B5EF4-FFF2-40B4-BE49-F238E27FC236}">
                <a16:creationId xmlns:a16="http://schemas.microsoft.com/office/drawing/2014/main" id="{9DC5AE57-7A4A-71D1-AAAD-DBFDC1F56E85}"/>
              </a:ext>
            </a:extLst>
          </p:cNvPr>
          <p:cNvPicPr>
            <a:picLocks noChangeAspect="1"/>
          </p:cNvPicPr>
          <p:nvPr/>
        </p:nvPicPr>
        <p:blipFill>
          <a:blip r:embed="rId3"/>
          <a:stretch>
            <a:fillRect/>
          </a:stretch>
        </p:blipFill>
        <p:spPr>
          <a:xfrm>
            <a:off x="1447151" y="2499800"/>
            <a:ext cx="9297698" cy="3677163"/>
          </a:xfrm>
          <a:prstGeom prst="rect">
            <a:avLst/>
          </a:prstGeom>
        </p:spPr>
      </p:pic>
    </p:spTree>
    <p:extLst>
      <p:ext uri="{BB962C8B-B14F-4D97-AF65-F5344CB8AC3E}">
        <p14:creationId xmlns:p14="http://schemas.microsoft.com/office/powerpoint/2010/main" val="40177833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916B4-3A01-42C5-103F-7C027D9A12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A721C-9704-9853-6D9A-A03D8E00158A}"/>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C82CBDAB-82C8-0AB2-9084-5AAAD7DB57B9}"/>
              </a:ext>
            </a:extLst>
          </p:cNvPr>
          <p:cNvSpPr>
            <a:spLocks noGrp="1"/>
          </p:cNvSpPr>
          <p:nvPr>
            <p:ph idx="1"/>
          </p:nvPr>
        </p:nvSpPr>
        <p:spPr/>
        <p:txBody>
          <a:bodyPr/>
          <a:lstStyle/>
          <a:p>
            <a:pPr algn="l" rtl="0"/>
            <a:r>
              <a:rPr lang="en-US" dirty="0"/>
              <a:t>Posterior summary</a:t>
            </a:r>
          </a:p>
        </p:txBody>
      </p:sp>
      <p:pic>
        <p:nvPicPr>
          <p:cNvPr id="5" name="Picture 4">
            <a:extLst>
              <a:ext uri="{FF2B5EF4-FFF2-40B4-BE49-F238E27FC236}">
                <a16:creationId xmlns:a16="http://schemas.microsoft.com/office/drawing/2014/main" id="{88CC00B6-5B04-EE27-F152-BD7FF78BE004}"/>
              </a:ext>
            </a:extLst>
          </p:cNvPr>
          <p:cNvPicPr>
            <a:picLocks noChangeAspect="1"/>
          </p:cNvPicPr>
          <p:nvPr/>
        </p:nvPicPr>
        <p:blipFill>
          <a:blip r:embed="rId3"/>
          <a:stretch>
            <a:fillRect/>
          </a:stretch>
        </p:blipFill>
        <p:spPr>
          <a:xfrm>
            <a:off x="2948393" y="2663693"/>
            <a:ext cx="7309012" cy="3513270"/>
          </a:xfrm>
          <a:prstGeom prst="rect">
            <a:avLst/>
          </a:prstGeom>
        </p:spPr>
      </p:pic>
    </p:spTree>
    <p:extLst>
      <p:ext uri="{BB962C8B-B14F-4D97-AF65-F5344CB8AC3E}">
        <p14:creationId xmlns:p14="http://schemas.microsoft.com/office/powerpoint/2010/main" val="995885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2777A-9491-F0BF-DB2A-08DB677808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DF74B-7A7B-A7D8-7DDC-C2820EC3584F}"/>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B0458FB7-CAC6-0AB4-00C7-6BADE506EE5B}"/>
              </a:ext>
            </a:extLst>
          </p:cNvPr>
          <p:cNvSpPr>
            <a:spLocks noGrp="1"/>
          </p:cNvSpPr>
          <p:nvPr>
            <p:ph idx="1"/>
          </p:nvPr>
        </p:nvSpPr>
        <p:spPr/>
        <p:txBody>
          <a:bodyPr/>
          <a:lstStyle/>
          <a:p>
            <a:pPr algn="l" rtl="0"/>
            <a:r>
              <a:rPr lang="en-US" dirty="0"/>
              <a:t>Diagnostics</a:t>
            </a:r>
          </a:p>
        </p:txBody>
      </p:sp>
      <p:pic>
        <p:nvPicPr>
          <p:cNvPr id="6" name="Picture 5">
            <a:extLst>
              <a:ext uri="{FF2B5EF4-FFF2-40B4-BE49-F238E27FC236}">
                <a16:creationId xmlns:a16="http://schemas.microsoft.com/office/drawing/2014/main" id="{B821A49F-3B6A-C63C-1DDC-CB46028D70BF}"/>
              </a:ext>
            </a:extLst>
          </p:cNvPr>
          <p:cNvPicPr>
            <a:picLocks noChangeAspect="1"/>
          </p:cNvPicPr>
          <p:nvPr/>
        </p:nvPicPr>
        <p:blipFill>
          <a:blip r:embed="rId3"/>
          <a:stretch>
            <a:fillRect/>
          </a:stretch>
        </p:blipFill>
        <p:spPr>
          <a:xfrm>
            <a:off x="280176" y="2647417"/>
            <a:ext cx="11631648" cy="3820058"/>
          </a:xfrm>
          <a:prstGeom prst="rect">
            <a:avLst/>
          </a:prstGeom>
        </p:spPr>
      </p:pic>
    </p:spTree>
    <p:extLst>
      <p:ext uri="{BB962C8B-B14F-4D97-AF65-F5344CB8AC3E}">
        <p14:creationId xmlns:p14="http://schemas.microsoft.com/office/powerpoint/2010/main" val="12748944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9BFBC-5B91-E10F-9C9C-724BAFD95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A9671-18B5-8D40-9AFB-28F99AEC3E9F}"/>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D606BA43-69E9-20BC-2013-205C15D168C8}"/>
              </a:ext>
            </a:extLst>
          </p:cNvPr>
          <p:cNvSpPr>
            <a:spLocks noGrp="1"/>
          </p:cNvSpPr>
          <p:nvPr>
            <p:ph idx="1"/>
          </p:nvPr>
        </p:nvSpPr>
        <p:spPr/>
        <p:txBody>
          <a:bodyPr/>
          <a:lstStyle/>
          <a:p>
            <a:pPr algn="l" rtl="0"/>
            <a:r>
              <a:rPr lang="en-US" dirty="0"/>
              <a:t>Posterior Predictive Check</a:t>
            </a:r>
          </a:p>
          <a:p>
            <a:pPr marL="514350" indent="-514350" algn="l" rtl="0">
              <a:buFont typeface="+mj-lt"/>
              <a:buAutoNum type="arabicPeriod"/>
            </a:pPr>
            <a:r>
              <a:rPr lang="en-US" dirty="0"/>
              <a:t>Sample the posterior:</a:t>
            </a:r>
          </a:p>
        </p:txBody>
      </p:sp>
      <p:pic>
        <p:nvPicPr>
          <p:cNvPr id="6" name="Picture 5">
            <a:extLst>
              <a:ext uri="{FF2B5EF4-FFF2-40B4-BE49-F238E27FC236}">
                <a16:creationId xmlns:a16="http://schemas.microsoft.com/office/drawing/2014/main" id="{C8ED3A78-6DA0-4A85-43A7-548EFB2729A9}"/>
              </a:ext>
            </a:extLst>
          </p:cNvPr>
          <p:cNvPicPr>
            <a:picLocks noChangeAspect="1"/>
          </p:cNvPicPr>
          <p:nvPr/>
        </p:nvPicPr>
        <p:blipFill>
          <a:blip r:embed="rId3"/>
          <a:stretch>
            <a:fillRect/>
          </a:stretch>
        </p:blipFill>
        <p:spPr>
          <a:xfrm>
            <a:off x="1331194" y="3246116"/>
            <a:ext cx="5621148" cy="2010587"/>
          </a:xfrm>
          <a:prstGeom prst="rect">
            <a:avLst/>
          </a:prstGeom>
        </p:spPr>
      </p:pic>
    </p:spTree>
    <p:extLst>
      <p:ext uri="{BB962C8B-B14F-4D97-AF65-F5344CB8AC3E}">
        <p14:creationId xmlns:p14="http://schemas.microsoft.com/office/powerpoint/2010/main" val="1401620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2F0B0-8B10-1A47-5834-8CD19838C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F458D-D4F9-DC24-D5BC-D44E08D56EEC}"/>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410E6D19-1101-5247-DFB0-6BDB7A4ABAE6}"/>
              </a:ext>
            </a:extLst>
          </p:cNvPr>
          <p:cNvSpPr>
            <a:spLocks noGrp="1"/>
          </p:cNvSpPr>
          <p:nvPr>
            <p:ph idx="1"/>
          </p:nvPr>
        </p:nvSpPr>
        <p:spPr/>
        <p:txBody>
          <a:bodyPr/>
          <a:lstStyle/>
          <a:p>
            <a:pPr algn="l" rtl="0"/>
            <a:r>
              <a:rPr lang="en-US" dirty="0"/>
              <a:t>Posterior Predictive Check</a:t>
            </a:r>
          </a:p>
          <a:p>
            <a:pPr marL="514350" indent="-514350" algn="l" rtl="0">
              <a:buFont typeface="+mj-lt"/>
              <a:buAutoNum type="arabicPeriod"/>
            </a:pPr>
            <a:r>
              <a:rPr lang="en-US" dirty="0"/>
              <a:t>Sample the posterior</a:t>
            </a:r>
          </a:p>
          <a:p>
            <a:pPr marL="514350" indent="-514350" algn="l" rtl="0">
              <a:buFont typeface="+mj-lt"/>
              <a:buAutoNum type="arabicPeriod"/>
            </a:pPr>
            <a:r>
              <a:rPr lang="en-US" dirty="0"/>
              <a:t>Plot:</a:t>
            </a:r>
          </a:p>
          <a:p>
            <a:pPr marL="971550" lvl="1" indent="-514350" algn="l" rtl="0">
              <a:buFont typeface="+mj-lt"/>
              <a:buAutoNum type="arabicPeriod"/>
            </a:pPr>
            <a:r>
              <a:rPr lang="en-US" dirty="0"/>
              <a:t>Using </a:t>
            </a:r>
            <a:r>
              <a:rPr lang="en-US" dirty="0" err="1"/>
              <a:t>az.plot_ppc</a:t>
            </a:r>
            <a:r>
              <a:rPr lang="en-US" dirty="0"/>
              <a:t>()</a:t>
            </a:r>
          </a:p>
        </p:txBody>
      </p:sp>
      <p:pic>
        <p:nvPicPr>
          <p:cNvPr id="5" name="Picture 4">
            <a:extLst>
              <a:ext uri="{FF2B5EF4-FFF2-40B4-BE49-F238E27FC236}">
                <a16:creationId xmlns:a16="http://schemas.microsoft.com/office/drawing/2014/main" id="{8F84921A-BDA0-8FF1-9B27-9CF356F7B691}"/>
              </a:ext>
            </a:extLst>
          </p:cNvPr>
          <p:cNvPicPr>
            <a:picLocks noChangeAspect="1"/>
          </p:cNvPicPr>
          <p:nvPr/>
        </p:nvPicPr>
        <p:blipFill>
          <a:blip r:embed="rId3"/>
          <a:stretch>
            <a:fillRect/>
          </a:stretch>
        </p:blipFill>
        <p:spPr>
          <a:xfrm>
            <a:off x="1339950" y="4131876"/>
            <a:ext cx="2856100" cy="1794409"/>
          </a:xfrm>
          <a:prstGeom prst="rect">
            <a:avLst/>
          </a:prstGeom>
        </p:spPr>
      </p:pic>
      <p:pic>
        <p:nvPicPr>
          <p:cNvPr id="9218" name="Picture 2">
            <a:extLst>
              <a:ext uri="{FF2B5EF4-FFF2-40B4-BE49-F238E27FC236}">
                <a16:creationId xmlns:a16="http://schemas.microsoft.com/office/drawing/2014/main" id="{604C5A3C-D53B-8134-4D73-EEEA8CC436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2042" y="1415971"/>
            <a:ext cx="6962775" cy="467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5759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C37EC-224A-C6F4-81CA-32E6FCDEB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0079A-5905-7E30-069C-DF44348775F0}"/>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BBAF3473-CDFE-558B-5D45-92F9EBDD6613}"/>
              </a:ext>
            </a:extLst>
          </p:cNvPr>
          <p:cNvSpPr>
            <a:spLocks noGrp="1"/>
          </p:cNvSpPr>
          <p:nvPr>
            <p:ph idx="1"/>
          </p:nvPr>
        </p:nvSpPr>
        <p:spPr/>
        <p:txBody>
          <a:bodyPr/>
          <a:lstStyle/>
          <a:p>
            <a:pPr algn="l" rtl="0"/>
            <a:r>
              <a:rPr lang="en-US" dirty="0"/>
              <a:t>Posterior Predictive Check</a:t>
            </a:r>
          </a:p>
          <a:p>
            <a:pPr marL="514350" indent="-514350" algn="l" rtl="0">
              <a:buFont typeface="+mj-lt"/>
              <a:buAutoNum type="arabicPeriod"/>
            </a:pPr>
            <a:r>
              <a:rPr lang="en-US" dirty="0"/>
              <a:t>Sample the posterior</a:t>
            </a:r>
          </a:p>
          <a:p>
            <a:pPr marL="514350" indent="-514350" algn="l" rtl="0">
              <a:buFont typeface="+mj-lt"/>
              <a:buAutoNum type="arabicPeriod"/>
            </a:pPr>
            <a:r>
              <a:rPr lang="en-US" dirty="0"/>
              <a:t>Plot:</a:t>
            </a:r>
          </a:p>
          <a:p>
            <a:pPr marL="457200" lvl="1" indent="0" algn="l" rtl="0">
              <a:buNone/>
            </a:pPr>
            <a:r>
              <a:rPr lang="en-US" dirty="0"/>
              <a:t>2. Using our helper function:</a:t>
            </a:r>
          </a:p>
        </p:txBody>
      </p:sp>
      <p:pic>
        <p:nvPicPr>
          <p:cNvPr id="6" name="Picture 5">
            <a:extLst>
              <a:ext uri="{FF2B5EF4-FFF2-40B4-BE49-F238E27FC236}">
                <a16:creationId xmlns:a16="http://schemas.microsoft.com/office/drawing/2014/main" id="{50800532-31AE-5B4D-894A-9B70C610A23E}"/>
              </a:ext>
            </a:extLst>
          </p:cNvPr>
          <p:cNvPicPr>
            <a:picLocks noChangeAspect="1"/>
          </p:cNvPicPr>
          <p:nvPr/>
        </p:nvPicPr>
        <p:blipFill>
          <a:blip r:embed="rId3"/>
          <a:stretch>
            <a:fillRect/>
          </a:stretch>
        </p:blipFill>
        <p:spPr>
          <a:xfrm>
            <a:off x="654061" y="4001294"/>
            <a:ext cx="4637348" cy="1601386"/>
          </a:xfrm>
          <a:prstGeom prst="rect">
            <a:avLst/>
          </a:prstGeom>
        </p:spPr>
      </p:pic>
      <p:pic>
        <p:nvPicPr>
          <p:cNvPr id="10242" name="Picture 2">
            <a:extLst>
              <a:ext uri="{FF2B5EF4-FFF2-40B4-BE49-F238E27FC236}">
                <a16:creationId xmlns:a16="http://schemas.microsoft.com/office/drawing/2014/main" id="{A37CA32E-B7DE-1C05-EC41-62848208D3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1012" y="1852499"/>
            <a:ext cx="6637433" cy="4182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817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46A95-87FD-C7E0-FC90-C59FD1936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224D3-F2C7-0D1A-133A-66950613D632}"/>
              </a:ext>
            </a:extLst>
          </p:cNvPr>
          <p:cNvSpPr>
            <a:spLocks noGrp="1"/>
          </p:cNvSpPr>
          <p:nvPr>
            <p:ph type="title"/>
          </p:nvPr>
        </p:nvSpPr>
        <p:spPr/>
        <p:txBody>
          <a:bodyPr/>
          <a:lstStyle/>
          <a:p>
            <a:pPr algn="l" rtl="0"/>
            <a:r>
              <a:rPr lang="en-US" dirty="0"/>
              <a:t>Pooled Models</a:t>
            </a:r>
            <a:endParaRPr lang="he-IL" dirty="0"/>
          </a:p>
        </p:txBody>
      </p:sp>
      <p:sp>
        <p:nvSpPr>
          <p:cNvPr id="3" name="Content Placeholder 2">
            <a:extLst>
              <a:ext uri="{FF2B5EF4-FFF2-40B4-BE49-F238E27FC236}">
                <a16:creationId xmlns:a16="http://schemas.microsoft.com/office/drawing/2014/main" id="{5FFF8F59-18EF-68C6-516D-341A35D24040}"/>
              </a:ext>
            </a:extLst>
          </p:cNvPr>
          <p:cNvSpPr>
            <a:spLocks noGrp="1"/>
          </p:cNvSpPr>
          <p:nvPr>
            <p:ph idx="1"/>
          </p:nvPr>
        </p:nvSpPr>
        <p:spPr/>
        <p:txBody>
          <a:bodyPr/>
          <a:lstStyle/>
          <a:p>
            <a:pPr algn="l" rtl="0"/>
            <a:r>
              <a:rPr lang="en-US" dirty="0"/>
              <a:t>Posterior &amp; HDI</a:t>
            </a:r>
          </a:p>
        </p:txBody>
      </p:sp>
      <p:pic>
        <p:nvPicPr>
          <p:cNvPr id="5" name="Picture 4">
            <a:extLst>
              <a:ext uri="{FF2B5EF4-FFF2-40B4-BE49-F238E27FC236}">
                <a16:creationId xmlns:a16="http://schemas.microsoft.com/office/drawing/2014/main" id="{6D67451C-0C28-3828-E7D5-2741938E2B1F}"/>
              </a:ext>
            </a:extLst>
          </p:cNvPr>
          <p:cNvPicPr>
            <a:picLocks noChangeAspect="1"/>
          </p:cNvPicPr>
          <p:nvPr/>
        </p:nvPicPr>
        <p:blipFill>
          <a:blip r:embed="rId3"/>
          <a:srcRect r="70936" b="83218"/>
          <a:stretch>
            <a:fillRect/>
          </a:stretch>
        </p:blipFill>
        <p:spPr>
          <a:xfrm>
            <a:off x="1058537" y="2950193"/>
            <a:ext cx="2920354" cy="1381152"/>
          </a:xfrm>
          <a:prstGeom prst="rect">
            <a:avLst/>
          </a:prstGeom>
        </p:spPr>
      </p:pic>
      <p:pic>
        <p:nvPicPr>
          <p:cNvPr id="8194" name="Picture 2">
            <a:extLst>
              <a:ext uri="{FF2B5EF4-FFF2-40B4-BE49-F238E27FC236}">
                <a16:creationId xmlns:a16="http://schemas.microsoft.com/office/drawing/2014/main" id="{4F3B3036-F92B-FAD9-C2D4-142FF8EB5F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9185" y="1192213"/>
            <a:ext cx="6962775" cy="467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3518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947D-5893-EA8D-683B-316134A64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B053D-8CF8-D7CA-007B-78162FB7B811}"/>
              </a:ext>
            </a:extLst>
          </p:cNvPr>
          <p:cNvSpPr>
            <a:spLocks noGrp="1"/>
          </p:cNvSpPr>
          <p:nvPr>
            <p:ph type="title"/>
          </p:nvPr>
        </p:nvSpPr>
        <p:spPr/>
        <p:txBody>
          <a:bodyPr/>
          <a:lstStyle/>
          <a:p>
            <a:pPr algn="l" rtl="0"/>
            <a:r>
              <a:rPr lang="en-US" dirty="0" err="1"/>
              <a:t>Unpooled</a:t>
            </a:r>
            <a:r>
              <a:rPr lang="en-US" dirty="0"/>
              <a:t> Models</a:t>
            </a:r>
            <a:endParaRPr lang="he-IL" dirty="0"/>
          </a:p>
        </p:txBody>
      </p:sp>
      <p:sp>
        <p:nvSpPr>
          <p:cNvPr id="3" name="Content Placeholder 2">
            <a:extLst>
              <a:ext uri="{FF2B5EF4-FFF2-40B4-BE49-F238E27FC236}">
                <a16:creationId xmlns:a16="http://schemas.microsoft.com/office/drawing/2014/main" id="{F6A6EFAF-DCF7-707C-1024-FE29BE45F8E6}"/>
              </a:ext>
            </a:extLst>
          </p:cNvPr>
          <p:cNvSpPr>
            <a:spLocks noGrp="1"/>
          </p:cNvSpPr>
          <p:nvPr>
            <p:ph idx="1"/>
          </p:nvPr>
        </p:nvSpPr>
        <p:spPr/>
        <p:txBody>
          <a:bodyPr/>
          <a:lstStyle/>
          <a:p>
            <a:pPr algn="l" rtl="0"/>
            <a:r>
              <a:rPr lang="en-US" dirty="0"/>
              <a:t>A model that estimates separate parameters for each group without sharing information across groups.</a:t>
            </a:r>
          </a:p>
          <a:p>
            <a:pPr algn="l" rtl="0"/>
            <a:r>
              <a:rPr lang="en-US" dirty="0"/>
              <a:t>No information sharing - a modeling structure in which data from one group do not affect the parameter estimates for other groups.</a:t>
            </a:r>
            <a:endParaRPr lang="he-IL" dirty="0"/>
          </a:p>
        </p:txBody>
      </p:sp>
    </p:spTree>
    <p:extLst>
      <p:ext uri="{BB962C8B-B14F-4D97-AF65-F5344CB8AC3E}">
        <p14:creationId xmlns:p14="http://schemas.microsoft.com/office/powerpoint/2010/main" val="20249935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6F797-F192-77BF-D801-DA2F62412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16F21C-97B7-E8FC-3A65-161A90EFD83D}"/>
              </a:ext>
            </a:extLst>
          </p:cNvPr>
          <p:cNvSpPr>
            <a:spLocks noGrp="1"/>
          </p:cNvSpPr>
          <p:nvPr>
            <p:ph type="title"/>
          </p:nvPr>
        </p:nvSpPr>
        <p:spPr/>
        <p:txBody>
          <a:bodyPr/>
          <a:lstStyle/>
          <a:p>
            <a:pPr algn="l" rtl="0"/>
            <a:r>
              <a:rPr lang="en-US" dirty="0" err="1"/>
              <a:t>Unpooled</a:t>
            </a:r>
            <a:r>
              <a:rPr lang="en-US" dirty="0"/>
              <a:t> Models</a:t>
            </a:r>
            <a:endParaRPr lang="he-IL" dirty="0"/>
          </a:p>
        </p:txBody>
      </p:sp>
      <p:sp>
        <p:nvSpPr>
          <p:cNvPr id="3" name="Content Placeholder 2">
            <a:extLst>
              <a:ext uri="{FF2B5EF4-FFF2-40B4-BE49-F238E27FC236}">
                <a16:creationId xmlns:a16="http://schemas.microsoft.com/office/drawing/2014/main" id="{0F11AA95-35DB-6E2E-7159-DED54019E2FA}"/>
              </a:ext>
            </a:extLst>
          </p:cNvPr>
          <p:cNvSpPr>
            <a:spLocks noGrp="1"/>
          </p:cNvSpPr>
          <p:nvPr>
            <p:ph idx="1"/>
          </p:nvPr>
        </p:nvSpPr>
        <p:spPr>
          <a:xfrm>
            <a:off x="838200" y="1825625"/>
            <a:ext cx="4619171" cy="4351338"/>
          </a:xfrm>
        </p:spPr>
        <p:txBody>
          <a:bodyPr/>
          <a:lstStyle/>
          <a:p>
            <a:pPr algn="l" rtl="0"/>
            <a:r>
              <a:rPr lang="en-US" dirty="0"/>
              <a:t>The </a:t>
            </a:r>
            <a:r>
              <a:rPr lang="en-US" dirty="0" err="1"/>
              <a:t>unpooled</a:t>
            </a:r>
            <a:r>
              <a:rPr lang="en-US" dirty="0"/>
              <a:t> model estimates a separate Biotechnology startup probability </a:t>
            </a:r>
            <a:r>
              <a:rPr lang="en-US" i="1" dirty="0"/>
              <a:t>for each country.</a:t>
            </a:r>
          </a:p>
          <a:p>
            <a:pPr marL="0" indent="0" algn="l" rtl="0">
              <a:buNone/>
            </a:pPr>
            <a:br>
              <a:rPr lang="en-US" dirty="0"/>
            </a:br>
            <a:endParaRPr lang="en-US" dirty="0"/>
          </a:p>
          <a:p>
            <a:pPr algn="l" rtl="0"/>
            <a:r>
              <a:rPr lang="en-US" dirty="0"/>
              <a:t>There is no information sharing between countries.</a:t>
            </a:r>
          </a:p>
        </p:txBody>
      </p:sp>
      <p:pic>
        <p:nvPicPr>
          <p:cNvPr id="5" name="Picture 4">
            <a:extLst>
              <a:ext uri="{FF2B5EF4-FFF2-40B4-BE49-F238E27FC236}">
                <a16:creationId xmlns:a16="http://schemas.microsoft.com/office/drawing/2014/main" id="{2F429808-F639-7105-264F-07CA83B26610}"/>
              </a:ext>
            </a:extLst>
          </p:cNvPr>
          <p:cNvPicPr>
            <a:picLocks noChangeAspect="1"/>
          </p:cNvPicPr>
          <p:nvPr/>
        </p:nvPicPr>
        <p:blipFill>
          <a:blip r:embed="rId2"/>
          <a:stretch>
            <a:fillRect/>
          </a:stretch>
        </p:blipFill>
        <p:spPr>
          <a:xfrm>
            <a:off x="5766904" y="1333633"/>
            <a:ext cx="6004181" cy="5335322"/>
          </a:xfrm>
          <a:prstGeom prst="rect">
            <a:avLst/>
          </a:prstGeom>
        </p:spPr>
      </p:pic>
      <p:sp>
        <p:nvSpPr>
          <p:cNvPr id="4" name="Rectangle 3">
            <a:extLst>
              <a:ext uri="{FF2B5EF4-FFF2-40B4-BE49-F238E27FC236}">
                <a16:creationId xmlns:a16="http://schemas.microsoft.com/office/drawing/2014/main" id="{6EB4B6BA-97D2-30B1-A1AB-FF28300CACFE}"/>
              </a:ext>
            </a:extLst>
          </p:cNvPr>
          <p:cNvSpPr/>
          <p:nvPr/>
        </p:nvSpPr>
        <p:spPr>
          <a:xfrm>
            <a:off x="6830457" y="3816398"/>
            <a:ext cx="1916935" cy="234854"/>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947048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BC418-D058-02CB-5AD7-98E539CC2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CBFF5-4B03-1A57-4506-E9A1365BE490}"/>
              </a:ext>
            </a:extLst>
          </p:cNvPr>
          <p:cNvSpPr>
            <a:spLocks noGrp="1"/>
          </p:cNvSpPr>
          <p:nvPr>
            <p:ph type="title"/>
          </p:nvPr>
        </p:nvSpPr>
        <p:spPr/>
        <p:txBody>
          <a:bodyPr/>
          <a:lstStyle/>
          <a:p>
            <a:pPr algn="l" rtl="0"/>
            <a:r>
              <a:rPr lang="en-US" dirty="0" err="1"/>
              <a:t>Unpooled</a:t>
            </a:r>
            <a:r>
              <a:rPr lang="en-US" dirty="0"/>
              <a:t> Models</a:t>
            </a:r>
            <a:endParaRPr lang="he-IL" dirty="0"/>
          </a:p>
        </p:txBody>
      </p:sp>
      <p:pic>
        <p:nvPicPr>
          <p:cNvPr id="5" name="Picture 4">
            <a:extLst>
              <a:ext uri="{FF2B5EF4-FFF2-40B4-BE49-F238E27FC236}">
                <a16:creationId xmlns:a16="http://schemas.microsoft.com/office/drawing/2014/main" id="{576A4B65-BF0D-19F3-283F-A55100DFE3B9}"/>
              </a:ext>
            </a:extLst>
          </p:cNvPr>
          <p:cNvPicPr>
            <a:picLocks noChangeAspect="1"/>
          </p:cNvPicPr>
          <p:nvPr/>
        </p:nvPicPr>
        <p:blipFill>
          <a:blip r:embed="rId2"/>
          <a:stretch>
            <a:fillRect/>
          </a:stretch>
        </p:blipFill>
        <p:spPr>
          <a:xfrm>
            <a:off x="5766904" y="1333633"/>
            <a:ext cx="6004181" cy="5335322"/>
          </a:xfrm>
          <a:prstGeom prst="rect">
            <a:avLst/>
          </a:prstGeom>
        </p:spPr>
      </p:pic>
      <p:pic>
        <p:nvPicPr>
          <p:cNvPr id="8" name="Picture 7">
            <a:extLst>
              <a:ext uri="{FF2B5EF4-FFF2-40B4-BE49-F238E27FC236}">
                <a16:creationId xmlns:a16="http://schemas.microsoft.com/office/drawing/2014/main" id="{1F79DDBD-AE21-52AD-CDCB-679D58DAF1ED}"/>
              </a:ext>
            </a:extLst>
          </p:cNvPr>
          <p:cNvPicPr>
            <a:picLocks noChangeAspect="1"/>
          </p:cNvPicPr>
          <p:nvPr/>
        </p:nvPicPr>
        <p:blipFill>
          <a:blip r:embed="rId3"/>
          <a:stretch>
            <a:fillRect/>
          </a:stretch>
        </p:blipFill>
        <p:spPr>
          <a:xfrm>
            <a:off x="1991103" y="1669041"/>
            <a:ext cx="2622899" cy="4664506"/>
          </a:xfrm>
          <a:prstGeom prst="rect">
            <a:avLst/>
          </a:prstGeom>
        </p:spPr>
      </p:pic>
    </p:spTree>
    <p:extLst>
      <p:ext uri="{BB962C8B-B14F-4D97-AF65-F5344CB8AC3E}">
        <p14:creationId xmlns:p14="http://schemas.microsoft.com/office/powerpoint/2010/main" val="12708678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FA9F4-41CD-D112-0C75-51523EC68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17629-E81A-8965-ED08-18EA9F84686E}"/>
              </a:ext>
            </a:extLst>
          </p:cNvPr>
          <p:cNvSpPr>
            <a:spLocks noGrp="1"/>
          </p:cNvSpPr>
          <p:nvPr>
            <p:ph type="title"/>
          </p:nvPr>
        </p:nvSpPr>
        <p:spPr/>
        <p:txBody>
          <a:bodyPr/>
          <a:lstStyle/>
          <a:p>
            <a:pPr algn="l" rtl="0"/>
            <a:r>
              <a:rPr lang="en-US" dirty="0" err="1"/>
              <a:t>Unpooled</a:t>
            </a:r>
            <a:r>
              <a:rPr lang="en-US" dirty="0"/>
              <a:t> Models</a:t>
            </a:r>
            <a:endParaRPr lang="he-IL" dirty="0"/>
          </a:p>
        </p:txBody>
      </p:sp>
      <p:pic>
        <p:nvPicPr>
          <p:cNvPr id="8" name="Picture 7">
            <a:extLst>
              <a:ext uri="{FF2B5EF4-FFF2-40B4-BE49-F238E27FC236}">
                <a16:creationId xmlns:a16="http://schemas.microsoft.com/office/drawing/2014/main" id="{A3F856B8-4124-3A2F-C32C-C103A52B1E6F}"/>
              </a:ext>
            </a:extLst>
          </p:cNvPr>
          <p:cNvPicPr>
            <a:picLocks noChangeAspect="1"/>
          </p:cNvPicPr>
          <p:nvPr/>
        </p:nvPicPr>
        <p:blipFill>
          <a:blip r:embed="rId3"/>
          <a:stretch>
            <a:fillRect/>
          </a:stretch>
        </p:blipFill>
        <p:spPr>
          <a:xfrm>
            <a:off x="1526646" y="2412444"/>
            <a:ext cx="2116827" cy="3764519"/>
          </a:xfrm>
          <a:prstGeom prst="rect">
            <a:avLst/>
          </a:prstGeom>
        </p:spPr>
      </p:pic>
      <p:sp>
        <p:nvSpPr>
          <p:cNvPr id="3" name="Content Placeholder 2">
            <a:extLst>
              <a:ext uri="{FF2B5EF4-FFF2-40B4-BE49-F238E27FC236}">
                <a16:creationId xmlns:a16="http://schemas.microsoft.com/office/drawing/2014/main" id="{7BF68653-BFCD-A2F0-ABDC-3F5906C768AC}"/>
              </a:ext>
            </a:extLst>
          </p:cNvPr>
          <p:cNvSpPr>
            <a:spLocks noGrp="1"/>
          </p:cNvSpPr>
          <p:nvPr>
            <p:ph idx="1"/>
          </p:nvPr>
        </p:nvSpPr>
        <p:spPr>
          <a:xfrm>
            <a:off x="838199" y="1825625"/>
            <a:ext cx="10515599" cy="4351338"/>
          </a:xfrm>
        </p:spPr>
        <p:txBody>
          <a:bodyPr/>
          <a:lstStyle/>
          <a:p>
            <a:pPr marL="0" indent="0" algn="l" rtl="0">
              <a:buNone/>
            </a:pPr>
            <a:r>
              <a:rPr lang="en-US" dirty="0"/>
              <a:t>    </a:t>
            </a:r>
            <a:r>
              <a:rPr lang="en-US" dirty="0" err="1"/>
              <a:t>Unpooled</a:t>
            </a:r>
            <a:r>
              <a:rPr lang="en-US" dirty="0"/>
              <a:t> Model 				       Pooled Model</a:t>
            </a:r>
          </a:p>
        </p:txBody>
      </p:sp>
      <p:pic>
        <p:nvPicPr>
          <p:cNvPr id="4" name="Picture 3">
            <a:extLst>
              <a:ext uri="{FF2B5EF4-FFF2-40B4-BE49-F238E27FC236}">
                <a16:creationId xmlns:a16="http://schemas.microsoft.com/office/drawing/2014/main" id="{6BB0FC39-52D9-DAB9-B391-E64D715F698D}"/>
              </a:ext>
            </a:extLst>
          </p:cNvPr>
          <p:cNvPicPr>
            <a:picLocks noChangeAspect="1"/>
          </p:cNvPicPr>
          <p:nvPr/>
        </p:nvPicPr>
        <p:blipFill>
          <a:blip r:embed="rId4"/>
          <a:srcRect t="3251"/>
          <a:stretch>
            <a:fillRect/>
          </a:stretch>
        </p:blipFill>
        <p:spPr>
          <a:xfrm>
            <a:off x="7815649" y="2630488"/>
            <a:ext cx="2236866" cy="3546475"/>
          </a:xfrm>
          <a:prstGeom prst="rect">
            <a:avLst/>
          </a:prstGeom>
        </p:spPr>
      </p:pic>
    </p:spTree>
    <p:extLst>
      <p:ext uri="{BB962C8B-B14F-4D97-AF65-F5344CB8AC3E}">
        <p14:creationId xmlns:p14="http://schemas.microsoft.com/office/powerpoint/2010/main" val="229675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5345D-FA21-9B1A-2AB2-E48A9EAFD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5C2DC3-E465-13D1-5011-32A802A3E77B}"/>
              </a:ext>
            </a:extLst>
          </p:cNvPr>
          <p:cNvSpPr>
            <a:spLocks noGrp="1"/>
          </p:cNvSpPr>
          <p:nvPr>
            <p:ph type="title"/>
          </p:nvPr>
        </p:nvSpPr>
        <p:spPr/>
        <p:txBody>
          <a:bodyPr/>
          <a:lstStyle/>
          <a:p>
            <a:pPr algn="l" rtl="0"/>
            <a:r>
              <a:rPr lang="en-US" dirty="0" err="1"/>
              <a:t>Unpooled</a:t>
            </a:r>
            <a:r>
              <a:rPr lang="en-US" dirty="0"/>
              <a:t> Models</a:t>
            </a:r>
            <a:endParaRPr lang="he-IL" dirty="0"/>
          </a:p>
        </p:txBody>
      </p:sp>
      <p:sp>
        <p:nvSpPr>
          <p:cNvPr id="3" name="Content Placeholder 2">
            <a:extLst>
              <a:ext uri="{FF2B5EF4-FFF2-40B4-BE49-F238E27FC236}">
                <a16:creationId xmlns:a16="http://schemas.microsoft.com/office/drawing/2014/main" id="{63B5D9B0-B61A-EC01-47BD-6E5A753ED1A6}"/>
              </a:ext>
            </a:extLst>
          </p:cNvPr>
          <p:cNvSpPr>
            <a:spLocks noGrp="1"/>
          </p:cNvSpPr>
          <p:nvPr>
            <p:ph idx="1"/>
          </p:nvPr>
        </p:nvSpPr>
        <p:spPr>
          <a:xfrm>
            <a:off x="838199" y="1825625"/>
            <a:ext cx="10515599" cy="4351338"/>
          </a:xfrm>
        </p:spPr>
        <p:txBody>
          <a:bodyPr/>
          <a:lstStyle/>
          <a:p>
            <a:pPr algn="l" rtl="0"/>
            <a:r>
              <a:rPr lang="en-US" dirty="0"/>
              <a:t>    Prior predictive</a:t>
            </a:r>
          </a:p>
          <a:p>
            <a:pPr marL="0" indent="0" algn="l" rtl="0">
              <a:buNone/>
            </a:pPr>
            <a:r>
              <a:rPr lang="en-US" dirty="0" err="1"/>
              <a:t>Unpooled</a:t>
            </a:r>
            <a:r>
              <a:rPr lang="en-US" dirty="0"/>
              <a:t> Model 				       Pooled Model</a:t>
            </a:r>
          </a:p>
        </p:txBody>
      </p:sp>
      <p:pic>
        <p:nvPicPr>
          <p:cNvPr id="11266" name="Picture 2">
            <a:extLst>
              <a:ext uri="{FF2B5EF4-FFF2-40B4-BE49-F238E27FC236}">
                <a16:creationId xmlns:a16="http://schemas.microsoft.com/office/drawing/2014/main" id="{F397BF0A-8A53-2ACB-156F-6A02BF1DE7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385" y="3199963"/>
            <a:ext cx="5112058" cy="32210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3E4E989D-97B1-A7D5-E444-275F2F71EB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5999" y="3199964"/>
            <a:ext cx="5112058" cy="3221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6847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17D83-78D3-45DC-9814-FDEE8A36E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5BC70-BCAB-8131-7489-3E400807AF97}"/>
              </a:ext>
            </a:extLst>
          </p:cNvPr>
          <p:cNvSpPr>
            <a:spLocks noGrp="1"/>
          </p:cNvSpPr>
          <p:nvPr>
            <p:ph type="title"/>
          </p:nvPr>
        </p:nvSpPr>
        <p:spPr/>
        <p:txBody>
          <a:bodyPr/>
          <a:lstStyle/>
          <a:p>
            <a:pPr algn="l" rtl="0"/>
            <a:r>
              <a:rPr lang="en-US" dirty="0" err="1"/>
              <a:t>Unpooled</a:t>
            </a:r>
            <a:r>
              <a:rPr lang="en-US" dirty="0"/>
              <a:t> Models</a:t>
            </a:r>
            <a:endParaRPr lang="he-IL" dirty="0"/>
          </a:p>
        </p:txBody>
      </p:sp>
      <p:sp>
        <p:nvSpPr>
          <p:cNvPr id="3" name="Content Placeholder 2">
            <a:extLst>
              <a:ext uri="{FF2B5EF4-FFF2-40B4-BE49-F238E27FC236}">
                <a16:creationId xmlns:a16="http://schemas.microsoft.com/office/drawing/2014/main" id="{C7A47E20-370F-52F9-015B-470B56A25C7C}"/>
              </a:ext>
            </a:extLst>
          </p:cNvPr>
          <p:cNvSpPr>
            <a:spLocks noGrp="1"/>
          </p:cNvSpPr>
          <p:nvPr>
            <p:ph idx="1"/>
          </p:nvPr>
        </p:nvSpPr>
        <p:spPr>
          <a:xfrm>
            <a:off x="838199" y="1825625"/>
            <a:ext cx="10515599" cy="4351338"/>
          </a:xfrm>
        </p:spPr>
        <p:txBody>
          <a:bodyPr/>
          <a:lstStyle/>
          <a:p>
            <a:pPr algn="l" rtl="0"/>
            <a:r>
              <a:rPr lang="en-US" dirty="0"/>
              <a:t>Summary &amp; trace plot shows the different thetas: </a:t>
            </a:r>
          </a:p>
          <a:p>
            <a:pPr marL="0" indent="0" algn="l" rtl="0">
              <a:buNone/>
            </a:pPr>
            <a:endParaRPr lang="en-US" dirty="0"/>
          </a:p>
        </p:txBody>
      </p:sp>
      <p:pic>
        <p:nvPicPr>
          <p:cNvPr id="14" name="Picture 13">
            <a:extLst>
              <a:ext uri="{FF2B5EF4-FFF2-40B4-BE49-F238E27FC236}">
                <a16:creationId xmlns:a16="http://schemas.microsoft.com/office/drawing/2014/main" id="{0731ABDE-7978-90C5-2793-D89866B259CC}"/>
              </a:ext>
            </a:extLst>
          </p:cNvPr>
          <p:cNvPicPr>
            <a:picLocks noChangeAspect="1"/>
          </p:cNvPicPr>
          <p:nvPr/>
        </p:nvPicPr>
        <p:blipFill>
          <a:blip r:embed="rId3"/>
          <a:stretch>
            <a:fillRect/>
          </a:stretch>
        </p:blipFill>
        <p:spPr>
          <a:xfrm>
            <a:off x="6225177" y="2748782"/>
            <a:ext cx="5502366" cy="3563118"/>
          </a:xfrm>
          <a:prstGeom prst="rect">
            <a:avLst/>
          </a:prstGeom>
        </p:spPr>
      </p:pic>
      <p:pic>
        <p:nvPicPr>
          <p:cNvPr id="16" name="Picture 15">
            <a:extLst>
              <a:ext uri="{FF2B5EF4-FFF2-40B4-BE49-F238E27FC236}">
                <a16:creationId xmlns:a16="http://schemas.microsoft.com/office/drawing/2014/main" id="{6D1E53F2-9568-AEFF-84C0-0F07842594F5}"/>
              </a:ext>
            </a:extLst>
          </p:cNvPr>
          <p:cNvPicPr>
            <a:picLocks noChangeAspect="1"/>
          </p:cNvPicPr>
          <p:nvPr/>
        </p:nvPicPr>
        <p:blipFill>
          <a:blip r:embed="rId4"/>
          <a:stretch>
            <a:fillRect/>
          </a:stretch>
        </p:blipFill>
        <p:spPr>
          <a:xfrm>
            <a:off x="1055380" y="3023820"/>
            <a:ext cx="4801637" cy="1635265"/>
          </a:xfrm>
          <a:prstGeom prst="rect">
            <a:avLst/>
          </a:prstGeom>
        </p:spPr>
      </p:pic>
    </p:spTree>
    <p:extLst>
      <p:ext uri="{BB962C8B-B14F-4D97-AF65-F5344CB8AC3E}">
        <p14:creationId xmlns:p14="http://schemas.microsoft.com/office/powerpoint/2010/main" val="14306375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0D962-266B-ADB6-EB98-F8E40E58DC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A7A66-0681-2D34-CE02-99BE178A90AB}"/>
              </a:ext>
            </a:extLst>
          </p:cNvPr>
          <p:cNvSpPr>
            <a:spLocks noGrp="1"/>
          </p:cNvSpPr>
          <p:nvPr>
            <p:ph type="title"/>
          </p:nvPr>
        </p:nvSpPr>
        <p:spPr/>
        <p:txBody>
          <a:bodyPr/>
          <a:lstStyle/>
          <a:p>
            <a:pPr algn="l" rtl="0"/>
            <a:r>
              <a:rPr lang="en-US" dirty="0" err="1"/>
              <a:t>Unpooled</a:t>
            </a:r>
            <a:r>
              <a:rPr lang="en-US" dirty="0"/>
              <a:t> Models</a:t>
            </a:r>
            <a:endParaRPr lang="he-IL" dirty="0"/>
          </a:p>
        </p:txBody>
      </p:sp>
      <p:sp>
        <p:nvSpPr>
          <p:cNvPr id="3" name="Content Placeholder 2">
            <a:extLst>
              <a:ext uri="{FF2B5EF4-FFF2-40B4-BE49-F238E27FC236}">
                <a16:creationId xmlns:a16="http://schemas.microsoft.com/office/drawing/2014/main" id="{F9A8B4A7-CF0B-1B17-A141-C94E22EC48C0}"/>
              </a:ext>
            </a:extLst>
          </p:cNvPr>
          <p:cNvSpPr>
            <a:spLocks noGrp="1"/>
          </p:cNvSpPr>
          <p:nvPr>
            <p:ph idx="1"/>
          </p:nvPr>
        </p:nvSpPr>
        <p:spPr>
          <a:xfrm>
            <a:off x="838199" y="1825625"/>
            <a:ext cx="10515599" cy="4351338"/>
          </a:xfrm>
        </p:spPr>
        <p:txBody>
          <a:bodyPr/>
          <a:lstStyle/>
          <a:p>
            <a:pPr algn="l" rtl="0"/>
            <a:r>
              <a:rPr lang="en-US" dirty="0"/>
              <a:t>Posterior predictive -     </a:t>
            </a:r>
          </a:p>
          <a:p>
            <a:pPr marL="0" indent="0" algn="l" rtl="0">
              <a:buNone/>
            </a:pPr>
            <a:r>
              <a:rPr lang="en-US" dirty="0" err="1"/>
              <a:t>Unpooled</a:t>
            </a:r>
            <a:r>
              <a:rPr lang="en-US" dirty="0"/>
              <a:t> Model 				       Pooled Model</a:t>
            </a:r>
          </a:p>
        </p:txBody>
      </p:sp>
      <p:pic>
        <p:nvPicPr>
          <p:cNvPr id="4" name="Picture 2">
            <a:extLst>
              <a:ext uri="{FF2B5EF4-FFF2-40B4-BE49-F238E27FC236}">
                <a16:creationId xmlns:a16="http://schemas.microsoft.com/office/drawing/2014/main" id="{4CC2CEC6-D22A-8326-0C07-576FA413AE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8" y="2888342"/>
            <a:ext cx="5433474" cy="3423558"/>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a:extLst>
              <a:ext uri="{FF2B5EF4-FFF2-40B4-BE49-F238E27FC236}">
                <a16:creationId xmlns:a16="http://schemas.microsoft.com/office/drawing/2014/main" id="{E2EC5311-D6C2-7255-91FA-B5B2E83B71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240" y="2980172"/>
            <a:ext cx="5287732" cy="3331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239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32834-6535-00B8-02F6-145230C43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58602-67FF-622A-B439-A043F72F0A67}"/>
              </a:ext>
            </a:extLst>
          </p:cNvPr>
          <p:cNvSpPr>
            <a:spLocks noGrp="1"/>
          </p:cNvSpPr>
          <p:nvPr>
            <p:ph type="title"/>
          </p:nvPr>
        </p:nvSpPr>
        <p:spPr/>
        <p:txBody>
          <a:bodyPr/>
          <a:lstStyle/>
          <a:p>
            <a:pPr algn="l" rtl="0"/>
            <a:r>
              <a:rPr lang="en-US" dirty="0" err="1"/>
              <a:t>Unpooled</a:t>
            </a:r>
            <a:r>
              <a:rPr lang="en-US" dirty="0"/>
              <a:t> Models</a:t>
            </a:r>
            <a:endParaRPr lang="he-IL" dirty="0"/>
          </a:p>
        </p:txBody>
      </p:sp>
      <p:sp>
        <p:nvSpPr>
          <p:cNvPr id="3" name="Content Placeholder 2">
            <a:extLst>
              <a:ext uri="{FF2B5EF4-FFF2-40B4-BE49-F238E27FC236}">
                <a16:creationId xmlns:a16="http://schemas.microsoft.com/office/drawing/2014/main" id="{AF07FC76-8549-57B5-65F4-0AE6E1B03280}"/>
              </a:ext>
            </a:extLst>
          </p:cNvPr>
          <p:cNvSpPr>
            <a:spLocks noGrp="1"/>
          </p:cNvSpPr>
          <p:nvPr>
            <p:ph idx="1"/>
          </p:nvPr>
        </p:nvSpPr>
        <p:spPr>
          <a:xfrm>
            <a:off x="838199" y="1825625"/>
            <a:ext cx="10515599" cy="4351338"/>
          </a:xfrm>
        </p:spPr>
        <p:txBody>
          <a:bodyPr/>
          <a:lstStyle/>
          <a:p>
            <a:pPr marL="0" indent="0" algn="l" rtl="0">
              <a:buNone/>
            </a:pPr>
            <a:r>
              <a:rPr lang="en-US" dirty="0"/>
              <a:t>Instead of one posterior we have a different one for each country</a:t>
            </a:r>
          </a:p>
        </p:txBody>
      </p:sp>
      <p:pic>
        <p:nvPicPr>
          <p:cNvPr id="6" name="Picture 5">
            <a:extLst>
              <a:ext uri="{FF2B5EF4-FFF2-40B4-BE49-F238E27FC236}">
                <a16:creationId xmlns:a16="http://schemas.microsoft.com/office/drawing/2014/main" id="{63426032-0882-B866-7D68-AAEE48638649}"/>
              </a:ext>
            </a:extLst>
          </p:cNvPr>
          <p:cNvPicPr>
            <a:picLocks noChangeAspect="1"/>
          </p:cNvPicPr>
          <p:nvPr/>
        </p:nvPicPr>
        <p:blipFill>
          <a:blip r:embed="rId3"/>
          <a:stretch>
            <a:fillRect/>
          </a:stretch>
        </p:blipFill>
        <p:spPr>
          <a:xfrm>
            <a:off x="1353455" y="2474673"/>
            <a:ext cx="8821059" cy="4018202"/>
          </a:xfrm>
          <a:prstGeom prst="rect">
            <a:avLst/>
          </a:prstGeom>
        </p:spPr>
      </p:pic>
    </p:spTree>
    <p:extLst>
      <p:ext uri="{BB962C8B-B14F-4D97-AF65-F5344CB8AC3E}">
        <p14:creationId xmlns:p14="http://schemas.microsoft.com/office/powerpoint/2010/main" val="26247265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B9EBA-9FCE-60B9-EF39-141B601DD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A334F-3D29-6E20-0C7C-FDD4A8714A38}"/>
              </a:ext>
            </a:extLst>
          </p:cNvPr>
          <p:cNvSpPr>
            <a:spLocks noGrp="1"/>
          </p:cNvSpPr>
          <p:nvPr>
            <p:ph type="title"/>
          </p:nvPr>
        </p:nvSpPr>
        <p:spPr/>
        <p:txBody>
          <a:bodyPr/>
          <a:lstStyle/>
          <a:p>
            <a:pPr algn="l" rtl="0"/>
            <a:r>
              <a:rPr lang="en-US" dirty="0" err="1"/>
              <a:t>Unpooled</a:t>
            </a:r>
            <a:r>
              <a:rPr lang="en-US" dirty="0"/>
              <a:t> Models</a:t>
            </a:r>
            <a:endParaRPr lang="he-IL" dirty="0"/>
          </a:p>
        </p:txBody>
      </p:sp>
      <p:sp>
        <p:nvSpPr>
          <p:cNvPr id="3" name="Content Placeholder 2">
            <a:extLst>
              <a:ext uri="{FF2B5EF4-FFF2-40B4-BE49-F238E27FC236}">
                <a16:creationId xmlns:a16="http://schemas.microsoft.com/office/drawing/2014/main" id="{21FC6F8D-3D65-4AFF-8EA6-136F56117DBF}"/>
              </a:ext>
            </a:extLst>
          </p:cNvPr>
          <p:cNvSpPr>
            <a:spLocks noGrp="1"/>
          </p:cNvSpPr>
          <p:nvPr>
            <p:ph idx="1"/>
          </p:nvPr>
        </p:nvSpPr>
        <p:spPr>
          <a:xfrm>
            <a:off x="838199" y="1825625"/>
            <a:ext cx="10515599" cy="4351338"/>
          </a:xfrm>
        </p:spPr>
        <p:txBody>
          <a:bodyPr/>
          <a:lstStyle/>
          <a:p>
            <a:pPr marL="0" indent="0" algn="l" rtl="0">
              <a:buNone/>
            </a:pPr>
            <a:r>
              <a:rPr lang="en-US" dirty="0"/>
              <a:t>Instead of one posterior we have a different one for each country</a:t>
            </a:r>
          </a:p>
        </p:txBody>
      </p:sp>
      <p:pic>
        <p:nvPicPr>
          <p:cNvPr id="6148" name="Picture 4">
            <a:extLst>
              <a:ext uri="{FF2B5EF4-FFF2-40B4-BE49-F238E27FC236}">
                <a16:creationId xmlns:a16="http://schemas.microsoft.com/office/drawing/2014/main" id="{C59696DC-8AE0-849B-112A-C92E5C4DE1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6266" y="2986405"/>
            <a:ext cx="5353163" cy="304292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B9009360-8C91-5B25-224D-1A379FB0DA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573" y="2986405"/>
            <a:ext cx="5853533" cy="3261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7681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9D04-7C54-3A0B-5E58-4E8066BCC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662DF-B3D8-6911-3446-3CA5E66B2653}"/>
              </a:ext>
            </a:extLst>
          </p:cNvPr>
          <p:cNvSpPr>
            <a:spLocks noGrp="1"/>
          </p:cNvSpPr>
          <p:nvPr>
            <p:ph type="ctrTitle"/>
          </p:nvPr>
        </p:nvSpPr>
        <p:spPr>
          <a:xfrm>
            <a:off x="1524000" y="2693288"/>
            <a:ext cx="9144000" cy="1267695"/>
          </a:xfrm>
        </p:spPr>
        <p:txBody>
          <a:bodyPr/>
          <a:lstStyle/>
          <a:p>
            <a:r>
              <a:rPr lang="en-US" dirty="0"/>
              <a:t>Hierarchical Models</a:t>
            </a:r>
            <a:endParaRPr lang="LID4096" dirty="0"/>
          </a:p>
        </p:txBody>
      </p:sp>
      <p:sp>
        <p:nvSpPr>
          <p:cNvPr id="4" name="מציין מיקום של מספר שקופית 3">
            <a:extLst>
              <a:ext uri="{FF2B5EF4-FFF2-40B4-BE49-F238E27FC236}">
                <a16:creationId xmlns:a16="http://schemas.microsoft.com/office/drawing/2014/main" id="{9AA3D8C3-730C-398D-FC48-33BB84092FA2}"/>
              </a:ext>
            </a:extLst>
          </p:cNvPr>
          <p:cNvSpPr>
            <a:spLocks noGrp="1"/>
          </p:cNvSpPr>
          <p:nvPr>
            <p:ph type="sldNum" sz="quarter" idx="12"/>
          </p:nvPr>
        </p:nvSpPr>
        <p:spPr/>
        <p:txBody>
          <a:bodyPr/>
          <a:lstStyle/>
          <a:p>
            <a:fld id="{B6796F57-8306-40D4-9229-37A3D19F0B5F}" type="slidenum">
              <a:rPr lang="LID4096" smtClean="0"/>
              <a:t>50</a:t>
            </a:fld>
            <a:endParaRPr lang="LID4096" dirty="0"/>
          </a:p>
        </p:txBody>
      </p:sp>
    </p:spTree>
    <p:extLst>
      <p:ext uri="{BB962C8B-B14F-4D97-AF65-F5344CB8AC3E}">
        <p14:creationId xmlns:p14="http://schemas.microsoft.com/office/powerpoint/2010/main" val="40409090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39CE4-B982-4760-8191-A28C8029D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02C8A-4E2D-6EDE-8A5A-34E0B49F5DBB}"/>
              </a:ext>
            </a:extLst>
          </p:cNvPr>
          <p:cNvSpPr>
            <a:spLocks noGrp="1"/>
          </p:cNvSpPr>
          <p:nvPr>
            <p:ph type="title"/>
          </p:nvPr>
        </p:nvSpPr>
        <p:spPr/>
        <p:txBody>
          <a:bodyPr/>
          <a:lstStyle/>
          <a:p>
            <a:pPr algn="l" rtl="0"/>
            <a:r>
              <a:rPr lang="en-US" dirty="0"/>
              <a:t>Hierarchical Models</a:t>
            </a:r>
          </a:p>
        </p:txBody>
      </p:sp>
      <p:sp>
        <p:nvSpPr>
          <p:cNvPr id="3" name="Content Placeholder 2">
            <a:extLst>
              <a:ext uri="{FF2B5EF4-FFF2-40B4-BE49-F238E27FC236}">
                <a16:creationId xmlns:a16="http://schemas.microsoft.com/office/drawing/2014/main" id="{E391837E-43C5-2690-C471-26B047A5B7A7}"/>
              </a:ext>
            </a:extLst>
          </p:cNvPr>
          <p:cNvSpPr>
            <a:spLocks noGrp="1"/>
          </p:cNvSpPr>
          <p:nvPr>
            <p:ph idx="1"/>
          </p:nvPr>
        </p:nvSpPr>
        <p:spPr/>
        <p:txBody>
          <a:bodyPr/>
          <a:lstStyle/>
          <a:p>
            <a:pPr algn="l" rtl="0"/>
            <a:r>
              <a:rPr lang="en-US" dirty="0"/>
              <a:t>A model in which parameters for lower-level groups are themselves modeled as coming from a higher-level distribution.</a:t>
            </a:r>
          </a:p>
          <a:p>
            <a:pPr algn="l" rtl="0"/>
            <a:r>
              <a:rPr lang="en-US" b="1" dirty="0"/>
              <a:t>Hyperparameter</a:t>
            </a:r>
            <a:r>
              <a:rPr lang="en-US" dirty="0"/>
              <a:t> - a parameter of a prior distribution.</a:t>
            </a:r>
          </a:p>
          <a:p>
            <a:pPr algn="l" rtl="0"/>
            <a:r>
              <a:rPr lang="en-US" b="1" dirty="0"/>
              <a:t>Hyperprior</a:t>
            </a:r>
            <a:r>
              <a:rPr lang="en-US" dirty="0"/>
              <a:t> - a prior distribution placed on a hyperparameter.</a:t>
            </a:r>
          </a:p>
          <a:p>
            <a:pPr algn="l" rtl="0"/>
            <a:r>
              <a:rPr lang="en-US" b="1" dirty="0"/>
              <a:t>Information sharing </a:t>
            </a:r>
            <a:r>
              <a:rPr lang="en-US" dirty="0"/>
              <a:t>- the way group-level parameter estimates are influenced by data from other groups through shared hyperparameters. </a:t>
            </a:r>
            <a:endParaRPr lang="he-IL" dirty="0"/>
          </a:p>
        </p:txBody>
      </p:sp>
    </p:spTree>
    <p:extLst>
      <p:ext uri="{BB962C8B-B14F-4D97-AF65-F5344CB8AC3E}">
        <p14:creationId xmlns:p14="http://schemas.microsoft.com/office/powerpoint/2010/main" val="423419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5CED3-21F4-A237-9E30-052EC0B5A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51DFF-FBB6-7D14-CD6F-A3C0095F0579}"/>
              </a:ext>
            </a:extLst>
          </p:cNvPr>
          <p:cNvSpPr>
            <a:spLocks noGrp="1"/>
          </p:cNvSpPr>
          <p:nvPr>
            <p:ph type="title"/>
          </p:nvPr>
        </p:nvSpPr>
        <p:spPr/>
        <p:txBody>
          <a:bodyPr/>
          <a:lstStyle/>
          <a:p>
            <a:pPr algn="l" rtl="0"/>
            <a:r>
              <a:rPr lang="en-US" dirty="0"/>
              <a:t>Hierarchical Models</a:t>
            </a:r>
          </a:p>
        </p:txBody>
      </p:sp>
      <p:sp>
        <p:nvSpPr>
          <p:cNvPr id="3" name="Content Placeholder 2">
            <a:extLst>
              <a:ext uri="{FF2B5EF4-FFF2-40B4-BE49-F238E27FC236}">
                <a16:creationId xmlns:a16="http://schemas.microsoft.com/office/drawing/2014/main" id="{D4E7D577-18D9-0C0B-8C40-DB0402873FFE}"/>
              </a:ext>
            </a:extLst>
          </p:cNvPr>
          <p:cNvSpPr>
            <a:spLocks noGrp="1"/>
          </p:cNvSpPr>
          <p:nvPr>
            <p:ph idx="1"/>
          </p:nvPr>
        </p:nvSpPr>
        <p:spPr/>
        <p:txBody>
          <a:bodyPr/>
          <a:lstStyle/>
          <a:p>
            <a:pPr algn="l" rtl="0"/>
            <a:r>
              <a:rPr lang="en-US" dirty="0"/>
              <a:t>In our dataset - </a:t>
            </a:r>
          </a:p>
          <a:p>
            <a:pPr algn="l" rtl="0"/>
            <a:r>
              <a:rPr lang="en-US" dirty="0"/>
              <a:t>The hierarchical model estimates a separate Biotechnology startup probability for each country.</a:t>
            </a:r>
          </a:p>
          <a:p>
            <a:pPr algn="l" rtl="0"/>
            <a:r>
              <a:rPr lang="en-US" dirty="0"/>
              <a:t>The country probabilities are connected through shared hyperparameters.</a:t>
            </a:r>
          </a:p>
          <a:p>
            <a:pPr algn="l" rtl="0"/>
            <a:r>
              <a:rPr lang="en-US" dirty="0"/>
              <a:t>This creates information sharing between countries.</a:t>
            </a:r>
          </a:p>
        </p:txBody>
      </p:sp>
    </p:spTree>
    <p:extLst>
      <p:ext uri="{BB962C8B-B14F-4D97-AF65-F5344CB8AC3E}">
        <p14:creationId xmlns:p14="http://schemas.microsoft.com/office/powerpoint/2010/main" val="9326477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286E3-B745-B9B1-AADA-A812DF519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C487A-8C5B-6C60-1B15-5099A4B0101B}"/>
              </a:ext>
            </a:extLst>
          </p:cNvPr>
          <p:cNvSpPr>
            <a:spLocks noGrp="1"/>
          </p:cNvSpPr>
          <p:nvPr>
            <p:ph type="title"/>
          </p:nvPr>
        </p:nvSpPr>
        <p:spPr/>
        <p:txBody>
          <a:bodyPr/>
          <a:lstStyle/>
          <a:p>
            <a:pPr algn="l" rtl="0"/>
            <a:r>
              <a:rPr lang="en-US" dirty="0"/>
              <a:t>Hierarchical Models</a:t>
            </a:r>
          </a:p>
        </p:txBody>
      </p:sp>
      <p:pic>
        <p:nvPicPr>
          <p:cNvPr id="5" name="Content Placeholder 4">
            <a:extLst>
              <a:ext uri="{FF2B5EF4-FFF2-40B4-BE49-F238E27FC236}">
                <a16:creationId xmlns:a16="http://schemas.microsoft.com/office/drawing/2014/main" id="{92FDBDB8-EBDA-AC8E-2A45-E5BD9D3154D8}"/>
              </a:ext>
            </a:extLst>
          </p:cNvPr>
          <p:cNvPicPr>
            <a:picLocks noGrp="1" noChangeAspect="1"/>
          </p:cNvPicPr>
          <p:nvPr>
            <p:ph idx="1"/>
          </p:nvPr>
        </p:nvPicPr>
        <p:blipFill>
          <a:blip r:embed="rId3"/>
          <a:stretch>
            <a:fillRect/>
          </a:stretch>
        </p:blipFill>
        <p:spPr>
          <a:xfrm>
            <a:off x="1095829" y="1690688"/>
            <a:ext cx="10000342" cy="4478680"/>
          </a:xfrm>
          <a:prstGeom prst="rect">
            <a:avLst/>
          </a:prstGeom>
        </p:spPr>
      </p:pic>
      <p:sp>
        <p:nvSpPr>
          <p:cNvPr id="3" name="Rectangle 2">
            <a:extLst>
              <a:ext uri="{FF2B5EF4-FFF2-40B4-BE49-F238E27FC236}">
                <a16:creationId xmlns:a16="http://schemas.microsoft.com/office/drawing/2014/main" id="{62E117F4-C193-81C5-7855-AF30267086E0}"/>
              </a:ext>
            </a:extLst>
          </p:cNvPr>
          <p:cNvSpPr/>
          <p:nvPr/>
        </p:nvSpPr>
        <p:spPr>
          <a:xfrm>
            <a:off x="4483865" y="4998630"/>
            <a:ext cx="5078775" cy="337363"/>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Rectangle 3">
            <a:extLst>
              <a:ext uri="{FF2B5EF4-FFF2-40B4-BE49-F238E27FC236}">
                <a16:creationId xmlns:a16="http://schemas.microsoft.com/office/drawing/2014/main" id="{CA9FCBC4-CA89-EA5F-5E5D-06CBC4A502A4}"/>
              </a:ext>
            </a:extLst>
          </p:cNvPr>
          <p:cNvSpPr/>
          <p:nvPr/>
        </p:nvSpPr>
        <p:spPr>
          <a:xfrm>
            <a:off x="3479494" y="3471880"/>
            <a:ext cx="4122145" cy="337363"/>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9396134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5C763-6D7D-B02A-497C-FE9938B10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08516-C2AD-D67A-70AA-53AFB70FE3C4}"/>
              </a:ext>
            </a:extLst>
          </p:cNvPr>
          <p:cNvSpPr>
            <a:spLocks noGrp="1"/>
          </p:cNvSpPr>
          <p:nvPr>
            <p:ph type="title"/>
          </p:nvPr>
        </p:nvSpPr>
        <p:spPr/>
        <p:txBody>
          <a:bodyPr/>
          <a:lstStyle/>
          <a:p>
            <a:pPr algn="l" rtl="0"/>
            <a:r>
              <a:rPr lang="en-US" dirty="0"/>
              <a:t>Hierarchical Models</a:t>
            </a:r>
          </a:p>
        </p:txBody>
      </p:sp>
      <p:sp>
        <p:nvSpPr>
          <p:cNvPr id="4" name="Content Placeholder 3">
            <a:extLst>
              <a:ext uri="{FF2B5EF4-FFF2-40B4-BE49-F238E27FC236}">
                <a16:creationId xmlns:a16="http://schemas.microsoft.com/office/drawing/2014/main" id="{7C86535A-926A-5460-6E89-8469F7B44EB1}"/>
              </a:ext>
            </a:extLst>
          </p:cNvPr>
          <p:cNvSpPr>
            <a:spLocks noGrp="1"/>
          </p:cNvSpPr>
          <p:nvPr>
            <p:ph idx="1"/>
          </p:nvPr>
        </p:nvSpPr>
        <p:spPr>
          <a:xfrm>
            <a:off x="838200" y="1639662"/>
            <a:ext cx="11208657" cy="4351338"/>
          </a:xfrm>
        </p:spPr>
        <p:txBody>
          <a:bodyPr/>
          <a:lstStyle/>
          <a:p>
            <a:pPr marL="0" indent="0" algn="l" rtl="0">
              <a:buNone/>
            </a:pPr>
            <a:r>
              <a:rPr lang="en-US" dirty="0"/>
              <a:t>Hierarchical Model                     </a:t>
            </a:r>
            <a:r>
              <a:rPr lang="en-US" dirty="0" err="1"/>
              <a:t>Unpooled</a:t>
            </a:r>
            <a:r>
              <a:rPr lang="en-US" dirty="0"/>
              <a:t>  model                    Pooled Model              </a:t>
            </a:r>
            <a:endParaRPr lang="he-IL" dirty="0"/>
          </a:p>
        </p:txBody>
      </p:sp>
      <p:pic>
        <p:nvPicPr>
          <p:cNvPr id="6" name="Picture 5">
            <a:extLst>
              <a:ext uri="{FF2B5EF4-FFF2-40B4-BE49-F238E27FC236}">
                <a16:creationId xmlns:a16="http://schemas.microsoft.com/office/drawing/2014/main" id="{65DE0CC4-7205-E922-8AD9-3644C9FC320F}"/>
              </a:ext>
            </a:extLst>
          </p:cNvPr>
          <p:cNvPicPr>
            <a:picLocks noChangeAspect="1"/>
          </p:cNvPicPr>
          <p:nvPr/>
        </p:nvPicPr>
        <p:blipFill>
          <a:blip r:embed="rId3"/>
          <a:srcRect t="4462"/>
          <a:stretch>
            <a:fillRect/>
          </a:stretch>
        </p:blipFill>
        <p:spPr>
          <a:xfrm>
            <a:off x="5384113" y="2806977"/>
            <a:ext cx="2087360" cy="3546475"/>
          </a:xfrm>
          <a:prstGeom prst="rect">
            <a:avLst/>
          </a:prstGeom>
        </p:spPr>
      </p:pic>
      <p:sp>
        <p:nvSpPr>
          <p:cNvPr id="7" name="Content Placeholder 2">
            <a:extLst>
              <a:ext uri="{FF2B5EF4-FFF2-40B4-BE49-F238E27FC236}">
                <a16:creationId xmlns:a16="http://schemas.microsoft.com/office/drawing/2014/main" id="{17280B07-2A7D-7763-B2C5-1789C302BCDB}"/>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8" name="Picture 7">
            <a:extLst>
              <a:ext uri="{FF2B5EF4-FFF2-40B4-BE49-F238E27FC236}">
                <a16:creationId xmlns:a16="http://schemas.microsoft.com/office/drawing/2014/main" id="{99AF22B3-0043-9DC1-6D52-5EBBA305047F}"/>
              </a:ext>
            </a:extLst>
          </p:cNvPr>
          <p:cNvPicPr>
            <a:picLocks noChangeAspect="1"/>
          </p:cNvPicPr>
          <p:nvPr/>
        </p:nvPicPr>
        <p:blipFill>
          <a:blip r:embed="rId4"/>
          <a:srcRect t="3251"/>
          <a:stretch>
            <a:fillRect/>
          </a:stretch>
        </p:blipFill>
        <p:spPr>
          <a:xfrm>
            <a:off x="9354164" y="2697956"/>
            <a:ext cx="2236866" cy="3546475"/>
          </a:xfrm>
          <a:prstGeom prst="rect">
            <a:avLst/>
          </a:prstGeom>
        </p:spPr>
      </p:pic>
      <p:pic>
        <p:nvPicPr>
          <p:cNvPr id="10" name="Picture 9">
            <a:extLst>
              <a:ext uri="{FF2B5EF4-FFF2-40B4-BE49-F238E27FC236}">
                <a16:creationId xmlns:a16="http://schemas.microsoft.com/office/drawing/2014/main" id="{4B36E227-2F40-1A53-D962-601691F2CC78}"/>
              </a:ext>
            </a:extLst>
          </p:cNvPr>
          <p:cNvPicPr>
            <a:picLocks noChangeAspect="1"/>
          </p:cNvPicPr>
          <p:nvPr/>
        </p:nvPicPr>
        <p:blipFill>
          <a:blip r:embed="rId5"/>
          <a:stretch>
            <a:fillRect/>
          </a:stretch>
        </p:blipFill>
        <p:spPr>
          <a:xfrm>
            <a:off x="1006710" y="2284899"/>
            <a:ext cx="3124636" cy="4372585"/>
          </a:xfrm>
          <a:prstGeom prst="rect">
            <a:avLst/>
          </a:prstGeom>
        </p:spPr>
      </p:pic>
    </p:spTree>
    <p:extLst>
      <p:ext uri="{BB962C8B-B14F-4D97-AF65-F5344CB8AC3E}">
        <p14:creationId xmlns:p14="http://schemas.microsoft.com/office/powerpoint/2010/main" val="8094999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2DAF9-BE87-C627-15F0-DAF81AD6B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6F093-B2F7-EF58-4A1A-8D55A0167E39}"/>
              </a:ext>
            </a:extLst>
          </p:cNvPr>
          <p:cNvSpPr>
            <a:spLocks noGrp="1"/>
          </p:cNvSpPr>
          <p:nvPr>
            <p:ph type="title"/>
          </p:nvPr>
        </p:nvSpPr>
        <p:spPr/>
        <p:txBody>
          <a:bodyPr/>
          <a:lstStyle/>
          <a:p>
            <a:pPr algn="l" rtl="0"/>
            <a:r>
              <a:rPr lang="en-US" dirty="0"/>
              <a:t>Hierarchical Models</a:t>
            </a:r>
          </a:p>
        </p:txBody>
      </p:sp>
      <p:sp>
        <p:nvSpPr>
          <p:cNvPr id="4" name="Content Placeholder 3">
            <a:extLst>
              <a:ext uri="{FF2B5EF4-FFF2-40B4-BE49-F238E27FC236}">
                <a16:creationId xmlns:a16="http://schemas.microsoft.com/office/drawing/2014/main" id="{720B0F4B-EA9F-BB2E-E67B-703083DACAE7}"/>
              </a:ext>
            </a:extLst>
          </p:cNvPr>
          <p:cNvSpPr>
            <a:spLocks noGrp="1"/>
          </p:cNvSpPr>
          <p:nvPr>
            <p:ph idx="1"/>
          </p:nvPr>
        </p:nvSpPr>
        <p:spPr>
          <a:xfrm>
            <a:off x="838200" y="1639662"/>
            <a:ext cx="11208657" cy="4351338"/>
          </a:xfrm>
        </p:spPr>
        <p:txBody>
          <a:bodyPr/>
          <a:lstStyle/>
          <a:p>
            <a:pPr algn="l" rtl="0"/>
            <a:r>
              <a:rPr lang="en-US" dirty="0"/>
              <a:t>Prior Predictive</a:t>
            </a:r>
          </a:p>
          <a:p>
            <a:pPr marL="0" indent="0" algn="l" rtl="0">
              <a:buNone/>
            </a:pPr>
            <a:endParaRPr lang="en-US" dirty="0"/>
          </a:p>
          <a:p>
            <a:pPr marL="0" indent="0" algn="l" rtl="0">
              <a:buNone/>
            </a:pPr>
            <a:endParaRPr lang="he-IL" dirty="0"/>
          </a:p>
        </p:txBody>
      </p:sp>
      <p:pic>
        <p:nvPicPr>
          <p:cNvPr id="17410" name="Picture 2">
            <a:extLst>
              <a:ext uri="{FF2B5EF4-FFF2-40B4-BE49-F238E27FC236}">
                <a16:creationId xmlns:a16="http://schemas.microsoft.com/office/drawing/2014/main" id="{72E0AC58-A0A6-73B5-8E5D-7AA303710D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9025" y="1730376"/>
            <a:ext cx="7724775" cy="486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1128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F1D4B-A8BF-44D0-08B3-3492BBB59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431EC-867C-D37C-FC76-48486B9E60D9}"/>
              </a:ext>
            </a:extLst>
          </p:cNvPr>
          <p:cNvSpPr>
            <a:spLocks noGrp="1"/>
          </p:cNvSpPr>
          <p:nvPr>
            <p:ph type="title"/>
          </p:nvPr>
        </p:nvSpPr>
        <p:spPr/>
        <p:txBody>
          <a:bodyPr/>
          <a:lstStyle/>
          <a:p>
            <a:pPr algn="l" rtl="0"/>
            <a:r>
              <a:rPr lang="en-US" dirty="0"/>
              <a:t>Hierarchical Models</a:t>
            </a:r>
          </a:p>
        </p:txBody>
      </p:sp>
      <p:sp>
        <p:nvSpPr>
          <p:cNvPr id="4" name="Content Placeholder 3">
            <a:extLst>
              <a:ext uri="{FF2B5EF4-FFF2-40B4-BE49-F238E27FC236}">
                <a16:creationId xmlns:a16="http://schemas.microsoft.com/office/drawing/2014/main" id="{1997CEC9-4DC5-F219-EE43-180C0F26107E}"/>
              </a:ext>
            </a:extLst>
          </p:cNvPr>
          <p:cNvSpPr>
            <a:spLocks noGrp="1"/>
          </p:cNvSpPr>
          <p:nvPr>
            <p:ph idx="1"/>
          </p:nvPr>
        </p:nvSpPr>
        <p:spPr>
          <a:xfrm>
            <a:off x="838200" y="1639662"/>
            <a:ext cx="11208657" cy="4351338"/>
          </a:xfrm>
        </p:spPr>
        <p:txBody>
          <a:bodyPr/>
          <a:lstStyle/>
          <a:p>
            <a:pPr algn="l" rtl="0"/>
            <a:r>
              <a:rPr lang="en-US" dirty="0"/>
              <a:t>Sample &amp; diagnostics for hyperpriors</a:t>
            </a:r>
          </a:p>
          <a:p>
            <a:pPr marL="0" indent="0" algn="l" rtl="0">
              <a:buNone/>
            </a:pPr>
            <a:endParaRPr lang="en-US" dirty="0"/>
          </a:p>
          <a:p>
            <a:pPr marL="0" indent="0" algn="l" rtl="0">
              <a:buNone/>
            </a:pPr>
            <a:endParaRPr lang="he-IL" dirty="0"/>
          </a:p>
        </p:txBody>
      </p:sp>
      <p:sp>
        <p:nvSpPr>
          <p:cNvPr id="7" name="Content Placeholder 2">
            <a:extLst>
              <a:ext uri="{FF2B5EF4-FFF2-40B4-BE49-F238E27FC236}">
                <a16:creationId xmlns:a16="http://schemas.microsoft.com/office/drawing/2014/main" id="{E7D20332-55E2-FD63-9CD8-27BCCE0332BE}"/>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5" name="Picture 4">
            <a:extLst>
              <a:ext uri="{FF2B5EF4-FFF2-40B4-BE49-F238E27FC236}">
                <a16:creationId xmlns:a16="http://schemas.microsoft.com/office/drawing/2014/main" id="{8805B452-E98F-403F-A031-22742549F8D8}"/>
              </a:ext>
            </a:extLst>
          </p:cNvPr>
          <p:cNvPicPr>
            <a:picLocks noChangeAspect="1"/>
          </p:cNvPicPr>
          <p:nvPr/>
        </p:nvPicPr>
        <p:blipFill>
          <a:blip r:embed="rId2"/>
          <a:stretch>
            <a:fillRect/>
          </a:stretch>
        </p:blipFill>
        <p:spPr>
          <a:xfrm>
            <a:off x="838200" y="2351277"/>
            <a:ext cx="4727193" cy="1057538"/>
          </a:xfrm>
          <a:prstGeom prst="rect">
            <a:avLst/>
          </a:prstGeom>
        </p:spPr>
      </p:pic>
      <p:pic>
        <p:nvPicPr>
          <p:cNvPr id="14338" name="Picture 2">
            <a:extLst>
              <a:ext uri="{FF2B5EF4-FFF2-40B4-BE49-F238E27FC236}">
                <a16:creationId xmlns:a16="http://schemas.microsoft.com/office/drawing/2014/main" id="{1F8DCCBB-69CB-5B65-4A78-D2D432A8D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2183" y="3449185"/>
            <a:ext cx="8968145" cy="3043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2182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2CAB-3E4D-2FDE-F6BE-58F539F43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763F8-1269-E684-E668-A3774BC77D97}"/>
              </a:ext>
            </a:extLst>
          </p:cNvPr>
          <p:cNvSpPr>
            <a:spLocks noGrp="1"/>
          </p:cNvSpPr>
          <p:nvPr>
            <p:ph type="title"/>
          </p:nvPr>
        </p:nvSpPr>
        <p:spPr/>
        <p:txBody>
          <a:bodyPr/>
          <a:lstStyle/>
          <a:p>
            <a:pPr algn="l" rtl="0"/>
            <a:r>
              <a:rPr lang="en-US" dirty="0"/>
              <a:t>Hierarchical Models</a:t>
            </a:r>
          </a:p>
        </p:txBody>
      </p:sp>
      <p:sp>
        <p:nvSpPr>
          <p:cNvPr id="4" name="Content Placeholder 3">
            <a:extLst>
              <a:ext uri="{FF2B5EF4-FFF2-40B4-BE49-F238E27FC236}">
                <a16:creationId xmlns:a16="http://schemas.microsoft.com/office/drawing/2014/main" id="{823DB171-7E83-CEDC-6543-D319C6FA6FA9}"/>
              </a:ext>
            </a:extLst>
          </p:cNvPr>
          <p:cNvSpPr>
            <a:spLocks noGrp="1"/>
          </p:cNvSpPr>
          <p:nvPr>
            <p:ph idx="1"/>
          </p:nvPr>
        </p:nvSpPr>
        <p:spPr>
          <a:xfrm>
            <a:off x="838200" y="1639662"/>
            <a:ext cx="11208657" cy="4351338"/>
          </a:xfrm>
        </p:spPr>
        <p:txBody>
          <a:bodyPr/>
          <a:lstStyle/>
          <a:p>
            <a:pPr algn="l" rtl="0"/>
            <a:r>
              <a:rPr lang="en-US" dirty="0"/>
              <a:t>Sample &amp; diagnostics for country-level prior</a:t>
            </a:r>
          </a:p>
          <a:p>
            <a:pPr marL="0" indent="0" algn="l" rtl="0">
              <a:buNone/>
            </a:pPr>
            <a:endParaRPr lang="en-US" dirty="0"/>
          </a:p>
          <a:p>
            <a:pPr marL="0" indent="0" algn="l" rtl="0">
              <a:buNone/>
            </a:pPr>
            <a:endParaRPr lang="he-IL" dirty="0"/>
          </a:p>
        </p:txBody>
      </p:sp>
      <p:sp>
        <p:nvSpPr>
          <p:cNvPr id="7" name="Content Placeholder 2">
            <a:extLst>
              <a:ext uri="{FF2B5EF4-FFF2-40B4-BE49-F238E27FC236}">
                <a16:creationId xmlns:a16="http://schemas.microsoft.com/office/drawing/2014/main" id="{7EFA0D85-A32D-EB10-173C-C858F2239AD0}"/>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11" name="Picture 10">
            <a:extLst>
              <a:ext uri="{FF2B5EF4-FFF2-40B4-BE49-F238E27FC236}">
                <a16:creationId xmlns:a16="http://schemas.microsoft.com/office/drawing/2014/main" id="{A911A091-760A-ADFF-49A8-5CB8B07C5B00}"/>
              </a:ext>
            </a:extLst>
          </p:cNvPr>
          <p:cNvPicPr>
            <a:picLocks noChangeAspect="1"/>
          </p:cNvPicPr>
          <p:nvPr/>
        </p:nvPicPr>
        <p:blipFill>
          <a:blip r:embed="rId2"/>
          <a:stretch>
            <a:fillRect/>
          </a:stretch>
        </p:blipFill>
        <p:spPr>
          <a:xfrm>
            <a:off x="838200" y="2689249"/>
            <a:ext cx="4616938" cy="2252164"/>
          </a:xfrm>
          <a:prstGeom prst="rect">
            <a:avLst/>
          </a:prstGeom>
        </p:spPr>
      </p:pic>
      <p:pic>
        <p:nvPicPr>
          <p:cNvPr id="6" name="Picture 5">
            <a:extLst>
              <a:ext uri="{FF2B5EF4-FFF2-40B4-BE49-F238E27FC236}">
                <a16:creationId xmlns:a16="http://schemas.microsoft.com/office/drawing/2014/main" id="{E9E9575D-2B97-1DDF-2C00-1064C7191DA0}"/>
              </a:ext>
            </a:extLst>
          </p:cNvPr>
          <p:cNvPicPr>
            <a:picLocks noChangeAspect="1"/>
          </p:cNvPicPr>
          <p:nvPr/>
        </p:nvPicPr>
        <p:blipFill>
          <a:blip r:embed="rId3"/>
          <a:stretch>
            <a:fillRect/>
          </a:stretch>
        </p:blipFill>
        <p:spPr>
          <a:xfrm>
            <a:off x="6034949" y="2141537"/>
            <a:ext cx="5665379" cy="3760579"/>
          </a:xfrm>
          <a:prstGeom prst="rect">
            <a:avLst/>
          </a:prstGeom>
        </p:spPr>
      </p:pic>
    </p:spTree>
    <p:extLst>
      <p:ext uri="{BB962C8B-B14F-4D97-AF65-F5344CB8AC3E}">
        <p14:creationId xmlns:p14="http://schemas.microsoft.com/office/powerpoint/2010/main" val="33655616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A570D-FEC4-1EF7-FBFD-090BE561E526}"/>
              </a:ext>
            </a:extLst>
          </p:cNvPr>
          <p:cNvSpPr>
            <a:spLocks noGrp="1"/>
          </p:cNvSpPr>
          <p:nvPr>
            <p:ph type="title"/>
          </p:nvPr>
        </p:nvSpPr>
        <p:spPr/>
        <p:txBody>
          <a:bodyPr/>
          <a:lstStyle/>
          <a:p>
            <a:pPr algn="l" rtl="0"/>
            <a:r>
              <a:rPr lang="en-US" dirty="0"/>
              <a:t>Funnels</a:t>
            </a:r>
            <a:endParaRPr lang="he-IL" dirty="0"/>
          </a:p>
        </p:txBody>
      </p:sp>
      <p:sp>
        <p:nvSpPr>
          <p:cNvPr id="3" name="Content Placeholder 2">
            <a:extLst>
              <a:ext uri="{FF2B5EF4-FFF2-40B4-BE49-F238E27FC236}">
                <a16:creationId xmlns:a16="http://schemas.microsoft.com/office/drawing/2014/main" id="{79CA4997-C918-CA6C-A7FB-DF35CA74548C}"/>
              </a:ext>
            </a:extLst>
          </p:cNvPr>
          <p:cNvSpPr>
            <a:spLocks noGrp="1"/>
          </p:cNvSpPr>
          <p:nvPr>
            <p:ph idx="1"/>
          </p:nvPr>
        </p:nvSpPr>
        <p:spPr/>
        <p:txBody>
          <a:bodyPr>
            <a:normAutofit fontScale="92500" lnSpcReduction="10000"/>
          </a:bodyPr>
          <a:lstStyle/>
          <a:p>
            <a:pPr algn="l" rtl="0"/>
            <a:r>
              <a:rPr lang="en-US" dirty="0"/>
              <a:t>Funnel - posterior geometry in which changes in a scale parameter strongly change the available range of other parameters.</a:t>
            </a:r>
          </a:p>
          <a:p>
            <a:pPr algn="l" rtl="0"/>
            <a:r>
              <a:rPr lang="en-US" b="1" dirty="0"/>
              <a:t>Location parameter </a:t>
            </a:r>
            <a:r>
              <a:rPr lang="en-US" dirty="0"/>
              <a:t>- a parameter describing the center of a distribution, such as a mean, median, or mode.</a:t>
            </a:r>
          </a:p>
          <a:p>
            <a:pPr algn="l" rtl="0"/>
            <a:r>
              <a:rPr lang="en-US" b="1" dirty="0"/>
              <a:t>Scale parameter </a:t>
            </a:r>
            <a:r>
              <a:rPr lang="en-US" dirty="0"/>
              <a:t>- a parameter describing the spread of a distribution, such as a standard deviation, variance, or interquartile range.</a:t>
            </a:r>
          </a:p>
          <a:p>
            <a:pPr algn="l" rtl="0"/>
            <a:r>
              <a:rPr lang="en-US" b="1" dirty="0"/>
              <a:t>Centered parameterization </a:t>
            </a:r>
            <a:r>
              <a:rPr lang="en-US" dirty="0"/>
              <a:t>- a hierarchical parameterization in which group parameters are drawn directly from a distribution controlled by unknown hyperparameters.</a:t>
            </a:r>
          </a:p>
          <a:p>
            <a:pPr algn="l" rtl="0"/>
            <a:r>
              <a:rPr lang="en-US" b="1" dirty="0"/>
              <a:t>Non-centered parameterization </a:t>
            </a:r>
            <a:r>
              <a:rPr lang="en-US" dirty="0"/>
              <a:t>- a reparameterization that separates standardized group variation from the unknown scale parameter.</a:t>
            </a:r>
          </a:p>
        </p:txBody>
      </p:sp>
    </p:spTree>
    <p:extLst>
      <p:ext uri="{BB962C8B-B14F-4D97-AF65-F5344CB8AC3E}">
        <p14:creationId xmlns:p14="http://schemas.microsoft.com/office/powerpoint/2010/main" val="1411162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25EEEE1-5062-5A11-C2A4-2573133C6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FC463-7934-D19C-39CE-301562B88B89}"/>
              </a:ext>
            </a:extLst>
          </p:cNvPr>
          <p:cNvSpPr>
            <a:spLocks noGrp="1"/>
          </p:cNvSpPr>
          <p:nvPr>
            <p:ph type="title"/>
          </p:nvPr>
        </p:nvSpPr>
        <p:spPr/>
        <p:txBody>
          <a:bodyPr/>
          <a:lstStyle/>
          <a:p>
            <a:pPr algn="l" rtl="0"/>
            <a:r>
              <a:rPr lang="en-US" dirty="0"/>
              <a:t>Funnels</a:t>
            </a:r>
            <a:endParaRPr lang="he-IL" dirty="0"/>
          </a:p>
        </p:txBody>
      </p:sp>
      <p:pic>
        <p:nvPicPr>
          <p:cNvPr id="7" name="Picture 6">
            <a:extLst>
              <a:ext uri="{FF2B5EF4-FFF2-40B4-BE49-F238E27FC236}">
                <a16:creationId xmlns:a16="http://schemas.microsoft.com/office/drawing/2014/main" id="{46F9ECE8-C432-C9C5-3685-517B4ED1E323}"/>
              </a:ext>
            </a:extLst>
          </p:cNvPr>
          <p:cNvPicPr>
            <a:picLocks noChangeAspect="1"/>
          </p:cNvPicPr>
          <p:nvPr/>
        </p:nvPicPr>
        <p:blipFill>
          <a:blip r:embed="rId2"/>
          <a:stretch>
            <a:fillRect/>
          </a:stretch>
        </p:blipFill>
        <p:spPr>
          <a:xfrm>
            <a:off x="605971" y="2032353"/>
            <a:ext cx="4061999" cy="2122134"/>
          </a:xfrm>
          <a:prstGeom prst="rect">
            <a:avLst/>
          </a:prstGeom>
        </p:spPr>
      </p:pic>
      <p:pic>
        <p:nvPicPr>
          <p:cNvPr id="2050" name="Picture 2">
            <a:extLst>
              <a:ext uri="{FF2B5EF4-FFF2-40B4-BE49-F238E27FC236}">
                <a16:creationId xmlns:a16="http://schemas.microsoft.com/office/drawing/2014/main" id="{3E13708B-5382-F96B-E9E4-3723811B66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0199" y="1816100"/>
            <a:ext cx="6962775" cy="467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64393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EF34F-AD68-718C-BF9A-C00B39AB4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4ABFF-E1FF-18E5-CA03-2C5CBF3DBE1E}"/>
              </a:ext>
            </a:extLst>
          </p:cNvPr>
          <p:cNvSpPr>
            <a:spLocks noGrp="1"/>
          </p:cNvSpPr>
          <p:nvPr>
            <p:ph type="title"/>
          </p:nvPr>
        </p:nvSpPr>
        <p:spPr/>
        <p:txBody>
          <a:bodyPr/>
          <a:lstStyle/>
          <a:p>
            <a:pPr algn="l" rtl="0"/>
            <a:r>
              <a:rPr lang="en-US" dirty="0"/>
              <a:t>Hierarchical Models</a:t>
            </a:r>
          </a:p>
        </p:txBody>
      </p:sp>
      <p:sp>
        <p:nvSpPr>
          <p:cNvPr id="4" name="Content Placeholder 3">
            <a:extLst>
              <a:ext uri="{FF2B5EF4-FFF2-40B4-BE49-F238E27FC236}">
                <a16:creationId xmlns:a16="http://schemas.microsoft.com/office/drawing/2014/main" id="{F9DD9BF6-D8CB-49F6-5380-08D85CF40D52}"/>
              </a:ext>
            </a:extLst>
          </p:cNvPr>
          <p:cNvSpPr>
            <a:spLocks noGrp="1"/>
          </p:cNvSpPr>
          <p:nvPr>
            <p:ph idx="1"/>
          </p:nvPr>
        </p:nvSpPr>
        <p:spPr>
          <a:xfrm>
            <a:off x="838200" y="1639662"/>
            <a:ext cx="11208657" cy="4351338"/>
          </a:xfrm>
        </p:spPr>
        <p:txBody>
          <a:bodyPr/>
          <a:lstStyle/>
          <a:p>
            <a:pPr algn="l" rtl="0"/>
            <a:r>
              <a:rPr lang="en-US" dirty="0"/>
              <a:t>Posterior Predictive</a:t>
            </a:r>
          </a:p>
          <a:p>
            <a:pPr marL="0" indent="0" algn="l" rtl="0">
              <a:buNone/>
            </a:pPr>
            <a:endParaRPr lang="en-US" dirty="0"/>
          </a:p>
          <a:p>
            <a:pPr marL="0" indent="0" algn="l" rtl="0">
              <a:buNone/>
            </a:pPr>
            <a:endParaRPr lang="he-IL" dirty="0"/>
          </a:p>
        </p:txBody>
      </p:sp>
      <p:sp>
        <p:nvSpPr>
          <p:cNvPr id="7" name="Content Placeholder 2">
            <a:extLst>
              <a:ext uri="{FF2B5EF4-FFF2-40B4-BE49-F238E27FC236}">
                <a16:creationId xmlns:a16="http://schemas.microsoft.com/office/drawing/2014/main" id="{01938ED5-302C-6C29-1130-8A3C13FCF92F}"/>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18434" name="Picture 2">
            <a:extLst>
              <a:ext uri="{FF2B5EF4-FFF2-40B4-BE49-F238E27FC236}">
                <a16:creationId xmlns:a16="http://schemas.microsoft.com/office/drawing/2014/main" id="{B981B2E3-668E-F7C1-FD0C-073152E50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2082" y="1625600"/>
            <a:ext cx="7724775" cy="486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7495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C145B-9DBE-426E-7619-C820D14E2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17206-4455-DC4A-E8F8-FF63AA95388B}"/>
              </a:ext>
            </a:extLst>
          </p:cNvPr>
          <p:cNvSpPr>
            <a:spLocks noGrp="1"/>
          </p:cNvSpPr>
          <p:nvPr>
            <p:ph type="title"/>
          </p:nvPr>
        </p:nvSpPr>
        <p:spPr/>
        <p:txBody>
          <a:bodyPr/>
          <a:lstStyle/>
          <a:p>
            <a:pPr algn="l" rtl="0"/>
            <a:r>
              <a:rPr lang="en-US" dirty="0"/>
              <a:t>Hierarchical Models</a:t>
            </a:r>
          </a:p>
        </p:txBody>
      </p:sp>
      <p:sp>
        <p:nvSpPr>
          <p:cNvPr id="4" name="Content Placeholder 3">
            <a:extLst>
              <a:ext uri="{FF2B5EF4-FFF2-40B4-BE49-F238E27FC236}">
                <a16:creationId xmlns:a16="http://schemas.microsoft.com/office/drawing/2014/main" id="{C0321B1A-20AF-6867-5AC5-6670729998AD}"/>
              </a:ext>
            </a:extLst>
          </p:cNvPr>
          <p:cNvSpPr>
            <a:spLocks noGrp="1"/>
          </p:cNvSpPr>
          <p:nvPr>
            <p:ph idx="1"/>
          </p:nvPr>
        </p:nvSpPr>
        <p:spPr>
          <a:xfrm>
            <a:off x="838200" y="1639662"/>
            <a:ext cx="11208657" cy="4351338"/>
          </a:xfrm>
        </p:spPr>
        <p:txBody>
          <a:bodyPr/>
          <a:lstStyle/>
          <a:p>
            <a:pPr algn="l" rtl="0"/>
            <a:r>
              <a:rPr lang="en-US" dirty="0"/>
              <a:t>Posterior for the hyperparameters</a:t>
            </a:r>
          </a:p>
          <a:p>
            <a:pPr marL="0" indent="0" algn="l" rtl="0">
              <a:buNone/>
            </a:pPr>
            <a:endParaRPr lang="he-IL" dirty="0"/>
          </a:p>
        </p:txBody>
      </p:sp>
      <p:sp>
        <p:nvSpPr>
          <p:cNvPr id="7" name="Content Placeholder 2">
            <a:extLst>
              <a:ext uri="{FF2B5EF4-FFF2-40B4-BE49-F238E27FC236}">
                <a16:creationId xmlns:a16="http://schemas.microsoft.com/office/drawing/2014/main" id="{659EC82E-9BAA-D96A-07DA-F3D7B008D1E0}"/>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19458" name="Picture 2">
            <a:extLst>
              <a:ext uri="{FF2B5EF4-FFF2-40B4-BE49-F238E27FC236}">
                <a16:creationId xmlns:a16="http://schemas.microsoft.com/office/drawing/2014/main" id="{FF87BCF7-ECC4-8CFA-24F7-3155C7D8FC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514" y="2410937"/>
            <a:ext cx="9840686" cy="3323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1454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CC985-E0BF-653C-5BE3-AEAC5D3DE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794BD-6025-2468-07CE-AB9D9A3C29A3}"/>
              </a:ext>
            </a:extLst>
          </p:cNvPr>
          <p:cNvSpPr>
            <a:spLocks noGrp="1"/>
          </p:cNvSpPr>
          <p:nvPr>
            <p:ph type="title"/>
          </p:nvPr>
        </p:nvSpPr>
        <p:spPr/>
        <p:txBody>
          <a:bodyPr/>
          <a:lstStyle/>
          <a:p>
            <a:pPr algn="l" rtl="0"/>
            <a:r>
              <a:rPr lang="en-US" dirty="0"/>
              <a:t>Hierarchical Models</a:t>
            </a:r>
          </a:p>
        </p:txBody>
      </p:sp>
      <p:sp>
        <p:nvSpPr>
          <p:cNvPr id="4" name="Content Placeholder 3">
            <a:extLst>
              <a:ext uri="{FF2B5EF4-FFF2-40B4-BE49-F238E27FC236}">
                <a16:creationId xmlns:a16="http://schemas.microsoft.com/office/drawing/2014/main" id="{06C3CE4C-5355-AECA-DE86-E138E8611AC5}"/>
              </a:ext>
            </a:extLst>
          </p:cNvPr>
          <p:cNvSpPr>
            <a:spLocks noGrp="1"/>
          </p:cNvSpPr>
          <p:nvPr>
            <p:ph idx="1"/>
          </p:nvPr>
        </p:nvSpPr>
        <p:spPr>
          <a:xfrm>
            <a:off x="838200" y="1639662"/>
            <a:ext cx="11208657" cy="4351338"/>
          </a:xfrm>
        </p:spPr>
        <p:txBody>
          <a:bodyPr/>
          <a:lstStyle/>
          <a:p>
            <a:pPr algn="l" rtl="0"/>
            <a:r>
              <a:rPr lang="en-US" dirty="0"/>
              <a:t>Posterior for theta</a:t>
            </a:r>
          </a:p>
          <a:p>
            <a:pPr marL="0" indent="0" algn="l" rtl="0">
              <a:buNone/>
            </a:pPr>
            <a:endParaRPr lang="he-IL" dirty="0"/>
          </a:p>
        </p:txBody>
      </p:sp>
      <p:pic>
        <p:nvPicPr>
          <p:cNvPr id="7170" name="Picture 2">
            <a:extLst>
              <a:ext uri="{FF2B5EF4-FFF2-40B4-BE49-F238E27FC236}">
                <a16:creationId xmlns:a16="http://schemas.microsoft.com/office/drawing/2014/main" id="{56117020-E8B8-3BCD-9E9C-F935B01D55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4854"/>
          <a:stretch>
            <a:fillRect/>
          </a:stretch>
        </p:blipFill>
        <p:spPr bwMode="auto">
          <a:xfrm>
            <a:off x="413086" y="2463350"/>
            <a:ext cx="5391515" cy="35276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F698B68F-A76D-263F-73F8-7E2F71F44B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6167" y="2463350"/>
            <a:ext cx="6144426" cy="342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5843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48A62-179D-25A3-83EA-992B0DC34D3D}"/>
              </a:ext>
            </a:extLst>
          </p:cNvPr>
          <p:cNvSpPr>
            <a:spLocks noGrp="1"/>
          </p:cNvSpPr>
          <p:nvPr>
            <p:ph type="title"/>
          </p:nvPr>
        </p:nvSpPr>
        <p:spPr/>
        <p:txBody>
          <a:bodyPr/>
          <a:lstStyle/>
          <a:p>
            <a:pPr algn="l" rtl="0"/>
            <a:r>
              <a:rPr lang="en-US" dirty="0"/>
              <a:t>Shrinkage</a:t>
            </a:r>
            <a:endParaRPr lang="he-IL" dirty="0"/>
          </a:p>
        </p:txBody>
      </p:sp>
      <p:sp>
        <p:nvSpPr>
          <p:cNvPr id="3" name="Content Placeholder 2">
            <a:extLst>
              <a:ext uri="{FF2B5EF4-FFF2-40B4-BE49-F238E27FC236}">
                <a16:creationId xmlns:a16="http://schemas.microsoft.com/office/drawing/2014/main" id="{5CABB0AD-ADF9-91A5-59F7-AAF36DA0FBF7}"/>
              </a:ext>
            </a:extLst>
          </p:cNvPr>
          <p:cNvSpPr>
            <a:spLocks noGrp="1"/>
          </p:cNvSpPr>
          <p:nvPr>
            <p:ph idx="1"/>
          </p:nvPr>
        </p:nvSpPr>
        <p:spPr>
          <a:xfrm>
            <a:off x="838200" y="1825625"/>
            <a:ext cx="4880429" cy="4351338"/>
          </a:xfrm>
        </p:spPr>
        <p:txBody>
          <a:bodyPr>
            <a:normAutofit/>
          </a:bodyPr>
          <a:lstStyle/>
          <a:p>
            <a:pPr algn="l" rtl="0"/>
            <a:r>
              <a:rPr lang="en-US" dirty="0"/>
              <a:t>The estimates have shrunk toward the common mean due to each group informing the rest, and each group being informed by the estimation of the others.</a:t>
            </a:r>
          </a:p>
        </p:txBody>
      </p:sp>
      <p:pic>
        <p:nvPicPr>
          <p:cNvPr id="16386" name="Picture 2">
            <a:extLst>
              <a:ext uri="{FF2B5EF4-FFF2-40B4-BE49-F238E27FC236}">
                <a16:creationId xmlns:a16="http://schemas.microsoft.com/office/drawing/2014/main" id="{0482D37B-26A8-74DC-ED65-545462B015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2892" y="1744662"/>
            <a:ext cx="5251931" cy="4513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8139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1EAA5-6BCB-E24E-2A03-D947350A1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53FB3-E06F-E13C-AE13-C92AB7B26A4D}"/>
              </a:ext>
            </a:extLst>
          </p:cNvPr>
          <p:cNvSpPr>
            <a:spLocks noGrp="1"/>
          </p:cNvSpPr>
          <p:nvPr>
            <p:ph type="title"/>
          </p:nvPr>
        </p:nvSpPr>
        <p:spPr/>
        <p:txBody>
          <a:bodyPr/>
          <a:lstStyle/>
          <a:p>
            <a:pPr algn="l" rtl="0"/>
            <a:r>
              <a:rPr lang="en-US" dirty="0"/>
              <a:t>Shrinkage</a:t>
            </a:r>
            <a:endParaRPr lang="he-IL" dirty="0"/>
          </a:p>
        </p:txBody>
      </p:sp>
      <p:sp>
        <p:nvSpPr>
          <p:cNvPr id="3" name="Content Placeholder 2">
            <a:extLst>
              <a:ext uri="{FF2B5EF4-FFF2-40B4-BE49-F238E27FC236}">
                <a16:creationId xmlns:a16="http://schemas.microsoft.com/office/drawing/2014/main" id="{EC39F451-C355-E777-B023-AB1B61598C9E}"/>
              </a:ext>
            </a:extLst>
          </p:cNvPr>
          <p:cNvSpPr>
            <a:spLocks noGrp="1"/>
          </p:cNvSpPr>
          <p:nvPr>
            <p:ph idx="1"/>
          </p:nvPr>
        </p:nvSpPr>
        <p:spPr>
          <a:xfrm>
            <a:off x="838200" y="1825625"/>
            <a:ext cx="4880429" cy="4351338"/>
          </a:xfrm>
        </p:spPr>
        <p:txBody>
          <a:bodyPr>
            <a:normAutofit/>
          </a:bodyPr>
          <a:lstStyle/>
          <a:p>
            <a:pPr algn="l" rtl="0"/>
            <a:r>
              <a:rPr lang="en-US" b="1" dirty="0"/>
              <a:t>HDI width shrinkage </a:t>
            </a:r>
            <a:r>
              <a:rPr lang="en-US" dirty="0"/>
              <a:t>- reduction in posterior interval width, especially for groups with less data, due to hierarchical information sharing.</a:t>
            </a:r>
            <a:endParaRPr lang="he-IL" dirty="0"/>
          </a:p>
        </p:txBody>
      </p:sp>
      <p:pic>
        <p:nvPicPr>
          <p:cNvPr id="9218" name="Picture 2">
            <a:extLst>
              <a:ext uri="{FF2B5EF4-FFF2-40B4-BE49-F238E27FC236}">
                <a16:creationId xmlns:a16="http://schemas.microsoft.com/office/drawing/2014/main" id="{F2D9D565-929C-1C9A-A84E-06C11472AD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3137" y="1612489"/>
            <a:ext cx="5615380" cy="4193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81223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7CA0B-B27F-4DFD-CCD5-95C9D6081E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1BB3C-4A28-F141-EEA1-259E32124C68}"/>
              </a:ext>
            </a:extLst>
          </p:cNvPr>
          <p:cNvSpPr>
            <a:spLocks noGrp="1"/>
          </p:cNvSpPr>
          <p:nvPr>
            <p:ph type="title"/>
          </p:nvPr>
        </p:nvSpPr>
        <p:spPr/>
        <p:txBody>
          <a:bodyPr/>
          <a:lstStyle/>
          <a:p>
            <a:pPr algn="l" rtl="0"/>
            <a:r>
              <a:rPr lang="en-US" dirty="0"/>
              <a:t>Multi-level Hierarchical Model</a:t>
            </a:r>
          </a:p>
        </p:txBody>
      </p:sp>
      <p:sp>
        <p:nvSpPr>
          <p:cNvPr id="3" name="Content Placeholder 2">
            <a:extLst>
              <a:ext uri="{FF2B5EF4-FFF2-40B4-BE49-F238E27FC236}">
                <a16:creationId xmlns:a16="http://schemas.microsoft.com/office/drawing/2014/main" id="{4ADD331F-0932-068E-3472-5DB4A4987E1C}"/>
              </a:ext>
            </a:extLst>
          </p:cNvPr>
          <p:cNvSpPr>
            <a:spLocks noGrp="1"/>
          </p:cNvSpPr>
          <p:nvPr>
            <p:ph idx="1"/>
          </p:nvPr>
        </p:nvSpPr>
        <p:spPr/>
        <p:txBody>
          <a:bodyPr>
            <a:normAutofit/>
          </a:bodyPr>
          <a:lstStyle/>
          <a:p>
            <a:pPr algn="l" rtl="0"/>
            <a:r>
              <a:rPr lang="en-US" dirty="0"/>
              <a:t>The multi-level model adds another level of group structure.</a:t>
            </a:r>
          </a:p>
          <a:p>
            <a:pPr algn="l" rtl="0"/>
            <a:r>
              <a:rPr lang="en-US" dirty="0"/>
              <a:t>Each city has its own Biotechnology startup probability.</a:t>
            </a:r>
          </a:p>
          <a:p>
            <a:pPr algn="l" rtl="0"/>
            <a:r>
              <a:rPr lang="en-US" dirty="0"/>
              <a:t>Cities from the same country are connected through country-level hyperparameters.</a:t>
            </a:r>
          </a:p>
          <a:p>
            <a:pPr algn="l" rtl="0"/>
            <a:r>
              <a:rPr lang="en-US" dirty="0"/>
              <a:t>Here:</a:t>
            </a:r>
          </a:p>
          <a:p>
            <a:pPr lvl="1" algn="l" rtl="0"/>
            <a:r>
              <a:rPr lang="en-US" dirty="0"/>
              <a:t>Cities are the lower-level groups</a:t>
            </a:r>
          </a:p>
          <a:p>
            <a:pPr lvl="1" algn="l" rtl="0"/>
            <a:r>
              <a:rPr lang="en-US" dirty="0"/>
              <a:t>Countries are the higher-level </a:t>
            </a:r>
            <a:br>
              <a:rPr lang="en-US" dirty="0"/>
            </a:br>
            <a:r>
              <a:rPr lang="en-US" dirty="0"/>
              <a:t>groups</a:t>
            </a:r>
          </a:p>
          <a:p>
            <a:pPr algn="l" rtl="0"/>
            <a:endParaRPr lang="he-IL" dirty="0"/>
          </a:p>
        </p:txBody>
      </p:sp>
      <p:pic>
        <p:nvPicPr>
          <p:cNvPr id="5" name="Picture 4">
            <a:extLst>
              <a:ext uri="{FF2B5EF4-FFF2-40B4-BE49-F238E27FC236}">
                <a16:creationId xmlns:a16="http://schemas.microsoft.com/office/drawing/2014/main" id="{8EC43D8E-5748-9E97-810A-EEDA438E4CF6}"/>
              </a:ext>
            </a:extLst>
          </p:cNvPr>
          <p:cNvPicPr>
            <a:picLocks noChangeAspect="1"/>
          </p:cNvPicPr>
          <p:nvPr/>
        </p:nvPicPr>
        <p:blipFill>
          <a:blip r:embed="rId2"/>
          <a:stretch>
            <a:fillRect/>
          </a:stretch>
        </p:blipFill>
        <p:spPr>
          <a:xfrm>
            <a:off x="5834743" y="4001294"/>
            <a:ext cx="6168571" cy="1991186"/>
          </a:xfrm>
          <a:prstGeom prst="rect">
            <a:avLst/>
          </a:prstGeom>
        </p:spPr>
      </p:pic>
    </p:spTree>
    <p:extLst>
      <p:ext uri="{BB962C8B-B14F-4D97-AF65-F5344CB8AC3E}">
        <p14:creationId xmlns:p14="http://schemas.microsoft.com/office/powerpoint/2010/main" val="35252821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B0EFD-B9CF-6063-6C90-FC3A757A9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B74AF-13F8-7F8F-59AC-EC95723A9C46}"/>
              </a:ext>
            </a:extLst>
          </p:cNvPr>
          <p:cNvSpPr>
            <a:spLocks noGrp="1"/>
          </p:cNvSpPr>
          <p:nvPr>
            <p:ph type="title"/>
          </p:nvPr>
        </p:nvSpPr>
        <p:spPr/>
        <p:txBody>
          <a:bodyPr/>
          <a:lstStyle/>
          <a:p>
            <a:pPr algn="l" rtl="0"/>
            <a:r>
              <a:rPr lang="en-US" dirty="0"/>
              <a:t>Multi-level Hierarchical Model</a:t>
            </a:r>
          </a:p>
        </p:txBody>
      </p:sp>
      <p:pic>
        <p:nvPicPr>
          <p:cNvPr id="6" name="Content Placeholder 5">
            <a:extLst>
              <a:ext uri="{FF2B5EF4-FFF2-40B4-BE49-F238E27FC236}">
                <a16:creationId xmlns:a16="http://schemas.microsoft.com/office/drawing/2014/main" id="{BFCA2E9D-A26E-69E9-DC03-352741D48EC6}"/>
              </a:ext>
            </a:extLst>
          </p:cNvPr>
          <p:cNvPicPr>
            <a:picLocks noGrp="1" noChangeAspect="1"/>
          </p:cNvPicPr>
          <p:nvPr>
            <p:ph idx="1"/>
          </p:nvPr>
        </p:nvPicPr>
        <p:blipFill>
          <a:blip r:embed="rId2"/>
          <a:stretch>
            <a:fillRect/>
          </a:stretch>
        </p:blipFill>
        <p:spPr>
          <a:xfrm>
            <a:off x="1894395" y="1601561"/>
            <a:ext cx="8958962" cy="4891314"/>
          </a:xfrm>
          <a:prstGeom prst="rect">
            <a:avLst/>
          </a:prstGeom>
        </p:spPr>
      </p:pic>
      <p:sp>
        <p:nvSpPr>
          <p:cNvPr id="3" name="Rectangle 2">
            <a:extLst>
              <a:ext uri="{FF2B5EF4-FFF2-40B4-BE49-F238E27FC236}">
                <a16:creationId xmlns:a16="http://schemas.microsoft.com/office/drawing/2014/main" id="{AB06617F-C17B-3E37-E215-AC5F6B3291CE}"/>
              </a:ext>
            </a:extLst>
          </p:cNvPr>
          <p:cNvSpPr/>
          <p:nvPr/>
        </p:nvSpPr>
        <p:spPr>
          <a:xfrm>
            <a:off x="4814372" y="5472355"/>
            <a:ext cx="5299112" cy="337363"/>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Rectangle 3">
            <a:extLst>
              <a:ext uri="{FF2B5EF4-FFF2-40B4-BE49-F238E27FC236}">
                <a16:creationId xmlns:a16="http://schemas.microsoft.com/office/drawing/2014/main" id="{B6276E7F-6AB8-5186-4589-FE70CD079636}"/>
              </a:ext>
            </a:extLst>
          </p:cNvPr>
          <p:cNvSpPr/>
          <p:nvPr/>
        </p:nvSpPr>
        <p:spPr>
          <a:xfrm>
            <a:off x="9639759" y="6155512"/>
            <a:ext cx="1000698" cy="337363"/>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Rectangle 4">
            <a:extLst>
              <a:ext uri="{FF2B5EF4-FFF2-40B4-BE49-F238E27FC236}">
                <a16:creationId xmlns:a16="http://schemas.microsoft.com/office/drawing/2014/main" id="{5C369DE9-AAAF-F4D8-9AAD-8D6D83D63F02}"/>
              </a:ext>
            </a:extLst>
          </p:cNvPr>
          <p:cNvSpPr/>
          <p:nvPr/>
        </p:nvSpPr>
        <p:spPr>
          <a:xfrm>
            <a:off x="7463928" y="4685456"/>
            <a:ext cx="1426684" cy="337363"/>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Rectangle 6">
            <a:extLst>
              <a:ext uri="{FF2B5EF4-FFF2-40B4-BE49-F238E27FC236}">
                <a16:creationId xmlns:a16="http://schemas.microsoft.com/office/drawing/2014/main" id="{E5FFAA84-DACE-24E3-72F6-EF9AD1BB46E6}"/>
              </a:ext>
            </a:extLst>
          </p:cNvPr>
          <p:cNvSpPr/>
          <p:nvPr/>
        </p:nvSpPr>
        <p:spPr>
          <a:xfrm>
            <a:off x="8574795" y="4235920"/>
            <a:ext cx="1426684" cy="337363"/>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Rectangle 7">
            <a:extLst>
              <a:ext uri="{FF2B5EF4-FFF2-40B4-BE49-F238E27FC236}">
                <a16:creationId xmlns:a16="http://schemas.microsoft.com/office/drawing/2014/main" id="{366E9969-0127-7FE9-6CB9-D66C0F49DB3B}"/>
              </a:ext>
            </a:extLst>
          </p:cNvPr>
          <p:cNvSpPr/>
          <p:nvPr/>
        </p:nvSpPr>
        <p:spPr>
          <a:xfrm>
            <a:off x="2315378" y="2339182"/>
            <a:ext cx="4724400" cy="337363"/>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6146549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2819D-6A57-281C-F8CD-A48FACC39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FBC5B-C55A-4D6F-1AB2-63B082DED385}"/>
              </a:ext>
            </a:extLst>
          </p:cNvPr>
          <p:cNvSpPr>
            <a:spLocks noGrp="1"/>
          </p:cNvSpPr>
          <p:nvPr>
            <p:ph type="title"/>
          </p:nvPr>
        </p:nvSpPr>
        <p:spPr/>
        <p:txBody>
          <a:bodyPr/>
          <a:lstStyle/>
          <a:p>
            <a:pPr algn="l" rtl="0"/>
            <a:r>
              <a:rPr lang="en-US" dirty="0"/>
              <a:t>Multi-level Hierarchical Model</a:t>
            </a:r>
          </a:p>
        </p:txBody>
      </p:sp>
      <p:sp>
        <p:nvSpPr>
          <p:cNvPr id="4" name="Content Placeholder 3">
            <a:extLst>
              <a:ext uri="{FF2B5EF4-FFF2-40B4-BE49-F238E27FC236}">
                <a16:creationId xmlns:a16="http://schemas.microsoft.com/office/drawing/2014/main" id="{4C1CD4DF-399D-C007-F6A1-CB059B6502ED}"/>
              </a:ext>
            </a:extLst>
          </p:cNvPr>
          <p:cNvSpPr>
            <a:spLocks noGrp="1"/>
          </p:cNvSpPr>
          <p:nvPr>
            <p:ph idx="1"/>
          </p:nvPr>
        </p:nvSpPr>
        <p:spPr>
          <a:xfrm>
            <a:off x="838200" y="1639662"/>
            <a:ext cx="11208657" cy="4351338"/>
          </a:xfrm>
        </p:spPr>
        <p:txBody>
          <a:bodyPr/>
          <a:lstStyle/>
          <a:p>
            <a:pPr marL="0" indent="0" algn="l" rtl="0">
              <a:buNone/>
            </a:pPr>
            <a:r>
              <a:rPr lang="en-US" dirty="0"/>
              <a:t>  Multi-level Model                                                              Hierarchical Model</a:t>
            </a:r>
            <a:endParaRPr lang="he-IL" dirty="0"/>
          </a:p>
        </p:txBody>
      </p:sp>
      <p:sp>
        <p:nvSpPr>
          <p:cNvPr id="7" name="Content Placeholder 2">
            <a:extLst>
              <a:ext uri="{FF2B5EF4-FFF2-40B4-BE49-F238E27FC236}">
                <a16:creationId xmlns:a16="http://schemas.microsoft.com/office/drawing/2014/main" id="{89BB9F52-9ABB-B94D-4C35-E71B5D42964A}"/>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10" name="Picture 9">
            <a:extLst>
              <a:ext uri="{FF2B5EF4-FFF2-40B4-BE49-F238E27FC236}">
                <a16:creationId xmlns:a16="http://schemas.microsoft.com/office/drawing/2014/main" id="{09FEBFE6-EDB0-B826-F2AD-450923C747FD}"/>
              </a:ext>
            </a:extLst>
          </p:cNvPr>
          <p:cNvPicPr>
            <a:picLocks noChangeAspect="1"/>
          </p:cNvPicPr>
          <p:nvPr/>
        </p:nvPicPr>
        <p:blipFill>
          <a:blip r:embed="rId2"/>
          <a:stretch>
            <a:fillRect/>
          </a:stretch>
        </p:blipFill>
        <p:spPr>
          <a:xfrm>
            <a:off x="8229163" y="2141537"/>
            <a:ext cx="3124636" cy="4372585"/>
          </a:xfrm>
          <a:prstGeom prst="rect">
            <a:avLst/>
          </a:prstGeom>
        </p:spPr>
      </p:pic>
      <p:pic>
        <p:nvPicPr>
          <p:cNvPr id="3" name="Picture 2">
            <a:extLst>
              <a:ext uri="{FF2B5EF4-FFF2-40B4-BE49-F238E27FC236}">
                <a16:creationId xmlns:a16="http://schemas.microsoft.com/office/drawing/2014/main" id="{F5F08ED7-96B0-7E97-A994-701708D3DB7C}"/>
              </a:ext>
            </a:extLst>
          </p:cNvPr>
          <p:cNvPicPr>
            <a:picLocks noChangeAspect="1"/>
          </p:cNvPicPr>
          <p:nvPr/>
        </p:nvPicPr>
        <p:blipFill>
          <a:blip r:embed="rId3"/>
          <a:stretch>
            <a:fillRect/>
          </a:stretch>
        </p:blipFill>
        <p:spPr>
          <a:xfrm>
            <a:off x="1589850" y="2298117"/>
            <a:ext cx="3823978" cy="4216005"/>
          </a:xfrm>
          <a:prstGeom prst="rect">
            <a:avLst/>
          </a:prstGeom>
        </p:spPr>
      </p:pic>
      <p:sp>
        <p:nvSpPr>
          <p:cNvPr id="5" name="Rectangle 4">
            <a:extLst>
              <a:ext uri="{FF2B5EF4-FFF2-40B4-BE49-F238E27FC236}">
                <a16:creationId xmlns:a16="http://schemas.microsoft.com/office/drawing/2014/main" id="{8AA25CF9-2467-5324-8EDD-0ADC9B2C87F3}"/>
              </a:ext>
            </a:extLst>
          </p:cNvPr>
          <p:cNvSpPr/>
          <p:nvPr/>
        </p:nvSpPr>
        <p:spPr>
          <a:xfrm>
            <a:off x="2207046" y="6155512"/>
            <a:ext cx="613272" cy="337363"/>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Rectangle 5">
            <a:extLst>
              <a:ext uri="{FF2B5EF4-FFF2-40B4-BE49-F238E27FC236}">
                <a16:creationId xmlns:a16="http://schemas.microsoft.com/office/drawing/2014/main" id="{46CF135B-3AC4-5E48-EA25-D37AAF40BA85}"/>
              </a:ext>
            </a:extLst>
          </p:cNvPr>
          <p:cNvSpPr/>
          <p:nvPr/>
        </p:nvSpPr>
        <p:spPr>
          <a:xfrm>
            <a:off x="4485701" y="4068756"/>
            <a:ext cx="813411" cy="337363"/>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Rectangle 7">
            <a:extLst>
              <a:ext uri="{FF2B5EF4-FFF2-40B4-BE49-F238E27FC236}">
                <a16:creationId xmlns:a16="http://schemas.microsoft.com/office/drawing/2014/main" id="{EB1ECDEE-02E2-6E77-F94A-80EF4CDAEA72}"/>
              </a:ext>
            </a:extLst>
          </p:cNvPr>
          <p:cNvSpPr/>
          <p:nvPr/>
        </p:nvSpPr>
        <p:spPr>
          <a:xfrm>
            <a:off x="9397870" y="6083879"/>
            <a:ext cx="1079171" cy="337363"/>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4688619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97AF-D222-C9D3-A87E-A363657DD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46403-D50D-EB76-C699-0B56741FC81F}"/>
              </a:ext>
            </a:extLst>
          </p:cNvPr>
          <p:cNvSpPr>
            <a:spLocks noGrp="1"/>
          </p:cNvSpPr>
          <p:nvPr>
            <p:ph type="title"/>
          </p:nvPr>
        </p:nvSpPr>
        <p:spPr/>
        <p:txBody>
          <a:bodyPr/>
          <a:lstStyle/>
          <a:p>
            <a:pPr algn="l" rtl="0"/>
            <a:r>
              <a:rPr lang="en-US" dirty="0"/>
              <a:t>Multi-level Hierarchical Model</a:t>
            </a:r>
          </a:p>
        </p:txBody>
      </p:sp>
      <p:sp>
        <p:nvSpPr>
          <p:cNvPr id="4" name="Content Placeholder 3">
            <a:extLst>
              <a:ext uri="{FF2B5EF4-FFF2-40B4-BE49-F238E27FC236}">
                <a16:creationId xmlns:a16="http://schemas.microsoft.com/office/drawing/2014/main" id="{F4E2561A-8FC4-DDF2-326D-7823D8559ACD}"/>
              </a:ext>
            </a:extLst>
          </p:cNvPr>
          <p:cNvSpPr>
            <a:spLocks noGrp="1"/>
          </p:cNvSpPr>
          <p:nvPr>
            <p:ph idx="1"/>
          </p:nvPr>
        </p:nvSpPr>
        <p:spPr>
          <a:xfrm>
            <a:off x="838200" y="1639662"/>
            <a:ext cx="11208657" cy="4351338"/>
          </a:xfrm>
        </p:spPr>
        <p:txBody>
          <a:bodyPr/>
          <a:lstStyle/>
          <a:p>
            <a:pPr algn="l" rtl="0"/>
            <a:r>
              <a:rPr lang="en-US" dirty="0"/>
              <a:t>Prior predictive check </a:t>
            </a:r>
            <a:endParaRPr lang="he-IL" dirty="0"/>
          </a:p>
        </p:txBody>
      </p:sp>
      <p:sp>
        <p:nvSpPr>
          <p:cNvPr id="7" name="Content Placeholder 2">
            <a:extLst>
              <a:ext uri="{FF2B5EF4-FFF2-40B4-BE49-F238E27FC236}">
                <a16:creationId xmlns:a16="http://schemas.microsoft.com/office/drawing/2014/main" id="{C9BE4131-464A-72E0-465D-E35549DA0B61}"/>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1026" name="Picture 2">
            <a:extLst>
              <a:ext uri="{FF2B5EF4-FFF2-40B4-BE49-F238E27FC236}">
                <a16:creationId xmlns:a16="http://schemas.microsoft.com/office/drawing/2014/main" id="{B7B08A6F-D3EC-A489-F888-D23634654F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5455" y="2123145"/>
            <a:ext cx="6854146" cy="4318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0134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71AF8-28DC-9A47-AD89-30606C99E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AF7C8-E566-756A-500C-2A4DB7EE6558}"/>
              </a:ext>
            </a:extLst>
          </p:cNvPr>
          <p:cNvSpPr>
            <a:spLocks noGrp="1"/>
          </p:cNvSpPr>
          <p:nvPr>
            <p:ph type="title"/>
          </p:nvPr>
        </p:nvSpPr>
        <p:spPr/>
        <p:txBody>
          <a:bodyPr/>
          <a:lstStyle/>
          <a:p>
            <a:pPr algn="l" rtl="0"/>
            <a:r>
              <a:rPr lang="en-US" dirty="0"/>
              <a:t>Multi-level Hierarchical Model</a:t>
            </a:r>
          </a:p>
        </p:txBody>
      </p:sp>
      <p:sp>
        <p:nvSpPr>
          <p:cNvPr id="4" name="Content Placeholder 3">
            <a:extLst>
              <a:ext uri="{FF2B5EF4-FFF2-40B4-BE49-F238E27FC236}">
                <a16:creationId xmlns:a16="http://schemas.microsoft.com/office/drawing/2014/main" id="{9EE1941B-1462-A2CD-6984-F4ED6E0F11D6}"/>
              </a:ext>
            </a:extLst>
          </p:cNvPr>
          <p:cNvSpPr>
            <a:spLocks noGrp="1"/>
          </p:cNvSpPr>
          <p:nvPr>
            <p:ph idx="1"/>
          </p:nvPr>
        </p:nvSpPr>
        <p:spPr>
          <a:xfrm>
            <a:off x="838200" y="1639662"/>
            <a:ext cx="11208657" cy="4351338"/>
          </a:xfrm>
        </p:spPr>
        <p:txBody>
          <a:bodyPr/>
          <a:lstStyle/>
          <a:p>
            <a:pPr algn="l" rtl="0"/>
            <a:r>
              <a:rPr lang="en-US" dirty="0"/>
              <a:t>Summary </a:t>
            </a:r>
          </a:p>
          <a:p>
            <a:pPr lvl="1" algn="l" rtl="0"/>
            <a:r>
              <a:rPr lang="en-US" dirty="0">
                <a:solidFill>
                  <a:schemeClr val="accent1"/>
                </a:solidFill>
              </a:rPr>
              <a:t>Global hyperparameters</a:t>
            </a:r>
          </a:p>
          <a:p>
            <a:pPr lvl="1" algn="l" rtl="0"/>
            <a:r>
              <a:rPr lang="en-US" dirty="0">
                <a:solidFill>
                  <a:schemeClr val="accent5"/>
                </a:solidFill>
              </a:rPr>
              <a:t>Country level hyperparameters</a:t>
            </a:r>
          </a:p>
          <a:p>
            <a:pPr lvl="1" algn="l" rtl="0"/>
            <a:r>
              <a:rPr lang="en-US" dirty="0">
                <a:solidFill>
                  <a:schemeClr val="accent6"/>
                </a:solidFill>
              </a:rPr>
              <a:t>City level parameters</a:t>
            </a:r>
            <a:endParaRPr lang="he-IL" dirty="0">
              <a:solidFill>
                <a:schemeClr val="accent6"/>
              </a:solidFill>
            </a:endParaRPr>
          </a:p>
        </p:txBody>
      </p:sp>
      <p:sp>
        <p:nvSpPr>
          <p:cNvPr id="7" name="Content Placeholder 2">
            <a:extLst>
              <a:ext uri="{FF2B5EF4-FFF2-40B4-BE49-F238E27FC236}">
                <a16:creationId xmlns:a16="http://schemas.microsoft.com/office/drawing/2014/main" id="{8CB05A50-24EB-86CB-1B17-D129AE0922AE}"/>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5" name="Picture 4">
            <a:extLst>
              <a:ext uri="{FF2B5EF4-FFF2-40B4-BE49-F238E27FC236}">
                <a16:creationId xmlns:a16="http://schemas.microsoft.com/office/drawing/2014/main" id="{6C8BEB99-914E-0FD1-44D5-36F7D398D8F6}"/>
              </a:ext>
            </a:extLst>
          </p:cNvPr>
          <p:cNvPicPr>
            <a:picLocks noChangeAspect="1"/>
          </p:cNvPicPr>
          <p:nvPr/>
        </p:nvPicPr>
        <p:blipFill>
          <a:blip r:embed="rId2"/>
          <a:stretch>
            <a:fillRect/>
          </a:stretch>
        </p:blipFill>
        <p:spPr>
          <a:xfrm>
            <a:off x="1082670" y="4117236"/>
            <a:ext cx="4382112" cy="1019317"/>
          </a:xfrm>
          <a:prstGeom prst="rect">
            <a:avLst/>
          </a:prstGeom>
          <a:ln>
            <a:solidFill>
              <a:schemeClr val="accent1"/>
            </a:solidFill>
          </a:ln>
        </p:spPr>
      </p:pic>
      <p:pic>
        <p:nvPicPr>
          <p:cNvPr id="8" name="Picture 7">
            <a:extLst>
              <a:ext uri="{FF2B5EF4-FFF2-40B4-BE49-F238E27FC236}">
                <a16:creationId xmlns:a16="http://schemas.microsoft.com/office/drawing/2014/main" id="{409A43A6-C22B-05C8-4DA1-F3460EA8867A}"/>
              </a:ext>
            </a:extLst>
          </p:cNvPr>
          <p:cNvPicPr>
            <a:picLocks noChangeAspect="1"/>
          </p:cNvPicPr>
          <p:nvPr/>
        </p:nvPicPr>
        <p:blipFill>
          <a:blip r:embed="rId3"/>
          <a:stretch>
            <a:fillRect/>
          </a:stretch>
        </p:blipFill>
        <p:spPr>
          <a:xfrm>
            <a:off x="7586490" y="1830906"/>
            <a:ext cx="3845566" cy="3082496"/>
          </a:xfrm>
          <a:prstGeom prst="rect">
            <a:avLst/>
          </a:prstGeom>
          <a:ln>
            <a:solidFill>
              <a:schemeClr val="accent5"/>
            </a:solidFill>
          </a:ln>
        </p:spPr>
      </p:pic>
      <p:pic>
        <p:nvPicPr>
          <p:cNvPr id="10" name="Picture 9">
            <a:extLst>
              <a:ext uri="{FF2B5EF4-FFF2-40B4-BE49-F238E27FC236}">
                <a16:creationId xmlns:a16="http://schemas.microsoft.com/office/drawing/2014/main" id="{39D815B6-D4BE-1C7F-2C79-41C4BCA85D5B}"/>
              </a:ext>
            </a:extLst>
          </p:cNvPr>
          <p:cNvPicPr>
            <a:picLocks noChangeAspect="1"/>
          </p:cNvPicPr>
          <p:nvPr/>
        </p:nvPicPr>
        <p:blipFill>
          <a:blip r:embed="rId4"/>
          <a:stretch>
            <a:fillRect/>
          </a:stretch>
        </p:blipFill>
        <p:spPr>
          <a:xfrm>
            <a:off x="7586490" y="5136553"/>
            <a:ext cx="3845566" cy="1505381"/>
          </a:xfrm>
          <a:prstGeom prst="rect">
            <a:avLst/>
          </a:prstGeom>
          <a:ln>
            <a:solidFill>
              <a:schemeClr val="accent6"/>
            </a:solidFill>
          </a:ln>
        </p:spPr>
      </p:pic>
    </p:spTree>
    <p:extLst>
      <p:ext uri="{BB962C8B-B14F-4D97-AF65-F5344CB8AC3E}">
        <p14:creationId xmlns:p14="http://schemas.microsoft.com/office/powerpoint/2010/main" val="27195197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F19BB-763A-EE3B-C5A0-1FBE126AA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37707-EF1D-DC4D-50D0-DEDAB71FE6D7}"/>
              </a:ext>
            </a:extLst>
          </p:cNvPr>
          <p:cNvSpPr>
            <a:spLocks noGrp="1"/>
          </p:cNvSpPr>
          <p:nvPr>
            <p:ph type="title"/>
          </p:nvPr>
        </p:nvSpPr>
        <p:spPr/>
        <p:txBody>
          <a:bodyPr/>
          <a:lstStyle/>
          <a:p>
            <a:pPr algn="l" rtl="0"/>
            <a:r>
              <a:rPr lang="en-US" dirty="0"/>
              <a:t>Multi-level Hierarchical Model</a:t>
            </a:r>
          </a:p>
        </p:txBody>
      </p:sp>
      <p:sp>
        <p:nvSpPr>
          <p:cNvPr id="4" name="Content Placeholder 3">
            <a:extLst>
              <a:ext uri="{FF2B5EF4-FFF2-40B4-BE49-F238E27FC236}">
                <a16:creationId xmlns:a16="http://schemas.microsoft.com/office/drawing/2014/main" id="{78BEEBA4-42D0-BBD4-51E7-C2AC41FF163C}"/>
              </a:ext>
            </a:extLst>
          </p:cNvPr>
          <p:cNvSpPr>
            <a:spLocks noGrp="1"/>
          </p:cNvSpPr>
          <p:nvPr>
            <p:ph idx="1"/>
          </p:nvPr>
        </p:nvSpPr>
        <p:spPr>
          <a:xfrm>
            <a:off x="838200" y="1639662"/>
            <a:ext cx="11208657" cy="4351338"/>
          </a:xfrm>
        </p:spPr>
        <p:txBody>
          <a:bodyPr/>
          <a:lstStyle/>
          <a:p>
            <a:pPr lvl="1" algn="l" rtl="0"/>
            <a:r>
              <a:rPr lang="en-US" dirty="0"/>
              <a:t>We also have trace plots for the same parameters</a:t>
            </a:r>
          </a:p>
          <a:p>
            <a:pPr lvl="2" algn="l" rtl="0"/>
            <a:r>
              <a:rPr lang="en-US" dirty="0">
                <a:solidFill>
                  <a:schemeClr val="accent1"/>
                </a:solidFill>
              </a:rPr>
              <a:t>Global hyperparameters</a:t>
            </a:r>
          </a:p>
          <a:p>
            <a:pPr lvl="2" algn="l" rtl="0"/>
            <a:r>
              <a:rPr lang="en-US" dirty="0">
                <a:solidFill>
                  <a:schemeClr val="accent5"/>
                </a:solidFill>
              </a:rPr>
              <a:t>Country level hyperparameters</a:t>
            </a:r>
          </a:p>
          <a:p>
            <a:pPr lvl="2" algn="l" rtl="0"/>
            <a:r>
              <a:rPr lang="en-US" dirty="0">
                <a:solidFill>
                  <a:schemeClr val="accent6"/>
                </a:solidFill>
              </a:rPr>
              <a:t>City level parameters</a:t>
            </a:r>
            <a:endParaRPr lang="he-IL" dirty="0">
              <a:solidFill>
                <a:schemeClr val="accent6"/>
              </a:solidFill>
            </a:endParaRPr>
          </a:p>
          <a:p>
            <a:pPr algn="l" rtl="0"/>
            <a:endParaRPr lang="he-IL" dirty="0">
              <a:solidFill>
                <a:schemeClr val="accent6"/>
              </a:solidFill>
            </a:endParaRPr>
          </a:p>
        </p:txBody>
      </p:sp>
      <p:sp>
        <p:nvSpPr>
          <p:cNvPr id="7" name="Content Placeholder 2">
            <a:extLst>
              <a:ext uri="{FF2B5EF4-FFF2-40B4-BE49-F238E27FC236}">
                <a16:creationId xmlns:a16="http://schemas.microsoft.com/office/drawing/2014/main" id="{39F13937-BE46-0AB9-9AE0-C2F724BCB1A0}"/>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2050" name="Picture 2">
            <a:extLst>
              <a:ext uri="{FF2B5EF4-FFF2-40B4-BE49-F238E27FC236}">
                <a16:creationId xmlns:a16="http://schemas.microsoft.com/office/drawing/2014/main" id="{35EA32C6-4E84-3F00-3F85-80D491C2C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73894"/>
            <a:ext cx="3326714" cy="112905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E56811D3-FA1E-33DE-A7A4-BD37D343D8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1564" y="3062949"/>
            <a:ext cx="1750481" cy="3484827"/>
          </a:xfrm>
          <a:prstGeom prst="rect">
            <a:avLst/>
          </a:prstGeom>
          <a:noFill/>
          <a:ln>
            <a:solidFill>
              <a:schemeClr val="accent5"/>
            </a:solidFill>
          </a:ln>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0E25E81A-F214-C7EF-E0FA-6E83FD7103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1596" y="3168878"/>
            <a:ext cx="3272971" cy="3272971"/>
          </a:xfrm>
          <a:prstGeom prst="rect">
            <a:avLst/>
          </a:prstGeom>
          <a:noFill/>
          <a:ln>
            <a:solidFill>
              <a:schemeClr val="accent6"/>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4953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A1EC4-CD52-D5E3-75AB-11BA4E409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4D54C-8F0A-0DF4-3170-20F4172BCB2B}"/>
              </a:ext>
            </a:extLst>
          </p:cNvPr>
          <p:cNvSpPr>
            <a:spLocks noGrp="1"/>
          </p:cNvSpPr>
          <p:nvPr>
            <p:ph type="title"/>
          </p:nvPr>
        </p:nvSpPr>
        <p:spPr/>
        <p:txBody>
          <a:bodyPr/>
          <a:lstStyle/>
          <a:p>
            <a:pPr algn="l" rtl="0"/>
            <a:r>
              <a:rPr lang="en-US" dirty="0"/>
              <a:t>Multi-level Hierarchical Model</a:t>
            </a:r>
          </a:p>
        </p:txBody>
      </p:sp>
      <p:sp>
        <p:nvSpPr>
          <p:cNvPr id="4" name="Content Placeholder 3">
            <a:extLst>
              <a:ext uri="{FF2B5EF4-FFF2-40B4-BE49-F238E27FC236}">
                <a16:creationId xmlns:a16="http://schemas.microsoft.com/office/drawing/2014/main" id="{FF5DF978-1580-AA05-5D5C-7B7E6582D0A8}"/>
              </a:ext>
            </a:extLst>
          </p:cNvPr>
          <p:cNvSpPr>
            <a:spLocks noGrp="1"/>
          </p:cNvSpPr>
          <p:nvPr>
            <p:ph idx="1"/>
          </p:nvPr>
        </p:nvSpPr>
        <p:spPr>
          <a:xfrm>
            <a:off x="838200" y="1639662"/>
            <a:ext cx="11208657" cy="4351338"/>
          </a:xfrm>
        </p:spPr>
        <p:txBody>
          <a:bodyPr/>
          <a:lstStyle/>
          <a:p>
            <a:pPr lvl="1" algn="l" rtl="0"/>
            <a:r>
              <a:rPr lang="en-US" dirty="0"/>
              <a:t>Posterior Predictive check</a:t>
            </a:r>
          </a:p>
          <a:p>
            <a:pPr lvl="1" algn="l" rtl="0"/>
            <a:endParaRPr lang="en-US" dirty="0"/>
          </a:p>
          <a:p>
            <a:pPr marL="457200" lvl="1" indent="0" algn="l" rtl="0">
              <a:buNone/>
            </a:pPr>
            <a:r>
              <a:rPr lang="en-US" dirty="0"/>
              <a:t>Multi-level Hierarchical Model 				 Hierarchical Model</a:t>
            </a:r>
          </a:p>
        </p:txBody>
      </p:sp>
      <p:sp>
        <p:nvSpPr>
          <p:cNvPr id="7" name="Content Placeholder 2">
            <a:extLst>
              <a:ext uri="{FF2B5EF4-FFF2-40B4-BE49-F238E27FC236}">
                <a16:creationId xmlns:a16="http://schemas.microsoft.com/office/drawing/2014/main" id="{A84D36CD-DECD-BCE0-6B7F-952309748D04}"/>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5122" name="Picture 2">
            <a:extLst>
              <a:ext uri="{FF2B5EF4-FFF2-40B4-BE49-F238E27FC236}">
                <a16:creationId xmlns:a16="http://schemas.microsoft.com/office/drawing/2014/main" id="{5104146E-CC53-29FB-EB7F-FA8E2A27AA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000" y="3007728"/>
            <a:ext cx="5404424" cy="340525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7F3EDC4-DF78-B3C1-F3ED-FE9B0FFF2D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2528" y="2968235"/>
            <a:ext cx="5615278" cy="3538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2059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7ACED-A8FF-D88D-B1E4-F07E1CEA0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534C4-3D04-D2D2-7B96-3DC0F986D46B}"/>
              </a:ext>
            </a:extLst>
          </p:cNvPr>
          <p:cNvSpPr>
            <a:spLocks noGrp="1"/>
          </p:cNvSpPr>
          <p:nvPr>
            <p:ph type="title"/>
          </p:nvPr>
        </p:nvSpPr>
        <p:spPr/>
        <p:txBody>
          <a:bodyPr/>
          <a:lstStyle/>
          <a:p>
            <a:pPr algn="l" rtl="0"/>
            <a:r>
              <a:rPr lang="en-US" dirty="0"/>
              <a:t>Hierarchical Models</a:t>
            </a:r>
          </a:p>
        </p:txBody>
      </p:sp>
      <p:sp>
        <p:nvSpPr>
          <p:cNvPr id="4" name="Content Placeholder 3">
            <a:extLst>
              <a:ext uri="{FF2B5EF4-FFF2-40B4-BE49-F238E27FC236}">
                <a16:creationId xmlns:a16="http://schemas.microsoft.com/office/drawing/2014/main" id="{7AC12BE4-836A-532A-3B2F-AF8678DF03FD}"/>
              </a:ext>
            </a:extLst>
          </p:cNvPr>
          <p:cNvSpPr>
            <a:spLocks noGrp="1"/>
          </p:cNvSpPr>
          <p:nvPr>
            <p:ph idx="1"/>
          </p:nvPr>
        </p:nvSpPr>
        <p:spPr>
          <a:xfrm>
            <a:off x="838200" y="1639662"/>
            <a:ext cx="11208657" cy="4351338"/>
          </a:xfrm>
        </p:spPr>
        <p:txBody>
          <a:bodyPr/>
          <a:lstStyle/>
          <a:p>
            <a:pPr lvl="1" algn="l" rtl="0"/>
            <a:r>
              <a:rPr lang="en-US" dirty="0"/>
              <a:t>Posterior</a:t>
            </a:r>
          </a:p>
          <a:p>
            <a:pPr lvl="2" algn="l" rtl="0"/>
            <a:r>
              <a:rPr lang="en-US" dirty="0">
                <a:solidFill>
                  <a:schemeClr val="accent1"/>
                </a:solidFill>
              </a:rPr>
              <a:t>Global hyperparameters</a:t>
            </a:r>
          </a:p>
          <a:p>
            <a:pPr lvl="2" algn="l" rtl="0"/>
            <a:r>
              <a:rPr lang="en-US" dirty="0">
                <a:solidFill>
                  <a:schemeClr val="accent5"/>
                </a:solidFill>
              </a:rPr>
              <a:t>Country level hyperparameters</a:t>
            </a:r>
          </a:p>
          <a:p>
            <a:pPr lvl="2" algn="l" rtl="0"/>
            <a:r>
              <a:rPr lang="en-US" dirty="0">
                <a:solidFill>
                  <a:schemeClr val="accent6"/>
                </a:solidFill>
              </a:rPr>
              <a:t>City level parameters</a:t>
            </a:r>
            <a:endParaRPr lang="he-IL" dirty="0">
              <a:solidFill>
                <a:schemeClr val="accent6"/>
              </a:solidFill>
            </a:endParaRPr>
          </a:p>
          <a:p>
            <a:pPr algn="l" rtl="0"/>
            <a:endParaRPr lang="he-IL" dirty="0">
              <a:solidFill>
                <a:schemeClr val="accent6"/>
              </a:solidFill>
            </a:endParaRPr>
          </a:p>
        </p:txBody>
      </p:sp>
      <p:sp>
        <p:nvSpPr>
          <p:cNvPr id="7" name="Content Placeholder 2">
            <a:extLst>
              <a:ext uri="{FF2B5EF4-FFF2-40B4-BE49-F238E27FC236}">
                <a16:creationId xmlns:a16="http://schemas.microsoft.com/office/drawing/2014/main" id="{A4A6CA95-78B8-E465-0732-B589901A87F3}"/>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4098" name="Picture 2">
            <a:extLst>
              <a:ext uri="{FF2B5EF4-FFF2-40B4-BE49-F238E27FC236}">
                <a16:creationId xmlns:a16="http://schemas.microsoft.com/office/drawing/2014/main" id="{FE7E5405-6897-E1FA-8B9A-4BCB839892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5658" y="4317206"/>
            <a:ext cx="4005944" cy="1353049"/>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393BC1A5-4B6D-B5CE-4C05-CC79FA877B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424" y="1137787"/>
            <a:ext cx="5830577" cy="2605539"/>
          </a:xfrm>
          <a:prstGeom prst="rect">
            <a:avLst/>
          </a:prstGeom>
          <a:noFill/>
          <a:ln>
            <a:solidFill>
              <a:schemeClr val="accent5"/>
            </a:solidFill>
          </a:ln>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FDC91FB7-657A-E7AD-16CF-E04CD11CCC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4340" y="3890938"/>
            <a:ext cx="5822517" cy="2601937"/>
          </a:xfrm>
          <a:prstGeom prst="rect">
            <a:avLst/>
          </a:prstGeom>
          <a:noFill/>
          <a:ln>
            <a:solidFill>
              <a:schemeClr val="accent6"/>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7946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7C406-09D5-DF92-2476-8CDAF300B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F0769-882A-0EB6-2BB4-BB55721AADA7}"/>
              </a:ext>
            </a:extLst>
          </p:cNvPr>
          <p:cNvSpPr>
            <a:spLocks noGrp="1"/>
          </p:cNvSpPr>
          <p:nvPr>
            <p:ph type="title"/>
          </p:nvPr>
        </p:nvSpPr>
        <p:spPr/>
        <p:txBody>
          <a:bodyPr/>
          <a:lstStyle/>
          <a:p>
            <a:pPr algn="l" rtl="0"/>
            <a:r>
              <a:rPr lang="en-US" dirty="0"/>
              <a:t>Multi-level Hierarchical Model</a:t>
            </a:r>
          </a:p>
        </p:txBody>
      </p:sp>
      <p:sp>
        <p:nvSpPr>
          <p:cNvPr id="7" name="Content Placeholder 2">
            <a:extLst>
              <a:ext uri="{FF2B5EF4-FFF2-40B4-BE49-F238E27FC236}">
                <a16:creationId xmlns:a16="http://schemas.microsoft.com/office/drawing/2014/main" id="{35F2EE3A-E83A-9A94-A289-D1B284BFC494}"/>
              </a:ext>
            </a:extLst>
          </p:cNvPr>
          <p:cNvSpPr txBox="1">
            <a:spLocks/>
          </p:cNvSpPr>
          <p:nvPr/>
        </p:nvSpPr>
        <p:spPr>
          <a:xfrm>
            <a:off x="838200" y="2141537"/>
            <a:ext cx="10515599" cy="4351338"/>
          </a:xfrm>
          <a:prstGeom prst="rect">
            <a:avLst/>
          </a:prstGeom>
        </p:spPr>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David" panose="020E0502060401010101" pitchFamily="34" charset="-79"/>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David" panose="020E0502060401010101" pitchFamily="34" charset="-79"/>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David" panose="020E0502060401010101" pitchFamily="34" charset="-79"/>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David" panose="020E0502060401010101" pitchFamily="34" charset="-79"/>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Font typeface="Arial" panose="020B0604020202020204" pitchFamily="34" charset="0"/>
              <a:buNone/>
            </a:pPr>
            <a:endParaRPr lang="en-US" dirty="0"/>
          </a:p>
        </p:txBody>
      </p:sp>
      <p:pic>
        <p:nvPicPr>
          <p:cNvPr id="8194" name="Picture 2">
            <a:extLst>
              <a:ext uri="{FF2B5EF4-FFF2-40B4-BE49-F238E27FC236}">
                <a16:creationId xmlns:a16="http://schemas.microsoft.com/office/drawing/2014/main" id="{55D60A46-1290-D712-7F4C-AFE3402605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0064" y="1552812"/>
            <a:ext cx="4425936" cy="251254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7D5FEAFC-5229-42C2-02F3-D47CA9E402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064" y="4075113"/>
            <a:ext cx="4432378" cy="251254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0B19954F-647C-91EC-0A3D-B2FE90ED63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552812"/>
            <a:ext cx="4432378" cy="2512540"/>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a:extLst>
              <a:ext uri="{FF2B5EF4-FFF2-40B4-BE49-F238E27FC236}">
                <a16:creationId xmlns:a16="http://schemas.microsoft.com/office/drawing/2014/main" id="{135C3E93-3E28-BCEA-961B-80E99A61E7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5999" y="4075113"/>
            <a:ext cx="4432378" cy="2512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021603"/>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3495</TotalTime>
  <Words>2884</Words>
  <Application>Microsoft Office PowerPoint</Application>
  <PresentationFormat>Widescreen</PresentationFormat>
  <Paragraphs>459</Paragraphs>
  <Slides>73</Slides>
  <Notes>42</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73</vt:i4>
      </vt:variant>
    </vt:vector>
  </HeadingPairs>
  <TitlesOfParts>
    <vt:vector size="78" baseType="lpstr">
      <vt:lpstr>Arial</vt:lpstr>
      <vt:lpstr>Cambria Math</vt:lpstr>
      <vt:lpstr>David</vt:lpstr>
      <vt:lpstr>Source Sans Pro</vt:lpstr>
      <vt:lpstr>ערכת נושא Office</vt:lpstr>
      <vt:lpstr>Tutorial 4</vt:lpstr>
      <vt:lpstr>Tutorial Outline</vt:lpstr>
      <vt:lpstr>Revision</vt:lpstr>
      <vt:lpstr>Bayesian workflow</vt:lpstr>
      <vt:lpstr>Bayesian workflow</vt:lpstr>
      <vt:lpstr>Bayesian workflow</vt:lpstr>
      <vt:lpstr>Bayesian workflow</vt:lpstr>
      <vt:lpstr>Sampling diagnostics </vt:lpstr>
      <vt:lpstr>Sampling diagnostics </vt:lpstr>
      <vt:lpstr>Sampling diagnostics </vt:lpstr>
      <vt:lpstr>Sampling diagnostics </vt:lpstr>
      <vt:lpstr>Sampling diagnostics </vt:lpstr>
      <vt:lpstr>Sampling diagnostics </vt:lpstr>
      <vt:lpstr>Sampling diagnostics </vt:lpstr>
      <vt:lpstr>Divergences</vt:lpstr>
      <vt:lpstr>Divergences</vt:lpstr>
      <vt:lpstr>Validation</vt:lpstr>
      <vt:lpstr>Validation</vt:lpstr>
      <vt:lpstr>Validation</vt:lpstr>
      <vt:lpstr>Lecture 5 </vt:lpstr>
      <vt:lpstr>Beta Distribution – Clarification </vt:lpstr>
      <vt:lpstr>Beta Distribution</vt:lpstr>
      <vt:lpstr>Beta Distribution</vt:lpstr>
      <vt:lpstr>Beta Distribution</vt:lpstr>
      <vt:lpstr>Today’s Dataset</vt:lpstr>
      <vt:lpstr>Today’s Dataset</vt:lpstr>
      <vt:lpstr>Our current workflow (code wise)</vt:lpstr>
      <vt:lpstr>Pooled &amp; Unpooled Models</vt:lpstr>
      <vt:lpstr>Pooled Models</vt:lpstr>
      <vt:lpstr>Pooled Models</vt:lpstr>
      <vt:lpstr>Pooled Models</vt:lpstr>
      <vt:lpstr>Pooled Models</vt:lpstr>
      <vt:lpstr>Pooled Models</vt:lpstr>
      <vt:lpstr>Pooled Models</vt:lpstr>
      <vt:lpstr>Pooled Models</vt:lpstr>
      <vt:lpstr>Pooled Models</vt:lpstr>
      <vt:lpstr>Pooled Models</vt:lpstr>
      <vt:lpstr>Pooled Models</vt:lpstr>
      <vt:lpstr>Pooled Models</vt:lpstr>
      <vt:lpstr>Pooled Models</vt:lpstr>
      <vt:lpstr>Unpooled Models</vt:lpstr>
      <vt:lpstr>Unpooled Models</vt:lpstr>
      <vt:lpstr>Unpooled Models</vt:lpstr>
      <vt:lpstr>Unpooled Models</vt:lpstr>
      <vt:lpstr>Unpooled Models</vt:lpstr>
      <vt:lpstr>Unpooled Models</vt:lpstr>
      <vt:lpstr>Unpooled Models</vt:lpstr>
      <vt:lpstr>Unpooled Models</vt:lpstr>
      <vt:lpstr>Unpooled Models</vt:lpstr>
      <vt:lpstr>Hierarchical Models</vt:lpstr>
      <vt:lpstr>Hierarchical Models</vt:lpstr>
      <vt:lpstr>Hierarchical Models</vt:lpstr>
      <vt:lpstr>Hierarchical Models</vt:lpstr>
      <vt:lpstr>Hierarchical Models</vt:lpstr>
      <vt:lpstr>Hierarchical Models</vt:lpstr>
      <vt:lpstr>Hierarchical Models</vt:lpstr>
      <vt:lpstr>Hierarchical Models</vt:lpstr>
      <vt:lpstr>Funnels</vt:lpstr>
      <vt:lpstr>Funnels</vt:lpstr>
      <vt:lpstr>Hierarchical Models</vt:lpstr>
      <vt:lpstr>Hierarchical Models</vt:lpstr>
      <vt:lpstr>Hierarchical Models</vt:lpstr>
      <vt:lpstr>Shrinkage</vt:lpstr>
      <vt:lpstr>Shrinkage</vt:lpstr>
      <vt:lpstr>Multi-level Hierarchical Model</vt:lpstr>
      <vt:lpstr>Multi-level Hierarchical Model</vt:lpstr>
      <vt:lpstr>Multi-level Hierarchical Model</vt:lpstr>
      <vt:lpstr>Multi-level Hierarchical Model</vt:lpstr>
      <vt:lpstr>Multi-level Hierarchical Model</vt:lpstr>
      <vt:lpstr>Multi-level Hierarchical Model</vt:lpstr>
      <vt:lpstr>Multi-level Hierarchical Model</vt:lpstr>
      <vt:lpstr>Hierarchical Models</vt:lpstr>
      <vt:lpstr>Multi-level Hierarchical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נעם גונן</dc:creator>
  <cp:lastModifiedBy>נעם גונן</cp:lastModifiedBy>
  <cp:revision>88</cp:revision>
  <dcterms:created xsi:type="dcterms:W3CDTF">2026-05-11T10:37:12Z</dcterms:created>
  <dcterms:modified xsi:type="dcterms:W3CDTF">2026-05-19T08:42:55Z</dcterms:modified>
</cp:coreProperties>
</file>