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9"/>
  </p:notesMasterIdLst>
  <p:sldIdLst>
    <p:sldId id="256" r:id="rId2"/>
    <p:sldId id="708" r:id="rId3"/>
    <p:sldId id="593" r:id="rId4"/>
    <p:sldId id="623" r:id="rId5"/>
    <p:sldId id="622" r:id="rId6"/>
    <p:sldId id="624" r:id="rId7"/>
    <p:sldId id="592" r:id="rId8"/>
    <p:sldId id="707" r:id="rId9"/>
    <p:sldId id="532" r:id="rId10"/>
    <p:sldId id="621" r:id="rId11"/>
    <p:sldId id="688" r:id="rId12"/>
    <p:sldId id="594" r:id="rId13"/>
    <p:sldId id="304" r:id="rId14"/>
    <p:sldId id="305" r:id="rId15"/>
    <p:sldId id="307" r:id="rId16"/>
    <p:sldId id="308" r:id="rId17"/>
    <p:sldId id="531" r:id="rId18"/>
    <p:sldId id="530" r:id="rId19"/>
    <p:sldId id="560" r:id="rId20"/>
    <p:sldId id="709" r:id="rId21"/>
    <p:sldId id="595" r:id="rId22"/>
    <p:sldId id="534" r:id="rId23"/>
    <p:sldId id="529" r:id="rId24"/>
    <p:sldId id="626" r:id="rId25"/>
    <p:sldId id="599" r:id="rId26"/>
    <p:sldId id="689" r:id="rId27"/>
    <p:sldId id="690" r:id="rId28"/>
    <p:sldId id="691" r:id="rId29"/>
    <p:sldId id="692" r:id="rId30"/>
    <p:sldId id="693" r:id="rId31"/>
    <p:sldId id="695" r:id="rId32"/>
    <p:sldId id="596" r:id="rId33"/>
    <p:sldId id="694" r:id="rId34"/>
    <p:sldId id="375" r:id="rId35"/>
    <p:sldId id="376" r:id="rId36"/>
    <p:sldId id="378" r:id="rId37"/>
    <p:sldId id="696" r:id="rId38"/>
    <p:sldId id="697" r:id="rId39"/>
    <p:sldId id="597" r:id="rId40"/>
    <p:sldId id="518" r:id="rId41"/>
    <p:sldId id="710" r:id="rId42"/>
    <p:sldId id="706" r:id="rId43"/>
    <p:sldId id="628" r:id="rId44"/>
    <p:sldId id="635" r:id="rId45"/>
    <p:sldId id="610" r:id="rId46"/>
    <p:sldId id="611" r:id="rId47"/>
    <p:sldId id="699" r:id="rId48"/>
    <p:sldId id="632" r:id="rId49"/>
    <p:sldId id="634" r:id="rId50"/>
    <p:sldId id="705" r:id="rId51"/>
    <p:sldId id="598" r:id="rId52"/>
    <p:sldId id="267" r:id="rId53"/>
    <p:sldId id="615" r:id="rId54"/>
    <p:sldId id="591" r:id="rId55"/>
    <p:sldId id="601" r:id="rId56"/>
    <p:sldId id="711" r:id="rId57"/>
    <p:sldId id="539" r:id="rId58"/>
    <p:sldId id="637" r:id="rId59"/>
    <p:sldId id="638" r:id="rId60"/>
    <p:sldId id="636" r:id="rId61"/>
    <p:sldId id="701" r:id="rId62"/>
    <p:sldId id="700" r:id="rId63"/>
    <p:sldId id="544" r:id="rId64"/>
    <p:sldId id="702" r:id="rId65"/>
    <p:sldId id="281" r:id="rId66"/>
    <p:sldId id="703" r:id="rId67"/>
    <p:sldId id="704" r:id="rId68"/>
  </p:sldIdLst>
  <p:sldSz cx="12192000" cy="6858000"/>
  <p:notesSz cx="7102475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E58F28-5451-39A9-CCDC-7398BBC4F22F}" name="Opher Donchin" initials="OD" userId="S::donchin@bgu.ac.il::37446733-118c-46f6-b903-027425f2ef0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72" y="3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8/10/relationships/authors" Target="author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508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9CF176CD-15D1-4787-BBAA-B7F61FF9E394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925407"/>
            <a:ext cx="5681980" cy="4029879"/>
          </a:xfrm>
          <a:prstGeom prst="rect">
            <a:avLst/>
          </a:prstGeom>
        </p:spPr>
        <p:txBody>
          <a:bodyPr vert="horz" lIns="99066" tIns="49533" rIns="99066" bIns="4953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9721107"/>
            <a:ext cx="3077739" cy="513507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204755F2-1724-4A9A-9963-AF329A7390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4792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8622E-0C2D-93AB-0813-86DCB51F6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>
            <a:extLst>
              <a:ext uri="{FF2B5EF4-FFF2-40B4-BE49-F238E27FC236}">
                <a16:creationId xmlns:a16="http://schemas.microsoft.com/office/drawing/2014/main" id="{D0AFF2E0-D325-B33C-3BB1-D6363F2701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4986" indent="-30961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8441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3817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29193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C5D7E65-4F9F-49F0-A58B-0776CCC22A83}" type="slidenum">
              <a:rPr lang="he-IL" altLang="en-US" smtClean="0"/>
              <a:pPr>
                <a:spcBef>
                  <a:spcPct val="0"/>
                </a:spcBef>
              </a:pPr>
              <a:t>47</a:t>
            </a:fld>
            <a:endParaRPr lang="en-US" altLang="en-US"/>
          </a:p>
        </p:txBody>
      </p:sp>
      <p:sp>
        <p:nvSpPr>
          <p:cNvPr id="142339" name="Rectangle 2">
            <a:extLst>
              <a:ext uri="{FF2B5EF4-FFF2-40B4-BE49-F238E27FC236}">
                <a16:creationId xmlns:a16="http://schemas.microsoft.com/office/drawing/2014/main" id="{8FB68D5E-A670-AB88-8B73-08AC81FA85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>
            <a:extLst>
              <a:ext uri="{FF2B5EF4-FFF2-40B4-BE49-F238E27FC236}">
                <a16:creationId xmlns:a16="http://schemas.microsoft.com/office/drawing/2014/main" id="{65DA7B16-9586-E824-CFE5-A6B6D5D8A1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3764117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EA7DB-5A15-89B1-E3B0-2EB41478F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>
            <a:extLst>
              <a:ext uri="{FF2B5EF4-FFF2-40B4-BE49-F238E27FC236}">
                <a16:creationId xmlns:a16="http://schemas.microsoft.com/office/drawing/2014/main" id="{A00179ED-460C-A455-1358-17542132A7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4986" indent="-30961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8441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3817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29193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C5D7E65-4F9F-49F0-A58B-0776CCC22A83}" type="slidenum">
              <a:rPr lang="he-IL" altLang="en-US" smtClean="0"/>
              <a:pPr>
                <a:spcBef>
                  <a:spcPct val="0"/>
                </a:spcBef>
              </a:pPr>
              <a:t>48</a:t>
            </a:fld>
            <a:endParaRPr lang="en-US" altLang="en-US"/>
          </a:p>
        </p:txBody>
      </p:sp>
      <p:sp>
        <p:nvSpPr>
          <p:cNvPr id="142339" name="Rectangle 2">
            <a:extLst>
              <a:ext uri="{FF2B5EF4-FFF2-40B4-BE49-F238E27FC236}">
                <a16:creationId xmlns:a16="http://schemas.microsoft.com/office/drawing/2014/main" id="{5A724C31-C46B-2577-197D-5D61E625B2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>
            <a:extLst>
              <a:ext uri="{FF2B5EF4-FFF2-40B4-BE49-F238E27FC236}">
                <a16:creationId xmlns:a16="http://schemas.microsoft.com/office/drawing/2014/main" id="{06F9C838-A3F2-A58C-C36A-481EBCACA8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2644172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1EB7D-0148-806B-D286-BC02AD63F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>
            <a:extLst>
              <a:ext uri="{FF2B5EF4-FFF2-40B4-BE49-F238E27FC236}">
                <a16:creationId xmlns:a16="http://schemas.microsoft.com/office/drawing/2014/main" id="{95D8321C-2598-4D79-0BAA-75A3ED62ED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4986" indent="-309610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38441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33817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229193" indent="-247688">
              <a:spcBef>
                <a:spcPct val="30000"/>
              </a:spcBef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724569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219945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715322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210698" indent="-247688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C5D7E65-4F9F-49F0-A58B-0776CCC22A83}" type="slidenum">
              <a:rPr lang="he-IL" altLang="en-US" smtClean="0"/>
              <a:pPr>
                <a:spcBef>
                  <a:spcPct val="0"/>
                </a:spcBef>
              </a:pPr>
              <a:t>49</a:t>
            </a:fld>
            <a:endParaRPr lang="en-US" altLang="en-US"/>
          </a:p>
        </p:txBody>
      </p:sp>
      <p:sp>
        <p:nvSpPr>
          <p:cNvPr id="142339" name="Rectangle 2">
            <a:extLst>
              <a:ext uri="{FF2B5EF4-FFF2-40B4-BE49-F238E27FC236}">
                <a16:creationId xmlns:a16="http://schemas.microsoft.com/office/drawing/2014/main" id="{8EBF0B0F-440B-4BDD-2A09-8262D0DE35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>
            <a:extLst>
              <a:ext uri="{FF2B5EF4-FFF2-40B4-BE49-F238E27FC236}">
                <a16:creationId xmlns:a16="http://schemas.microsoft.com/office/drawing/2014/main" id="{2638598A-98DB-7528-B65C-64DD6DB092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he-IL" altLang="en-US"/>
          </a:p>
        </p:txBody>
      </p:sp>
    </p:spTree>
    <p:extLst>
      <p:ext uri="{BB962C8B-B14F-4D97-AF65-F5344CB8AC3E}">
        <p14:creationId xmlns:p14="http://schemas.microsoft.com/office/powerpoint/2010/main" val="3738776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F1EE-65BA-4140-B6B9-7F82C437F84A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5323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F1EE-65BA-4140-B6B9-7F82C437F84A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0905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F1EE-65BA-4140-B6B9-7F82C437F84A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915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F1EE-65BA-4140-B6B9-7F82C437F84A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7933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F1EE-65BA-4140-B6B9-7F82C437F84A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919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F1EE-65BA-4140-B6B9-7F82C437F84A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036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F1EE-65BA-4140-B6B9-7F82C437F84A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8207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F1EE-65BA-4140-B6B9-7F82C437F84A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4039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F1EE-65BA-4140-B6B9-7F82C437F84A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9853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F1EE-65BA-4140-B6B9-7F82C437F84A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9425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AF1EE-65BA-4140-B6B9-7F82C437F84A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5652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3AF1EE-65BA-4140-B6B9-7F82C437F84A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C7AD3-7C2E-418B-8082-788996B615F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5350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7" Type="http://schemas.openxmlformats.org/officeDocument/2006/relationships/image" Target="../media/image14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python.arviz.org/en/stable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0.w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9.wmf"/><Relationship Id="rId4" Type="http://schemas.openxmlformats.org/officeDocument/2006/relationships/oleObject" Target="../embeddings/oleObject3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wmf"/><Relationship Id="rId4" Type="http://schemas.openxmlformats.org/officeDocument/2006/relationships/oleObject" Target="../embeddings/oleObject6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image" Target="../media/image5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63.png"/><Relationship Id="rId4" Type="http://schemas.openxmlformats.org/officeDocument/2006/relationships/image" Target="../media/image61.w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00.png"/><Relationship Id="rId7" Type="http://schemas.openxmlformats.org/officeDocument/2006/relationships/image" Target="../media/image65.wmf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64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6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Statistics</a:t>
            </a:r>
            <a:br>
              <a:rPr lang="en-US"/>
            </a:br>
            <a:r>
              <a:rPr lang="en-US"/>
              <a:t>367-1-4361</a:t>
            </a:r>
            <a:br>
              <a:rPr lang="en-US"/>
            </a:br>
            <a:r>
              <a:rPr lang="en-US" err="1"/>
              <a:t>PyMC</a:t>
            </a:r>
            <a:r>
              <a:rPr lang="en-US"/>
              <a:t> and Sampling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5400"/>
              <a:t>Opher Donchin</a:t>
            </a:r>
            <a:endParaRPr lang="en-GB" sz="5400"/>
          </a:p>
        </p:txBody>
      </p:sp>
    </p:spTree>
    <p:extLst>
      <p:ext uri="{BB962C8B-B14F-4D97-AF65-F5344CB8AC3E}">
        <p14:creationId xmlns:p14="http://schemas.microsoft.com/office/powerpoint/2010/main" val="2095873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62"/>
    </mc:Choice>
    <mc:Fallback xmlns="">
      <p:transition spd="slow" advTm="886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3BE2D-4107-98B3-5212-D790D6345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5603"/>
          </a:xfrm>
        </p:spPr>
        <p:txBody>
          <a:bodyPr>
            <a:normAutofit fontScale="90000"/>
          </a:bodyPr>
          <a:lstStyle/>
          <a:p>
            <a:r>
              <a:rPr lang="en-US" dirty="0"/>
              <a:t>Where we came from and where we are going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D2328-DA80-E8B7-88E9-DA1AC2D6C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34018" cy="4351338"/>
          </a:xfrm>
        </p:spPr>
        <p:txBody>
          <a:bodyPr/>
          <a:lstStyle/>
          <a:p>
            <a:r>
              <a:rPr lang="en-US" dirty="0"/>
              <a:t>Lecture 1</a:t>
            </a:r>
          </a:p>
          <a:p>
            <a:pPr lvl="1"/>
            <a:r>
              <a:rPr lang="en-US" dirty="0"/>
              <a:t>What is data and why can’t it reveal truth</a:t>
            </a:r>
          </a:p>
          <a:p>
            <a:pPr lvl="1"/>
            <a:r>
              <a:rPr lang="en-US" dirty="0"/>
              <a:t>How can probability represent our knowledge</a:t>
            </a:r>
          </a:p>
          <a:p>
            <a:r>
              <a:rPr lang="en-US" dirty="0"/>
              <a:t>Lecture 2</a:t>
            </a:r>
          </a:p>
          <a:p>
            <a:pPr lvl="1"/>
            <a:r>
              <a:rPr lang="en-US" dirty="0"/>
              <a:t>Using Bayes rule to update models</a:t>
            </a:r>
          </a:p>
          <a:p>
            <a:pPr lvl="1"/>
            <a:r>
              <a:rPr lang="en-US" dirty="0"/>
              <a:t>Finding the posterior with grid computation</a:t>
            </a:r>
          </a:p>
          <a:p>
            <a:r>
              <a:rPr lang="en-US" dirty="0"/>
              <a:t>Lecture 3</a:t>
            </a:r>
          </a:p>
          <a:p>
            <a:pPr lvl="1"/>
            <a:r>
              <a:rPr lang="en-US" dirty="0"/>
              <a:t>Computing the posterior with sampling</a:t>
            </a:r>
          </a:p>
          <a:p>
            <a:pPr lvl="1"/>
            <a:r>
              <a:rPr lang="en-US" dirty="0"/>
              <a:t>Estimating the true value of the parameter</a:t>
            </a:r>
          </a:p>
          <a:p>
            <a:pPr lvl="1"/>
            <a:r>
              <a:rPr lang="en-US" dirty="0"/>
              <a:t>Expressing our uncertainty in that estimate</a:t>
            </a:r>
          </a:p>
          <a:p>
            <a:pPr lvl="1"/>
            <a:endParaRPr lang="en-I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16F531-9595-49B3-B5B8-B2C6E72FDD67}"/>
              </a:ext>
            </a:extLst>
          </p:cNvPr>
          <p:cNvSpPr/>
          <p:nvPr/>
        </p:nvSpPr>
        <p:spPr>
          <a:xfrm>
            <a:off x="8635999" y="1985819"/>
            <a:ext cx="2900218" cy="785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Data</a:t>
            </a:r>
            <a:endParaRPr lang="en-IL" sz="4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3E4BD0-26A5-3E3C-0C8C-6B45C0F56136}"/>
              </a:ext>
            </a:extLst>
          </p:cNvPr>
          <p:cNvSpPr/>
          <p:nvPr/>
        </p:nvSpPr>
        <p:spPr>
          <a:xfrm>
            <a:off x="8635998" y="3298922"/>
            <a:ext cx="2900219" cy="785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Models</a:t>
            </a:r>
            <a:endParaRPr lang="en-IL" sz="4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B86C8D-A3DA-5CE8-5817-A728DBDC9308}"/>
              </a:ext>
            </a:extLst>
          </p:cNvPr>
          <p:cNvSpPr/>
          <p:nvPr/>
        </p:nvSpPr>
        <p:spPr>
          <a:xfrm>
            <a:off x="8635998" y="4612025"/>
            <a:ext cx="2900219" cy="785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Sampling</a:t>
            </a:r>
            <a:endParaRPr lang="en-IL" sz="4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AA1129-3970-5508-275C-7EC07C9B91CB}"/>
              </a:ext>
            </a:extLst>
          </p:cNvPr>
          <p:cNvSpPr/>
          <p:nvPr/>
        </p:nvSpPr>
        <p:spPr>
          <a:xfrm>
            <a:off x="8635998" y="5925127"/>
            <a:ext cx="2900219" cy="785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MCMC</a:t>
            </a:r>
            <a:endParaRPr lang="en-IL" sz="4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7AC6314-F92C-3D68-C693-23C5DC0AC858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0086108" y="2770910"/>
            <a:ext cx="0" cy="52801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4CC7F4-FFF4-EC56-2FCC-CB9529F4EC7C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10086108" y="4084013"/>
            <a:ext cx="0" cy="52801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78E6CF-39A4-5A8E-5ACE-3100406FE0A2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10086108" y="5397116"/>
            <a:ext cx="0" cy="52801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5387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17E682-06ED-E964-C722-FE1B20794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D553F-2F22-00F1-F48A-E6BF98186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3.1 Graphical models</a:t>
            </a:r>
            <a:endParaRPr lang="en-IL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425E5-D5D9-E045-1E47-79F8ECFA8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Representing models using graphs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3929939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C65EE0-F03B-514B-483B-16C5CBAEA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Representing models using graphs</a:t>
            </a:r>
            <a:endParaRPr lang="en-IL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092FFCA-6A6D-88F6-BAB1-29F7D849F1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9671" y="1588558"/>
                <a:ext cx="5427133" cy="4351338"/>
              </a:xfrm>
            </p:spPr>
            <p:txBody>
              <a:bodyPr/>
              <a:lstStyle/>
              <a:p>
                <a:r>
                  <a:rPr lang="en-US" dirty="0"/>
                  <a:t>We will represent our models with diagrams</a:t>
                </a:r>
              </a:p>
              <a:p>
                <a:pPr lvl="1"/>
                <a:r>
                  <a:rPr lang="en-US" dirty="0"/>
                  <a:t>Data at the bottom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heads</a:t>
                </a:r>
              </a:p>
              <a:p>
                <a:pPr lvl="1"/>
                <a:r>
                  <a:rPr lang="en-US" dirty="0"/>
                  <a:t>Likelihood in the middle</a:t>
                </a:r>
              </a:p>
              <a:p>
                <a:pPr lvl="2"/>
                <a:r>
                  <a:rPr lang="en-US" dirty="0"/>
                  <a:t>This is our model of how the data was produced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tosses of a coin with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of getting heads</a:t>
                </a:r>
              </a:p>
              <a:p>
                <a:pPr lvl="1"/>
                <a:r>
                  <a:rPr lang="en-US" dirty="0"/>
                  <a:t>Prior at the top</a:t>
                </a:r>
              </a:p>
              <a:p>
                <a:pPr lvl="2"/>
                <a:r>
                  <a:rPr lang="en-US" dirty="0"/>
                  <a:t>This reflects our uncertainty about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When the experiment began</a:t>
                </a:r>
              </a:p>
              <a:p>
                <a:pPr lvl="1"/>
                <a:endParaRPr lang="en-IL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092FFCA-6A6D-88F6-BAB1-29F7D849F1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9671" y="1588558"/>
                <a:ext cx="5427133" cy="4351338"/>
              </a:xfrm>
              <a:blipFill>
                <a:blip r:embed="rId2"/>
                <a:stretch>
                  <a:fillRect l="-2022" t="-2384" r="-3146" b="-84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Graphic 2">
            <a:extLst>
              <a:ext uri="{FF2B5EF4-FFF2-40B4-BE49-F238E27FC236}">
                <a16:creationId xmlns:a16="http://schemas.microsoft.com/office/drawing/2014/main" id="{31BA305D-8569-0910-4928-3C4B4AD6CB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77742" y="1266825"/>
            <a:ext cx="1695450" cy="43243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29F449-F52B-B21A-D348-731FA558C0E4}"/>
              </a:ext>
            </a:extLst>
          </p:cNvPr>
          <p:cNvSpPr txBox="1"/>
          <p:nvPr/>
        </p:nvSpPr>
        <p:spPr>
          <a:xfrm>
            <a:off x="10687050" y="5129510"/>
            <a:ext cx="865943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400" b="1" dirty="0">
                <a:latin typeface="Ink Free" panose="03080402000500000000" pitchFamily="66" charset="0"/>
                <a:cs typeface="+mj-cs"/>
              </a:rPr>
              <a:t>Data</a:t>
            </a:r>
            <a:endParaRPr lang="he-IL" sz="2400" b="1" dirty="0">
              <a:latin typeface="Ink Free" panose="03080402000500000000" pitchFamily="66" charset="0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8992C6-730C-D2B8-B450-C5488E80E2ED}"/>
              </a:ext>
            </a:extLst>
          </p:cNvPr>
          <p:cNvSpPr txBox="1"/>
          <p:nvPr/>
        </p:nvSpPr>
        <p:spPr>
          <a:xfrm>
            <a:off x="10403318" y="3876294"/>
            <a:ext cx="1433406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400" b="1" dirty="0">
                <a:latin typeface="Ink Free" panose="03080402000500000000" pitchFamily="66" charset="0"/>
                <a:cs typeface="+mj-cs"/>
              </a:rPr>
              <a:t>Likelihood</a:t>
            </a:r>
            <a:endParaRPr lang="he-IL" sz="2400" b="1" dirty="0">
              <a:latin typeface="Ink Free" panose="03080402000500000000" pitchFamily="66" charset="0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331502-C356-6CF6-5888-D7421C28715D}"/>
              </a:ext>
            </a:extLst>
          </p:cNvPr>
          <p:cNvSpPr txBox="1"/>
          <p:nvPr/>
        </p:nvSpPr>
        <p:spPr>
          <a:xfrm>
            <a:off x="10317593" y="1780794"/>
            <a:ext cx="811441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2400" b="1" dirty="0">
                <a:latin typeface="Ink Free" panose="03080402000500000000" pitchFamily="66" charset="0"/>
                <a:cs typeface="+mj-cs"/>
              </a:rPr>
              <a:t>Prior</a:t>
            </a:r>
            <a:endParaRPr lang="he-IL" sz="2400" b="1" dirty="0">
              <a:latin typeface="Ink Free" panose="03080402000500000000" pitchFamily="66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38072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F0581-59BF-BC67-DCBF-B34864E52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for graphical models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4A437-3F7C-3D83-D76B-6D3329496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33925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Nodes</a:t>
            </a:r>
          </a:p>
          <a:p>
            <a:pPr lvl="1"/>
            <a:r>
              <a:rPr lang="en-US" dirty="0"/>
              <a:t>Data</a:t>
            </a:r>
          </a:p>
          <a:p>
            <a:pPr lvl="1"/>
            <a:r>
              <a:rPr lang="en-US" dirty="0"/>
              <a:t>Distributions</a:t>
            </a:r>
          </a:p>
          <a:p>
            <a:pPr lvl="2"/>
            <a:r>
              <a:rPr lang="en-US" dirty="0"/>
              <a:t>With parameters</a:t>
            </a:r>
          </a:p>
          <a:p>
            <a:pPr lvl="1"/>
            <a:r>
              <a:rPr lang="en-US" dirty="0"/>
              <a:t>Equation</a:t>
            </a:r>
          </a:p>
          <a:p>
            <a:r>
              <a:rPr lang="en-US" dirty="0"/>
              <a:t>Arrows</a:t>
            </a:r>
          </a:p>
          <a:p>
            <a:pPr lvl="1"/>
            <a:r>
              <a:rPr lang="en-US" dirty="0"/>
              <a:t>From distributions or equations</a:t>
            </a:r>
          </a:p>
          <a:p>
            <a:pPr lvl="1"/>
            <a:r>
              <a:rPr lang="en-US" dirty="0"/>
              <a:t>Prior</a:t>
            </a:r>
          </a:p>
          <a:p>
            <a:pPr lvl="2"/>
            <a:r>
              <a:rPr lang="en-US" dirty="0"/>
              <a:t>To parameter</a:t>
            </a:r>
          </a:p>
          <a:p>
            <a:pPr lvl="1"/>
            <a:r>
              <a:rPr lang="en-US" dirty="0"/>
              <a:t>Likelihood</a:t>
            </a:r>
          </a:p>
          <a:p>
            <a:pPr lvl="2"/>
            <a:r>
              <a:rPr lang="en-US" dirty="0"/>
              <a:t>To data</a:t>
            </a:r>
          </a:p>
          <a:p>
            <a:pPr lvl="1"/>
            <a:endParaRPr lang="en-IL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62F9137-1B9F-6804-88B4-67C9A53E8D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057580" y="2065074"/>
            <a:ext cx="1458518" cy="37200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C43F6C-E0E3-5D1B-D0A8-592538091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479" y="2208044"/>
            <a:ext cx="4203104" cy="31069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03560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10BC0-B407-0F84-DE91-7F93056A7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8850"/>
          </a:xfrm>
        </p:spPr>
        <p:txBody>
          <a:bodyPr/>
          <a:lstStyle/>
          <a:p>
            <a:r>
              <a:rPr lang="en-US" dirty="0"/>
              <a:t>Different styles for graphical models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CC37E-DE77-6B0D-897B-8478A4C06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8912"/>
            <a:ext cx="10515600" cy="627063"/>
          </a:xfrm>
        </p:spPr>
        <p:txBody>
          <a:bodyPr/>
          <a:lstStyle/>
          <a:p>
            <a:r>
              <a:rPr lang="en-US" dirty="0"/>
              <a:t>There is no one correct style</a:t>
            </a:r>
            <a:endParaRPr lang="en-IL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3D19966-1103-A4D0-9A12-1AD44CB07C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852" y="2930908"/>
            <a:ext cx="3038475" cy="34766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BE28996-3B3C-DEFC-60FE-8F98086A7F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81500" y="2930908"/>
            <a:ext cx="1981200" cy="37433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771C59D-FF73-0720-71F0-E0B3500D6933}"/>
              </a:ext>
            </a:extLst>
          </p:cNvPr>
          <p:cNvSpPr txBox="1"/>
          <p:nvPr/>
        </p:nvSpPr>
        <p:spPr>
          <a:xfrm>
            <a:off x="1063856" y="2216054"/>
            <a:ext cx="21184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Classic DAG</a:t>
            </a:r>
            <a:endParaRPr lang="en-IL" sz="3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BC8884-146E-71ED-FC11-DF436A04F886}"/>
              </a:ext>
            </a:extLst>
          </p:cNvPr>
          <p:cNvSpPr txBox="1"/>
          <p:nvPr/>
        </p:nvSpPr>
        <p:spPr>
          <a:xfrm>
            <a:off x="4102842" y="2216054"/>
            <a:ext cx="25385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Plate notation</a:t>
            </a:r>
            <a:endParaRPr lang="en-IL" sz="3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CC3A97-929C-D079-9FCE-2177F2A38B26}"/>
              </a:ext>
            </a:extLst>
          </p:cNvPr>
          <p:cNvSpPr txBox="1"/>
          <p:nvPr/>
        </p:nvSpPr>
        <p:spPr>
          <a:xfrm>
            <a:off x="8065695" y="2216054"/>
            <a:ext cx="332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Kruschke Diagrams</a:t>
            </a:r>
            <a:endParaRPr lang="en-IL" sz="3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FD9FCAB-25D4-6365-AB61-C5E4B3FD3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2417" y="2885974"/>
            <a:ext cx="2255715" cy="383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655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E4AB11-6226-1023-6824-65ED4A3CD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37FD3-B424-443F-757A-FA313BC36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3.2 Probabilistic programming languages</a:t>
            </a:r>
            <a:endParaRPr lang="en-IL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CE518-D060-46F2-6190-D3510097D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PPLs can be used to describe models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675268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47C39-549E-C122-05FE-17B04B48A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675"/>
          </a:xfrm>
        </p:spPr>
        <p:txBody>
          <a:bodyPr>
            <a:normAutofit fontScale="90000"/>
          </a:bodyPr>
          <a:lstStyle/>
          <a:p>
            <a:r>
              <a:rPr lang="en-US" dirty="0"/>
              <a:t>Why Bayesian inference became computational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7DFB8-3C43-23F3-46BB-DA9F0882D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1930-1950s: Purely analytical and mathematical approaches</a:t>
            </a:r>
          </a:p>
          <a:p>
            <a:r>
              <a:rPr lang="en-US" dirty="0"/>
              <a:t>1950-1980s: Limitations of the mathematical approaches</a:t>
            </a:r>
          </a:p>
          <a:p>
            <a:r>
              <a:rPr lang="en-US" dirty="0"/>
              <a:t>Early 1990s: Development of MCMC algorithms promises approximate solutions</a:t>
            </a:r>
          </a:p>
          <a:p>
            <a:r>
              <a:rPr lang="en-US" dirty="0"/>
              <a:t>mid 1990s-early 2000s: Early probabilistic programming languages PPLs like BUGS make MCMC available without programming the whole algorithm </a:t>
            </a:r>
          </a:p>
          <a:p>
            <a:r>
              <a:rPr lang="en-US" dirty="0"/>
              <a:t>2000s-2010s: New generations of PPLs introduced</a:t>
            </a:r>
          </a:p>
          <a:p>
            <a:r>
              <a:rPr lang="en-US" dirty="0"/>
              <a:t>2020s: Innovation beyond PPLs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139056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B09DB-0AAB-3ADD-045B-6FCCA6B0C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AEBF6-660F-6431-C8C7-5FCB37C29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777509" cy="1325563"/>
          </a:xfrm>
        </p:spPr>
        <p:txBody>
          <a:bodyPr/>
          <a:lstStyle/>
          <a:p>
            <a:r>
              <a:rPr lang="en-US" err="1"/>
              <a:t>PyMC</a:t>
            </a:r>
            <a:r>
              <a:rPr lang="en-US"/>
              <a:t>: a PPL for Python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A4C799-F6F1-AED5-9284-09F931592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9365" y="0"/>
            <a:ext cx="61326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505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EDCDC-3B1E-995D-B9B3-6EBD27B51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1DD8E-121A-F44B-CC45-532731FBF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From probabilistic model to graphical model</a:t>
            </a:r>
            <a:endParaRPr lang="en-GB" sz="32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BFC1ACD-DDE9-AAAE-F960-6A3111CE2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815" y="6095899"/>
            <a:ext cx="10515600" cy="566578"/>
          </a:xfrm>
        </p:spPr>
        <p:txBody>
          <a:bodyPr/>
          <a:lstStyle/>
          <a:p>
            <a:r>
              <a:rPr lang="en-US" dirty="0"/>
              <a:t>Three representations of the same idea</a:t>
            </a:r>
            <a:endParaRPr lang="en-GB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DE9FDABD-23A6-CB87-A11F-7F571A5A2F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5500" y="2371725"/>
          <a:ext cx="23749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04840" imgH="507960" progId="Equation.DSMT4">
                  <p:embed/>
                </p:oleObj>
              </mc:Choice>
              <mc:Fallback>
                <p:oleObj name="Equation" r:id="rId2" imgW="1104840" imgH="50796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DE9FDABD-23A6-CB87-A11F-7F571A5A2F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25500" y="2371725"/>
                        <a:ext cx="2374900" cy="1092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Graphic 7">
            <a:extLst>
              <a:ext uri="{FF2B5EF4-FFF2-40B4-BE49-F238E27FC236}">
                <a16:creationId xmlns:a16="http://schemas.microsoft.com/office/drawing/2014/main" id="{82EA4F55-2BE6-5582-FD11-780F24A63A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086030" y="2053465"/>
            <a:ext cx="1458518" cy="37200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E5EECDF-4779-0878-47DA-ED6339CD1B13}"/>
              </a:ext>
            </a:extLst>
          </p:cNvPr>
          <p:cNvSpPr txBox="1"/>
          <p:nvPr/>
        </p:nvSpPr>
        <p:spPr>
          <a:xfrm>
            <a:off x="6316134" y="2386624"/>
            <a:ext cx="54694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with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pm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.Model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our_first_model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l-GR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θ</a:t>
            </a:r>
            <a:r>
              <a:rPr kumimoji="0" lang="el-GR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l-GR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l-GR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pm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.Beta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l-GR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θ'</a:t>
            </a:r>
            <a:r>
              <a:rPr kumimoji="0" lang="el-GR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alpha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.,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beta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pm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.Bernoulli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'y'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l-GR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θ</a:t>
            </a:r>
            <a:r>
              <a:rPr kumimoji="0" lang="el-GR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observed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data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3B3B3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2F9C8C-F95D-E1F3-9C7C-B1600914A883}"/>
              </a:ext>
            </a:extLst>
          </p:cNvPr>
          <p:cNvSpPr txBox="1"/>
          <p:nvPr/>
        </p:nvSpPr>
        <p:spPr>
          <a:xfrm>
            <a:off x="1075267" y="1587666"/>
            <a:ext cx="1446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Equations</a:t>
            </a:r>
            <a:endParaRPr kumimoji="0" lang="en-IL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28185B-7EBA-4447-51AF-BCA1B8E4502D}"/>
              </a:ext>
            </a:extLst>
          </p:cNvPr>
          <p:cNvSpPr txBox="1"/>
          <p:nvPr/>
        </p:nvSpPr>
        <p:spPr>
          <a:xfrm>
            <a:off x="3678054" y="1587665"/>
            <a:ext cx="2274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Graphical model</a:t>
            </a:r>
            <a:endParaRPr kumimoji="0" lang="en-IL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1150AE-F560-C64C-3959-270604569C64}"/>
              </a:ext>
            </a:extLst>
          </p:cNvPr>
          <p:cNvSpPr txBox="1"/>
          <p:nvPr/>
        </p:nvSpPr>
        <p:spPr>
          <a:xfrm>
            <a:off x="7515927" y="1587664"/>
            <a:ext cx="18684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PyMC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(a PPL)</a:t>
            </a:r>
            <a:endParaRPr kumimoji="0" lang="en-IL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271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D440F-C212-7D1D-FD3E-579D372C5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PyMC</a:t>
            </a:r>
            <a:r>
              <a:rPr lang="en-US" dirty="0"/>
              <a:t> graphical visualizer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3A4D9-45D5-E442-1893-CF961DC51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99287"/>
          </a:xfrm>
        </p:spPr>
        <p:txBody>
          <a:bodyPr>
            <a:normAutofit/>
          </a:bodyPr>
          <a:lstStyle/>
          <a:p>
            <a:r>
              <a:rPr lang="en-US" dirty="0"/>
              <a:t>Visualize any </a:t>
            </a:r>
            <a:r>
              <a:rPr lang="en-US" dirty="0" err="1"/>
              <a:t>PyMC</a:t>
            </a:r>
            <a:r>
              <a:rPr lang="en-US" dirty="0"/>
              <a:t> model</a:t>
            </a:r>
          </a:p>
          <a:p>
            <a:pPr lvl="1"/>
            <a:r>
              <a:rPr lang="en-US" dirty="0"/>
              <a:t>Shows: dimensionality, distributions, and dependencies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8981CE-ECB0-ACC7-CCD3-A53967A3A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789" y="2919796"/>
            <a:ext cx="2081091" cy="3287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DE16DC-376A-A311-9B6B-5F5A0A5D3D97}"/>
              </a:ext>
            </a:extLst>
          </p:cNvPr>
          <p:cNvSpPr txBox="1"/>
          <p:nvPr/>
        </p:nvSpPr>
        <p:spPr>
          <a:xfrm>
            <a:off x="1053846" y="3429000"/>
            <a:ext cx="6094476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model_to_graphviz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our_first_model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12310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557D44-1C7A-8B9F-BE47-96F8DEA2C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F4525-A2C2-D3E1-C140-D7ADDA489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3.3 Sampling</a:t>
            </a:r>
            <a:endParaRPr lang="en-IL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BA6A40-DB85-B76E-07CA-F9073824CB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Using sampling to approximate the posterior distribution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4169136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sample?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Analytic solutions not always available?</a:t>
            </a:r>
          </a:p>
          <a:p>
            <a:pPr lvl="1"/>
            <a:r>
              <a:rPr lang="en-US"/>
              <a:t>Must choose a likelihood with a conjugate prior</a:t>
            </a:r>
          </a:p>
          <a:p>
            <a:pPr lvl="1"/>
            <a:r>
              <a:rPr lang="en-US"/>
              <a:t>Must have a conjugate prior that fits</a:t>
            </a:r>
          </a:p>
          <a:p>
            <a:pPr lvl="1"/>
            <a:endParaRPr lang="en-US"/>
          </a:p>
          <a:p>
            <a:r>
              <a:rPr lang="en-US"/>
              <a:t>Grid solution often too limited</a:t>
            </a:r>
          </a:p>
          <a:p>
            <a:pPr lvl="1"/>
            <a:r>
              <a:rPr lang="en-US"/>
              <a:t>Works great for 1 parameter</a:t>
            </a:r>
          </a:p>
          <a:p>
            <a:pPr lvl="1"/>
            <a:r>
              <a:rPr lang="en-US"/>
              <a:t>Becomes quickly untenable for more than 2 or 3 parameters</a:t>
            </a:r>
          </a:p>
          <a:p>
            <a:pPr lvl="1"/>
            <a:endParaRPr lang="en-US"/>
          </a:p>
          <a:p>
            <a:r>
              <a:rPr lang="en-US"/>
              <a:t>We’ll learn it on one parameter, just to make things simple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584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712208" cy="1325563"/>
          </a:xfrm>
        </p:spPr>
        <p:txBody>
          <a:bodyPr>
            <a:normAutofit/>
          </a:bodyPr>
          <a:lstStyle/>
          <a:p>
            <a:r>
              <a:rPr lang="en-US" sz="3600" dirty="0"/>
              <a:t>Sampling: 500 draws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9432" y="1770761"/>
            <a:ext cx="4276344" cy="4351338"/>
          </a:xfrm>
        </p:spPr>
        <p:txBody>
          <a:bodyPr/>
          <a:lstStyle/>
          <a:p>
            <a:r>
              <a:rPr lang="en-US"/>
              <a:t>We can sample in order to characterize a distribution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2FC072-95D9-D2D5-AFCB-DB81A557572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19775" y="584907"/>
            <a:ext cx="2909311" cy="21890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F79831-A779-EC98-7292-77AB36E259B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66369" y="603170"/>
            <a:ext cx="2909312" cy="216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526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712208" cy="1325563"/>
          </a:xfrm>
        </p:spPr>
        <p:txBody>
          <a:bodyPr>
            <a:normAutofit/>
          </a:bodyPr>
          <a:lstStyle/>
          <a:p>
            <a:r>
              <a:rPr lang="en-US" sz="3200" dirty="0"/>
              <a:t>Sampling: 5,000 draws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9432" y="1770761"/>
            <a:ext cx="4276344" cy="4351338"/>
          </a:xfrm>
        </p:spPr>
        <p:txBody>
          <a:bodyPr/>
          <a:lstStyle/>
          <a:p>
            <a:r>
              <a:rPr lang="en-US" dirty="0"/>
              <a:t>We can sample in order to characterize a distribution</a:t>
            </a:r>
          </a:p>
          <a:p>
            <a:r>
              <a:rPr lang="en-US" dirty="0"/>
              <a:t>Larger samples give more accuracy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EB78DE-D4F4-9F65-018B-CDE416DADE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19777" y="3236035"/>
            <a:ext cx="2888966" cy="21487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B6E73D-1E73-BC2A-C248-C57EB8B893F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19775" y="584907"/>
            <a:ext cx="2909311" cy="21890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83C538-25F6-0C86-8122-540025E5365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66369" y="603170"/>
            <a:ext cx="2909312" cy="216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412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712208" cy="1325563"/>
          </a:xfrm>
        </p:spPr>
        <p:txBody>
          <a:bodyPr>
            <a:normAutofit/>
          </a:bodyPr>
          <a:lstStyle/>
          <a:p>
            <a:r>
              <a:rPr lang="en-US" sz="3200" dirty="0"/>
              <a:t>Sampling: 50,000 draws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9432" y="1770761"/>
            <a:ext cx="4276344" cy="2708875"/>
          </a:xfrm>
        </p:spPr>
        <p:txBody>
          <a:bodyPr/>
          <a:lstStyle/>
          <a:p>
            <a:r>
              <a:rPr lang="en-US" dirty="0"/>
              <a:t>We can sample in order to characterize a distribution</a:t>
            </a:r>
          </a:p>
          <a:p>
            <a:r>
              <a:rPr lang="en-US" dirty="0"/>
              <a:t>Larger samples give more accuracy</a:t>
            </a:r>
          </a:p>
          <a:p>
            <a:r>
              <a:rPr lang="en-US" dirty="0"/>
              <a:t>With a sample we can estimate parameters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14313" y="5019675"/>
          <a:ext cx="4884737" cy="111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93680" imgH="457200" progId="Equation.DSMT4">
                  <p:embed/>
                </p:oleObj>
              </mc:Choice>
              <mc:Fallback>
                <p:oleObj name="Equation" r:id="rId2" imgW="1993680" imgH="45720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4313" y="5019675"/>
                        <a:ext cx="4884737" cy="1119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55C2280-3094-6972-EA6D-A8150CAA2D7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19777" y="3236035"/>
            <a:ext cx="2888966" cy="21487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BEA0D5-1270-C05E-C773-ACA98A8D9A5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19775" y="584907"/>
            <a:ext cx="2909311" cy="21890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75EED4-4033-7521-EA4C-35086FDF601C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66369" y="603170"/>
            <a:ext cx="2909312" cy="21680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B8FC78-BCD8-6F03-417C-C22B6FE1F813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16211" y="3238103"/>
            <a:ext cx="2888966" cy="214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167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9A0B6-C078-6DCD-0DE9-40B0078C0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Sampling and PPL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DCA5E-C60E-09CA-7C45-1EE173F19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PPL will have at least two parts:</a:t>
            </a:r>
          </a:p>
          <a:p>
            <a:pPr lvl="1"/>
            <a:r>
              <a:rPr lang="en-US"/>
              <a:t>Model building</a:t>
            </a:r>
          </a:p>
          <a:p>
            <a:pPr lvl="1"/>
            <a:r>
              <a:rPr lang="en-US"/>
              <a:t>Sampling</a:t>
            </a:r>
            <a:endParaRPr lang="en-I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712BCA-9BA3-E85D-1E3E-62A3B031C63A}"/>
              </a:ext>
            </a:extLst>
          </p:cNvPr>
          <p:cNvSpPr txBox="1"/>
          <p:nvPr/>
        </p:nvSpPr>
        <p:spPr>
          <a:xfrm>
            <a:off x="777815" y="3659536"/>
            <a:ext cx="54694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US" sz="16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.Model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6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our_first_model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l-G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θ</a:t>
            </a:r>
            <a:r>
              <a:rPr lang="el-G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l-G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l-G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US" sz="16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.Beta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l-GR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θ'</a:t>
            </a:r>
            <a:r>
              <a:rPr lang="el-G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alpha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., 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beta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.)</a:t>
            </a:r>
          </a:p>
          <a:p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US" sz="16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.Bernoulli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'y'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l-GR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θ</a:t>
            </a:r>
            <a:r>
              <a:rPr lang="el-GR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observed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C5E9B8-3130-3D26-A2E3-0811FDFECF55}"/>
              </a:ext>
            </a:extLst>
          </p:cNvPr>
          <p:cNvSpPr txBox="1"/>
          <p:nvPr/>
        </p:nvSpPr>
        <p:spPr>
          <a:xfrm>
            <a:off x="838200" y="5190345"/>
            <a:ext cx="90435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idata</a:t>
            </a: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US" sz="18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.sample</a:t>
            </a: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model=</a:t>
            </a:r>
            <a:r>
              <a:rPr lang="en-US" sz="18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our_first</a:t>
            </a: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3B3B3B"/>
                </a:solidFill>
                <a:latin typeface="Consolas" panose="020B0609020204030204" pitchFamily="49" charset="0"/>
              </a:rPr>
              <a:t>_model, </a:t>
            </a:r>
            <a:r>
              <a:rPr lang="en-US" sz="18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random_seed</a:t>
            </a:r>
            <a:r>
              <a:rPr lang="en-US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4591</a:t>
            </a: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98523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40E4A-DBE6-C52E-F9F0-AC272360F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1683E-CA5B-50A6-9EDE-E5E247FA6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happens when we call </a:t>
            </a:r>
            <a:r>
              <a:rPr lang="en-US" sz="44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US" sz="44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.sample</a:t>
            </a:r>
            <a:r>
              <a:rPr lang="en-US" sz="44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/>
              <a:t>? 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A91DA-CF33-2096-973C-EFA7D020C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063517"/>
          </a:xfrm>
        </p:spPr>
        <p:txBody>
          <a:bodyPr>
            <a:normAutofit fontScale="70000" lnSpcReduction="20000"/>
          </a:bodyPr>
          <a:lstStyle/>
          <a:p>
            <a:r>
              <a:rPr lang="en-US"/>
              <a:t>Pick a sampling algorithm</a:t>
            </a:r>
          </a:p>
          <a:p>
            <a:r>
              <a:rPr lang="en-US"/>
              <a:t>Initialize</a:t>
            </a:r>
          </a:p>
          <a:p>
            <a:r>
              <a:rPr lang="en-US"/>
              <a:t>Run multiple chains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26779D-5E7A-4384-D90B-27CF29DA051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1624" y="3024077"/>
            <a:ext cx="8372767" cy="332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408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8BE39-9304-4361-0C70-0B66C5626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92F29-C21A-8487-18D8-83B7E0D2A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posterior has the samples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2DD0B-75B4-E08D-3C57-85E36ECA9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0959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One variable: </a:t>
            </a:r>
            <a:r>
              <a:rPr lang="el-GR" dirty="0"/>
              <a:t>θ</a:t>
            </a:r>
            <a:endParaRPr lang="en-US" dirty="0"/>
          </a:p>
          <a:p>
            <a:r>
              <a:rPr lang="en-US" dirty="0"/>
              <a:t>Two dimensions: chain and draw</a:t>
            </a:r>
          </a:p>
          <a:p>
            <a:r>
              <a:rPr lang="en-US" dirty="0"/>
              <a:t>4,000 draws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9543AE-1463-6B84-F6B2-82C7F73AD3D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78280" y="3209217"/>
            <a:ext cx="7422722" cy="32836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D46DE0-2C20-FCDC-D604-52F9F1F7098D}"/>
              </a:ext>
            </a:extLst>
          </p:cNvPr>
          <p:cNvSpPr txBox="1"/>
          <p:nvPr/>
        </p:nvSpPr>
        <p:spPr>
          <a:xfrm>
            <a:off x="6257925" y="1825625"/>
            <a:ext cx="5248275" cy="92333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 draw is one set of parameters sampled from the posterior distribution</a:t>
            </a:r>
          </a:p>
          <a:p>
            <a:r>
              <a:rPr lang="en-US" dirty="0">
                <a:solidFill>
                  <a:srgbClr val="C00000"/>
                </a:solidFill>
              </a:rPr>
              <a:t>A chain is a series of draws</a:t>
            </a:r>
            <a:endParaRPr lang="en-IL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252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CB0D7-BB73-7DA0-4BF4-3F04DE182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Draws and samples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0BCDC-8BDF-9ACD-FF20-A1B8E6401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“Samples” is an overloaded term</a:t>
            </a:r>
          </a:p>
          <a:p>
            <a:pPr lvl="1"/>
            <a:r>
              <a:rPr lang="en-US" dirty="0"/>
              <a:t>The data is a </a:t>
            </a:r>
            <a:r>
              <a:rPr lang="en-US" b="1" dirty="0"/>
              <a:t>sample</a:t>
            </a:r>
            <a:r>
              <a:rPr lang="en-US" dirty="0"/>
              <a:t> from the population</a:t>
            </a:r>
          </a:p>
          <a:p>
            <a:pPr lvl="1"/>
            <a:r>
              <a:rPr lang="en-US" dirty="0"/>
              <a:t>We take </a:t>
            </a:r>
            <a:r>
              <a:rPr lang="en-US" b="1" dirty="0"/>
              <a:t>sample</a:t>
            </a:r>
            <a:r>
              <a:rPr lang="en-US" dirty="0"/>
              <a:t>s from the posterior distribution of the parameters</a:t>
            </a:r>
          </a:p>
          <a:p>
            <a:r>
              <a:rPr lang="en-US" dirty="0"/>
              <a:t>To avoid confusion:</a:t>
            </a:r>
          </a:p>
          <a:p>
            <a:pPr lvl="1"/>
            <a:r>
              <a:rPr lang="en-US" dirty="0"/>
              <a:t>Use sample when talking about data collection</a:t>
            </a:r>
          </a:p>
          <a:p>
            <a:pPr lvl="1"/>
            <a:r>
              <a:rPr lang="en-US" dirty="0"/>
              <a:t>Use draw when talking about Bayesian sampling</a:t>
            </a:r>
          </a:p>
          <a:p>
            <a:r>
              <a:rPr lang="en-US" dirty="0"/>
              <a:t>We will not always remember to be consistent</a:t>
            </a:r>
          </a:p>
          <a:p>
            <a:pPr lvl="1"/>
            <a:r>
              <a:rPr lang="en-US" dirty="0"/>
              <a:t>Sorry!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303343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AB5AD4-D35E-5277-FA8D-7E8BF950D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83D36-35F7-29F3-880C-0D983F444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3.4 Plotting the posterior distribution</a:t>
            </a:r>
            <a:endParaRPr lang="en-IL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8E6869-CD9E-09B2-022B-5A77E71D5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Arviz</a:t>
            </a:r>
            <a:r>
              <a:rPr lang="en-US" sz="4000" dirty="0"/>
              <a:t> tools for visualizing the posterior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28160171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2CFC8-A4D8-AB6E-8EDE-4E4B972A7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EB67-A5A8-2A2F-AFF8-16D1AC5BD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Arviz</a:t>
            </a:r>
            <a:r>
              <a:rPr lang="en-US"/>
              <a:t>: Analyzing Bayesian data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A3EA2-0B29-4FF5-D1FD-22C78AB8B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39000" cy="468447"/>
          </a:xfrm>
        </p:spPr>
        <p:txBody>
          <a:bodyPr>
            <a:normAutofit lnSpcReduction="10000"/>
          </a:bodyPr>
          <a:lstStyle/>
          <a:p>
            <a:r>
              <a:rPr lang="en-US">
                <a:hlinkClick r:id="rId2"/>
              </a:rPr>
              <a:t>https://python.arviz.org/en/stable/</a:t>
            </a:r>
            <a:endParaRPr lang="en-I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D6114B-0C84-0BD7-CF79-76F080085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267" y="2294072"/>
            <a:ext cx="7867313" cy="4526121"/>
          </a:xfrm>
          <a:prstGeom prst="rect">
            <a:avLst/>
          </a:prstGeom>
          <a:ln w="28575">
            <a:solidFill>
              <a:schemeClr val="accent5"/>
            </a:solidFill>
          </a:ln>
        </p:spPr>
      </p:pic>
    </p:spTree>
    <p:extLst>
      <p:ext uri="{BB962C8B-B14F-4D97-AF65-F5344CB8AC3E}">
        <p14:creationId xmlns:p14="http://schemas.microsoft.com/office/powerpoint/2010/main" val="12127796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039F8-6AE0-BB8E-6E16-5551D7486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39C33-F7B2-C19B-AF71-653BB8F7B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7317"/>
            <a:ext cx="10515600" cy="1325563"/>
          </a:xfrm>
        </p:spPr>
        <p:txBody>
          <a:bodyPr/>
          <a:lstStyle/>
          <a:p>
            <a:r>
              <a:rPr lang="en-US"/>
              <a:t>Sampling the posterior for fake data</a:t>
            </a:r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1E9D24-A20C-AE04-6C78-AF9B904B2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815" y="6095899"/>
            <a:ext cx="10515600" cy="566578"/>
          </a:xfrm>
        </p:spPr>
        <p:txBody>
          <a:bodyPr/>
          <a:lstStyle/>
          <a:p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50A49F-2931-5D8F-2E28-275A224AC81F}"/>
              </a:ext>
            </a:extLst>
          </p:cNvPr>
          <p:cNvSpPr txBox="1"/>
          <p:nvPr/>
        </p:nvSpPr>
        <p:spPr>
          <a:xfrm>
            <a:off x="898586" y="2140231"/>
            <a:ext cx="90435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idata</a:t>
            </a: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pm</a:t>
            </a:r>
            <a:r>
              <a:rPr lang="en-US" sz="18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.sample</a:t>
            </a: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model=</a:t>
            </a:r>
            <a:r>
              <a:rPr lang="en-US" sz="1800" b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our_first</a:t>
            </a: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3B3B3B"/>
                </a:solidFill>
                <a:latin typeface="Consolas" panose="020B0609020204030204" pitchFamily="49" charset="0"/>
              </a:rPr>
              <a:t>_model, </a:t>
            </a:r>
            <a:r>
              <a:rPr lang="en-US" sz="18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random_seed</a:t>
            </a:r>
            <a:r>
              <a:rPr lang="en-US" sz="18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4591</a:t>
            </a:r>
            <a:r>
              <a:rPr lang="en-US" sz="1800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endParaRPr lang="en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AC2050B-0700-7AF7-EB6F-7E3AD2A9AA01}"/>
                  </a:ext>
                </a:extLst>
              </p:cNvPr>
              <p:cNvSpPr txBox="1"/>
              <p:nvPr/>
            </p:nvSpPr>
            <p:spPr>
              <a:xfrm>
                <a:off x="838200" y="1652880"/>
                <a:ext cx="54140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Draw from the posterior distribution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1" i="1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sz="2400" b="1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AC2050B-0700-7AF7-EB6F-7E3AD2A9A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52880"/>
                <a:ext cx="5414046" cy="461665"/>
              </a:xfrm>
              <a:prstGeom prst="rect">
                <a:avLst/>
              </a:prstGeom>
              <a:blipFill>
                <a:blip r:embed="rId2"/>
                <a:stretch>
                  <a:fillRect l="-1802" t="-10526" b="-2894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D61EC56-BFC7-291F-8780-CCA45EA1C4DD}"/>
              </a:ext>
            </a:extLst>
          </p:cNvPr>
          <p:cNvSpPr txBox="1"/>
          <p:nvPr/>
        </p:nvSpPr>
        <p:spPr>
          <a:xfrm>
            <a:off x="838200" y="2601896"/>
            <a:ext cx="20298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Plot the draws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D2370F-7F79-90B2-0027-73188B4DC45F}"/>
              </a:ext>
            </a:extLst>
          </p:cNvPr>
          <p:cNvSpPr txBox="1"/>
          <p:nvPr/>
        </p:nvSpPr>
        <p:spPr>
          <a:xfrm>
            <a:off x="898586" y="3063561"/>
            <a:ext cx="6096000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az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plot_trace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idata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chain_prop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'color'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F9ADE47-9FE6-FFD0-A8B5-A04AD9C54F6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3235" y="3857311"/>
            <a:ext cx="11404289" cy="177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5368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58DCF-5A28-BBC5-7F75-F44225ED5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Arviz</a:t>
            </a:r>
            <a:r>
              <a:rPr lang="en-US" dirty="0"/>
              <a:t> summary of the posterior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E17301-D2BE-EB0F-2EBE-6D4DA5E84BF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6438" y="3186114"/>
            <a:ext cx="10261600" cy="33280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2F9AA1-1A4A-B3D0-99B6-E3571E6FAE6D}"/>
              </a:ext>
            </a:extLst>
          </p:cNvPr>
          <p:cNvSpPr txBox="1"/>
          <p:nvPr/>
        </p:nvSpPr>
        <p:spPr>
          <a:xfrm>
            <a:off x="656438" y="2024163"/>
            <a:ext cx="6096000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az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plot_posterior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idata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figsize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en-US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C65CBF-182C-6D15-0C4B-7012707E28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19803" y="1268669"/>
            <a:ext cx="5016568" cy="189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769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F88CA-DEB5-66EE-8302-BABF2B5EB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B1E39-6656-3944-2BBE-2E10FEB15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3.5 Estimation</a:t>
            </a:r>
            <a:endParaRPr lang="en-IL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5D60E-5DA2-DD3C-A37E-35CE917C2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The best guess for the parameter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6852547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562F4A-8667-C9C0-577A-E9734D598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estimates of the true value</a:t>
            </a:r>
            <a:endParaRPr lang="en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562B34-09E5-808F-387D-D09AB28808E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15491" y="3016916"/>
            <a:ext cx="9476509" cy="36981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D8676A-A1E6-9C93-9DB3-9CCFE42AC0D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4360" y="1365775"/>
            <a:ext cx="4398264" cy="1976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2292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6323F-214A-218C-7064-EDD6EBC83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understand estimators, use simulated data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9C2AD-6160-5702-FC5D-D6CB1FE24F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905128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Generate multiple datasets from same “true”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For each dataset, calculate all three estimators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r>
                  <a:rPr lang="en-US" dirty="0">
                    <a:latin typeface="Cambria Math" panose="02040503050406030204" pitchFamily="18" charset="0"/>
                  </a:rPr>
                  <a:t>Look at distribution of estimators</a:t>
                </a:r>
              </a:p>
              <a:p>
                <a:pPr lvl="1"/>
                <a:r>
                  <a:rPr lang="en-US" dirty="0">
                    <a:latin typeface="Cambria Math" panose="02040503050406030204" pitchFamily="18" charset="0"/>
                  </a:rPr>
                  <a:t>Bias</a:t>
                </a:r>
              </a:p>
              <a:p>
                <a:pPr lvl="2"/>
                <a:r>
                  <a:rPr lang="en-US" dirty="0">
                    <a:latin typeface="Cambria Math" panose="02040503050406030204" pitchFamily="18" charset="0"/>
                  </a:rPr>
                  <a:t>How far is the estimator from the truth on average</a:t>
                </a:r>
              </a:p>
              <a:p>
                <a:pPr lvl="1"/>
                <a:r>
                  <a:rPr lang="en-US" dirty="0">
                    <a:latin typeface="Cambria Math" panose="02040503050406030204" pitchFamily="18" charset="0"/>
                  </a:rPr>
                  <a:t>Variance</a:t>
                </a:r>
              </a:p>
              <a:p>
                <a:pPr lvl="2"/>
                <a:r>
                  <a:rPr lang="en-US" dirty="0">
                    <a:latin typeface="Cambria Math" panose="02040503050406030204" pitchFamily="18" charset="0"/>
                  </a:rPr>
                  <a:t>How much does the estimator vary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9C2AD-6160-5702-FC5D-D6CB1FE24F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905128"/>
              </a:xfrm>
              <a:blipFill>
                <a:blip r:embed="rId2"/>
                <a:stretch>
                  <a:fillRect l="-522" t="-5751" b="-319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51F233A-0738-DEAA-4037-528BD4B42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713" y="3346704"/>
            <a:ext cx="6728071" cy="330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844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814E77-B9A0-B6C4-85AA-D401C3161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1611"/>
          </a:xfrm>
        </p:spPr>
        <p:txBody>
          <a:bodyPr>
            <a:normAutofit fontScale="90000"/>
          </a:bodyPr>
          <a:lstStyle/>
          <a:p>
            <a:r>
              <a:rPr lang="en-US" dirty="0"/>
              <a:t>Calculating each estimator on different samples</a:t>
            </a: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5321D4-8A7F-EC91-34AE-3337F2980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89" y="2679192"/>
            <a:ext cx="4082407" cy="20080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AB58F0-9735-CD50-6B47-236C75AFF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700" y="1202709"/>
            <a:ext cx="4526180" cy="22262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A8B5A6-F9C8-E963-911F-D4FE26B86B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700" y="2679192"/>
            <a:ext cx="4648100" cy="22862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0B1B55-3671-855A-41E3-6B6E775FBB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700" y="4058076"/>
            <a:ext cx="4648100" cy="2286261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CEFE7413-1101-1D08-DED6-AA8469D7997F}"/>
              </a:ext>
            </a:extLst>
          </p:cNvPr>
          <p:cNvSpPr/>
          <p:nvPr/>
        </p:nvSpPr>
        <p:spPr>
          <a:xfrm rot="20579057">
            <a:off x="4408734" y="2302911"/>
            <a:ext cx="2313932" cy="5242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3DBB6D4-58B9-5C05-28B0-AAA1DD7B34EB}"/>
              </a:ext>
            </a:extLst>
          </p:cNvPr>
          <p:cNvSpPr/>
          <p:nvPr/>
        </p:nvSpPr>
        <p:spPr>
          <a:xfrm>
            <a:off x="4434801" y="3444242"/>
            <a:ext cx="2313932" cy="5242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179180C-9302-6DD8-1E84-4588E11F461E}"/>
              </a:ext>
            </a:extLst>
          </p:cNvPr>
          <p:cNvSpPr/>
          <p:nvPr/>
        </p:nvSpPr>
        <p:spPr>
          <a:xfrm rot="1218200">
            <a:off x="4422086" y="4529308"/>
            <a:ext cx="2313932" cy="5242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07870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B220D-3BB3-2074-3217-530C82CF3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1032"/>
          </a:xfrm>
        </p:spPr>
        <p:txBody>
          <a:bodyPr>
            <a:normAutofit fontScale="90000"/>
          </a:bodyPr>
          <a:lstStyle/>
          <a:p>
            <a:r>
              <a:rPr lang="en-US" dirty="0"/>
              <a:t>The distribution of the estimators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B0A3F-76F6-8AA1-B0F6-50A9F1C32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6159"/>
            <a:ext cx="10515600" cy="132556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Across multiple simulated </a:t>
            </a:r>
            <a:r>
              <a:rPr lang="en-US" dirty="0" err="1"/>
              <a:t>datsets</a:t>
            </a:r>
            <a:endParaRPr lang="en-US" dirty="0"/>
          </a:p>
          <a:p>
            <a:pPr lvl="1"/>
            <a:r>
              <a:rPr lang="en-US" dirty="0"/>
              <a:t>With the same true value of the parameter</a:t>
            </a:r>
          </a:p>
          <a:p>
            <a:pPr lvl="1"/>
            <a:r>
              <a:rPr lang="en-US" dirty="0"/>
              <a:t>The distributions are affected by having discrete data</a:t>
            </a:r>
          </a:p>
          <a:p>
            <a:pPr lvl="1"/>
            <a:r>
              <a:rPr lang="en-US" dirty="0"/>
              <a:t>We can see differences more clearly by zooming in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E362E0-D4B2-F401-B46C-275521A14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533" y="2657412"/>
            <a:ext cx="8224934" cy="40455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11B02C-80CC-7B03-5FE8-A45EAF855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584" y="2657412"/>
            <a:ext cx="8230883" cy="40485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D20540-E7ED-DC1A-85C4-322302342D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7584" y="2654485"/>
            <a:ext cx="8230883" cy="40485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7C0022-ED4D-72FD-1983-5864B94938B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17355" y="960359"/>
            <a:ext cx="3806422" cy="141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444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C8D17-F1CF-B978-978B-ED115D07B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6C3C4-9DB0-347B-0302-AD80A5C6F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1032"/>
          </a:xfrm>
        </p:spPr>
        <p:txBody>
          <a:bodyPr>
            <a:normAutofit fontScale="90000"/>
          </a:bodyPr>
          <a:lstStyle/>
          <a:p>
            <a:r>
              <a:rPr lang="en-US" dirty="0"/>
              <a:t>The bias / variance tradeoff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3BF2F-3DAA-2EBF-06D9-E46825EB0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4364"/>
            <a:ext cx="10515600" cy="1325562"/>
          </a:xfrm>
        </p:spPr>
        <p:txBody>
          <a:bodyPr>
            <a:normAutofit/>
          </a:bodyPr>
          <a:lstStyle/>
          <a:p>
            <a:r>
              <a:rPr lang="en-US" dirty="0"/>
              <a:t>Often an estimator that is more accurate is less precise</a:t>
            </a:r>
          </a:p>
          <a:p>
            <a:pPr lvl="1"/>
            <a:r>
              <a:rPr lang="en-US" dirty="0"/>
              <a:t>Accurate: less bias</a:t>
            </a:r>
          </a:p>
          <a:p>
            <a:pPr lvl="1"/>
            <a:r>
              <a:rPr lang="en-US" dirty="0"/>
              <a:t>Precise: less variance</a:t>
            </a:r>
            <a:endParaRPr lang="en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2D6104-6161-43CD-51CC-54DAA2457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77" y="3357166"/>
            <a:ext cx="5894023" cy="28990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A004FB-9F90-79D0-380C-23A05E8C5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904489"/>
            <a:ext cx="5378878" cy="189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0769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16C3C-0663-8B39-3CD6-1A8F1576A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estimator to use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663A7-4F4F-AC26-FBFB-59E27D8A2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Mean</a:t>
            </a:r>
          </a:p>
          <a:p>
            <a:pPr lvl="1"/>
            <a:r>
              <a:rPr lang="en-US" dirty="0"/>
              <a:t>Usually preferred</a:t>
            </a:r>
          </a:p>
          <a:p>
            <a:pPr lvl="1"/>
            <a:r>
              <a:rPr lang="en-US" dirty="0"/>
              <a:t>Takes entire posterior into account</a:t>
            </a:r>
          </a:p>
          <a:p>
            <a:pPr lvl="1"/>
            <a:r>
              <a:rPr lang="en-US" dirty="0"/>
              <a:t>Best estimator for normal distributions</a:t>
            </a:r>
          </a:p>
          <a:p>
            <a:pPr lvl="2"/>
            <a:r>
              <a:rPr lang="en-US" dirty="0"/>
              <a:t>Many posterior distributions are close to normal</a:t>
            </a:r>
          </a:p>
          <a:p>
            <a:pPr lvl="2"/>
            <a:r>
              <a:rPr lang="en-US" dirty="0"/>
              <a:t>Especially with enough data</a:t>
            </a:r>
          </a:p>
          <a:p>
            <a:r>
              <a:rPr lang="en-US" dirty="0"/>
              <a:t>Mode</a:t>
            </a:r>
          </a:p>
          <a:p>
            <a:pPr lvl="1"/>
            <a:r>
              <a:rPr lang="en-US" dirty="0"/>
              <a:t>Lower bias when posterior is asymmetric</a:t>
            </a:r>
          </a:p>
          <a:p>
            <a:pPr lvl="1"/>
            <a:r>
              <a:rPr lang="en-US" dirty="0"/>
              <a:t>Single value with the largest probability or probability density</a:t>
            </a:r>
          </a:p>
          <a:p>
            <a:pPr lv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5489330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3A2C00-E5B0-2A39-F964-0B2184EA6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C0CC2-0F4F-A957-645A-DCEC81833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3.6 HDI</a:t>
            </a:r>
            <a:endParaRPr lang="en-IL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2EECC-6C4D-C43B-7FA3-557989B37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The highest density interval: definition, presentation, coverage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37180968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73219-03A7-6A94-6DF5-DD38D0AA4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88AFB-2EE9-CF52-7F66-97715CF33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Summarizing the posterior distribution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9311937-88E5-4A63-4A24-8FDB15310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04715"/>
          </a:xfrm>
        </p:spPr>
        <p:txBody>
          <a:bodyPr/>
          <a:lstStyle/>
          <a:p>
            <a:r>
              <a:rPr lang="en-US" dirty="0" err="1"/>
              <a:t>Arviz</a:t>
            </a:r>
            <a:r>
              <a:rPr lang="en-US" dirty="0"/>
              <a:t> gives </a:t>
            </a:r>
            <a:r>
              <a:rPr lang="en-US" dirty="0">
                <a:solidFill>
                  <a:srgbClr val="FF0000"/>
                </a:solidFill>
              </a:rPr>
              <a:t>mean</a:t>
            </a:r>
            <a:r>
              <a:rPr lang="en-US" dirty="0"/>
              <a:t> as default estimate</a:t>
            </a:r>
          </a:p>
          <a:p>
            <a:pPr lvl="1"/>
            <a:r>
              <a:rPr lang="en-US" dirty="0"/>
              <a:t>Also </a:t>
            </a:r>
            <a:r>
              <a:rPr lang="en-US" dirty="0" err="1">
                <a:solidFill>
                  <a:srgbClr val="00B0F0"/>
                </a:solidFill>
              </a:rPr>
              <a:t>sd</a:t>
            </a:r>
            <a:r>
              <a:rPr lang="en-US" dirty="0"/>
              <a:t> : how wide is the posterior</a:t>
            </a:r>
          </a:p>
          <a:p>
            <a:pPr lvl="2"/>
            <a:r>
              <a:rPr lang="en-US" dirty="0"/>
              <a:t>How uncertain are we</a:t>
            </a:r>
          </a:p>
          <a:p>
            <a:r>
              <a:rPr lang="en-US" dirty="0"/>
              <a:t>Also </a:t>
            </a:r>
            <a:r>
              <a:rPr lang="en-US" dirty="0">
                <a:solidFill>
                  <a:srgbClr val="00B050"/>
                </a:solidFill>
              </a:rPr>
              <a:t>HDI </a:t>
            </a:r>
            <a:r>
              <a:rPr lang="en-US" dirty="0"/>
              <a:t>: the highest density interval</a:t>
            </a:r>
            <a:endParaRPr lang="en-IL" dirty="0">
              <a:solidFill>
                <a:srgbClr val="00B05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ABF1AA-5F73-23B0-F811-1C87C7C44F2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9768" y="4032405"/>
            <a:ext cx="7754112" cy="25148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F3D4C5-76BE-CFCC-2C44-D727639F29B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84464" y="4919472"/>
            <a:ext cx="3493272" cy="91090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D29C4A8-367B-9DA0-6113-6D0E4F690DBE}"/>
              </a:ext>
            </a:extLst>
          </p:cNvPr>
          <p:cNvSpPr/>
          <p:nvPr/>
        </p:nvSpPr>
        <p:spPr>
          <a:xfrm>
            <a:off x="9005917" y="5062428"/>
            <a:ext cx="586139" cy="62499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A1D535-78DD-669F-74D3-B3BED0CB76FD}"/>
              </a:ext>
            </a:extLst>
          </p:cNvPr>
          <p:cNvSpPr/>
          <p:nvPr/>
        </p:nvSpPr>
        <p:spPr>
          <a:xfrm>
            <a:off x="5753943" y="4428035"/>
            <a:ext cx="998495" cy="317701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B32BD4-62DF-D5C3-C95C-ABC086C16888}"/>
              </a:ext>
            </a:extLst>
          </p:cNvPr>
          <p:cNvSpPr/>
          <p:nvPr/>
        </p:nvSpPr>
        <p:spPr>
          <a:xfrm>
            <a:off x="9592056" y="5062428"/>
            <a:ext cx="484632" cy="624994"/>
          </a:xfrm>
          <a:prstGeom prst="rect">
            <a:avLst/>
          </a:prstGeom>
          <a:noFill/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2A75EF-2119-09DB-330F-FFC0E163C175}"/>
              </a:ext>
            </a:extLst>
          </p:cNvPr>
          <p:cNvSpPr/>
          <p:nvPr/>
        </p:nvSpPr>
        <p:spPr>
          <a:xfrm>
            <a:off x="10076688" y="5062428"/>
            <a:ext cx="1618488" cy="624994"/>
          </a:xfrm>
          <a:prstGeom prst="rect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15803B-506A-26BF-4C42-C365E63623ED}"/>
              </a:ext>
            </a:extLst>
          </p:cNvPr>
          <p:cNvSpPr/>
          <p:nvPr/>
        </p:nvSpPr>
        <p:spPr>
          <a:xfrm>
            <a:off x="5753943" y="5420645"/>
            <a:ext cx="729153" cy="317701"/>
          </a:xfrm>
          <a:prstGeom prst="rect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EA16ED-1E0F-002E-EC82-522DA86F4341}"/>
              </a:ext>
            </a:extLst>
          </p:cNvPr>
          <p:cNvSpPr/>
          <p:nvPr/>
        </p:nvSpPr>
        <p:spPr>
          <a:xfrm>
            <a:off x="5024790" y="6053328"/>
            <a:ext cx="2098386" cy="236430"/>
          </a:xfrm>
          <a:prstGeom prst="rect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02319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Highest density interval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19175"/>
          </a:xfrm>
        </p:spPr>
        <p:txBody>
          <a:bodyPr/>
          <a:lstStyle/>
          <a:p>
            <a:r>
              <a:rPr lang="en-US"/>
              <a:t>An interval of largest values that contains 95% of the probability</a:t>
            </a: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2558" y="4175574"/>
            <a:ext cx="5400609" cy="22126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3795" y="4245117"/>
            <a:ext cx="5388418" cy="2291906"/>
          </a:xfrm>
          <a:prstGeom prst="rect">
            <a:avLst/>
          </a:prstGeom>
        </p:spPr>
      </p:pic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442784" y="2430371"/>
          <a:ext cx="4962020" cy="583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8920" imgH="253800" progId="Equation.DSMT4">
                  <p:embed/>
                </p:oleObj>
              </mc:Choice>
              <mc:Fallback>
                <p:oleObj name="Equation" r:id="rId4" imgW="2158920" imgH="25380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42784" y="2430371"/>
                        <a:ext cx="4962020" cy="5837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4376776" y="3083681"/>
          <a:ext cx="3094037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46040" imgH="444240" progId="Equation.DSMT4">
                  <p:embed/>
                </p:oleObj>
              </mc:Choice>
              <mc:Fallback>
                <p:oleObj name="Equation" r:id="rId6" imgW="1346040" imgH="44424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376776" y="3083681"/>
                        <a:ext cx="3094037" cy="1022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31314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862"/>
    </mc:Choice>
    <mc:Fallback xmlns="">
      <p:transition spd="slow" advTm="638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2648" x="8510588" y="5741988"/>
          <p14:tracePt t="2662" x="7929563" y="5705475"/>
          <p14:tracePt t="2675" x="7197725" y="5670550"/>
          <p14:tracePt t="2687" x="6446838" y="5626100"/>
          <p14:tracePt t="2700" x="5697538" y="5608638"/>
          <p14:tracePt t="2716" x="5018088" y="5589588"/>
          <p14:tracePt t="2732" x="4537075" y="5572125"/>
          <p14:tracePt t="2752" x="4187825" y="5537200"/>
          <p14:tracePt t="2966" x="4170363" y="5537200"/>
          <p14:tracePt t="2979" x="4089400" y="5510213"/>
          <p14:tracePt t="2992" x="3894138" y="5446713"/>
          <p14:tracePt t="3010" x="3776663" y="5429250"/>
          <p14:tracePt t="3018" x="3633788" y="5384800"/>
          <p14:tracePt t="3032" x="3509963" y="5375275"/>
          <p14:tracePt t="3048" x="3375025" y="5357813"/>
          <p14:tracePt t="3067" x="3152775" y="5322888"/>
          <p14:tracePt t="3082" x="3054350" y="5295900"/>
          <p14:tracePt t="3097" x="2982913" y="5268913"/>
          <p14:tracePt t="3114" x="2946400" y="5241925"/>
          <p14:tracePt t="3132" x="2901950" y="5187950"/>
          <p14:tracePt t="3150" x="2894013" y="5170488"/>
          <p14:tracePt t="3166" x="2884488" y="5153025"/>
          <p14:tracePt t="3181" x="2884488" y="5126038"/>
          <p14:tracePt t="3198" x="2894013" y="5072063"/>
          <p14:tracePt t="3214" x="2911475" y="5054600"/>
          <p14:tracePt t="3220" x="2928938" y="5045075"/>
          <p14:tracePt t="3233" x="2938463" y="5027613"/>
          <p14:tracePt t="3249" x="2946400" y="5027613"/>
          <p14:tracePt t="3265" x="2946400" y="5018088"/>
          <p14:tracePt t="3290" x="2946400" y="5010150"/>
          <p14:tracePt t="3309" x="2946400" y="5000625"/>
          <p14:tracePt t="3320" x="2946400" y="4973638"/>
          <p14:tracePt t="3338" x="2946400" y="4956175"/>
          <p14:tracePt t="3348" x="2946400" y="4929188"/>
          <p14:tracePt t="3365" x="2938463" y="4911725"/>
          <p14:tracePt t="3380" x="2911475" y="4884738"/>
          <p14:tracePt t="3399" x="2884488" y="4840288"/>
          <p14:tracePt t="3417" x="2874963" y="4822825"/>
          <p14:tracePt t="3431" x="2867025" y="4813300"/>
          <p14:tracePt t="3449" x="2857500" y="4795838"/>
          <p14:tracePt t="3666" x="2847975" y="4795838"/>
          <p14:tracePt t="3691" x="2822575" y="4803775"/>
          <p14:tracePt t="3703" x="2751138" y="4867275"/>
          <p14:tracePt t="3719" x="2670175" y="4946650"/>
          <p14:tracePt t="3733" x="2608263" y="5010150"/>
          <p14:tracePt t="3747" x="2562225" y="5072063"/>
          <p14:tracePt t="3764" x="2473325" y="5197475"/>
          <p14:tracePt t="3780" x="2446338" y="5241925"/>
          <p14:tracePt t="3798" x="2428875" y="5276850"/>
          <p14:tracePt t="3816" x="2401888" y="5322888"/>
          <p14:tracePt t="3832" x="2393950" y="5340350"/>
          <p14:tracePt t="3848" x="2384425" y="5357813"/>
          <p14:tracePt t="3867" x="2374900" y="5394325"/>
          <p14:tracePt t="3881" x="2366963" y="5411788"/>
          <p14:tracePt t="3899" x="2357438" y="5429250"/>
          <p14:tracePt t="3917" x="2357438" y="5446713"/>
          <p14:tracePt t="3933" x="2347913" y="5491163"/>
          <p14:tracePt t="3948" x="2339975" y="5518150"/>
          <p14:tracePt t="3965" x="2330450" y="5545138"/>
          <p14:tracePt t="3980" x="2330450" y="5572125"/>
          <p14:tracePt t="3997" x="2330450" y="5616575"/>
          <p14:tracePt t="4015" x="2322513" y="5626100"/>
          <p14:tracePt t="4031" x="2303463" y="5670550"/>
          <p14:tracePt t="4049" x="2286000" y="5697538"/>
          <p14:tracePt t="4064" x="2276475" y="5715000"/>
          <p14:tracePt t="4082" x="2251075" y="5741988"/>
          <p14:tracePt t="4098" x="2251075" y="5751513"/>
          <p14:tracePt t="4116" x="2241550" y="5759450"/>
          <p14:tracePt t="4173" x="2232025" y="5768975"/>
          <p14:tracePt t="4187" x="2232025" y="5776913"/>
          <p14:tracePt t="4201" x="2224088" y="5786438"/>
          <p14:tracePt t="4217" x="2205038" y="5803900"/>
          <p14:tracePt t="4233" x="2187575" y="5830888"/>
          <p14:tracePt t="4248" x="2187575" y="5840413"/>
          <p14:tracePt t="4265" x="2179638" y="5840413"/>
          <p14:tracePt t="4281" x="2179638" y="5848350"/>
          <p14:tracePt t="4315" x="2170113" y="5848350"/>
          <p14:tracePt t="4332" x="2160588" y="5848350"/>
          <p14:tracePt t="4351" x="2152650" y="5857875"/>
          <p14:tracePt t="4368" x="2143125" y="5857875"/>
          <p14:tracePt t="4382" x="2133600" y="5857875"/>
          <p14:tracePt t="4398" x="2125663" y="5857875"/>
          <p14:tracePt t="4418" x="2108200" y="5857875"/>
          <p14:tracePt t="4431" x="2098675" y="5867400"/>
          <p14:tracePt t="4448" x="2089150" y="5867400"/>
          <p14:tracePt t="4482" x="2081213" y="5867400"/>
          <p14:tracePt t="4691" x="2081213" y="5875338"/>
          <p14:tracePt t="4745" x="2081213" y="5884863"/>
          <p14:tracePt t="4776" x="2081213" y="5894388"/>
          <p14:tracePt t="4785" x="2071688" y="5894388"/>
          <p14:tracePt t="4797" x="2071688" y="5902325"/>
          <p14:tracePt t="4815" x="2071688" y="5911850"/>
          <p14:tracePt t="4831" x="2071688" y="5919788"/>
          <p14:tracePt t="4847" x="2071688" y="5938838"/>
          <p14:tracePt t="4863" x="2071688" y="5946775"/>
          <p14:tracePt t="4886" x="2071688" y="5956300"/>
          <p14:tracePt t="4910" x="2071688" y="5965825"/>
          <p14:tracePt t="4971" x="2071688" y="5973763"/>
          <p14:tracePt t="4988" x="2071688" y="5983288"/>
          <p14:tracePt t="4997" x="2071688" y="5991225"/>
          <p14:tracePt t="5010" x="2071688" y="6000750"/>
          <p14:tracePt t="5023" x="2071688" y="6010275"/>
          <p14:tracePt t="5036" x="2062163" y="6018213"/>
          <p14:tracePt t="5049" x="2054225" y="6037263"/>
          <p14:tracePt t="5065" x="2054225" y="6045200"/>
          <p14:tracePt t="5080" x="2044700" y="6062663"/>
          <p14:tracePt t="5096" x="2044700" y="6072188"/>
          <p14:tracePt t="5117" x="2036763" y="6081713"/>
          <p14:tracePt t="5132" x="2036763" y="6089650"/>
          <p14:tracePt t="5168" x="2036763" y="6099175"/>
          <p14:tracePt t="5243" x="2036763" y="6089650"/>
          <p14:tracePt t="5252" x="2036763" y="6062663"/>
          <p14:tracePt t="5267" x="2036763" y="6018213"/>
          <p14:tracePt t="5281" x="2044700" y="5973763"/>
          <p14:tracePt t="5297" x="2054225" y="5929313"/>
          <p14:tracePt t="5316" x="2071688" y="5857875"/>
          <p14:tracePt t="5332" x="2071688" y="5830888"/>
          <p14:tracePt t="5349" x="2071688" y="5813425"/>
          <p14:tracePt t="5364" x="2081213" y="5795963"/>
          <p14:tracePt t="5381" x="2081213" y="5776913"/>
          <p14:tracePt t="5433" x="2081213" y="5768975"/>
          <p14:tracePt t="5570" x="2081213" y="5776913"/>
          <p14:tracePt t="5586" x="2081213" y="5795963"/>
          <p14:tracePt t="5600" x="2081213" y="5813425"/>
          <p14:tracePt t="5609" x="2081213" y="5840413"/>
          <p14:tracePt t="5622" x="2071688" y="5848350"/>
          <p14:tracePt t="5637" x="2062163" y="5875338"/>
          <p14:tracePt t="5650" x="2062163" y="5884863"/>
          <p14:tracePt t="5675" x="2062163" y="5894388"/>
          <p14:tracePt t="5688" x="2062163" y="5902325"/>
          <p14:tracePt t="5701" x="2054225" y="5902325"/>
          <p14:tracePt t="5744" x="2054225" y="5911850"/>
          <p14:tracePt t="6007" x="2054225" y="5902325"/>
          <p14:tracePt t="6030" x="2054225" y="5894388"/>
          <p14:tracePt t="6044" x="2054225" y="5867400"/>
          <p14:tracePt t="6057" x="2054225" y="5795963"/>
          <p14:tracePt t="6071" x="2054225" y="5653088"/>
          <p14:tracePt t="6085" x="2054225" y="5411788"/>
          <p14:tracePt t="6098" x="2062163" y="5214938"/>
          <p14:tracePt t="6114" x="2071688" y="5010150"/>
          <p14:tracePt t="6132" x="2108200" y="4670425"/>
          <p14:tracePt t="6149" x="2125663" y="4562475"/>
          <p14:tracePt t="6166" x="2133600" y="4483100"/>
          <p14:tracePt t="6183" x="2152650" y="4419600"/>
          <p14:tracePt t="6199" x="2152650" y="4411663"/>
          <p14:tracePt t="6360" x="2152650" y="4402138"/>
          <p14:tracePt t="6371" x="2152650" y="4384675"/>
          <p14:tracePt t="6384" x="2160588" y="4303713"/>
          <p14:tracePt t="6401" x="2214563" y="4089400"/>
          <p14:tracePt t="6418" x="2224088" y="3848100"/>
          <p14:tracePt t="6435" x="2276475" y="3133725"/>
          <p14:tracePt t="6450" x="2268538" y="2741613"/>
          <p14:tracePt t="6467" x="2214563" y="2384425"/>
          <p14:tracePt t="6482" x="2160588" y="2152650"/>
          <p14:tracePt t="6499" x="2098675" y="1973263"/>
          <p14:tracePt t="6515" x="1990725" y="1776413"/>
          <p14:tracePt t="6532" x="1955800" y="1741488"/>
          <p14:tracePt t="6548" x="1919288" y="1704975"/>
          <p14:tracePt t="6567" x="1884363" y="1670050"/>
          <p14:tracePt t="6581" x="1874838" y="1660525"/>
          <p14:tracePt t="6598" x="1866900" y="1643063"/>
          <p14:tracePt t="6632" x="1857375" y="1633538"/>
          <p14:tracePt t="6651" x="1857375" y="1625600"/>
          <p14:tracePt t="6677" x="1847850" y="1625600"/>
          <p14:tracePt t="6690" x="1847850" y="1616075"/>
          <p14:tracePt t="6702" x="1839913" y="1608138"/>
          <p14:tracePt t="6719" x="1839913" y="1581150"/>
          <p14:tracePt t="6732" x="1830388" y="1527175"/>
          <p14:tracePt t="6748" x="1830388" y="1500188"/>
          <p14:tracePt t="6766" x="1830388" y="1482725"/>
          <p14:tracePt t="6781" x="1830388" y="1455738"/>
          <p14:tracePt t="6799" x="1830388" y="1446213"/>
          <p14:tracePt t="6816" x="1857375" y="1419225"/>
          <p14:tracePt t="6831" x="1990725" y="1393825"/>
          <p14:tracePt t="6849" x="2482850" y="1322388"/>
          <p14:tracePt t="6865" x="2732088" y="1295400"/>
          <p14:tracePt t="6881" x="2990850" y="1268413"/>
          <p14:tracePt t="6899" x="3384550" y="1204913"/>
          <p14:tracePt t="6916" x="3500438" y="1169988"/>
          <p14:tracePt t="6934" x="3687763" y="1133475"/>
          <p14:tracePt t="6948" x="3724275" y="1125538"/>
          <p14:tracePt t="6965" x="3751263" y="1116013"/>
          <p14:tracePt t="6984" x="3786188" y="1116013"/>
          <p14:tracePt t="6998" x="3795713" y="1116013"/>
          <p14:tracePt t="7015" x="3803650" y="1125538"/>
          <p14:tracePt t="7031" x="3830638" y="1133475"/>
          <p14:tracePt t="7049" x="3929063" y="1187450"/>
          <p14:tracePt t="7064" x="3990975" y="1214438"/>
          <p14:tracePt t="7081" x="4081463" y="1231900"/>
          <p14:tracePt t="7098" x="4179888" y="1241425"/>
          <p14:tracePt t="7115" x="4384675" y="1241425"/>
          <p14:tracePt t="7134" x="4483100" y="1241425"/>
          <p14:tracePt t="7150" x="4643438" y="1223963"/>
          <p14:tracePt t="7165" x="4687888" y="1214438"/>
          <p14:tracePt t="7182" x="4732338" y="1204913"/>
          <p14:tracePt t="7199" x="4759325" y="1204913"/>
          <p14:tracePt t="7217" x="4776788" y="1204913"/>
          <p14:tracePt t="7232" x="4786313" y="1204913"/>
          <p14:tracePt t="13092" x="4786313" y="1214438"/>
          <p14:tracePt t="13118" x="4786313" y="1231900"/>
          <p14:tracePt t="13133" x="4751388" y="1285875"/>
          <p14:tracePt t="13150" x="4660900" y="1419225"/>
          <p14:tracePt t="13157" x="4589463" y="1527175"/>
          <p14:tracePt t="13170" x="4518025" y="1643063"/>
          <p14:tracePt t="13185" x="4456113" y="1741488"/>
          <p14:tracePt t="13199" x="4411663" y="1812925"/>
          <p14:tracePt t="13216" x="4375150" y="1874838"/>
          <p14:tracePt t="13219" x="4357688" y="1928813"/>
          <p14:tracePt t="13232" x="4303713" y="1982788"/>
          <p14:tracePt t="13247" x="4251325" y="2071688"/>
          <p14:tracePt t="13263" x="4187825" y="2179638"/>
          <p14:tracePt t="13281" x="4044950" y="2384425"/>
          <p14:tracePt t="13297" x="4000500" y="2465388"/>
          <p14:tracePt t="13314" x="3946525" y="2527300"/>
          <p14:tracePt t="13330" x="3938588" y="2554288"/>
          <p14:tracePt t="13347" x="3911600" y="2589213"/>
          <p14:tracePt t="13561" x="3894138" y="2598738"/>
          <p14:tracePt t="13574" x="3830638" y="2697163"/>
          <p14:tracePt t="13588" x="3714750" y="2955925"/>
          <p14:tracePt t="13601" x="3598863" y="3187700"/>
          <p14:tracePt t="13617" x="3473450" y="3490913"/>
          <p14:tracePt t="13629" x="3348038" y="3768725"/>
          <p14:tracePt t="13646" x="3268663" y="3965575"/>
          <p14:tracePt t="13664" x="3197225" y="4170363"/>
          <p14:tracePt t="13681" x="3125788" y="4411663"/>
          <p14:tracePt t="15778" x="3108325" y="4402138"/>
          <p14:tracePt t="15790" x="3089275" y="4330700"/>
          <p14:tracePt t="15799" x="3027363" y="4224338"/>
          <p14:tracePt t="15814" x="2973388" y="4133850"/>
          <p14:tracePt t="15830" x="2901950" y="4037013"/>
          <p14:tracePt t="15847" x="2786063" y="3875088"/>
          <p14:tracePt t="15863" x="2616200" y="3697288"/>
          <p14:tracePt t="15880" x="2276475" y="3394075"/>
          <p14:tracePt t="15897" x="2108200" y="3259138"/>
          <p14:tracePt t="15913" x="1955800" y="3160713"/>
          <p14:tracePt t="15930" x="1803400" y="3017838"/>
          <p14:tracePt t="15948" x="1768475" y="2965450"/>
          <p14:tracePt t="15963" x="1731963" y="2928938"/>
          <p14:tracePt t="15981" x="1697038" y="2901950"/>
          <p14:tracePt t="15996" x="1679575" y="2901950"/>
          <p14:tracePt t="16013" x="1670050" y="2894013"/>
          <p14:tracePt t="16030" x="1643063" y="2894013"/>
          <p14:tracePt t="16082" x="1633538" y="2894013"/>
          <p14:tracePt t="16095" x="1625600" y="2884488"/>
          <p14:tracePt t="16108" x="1581150" y="2867025"/>
          <p14:tracePt t="16121" x="1517650" y="2776538"/>
          <p14:tracePt t="16133" x="1446213" y="2670175"/>
          <p14:tracePt t="16148" x="1384300" y="2598738"/>
          <p14:tracePt t="16163" x="1357313" y="2517775"/>
          <p14:tracePt t="16180" x="1347788" y="2446338"/>
          <p14:tracePt t="16197" x="1330325" y="2339975"/>
          <p14:tracePt t="16213" x="1330325" y="2312988"/>
          <p14:tracePt t="16229" x="1330325" y="2295525"/>
          <p14:tracePt t="16247" x="1366838" y="2268538"/>
          <p14:tracePt t="16264" x="1455738" y="2241550"/>
          <p14:tracePt t="16279" x="1562100" y="2241550"/>
          <p14:tracePt t="16298" x="1857375" y="2303463"/>
          <p14:tracePt t="16314" x="2036763" y="2384425"/>
          <p14:tracePt t="16330" x="2197100" y="2455863"/>
          <p14:tracePt t="16346" x="2347913" y="2517775"/>
          <p14:tracePt t="16363" x="2536825" y="2571750"/>
          <p14:tracePt t="16380" x="2598738" y="2589213"/>
          <p14:tracePt t="16576" x="2670175" y="2581275"/>
          <p14:tracePt t="16589" x="2874963" y="2554288"/>
          <p14:tracePt t="16600" x="3089275" y="2500313"/>
          <p14:tracePt t="16614" x="3322638" y="2490788"/>
          <p14:tracePt t="16630" x="3517900" y="2473325"/>
          <p14:tracePt t="16646" x="3724275" y="2465388"/>
          <p14:tracePt t="16663" x="3848100" y="2465388"/>
          <p14:tracePt t="16680" x="4037013" y="2465388"/>
          <p14:tracePt t="16696" x="4098925" y="2465388"/>
          <p14:tracePt t="16715" x="4125913" y="2465388"/>
          <p14:tracePt t="16721" x="4133850" y="2465388"/>
          <p14:tracePt t="16731" x="4152900" y="2465388"/>
          <p14:tracePt t="16757" x="4160838" y="2465388"/>
          <p14:tracePt t="16985" x="4205288" y="2455863"/>
          <p14:tracePt t="16998" x="4367213" y="2446338"/>
          <p14:tracePt t="17010" x="4518025" y="2446338"/>
          <p14:tracePt t="17022" x="4714875" y="2446338"/>
          <p14:tracePt t="17038" x="4822825" y="2438400"/>
          <p14:tracePt t="17048" x="4902200" y="2438400"/>
          <p14:tracePt t="17063" x="4965700" y="2438400"/>
          <p14:tracePt t="17079" x="5000625" y="2438400"/>
          <p14:tracePt t="17096" x="5018088" y="2438400"/>
          <p14:tracePt t="17113" x="5037138" y="2438400"/>
          <p14:tracePt t="17131" x="5045075" y="2438400"/>
          <p14:tracePt t="17227" x="5054600" y="2438400"/>
          <p14:tracePt t="17243" x="5072063" y="2438400"/>
          <p14:tracePt t="17251" x="5133975" y="2428875"/>
          <p14:tracePt t="17265" x="5340350" y="2401888"/>
          <p14:tracePt t="17280" x="5545138" y="2374900"/>
          <p14:tracePt t="17297" x="5795963" y="2347913"/>
          <p14:tracePt t="17313" x="6000750" y="2322513"/>
          <p14:tracePt t="17330" x="6367463" y="2286000"/>
          <p14:tracePt t="17347" x="6483350" y="2286000"/>
          <p14:tracePt t="17364" x="6562725" y="2286000"/>
          <p14:tracePt t="17379" x="6653213" y="2286000"/>
          <p14:tracePt t="17396" x="6670675" y="2286000"/>
          <p14:tracePt t="17413" x="6680200" y="2286000"/>
          <p14:tracePt t="17578" x="6697663" y="2268538"/>
          <p14:tracePt t="17594" x="6848475" y="2268538"/>
          <p14:tracePt t="17604" x="7037388" y="2232025"/>
          <p14:tracePt t="17617" x="7170738" y="2224088"/>
          <p14:tracePt t="17632" x="7286625" y="2224088"/>
          <p14:tracePt t="17646" x="7394575" y="2224088"/>
          <p14:tracePt t="17663" x="7500938" y="2224088"/>
          <p14:tracePt t="17682" x="7705725" y="2286000"/>
          <p14:tracePt t="17698" x="7813675" y="2303463"/>
          <p14:tracePt t="17714" x="7939088" y="2312988"/>
          <p14:tracePt t="17731" x="8027988" y="2322513"/>
          <p14:tracePt t="17747" x="8161338" y="2330450"/>
          <p14:tracePt t="17763" x="8180388" y="2330450"/>
          <p14:tracePt t="17781" x="8205788" y="2330450"/>
          <p14:tracePt t="17799" x="8215313" y="2330450"/>
          <p14:tracePt t="17859" x="8224838" y="2330450"/>
          <p14:tracePt t="17884" x="8242300" y="2330450"/>
          <p14:tracePt t="17910" x="8251825" y="2330450"/>
          <p14:tracePt t="17922" x="8259763" y="2330450"/>
          <p14:tracePt t="17935" x="8269288" y="2330450"/>
          <p14:tracePt t="17973" x="8277225" y="2330450"/>
          <p14:tracePt t="18241" x="8340725" y="2330450"/>
          <p14:tracePt t="18253" x="8483600" y="2322513"/>
          <p14:tracePt t="18267" x="8609013" y="2312988"/>
          <p14:tracePt t="18282" x="8732838" y="2312988"/>
          <p14:tracePt t="18299" x="8848725" y="2312988"/>
          <p14:tracePt t="18314" x="8947150" y="2312988"/>
          <p14:tracePt t="18332" x="9082088" y="2303463"/>
          <p14:tracePt t="18348" x="9126538" y="2303463"/>
          <p14:tracePt t="18364" x="9144000" y="2303463"/>
          <p14:tracePt t="18381" x="9161463" y="2303463"/>
          <p14:tracePt t="18398" x="9170988" y="2303463"/>
          <p14:tracePt t="18414" x="9180513" y="2303463"/>
          <p14:tracePt t="18432" x="9188450" y="2303463"/>
          <p14:tracePt t="18457" x="9197975" y="2303463"/>
          <p14:tracePt t="19745" x="9161463" y="2322513"/>
          <p14:tracePt t="19758" x="8947150" y="2393950"/>
          <p14:tracePt t="19772" x="8653463" y="2500313"/>
          <p14:tracePt t="19784" x="8286750" y="2616200"/>
          <p14:tracePt t="19799" x="7823200" y="2795588"/>
          <p14:tracePt t="19816" x="7304088" y="3000375"/>
          <p14:tracePt t="19833" x="6269038" y="3500438"/>
          <p14:tracePt t="19848" x="5857875" y="3751263"/>
          <p14:tracePt t="19866" x="5554663" y="3929063"/>
          <p14:tracePt t="19881" x="5295900" y="4089400"/>
          <p14:tracePt t="20061" x="5276850" y="4089400"/>
          <p14:tracePt t="20076" x="5170488" y="4125913"/>
          <p14:tracePt t="20089" x="4946650" y="4214813"/>
          <p14:tracePt t="20103" x="4732338" y="4322763"/>
          <p14:tracePt t="20115" x="4456113" y="4465638"/>
          <p14:tracePt t="20133" x="4170363" y="4608513"/>
          <p14:tracePt t="20149" x="3589338" y="4875213"/>
          <p14:tracePt t="20165" x="3313113" y="4983163"/>
          <p14:tracePt t="20182" x="3081338" y="5037138"/>
          <p14:tracePt t="20200" x="2687638" y="5133975"/>
          <p14:tracePt t="20218" x="2589213" y="5160963"/>
          <p14:tracePt t="20231" x="2509838" y="5180013"/>
          <p14:tracePt t="20254" x="2393950" y="5214938"/>
          <p14:tracePt t="20265" x="2339975" y="5224463"/>
          <p14:tracePt t="20282" x="2312988" y="5251450"/>
          <p14:tracePt t="20300" x="2286000" y="5268913"/>
          <p14:tracePt t="20317" x="2268538" y="5286375"/>
          <p14:tracePt t="20332" x="2251075" y="5303838"/>
          <p14:tracePt t="20351" x="2187575" y="5375275"/>
          <p14:tracePt t="20364" x="2125663" y="5456238"/>
          <p14:tracePt t="20381" x="2071688" y="5537200"/>
          <p14:tracePt t="20397" x="2027238" y="5581650"/>
          <p14:tracePt t="20417" x="1973263" y="5626100"/>
          <p14:tracePt t="20433" x="1965325" y="5626100"/>
          <p14:tracePt t="20448" x="1965325" y="5634038"/>
          <p14:tracePt t="20467" x="1955800" y="5634038"/>
          <p14:tracePt t="20500" x="1955800" y="5643563"/>
          <p14:tracePt t="20515" x="1955800" y="5653088"/>
          <p14:tracePt t="20534" x="1955800" y="5670550"/>
          <p14:tracePt t="20549" x="1955800" y="5680075"/>
          <p14:tracePt t="20565" x="1955800" y="5688013"/>
          <p14:tracePt t="20600" x="1965325" y="5732463"/>
          <p14:tracePt t="20615" x="1973263" y="5768975"/>
          <p14:tracePt t="20631" x="1990725" y="5803900"/>
          <p14:tracePt t="20650" x="2000250" y="5822950"/>
          <p14:tracePt t="20664" x="2000250" y="5830888"/>
          <p14:tracePt t="20683" x="2000250" y="5840413"/>
          <p14:tracePt t="20800" x="2000250" y="5848350"/>
          <p14:tracePt t="20811" x="2000250" y="5857875"/>
          <p14:tracePt t="20826" x="2000250" y="5875338"/>
          <p14:tracePt t="20837" x="2000250" y="5894388"/>
          <p14:tracePt t="20852" x="2000250" y="5911850"/>
          <p14:tracePt t="20867" x="2000250" y="5929313"/>
          <p14:tracePt t="20882" x="2000250" y="5938838"/>
          <p14:tracePt t="20915" x="2000250" y="5946775"/>
          <p14:tracePt t="21193" x="2009775" y="5946775"/>
          <p14:tracePt t="21204" x="2009775" y="5938838"/>
          <p14:tracePt t="21219" x="2017713" y="5919788"/>
          <p14:tracePt t="21233" x="2036763" y="5894388"/>
          <p14:tracePt t="21252" x="2054225" y="5857875"/>
          <p14:tracePt t="21265" x="2062163" y="5830888"/>
          <p14:tracePt t="21283" x="2071688" y="5813425"/>
          <p14:tracePt t="21298" x="2081213" y="5813425"/>
          <p14:tracePt t="21317" x="2081213" y="5803900"/>
          <p14:tracePt t="21612" x="2081213" y="5813425"/>
          <p14:tracePt t="21653" x="2081213" y="5822950"/>
          <p14:tracePt t="21664" x="2081213" y="5830888"/>
          <p14:tracePt t="21692" x="2081213" y="5840413"/>
          <p14:tracePt t="21841" x="2081213" y="5795963"/>
          <p14:tracePt t="21854" x="2179638" y="5643563"/>
          <p14:tracePt t="21868" x="2268538" y="5456238"/>
          <p14:tracePt t="21882" x="2401888" y="5224463"/>
          <p14:tracePt t="21898" x="2581275" y="4929188"/>
          <p14:tracePt t="21915" x="2776538" y="4598988"/>
          <p14:tracePt t="21933" x="3143250" y="4044950"/>
          <p14:tracePt t="21949" x="3268663" y="3848100"/>
          <p14:tracePt t="21967" x="3419475" y="3616325"/>
          <p14:tracePt t="21982" x="3465513" y="3554413"/>
          <p14:tracePt t="22000" x="3482975" y="3509963"/>
          <p14:tracePt t="22016" x="3509963" y="3465513"/>
          <p14:tracePt t="22032" x="3527425" y="3455988"/>
          <p14:tracePt t="22049" x="3536950" y="3446463"/>
          <p14:tracePt t="22223" x="3536950" y="3429000"/>
          <p14:tracePt t="22235" x="3562350" y="3384550"/>
          <p14:tracePt t="22248" x="3608388" y="3295650"/>
          <p14:tracePt t="22265" x="3660775" y="3197225"/>
          <p14:tracePt t="22281" x="3705225" y="3133725"/>
          <p14:tracePt t="22298" x="3759200" y="3036888"/>
          <p14:tracePt t="22316" x="3768725" y="3027363"/>
          <p14:tracePt t="22331" x="3776663" y="3017838"/>
          <p14:tracePt t="22349" x="3776663" y="3009900"/>
          <p14:tracePt t="23092" x="3776663" y="3017838"/>
          <p14:tracePt t="23101" x="3776663" y="3027363"/>
          <p14:tracePt t="23115" x="3759200" y="3054350"/>
          <p14:tracePt t="23134" x="3705225" y="3143250"/>
          <p14:tracePt t="23149" x="3465513" y="3536950"/>
          <p14:tracePt t="23167" x="3357563" y="3741738"/>
          <p14:tracePt t="23183" x="3197225" y="4010025"/>
          <p14:tracePt t="23201" x="2919413" y="4589463"/>
          <p14:tracePt t="23216" x="2795588" y="4848225"/>
          <p14:tracePt t="23233" x="2714625" y="5072063"/>
          <p14:tracePt t="23248" x="2679700" y="5180013"/>
          <p14:tracePt t="23264" x="2652713" y="5251450"/>
          <p14:tracePt t="23480" x="2652713" y="5268913"/>
          <p14:tracePt t="23494" x="2625725" y="5295900"/>
          <p14:tracePt t="23505" x="2589213" y="5348288"/>
          <p14:tracePt t="23518" x="2554288" y="5402263"/>
          <p14:tracePt t="23535" x="2527300" y="5456238"/>
          <p14:tracePt t="23548" x="2490788" y="5510213"/>
          <p14:tracePt t="23566" x="2465388" y="5554663"/>
          <p14:tracePt t="23582" x="2438400" y="5589588"/>
          <p14:tracePt t="23599" x="2366963" y="5697538"/>
          <p14:tracePt t="23615" x="2312988" y="5768975"/>
          <p14:tracePt t="23632" x="2268538" y="5830888"/>
          <p14:tracePt t="23649" x="2197100" y="5919788"/>
          <p14:tracePt t="23665" x="2170113" y="5946775"/>
          <p14:tracePt t="23683" x="2143125" y="5973763"/>
          <p14:tracePt t="23701" x="2133600" y="5983288"/>
          <p14:tracePt t="23735" x="2125663" y="5983288"/>
          <p14:tracePt t="23775" x="2116138" y="5983288"/>
          <p14:tracePt t="23842" x="2108200" y="5983288"/>
          <p14:tracePt t="23853" x="2081213" y="5983288"/>
          <p14:tracePt t="23868" x="2054225" y="5983288"/>
          <p14:tracePt t="23881" x="2017713" y="5983288"/>
          <p14:tracePt t="23898" x="1982788" y="5983288"/>
          <p14:tracePt t="23919" x="1946275" y="5973763"/>
          <p14:tracePt t="23934" x="1938338" y="5965825"/>
          <p14:tracePt t="23951" x="1928813" y="5965825"/>
          <p14:tracePt t="23982" x="1928813" y="5956300"/>
          <p14:tracePt t="24028" x="1928813" y="5946775"/>
          <p14:tracePt t="24079" x="1928813" y="5938838"/>
          <p14:tracePt t="24093" x="1928813" y="5929313"/>
          <p14:tracePt t="24131" x="1928813" y="5919788"/>
          <p14:tracePt t="24222" x="1928813" y="5911850"/>
          <p14:tracePt t="24414" x="1938338" y="5902325"/>
          <p14:tracePt t="24424" x="1965325" y="5902325"/>
          <p14:tracePt t="24436" x="1973263" y="5894388"/>
          <p14:tracePt t="24452" x="1982788" y="5884863"/>
          <p14:tracePt t="24466" x="1990725" y="5884863"/>
          <p14:tracePt t="24513" x="2000250" y="5884863"/>
          <p14:tracePt t="24534" x="2000250" y="5875338"/>
          <p14:tracePt t="25351" x="2000250" y="5867400"/>
          <p14:tracePt t="25468" x="2000250" y="5857875"/>
          <p14:tracePt t="25619" x="2009775" y="5857875"/>
          <p14:tracePt t="25645" x="2009775" y="5848350"/>
          <p14:tracePt t="25671" x="2017713" y="5840413"/>
          <p14:tracePt t="25684" x="2036763" y="5830888"/>
          <p14:tracePt t="25693" x="2044700" y="5813425"/>
          <p14:tracePt t="25704" x="2062163" y="5803900"/>
          <p14:tracePt t="25721" x="2071688" y="5795963"/>
          <p14:tracePt t="25732" x="2098675" y="5768975"/>
          <p14:tracePt t="25750" x="2133600" y="5751513"/>
          <p14:tracePt t="25765" x="2152650" y="5732463"/>
          <p14:tracePt t="25783" x="2197100" y="5697538"/>
          <p14:tracePt t="25798" x="2205038" y="5688013"/>
          <p14:tracePt t="25815" x="2214563" y="5680075"/>
          <p14:tracePt t="25833" x="2232025" y="5661025"/>
          <p14:tracePt t="25850" x="2251075" y="5653088"/>
          <p14:tracePt t="25866" x="2276475" y="5634038"/>
          <p14:tracePt t="25883" x="2303463" y="5616575"/>
          <p14:tracePt t="25900" x="2374900" y="5581650"/>
          <p14:tracePt t="25917" x="2419350" y="5545138"/>
          <p14:tracePt t="25934" x="2455863" y="5518150"/>
          <p14:tracePt t="25950" x="2517775" y="5465763"/>
          <p14:tracePt t="25965" x="2544763" y="5438775"/>
          <p14:tracePt t="25982" x="2571750" y="5419725"/>
          <p14:tracePt t="25999" x="2598738" y="5394325"/>
          <p14:tracePt t="26016" x="2670175" y="5330825"/>
          <p14:tracePt t="26032" x="2724150" y="5276850"/>
          <p14:tracePt t="26050" x="2840038" y="5160963"/>
          <p14:tracePt t="26066" x="2894013" y="5108575"/>
          <p14:tracePt t="26084" x="2928938" y="5081588"/>
          <p14:tracePt t="26100" x="2955925" y="5045075"/>
          <p14:tracePt t="26115" x="3017838" y="5000625"/>
          <p14:tracePt t="26132" x="3062288" y="4973638"/>
          <p14:tracePt t="26149" x="3125788" y="4938713"/>
          <p14:tracePt t="26166" x="3214688" y="4875213"/>
          <p14:tracePt t="26182" x="3251200" y="4840288"/>
          <p14:tracePt t="26199" x="3276600" y="4813300"/>
          <p14:tracePt t="26217" x="3330575" y="4759325"/>
          <p14:tracePt t="26232" x="3357563" y="4724400"/>
          <p14:tracePt t="26250" x="3375025" y="4687888"/>
          <p14:tracePt t="26265" x="3419475" y="4643438"/>
          <p14:tracePt t="26282" x="3482975" y="4589463"/>
          <p14:tracePt t="26298" x="3517900" y="4572000"/>
          <p14:tracePt t="26316" x="3527425" y="4562475"/>
          <p14:tracePt t="26332" x="3544888" y="4545013"/>
          <p14:tracePt t="26348" x="3554413" y="4545013"/>
          <p14:tracePt t="26382" x="3554413" y="4537075"/>
          <p14:tracePt t="26398" x="3554413" y="4527550"/>
          <p14:tracePt t="26595" x="3554413" y="4518025"/>
          <p14:tracePt t="26662" x="3562350" y="4510088"/>
          <p14:tracePt t="26675" x="3581400" y="4510088"/>
          <p14:tracePt t="26688" x="3598863" y="4510088"/>
          <p14:tracePt t="26702" x="3625850" y="4510088"/>
          <p14:tracePt t="26717" x="3643313" y="4510088"/>
          <p14:tracePt t="26734" x="3670300" y="4510088"/>
          <p14:tracePt t="26748" x="3687763" y="4518025"/>
          <p14:tracePt t="26766" x="3741738" y="4545013"/>
          <p14:tracePt t="26782" x="3759200" y="4554538"/>
          <p14:tracePt t="26800" x="3795713" y="4572000"/>
          <p14:tracePt t="26817" x="3795713" y="4589463"/>
          <p14:tracePt t="26832" x="3813175" y="4598988"/>
          <p14:tracePt t="26851" x="3813175" y="4608513"/>
          <p14:tracePt t="26866" x="3822700" y="4625975"/>
          <p14:tracePt t="26881" x="3830638" y="4633913"/>
          <p14:tracePt t="26899" x="3840163" y="4652963"/>
          <p14:tracePt t="26916" x="3857625" y="4697413"/>
          <p14:tracePt t="26934" x="3857625" y="4724400"/>
          <p14:tracePt t="26950" x="3857625" y="4732338"/>
          <p14:tracePt t="26968" x="3875088" y="4768850"/>
          <p14:tracePt t="26983" x="3875088" y="4776788"/>
          <p14:tracePt t="27002" x="3875088" y="4786313"/>
          <p14:tracePt t="27017" x="3875088" y="4803775"/>
          <p14:tracePt t="27032" x="3894138" y="4848225"/>
          <p14:tracePt t="27049" x="3894138" y="4867275"/>
          <p14:tracePt t="27066" x="3919538" y="4911725"/>
          <p14:tracePt t="27098" x="3938588" y="4956175"/>
          <p14:tracePt t="27117" x="3965575" y="5010150"/>
          <p14:tracePt t="27132" x="3973513" y="5037138"/>
          <p14:tracePt t="27149" x="3990975" y="5072063"/>
          <p14:tracePt t="27165" x="3990975" y="5089525"/>
          <p14:tracePt t="27184" x="4017963" y="5126038"/>
          <p14:tracePt t="27200" x="4027488" y="5143500"/>
          <p14:tracePt t="27217" x="4037013" y="5153025"/>
          <p14:tracePt t="27220" x="4044950" y="5170488"/>
          <p14:tracePt t="27234" x="4062413" y="5187950"/>
          <p14:tracePt t="27250" x="4071938" y="5197475"/>
          <p14:tracePt t="27266" x="4081463" y="5214938"/>
          <p14:tracePt t="27285" x="4098925" y="5232400"/>
          <p14:tracePt t="27299" x="4108450" y="5251450"/>
          <p14:tracePt t="27315" x="4116388" y="5251450"/>
          <p14:tracePt t="27331" x="4116388" y="5259388"/>
          <p14:tracePt t="27349" x="4133850" y="5268913"/>
          <p14:tracePt t="27366" x="4179888" y="5295900"/>
          <p14:tracePt t="27383" x="4197350" y="5322888"/>
          <p14:tracePt t="27399" x="4259263" y="5357813"/>
          <p14:tracePt t="27416" x="4276725" y="5367338"/>
          <p14:tracePt t="27435" x="4313238" y="5394325"/>
          <p14:tracePt t="27451" x="4330700" y="5411788"/>
          <p14:tracePt t="27465" x="4348163" y="5411788"/>
          <p14:tracePt t="27484" x="4375150" y="5429250"/>
          <p14:tracePt t="27499" x="4402138" y="5438775"/>
          <p14:tracePt t="27516" x="4456113" y="5473700"/>
          <p14:tracePt t="27533" x="4473575" y="5483225"/>
          <p14:tracePt t="27552" x="4500563" y="5510213"/>
          <p14:tracePt t="27565" x="4510088" y="5518150"/>
          <p14:tracePt t="27582" x="4518025" y="5518150"/>
          <p14:tracePt t="27600" x="4518025" y="5527675"/>
          <p14:tracePt t="27616" x="4527550" y="5537200"/>
          <p14:tracePt t="27633" x="4537075" y="5545138"/>
          <p14:tracePt t="27654" x="4562475" y="5581650"/>
          <p14:tracePt t="27665" x="4572000" y="5589588"/>
          <p14:tracePt t="27681" x="4581525" y="5608638"/>
          <p14:tracePt t="27700" x="4589463" y="5608638"/>
          <p14:tracePt t="27716" x="4589463" y="5616575"/>
          <p14:tracePt t="27734" x="4589463" y="5626100"/>
          <p14:tracePt t="27780" x="4589463" y="5634038"/>
          <p14:tracePt t="27854" x="4589463" y="5643563"/>
          <p14:tracePt t="27867" x="4598988" y="5643563"/>
          <p14:tracePt t="27879" x="4598988" y="5653088"/>
          <p14:tracePt t="27905" x="4608513" y="5670550"/>
          <p14:tracePt t="27930" x="4616450" y="5680075"/>
          <p14:tracePt t="29255" x="4598988" y="5680075"/>
          <p14:tracePt t="29267" x="4537075" y="5680075"/>
          <p14:tracePt t="29283" x="4438650" y="5680075"/>
          <p14:tracePt t="29299" x="4322763" y="5680075"/>
          <p14:tracePt t="29319" x="4108450" y="5680075"/>
          <p14:tracePt t="29332" x="4000500" y="5697538"/>
          <p14:tracePt t="29351" x="3867150" y="5705475"/>
          <p14:tracePt t="29366" x="3660775" y="5751513"/>
          <p14:tracePt t="29383" x="3581400" y="5768975"/>
          <p14:tracePt t="29398" x="3482975" y="5786438"/>
          <p14:tracePt t="29415" x="3394075" y="5813425"/>
          <p14:tracePt t="29434" x="3197225" y="5857875"/>
          <p14:tracePt t="29451" x="3116263" y="5884863"/>
          <p14:tracePt t="29466" x="3044825" y="5894388"/>
          <p14:tracePt t="29483" x="2973388" y="5902325"/>
          <p14:tracePt t="29499" x="2847975" y="5911850"/>
          <p14:tracePt t="29516" x="2803525" y="5911850"/>
          <p14:tracePt t="29533" x="2741613" y="5911850"/>
          <p14:tracePt t="29549" x="2714625" y="5919788"/>
          <p14:tracePt t="29566" x="2687638" y="5919788"/>
          <p14:tracePt t="29584" x="2625725" y="5938838"/>
          <p14:tracePt t="29600" x="2562225" y="5946775"/>
          <p14:tracePt t="29615" x="2500313" y="5946775"/>
          <p14:tracePt t="29634" x="2401888" y="5956300"/>
          <p14:tracePt t="29649" x="2374900" y="5956300"/>
          <p14:tracePt t="29667" x="2347913" y="5956300"/>
          <p14:tracePt t="29684" x="2322513" y="5956300"/>
          <p14:tracePt t="29702" x="2259013" y="5946775"/>
          <p14:tracePt t="29716" x="2224088" y="5938838"/>
          <p14:tracePt t="29735" x="2179638" y="5938838"/>
          <p14:tracePt t="29751" x="2116138" y="5929313"/>
          <p14:tracePt t="29766" x="2098675" y="5919788"/>
          <p14:tracePt t="29781" x="2081213" y="5911850"/>
          <p14:tracePt t="29799" x="2071688" y="5911850"/>
          <p14:tracePt t="29816" x="2036763" y="5911850"/>
          <p14:tracePt t="29832" x="2017713" y="5911850"/>
          <p14:tracePt t="29850" x="1973263" y="5911850"/>
          <p14:tracePt t="29865" x="1955800" y="5919788"/>
          <p14:tracePt t="29882" x="1938338" y="5938838"/>
          <p14:tracePt t="29901" x="1911350" y="5946775"/>
          <p14:tracePt t="29917" x="1911350" y="5956300"/>
          <p14:tracePt t="29931" x="1901825" y="5956300"/>
          <p14:tracePt t="29950" x="1893888" y="5956300"/>
          <p14:tracePt t="30070" x="1884363" y="5956300"/>
          <p14:tracePt t="30095" x="1874838" y="5956300"/>
          <p14:tracePt t="30108" x="1857375" y="5965825"/>
          <p14:tracePt t="30120" x="1839913" y="5965825"/>
          <p14:tracePt t="30136" x="1822450" y="5973763"/>
          <p14:tracePt t="30148" x="1803400" y="5983288"/>
          <p14:tracePt t="30164" x="1785938" y="5983288"/>
          <p14:tracePt t="30185" x="1768475" y="5991225"/>
          <p14:tracePt t="30199" x="1751013" y="6000750"/>
          <p14:tracePt t="30216" x="1731963" y="6000750"/>
          <p14:tracePt t="30225" x="1704975" y="6010275"/>
          <p14:tracePt t="30235" x="1687513" y="6027738"/>
          <p14:tracePt t="30252" x="1660525" y="6027738"/>
          <p14:tracePt t="30265" x="1643063" y="6027738"/>
          <p14:tracePt t="30284" x="1616075" y="6027738"/>
          <p14:tracePt t="30301" x="1589088" y="6037263"/>
          <p14:tracePt t="30315" x="1571625" y="6045200"/>
          <p14:tracePt t="30334" x="1527175" y="6045200"/>
          <p14:tracePt t="30351" x="1517650" y="6045200"/>
          <p14:tracePt t="30365" x="1500188" y="6054725"/>
          <p14:tracePt t="30384" x="1473200" y="6054725"/>
          <p14:tracePt t="30401" x="1473200" y="6062663"/>
          <p14:tracePt t="30416" x="1465263" y="6062663"/>
          <p14:tracePt t="30451" x="1455738" y="6072188"/>
          <p14:tracePt t="30467" x="1446213" y="6072188"/>
          <p14:tracePt t="30503" x="1438275" y="6081713"/>
          <p14:tracePt t="30561" x="1446213" y="6081713"/>
          <p14:tracePt t="30576" x="1509713" y="6081713"/>
          <p14:tracePt t="30588" x="1652588" y="6089650"/>
          <p14:tracePt t="30602" x="1847850" y="6089650"/>
          <p14:tracePt t="30617" x="2089150" y="6045200"/>
          <p14:tracePt t="30633" x="2401888" y="5946775"/>
          <p14:tracePt t="30648" x="2724150" y="5840413"/>
          <p14:tracePt t="30668" x="3303588" y="5670550"/>
          <p14:tracePt t="30682" x="3509963" y="5643563"/>
          <p14:tracePt t="30701" x="3714750" y="5634038"/>
          <p14:tracePt t="30718" x="3929063" y="5634038"/>
          <p14:tracePt t="30734" x="4037013" y="5634038"/>
          <p14:tracePt t="30753" x="4224338" y="5634038"/>
          <p14:tracePt t="30767" x="4322763" y="5634038"/>
          <p14:tracePt t="30781" x="4411663" y="5608638"/>
          <p14:tracePt t="30799" x="4500563" y="5599113"/>
          <p14:tracePt t="30814" x="4581525" y="5589588"/>
          <p14:tracePt t="30832" x="4697413" y="5589588"/>
          <p14:tracePt t="30849" x="4724400" y="5589588"/>
          <p14:tracePt t="30867" x="4751388" y="5608638"/>
          <p14:tracePt t="30883" x="4776788" y="5616575"/>
          <p14:tracePt t="30917" x="4786313" y="5626100"/>
          <p14:tracePt t="30950" x="4795838" y="5643563"/>
          <p14:tracePt t="30967" x="4803775" y="5661025"/>
          <p14:tracePt t="30983" x="4813300" y="5670550"/>
          <p14:tracePt t="31000" x="4813300" y="5688013"/>
          <p14:tracePt t="31015" x="4822825" y="5697538"/>
          <p14:tracePt t="31034" x="4822825" y="5724525"/>
          <p14:tracePt t="31050" x="4840288" y="5741988"/>
          <p14:tracePt t="31066" x="4867275" y="5768975"/>
          <p14:tracePt t="31083" x="4938713" y="5848350"/>
          <p14:tracePt t="31100" x="4973638" y="5875338"/>
          <p14:tracePt t="31115" x="5000625" y="5894388"/>
          <p14:tracePt t="31135" x="5010150" y="5902325"/>
          <p14:tracePt t="31150" x="5027613" y="5919788"/>
          <p14:tracePt t="31186" x="5037138" y="5929313"/>
          <p14:tracePt t="31202" x="5045075" y="5929313"/>
          <p14:tracePt t="31217" x="5054600" y="5938838"/>
          <p14:tracePt t="31221" x="5054600" y="5946775"/>
          <p14:tracePt t="31238" x="5072063" y="5946775"/>
          <p14:tracePt t="31250" x="5081588" y="5956300"/>
          <p14:tracePt t="31267" x="5089525" y="5956300"/>
          <p14:tracePt t="31282" x="5089525" y="5965825"/>
          <p14:tracePt t="31303" x="5099050" y="5965825"/>
          <p14:tracePt t="31315" x="5099050" y="5973763"/>
          <p14:tracePt t="31350" x="5108575" y="5973763"/>
          <p14:tracePt t="31366" x="5133975" y="5983288"/>
          <p14:tracePt t="31387" x="5143500" y="5983288"/>
          <p14:tracePt t="31400" x="5153025" y="5991225"/>
          <p14:tracePt t="31420" x="5160963" y="6000750"/>
          <p14:tracePt t="31434" x="5180013" y="6000750"/>
          <p14:tracePt t="31468" x="5214938" y="6018213"/>
          <p14:tracePt t="31484" x="5232400" y="6027738"/>
          <p14:tracePt t="31500" x="5251450" y="6037263"/>
          <p14:tracePt t="31517" x="5295900" y="6045200"/>
          <p14:tracePt t="31533" x="5313363" y="6045200"/>
          <p14:tracePt t="31549" x="5330825" y="6045200"/>
          <p14:tracePt t="31566" x="5348288" y="6045200"/>
          <p14:tracePt t="31583" x="5357813" y="6045200"/>
          <p14:tracePt t="31598" x="5367338" y="6045200"/>
          <p14:tracePt t="31618" x="5402263" y="6054725"/>
          <p14:tracePt t="31633" x="5429250" y="6054725"/>
          <p14:tracePt t="31650" x="5446713" y="6054725"/>
          <p14:tracePt t="31667" x="5456238" y="6054725"/>
          <p14:tracePt t="36119" x="5438775" y="6054725"/>
          <p14:tracePt t="36133" x="5384800" y="6054725"/>
          <p14:tracePt t="36142" x="5295900" y="6045200"/>
          <p14:tracePt t="36155" x="5205413" y="6027738"/>
          <p14:tracePt t="36176" x="5126038" y="6000750"/>
          <p14:tracePt t="36184" x="5054600" y="5983288"/>
          <p14:tracePt t="36199" x="4956175" y="5956300"/>
          <p14:tracePt t="36218" x="4751388" y="5902325"/>
          <p14:tracePt t="36233" x="4633913" y="5884863"/>
          <p14:tracePt t="36249" x="4518025" y="5867400"/>
          <p14:tracePt t="36267" x="4402138" y="5857875"/>
          <p14:tracePt t="36283" x="4187825" y="5830888"/>
          <p14:tracePt t="36299" x="4062413" y="5830888"/>
          <p14:tracePt t="36315" x="3965575" y="5830888"/>
          <p14:tracePt t="36333" x="3751263" y="5822950"/>
          <p14:tracePt t="36350" x="3652838" y="5813425"/>
          <p14:tracePt t="36366" x="3581400" y="5803900"/>
          <p14:tracePt t="36384" x="3500438" y="5795963"/>
          <p14:tracePt t="36400" x="3348038" y="5795963"/>
          <p14:tracePt t="36414" x="3276600" y="5795963"/>
          <p14:tracePt t="36432" x="3205163" y="5795963"/>
          <p14:tracePt t="36453" x="3098800" y="5795963"/>
          <p14:tracePt t="36467" x="3054350" y="5795963"/>
          <p14:tracePt t="36484" x="3009900" y="5795963"/>
          <p14:tracePt t="36501" x="2928938" y="5795963"/>
          <p14:tracePt t="36517" x="2874963" y="5795963"/>
          <p14:tracePt t="36532" x="2822575" y="5795963"/>
          <p14:tracePt t="36549" x="2724150" y="5795963"/>
          <p14:tracePt t="36567" x="2670175" y="5795963"/>
          <p14:tracePt t="36585" x="2625725" y="5795963"/>
          <p14:tracePt t="36599" x="2581275" y="5795963"/>
          <p14:tracePt t="36616" x="2482850" y="5795963"/>
          <p14:tracePt t="36633" x="2428875" y="5803900"/>
          <p14:tracePt t="36648" x="2374900" y="5813425"/>
          <p14:tracePt t="36666" x="2303463" y="5830888"/>
          <p14:tracePt t="36683" x="2276475" y="5830888"/>
          <p14:tracePt t="36700" x="2251075" y="5830888"/>
          <p14:tracePt t="36718" x="2179638" y="5848350"/>
          <p14:tracePt t="36738" x="2160588" y="5857875"/>
          <p14:tracePt t="36750" x="2143125" y="5867400"/>
          <p14:tracePt t="36767" x="2125663" y="5867400"/>
          <p14:tracePt t="36783" x="2108200" y="5875338"/>
          <p14:tracePt t="36819" x="2108200" y="5884863"/>
          <p14:tracePt t="36834" x="2098675" y="5884863"/>
          <p14:tracePt t="36908" x="2089150" y="5884863"/>
          <p14:tracePt t="36923" x="2089150" y="5894388"/>
          <p14:tracePt t="36937" x="2071688" y="5894388"/>
          <p14:tracePt t="36955" x="2062163" y="5894388"/>
          <p14:tracePt t="36978" x="2054225" y="5894388"/>
          <p14:tracePt t="36987" x="2044700" y="5894388"/>
          <p14:tracePt t="37035" x="2036763" y="5894388"/>
          <p14:tracePt t="37135" x="2081213" y="5894388"/>
          <p14:tracePt t="37156" x="2133600" y="5884863"/>
          <p14:tracePt t="37162" x="2197100" y="5875338"/>
          <p14:tracePt t="37184" x="2259013" y="5875338"/>
          <p14:tracePt t="37203" x="2366963" y="5867400"/>
          <p14:tracePt t="37215" x="2455863" y="5867400"/>
          <p14:tracePt t="37236" x="2562225" y="5848350"/>
          <p14:tracePt t="37255" x="2928938" y="5768975"/>
          <p14:tracePt t="37267" x="3089275" y="5751513"/>
          <p14:tracePt t="37281" x="3241675" y="5732463"/>
          <p14:tracePt t="37300" x="3465513" y="5732463"/>
          <p14:tracePt t="37315" x="3571875" y="5751513"/>
          <p14:tracePt t="37334" x="3670300" y="5768975"/>
          <p14:tracePt t="37352" x="3894138" y="5803900"/>
          <p14:tracePt t="37367" x="4010025" y="5813425"/>
          <p14:tracePt t="37384" x="4125913" y="5813425"/>
          <p14:tracePt t="37399" x="4259263" y="5813425"/>
          <p14:tracePt t="37417" x="4465638" y="5813425"/>
          <p14:tracePt t="37434" x="4537075" y="5813425"/>
          <p14:tracePt t="37451" x="4598988" y="5813425"/>
          <p14:tracePt t="37467" x="4679950" y="5813425"/>
          <p14:tracePt t="37483" x="4705350" y="5813425"/>
          <p14:tracePt t="37500" x="4732338" y="5813425"/>
          <p14:tracePt t="37517" x="4776788" y="5813425"/>
          <p14:tracePt t="37534" x="4786313" y="5813425"/>
          <p14:tracePt t="37549" x="4795838" y="5813425"/>
          <p14:tracePt t="37567" x="4803775" y="5813425"/>
          <p14:tracePt t="37827" x="4776788" y="5803900"/>
          <p14:tracePt t="37838" x="4714875" y="5768975"/>
          <p14:tracePt t="37849" x="4660900" y="5732463"/>
          <p14:tracePt t="37866" x="4608513" y="5705475"/>
          <p14:tracePt t="37884" x="4527550" y="5626100"/>
          <p14:tracePt t="37900" x="4446588" y="5554663"/>
          <p14:tracePt t="37916" x="4348163" y="5465763"/>
          <p14:tracePt t="37934" x="4224338" y="5375275"/>
          <p14:tracePt t="37952" x="4000500" y="5251450"/>
          <p14:tracePt t="37967" x="3929063" y="5214938"/>
          <p14:tracePt t="37984" x="3848100" y="5187950"/>
          <p14:tracePt t="37999" x="3795713" y="5170488"/>
          <p14:tracePt t="38015" x="3714750" y="5153025"/>
          <p14:tracePt t="38034" x="3679825" y="5143500"/>
          <p14:tracePt t="38052" x="3625850" y="5133975"/>
          <p14:tracePt t="38067" x="3608388" y="5126038"/>
          <p14:tracePt t="38082" x="3598863" y="5126038"/>
          <p14:tracePt t="38099" x="3581400" y="5126038"/>
          <p14:tracePt t="38117" x="3571875" y="5116513"/>
          <p14:tracePt t="38150" x="3544888" y="5116513"/>
          <p14:tracePt t="38168" x="3536950" y="5116513"/>
          <p14:tracePt t="38182" x="3517900" y="5116513"/>
          <p14:tracePt t="38204" x="3490913" y="5116513"/>
          <p14:tracePt t="38234" x="3482975" y="5116513"/>
          <p14:tracePt t="43062" x="3490913" y="5116513"/>
          <p14:tracePt t="43077" x="3544888" y="5116513"/>
          <p14:tracePt t="43086" x="3608388" y="5116513"/>
          <p14:tracePt t="43100" x="3670300" y="5116513"/>
          <p14:tracePt t="43118" x="3714750" y="5116513"/>
          <p14:tracePt t="43135" x="3768725" y="5133975"/>
          <p14:tracePt t="43149" x="3795713" y="5133975"/>
          <p14:tracePt t="43174" x="3830638" y="5153025"/>
          <p14:tracePt t="43200" x="3867150" y="5160963"/>
          <p14:tracePt t="43216" x="3884613" y="5170488"/>
          <p14:tracePt t="43234" x="3894138" y="5180013"/>
          <p14:tracePt t="43257" x="3911600" y="5197475"/>
          <p14:tracePt t="43268" x="3919538" y="5197475"/>
          <p14:tracePt t="43283" x="3929063" y="5214938"/>
          <p14:tracePt t="43299" x="3946525" y="5241925"/>
          <p14:tracePt t="43318" x="3946525" y="5268913"/>
          <p14:tracePt t="43334" x="3946525" y="5295900"/>
          <p14:tracePt t="43351" x="3946525" y="5322888"/>
          <p14:tracePt t="43367" x="3946525" y="5330825"/>
          <p14:tracePt t="43382" x="3946525" y="5340350"/>
          <p14:tracePt t="43468" x="3938588" y="5322888"/>
          <p14:tracePt t="43482" x="3902075" y="5276850"/>
          <p14:tracePt t="43494" x="3867150" y="5224463"/>
          <p14:tracePt t="43506" x="3848100" y="5197475"/>
          <p14:tracePt t="43521" x="3830638" y="5153025"/>
          <p14:tracePt t="43533" x="3813175" y="5126038"/>
          <p14:tracePt t="43550" x="3803650" y="5108575"/>
          <p14:tracePt t="43566" x="3786188" y="5072063"/>
          <p14:tracePt t="43582" x="3786188" y="5062538"/>
          <p14:tracePt t="43618" x="3776663" y="5054600"/>
          <p14:tracePt t="44445" x="3776663" y="5045075"/>
          <p14:tracePt t="44495" x="3786188" y="5037138"/>
          <p14:tracePt t="44509" x="3795713" y="5027613"/>
          <p14:tracePt t="44523" x="3803650" y="5027613"/>
          <p14:tracePt t="44561" x="3813175" y="5027613"/>
          <p14:tracePt t="44715" x="3786188" y="5027613"/>
          <p14:tracePt t="44724" x="3751263" y="5027613"/>
          <p14:tracePt t="44739" x="3714750" y="5027613"/>
          <p14:tracePt t="44750" x="3679825" y="5027613"/>
          <p14:tracePt t="44768" x="3652838" y="5027613"/>
          <p14:tracePt t="44783" x="3625850" y="5027613"/>
          <p14:tracePt t="44800" x="3598863" y="5027613"/>
          <p14:tracePt t="44816" x="3581400" y="5027613"/>
          <p14:tracePt t="44833" x="3571875" y="5027613"/>
          <p14:tracePt t="44868" x="3554413" y="5027613"/>
          <p14:tracePt t="44884" x="3544888" y="5027613"/>
          <p14:tracePt t="44899" x="3536950" y="5027613"/>
          <p14:tracePt t="44918" x="3527425" y="5027613"/>
          <p14:tracePt t="44945" x="3517900" y="5027613"/>
          <p14:tracePt t="45003" x="3509963" y="5027613"/>
          <p14:tracePt t="46097" x="3509963" y="5018088"/>
          <p14:tracePt t="46929" x="3517900" y="5018088"/>
          <p14:tracePt t="46938" x="3544888" y="5018088"/>
          <p14:tracePt t="46958" x="3616325" y="5018088"/>
          <p14:tracePt t="46966" x="3795713" y="5018088"/>
          <p14:tracePt t="46982" x="3990975" y="5018088"/>
          <p14:tracePt t="47001" x="4340225" y="5000625"/>
          <p14:tracePt t="47018" x="5446713" y="4983163"/>
          <p14:tracePt t="47036" x="6037263" y="5000625"/>
          <p14:tracePt t="47051" x="6545263" y="5054600"/>
          <p14:tracePt t="47067" x="7197725" y="5205413"/>
          <p14:tracePt t="47084" x="7348538" y="5251450"/>
          <p14:tracePt t="47099" x="7419975" y="5268913"/>
          <p14:tracePt t="47269" x="7429500" y="5268913"/>
          <p14:tracePt t="47285" x="7466013" y="5259388"/>
          <p14:tracePt t="47296" x="7680325" y="5197475"/>
          <p14:tracePt t="47308" x="7912100" y="5170488"/>
          <p14:tracePt t="47320" x="8134350" y="5153025"/>
          <p14:tracePt t="47336" x="8375650" y="5153025"/>
          <p14:tracePt t="47351" x="8572500" y="5153025"/>
          <p14:tracePt t="47365" x="8759825" y="5187950"/>
          <p14:tracePt t="47384" x="8947150" y="5259388"/>
          <p14:tracePt t="47399" x="9010650" y="5303838"/>
          <p14:tracePt t="47417" x="9037638" y="5313363"/>
          <p14:tracePt t="47434" x="9063038" y="5330825"/>
          <p14:tracePt t="47449" x="9072563" y="5340350"/>
          <p14:tracePt t="47488" x="9072563" y="5348288"/>
          <p14:tracePt t="50129" x="9063038" y="5357813"/>
          <p14:tracePt t="50145" x="9055100" y="5357813"/>
          <p14:tracePt t="50157" x="9045575" y="5357813"/>
          <p14:tracePt t="50172" x="9037638" y="5357813"/>
          <p14:tracePt t="50207" x="9028113" y="5357813"/>
          <p14:tracePt t="50274" x="9018588" y="5357813"/>
          <p14:tracePt t="50319" x="9010650" y="5357813"/>
          <p14:tracePt t="50331" x="9001125" y="5357813"/>
          <p14:tracePt t="50345" x="8991600" y="5357813"/>
          <p14:tracePt t="50357" x="8939213" y="5357813"/>
          <p14:tracePt t="50370" x="8867775" y="5357813"/>
          <p14:tracePt t="50385" x="8796338" y="5357813"/>
          <p14:tracePt t="50400" x="8732838" y="5384800"/>
          <p14:tracePt t="50416" x="8670925" y="5419725"/>
          <p14:tracePt t="50435" x="8609013" y="5473700"/>
          <p14:tracePt t="50450" x="8474075" y="5589588"/>
          <p14:tracePt t="50468" x="8420100" y="5626100"/>
          <p14:tracePt t="50482" x="8367713" y="5680075"/>
          <p14:tracePt t="50501" x="8286750" y="5705475"/>
          <p14:tracePt t="50518" x="8251825" y="5724525"/>
          <p14:tracePt t="50533" x="8232775" y="5724525"/>
          <p14:tracePt t="50549" x="8205788" y="5732463"/>
          <p14:tracePt t="50567" x="8197850" y="5732463"/>
          <p14:tracePt t="50583" x="8188325" y="5732463"/>
          <p14:tracePt t="50629" x="8180388" y="5732463"/>
          <p14:tracePt t="50708" x="8180388" y="5741988"/>
          <p14:tracePt t="50817" x="8188325" y="5705475"/>
          <p14:tracePt t="50830" x="8304213" y="5554663"/>
          <p14:tracePt t="50841" x="8439150" y="5402263"/>
          <p14:tracePt t="50858" x="8562975" y="5295900"/>
          <p14:tracePt t="50870" x="8688388" y="5214938"/>
          <p14:tracePt t="50886" x="8804275" y="5153025"/>
          <p14:tracePt t="50900" x="8902700" y="5108575"/>
          <p14:tracePt t="50917" x="8991600" y="5054600"/>
          <p14:tracePt t="50933" x="9188450" y="4965700"/>
          <p14:tracePt t="50950" x="9277350" y="4919663"/>
          <p14:tracePt t="50969" x="9456738" y="4840288"/>
          <p14:tracePt t="50984" x="9545638" y="4803775"/>
          <p14:tracePt t="50999" x="9609138" y="4759325"/>
          <p14:tracePt t="51017" x="9671050" y="4714875"/>
          <p14:tracePt t="51034" x="9786938" y="4633913"/>
          <p14:tracePt t="51049" x="9848850" y="4608513"/>
          <p14:tracePt t="51066" x="9902825" y="4581525"/>
          <p14:tracePt t="51084" x="10010775" y="4537075"/>
          <p14:tracePt t="51101" x="10072688" y="4527550"/>
          <p14:tracePt t="51117" x="10126663" y="4518025"/>
          <p14:tracePt t="51136" x="10242550" y="4518025"/>
          <p14:tracePt t="51149" x="10287000" y="4518025"/>
          <p14:tracePt t="51166" x="10340975" y="4562475"/>
          <p14:tracePt t="51184" x="10412413" y="4660900"/>
          <p14:tracePt t="51199" x="10590213" y="5027613"/>
          <p14:tracePt t="51216" x="10671175" y="5232400"/>
          <p14:tracePt t="51235" x="10698163" y="5340350"/>
          <p14:tracePt t="51240" x="10715625" y="5429250"/>
          <p14:tracePt t="51253" x="10733088" y="5500688"/>
          <p14:tracePt t="51268" x="10733088" y="5554663"/>
          <p14:tracePt t="51285" x="10733088" y="5589588"/>
          <p14:tracePt t="51300" x="10733088" y="5599113"/>
          <p14:tracePt t="51318" x="10733088" y="5616575"/>
          <p14:tracePt t="51334" x="10733088" y="5626100"/>
          <p14:tracePt t="51350" x="10742613" y="5634038"/>
          <p14:tracePt t="51384" x="10742613" y="5643563"/>
          <p14:tracePt t="51430" x="10706100" y="5643563"/>
          <p14:tracePt t="51441" x="10634663" y="5643563"/>
          <p14:tracePt t="51456" x="10510838" y="5608638"/>
          <p14:tracePt t="51471" x="10385425" y="5572125"/>
          <p14:tracePt t="51483" x="10225088" y="5518150"/>
          <p14:tracePt t="51501" x="10037763" y="5465763"/>
          <p14:tracePt t="51519" x="9725025" y="5394325"/>
          <p14:tracePt t="51535" x="9617075" y="5375275"/>
          <p14:tracePt t="51554" x="9483725" y="5357813"/>
          <p14:tracePt t="51567" x="9447213" y="5357813"/>
          <p14:tracePt t="51583" x="9429750" y="5348288"/>
          <p14:tracePt t="51600" x="9412288" y="5348288"/>
          <p14:tracePt t="51616" x="9402763" y="5348288"/>
          <p14:tracePt t="51634" x="9358313" y="5394325"/>
          <p14:tracePt t="51650" x="9313863" y="5465763"/>
          <p14:tracePt t="51667" x="9269413" y="5527675"/>
          <p14:tracePt t="51683" x="9197975" y="5608638"/>
          <p14:tracePt t="51700" x="9180513" y="5634038"/>
          <p14:tracePt t="51716" x="9161463" y="5643563"/>
          <p14:tracePt t="51734" x="9153525" y="5653088"/>
          <p14:tracePt t="51750" x="9153525" y="5661025"/>
          <p14:tracePt t="51773" x="9144000" y="5661025"/>
          <p14:tracePt t="53741" x="9134475" y="5661025"/>
          <p14:tracePt t="53808" x="9109075" y="5661025"/>
          <p14:tracePt t="53818" x="9001125" y="5661025"/>
          <p14:tracePt t="53835" x="8796338" y="5670550"/>
          <p14:tracePt t="53849" x="8572500" y="5688013"/>
          <p14:tracePt t="53868" x="8215313" y="5705475"/>
          <p14:tracePt t="53884" x="8108950" y="5715000"/>
          <p14:tracePt t="53899" x="8045450" y="5715000"/>
          <p14:tracePt t="53918" x="7991475" y="5724525"/>
          <p14:tracePt t="53934" x="7983538" y="5724525"/>
          <p14:tracePt t="53950" x="7966075" y="5724525"/>
          <p14:tracePt t="53984" x="7974013" y="5724525"/>
          <p14:tracePt t="54000" x="8045450" y="5732463"/>
          <p14:tracePt t="54019" x="8126413" y="5751513"/>
          <p14:tracePt t="54034" x="8242300" y="5848350"/>
          <p14:tracePt t="54049" x="8251825" y="5965825"/>
          <p14:tracePt t="54068" x="8251825" y="6089650"/>
          <p14:tracePt t="54084" x="8232775" y="6188075"/>
          <p14:tracePt t="54100" x="8134350" y="6330950"/>
          <p14:tracePt t="54116" x="8099425" y="6375400"/>
          <p14:tracePt t="54136" x="7991475" y="6419850"/>
          <p14:tracePt t="54151" x="7947025" y="6419850"/>
          <p14:tracePt t="54167" x="7912100" y="6429375"/>
          <p14:tracePt t="54182" x="7885113" y="6429375"/>
          <p14:tracePt t="54201" x="7813675" y="6394450"/>
          <p14:tracePt t="54216" x="7786688" y="6357938"/>
          <p14:tracePt t="54236" x="7751763" y="6303963"/>
          <p14:tracePt t="54260" x="7742238" y="6296025"/>
          <p14:tracePt t="54276" x="7732713" y="6296025"/>
          <p14:tracePt t="54286" x="7732713" y="6286500"/>
          <p14:tracePt t="54352" x="7724775" y="6286500"/>
          <p14:tracePt t="54366" x="7724775" y="6276975"/>
          <p14:tracePt t="54379" x="7697788" y="6269038"/>
          <p14:tracePt t="54392" x="7634288" y="6242050"/>
          <p14:tracePt t="54403" x="7537450" y="6224588"/>
          <p14:tracePt t="54420" x="7456488" y="6205538"/>
          <p14:tracePt t="54435" x="7367588" y="6197600"/>
          <p14:tracePt t="54451" x="7224713" y="6188075"/>
          <p14:tracePt t="54467" x="7153275" y="6188075"/>
          <p14:tracePt t="54483" x="7116763" y="6188075"/>
          <p14:tracePt t="54499" x="7072313" y="6188075"/>
          <p14:tracePt t="54519" x="7037388" y="6197600"/>
          <p14:tracePt t="54535" x="7027863" y="6197600"/>
          <p14:tracePt t="54551" x="7018338" y="6197600"/>
          <p14:tracePt t="54595" x="7010400" y="6197600"/>
          <p14:tracePt t="54676" x="7143750" y="6134100"/>
          <p14:tracePt t="54684" x="7394575" y="6037263"/>
          <p14:tracePt t="54700" x="7661275" y="5929313"/>
          <p14:tracePt t="54716" x="7966075" y="5822950"/>
          <p14:tracePt t="54736" x="8545513" y="5634038"/>
          <p14:tracePt t="54751" x="8813800" y="5562600"/>
          <p14:tracePt t="54770" x="9251950" y="5438775"/>
          <p14:tracePt t="54784" x="9501188" y="5348288"/>
          <p14:tracePt t="54800" x="9705975" y="5251450"/>
          <p14:tracePt t="54816" x="9831388" y="5180013"/>
          <p14:tracePt t="54835" x="9983788" y="4983163"/>
          <p14:tracePt t="54850" x="10037763" y="4875213"/>
          <p14:tracePt t="54868" x="10063163" y="4786313"/>
          <p14:tracePt t="54885" x="10090150" y="4643438"/>
          <p14:tracePt t="54901" x="10099675" y="4598988"/>
          <p14:tracePt t="54917" x="10099675" y="4572000"/>
          <p14:tracePt t="54934" x="10109200" y="4554538"/>
          <p14:tracePt t="54951" x="10117138" y="4537075"/>
          <p14:tracePt t="54967" x="10134600" y="4537075"/>
          <p14:tracePt t="54983" x="10171113" y="4537075"/>
          <p14:tracePt t="55001" x="10313988" y="4616450"/>
          <p14:tracePt t="55017" x="10385425" y="4679950"/>
          <p14:tracePt t="55038" x="10491788" y="4894263"/>
          <p14:tracePt t="55049" x="10528300" y="4991100"/>
          <p14:tracePt t="55067" x="10582275" y="5089525"/>
          <p14:tracePt t="55083" x="10609263" y="5180013"/>
          <p14:tracePt t="55101" x="10661650" y="5286375"/>
          <p14:tracePt t="55117" x="10680700" y="5322888"/>
          <p14:tracePt t="55134" x="10688638" y="5348288"/>
          <p14:tracePt t="55150" x="10688638" y="5375275"/>
          <p14:tracePt t="55167" x="10688638" y="5394325"/>
          <p14:tracePt t="55200" x="10688638" y="5402263"/>
          <p14:tracePt t="55283" x="10688638" y="5411788"/>
          <p14:tracePt t="55334" x="10609263" y="5411788"/>
          <p14:tracePt t="55347" x="10420350" y="5411788"/>
          <p14:tracePt t="55362" x="10225088" y="5394325"/>
          <p14:tracePt t="55368" x="10037763" y="5367338"/>
          <p14:tracePt t="55383" x="9885363" y="5357813"/>
          <p14:tracePt t="55400" x="9732963" y="5348288"/>
          <p14:tracePt t="55418" x="9429750" y="5295900"/>
          <p14:tracePt t="55434" x="9304338" y="5268913"/>
          <p14:tracePt t="55450" x="9215438" y="5259388"/>
          <p14:tracePt t="55467" x="9144000" y="5251450"/>
          <p14:tracePt t="55488" x="9063038" y="5251450"/>
          <p14:tracePt t="55499" x="9055100" y="5251450"/>
          <p14:tracePt t="55519" x="9037638" y="5251450"/>
          <p14:tracePt t="55551" x="9028113" y="5251450"/>
          <p14:tracePt t="55728" x="9028113" y="5268913"/>
          <p14:tracePt t="55741" x="9028113" y="5286375"/>
          <p14:tracePt t="55753" x="9028113" y="5303838"/>
          <p14:tracePt t="55768" x="9037638" y="5313363"/>
          <p14:tracePt t="55786" x="9037638" y="5330825"/>
          <p14:tracePt t="55799" x="9055100" y="5340350"/>
          <p14:tracePt t="55817" x="9072563" y="5348288"/>
          <p14:tracePt t="55833" x="9082088" y="5348288"/>
          <p14:tracePt t="55850" x="9109075" y="5348288"/>
          <p14:tracePt t="55883" x="9117013" y="5348288"/>
          <p14:tracePt t="56350" x="9109075" y="5348288"/>
          <p14:tracePt t="56363" x="8929688" y="5348288"/>
          <p14:tracePt t="56379" x="8616950" y="5348288"/>
          <p14:tracePt t="56391" x="8251825" y="5348288"/>
          <p14:tracePt t="56400" x="7840663" y="5348288"/>
          <p14:tracePt t="56416" x="7446963" y="5367338"/>
          <p14:tracePt t="56436" x="6742113" y="5491163"/>
          <p14:tracePt t="56451" x="6518275" y="5562600"/>
          <p14:tracePt t="56467" x="6384925" y="5616575"/>
          <p14:tracePt t="56483" x="6303963" y="5661025"/>
          <p14:tracePt t="56501" x="6242050" y="5688013"/>
          <p14:tracePt t="56694" x="6224588" y="5688013"/>
          <p14:tracePt t="56706" x="6153150" y="5688013"/>
          <p14:tracePt t="56720" x="5884863" y="5688013"/>
          <p14:tracePt t="56738" x="5473700" y="5688013"/>
          <p14:tracePt t="56752" x="5089525" y="5688013"/>
          <p14:tracePt t="56768" x="4724400" y="5688013"/>
          <p14:tracePt t="56784" x="4214813" y="5643563"/>
          <p14:tracePt t="56801" x="4071938" y="5608638"/>
          <p14:tracePt t="56817" x="3919538" y="5554663"/>
          <p14:tracePt t="56834" x="3884613" y="5537200"/>
          <p14:tracePt t="56850" x="3867150" y="5527675"/>
          <p14:tracePt t="56866" x="3840163" y="5518150"/>
          <p14:tracePt t="56886" x="3813175" y="5510213"/>
          <p14:tracePt t="56900" x="3803650" y="5500688"/>
          <p14:tracePt t="56918" x="3795713" y="5500688"/>
          <p14:tracePt t="56935" x="3786188" y="5491163"/>
          <p14:tracePt t="56966" x="3776663" y="5491163"/>
          <p14:tracePt t="56986" x="3759200" y="5491163"/>
          <p14:tracePt t="57001" x="3751263" y="5491163"/>
          <p14:tracePt t="57017" x="3732213" y="5483225"/>
          <p14:tracePt t="57034" x="3714750" y="5483225"/>
          <p14:tracePt t="57101" x="3714750" y="5473700"/>
          <p14:tracePt t="58471" x="3714750" y="5465763"/>
          <p14:tracePt t="59030" x="3732213" y="5465763"/>
          <p14:tracePt t="59042" x="3875088" y="5446713"/>
          <p14:tracePt t="59056" x="4187825" y="5402263"/>
          <p14:tracePt t="59071" x="4589463" y="5303838"/>
          <p14:tracePt t="59083" x="5018088" y="5214938"/>
          <p14:tracePt t="59101" x="5446713" y="5143500"/>
          <p14:tracePt t="59115" x="5822950" y="5099050"/>
          <p14:tracePt t="59135" x="6340475" y="5072063"/>
          <p14:tracePt t="59150" x="6446838" y="5072063"/>
          <p14:tracePt t="59167" x="6527800" y="5072063"/>
          <p14:tracePt t="59185" x="6589713" y="5072063"/>
          <p14:tracePt t="59200" x="6599238" y="5072063"/>
          <p14:tracePt t="59237" x="6608763" y="5072063"/>
          <p14:tracePt t="59430" x="6626225" y="5054600"/>
          <p14:tracePt t="59440" x="6751638" y="5018088"/>
          <p14:tracePt t="59453" x="6983413" y="4991100"/>
          <p14:tracePt t="59468" x="7153275" y="4938713"/>
          <p14:tracePt t="59483" x="7313613" y="4919663"/>
          <p14:tracePt t="59501" x="7456488" y="4902200"/>
          <p14:tracePt t="59520" x="7483475" y="4902200"/>
          <p14:tracePt t="59535" x="7500938" y="4894263"/>
          <p14:tracePt t="59553" x="7510463" y="4894263"/>
          <p14:tracePt t="59584" x="7367588" y="4929188"/>
          <p14:tracePt t="59601" x="7143750" y="5000625"/>
          <p14:tracePt t="59618" x="6742113" y="5143500"/>
          <p14:tracePt t="59634" x="6545263" y="5214938"/>
          <p14:tracePt t="59650" x="6438900" y="5259388"/>
          <p14:tracePt t="59666" x="6296025" y="5303838"/>
          <p14:tracePt t="59683" x="6269038" y="5322888"/>
          <p14:tracePt t="59699" x="6251575" y="5330825"/>
          <p14:tracePt t="59719" x="6242050" y="5330825"/>
          <p14:tracePt t="59734" x="6232525" y="5330825"/>
          <p14:tracePt t="59749" x="6215063" y="5330825"/>
          <p14:tracePt t="59771" x="6108700" y="5330825"/>
          <p14:tracePt t="59784" x="6045200" y="5330825"/>
          <p14:tracePt t="59800" x="5983288" y="5330825"/>
          <p14:tracePt t="59816" x="5919788" y="5330825"/>
          <p14:tracePt t="59835" x="5840413" y="5322888"/>
          <p14:tracePt t="59850" x="5803900" y="5303838"/>
          <p14:tracePt t="59868" x="5759450" y="5286375"/>
          <p14:tracePt t="59884" x="5741988" y="5286375"/>
          <p14:tracePt t="59900" x="5732463" y="5286375"/>
          <p14:tracePt t="59917" x="5724525" y="5286375"/>
          <p14:tracePt t="59950" x="5715000" y="5286375"/>
          <p14:tracePt t="60010" x="5705475" y="5286375"/>
          <p14:tracePt t="60024" x="5697538" y="5286375"/>
          <p14:tracePt t="60042" x="5680075" y="5286375"/>
          <p14:tracePt t="60052" x="5661025" y="5286375"/>
          <p14:tracePt t="60067" x="5643563" y="5286375"/>
          <p14:tracePt t="60083" x="5626100" y="5286375"/>
          <p14:tracePt t="60103" x="5616575" y="5286375"/>
          <p14:tracePt t="60117" x="5608638" y="5286375"/>
          <p14:tracePt t="60138" x="5599113" y="5286375"/>
          <p14:tracePt t="60218" x="5608638" y="5286375"/>
          <p14:tracePt t="60230" x="5643563" y="5286375"/>
          <p14:tracePt t="60241" x="5759450" y="5276850"/>
          <p14:tracePt t="60253" x="5965825" y="5259388"/>
          <p14:tracePt t="60267" x="6161088" y="5251450"/>
          <p14:tracePt t="60283" x="6384925" y="5232400"/>
          <p14:tracePt t="60302" x="6804025" y="5232400"/>
          <p14:tracePt t="60317" x="7045325" y="5232400"/>
          <p14:tracePt t="60334" x="7188200" y="5232400"/>
          <p14:tracePt t="60350" x="7323138" y="5232400"/>
          <p14:tracePt t="60368" x="7527925" y="5276850"/>
          <p14:tracePt t="60383" x="7599363" y="5286375"/>
          <p14:tracePt t="60400" x="7653338" y="5303838"/>
          <p14:tracePt t="60416" x="7688263" y="5313363"/>
          <p14:tracePt t="60433" x="7724775" y="5322888"/>
          <p14:tracePt t="60472" x="7724775" y="5303838"/>
          <p14:tracePt t="60487" x="7643813" y="5170488"/>
          <p14:tracePt t="60499" x="7518400" y="5000625"/>
          <p14:tracePt t="60519" x="7304088" y="4679950"/>
          <p14:tracePt t="60534" x="7224713" y="4537075"/>
          <p14:tracePt t="60550" x="7134225" y="4411663"/>
          <p14:tracePt t="60569" x="6991350" y="4197350"/>
          <p14:tracePt t="60583" x="6929438" y="4125913"/>
          <p14:tracePt t="60600" x="6902450" y="4089400"/>
          <p14:tracePt t="60616" x="6875463" y="4054475"/>
          <p14:tracePt t="60635" x="6858000" y="4027488"/>
          <p14:tracePt t="60650" x="6858000" y="4010025"/>
          <p14:tracePt t="60839" x="6848475" y="4010025"/>
          <p14:tracePt t="60863" x="6831013" y="4000500"/>
          <p14:tracePt t="60881" x="6759575" y="3956050"/>
          <p14:tracePt t="60889" x="6670675" y="3902075"/>
          <p14:tracePt t="60902" x="6608763" y="3867150"/>
          <p14:tracePt t="60918" x="6562725" y="3830638"/>
          <p14:tracePt t="60935" x="6537325" y="3803650"/>
          <p14:tracePt t="60950" x="6518275" y="3795713"/>
          <p14:tracePt t="60968" x="6500813" y="3786188"/>
          <p14:tracePt t="60999" x="6491288" y="3786188"/>
          <p14:tracePt t="61020" x="6456363" y="3786188"/>
          <p14:tracePt t="61035" x="6438900" y="3786188"/>
          <p14:tracePt t="61052" x="6429375" y="3786188"/>
          <p14:tracePt t="61069" x="6411913" y="3786188"/>
          <p14:tracePt t="61083" x="6402388" y="3786188"/>
          <p14:tracePt t="61117" x="6394450" y="3795713"/>
          <p14:tracePt t="61136" x="6394450" y="3840163"/>
          <p14:tracePt t="61151" x="6384925" y="3919538"/>
          <p14:tracePt t="61168" x="6384925" y="4089400"/>
          <p14:tracePt t="61183" x="6384925" y="4143375"/>
          <p14:tracePt t="61200" x="6384925" y="4187825"/>
          <p14:tracePt t="61217" x="6394450" y="4205288"/>
          <p14:tracePt t="61234" x="6402388" y="4232275"/>
          <p14:tracePt t="61273" x="6411913" y="4241800"/>
          <p14:tracePt t="61319" x="6419850" y="4241800"/>
          <p14:tracePt t="61330" x="6429375" y="4241800"/>
          <p14:tracePt t="61343" x="6438900" y="4241800"/>
          <p14:tracePt t="61358" x="6456363" y="4259263"/>
          <p14:tracePt t="61370" x="6491288" y="4268788"/>
          <p14:tracePt t="61386" x="6537325" y="4295775"/>
          <p14:tracePt t="61401" x="6581775" y="4303713"/>
          <p14:tracePt t="61416" x="6626225" y="4322763"/>
          <p14:tracePt t="61435" x="6680200" y="4357688"/>
          <p14:tracePt t="61450" x="6697663" y="4367213"/>
          <p14:tracePt t="61468" x="6724650" y="4384675"/>
          <p14:tracePt t="61484" x="6732588" y="4394200"/>
          <p14:tracePt t="61500" x="6769100" y="4438650"/>
          <p14:tracePt t="61519" x="6786563" y="4473575"/>
          <p14:tracePt t="61534" x="6831013" y="4545013"/>
          <p14:tracePt t="61551" x="6848475" y="4572000"/>
          <p14:tracePt t="61567" x="6867525" y="4598988"/>
          <p14:tracePt t="61585" x="6894513" y="4643438"/>
          <p14:tracePt t="61601" x="6902450" y="4652963"/>
          <p14:tracePt t="61617" x="6911975" y="4679950"/>
          <p14:tracePt t="61634" x="6919913" y="4687888"/>
          <p14:tracePt t="61650" x="6929438" y="4697413"/>
          <p14:tracePt t="61684" x="6929438" y="4705350"/>
          <p14:tracePt t="61780" x="6938963" y="4705350"/>
          <p14:tracePt t="61804" x="6938963" y="4714875"/>
          <p14:tracePt t="61818" x="6946900" y="4714875"/>
        </p14:tracePtLst>
      </p14:laserTraceLst>
    </p:ext>
  </p:extLs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HDI can be disconnected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19175"/>
          </a:xfrm>
        </p:spPr>
        <p:txBody>
          <a:bodyPr/>
          <a:lstStyle/>
          <a:p>
            <a:r>
              <a:rPr lang="en-US"/>
              <a:t>An interval of largest values that contains 95% of the probability</a:t>
            </a:r>
            <a:endParaRPr lang="en-GB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442784" y="2430371"/>
          <a:ext cx="4962020" cy="583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58920" imgH="253800" progId="Equation.DSMT4">
                  <p:embed/>
                </p:oleObj>
              </mc:Choice>
              <mc:Fallback>
                <p:oleObj name="Equation" r:id="rId2" imgW="2158920" imgH="25380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42784" y="2430371"/>
                        <a:ext cx="4962020" cy="5837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4376776" y="3083681"/>
          <a:ext cx="3094037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46040" imgH="444240" progId="Equation.DSMT4">
                  <p:embed/>
                </p:oleObj>
              </mc:Choice>
              <mc:Fallback>
                <p:oleObj name="Equation" r:id="rId4" imgW="1346040" imgH="44424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76776" y="3083681"/>
                        <a:ext cx="3094037" cy="1022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40336" y="4379702"/>
            <a:ext cx="5388418" cy="229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12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019"/>
    </mc:Choice>
    <mc:Fallback xmlns="">
      <p:transition spd="slow" advTm="11019"/>
    </mc:Fallback>
  </mc:AlternateContent>
  <p:extLst>
    <p:ext uri="{3A86A75C-4F4B-4683-9AE1-C65F6400EC91}">
      <p14:laserTraceLst xmlns:p14="http://schemas.microsoft.com/office/powerpoint/2010/main">
        <p14:tracePtLst>
          <p14:tracePt t="1700" x="6867525" y="4679950"/>
          <p14:tracePt t="1716" x="6599238" y="4500563"/>
          <p14:tracePt t="1729" x="6323013" y="4259263"/>
          <p14:tracePt t="1743" x="6062663" y="4000500"/>
          <p14:tracePt t="1756" x="5848350" y="3751263"/>
          <p14:tracePt t="1773" x="5661025" y="3527425"/>
          <p14:tracePt t="1788" x="5527675" y="3322638"/>
          <p14:tracePt t="1804" x="5429250" y="3179763"/>
          <p14:tracePt t="1821" x="5322888" y="2911475"/>
          <p14:tracePt t="1839" x="5295900" y="2741613"/>
          <p14:tracePt t="1855" x="5295900" y="2679700"/>
          <p14:tracePt t="1871" x="5295900" y="2643188"/>
          <p14:tracePt t="1888" x="5295900" y="2616200"/>
          <p14:tracePt t="1906" x="5330825" y="2571750"/>
          <p14:tracePt t="1922" x="5340350" y="2554288"/>
          <p14:tracePt t="1937" x="5367338" y="2536825"/>
          <p14:tracePt t="1957" x="5384800" y="2500313"/>
          <p14:tracePt t="1971" x="5384800" y="2490788"/>
          <p14:tracePt t="1989" x="5394325" y="2473325"/>
          <p14:tracePt t="2004" x="5394325" y="2455863"/>
          <p14:tracePt t="2022" x="5394325" y="2428875"/>
          <p14:tracePt t="2038" x="5367338" y="2401888"/>
          <p14:tracePt t="2053" x="5276850" y="2366963"/>
          <p14:tracePt t="2071" x="5081588" y="2303463"/>
          <p14:tracePt t="2086" x="5010150" y="2295525"/>
          <p14:tracePt t="2104" x="4946650" y="2276475"/>
          <p14:tracePt t="2120" x="4894263" y="2276475"/>
          <p14:tracePt t="2138" x="4875213" y="2276475"/>
          <p14:tracePt t="2156" x="4857750" y="2276475"/>
          <p14:tracePt t="2170" x="4840288" y="2276475"/>
          <p14:tracePt t="2189" x="4795838" y="2276475"/>
          <p14:tracePt t="2206" x="4776788" y="2276475"/>
          <p14:tracePt t="2221" x="4759325" y="2276475"/>
          <p14:tracePt t="2239" x="4751388" y="2276475"/>
          <p14:tracePt t="2440" x="4741863" y="2276475"/>
          <p14:tracePt t="2455" x="4714875" y="2276475"/>
          <p14:tracePt t="2467" x="4633913" y="2276475"/>
          <p14:tracePt t="2480" x="4473575" y="2366963"/>
          <p14:tracePt t="2492" x="4303713" y="2536825"/>
          <p14:tracePt t="2507" x="4170363" y="2732088"/>
          <p14:tracePt t="2520" x="4089400" y="2928938"/>
          <p14:tracePt t="2538" x="4044950" y="3187700"/>
          <p14:tracePt t="2556" x="4054475" y="3813175"/>
          <p14:tracePt t="2570" x="4170363" y="4170363"/>
          <p14:tracePt t="2586" x="4295775" y="4500563"/>
          <p14:tracePt t="2605" x="4616450" y="5000625"/>
          <p14:tracePt t="2620" x="4697413" y="5108575"/>
          <p14:tracePt t="2636" x="4768850" y="5160963"/>
          <p14:tracePt t="2657" x="4813300" y="5160963"/>
          <p14:tracePt t="2820" x="4830763" y="5160963"/>
          <p14:tracePt t="2832" x="4919663" y="5160963"/>
          <p14:tracePt t="2848" x="5089525" y="5187950"/>
          <p14:tracePt t="2866" x="5286375" y="5259388"/>
          <p14:tracePt t="2873" x="5473700" y="5348288"/>
          <p14:tracePt t="2887" x="5626100" y="5483225"/>
          <p14:tracePt t="2905" x="5715000" y="5554663"/>
          <p14:tracePt t="2920" x="5786438" y="5634038"/>
          <p14:tracePt t="2939" x="5840413" y="5724525"/>
          <p14:tracePt t="2954" x="5840413" y="5751513"/>
          <p14:tracePt t="2971" x="5840413" y="5776913"/>
          <p14:tracePt t="2990" x="5768975" y="5875338"/>
          <p14:tracePt t="3005" x="5680075" y="5938838"/>
          <p14:tracePt t="3022" x="5483225" y="6027738"/>
          <p14:tracePt t="3038" x="5384800" y="6045200"/>
          <p14:tracePt t="3054" x="5303838" y="6062663"/>
          <p14:tracePt t="3070" x="5214938" y="6072188"/>
          <p14:tracePt t="3089" x="5018088" y="6134100"/>
          <p14:tracePt t="3105" x="4919663" y="6161088"/>
          <p14:tracePt t="3121" x="4840288" y="6188075"/>
          <p14:tracePt t="3140" x="4751388" y="6224588"/>
          <p14:tracePt t="3155" x="4724400" y="6232525"/>
          <p14:tracePt t="3171" x="4714875" y="6242050"/>
          <p14:tracePt t="3189" x="4705350" y="6242050"/>
          <p14:tracePt t="3206" x="4697413" y="6242050"/>
          <p14:tracePt t="3237" x="4679950" y="6242050"/>
          <p14:tracePt t="3256" x="4660900" y="6224588"/>
          <p14:tracePt t="3272" x="4643438" y="6197600"/>
          <p14:tracePt t="3290" x="4625975" y="6143625"/>
          <p14:tracePt t="3321" x="4616450" y="6000750"/>
          <p14:tracePt t="3337" x="4616450" y="5919788"/>
          <p14:tracePt t="3354" x="4625975" y="5759450"/>
          <p14:tracePt t="3371" x="4633913" y="5724525"/>
          <p14:tracePt t="3389" x="4633913" y="5688013"/>
          <p14:tracePt t="3405" x="4643438" y="5680075"/>
          <p14:tracePt t="3421" x="4643438" y="5670550"/>
          <p14:tracePt t="3438" x="4643438" y="5661025"/>
          <p14:tracePt t="3472" x="4652963" y="5661025"/>
          <p14:tracePt t="3484" x="4652963" y="5653088"/>
          <p14:tracePt t="3496" x="4670425" y="5634038"/>
          <p14:tracePt t="3508" x="4687888" y="5626100"/>
          <p14:tracePt t="3522" x="4705350" y="5608638"/>
          <p14:tracePt t="3549" x="4714875" y="5599113"/>
          <p14:tracePt t="3573" x="4724400" y="5589588"/>
          <p14:tracePt t="3600" x="4732338" y="5572125"/>
          <p14:tracePt t="3610" x="4741863" y="5545138"/>
          <p14:tracePt t="3622" x="4759325" y="5518150"/>
          <p14:tracePt t="3637" x="4795838" y="5473700"/>
          <p14:tracePt t="3655" x="4822825" y="5438775"/>
          <p14:tracePt t="3670" x="4857750" y="5384800"/>
          <p14:tracePt t="3690" x="4902200" y="5276850"/>
          <p14:tracePt t="3706" x="4938713" y="5214938"/>
          <p14:tracePt t="3721" x="4946650" y="5160963"/>
          <p14:tracePt t="3739" x="4983163" y="5099050"/>
          <p14:tracePt t="3755" x="4991100" y="5072063"/>
          <p14:tracePt t="3770" x="5010150" y="5062538"/>
          <p14:tracePt t="3789" x="5018088" y="5045075"/>
          <p14:tracePt t="3804" x="5027613" y="5045075"/>
          <p14:tracePt t="3821" x="5027613" y="5037138"/>
          <p14:tracePt t="3876" x="5045075" y="5037138"/>
          <p14:tracePt t="3888" x="5054600" y="5037138"/>
          <p14:tracePt t="3901" x="5089525" y="5037138"/>
          <p14:tracePt t="3915" x="5153025" y="5037138"/>
          <p14:tracePt t="3926" x="5232400" y="5045075"/>
          <p14:tracePt t="3940" x="5313363" y="5072063"/>
          <p14:tracePt t="3958" x="5357813" y="5089525"/>
          <p14:tracePt t="3972" x="5411788" y="5108575"/>
          <p14:tracePt t="3989" x="5456238" y="5126038"/>
          <p14:tracePt t="4005" x="5491163" y="5143500"/>
          <p14:tracePt t="4021" x="5518150" y="5160963"/>
          <p14:tracePt t="4038" x="5537200" y="5170488"/>
          <p14:tracePt t="4056" x="5608638" y="5241925"/>
          <p14:tracePt t="4070" x="5653088" y="5295900"/>
          <p14:tracePt t="4086" x="5680075" y="5357813"/>
          <p14:tracePt t="4105" x="5705475" y="5419725"/>
          <p14:tracePt t="4121" x="5751513" y="5537200"/>
          <p14:tracePt t="4138" x="5759450" y="5599113"/>
          <p14:tracePt t="4155" x="5786438" y="5705475"/>
          <p14:tracePt t="4173" x="5803900" y="5759450"/>
          <p14:tracePt t="4188" x="5813425" y="5822950"/>
          <p14:tracePt t="4207" x="5840413" y="5946775"/>
          <p14:tracePt t="4222" x="5840413" y="6000750"/>
          <p14:tracePt t="4238" x="5848350" y="6045200"/>
          <p14:tracePt t="4258" x="5857875" y="6089650"/>
          <p14:tracePt t="4272" x="5867400" y="6108700"/>
          <p14:tracePt t="4289" x="5875338" y="6116638"/>
          <p14:tracePt t="4303" x="5894388" y="6134100"/>
          <p14:tracePt t="4328" x="5938838" y="6161088"/>
          <p14:tracePt t="4338" x="5965825" y="6170613"/>
          <p14:tracePt t="4355" x="5991225" y="6180138"/>
          <p14:tracePt t="4370" x="6018213" y="6188075"/>
          <p14:tracePt t="4375" x="6037263" y="6188075"/>
          <p14:tracePt t="4390" x="6045200" y="6188075"/>
          <p14:tracePt t="4406" x="6054725" y="6188075"/>
          <p14:tracePt t="4615" x="6081713" y="6188075"/>
          <p14:tracePt t="4630" x="6161088" y="6188075"/>
          <p14:tracePt t="4639" x="6269038" y="6188075"/>
          <p14:tracePt t="4656" x="6367463" y="6188075"/>
          <p14:tracePt t="4672" x="6456363" y="6188075"/>
          <p14:tracePt t="4689" x="6545263" y="6188075"/>
          <p14:tracePt t="4706" x="6661150" y="6188075"/>
          <p14:tracePt t="4722" x="6715125" y="6188075"/>
          <p14:tracePt t="4739" x="6769100" y="6188075"/>
          <p14:tracePt t="4757" x="6786563" y="6180138"/>
          <p14:tracePt t="4772" x="6813550" y="6161088"/>
          <p14:tracePt t="4789" x="6894513" y="6116638"/>
          <p14:tracePt t="4805" x="6929438" y="6081713"/>
          <p14:tracePt t="4821" x="6965950" y="6037263"/>
          <p14:tracePt t="4836" x="6991350" y="5983288"/>
          <p14:tracePt t="4856" x="7027863" y="5867400"/>
          <p14:tracePt t="4871" x="7037388" y="5822950"/>
          <p14:tracePt t="4889" x="7037388" y="5768975"/>
          <p14:tracePt t="4908" x="7037388" y="5705475"/>
          <p14:tracePt t="4920" x="7037388" y="5688013"/>
          <p14:tracePt t="4939" x="7037388" y="5661025"/>
          <p14:tracePt t="4957" x="7081838" y="5572125"/>
          <p14:tracePt t="4972" x="7108825" y="5510213"/>
          <p14:tracePt t="4989" x="7143750" y="5465763"/>
          <p14:tracePt t="5005" x="7170738" y="5429250"/>
          <p14:tracePt t="5022" x="7232650" y="5375275"/>
          <p14:tracePt t="5037" x="7251700" y="5348288"/>
          <p14:tracePt t="5055" x="7286625" y="5313363"/>
          <p14:tracePt t="5073" x="7358063" y="5224463"/>
          <p14:tracePt t="5088" x="7385050" y="5197475"/>
          <p14:tracePt t="5105" x="7402513" y="5160963"/>
          <p14:tracePt t="5123" x="7412038" y="5143500"/>
          <p14:tracePt t="5139" x="7412038" y="5133975"/>
          <p14:tracePt t="5172" x="7429500" y="5133975"/>
          <p14:tracePt t="5188" x="7466013" y="5133975"/>
          <p14:tracePt t="5206" x="7500938" y="5153025"/>
          <p14:tracePt t="5221" x="7554913" y="5205413"/>
          <p14:tracePt t="5239" x="7661275" y="5340350"/>
          <p14:tracePt t="5255" x="7697788" y="5446713"/>
          <p14:tracePt t="5274" x="7751763" y="5670550"/>
          <p14:tracePt t="5289" x="7759700" y="5776913"/>
          <p14:tracePt t="5306" x="7769225" y="5857875"/>
          <p14:tracePt t="5323" x="7769225" y="5929313"/>
          <p14:tracePt t="5339" x="7796213" y="6045200"/>
          <p14:tracePt t="5355" x="7823200" y="6089650"/>
          <p14:tracePt t="5373" x="7840663" y="6126163"/>
          <p14:tracePt t="5380" x="7848600" y="6153150"/>
          <p14:tracePt t="5391" x="7858125" y="6180138"/>
          <p14:tracePt t="5406" x="7867650" y="6188075"/>
          <p14:tracePt t="5427" x="7867650" y="6197600"/>
          <p14:tracePt t="5468" x="7831138" y="6197600"/>
          <p14:tracePt t="5480" x="7777163" y="6188075"/>
          <p14:tracePt t="5492" x="7732713" y="6170613"/>
          <p14:tracePt t="5507" x="7670800" y="6153150"/>
          <p14:tracePt t="5523" x="7589838" y="6143625"/>
          <p14:tracePt t="5540" x="7439025" y="6116638"/>
          <p14:tracePt t="5555" x="7385050" y="6099175"/>
          <p14:tracePt t="5571" x="7340600" y="6081713"/>
          <p14:tracePt t="5588" x="7313613" y="6062663"/>
          <p14:tracePt t="5607" x="7277100" y="6000750"/>
          <p14:tracePt t="5621" x="7269163" y="5983288"/>
          <p14:tracePt t="5636" x="7259638" y="5965825"/>
          <p14:tracePt t="5654" x="7259638" y="5938838"/>
          <p14:tracePt t="5672" x="7242175" y="5911850"/>
          <p14:tracePt t="5689" x="7224713" y="5884863"/>
          <p14:tracePt t="5706" x="7170738" y="5875338"/>
          <p14:tracePt t="5722" x="7000875" y="5840413"/>
          <p14:tracePt t="5739" x="6894513" y="5840413"/>
          <p14:tracePt t="5757" x="6527800" y="5830888"/>
          <p14:tracePt t="5773" x="6330950" y="5830888"/>
          <p14:tracePt t="5788" x="6062663" y="5830888"/>
          <p14:tracePt t="5805" x="5795963" y="5830888"/>
          <p14:tracePt t="5821" x="5357813" y="5830888"/>
          <p14:tracePt t="5839" x="5153025" y="5830888"/>
          <p14:tracePt t="5855" x="5037138" y="5830888"/>
          <p14:tracePt t="5870" x="4938713" y="5840413"/>
          <p14:tracePt t="5876" x="4848225" y="5840413"/>
          <p14:tracePt t="5889" x="4776788" y="5813425"/>
          <p14:tracePt t="5906" x="4732338" y="5759450"/>
          <p14:tracePt t="5921" x="4705350" y="5705475"/>
          <p14:tracePt t="5939" x="4687888" y="5626100"/>
          <p14:tracePt t="5955" x="4679950" y="5608638"/>
          <p14:tracePt t="5972" x="4679950" y="5599113"/>
          <p14:tracePt t="5990" x="4679950" y="5581650"/>
          <p14:tracePt t="6004" x="4687888" y="5581650"/>
          <p14:tracePt t="6023" x="4867275" y="5572125"/>
          <p14:tracePt t="6038" x="4991100" y="5599113"/>
          <p14:tracePt t="6056" x="5160963" y="5643563"/>
          <p14:tracePt t="6071" x="5367338" y="5705475"/>
          <p14:tracePt t="6088" x="5875338" y="5848350"/>
          <p14:tracePt t="6105" x="6161088" y="5929313"/>
          <p14:tracePt t="6120" x="6429375" y="6000750"/>
          <p14:tracePt t="6140" x="6858000" y="6108700"/>
          <p14:tracePt t="6154" x="6983413" y="6134100"/>
          <p14:tracePt t="6171" x="7081838" y="6143625"/>
          <p14:tracePt t="6191" x="7197725" y="6153150"/>
          <p14:tracePt t="6204" x="7251700" y="6153150"/>
          <p14:tracePt t="6220" x="7277100" y="6153150"/>
          <p14:tracePt t="6238" x="7296150" y="6153150"/>
          <p14:tracePt t="6258" x="7313613" y="6153150"/>
          <p14:tracePt t="6290" x="7143750" y="6153150"/>
          <p14:tracePt t="6305" x="6919913" y="6153150"/>
          <p14:tracePt t="6321" x="6661150" y="6153150"/>
          <p14:tracePt t="6337" x="6394450" y="6153150"/>
          <p14:tracePt t="6355" x="5902325" y="6153150"/>
          <p14:tracePt t="6374" x="5768975" y="6153150"/>
          <p14:tracePt t="6389" x="5661025" y="6153150"/>
          <p14:tracePt t="6408" x="5554663" y="6153150"/>
          <p14:tracePt t="6422" x="5527675" y="6153150"/>
          <p14:tracePt t="6437" x="5518150" y="6153150"/>
          <p14:tracePt t="6474" x="5510213" y="6153150"/>
          <p14:tracePt t="6488" x="5518150" y="6143625"/>
          <p14:tracePt t="6508" x="5840413" y="6116638"/>
          <p14:tracePt t="6522" x="6018213" y="6099175"/>
          <p14:tracePt t="6539" x="6215063" y="6099175"/>
          <p14:tracePt t="6556" x="6581775" y="6099175"/>
          <p14:tracePt t="6571" x="6697663" y="6099175"/>
          <p14:tracePt t="6588" x="6769100" y="6099175"/>
          <p14:tracePt t="6607" x="6804025" y="6099175"/>
          <p14:tracePt t="6621" x="6831013" y="6099175"/>
          <p14:tracePt t="6637" x="6848475" y="6099175"/>
          <p14:tracePt t="6655" x="6858000" y="6099175"/>
          <p14:tracePt t="6913" x="6858000" y="6108700"/>
          <p14:tracePt t="7408" x="6858000" y="6116638"/>
          <p14:tracePt t="7600" x="6848475" y="6116638"/>
          <p14:tracePt t="7611" x="6742113" y="6089650"/>
          <p14:tracePt t="7631" x="6510338" y="6027738"/>
          <p14:tracePt t="7639" x="6313488" y="5991225"/>
          <p14:tracePt t="7654" x="6108700" y="5956300"/>
          <p14:tracePt t="7669" x="5902325" y="5929313"/>
          <p14:tracePt t="7687" x="5688013" y="5884863"/>
          <p14:tracePt t="7706" x="5394325" y="5848350"/>
          <p14:tracePt t="7720" x="5303838" y="5840413"/>
          <p14:tracePt t="7738" x="5241925" y="5840413"/>
          <p14:tracePt t="7756" x="5180013" y="5840413"/>
          <p14:tracePt t="7771" x="5170488" y="5840413"/>
          <p14:tracePt t="7789" x="5153025" y="5840413"/>
          <p14:tracePt t="7909" x="5153025" y="5830888"/>
          <p14:tracePt t="7999" x="5153025" y="5822950"/>
          <p14:tracePt t="8032" x="5170488" y="5813425"/>
          <p14:tracePt t="8044" x="5251450" y="5795963"/>
          <p14:tracePt t="8058" x="5375275" y="5786438"/>
          <p14:tracePt t="8072" x="5545138" y="5768975"/>
          <p14:tracePt t="8089" x="5715000" y="5768975"/>
          <p14:tracePt t="8105" x="5938838" y="5768975"/>
          <p14:tracePt t="8122" x="6323013" y="5768975"/>
          <p14:tracePt t="8139" x="6527800" y="5776913"/>
          <p14:tracePt t="8156" x="6643688" y="5795963"/>
          <p14:tracePt t="8171" x="6742113" y="5803900"/>
          <p14:tracePt t="8189" x="6840538" y="5830888"/>
          <p14:tracePt t="8205" x="6867525" y="5830888"/>
          <p14:tracePt t="8222" x="6867525" y="5840413"/>
          <p14:tracePt t="8239" x="6875463" y="5840413"/>
          <p14:tracePt t="8291" x="6875463" y="5848350"/>
          <p14:tracePt t="8313" x="6858000" y="5848350"/>
          <p14:tracePt t="8323" x="6823075" y="5857875"/>
          <p14:tracePt t="8339" x="6777038" y="5867400"/>
          <p14:tracePt t="8355" x="6751638" y="5867400"/>
          <p14:tracePt t="8371" x="6724650" y="5867400"/>
          <p14:tracePt t="8391" x="6697663" y="5875338"/>
          <p14:tracePt t="8405" x="6688138" y="5875338"/>
          <p14:tracePt t="8456" x="6680200" y="5875338"/>
          <p14:tracePt t="8467" x="6626225" y="5875338"/>
          <p14:tracePt t="8483" x="6411913" y="5875338"/>
          <p14:tracePt t="8492" x="6215063" y="5875338"/>
          <p14:tracePt t="8508" x="5991225" y="5884863"/>
          <p14:tracePt t="8524" x="5867400" y="5884863"/>
          <p14:tracePt t="8537" x="5732463" y="5884863"/>
          <p14:tracePt t="8556" x="5581650" y="5884863"/>
          <p14:tracePt t="8572" x="5554663" y="5884863"/>
          <p14:tracePt t="8588" x="5537200" y="5884863"/>
          <p14:tracePt t="8605" x="5527675" y="5884863"/>
          <p14:tracePt t="8623" x="5518150" y="5884863"/>
          <p14:tracePt t="8638" x="5510213" y="5884863"/>
          <p14:tracePt t="8659" x="5527675" y="5884863"/>
          <p14:tracePt t="8673" x="5616575" y="5884863"/>
          <p14:tracePt t="8690" x="5822950" y="5884863"/>
          <p14:tracePt t="8706" x="6010275" y="5884863"/>
          <p14:tracePt t="8723" x="6456363" y="5884863"/>
          <p14:tracePt t="8738" x="6626225" y="5884863"/>
          <p14:tracePt t="8754" x="6823075" y="5884863"/>
          <p14:tracePt t="8773" x="7054850" y="5884863"/>
          <p14:tracePt t="8787" x="7134225" y="5884863"/>
          <p14:tracePt t="8807" x="7205663" y="5894388"/>
          <p14:tracePt t="8820" x="7215188" y="5894388"/>
          <p14:tracePt t="8838" x="7232650" y="5894388"/>
          <p14:tracePt t="8884" x="7232650" y="5902325"/>
          <p14:tracePt t="9269" x="7232650" y="5911850"/>
        </p14:tracePtLst>
      </p14:laserTraceLst>
    </p:ext>
  </p:extLs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logic of the HDI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805218" cy="4242666"/>
          </a:xfrm>
        </p:spPr>
        <p:txBody>
          <a:bodyPr/>
          <a:lstStyle/>
          <a:p>
            <a:r>
              <a:rPr lang="en-US"/>
              <a:t>Unimodal</a:t>
            </a:r>
          </a:p>
          <a:p>
            <a:r>
              <a:rPr lang="en-US"/>
              <a:t>Univariate</a:t>
            </a:r>
          </a:p>
          <a:p>
            <a:r>
              <a:rPr lang="en-US"/>
              <a:t>HDI is the shortest interval </a:t>
            </a:r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024" y="1471974"/>
            <a:ext cx="6456786" cy="440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0171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B3E27-2E6D-6285-4627-327DB0B12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B8DCE-230F-99C7-D912-E6C520271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/>
          <a:lstStyle/>
          <a:p>
            <a:r>
              <a:rPr lang="en-GB" dirty="0"/>
              <a:t>How will HDI vary across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F8F80-9F35-9D45-02F1-2D28A8276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2149"/>
            <a:ext cx="10262616" cy="17064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Multiple simulated datasets</a:t>
            </a:r>
          </a:p>
          <a:p>
            <a:pPr lvl="1"/>
            <a:r>
              <a:rPr lang="en-US" dirty="0"/>
              <a:t>With same true p=0.8</a:t>
            </a:r>
          </a:p>
          <a:p>
            <a:r>
              <a:rPr lang="en-US" dirty="0"/>
              <a:t>Each dataset has a different HDI</a:t>
            </a:r>
          </a:p>
          <a:p>
            <a:pPr lvl="1"/>
            <a:r>
              <a:rPr lang="en-US" dirty="0"/>
              <a:t>Sorted by estimate of p</a:t>
            </a:r>
          </a:p>
          <a:p>
            <a:pPr lvl="2"/>
            <a:r>
              <a:rPr lang="en-US" dirty="0"/>
              <a:t>mean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0D146C-634A-1641-EE7A-E19C9F5C0BC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86984" y="1440018"/>
            <a:ext cx="6605015" cy="526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9657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26152-B5EB-3EA7-C763-8DCE9D62C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1DC9E-FCDE-8485-12D9-F378BBFB0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/>
          <a:lstStyle/>
          <a:p>
            <a:r>
              <a:rPr lang="en-GB" dirty="0"/>
              <a:t>Coverage of the HDI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D0F2A-8578-2D5B-7AC7-474677527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92149"/>
            <a:ext cx="11020425" cy="2598801"/>
          </a:xfrm>
        </p:spPr>
        <p:txBody>
          <a:bodyPr>
            <a:normAutofit/>
          </a:bodyPr>
          <a:lstStyle/>
          <a:p>
            <a:r>
              <a:rPr lang="en-US" dirty="0"/>
              <a:t>Coverage</a:t>
            </a:r>
          </a:p>
          <a:p>
            <a:pPr lvl="1"/>
            <a:r>
              <a:rPr lang="en-US" dirty="0"/>
              <a:t>How often would the HDI contain the parameter</a:t>
            </a:r>
          </a:p>
          <a:p>
            <a:pPr lvl="2"/>
            <a:r>
              <a:rPr lang="en-US" dirty="0"/>
              <a:t>If we repeated the experiment over and over again</a:t>
            </a:r>
          </a:p>
          <a:p>
            <a:r>
              <a:rPr lang="en-US" dirty="0"/>
              <a:t>This is different from the HDI probability </a:t>
            </a:r>
          </a:p>
          <a:p>
            <a:pPr lvl="1"/>
            <a:r>
              <a:rPr lang="en-US" dirty="0"/>
              <a:t>The probability that the HDI contains the parameter given our data and prior</a:t>
            </a:r>
          </a:p>
          <a:p>
            <a:pPr lvl="2"/>
            <a:r>
              <a:rPr lang="en-US" dirty="0"/>
              <a:t>An epistemic probability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5FC87F-3041-6F44-0450-99ABF7C0F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450" y="3684902"/>
            <a:ext cx="6451092" cy="317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461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C989A6-8D0D-78AE-6468-D8ABBE35B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31BA3-FE81-5AC4-2829-2500AA2FE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3.7 Frequentist vs Bayesian philosophies</a:t>
            </a:r>
            <a:endParaRPr lang="en-IL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CA29BB-7082-2FD9-3FE7-8E1A8EEF4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Data updates understanding vs data reveals truths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40213758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DED93AD-AD61-6768-39F3-256F3D3C0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Bayesian philosophy</a:t>
            </a:r>
            <a:endParaRPr lang="en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866535-477F-D15B-D570-51989D9B9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tells us about the world</a:t>
            </a:r>
          </a:p>
          <a:p>
            <a:pPr lvl="1"/>
            <a:r>
              <a:rPr lang="en-US" dirty="0"/>
              <a:t>It updates our understanding</a:t>
            </a:r>
          </a:p>
          <a:p>
            <a:r>
              <a:rPr lang="en-US" dirty="0"/>
              <a:t>Models express our knowledge</a:t>
            </a:r>
          </a:p>
          <a:p>
            <a:pPr lvl="1"/>
            <a:r>
              <a:rPr lang="en-US" dirty="0"/>
              <a:t>Probability distributions over parameters express uncertainty</a:t>
            </a:r>
          </a:p>
          <a:p>
            <a:r>
              <a:rPr lang="en-US" dirty="0"/>
              <a:t>Bayesian updating combines knowledge with new information</a:t>
            </a:r>
          </a:p>
          <a:p>
            <a:r>
              <a:rPr lang="en-US" dirty="0"/>
              <a:t>Models are a convenience</a:t>
            </a:r>
          </a:p>
          <a:p>
            <a:pPr lvl="1"/>
            <a:r>
              <a:rPr lang="en-US" dirty="0"/>
              <a:t>They can be critiqued, replaced, or updated</a:t>
            </a:r>
          </a:p>
          <a:p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DFEC06-FCF0-E030-E129-8B1FB30679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235" r="25904" b="9101"/>
          <a:stretch/>
        </p:blipFill>
        <p:spPr>
          <a:xfrm>
            <a:off x="8115276" y="109792"/>
            <a:ext cx="3639311" cy="316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6071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E0306-6436-9AD5-A284-EBD38339C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3F133-D3AA-062B-03F0-8F2ABF4D0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>
            <a:normAutofit fontScale="90000"/>
          </a:bodyPr>
          <a:lstStyle/>
          <a:p>
            <a:r>
              <a:rPr lang="en-US" dirty="0"/>
              <a:t>Frequentist uncertainty is aleatory uncertainty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3A1EE-C7F2-53E2-CEF6-D7020DD57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59945"/>
            <a:ext cx="9492575" cy="492684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Frequentists want an objective, procedure-based approach</a:t>
            </a:r>
          </a:p>
          <a:p>
            <a:pPr lvl="1"/>
            <a:r>
              <a:rPr lang="en-US" dirty="0"/>
              <a:t>Same data + same procedure -&gt; same answer</a:t>
            </a:r>
          </a:p>
          <a:p>
            <a:pPr lvl="1"/>
            <a:r>
              <a:rPr lang="en-US" dirty="0"/>
              <a:t>Probability is randomness in the data</a:t>
            </a:r>
          </a:p>
          <a:p>
            <a:pPr lvl="2"/>
            <a:r>
              <a:rPr lang="en-US" dirty="0"/>
              <a:t>Not the parameters</a:t>
            </a:r>
          </a:p>
          <a:p>
            <a:pPr lvl="2"/>
            <a:r>
              <a:rPr lang="en-US" dirty="0"/>
              <a:t>Parameter </a:t>
            </a:r>
            <a:r>
              <a:rPr lang="en-US" b="1" dirty="0"/>
              <a:t>may not</a:t>
            </a:r>
            <a:r>
              <a:rPr lang="en-US" dirty="0"/>
              <a:t> be treated as random variables</a:t>
            </a:r>
          </a:p>
          <a:p>
            <a:r>
              <a:rPr lang="en-US" dirty="0"/>
              <a:t>Frequentists focus on aleatory uncertainty</a:t>
            </a:r>
          </a:p>
          <a:p>
            <a:pPr lvl="1"/>
            <a:r>
              <a:rPr lang="en-US" dirty="0"/>
              <a:t>Uncertainty arises from real-world stochasticity</a:t>
            </a:r>
          </a:p>
          <a:p>
            <a:pPr lvl="1"/>
            <a:r>
              <a:rPr lang="en-US" dirty="0"/>
              <a:t>Running the experiment again will lead to different data</a:t>
            </a:r>
          </a:p>
          <a:p>
            <a:pPr lvl="2"/>
            <a:r>
              <a:rPr lang="en-US" dirty="0"/>
              <a:t>Which will lead to different estimates</a:t>
            </a:r>
          </a:p>
          <a:p>
            <a:r>
              <a:rPr lang="en-US" dirty="0"/>
              <a:t>So frequentists ask:</a:t>
            </a:r>
          </a:p>
          <a:p>
            <a:pPr lvl="1"/>
            <a:r>
              <a:rPr lang="en-US" dirty="0"/>
              <a:t>What makes a good estimator</a:t>
            </a:r>
          </a:p>
          <a:p>
            <a:pPr lvl="1"/>
            <a:r>
              <a:rPr lang="en-US" dirty="0"/>
              <a:t>How can we characterize estimator behavior</a:t>
            </a:r>
          </a:p>
          <a:p>
            <a:pPr lvl="2"/>
            <a:r>
              <a:rPr lang="en-US" dirty="0"/>
              <a:t>Across repeated experiments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7796E0C-2462-71C3-F7C7-B6DC485822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84832" y="1692959"/>
          <a:ext cx="1291167" cy="1177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1640" imgH="393480" progId="Equation.DSMT4">
                  <p:embed/>
                </p:oleObj>
              </mc:Choice>
              <mc:Fallback>
                <p:oleObj name="Equation" r:id="rId2" imgW="431640" imgH="39348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A4A1972-36EC-F42B-5096-45DCCE1A57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884832" y="1692959"/>
                        <a:ext cx="1291167" cy="11772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6191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F4D205B-1FAD-6FDD-66CB-83A2911CF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7942"/>
          </a:xfrm>
        </p:spPr>
        <p:txBody>
          <a:bodyPr>
            <a:normAutofit fontScale="90000"/>
          </a:bodyPr>
          <a:lstStyle/>
          <a:p>
            <a:r>
              <a:rPr lang="en-US" dirty="0"/>
              <a:t>Bayesians and frequentists ask different questions 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4D07214-C615-E7F0-D0E2-509689F0C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068"/>
            <a:ext cx="10515600" cy="289983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Bayesian</a:t>
            </a:r>
          </a:p>
          <a:p>
            <a:pPr lvl="1"/>
            <a:r>
              <a:rPr lang="en-US" dirty="0"/>
              <a:t>Given the model and the data, what should we believe about the parameter?</a:t>
            </a:r>
          </a:p>
          <a:p>
            <a:r>
              <a:rPr lang="en-US" dirty="0"/>
              <a:t>Frequentist</a:t>
            </a:r>
          </a:p>
          <a:p>
            <a:pPr lvl="1"/>
            <a:r>
              <a:rPr lang="en-US" dirty="0"/>
              <a:t>If we repeat the procedure many times, how will the estimator behave?</a:t>
            </a:r>
          </a:p>
          <a:p>
            <a:r>
              <a:rPr lang="en-US" dirty="0"/>
              <a:t>This course is “Bayesian first”</a:t>
            </a:r>
          </a:p>
          <a:p>
            <a:pPr lvl="1"/>
            <a:r>
              <a:rPr lang="en-US" dirty="0"/>
              <a:t>Learn about frequentist methods</a:t>
            </a:r>
          </a:p>
          <a:p>
            <a:pPr lvl="1"/>
            <a:r>
              <a:rPr lang="en-US" dirty="0"/>
              <a:t>But understand them from a Bayesian perspective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712A10D-B0C2-9C04-7DDA-F41423E2E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782100"/>
              </p:ext>
            </p:extLst>
          </p:nvPr>
        </p:nvGraphicFramePr>
        <p:xfrm>
          <a:off x="1224491" y="4755092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74944220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58336777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5707675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Bayesian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Frequentist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64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Object of uncertainty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Parameters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Repeated sample behavior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327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Probability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Aleatory + epistemic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Aleatory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796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Goal of analysis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Posterior distribution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Estimator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696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Assessing uncertainty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Posterior distribution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Sampling interval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143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5998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499EAA-F53E-461C-071D-DD29C83E8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DC39-AAB3-D9DA-0DB4-3651A6732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3.8 Frequentist estimation</a:t>
            </a:r>
            <a:endParaRPr lang="en-IL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AF85B0-C5EF-BAD6-9665-41451CBBF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Kinds of estimators, criteria for estimators, estimators and statistics 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27499506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08ECE-6C53-CA1D-4F30-D6FF31220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Estimators and statistics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2228E-DD7C-FC14-7346-7945E212A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statistic is anything you calculate on the data</a:t>
            </a:r>
          </a:p>
          <a:p>
            <a:pPr lvl="1"/>
            <a:r>
              <a:rPr lang="en-US" dirty="0"/>
              <a:t>It may or may not estimate anything</a:t>
            </a:r>
          </a:p>
          <a:p>
            <a:r>
              <a:rPr lang="en-US" dirty="0"/>
              <a:t>An estimator is a statistic that is the guess of some real value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2667154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C3925-615F-B0AF-F4CA-FF1FE3440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8FB6B-DF53-E9D6-8805-93EF0B952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5675"/>
          </a:xfrm>
        </p:spPr>
        <p:txBody>
          <a:bodyPr/>
          <a:lstStyle/>
          <a:p>
            <a:r>
              <a:rPr lang="en-US" dirty="0"/>
              <a:t>Estimators of the mean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DE788-5D4C-36E3-7165-BBB1E6938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2201" y="1168400"/>
            <a:ext cx="6680199" cy="22606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sample mean</a:t>
            </a:r>
          </a:p>
          <a:p>
            <a:pPr lvl="1"/>
            <a:r>
              <a:rPr lang="en-US" dirty="0"/>
              <a:t>The MLE and MVUE if the population is normal</a:t>
            </a:r>
          </a:p>
          <a:p>
            <a:pPr lvl="1"/>
            <a:r>
              <a:rPr lang="en-US" dirty="0"/>
              <a:t>Sensitive to outliers</a:t>
            </a:r>
          </a:p>
          <a:p>
            <a:r>
              <a:rPr lang="en-US" dirty="0"/>
              <a:t>The sample median</a:t>
            </a:r>
          </a:p>
          <a:p>
            <a:pPr lvl="1"/>
            <a:r>
              <a:rPr lang="en-US" dirty="0"/>
              <a:t>Variable but not sensitive to outliers</a:t>
            </a:r>
          </a:p>
          <a:p>
            <a:r>
              <a:rPr lang="en-US" dirty="0"/>
              <a:t>The reduced mean</a:t>
            </a:r>
          </a:p>
          <a:p>
            <a:pPr lvl="1"/>
            <a:r>
              <a:rPr lang="en-US" dirty="0"/>
              <a:t>A compromise</a:t>
            </a:r>
          </a:p>
          <a:p>
            <a:pPr lvl="1"/>
            <a:r>
              <a:rPr lang="en-US" dirty="0"/>
              <a:t>Calculate without 20% of outlying data</a:t>
            </a:r>
          </a:p>
          <a:p>
            <a:pPr lvl="1"/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A9A369-2F21-145D-3878-B454797F5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631" y="3513667"/>
            <a:ext cx="6312308" cy="320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320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FA81D-4116-F5F6-BD41-42C7ECC3B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123E0-C6E2-C3A5-74E5-3BB34DCC8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US" dirty="0"/>
              <a:t>Estimation is only easy for good data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749F1-FD29-64F4-246B-DAC4242DD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1828800"/>
          </a:xfrm>
        </p:spPr>
        <p:txBody>
          <a:bodyPr>
            <a:normAutofit/>
          </a:bodyPr>
          <a:lstStyle/>
          <a:p>
            <a:r>
              <a:rPr lang="en-US" dirty="0"/>
              <a:t>Differences become substantial for small data sets</a:t>
            </a:r>
          </a:p>
          <a:p>
            <a:r>
              <a:rPr lang="en-US" dirty="0"/>
              <a:t>Or with large outliers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024BD3-E50D-7775-A50A-9BD3F0CFE4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077499" y="3429001"/>
            <a:ext cx="6312306" cy="320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2336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23323-F665-8045-D258-70A39680E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B0CFF5CF-EB13-7E85-C446-6B811C8A5C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00171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Sampling distribution of the statistic</a:t>
            </a:r>
          </a:p>
        </p:txBody>
      </p:sp>
      <p:sp>
        <p:nvSpPr>
          <p:cNvPr id="141315" name="Rectangle 39">
            <a:extLst>
              <a:ext uri="{FF2B5EF4-FFF2-40B4-BE49-F238E27FC236}">
                <a16:creationId xmlns:a16="http://schemas.microsoft.com/office/drawing/2014/main" id="{A3C353D3-62BC-38DC-E905-BF6220AC22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20246" y="1366838"/>
            <a:ext cx="8229600" cy="6477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The distribution we expect for the estimator under replications</a:t>
            </a:r>
          </a:p>
        </p:txBody>
      </p:sp>
      <p:sp>
        <p:nvSpPr>
          <p:cNvPr id="141317" name="Slide Number Placeholder 5">
            <a:extLst>
              <a:ext uri="{FF2B5EF4-FFF2-40B4-BE49-F238E27FC236}">
                <a16:creationId xmlns:a16="http://schemas.microsoft.com/office/drawing/2014/main" id="{142CC29F-C8C4-2244-DD2C-1E5302270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9C1BC66-C557-4D4C-AAA1-ABC4F4979979}" type="slidenum">
              <a:rPr lang="he-IL" altLang="en-US" sz="1400"/>
              <a:pPr>
                <a:spcBef>
                  <a:spcPct val="0"/>
                </a:spcBef>
                <a:buFontTx/>
                <a:buNone/>
              </a:pPr>
              <a:t>47</a:t>
            </a:fld>
            <a:r>
              <a:rPr lang="en-US" altLang="en-US" sz="1400"/>
              <a:t> /  75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E06E1A-5DFB-C92F-91E3-DEFC823B12A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95203" y="2581449"/>
            <a:ext cx="9374454" cy="365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6391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9ADE2-5A5B-A0D6-E804-1F2DF7119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B4831B62-DE3C-48A1-3202-CFF5E3471C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Sampling distribution for a binomial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315" name="Rectangle 39">
                <a:extLst>
                  <a:ext uri="{FF2B5EF4-FFF2-40B4-BE49-F238E27FC236}">
                    <a16:creationId xmlns:a16="http://schemas.microsoft.com/office/drawing/2014/main" id="{D3D00C24-D1F2-0822-76AA-5D2B10E2E7DB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430867" y="1518178"/>
                <a:ext cx="8229600" cy="1208089"/>
              </a:xfrm>
            </p:spPr>
            <p:txBody>
              <a:bodyPr>
                <a:normAutofit lnSpcReduction="10000"/>
              </a:bodyPr>
              <a:lstStyle/>
              <a:p>
                <a:pPr eaLnBrk="1" hangingPunct="1"/>
                <a:r>
                  <a:rPr lang="en-US" altLang="en-US" sz="2400" dirty="0"/>
                  <a:t>One “real” dataset: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=0.65</m:t>
                    </m:r>
                  </m:oMath>
                </a14:m>
                <a:endParaRPr lang="en-US" altLang="en-US" sz="2400" dirty="0"/>
              </a:p>
              <a:p>
                <a:r>
                  <a:rPr lang="en-US" altLang="en-US" sz="2400" dirty="0"/>
                  <a:t>1,000 additional datasets sampled from the true theta: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altLang="en-US" sz="2400" i="1" dirty="0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altLang="en-US" sz="2400" b="0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altLang="en-US" sz="2400" dirty="0"/>
              </a:p>
              <a:p>
                <a:pPr lvl="1"/>
                <a:r>
                  <a:rPr lang="en-US" altLang="en-US" sz="2000" dirty="0"/>
                  <a:t>Calculate estimator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000" b="0" i="1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altLang="en-US" sz="2000" b="0" dirty="0"/>
                  <a:t> for each one</a:t>
                </a:r>
                <a:endParaRPr lang="en-US" altLang="en-US" sz="2000" dirty="0"/>
              </a:p>
              <a:p>
                <a:pPr eaLnBrk="1" hangingPunct="1"/>
                <a:endParaRPr lang="en-US" altLang="en-US" sz="2400" dirty="0"/>
              </a:p>
            </p:txBody>
          </p:sp>
        </mc:Choice>
        <mc:Fallback xmlns="">
          <p:sp>
            <p:nvSpPr>
              <p:cNvPr id="141315" name="Rectangle 39">
                <a:extLst>
                  <a:ext uri="{FF2B5EF4-FFF2-40B4-BE49-F238E27FC236}">
                    <a16:creationId xmlns:a16="http://schemas.microsoft.com/office/drawing/2014/main" id="{D3D00C24-D1F2-0822-76AA-5D2B10E2E7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30867" y="1518178"/>
                <a:ext cx="8229600" cy="1208089"/>
              </a:xfrm>
              <a:blipFill>
                <a:blip r:embed="rId3"/>
                <a:stretch>
                  <a:fillRect l="-1037" t="-8586" r="-74" b="-252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317" name="Slide Number Placeholder 5">
            <a:extLst>
              <a:ext uri="{FF2B5EF4-FFF2-40B4-BE49-F238E27FC236}">
                <a16:creationId xmlns:a16="http://schemas.microsoft.com/office/drawing/2014/main" id="{682AE97F-A33F-E2C4-AA3D-81FF8C853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9C1BC66-C557-4D4C-AAA1-ABC4F4979979}" type="slidenum">
              <a:rPr lang="he-IL" altLang="en-US" sz="1400"/>
              <a:pPr>
                <a:spcBef>
                  <a:spcPct val="0"/>
                </a:spcBef>
                <a:buFontTx/>
                <a:buNone/>
              </a:pPr>
              <a:t>48</a:t>
            </a:fld>
            <a:r>
              <a:rPr lang="en-US" altLang="en-US" sz="1400"/>
              <a:t> /  75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35DDDC-380D-3D69-FD4D-4FA3F0AD538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8666" y="2843741"/>
            <a:ext cx="7442199" cy="36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0741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CB649-78FF-7DA3-7CEE-6597D3956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3E78C6C6-2901-DE3A-488D-27ABB44BC6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803275"/>
          </a:xfrm>
        </p:spPr>
        <p:txBody>
          <a:bodyPr/>
          <a:lstStyle/>
          <a:p>
            <a:pPr eaLnBrk="1" hangingPunct="1"/>
            <a:r>
              <a:rPr lang="en-US" altLang="en-US" dirty="0"/>
              <a:t>Estimated sampling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315" name="Rectangle 39">
                <a:extLst>
                  <a:ext uri="{FF2B5EF4-FFF2-40B4-BE49-F238E27FC236}">
                    <a16:creationId xmlns:a16="http://schemas.microsoft.com/office/drawing/2014/main" id="{918C3671-6CF9-A2BB-6834-95DACAFB98A9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430867" y="1279258"/>
                <a:ext cx="8229600" cy="1208089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altLang="en-US" sz="2400" dirty="0"/>
                  <a:t>We don’t have access to the true</a:t>
                </a:r>
                <a:r>
                  <a:rPr lang="en-US" alt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</m:oMath>
                </a14:m>
                <a:endParaRPr lang="en-US" altLang="en-US" sz="2400" dirty="0"/>
              </a:p>
              <a:p>
                <a:r>
                  <a:rPr lang="en-US" altLang="en-US" sz="2400" dirty="0"/>
                  <a:t>We can generate an estimated sampling distribution from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endParaRPr lang="en-US" altLang="en-US" sz="2400" dirty="0"/>
              </a:p>
              <a:p>
                <a:r>
                  <a:rPr lang="en-US" altLang="en-US" sz="2400" dirty="0"/>
                  <a:t>Or we can generate sampling distributions for any specific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</m:oMath>
                </a14:m>
                <a:endParaRPr lang="en-US" altLang="en-US" sz="2400" dirty="0"/>
              </a:p>
            </p:txBody>
          </p:sp>
        </mc:Choice>
        <mc:Fallback xmlns="">
          <p:sp>
            <p:nvSpPr>
              <p:cNvPr id="141315" name="Rectangle 39">
                <a:extLst>
                  <a:ext uri="{FF2B5EF4-FFF2-40B4-BE49-F238E27FC236}">
                    <a16:creationId xmlns:a16="http://schemas.microsoft.com/office/drawing/2014/main" id="{918C3671-6CF9-A2BB-6834-95DACAFB98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30867" y="1279258"/>
                <a:ext cx="8229600" cy="1208089"/>
              </a:xfrm>
              <a:blipFill>
                <a:blip r:embed="rId3"/>
                <a:stretch>
                  <a:fillRect l="-889" t="-8586" b="-707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317" name="Slide Number Placeholder 5">
            <a:extLst>
              <a:ext uri="{FF2B5EF4-FFF2-40B4-BE49-F238E27FC236}">
                <a16:creationId xmlns:a16="http://schemas.microsoft.com/office/drawing/2014/main" id="{68C623F5-02E0-9FA6-4A80-AB006533E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9C1BC66-C557-4D4C-AAA1-ABC4F4979979}" type="slidenum">
              <a:rPr lang="he-IL" altLang="en-US" sz="1400"/>
              <a:pPr>
                <a:spcBef>
                  <a:spcPct val="0"/>
                </a:spcBef>
                <a:buFontTx/>
                <a:buNone/>
              </a:pPr>
              <a:t>49</a:t>
            </a:fld>
            <a:r>
              <a:rPr lang="en-US" altLang="en-US" sz="1400"/>
              <a:t> /  75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2017CC-C785-714B-477D-7B286826F20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0224" y="2881025"/>
            <a:ext cx="5811944" cy="28587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CD9AC8D-C9CB-730D-87CF-A4D71E5DE84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27266" y="2880372"/>
            <a:ext cx="5822620" cy="2860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2257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81407-8B87-C411-F14B-F45F96C29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8674"/>
          </a:xfrm>
        </p:spPr>
        <p:txBody>
          <a:bodyPr>
            <a:normAutofit fontScale="90000"/>
          </a:bodyPr>
          <a:lstStyle/>
          <a:p>
            <a:r>
              <a:rPr lang="en-US" dirty="0"/>
              <a:t>Sampling distribution for estimator uncertainty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2EB5C-7C1D-2C52-23CB-994598BE0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53042"/>
          </a:xfrm>
        </p:spPr>
        <p:txBody>
          <a:bodyPr/>
          <a:lstStyle/>
          <a:p>
            <a:r>
              <a:rPr lang="en-US" dirty="0"/>
              <a:t>Measure uncertainty of mean, median and mode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E60D54-1506-A12D-BEBD-9EB3A16B7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00" y="2686374"/>
            <a:ext cx="3661833" cy="17935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5D773B-8CBC-35C0-88DA-264C7BC46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534" y="2686374"/>
            <a:ext cx="3661834" cy="17935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04E5AE-42BB-5633-38C6-501F0F4F5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4368" y="2680921"/>
            <a:ext cx="3661833" cy="17935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2CD113-89C3-641C-1278-77D91C40D6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200" y="4751032"/>
            <a:ext cx="5830887" cy="185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45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F7B57D-3C42-9D7B-FF82-E8FE62E02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FCD11-5E00-1B1D-A33B-B464F0D32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3.9 Maximum likelihood</a:t>
            </a:r>
            <a:endParaRPr lang="en-IL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485AC-DEA9-B866-2534-94DB227E4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An estimator based on a parametric model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12233806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the MLE?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MLE is the maximum of the likelihood</a:t>
            </a:r>
          </a:p>
          <a:p>
            <a:pPr lvl="1"/>
            <a:r>
              <a:rPr lang="en-US" dirty="0"/>
              <a:t>As a function of the parameter</a:t>
            </a:r>
          </a:p>
          <a:p>
            <a:pPr lvl="1"/>
            <a:r>
              <a:rPr lang="en-US" dirty="0"/>
              <a:t>Requires a model</a:t>
            </a:r>
          </a:p>
          <a:p>
            <a:r>
              <a:rPr lang="en-US" dirty="0"/>
              <a:t>Why MLE?</a:t>
            </a:r>
          </a:p>
          <a:p>
            <a:pPr lvl="1"/>
            <a:r>
              <a:rPr lang="en-US" dirty="0"/>
              <a:t>The parameter that makes our data easiest to believe</a:t>
            </a:r>
          </a:p>
          <a:p>
            <a:pPr lvl="1"/>
            <a:endParaRPr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88E625A-9E4E-4C6B-C036-1DF0D58814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5709562"/>
              </p:ext>
            </p:extLst>
          </p:nvPr>
        </p:nvGraphicFramePr>
        <p:xfrm>
          <a:off x="7375525" y="1690688"/>
          <a:ext cx="3716176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253800" progId="Equation.DSMT4">
                  <p:embed/>
                </p:oleObj>
              </mc:Choice>
              <mc:Fallback>
                <p:oleObj name="Equation" r:id="rId2" imgW="1295280" imgH="2538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688E625A-9E4E-4C6B-C036-1DF0D58814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375525" y="1690688"/>
                        <a:ext cx="3716176" cy="728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3C5A3D1-AEE0-C331-79C5-27A27D1C514C}"/>
              </a:ext>
            </a:extLst>
          </p:cNvPr>
          <p:cNvSpPr txBox="1"/>
          <p:nvPr/>
        </p:nvSpPr>
        <p:spPr>
          <a:xfrm>
            <a:off x="7375525" y="976888"/>
            <a:ext cx="21565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Likelihood</a:t>
            </a:r>
            <a:endParaRPr lang="en-IL" sz="3600" b="1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353CD87-2520-F2D4-FB60-12AAD60A931D}"/>
              </a:ext>
            </a:extLst>
          </p:cNvPr>
          <p:cNvGrpSpPr/>
          <p:nvPr/>
        </p:nvGrpSpPr>
        <p:grpSpPr>
          <a:xfrm>
            <a:off x="5452533" y="4074583"/>
            <a:ext cx="5486768" cy="2642473"/>
            <a:chOff x="4031107" y="3744913"/>
            <a:chExt cx="6055868" cy="307983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DF6A337-C318-0EC8-0DCB-6EAE34CB6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32587" b="33651"/>
            <a:stretch>
              <a:fillRect/>
            </a:stretch>
          </p:blipFill>
          <p:spPr>
            <a:xfrm>
              <a:off x="4031107" y="3744913"/>
              <a:ext cx="6055868" cy="307983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66E5021-4320-C0DD-801F-13D39FBAEF59}"/>
                </a:ext>
              </a:extLst>
            </p:cNvPr>
            <p:cNvSpPr/>
            <p:nvPr/>
          </p:nvSpPr>
          <p:spPr>
            <a:xfrm>
              <a:off x="7753350" y="4314825"/>
              <a:ext cx="628650" cy="20955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2248139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83B7E3-C149-E198-C5AF-156D8C68D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 MLE a good estimator?</a:t>
            </a:r>
            <a:endParaRPr lang="en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0284AF-8EA2-05D3-489A-6E7541879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Advantages</a:t>
            </a:r>
            <a:endParaRPr lang="en-I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343E74-05C8-95E6-9CF8-B80A9F22CD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Consistency</a:t>
            </a:r>
          </a:p>
          <a:p>
            <a:pPr lvl="1"/>
            <a:r>
              <a:rPr lang="en-US" dirty="0"/>
              <a:t>Converges to the true value</a:t>
            </a:r>
          </a:p>
          <a:p>
            <a:r>
              <a:rPr lang="en-US" dirty="0"/>
              <a:t>Efficiency</a:t>
            </a:r>
          </a:p>
          <a:p>
            <a:pPr lvl="1"/>
            <a:r>
              <a:rPr lang="en-US" dirty="0"/>
              <a:t>Minimum variance</a:t>
            </a:r>
          </a:p>
          <a:p>
            <a:pPr lvl="2"/>
            <a:r>
              <a:rPr lang="en-US" dirty="0"/>
              <a:t>For large samples </a:t>
            </a:r>
          </a:p>
          <a:p>
            <a:pPr lvl="2"/>
            <a:r>
              <a:rPr lang="en-US" dirty="0"/>
              <a:t>and many practical models</a:t>
            </a:r>
          </a:p>
          <a:p>
            <a:r>
              <a:rPr lang="en-US" dirty="0"/>
              <a:t>Flexibility</a:t>
            </a:r>
          </a:p>
          <a:p>
            <a:pPr lvl="1"/>
            <a:r>
              <a:rPr lang="en-US" dirty="0"/>
              <a:t>Works with complex models</a:t>
            </a:r>
            <a:endParaRPr lang="en-IL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CDE2EF-3A02-E232-424B-631DA53763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Disadvantages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EE4492D-A319-4D50-1B29-49CC1E999AF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Sensitive to: </a:t>
            </a:r>
          </a:p>
          <a:p>
            <a:pPr lvl="1"/>
            <a:r>
              <a:rPr lang="en-US" dirty="0"/>
              <a:t>Model misspecification</a:t>
            </a:r>
          </a:p>
          <a:p>
            <a:pPr lvl="1"/>
            <a:r>
              <a:rPr lang="en-US" dirty="0"/>
              <a:t>Outliers</a:t>
            </a:r>
          </a:p>
          <a:p>
            <a:r>
              <a:rPr lang="en-US" dirty="0"/>
              <a:t>Computationally complex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9821765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F3E18-0191-E975-C470-A2B77467F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70A18-B394-C76D-0C44-D6F16A010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The MLE through Bayesian eyes</a:t>
            </a:r>
            <a:endParaRPr lang="en-IL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91381-4F07-BE42-29D9-1ADEDB9C5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5617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We would multiply the prior by the likelihood and explore the posterior</a:t>
            </a:r>
          </a:p>
          <a:p>
            <a:r>
              <a:rPr lang="en-US" dirty="0"/>
              <a:t>MLE is sort of like: </a:t>
            </a:r>
          </a:p>
          <a:p>
            <a:pPr lvl="1"/>
            <a:r>
              <a:rPr lang="en-US" dirty="0"/>
              <a:t>Using a flat prior</a:t>
            </a:r>
          </a:p>
          <a:p>
            <a:pPr lvl="2"/>
            <a:r>
              <a:rPr lang="en-US" dirty="0"/>
              <a:t>So posterior = likelihood</a:t>
            </a:r>
          </a:p>
          <a:p>
            <a:pPr lvl="1"/>
            <a:r>
              <a:rPr lang="en-US" dirty="0"/>
              <a:t>Summarizing the posterior with an estimate</a:t>
            </a:r>
          </a:p>
          <a:p>
            <a:pPr lvl="2"/>
            <a:r>
              <a:rPr lang="en-US" dirty="0"/>
              <a:t>Instead of using an HDI</a:t>
            </a:r>
          </a:p>
          <a:p>
            <a:pPr lvl="2"/>
            <a:r>
              <a:rPr lang="en-US" dirty="0"/>
              <a:t>Or using the whole posterior</a:t>
            </a:r>
          </a:p>
          <a:p>
            <a:r>
              <a:rPr lang="en-US" dirty="0"/>
              <a:t>What is lost:</a:t>
            </a:r>
          </a:p>
          <a:p>
            <a:pPr lvl="1"/>
            <a:r>
              <a:rPr lang="en-US" dirty="0"/>
              <a:t>The full posterior uncertainty</a:t>
            </a:r>
          </a:p>
          <a:p>
            <a:pPr lvl="1"/>
            <a:r>
              <a:rPr lang="en-US" dirty="0"/>
              <a:t>Prior information</a:t>
            </a:r>
          </a:p>
          <a:p>
            <a:r>
              <a:rPr lang="en-US" dirty="0"/>
              <a:t>When is it useful</a:t>
            </a:r>
          </a:p>
          <a:p>
            <a:pPr lvl="1"/>
            <a:r>
              <a:rPr lang="en-US" dirty="0"/>
              <a:t>Often good as a quick estimate</a:t>
            </a:r>
          </a:p>
          <a:p>
            <a:pPr lvl="2"/>
            <a:r>
              <a:rPr lang="en-US" dirty="0"/>
              <a:t>For large data sets</a:t>
            </a:r>
          </a:p>
          <a:p>
            <a:pPr lvl="2"/>
            <a:r>
              <a:rPr lang="en-US" dirty="0"/>
              <a:t>And simpler models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73C9086-D1F7-59AF-52CA-56C2E6279625}"/>
              </a:ext>
            </a:extLst>
          </p:cNvPr>
          <p:cNvGrpSpPr/>
          <p:nvPr/>
        </p:nvGrpSpPr>
        <p:grpSpPr>
          <a:xfrm>
            <a:off x="7915274" y="4263057"/>
            <a:ext cx="3814601" cy="1878356"/>
            <a:chOff x="4031107" y="3744913"/>
            <a:chExt cx="6055868" cy="307983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A697CCF-6D82-4248-E622-3B238A4EF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587" b="33651"/>
            <a:stretch>
              <a:fillRect/>
            </a:stretch>
          </p:blipFill>
          <p:spPr>
            <a:xfrm>
              <a:off x="4031107" y="3744913"/>
              <a:ext cx="6055868" cy="307983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6C8F3F7-AB7A-FEB2-6562-16E60EAE3B63}"/>
                </a:ext>
              </a:extLst>
            </p:cNvPr>
            <p:cNvSpPr/>
            <p:nvPr/>
          </p:nvSpPr>
          <p:spPr>
            <a:xfrm>
              <a:off x="7753350" y="4314825"/>
              <a:ext cx="628650" cy="20955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3389184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3FF7A0-F6AA-23DC-F015-F5ED7344E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AD352-DA01-AE60-BC28-D38D588E4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3.10 Confidence intervals</a:t>
            </a:r>
            <a:endParaRPr lang="en-IL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6B236-894B-303E-31EB-E4D1874DB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The sampling distribution and how to use it to make a credible interval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12009565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FB16F-00CF-BCB1-31B2-BB74A8AE1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idea of the confidence interval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2177C-6E70-6C53-B75C-7445A7266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sampling distribution under a parameter tells us:</a:t>
            </a:r>
          </a:p>
          <a:p>
            <a:pPr lvl="1"/>
            <a:r>
              <a:rPr lang="en-US" dirty="0"/>
              <a:t>What estimator values are we likely to get</a:t>
            </a:r>
          </a:p>
          <a:p>
            <a:r>
              <a:rPr lang="en-US" dirty="0"/>
              <a:t>Given an actual estimate we ask:</a:t>
            </a:r>
          </a:p>
          <a:p>
            <a:pPr lvl="1"/>
            <a:r>
              <a:rPr lang="en-US" dirty="0"/>
              <a:t>For which parameter values is this estimate typical</a:t>
            </a:r>
          </a:p>
          <a:p>
            <a:pPr lvl="1"/>
            <a:r>
              <a:rPr lang="en-US" dirty="0"/>
              <a:t>And for which is it unusual</a:t>
            </a:r>
          </a:p>
          <a:p>
            <a:r>
              <a:rPr lang="en-US" dirty="0"/>
              <a:t>The confidence interval is</a:t>
            </a:r>
          </a:p>
          <a:p>
            <a:pPr lvl="1"/>
            <a:r>
              <a:rPr lang="en-US" dirty="0"/>
              <a:t>The set of parameters for which this estimate is not too unusual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564817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7CFFC-F6CF-8810-7466-2EE840A71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9F30D-43DB-75EE-F428-D449EBCAE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6275"/>
          </a:xfrm>
        </p:spPr>
        <p:txBody>
          <a:bodyPr>
            <a:normAutofit fontScale="90000"/>
          </a:bodyPr>
          <a:lstStyle/>
          <a:p>
            <a:r>
              <a:rPr lang="en-US" dirty="0"/>
              <a:t>The lower tail statistic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6AB8B5-E7CD-0D49-4889-8D138E8A60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61532" y="1041399"/>
                <a:ext cx="10092267" cy="132926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Given some data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can define the lower tail function</a:t>
                </a:r>
              </a:p>
              <a:p>
                <a:pPr lvl="1"/>
                <a:r>
                  <a:rPr lang="en-US" dirty="0"/>
                  <a:t>The smallest theta that has at least a 2% chance of producing data like ours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6AB8B5-E7CD-0D49-4889-8D138E8A60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61532" y="1041399"/>
                <a:ext cx="10092267" cy="1329268"/>
              </a:xfrm>
              <a:blipFill>
                <a:blip r:embed="rId2"/>
                <a:stretch>
                  <a:fillRect l="-967" t="-688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82D165F-3D2C-62CC-7B2E-D77363A508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4126488"/>
              </p:ext>
            </p:extLst>
          </p:nvPr>
        </p:nvGraphicFramePr>
        <p:xfrm>
          <a:off x="773642" y="2461715"/>
          <a:ext cx="6864350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93880" imgH="469800" progId="Equation.DSMT4">
                  <p:embed/>
                </p:oleObj>
              </mc:Choice>
              <mc:Fallback>
                <p:oleObj name="Equation" r:id="rId3" imgW="3593880" imgH="4698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782D165F-3D2C-62CC-7B2E-D77363A508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3642" y="2461715"/>
                        <a:ext cx="6864350" cy="896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CC0F9E9-BDD0-CD75-11CA-4B766CB012F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77932" y="3358652"/>
            <a:ext cx="5596467" cy="33214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4B62FB-D902-54FD-9FDB-57426B1BA677}"/>
                  </a:ext>
                </a:extLst>
              </p:cNvPr>
              <p:cNvSpPr txBox="1"/>
              <p:nvPr/>
            </p:nvSpPr>
            <p:spPr>
              <a:xfrm>
                <a:off x="1092200" y="4224867"/>
                <a:ext cx="346286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upper tail of the sampling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/>
                  <a:t> is the observed data</a:t>
                </a:r>
                <a:endParaRPr lang="en-IL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4B62FB-D902-54FD-9FDB-57426B1BA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200" y="4224867"/>
                <a:ext cx="3462867" cy="923330"/>
              </a:xfrm>
              <a:prstGeom prst="rect">
                <a:avLst/>
              </a:prstGeom>
              <a:blipFill>
                <a:blip r:embed="rId6"/>
                <a:stretch>
                  <a:fillRect l="-1408" t="-3289" b="-921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8311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3B53D-B258-B905-A951-7FC4EB1E3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9AC8316-541F-9658-090E-07792790B34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6"/>
                <a:ext cx="10515600" cy="540808"/>
              </a:xfrm>
            </p:spPr>
            <p:txBody>
              <a:bodyPr>
                <a:normAutofit fontScale="9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sub>
                    </m:sSub>
                  </m:oMath>
                </a14:m>
                <a:r>
                  <a:rPr lang="en-US" dirty="0"/>
                  <a:t> are the upper and lower tail statistics</a:t>
                </a:r>
                <a:endParaRPr lang="en-I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9AC8316-541F-9658-090E-07792790B3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6"/>
                <a:ext cx="10515600" cy="540808"/>
              </a:xfrm>
              <a:blipFill>
                <a:blip r:embed="rId2"/>
                <a:stretch>
                  <a:fillRect t="-40449" b="-5730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F3E75AAB-87F8-47BE-31D8-4FE8960679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7297" y="1029758"/>
                <a:ext cx="10515600" cy="41804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Intuitively the highest and lowest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for which the data make sense</a:t>
                </a:r>
                <a:endParaRPr lang="en-IL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F3E75AAB-87F8-47BE-31D8-4FE8960679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7297" y="1029758"/>
                <a:ext cx="10515600" cy="418042"/>
              </a:xfrm>
              <a:blipFill>
                <a:blip r:embed="rId3"/>
                <a:stretch>
                  <a:fillRect l="-870" t="-28986" b="-3623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C0F1457-EA52-7D97-6C12-46A2BA29B6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83806"/>
              </p:ext>
            </p:extLst>
          </p:nvPr>
        </p:nvGraphicFramePr>
        <p:xfrm>
          <a:off x="163576" y="1561571"/>
          <a:ext cx="5240338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43200" imgH="469800" progId="Equation.DSMT4">
                  <p:embed/>
                </p:oleObj>
              </mc:Choice>
              <mc:Fallback>
                <p:oleObj name="Equation" r:id="rId4" imgW="2743200" imgH="4698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3C0F1457-EA52-7D97-6C12-46A2BA29B6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3576" y="1561571"/>
                        <a:ext cx="5240338" cy="896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51FAB2A-93CD-7C32-6267-9F6943AD12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4654848"/>
              </p:ext>
            </p:extLst>
          </p:nvPr>
        </p:nvGraphicFramePr>
        <p:xfrm>
          <a:off x="6737350" y="1562100"/>
          <a:ext cx="4983163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68400" imgH="469800" progId="Equation.DSMT4">
                  <p:embed/>
                </p:oleObj>
              </mc:Choice>
              <mc:Fallback>
                <p:oleObj name="Equation" r:id="rId6" imgW="2768400" imgH="46980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B51FAB2A-93CD-7C32-6267-9F6943AD12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737350" y="1562100"/>
                        <a:ext cx="4983163" cy="846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38BB49D-5C9F-CD6B-448B-B47DFD5F59D6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695" y="2743103"/>
            <a:ext cx="5948983" cy="35306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55050D-550B-E122-DF57-E6AFF260FB82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93678" y="2743103"/>
            <a:ext cx="5948984" cy="353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9716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3D168-62A1-9EB5-7C8E-1A43F4BEA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630157D-9189-03D4-D20F-39EE72DA2DE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58686" y="114701"/>
                <a:ext cx="10515600" cy="90903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sub>
                    </m:sSub>
                  </m:oMath>
                </a14:m>
                <a:r>
                  <a:rPr lang="en-US" dirty="0"/>
                  <a:t> have sampling distributions!</a:t>
                </a:r>
                <a:endParaRPr lang="en-I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630157D-9189-03D4-D20F-39EE72DA2D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58686" y="114701"/>
                <a:ext cx="10515600" cy="909030"/>
              </a:xfrm>
              <a:blipFill>
                <a:blip r:embed="rId2"/>
                <a:stretch>
                  <a:fillRect t="-9396" b="-2013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BF9CE1-7AB0-D9EC-94BF-78F8E40EB8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418" y="1189837"/>
                <a:ext cx="10515600" cy="79798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So we can calculate the probability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It is 98%</a:t>
                </a:r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BF9CE1-7AB0-D9EC-94BF-78F8E40EB8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418" y="1189837"/>
                <a:ext cx="10515600" cy="797989"/>
              </a:xfrm>
              <a:blipFill>
                <a:blip r:embed="rId3"/>
                <a:stretch>
                  <a:fillRect l="-1043" t="-16794" b="-1679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2331268-D8A7-7EEB-A733-7A4E104FF64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17436" y="1756314"/>
            <a:ext cx="6324700" cy="503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94756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829C4-4BA2-B96F-906D-1A2670036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319C5-ABCD-A802-3E2A-DB14C226F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of the confidence interval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8D3F66-825F-562D-E42C-7BC7BBE585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600202"/>
                <a:ext cx="8229600" cy="427939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If we can define two functions: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Of any dataset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=0.96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 probability is over different datasets</a:t>
                </a:r>
              </a:p>
              <a:p>
                <a:pPr lvl="2"/>
                <a:r>
                  <a:rPr lang="en-US" dirty="0"/>
                  <a:t>Equality holds no matter what the true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Then:</a:t>
                </a:r>
              </a:p>
              <a:p>
                <a:pPr lvl="1"/>
                <a:r>
                  <a:rPr lang="en-US" dirty="0"/>
                  <a:t>Given a real dataset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is the 96% confidence interval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8D3F66-825F-562D-E42C-7BC7BBE585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600202"/>
                <a:ext cx="8229600" cy="4279390"/>
              </a:xfrm>
              <a:blipFill>
                <a:blip r:embed="rId2"/>
                <a:stretch>
                  <a:fillRect l="-1333" t="-242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0156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95A7C-BF1B-F071-D730-37735835C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 confidence interval (in steps)</a:t>
            </a:r>
            <a:endParaRPr lang="en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CAB47D-CCB3-FD9F-68AB-A464B1CCEE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Choose functions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Prove that they have coverage: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=0.96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Regardless of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Now for actual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Calculate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You have your confidence interval!!</a:t>
                </a:r>
                <a:endParaRPr lang="en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CAB47D-CCB3-FD9F-68AB-A464B1CCEE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E827B97F-3430-DC23-B815-B2DC4CAD77C3}"/>
              </a:ext>
            </a:extLst>
          </p:cNvPr>
          <p:cNvSpPr/>
          <p:nvPr/>
        </p:nvSpPr>
        <p:spPr>
          <a:xfrm>
            <a:off x="6257925" y="1825625"/>
            <a:ext cx="695325" cy="1774825"/>
          </a:xfrm>
          <a:prstGeom prst="righ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 dirty="0">
              <a:solidFill>
                <a:srgbClr val="0070C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95FF74-A6A5-5936-7F1D-CF93E5A0B153}"/>
              </a:ext>
            </a:extLst>
          </p:cNvPr>
          <p:cNvSpPr txBox="1"/>
          <p:nvPr/>
        </p:nvSpPr>
        <p:spPr>
          <a:xfrm>
            <a:off x="6953250" y="2389871"/>
            <a:ext cx="14949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70C0"/>
                </a:solidFill>
              </a:rPr>
              <a:t>Theory</a:t>
            </a:r>
            <a:endParaRPr lang="en-IL" sz="3600" dirty="0">
              <a:solidFill>
                <a:srgbClr val="0070C0"/>
              </a:solidFill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C8BDA543-EFA9-A0B0-36DF-1017446E8910}"/>
              </a:ext>
            </a:extLst>
          </p:cNvPr>
          <p:cNvSpPr/>
          <p:nvPr/>
        </p:nvSpPr>
        <p:spPr>
          <a:xfrm>
            <a:off x="6257925" y="3600450"/>
            <a:ext cx="695325" cy="904875"/>
          </a:xfrm>
          <a:prstGeom prst="rightBrac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DE49AA-DCBA-4184-F5DA-802D4C235005}"/>
              </a:ext>
            </a:extLst>
          </p:cNvPr>
          <p:cNvSpPr txBox="1"/>
          <p:nvPr/>
        </p:nvSpPr>
        <p:spPr>
          <a:xfrm>
            <a:off x="6953250" y="3729722"/>
            <a:ext cx="2264274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Calculation</a:t>
            </a:r>
            <a:endParaRPr lang="en-IL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7977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47826-EBF6-9FD2-F4DF-79040D639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4ADD4-8641-F06A-879A-F000CBE82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686" y="114701"/>
            <a:ext cx="10515600" cy="909030"/>
          </a:xfrm>
        </p:spPr>
        <p:txBody>
          <a:bodyPr/>
          <a:lstStyle/>
          <a:p>
            <a:r>
              <a:rPr lang="en-US" dirty="0"/>
              <a:t>Confidence interval defined on </a:t>
            </a:r>
            <a:r>
              <a:rPr lang="en-US" b="1" dirty="0"/>
              <a:t>actual data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1D5BD-0FAF-E45F-C18B-367D96E41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418" y="1023731"/>
            <a:ext cx="10515600" cy="797989"/>
          </a:xfrm>
        </p:spPr>
        <p:txBody>
          <a:bodyPr>
            <a:normAutofit/>
          </a:bodyPr>
          <a:lstStyle/>
          <a:p>
            <a:r>
              <a:rPr lang="en-US" dirty="0"/>
              <a:t>But defined only if sampling distribution fits the definition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914742-2CEF-26A8-D515-366EBB8BAF8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502" y="2153932"/>
            <a:ext cx="5562231" cy="44316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794E20-FDC7-3A66-7C3B-6EBD34616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646" y="2153930"/>
            <a:ext cx="5562232" cy="4431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6949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3F872-92A0-4AB1-8070-891C1DBD4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6849-F024-2514-97F2-CF66CAF54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than one confidence interval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D4B16-6478-FFD0-E165-7AE7FE692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0327" y="1196652"/>
            <a:ext cx="8229600" cy="807098"/>
          </a:xfrm>
        </p:spPr>
        <p:txBody>
          <a:bodyPr/>
          <a:lstStyle/>
          <a:p>
            <a:r>
              <a:rPr lang="en-US" dirty="0"/>
              <a:t>Different methods with different assumptions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9A1415-13A1-C8A7-5F17-645C1A12E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1" y="2211357"/>
            <a:ext cx="4717583" cy="15096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61FC64-D53A-BD7B-B7DC-4B06CFBAA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724" y="3844213"/>
            <a:ext cx="5486806" cy="273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26962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8D23F-C1B1-92AA-132A-461C363D5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3284"/>
          </a:xfrm>
        </p:spPr>
        <p:txBody>
          <a:bodyPr/>
          <a:lstStyle/>
          <a:p>
            <a:r>
              <a:rPr lang="en-US" dirty="0"/>
              <a:t>Bayesian and frequentist interval estimates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11CEA-9023-2B7F-968E-C9450E234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2530"/>
            <a:ext cx="10515600" cy="2708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Both represent probability statements</a:t>
            </a:r>
          </a:p>
          <a:p>
            <a:r>
              <a:rPr lang="en-US" dirty="0"/>
              <a:t>HDI</a:t>
            </a:r>
          </a:p>
          <a:p>
            <a:pPr lvl="1"/>
            <a:r>
              <a:rPr lang="en-US" dirty="0"/>
              <a:t>Probability statement about the parameter</a:t>
            </a:r>
          </a:p>
          <a:p>
            <a:pPr lvl="2"/>
            <a:r>
              <a:rPr lang="en-US" dirty="0"/>
              <a:t>What do we know about it given data and priors</a:t>
            </a:r>
          </a:p>
          <a:p>
            <a:r>
              <a:rPr lang="en-US" dirty="0"/>
              <a:t>CI</a:t>
            </a:r>
          </a:p>
          <a:p>
            <a:pPr lvl="1"/>
            <a:r>
              <a:rPr lang="en-US" dirty="0"/>
              <a:t>Probability statement about the data</a:t>
            </a:r>
          </a:p>
          <a:p>
            <a:pPr lvl="2"/>
            <a:r>
              <a:rPr lang="en-US" dirty="0"/>
              <a:t>For which parameters is this data unlikely?</a:t>
            </a:r>
          </a:p>
          <a:p>
            <a:pPr lvl="1"/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95DDBA-74CC-558A-4829-1199F98E885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05061" y="4019550"/>
            <a:ext cx="3399319" cy="2708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112371-FA70-57DC-86FF-50DE1F485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282" y="4019549"/>
            <a:ext cx="3399318" cy="27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233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2B2DB-A407-2061-E7A5-0D6215529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AFEFC-EE1D-679C-104B-63ED24F43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Misinterpretations of CI in literature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AB5F9-ED6C-C9A1-580B-289619740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Ascribing probability to a parameter is misusing the CI</a:t>
            </a:r>
          </a:p>
          <a:p>
            <a:pPr lvl="1"/>
            <a:r>
              <a:rPr lang="en-US" dirty="0"/>
              <a:t>“There’s a 95% chance the true parameter is in this interval.”</a:t>
            </a:r>
          </a:p>
          <a:p>
            <a:pPr lvl="1"/>
            <a:r>
              <a:rPr lang="en-US" dirty="0"/>
              <a:t>“This CI tells me where the parameter is most likely to be.”</a:t>
            </a:r>
          </a:p>
          <a:p>
            <a:pPr lvl="1"/>
            <a:r>
              <a:rPr lang="en-US" dirty="0"/>
              <a:t>“This CI means the null model is likely / unlikely.”</a:t>
            </a:r>
          </a:p>
          <a:p>
            <a:r>
              <a:rPr lang="en-US" dirty="0"/>
              <a:t>The correct way to say it:</a:t>
            </a:r>
          </a:p>
          <a:p>
            <a:pPr lvl="1"/>
            <a:r>
              <a:rPr lang="en-US" dirty="0"/>
              <a:t>“If the experiment is repeated many times, there is a 95% chance the CI will contain the parameter”</a:t>
            </a:r>
          </a:p>
          <a:p>
            <a:pPr lvl="1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354825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FE45D6-33FD-32C4-D3D8-3365109E5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56B53-E13E-C179-047B-3C2E02C73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3.11 Next time</a:t>
            </a:r>
            <a:endParaRPr lang="en-IL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F2CF2-51EC-0F4E-5A7C-02B4E9ABB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MCMC: how does sampling actually work?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403675873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D8203A-5B8D-CA9A-12DD-11660EF3A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Posterior distributions are often hard to sample</a:t>
            </a:r>
            <a:endParaRPr lang="en-IL" sz="4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E3D560-4137-0A9F-C5D0-09B9B1AC7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65842"/>
          </a:xfrm>
        </p:spPr>
        <p:txBody>
          <a:bodyPr/>
          <a:lstStyle/>
          <a:p>
            <a:r>
              <a:rPr lang="en-US" dirty="0"/>
              <a:t>No closed form random number generator</a:t>
            </a:r>
          </a:p>
          <a:p>
            <a:r>
              <a:rPr lang="en-US" dirty="0"/>
              <a:t>Need an algorithm that ‘matches probability’</a:t>
            </a:r>
          </a:p>
          <a:p>
            <a:pPr lvl="1"/>
            <a:r>
              <a:rPr lang="en-US" dirty="0"/>
              <a:t>An algorithm that goes from place to place like a king in a boat</a:t>
            </a:r>
          </a:p>
          <a:p>
            <a:pPr lvl="1"/>
            <a:r>
              <a:rPr lang="en-US" dirty="0"/>
              <a:t>An algorithm that flies around in space like a </a:t>
            </a:r>
            <a:r>
              <a:rPr lang="en-US" dirty="0" err="1"/>
              <a:t>sattelite</a:t>
            </a:r>
            <a:endParaRPr lang="en-IL" dirty="0"/>
          </a:p>
        </p:txBody>
      </p:sp>
      <p:pic>
        <p:nvPicPr>
          <p:cNvPr id="6" name="Picture 4" descr="Graphical representation of MCMC algorithm. | Download Scientific Diagram">
            <a:extLst>
              <a:ext uri="{FF2B5EF4-FFF2-40B4-BE49-F238E27FC236}">
                <a16:creationId xmlns:a16="http://schemas.microsoft.com/office/drawing/2014/main" id="{0466B174-0A0E-11C0-BE0E-E2813A052F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430" y="3759199"/>
            <a:ext cx="4560064" cy="2618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E49C2D-8166-A48F-4AE1-A183D8223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020" y="4064000"/>
            <a:ext cx="2788203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9806</TotalTime>
  <Words>2138</Words>
  <Application>Microsoft Office PowerPoint</Application>
  <PresentationFormat>Widescreen</PresentationFormat>
  <Paragraphs>376</Paragraphs>
  <Slides>67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6" baseType="lpstr">
      <vt:lpstr>Arial</vt:lpstr>
      <vt:lpstr>Calibri</vt:lpstr>
      <vt:lpstr>Calibri Light</vt:lpstr>
      <vt:lpstr>Cambria Math</vt:lpstr>
      <vt:lpstr>Consolas</vt:lpstr>
      <vt:lpstr>Ink Free</vt:lpstr>
      <vt:lpstr>Source Sans Pro</vt:lpstr>
      <vt:lpstr>Office Theme</vt:lpstr>
      <vt:lpstr>Equation</vt:lpstr>
      <vt:lpstr>Statistics 367-1-4361 PyMC and Sampling</vt:lpstr>
      <vt:lpstr>Where we came from and where we are going</vt:lpstr>
      <vt:lpstr>3.1 Graphical models</vt:lpstr>
      <vt:lpstr>Representing models using graphs</vt:lpstr>
      <vt:lpstr>Rules for graphical models</vt:lpstr>
      <vt:lpstr>Different styles for graphical models</vt:lpstr>
      <vt:lpstr>3.2 Probabilistic programming languages</vt:lpstr>
      <vt:lpstr>Why Bayesian inference became computational</vt:lpstr>
      <vt:lpstr>PyMC: a PPL for Python</vt:lpstr>
      <vt:lpstr>From probabilistic model to graphical model</vt:lpstr>
      <vt:lpstr>The PyMC graphical visualizer</vt:lpstr>
      <vt:lpstr>3.3 Sampling</vt:lpstr>
      <vt:lpstr>Why sample?</vt:lpstr>
      <vt:lpstr>Sampling: 500 draws</vt:lpstr>
      <vt:lpstr>Sampling: 5,000 draws</vt:lpstr>
      <vt:lpstr>Sampling: 50,000 draws</vt:lpstr>
      <vt:lpstr>Sampling and PPL</vt:lpstr>
      <vt:lpstr>What happens when we call pm.sample()? </vt:lpstr>
      <vt:lpstr>posterior has the samples</vt:lpstr>
      <vt:lpstr>Draws and samples</vt:lpstr>
      <vt:lpstr>3.4 Plotting the posterior distribution</vt:lpstr>
      <vt:lpstr>Arviz: Analyzing Bayesian data</vt:lpstr>
      <vt:lpstr>Sampling the posterior for fake data</vt:lpstr>
      <vt:lpstr>Arviz summary of the posterior</vt:lpstr>
      <vt:lpstr>3.5 Estimation</vt:lpstr>
      <vt:lpstr>Different estimates of the true value</vt:lpstr>
      <vt:lpstr>To understand estimators, use simulated data</vt:lpstr>
      <vt:lpstr>Calculating each estimator on different samples</vt:lpstr>
      <vt:lpstr>The distribution of the estimators</vt:lpstr>
      <vt:lpstr>The bias / variance tradeoff</vt:lpstr>
      <vt:lpstr>Which estimator to use</vt:lpstr>
      <vt:lpstr>3.6 HDI</vt:lpstr>
      <vt:lpstr>Summarizing the posterior distribution</vt:lpstr>
      <vt:lpstr>Highest density interval</vt:lpstr>
      <vt:lpstr>An HDI can be disconnected</vt:lpstr>
      <vt:lpstr>The logic of the HDI</vt:lpstr>
      <vt:lpstr>How will HDI vary across datasets</vt:lpstr>
      <vt:lpstr>Coverage of the HDI</vt:lpstr>
      <vt:lpstr>3.7 Frequentist vs Bayesian philosophies</vt:lpstr>
      <vt:lpstr>The Bayesian philosophy</vt:lpstr>
      <vt:lpstr>Frequentist uncertainty is aleatory uncertainty</vt:lpstr>
      <vt:lpstr>Bayesians and frequentists ask different questions </vt:lpstr>
      <vt:lpstr>3.8 Frequentist estimation</vt:lpstr>
      <vt:lpstr>Estimators and statistics</vt:lpstr>
      <vt:lpstr>Estimators of the mean</vt:lpstr>
      <vt:lpstr>Estimation is only easy for good data</vt:lpstr>
      <vt:lpstr>Sampling distribution of the statistic</vt:lpstr>
      <vt:lpstr>Sampling distribution for a binomial likelihood</vt:lpstr>
      <vt:lpstr>Estimated sampling distribution</vt:lpstr>
      <vt:lpstr>Sampling distribution for estimator uncertainty</vt:lpstr>
      <vt:lpstr>3.9 Maximum likelihood</vt:lpstr>
      <vt:lpstr>What is the MLE?</vt:lpstr>
      <vt:lpstr>Is the MLE a good estimator?</vt:lpstr>
      <vt:lpstr>The MLE through Bayesian eyes</vt:lpstr>
      <vt:lpstr>3.10 Confidence intervals</vt:lpstr>
      <vt:lpstr>The idea of the confidence interval</vt:lpstr>
      <vt:lpstr>The lower tail statistic</vt:lpstr>
      <vt:lpstr>θ_L and θ_U are the upper and lower tail statistics</vt:lpstr>
      <vt:lpstr>θ_L and θ_U have sampling distributions!</vt:lpstr>
      <vt:lpstr>Definition of the confidence interval</vt:lpstr>
      <vt:lpstr>Defining a confidence interval (in steps)</vt:lpstr>
      <vt:lpstr>Confidence interval defined on actual data</vt:lpstr>
      <vt:lpstr>More than one confidence interval</vt:lpstr>
      <vt:lpstr>Bayesian and frequentist interval estimates</vt:lpstr>
      <vt:lpstr>Misinterpretations of CI in literature</vt:lpstr>
      <vt:lpstr>3.11 Next time</vt:lpstr>
      <vt:lpstr>Posterior distributions are often hard to sample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Data Analysis 367-2-5461</dc:title>
  <dc:creator>Opher Donchin</dc:creator>
  <cp:lastModifiedBy>Opher Donchin</cp:lastModifiedBy>
  <cp:revision>56</cp:revision>
  <cp:lastPrinted>2025-03-02T19:02:30Z</cp:lastPrinted>
  <dcterms:created xsi:type="dcterms:W3CDTF">2016-03-07T06:16:50Z</dcterms:created>
  <dcterms:modified xsi:type="dcterms:W3CDTF">2026-04-14T23:47:52Z</dcterms:modified>
</cp:coreProperties>
</file>