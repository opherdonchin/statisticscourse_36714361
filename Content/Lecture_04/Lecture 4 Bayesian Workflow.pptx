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38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3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6" r:id="rId72"/>
    <p:sldId id="325" r:id="rId73"/>
    <p:sldId id="327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Style>
        <a:tcBdr/>
        <a:fill>
          <a:solidFill>
            <a:schemeClr val="accent1">
              <a:alpha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12700">
              <a:solidFill>
                <a:schemeClr val="accent1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12700">
              <a:solidFill>
                <a:schemeClr val="accent1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9728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1680793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CF176CD-15D1-4787-BBAA-B7F61FF9E394}" type="datetimeFigureOut">
              <a:rPr lang="en-GB"/>
              <a:t>06/05/2026</a:t>
            </a:fld>
            <a:endParaRPr lang="en-GB"/>
          </a:p>
        </p:txBody>
      </p:sp>
      <p:sp>
        <p:nvSpPr>
          <p:cNvPr id="436463755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8802488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773410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131381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04755F2-1724-4A9A-9963-AF329A73906F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56546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46440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961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4848C4-5023-52BC-6BE2-2773C839338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5652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223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367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CD189B-C584-69B3-87C9-075E42831F2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25572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99549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73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CD856E-3C06-56EE-9935-AC5107AA6D45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F6165D-CD45-FFDE-B9D4-DF19685BE896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5338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41606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84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54CDD7-3C23-47E0-345B-88A3BBA6D80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387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27766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46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560AC-4ED1-CF33-F0EF-C5D361AC453C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2046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08594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838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0869-8E20-FD90-1337-0A7F26AEF17D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5540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1788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684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77B512-25B7-2249-EB0A-21972D6FBCFE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310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58707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710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77B512-25B7-2249-EB0A-21972D6FBCF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91049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86231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148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776FB-2075-76C7-1689-C661FFD29364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0412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28361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559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1D6BBE-6102-AD2C-CE7F-07914F6935D7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94204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7616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904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1D6BBE-6102-AD2C-CE7F-07914F6935D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816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02711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8178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4E44A0-22B1-B971-BD04-009D4916C6ED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07719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75757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5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27078F-DB24-330C-DAF3-6F5D085E1FE6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01429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55036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616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842EA1-93DA-CF4F-7A48-1D7BFE283719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99495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70441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982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451E50-72A2-356F-6061-6DE77B0AF97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55890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44010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8141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CD2A-FA45-2670-3402-83A9F5C1F962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0977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94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444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E0BE0E-30B8-1568-E607-6180DB2596A4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6004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37768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118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11FE16-984F-B5EE-DA98-184DEA30F1B6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7272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12769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15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E09381-D02F-88BB-CF03-E23AAD1C43E6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28226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28395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858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97965F-F16B-40B3-91C6-09890B75CB76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67206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96548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2651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A337F6-B897-D210-CD36-D70EF042D47B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55924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03688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601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2F94F1-5347-B354-33D7-7D3AFA7E198B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5199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08889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43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E878DE-7009-299B-9F14-9E1E2534BADA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99148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04539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537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D7587-9C9B-3A97-2512-3FBA6AE6FD97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36119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26690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239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BD7D3-7DA0-BE45-AA77-FD2BB4D996D7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575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09248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20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E215EC-6377-2673-F891-DE3C17639340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5283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5224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1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7CCCB-4C42-58D3-4633-FC51D0340DFC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1920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1056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038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97FB30-45C4-154A-9CDD-0979FBCF476D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92179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6480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865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C5D86-18D8-9628-4F97-6260EE24DA2B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6598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2453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050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744693-5D94-E3E2-04F9-4085302101A0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836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00325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456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FCAD70-9E50-4219-A45F-791A42D1FF5A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62152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94094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18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A3EFDB-EAF3-9BA9-2616-5E138DC1AF34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41939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38489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791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6CC641-1E1D-CE68-6950-7FB63DD9B0FA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18114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4002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08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3900D5-8182-B0D7-1C2E-9DF568BA227C}" type="slidenum">
              <a:rPr/>
              <a:t>36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9316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27336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049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65F592-68EB-A500-CC71-B58C4E419598}" type="slidenum">
              <a:rPr/>
              <a:t>37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90206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24060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758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4EFBC-4C26-134E-C4CC-A69D8CF61035}" type="slidenum">
              <a:rPr/>
              <a:t>38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55669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21037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61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6C1084-B4FD-8DAA-8794-4477604C360B}" type="slidenum">
              <a:rPr/>
              <a:t>39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27040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20056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129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FD146-BFD4-E919-8477-99D58C401162}" type="slidenum">
              <a:rPr/>
              <a:t>40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015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11870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140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A8B121-40D9-2DE5-7E56-A5BF9BF526F0}" type="slidenum">
              <a:rPr/>
              <a:t>41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16122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83503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655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926156-241A-3E0E-92FD-F0F45D5D3A30}" type="slidenum">
              <a:rPr/>
              <a:t>42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266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0171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390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A49C51-D631-E186-7B78-B6C0A7CB7E6A}" type="slidenum">
              <a:rPr/>
              <a:t>43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27162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0585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829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3631E-DD42-E371-9202-7DECFA3205B4}" type="slidenum">
              <a:rPr/>
              <a:t>44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154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583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662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8D6755-B875-17AB-7D2C-1B8006C684A7}" type="slidenum">
              <a:rPr/>
              <a:t>45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61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01774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635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6619CF-70EC-FB5D-5D3F-6950A7431CC6}" type="slidenum">
              <a:rPr/>
              <a:t>46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610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45752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29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EE08B7-8278-60D8-5FEF-C74AD08116C4}" type="slidenum">
              <a:rPr/>
              <a:t>47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07104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69947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840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BF916-9673-898D-9784-82AAFD9264FC}" type="slidenum">
              <a:rPr/>
              <a:t>48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7136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8869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8495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7F903F-0884-C812-200D-4070DC419A4C}" type="slidenum">
              <a:rPr/>
              <a:t>49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4715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70685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338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68DED0-E523-9B4D-9EA5-9826FF9AAE27}" type="slidenum">
              <a:rPr/>
              <a:t>50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35854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7845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126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4F25-9D0E-1F80-437F-AE8E97256706}" type="slidenum">
              <a:rPr/>
              <a:t>51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7511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2436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629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9305A-9C44-26FC-9A20-BB5440965F75}" type="slidenum">
              <a:rPr/>
              <a:t>52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7022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97451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8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BA6378-DD1D-6FBF-BFC8-FD18097EA052}" type="slidenum">
              <a:rPr/>
              <a:t>53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64195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96622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090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677E3B-7E16-686E-8235-19E8CB1F22E3}" type="slidenum">
              <a:rPr/>
              <a:t>54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14362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708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7734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0A2D0A-85CE-C43C-6938-B5770C0A5F64}" type="slidenum">
              <a:rPr/>
              <a:t>56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82919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2421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911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A3EE9A-9640-4D45-2950-6204A0352123}" type="slidenum">
              <a:rPr/>
              <a:t>57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53603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4234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88677F-2929-F306-227C-0023D43A2338}" type="slidenum">
              <a:rPr/>
              <a:t>58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7394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11214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865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112578-58FD-D91F-93F5-CC0270A0D030}" type="slidenum">
              <a:rPr/>
              <a:t>59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5877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34431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67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9C21A2-43F7-F6C3-FF31-DB9F632BAD31}" type="slidenum">
              <a:rPr/>
              <a:t>60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1112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29798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39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BA9750-C8F5-43A0-1012-060E945949BA}" type="slidenum">
              <a:rPr/>
              <a:t>61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20248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7185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60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801CE4-2CB7-B203-0C31-03CAE9E6D594}" type="slidenum">
              <a:rPr/>
              <a:t>62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0421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0577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69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619327-D84C-0F6D-C755-7DFCC762F636}" type="slidenum">
              <a:rPr/>
              <a:t>63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8070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7885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687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D0D7F-6D95-FA88-8CA9-AE505A408DAC}" type="slidenum">
              <a:rPr/>
              <a:t>64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89577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95490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075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640FD6-1812-AF62-FF8E-9E38929DD9BB}" type="slidenum">
              <a:rPr/>
              <a:t>65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06205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4442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604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B8ADAF-7C8E-2F5D-5BC2-EDD62F776B7B}" type="slidenum">
              <a:rPr/>
              <a:t>66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0276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4085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6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2D347D-F69A-8051-6561-73683B4D1358}" type="slidenum">
              <a:rPr/>
              <a:t>67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164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93826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67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4322D5-A54E-AF36-D903-EC3D45D25BD3}" type="slidenum">
              <a:rPr/>
              <a:t>68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3751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89312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534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385715-41FA-C33C-F8B0-D5A9CCC85A5E}" type="slidenum">
              <a:rPr/>
              <a:t>69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2723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2375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798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92531C-59BE-E534-B96E-7F0FD82FA951}" type="slidenum">
              <a:rPr/>
              <a:t>70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68692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813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8317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DDA32-D4DD-BDEC-D1B0-540912B8676F}" type="slidenum">
              <a:rPr/>
              <a:t>71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2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08387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915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0641D4-B5B6-753F-F18D-F288ADD5B9FF}" type="slidenum">
              <a:rPr/>
              <a:t>72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724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1627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687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621A45-6F78-7169-F136-82D5A45EF42D}" type="slidenum">
              <a:rPr/>
              <a:t>73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5800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9176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707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4D3FBD-DBBC-1696-6788-55044A001FDB}" type="slidenum">
              <a:rPr/>
              <a:t>74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21747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5599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019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4D3FBD-DBBC-1696-6788-55044A001FDB}" type="slidenum">
              <a:rPr/>
              <a:t>75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083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98770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819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4D3FBD-DBBC-1696-6788-55044A001FDB}" type="slidenum">
              <a:rPr/>
              <a:t>76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1343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28843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116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876976-07DA-AF81-42AC-0101578AD97A}" type="slidenum">
              <a:rPr/>
              <a:t>77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6273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99517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112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404EAF-CEB6-F2E4-FEE5-CF33DB49529E}" type="slidenum">
              <a:rPr/>
              <a:t>78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4758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58520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208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D42B4-320E-40E5-8C16-AD48F8FAA5F6}" type="slidenum">
              <a:rPr/>
              <a:t>79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45298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7254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817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D42B4-320E-40E5-8C16-AD48F8FAA5F6}" type="slidenum">
              <a:rPr/>
              <a:t>80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1155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91407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270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D42B4-320E-40E5-8C16-AD48F8FAA5F6}" type="slidenum">
              <a:rPr/>
              <a:t>81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33280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08614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123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D42B4-320E-40E5-8C16-AD48F8FAA5F6}" type="slidenum">
              <a:rPr/>
              <a:t>82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7475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414087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956607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6918576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874330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2324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979574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16873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97479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35809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94211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130721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1241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4220955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998459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5867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269635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810528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068093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2184542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530246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40432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248639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87211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4844774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811201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111445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10925008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2188095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449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249937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42026803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5902043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31262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372808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986206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3187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1835242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36766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58643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8982075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771405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1519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2747399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8805931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86235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5536512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680632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5692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719371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92395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3481000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18322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6458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667701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76050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4965690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239092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95237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470173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2078483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3AF1EE-65BA-4140-B6B9-7F82C437F84A}" type="datetimeFigureOut">
              <a:rPr lang="en-GB"/>
              <a:t>06/05/2026</a:t>
            </a:fld>
            <a:endParaRPr lang="en-GB"/>
          </a:p>
        </p:txBody>
      </p:sp>
      <p:sp>
        <p:nvSpPr>
          <p:cNvPr id="16775930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4817213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DC7AD3-7C2E-418B-8082-788996B615FB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37.wmf"/><Relationship Id="rId26" Type="http://schemas.openxmlformats.org/officeDocument/2006/relationships/image" Target="../media/image41.wmf"/><Relationship Id="rId3" Type="http://schemas.openxmlformats.org/officeDocument/2006/relationships/image" Target="../media/image33.png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29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40.wmf"/><Relationship Id="rId5" Type="http://schemas.openxmlformats.org/officeDocument/2006/relationships/image" Target="../media/image31.wmf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28" Type="http://schemas.openxmlformats.org/officeDocument/2006/relationships/image" Target="../media/image42.wmf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10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Relationship Id="rId14" Type="http://schemas.openxmlformats.org/officeDocument/2006/relationships/image" Target="../media/image35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14.bin"/><Relationship Id="rId30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49.png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47.wmf"/><Relationship Id="rId5" Type="http://schemas.openxmlformats.org/officeDocument/2006/relationships/image" Target="../media/image44.e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4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pherdonchin.github.io/mcmc-demo/app.html?algorithm=RandomWalkMH&amp;target=standard&amp;sigma=0.10&amp;seed=metropolis-narrow&amp;delay=50&amp;animateProposal=true&amp;showSamples=true&amp;showHistograms=true&amp;histBins=80" TargetMode="External"/><Relationship Id="rId2" Type="http://schemas.openxmlformats.org/officeDocument/2006/relationships/hyperlink" Target="https://opherdonchin.github.io/mcmc-demo/app.html?algorithm=RandomWalkMH&amp;target=standard&amp;sigma=1.0&amp;seed=metropolis-good&amp;delay=50&amp;animateProposal=true&amp;showSamples=true&amp;showHistograms=true&amp;histBins=80" TargetMode="Externa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wmf"/><Relationship Id="rId4" Type="http://schemas.openxmlformats.org/officeDocument/2006/relationships/oleObject" Target="../embeddings/oleObject2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3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7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opherdonchin.github.io/mcmc-demo/app.html?algorithm=HamiltonianMC&amp;target=standard&amp;dt=0.15&amp;leapfrogSteps=12&amp;seed=hmc-good&amp;delay=80&amp;animateProposal=true&amp;showSamples=true&amp;showHistograms=true&amp;histBins=80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opherdonchin.github.io/mcmc-demo/app.html?algorithm=HamiltonianMC&amp;target=standard&amp;dt=0.10&amp;leapfrogSteps=60&amp;seed=hmc-too-many&amp;delay=80&amp;animateProposal=true&amp;showSamples=true&amp;showHistograms=true&amp;histBins=80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opherdonchin.github.io/mcmc-demo/app.html?algorithm=HamiltonianMC&amp;target=standard&amp;dt=0.10&amp;leapfrogSteps=60&amp;seed=hmc-too-many&amp;delay=80&amp;animateProposal=true&amp;showSamples=true&amp;showHistograms=true&amp;histBins=80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gi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4.wmf"/><Relationship Id="rId4" Type="http://schemas.openxmlformats.org/officeDocument/2006/relationships/oleObject" Target="../embeddings/oleObject25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7.png"/><Relationship Id="rId4" Type="http://schemas.openxmlformats.org/officeDocument/2006/relationships/image" Target="../media/image103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418557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Statistics</a:t>
            </a:r>
            <a:br>
              <a:rPr lang="en-US"/>
            </a:br>
            <a:r>
              <a:rPr lang="en-US"/>
              <a:t>367-1-4361</a:t>
            </a:r>
            <a:br>
              <a:rPr lang="en-US"/>
            </a:br>
            <a:r>
              <a:rPr lang="en-US"/>
              <a:t>Bayesian Workflow</a:t>
            </a:r>
            <a:endParaRPr lang="en-GB"/>
          </a:p>
        </p:txBody>
      </p:sp>
      <p:sp>
        <p:nvSpPr>
          <p:cNvPr id="1684237719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5400"/>
              <a:t>Opher Donchin</a:t>
            </a:r>
            <a:endParaRPr lang="en-GB" sz="5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862"/>
    </mc:Choice>
    <mc:Fallback xmlns="" xmlns:m="http://schemas.openxmlformats.org/officeDocument/2006/math" xmlns:w="http://schemas.openxmlformats.org/wordprocessingml/2006/main">
      <p:transition advClick="1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88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4.1 </a:t>
            </a:r>
            <a:r>
              <a:rPr lang="he-IL">
                <a:latin typeface="Source Sans Pro"/>
                <a:ea typeface="Source Sans Pro"/>
              </a:rPr>
              <a:t>B</a:t>
            </a:r>
            <a:r>
              <a:rPr lang="en-US">
                <a:latin typeface="Source Sans Pro"/>
                <a:ea typeface="Source Sans Pro"/>
              </a:rPr>
              <a:t>ayesian workflow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896357917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The main trial and the side paths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8887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Basic Bayesian processing</a:t>
            </a:r>
            <a:endParaRPr/>
          </a:p>
        </p:txBody>
      </p:sp>
      <p:sp>
        <p:nvSpPr>
          <p:cNvPr id="287138971" name="Oval 3"/>
          <p:cNvSpPr/>
          <p:nvPr/>
        </p:nvSpPr>
        <p:spPr bwMode="auto">
          <a:xfrm>
            <a:off x="387348" y="3657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2112254195" name="Oval 4"/>
          <p:cNvSpPr/>
          <p:nvPr/>
        </p:nvSpPr>
        <p:spPr bwMode="auto">
          <a:xfrm>
            <a:off x="2781299" y="3657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689246425" name="Straight Arrow Connector 6"/>
          <p:cNvCxnSpPr>
            <a:stCxn id="287138971" idx="6"/>
            <a:endCxn id="2112254195" idx="2"/>
          </p:cNvCxnSpPr>
          <p:nvPr/>
        </p:nvCxnSpPr>
        <p:spPr bwMode="auto">
          <a:xfrm>
            <a:off x="1720849" y="3946524"/>
            <a:ext cx="106044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465720331" name="Oval 13"/>
          <p:cNvSpPr/>
          <p:nvPr/>
        </p:nvSpPr>
        <p:spPr bwMode="auto">
          <a:xfrm>
            <a:off x="5599112" y="3657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814645614" name="Straight Arrow Connector 14"/>
          <p:cNvCxnSpPr>
            <a:stCxn id="2112254195" idx="6"/>
            <a:endCxn id="465720331" idx="2"/>
          </p:cNvCxnSpPr>
          <p:nvPr/>
        </p:nvCxnSpPr>
        <p:spPr bwMode="auto">
          <a:xfrm>
            <a:off x="4114800" y="3946524"/>
            <a:ext cx="1484311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939193247" name="Oval 70"/>
          <p:cNvSpPr/>
          <p:nvPr/>
        </p:nvSpPr>
        <p:spPr bwMode="auto">
          <a:xfrm>
            <a:off x="7821612" y="3657600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2074328590" name="Straight Arrow Connector 71"/>
          <p:cNvCxnSpPr>
            <a:stCxn id="465720331" idx="6"/>
            <a:endCxn id="939193247" idx="2"/>
          </p:cNvCxnSpPr>
          <p:nvPr/>
        </p:nvCxnSpPr>
        <p:spPr bwMode="auto">
          <a:xfrm>
            <a:off x="6932611" y="3946524"/>
            <a:ext cx="88899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858375304" name="Oval 74"/>
          <p:cNvSpPr/>
          <p:nvPr/>
        </p:nvSpPr>
        <p:spPr bwMode="auto">
          <a:xfrm>
            <a:off x="10037761" y="3657600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228062838" name="Straight Arrow Connector 75"/>
          <p:cNvCxnSpPr>
            <a:stCxn id="939193247" idx="6"/>
            <a:endCxn id="858375304" idx="2"/>
          </p:cNvCxnSpPr>
          <p:nvPr/>
        </p:nvCxnSpPr>
        <p:spPr bwMode="auto">
          <a:xfrm>
            <a:off x="9359899" y="3946524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048251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 full workflow requires testing</a:t>
            </a:r>
            <a:endParaRPr/>
          </a:p>
        </p:txBody>
      </p:sp>
      <p:sp>
        <p:nvSpPr>
          <p:cNvPr id="45359545" name="Content Placeholder 3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2771772"/>
          </a:xfrm>
        </p:spPr>
        <p:txBody>
          <a:bodyPr/>
          <a:lstStyle/>
          <a:p>
            <a:pPr>
              <a:defRPr/>
            </a:pPr>
            <a:r>
              <a:rPr lang="en-US"/>
              <a:t>Results can’t be trusted unless there is some way to check them</a:t>
            </a:r>
            <a:endParaRPr/>
          </a:p>
          <a:p>
            <a:pPr lvl="1">
              <a:defRPr/>
            </a:pPr>
            <a:r>
              <a:rPr lang="en-US"/>
              <a:t>Data may be imprecise, invalid, and unreliable</a:t>
            </a:r>
            <a:endParaRPr/>
          </a:p>
          <a:p>
            <a:pPr lvl="1">
              <a:defRPr/>
            </a:pPr>
            <a:r>
              <a:rPr lang="en-US"/>
              <a:t>A model may be incoherent or innapropriate</a:t>
            </a:r>
          </a:p>
          <a:p>
            <a:pPr lvl="1">
              <a:defRPr/>
            </a:pPr>
            <a:r>
              <a:rPr lang="en-US"/>
              <a:t>Samples may not actually reflect the posterior distribution</a:t>
            </a:r>
            <a:endParaRPr/>
          </a:p>
          <a:p>
            <a:pPr lvl="1">
              <a:defRPr/>
            </a:pPr>
            <a:r>
              <a:rPr lang="en-US"/>
              <a:t>The posterior distribution may be incompatible with the data</a:t>
            </a:r>
            <a:endParaRPr/>
          </a:p>
        </p:txBody>
      </p:sp>
      <p:sp>
        <p:nvSpPr>
          <p:cNvPr id="1738767561" name="Oval 3"/>
          <p:cNvSpPr/>
          <p:nvPr/>
        </p:nvSpPr>
        <p:spPr bwMode="auto">
          <a:xfrm>
            <a:off x="319616" y="5054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1370193859" name="Oval 4"/>
          <p:cNvSpPr/>
          <p:nvPr/>
        </p:nvSpPr>
        <p:spPr bwMode="auto">
          <a:xfrm>
            <a:off x="2713566" y="5054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570821354" name="Straight Arrow Connector 6"/>
          <p:cNvCxnSpPr>
            <a:stCxn id="1738767561" idx="6"/>
            <a:endCxn id="1370193859" idx="2"/>
          </p:cNvCxnSpPr>
          <p:nvPr/>
        </p:nvCxnSpPr>
        <p:spPr bwMode="auto">
          <a:xfrm>
            <a:off x="1653116" y="5343524"/>
            <a:ext cx="106044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887540298" name="Oval 13"/>
          <p:cNvSpPr/>
          <p:nvPr/>
        </p:nvSpPr>
        <p:spPr bwMode="auto">
          <a:xfrm>
            <a:off x="5531379" y="5054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1099043241" name="Straight Arrow Connector 14"/>
          <p:cNvCxnSpPr>
            <a:stCxn id="1370193859" idx="6"/>
            <a:endCxn id="1887540298" idx="2"/>
          </p:cNvCxnSpPr>
          <p:nvPr/>
        </p:nvCxnSpPr>
        <p:spPr bwMode="auto">
          <a:xfrm>
            <a:off x="4047067" y="5343524"/>
            <a:ext cx="1484311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30740063" name="Oval 70"/>
          <p:cNvSpPr/>
          <p:nvPr/>
        </p:nvSpPr>
        <p:spPr bwMode="auto">
          <a:xfrm>
            <a:off x="7753879" y="5054600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1330698733" name="Straight Arrow Connector 71"/>
          <p:cNvCxnSpPr>
            <a:stCxn id="1887540298" idx="6"/>
            <a:endCxn id="30740063" idx="2"/>
          </p:cNvCxnSpPr>
          <p:nvPr/>
        </p:nvCxnSpPr>
        <p:spPr bwMode="auto">
          <a:xfrm>
            <a:off x="6864878" y="5343524"/>
            <a:ext cx="88899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687421279" name="Oval 74"/>
          <p:cNvSpPr/>
          <p:nvPr/>
        </p:nvSpPr>
        <p:spPr bwMode="auto">
          <a:xfrm>
            <a:off x="9970028" y="5054600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1907133841" name="Straight Arrow Connector 75"/>
          <p:cNvCxnSpPr>
            <a:stCxn id="30740063" idx="6"/>
            <a:endCxn id="1687421279" idx="2"/>
          </p:cNvCxnSpPr>
          <p:nvPr/>
        </p:nvCxnSpPr>
        <p:spPr bwMode="auto">
          <a:xfrm>
            <a:off x="9292166" y="5343524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528166" name="Title 1"/>
          <p:cNvSpPr>
            <a:spLocks noGrp="1"/>
          </p:cNvSpPr>
          <p:nvPr>
            <p:ph type="title"/>
          </p:nvPr>
        </p:nvSpPr>
        <p:spPr bwMode="auto">
          <a:xfrm>
            <a:off x="818752" y="167973"/>
            <a:ext cx="10515600" cy="860732"/>
          </a:xfrm>
        </p:spPr>
        <p:txBody>
          <a:bodyPr/>
          <a:lstStyle/>
          <a:p>
            <a:pPr>
              <a:defRPr/>
            </a:pPr>
            <a:r>
              <a:rPr lang="en-US"/>
              <a:t>The full Bayesian workflow includes 3 tests</a:t>
            </a:r>
            <a:endParaRPr/>
          </a:p>
        </p:txBody>
      </p:sp>
      <p:sp>
        <p:nvSpPr>
          <p:cNvPr id="937000613" name="Content Placeholder 1"/>
          <p:cNvSpPr>
            <a:spLocks noGrp="1"/>
          </p:cNvSpPr>
          <p:nvPr>
            <p:ph idx="1"/>
          </p:nvPr>
        </p:nvSpPr>
        <p:spPr bwMode="auto">
          <a:xfrm>
            <a:off x="838200" y="1038224"/>
            <a:ext cx="10515600" cy="1423989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/>
              <a:t>Does the model make sense</a:t>
            </a:r>
            <a:endParaRPr/>
          </a:p>
          <a:p>
            <a:pPr>
              <a:defRPr/>
            </a:pPr>
            <a:r>
              <a:rPr lang="en-US"/>
              <a:t>Is the sampling algorithm actually sampling the posterior</a:t>
            </a:r>
            <a:endParaRPr/>
          </a:p>
          <a:p>
            <a:pPr>
              <a:defRPr/>
            </a:pPr>
            <a:r>
              <a:rPr lang="en-US"/>
              <a:t>Does the posterior distribution fit the data</a:t>
            </a:r>
            <a:endParaRPr/>
          </a:p>
        </p:txBody>
      </p:sp>
      <p:sp>
        <p:nvSpPr>
          <p:cNvPr id="1563067703" name="Oval 3"/>
          <p:cNvSpPr/>
          <p:nvPr/>
        </p:nvSpPr>
        <p:spPr bwMode="auto">
          <a:xfrm>
            <a:off x="438149" y="4362848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963725712" name="Oval 4"/>
          <p:cNvSpPr/>
          <p:nvPr/>
        </p:nvSpPr>
        <p:spPr bwMode="auto">
          <a:xfrm>
            <a:off x="2832099" y="4362848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1733589253" name="Straight Arrow Connector 6"/>
          <p:cNvCxnSpPr>
            <a:stCxn id="1563067703" idx="6"/>
            <a:endCxn id="963725712" idx="2"/>
          </p:cNvCxnSpPr>
          <p:nvPr/>
        </p:nvCxnSpPr>
        <p:spPr bwMode="auto">
          <a:xfrm>
            <a:off x="1771649" y="4651772"/>
            <a:ext cx="106044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482409641" name="Oval 7"/>
          <p:cNvSpPr/>
          <p:nvPr/>
        </p:nvSpPr>
        <p:spPr bwMode="auto">
          <a:xfrm>
            <a:off x="2657475" y="5540373"/>
            <a:ext cx="1682749" cy="93979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Prior predictive sampling</a:t>
            </a:r>
            <a:endParaRPr sz="1600"/>
          </a:p>
        </p:txBody>
      </p:sp>
      <p:cxnSp>
        <p:nvCxnSpPr>
          <p:cNvPr id="1833346920" name="Straight Arrow Connector 8"/>
          <p:cNvCxnSpPr>
            <a:stCxn id="963725712" idx="4"/>
            <a:endCxn id="482409641" idx="0"/>
          </p:cNvCxnSpPr>
          <p:nvPr/>
        </p:nvCxnSpPr>
        <p:spPr bwMode="auto">
          <a:xfrm>
            <a:off x="3498849" y="4940697"/>
            <a:ext cx="0" cy="59967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914932513" name="Connector: Elbow 12"/>
          <p:cNvCxnSpPr>
            <a:stCxn id="482409641" idx="2"/>
            <a:endCxn id="963725712" idx="3"/>
          </p:cNvCxnSpPr>
          <p:nvPr/>
        </p:nvCxnSpPr>
        <p:spPr bwMode="auto">
          <a:xfrm rot="10800000" flipH="1">
            <a:off x="2657475" y="4856075"/>
            <a:ext cx="369911" cy="1154200"/>
          </a:xfrm>
          <a:prstGeom prst="bentConnector4">
            <a:avLst>
              <a:gd name="adj1" fmla="val -61798"/>
              <a:gd name="adj2" fmla="val 6669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02617258" name="Oval 13"/>
          <p:cNvSpPr/>
          <p:nvPr/>
        </p:nvSpPr>
        <p:spPr bwMode="auto">
          <a:xfrm>
            <a:off x="5649912" y="4362848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602276784" name="Straight Arrow Connector 14"/>
          <p:cNvCxnSpPr>
            <a:stCxn id="963725712" idx="6"/>
            <a:endCxn id="702617258" idx="2"/>
          </p:cNvCxnSpPr>
          <p:nvPr/>
        </p:nvCxnSpPr>
        <p:spPr bwMode="auto">
          <a:xfrm>
            <a:off x="4165600" y="4651772"/>
            <a:ext cx="1484311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735394289" name="Oval 32"/>
          <p:cNvSpPr/>
          <p:nvPr/>
        </p:nvSpPr>
        <p:spPr bwMode="auto">
          <a:xfrm>
            <a:off x="5475286" y="2909492"/>
            <a:ext cx="1682749" cy="93979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Diagnostics</a:t>
            </a:r>
            <a:endParaRPr sz="1600"/>
          </a:p>
        </p:txBody>
      </p:sp>
      <p:cxnSp>
        <p:nvCxnSpPr>
          <p:cNvPr id="1572951582" name="Straight Arrow Connector 33"/>
          <p:cNvCxnSpPr>
            <a:stCxn id="702617258" idx="0"/>
            <a:endCxn id="1735394289" idx="4"/>
          </p:cNvCxnSpPr>
          <p:nvPr/>
        </p:nvCxnSpPr>
        <p:spPr bwMode="auto">
          <a:xfrm flipV="1">
            <a:off x="6316661" y="3849291"/>
            <a:ext cx="0" cy="51355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641947924" name="Connector: Elbow 36"/>
          <p:cNvCxnSpPr>
            <a:stCxn id="1735394289" idx="2"/>
            <a:endCxn id="702617258" idx="1"/>
          </p:cNvCxnSpPr>
          <p:nvPr/>
        </p:nvCxnSpPr>
        <p:spPr bwMode="auto">
          <a:xfrm rot="10800000" flipH="1" flipV="1">
            <a:off x="5475286" y="3379391"/>
            <a:ext cx="369911" cy="1068079"/>
          </a:xfrm>
          <a:prstGeom prst="bentConnector4">
            <a:avLst>
              <a:gd name="adj1" fmla="val -61798"/>
              <a:gd name="adj2" fmla="val 68036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74798295" name="Connector: Elbow 39"/>
          <p:cNvCxnSpPr>
            <a:stCxn id="1735394289" idx="2"/>
            <a:endCxn id="963725712" idx="7"/>
          </p:cNvCxnSpPr>
          <p:nvPr/>
        </p:nvCxnSpPr>
        <p:spPr bwMode="auto">
          <a:xfrm rot="10800000" flipV="1">
            <a:off x="3970311" y="3379391"/>
            <a:ext cx="1504973" cy="106807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64049872" name="Oval 60"/>
          <p:cNvSpPr/>
          <p:nvPr/>
        </p:nvSpPr>
        <p:spPr bwMode="auto">
          <a:xfrm>
            <a:off x="5475286" y="5387975"/>
            <a:ext cx="1682749" cy="93979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Posterior predictive sampling</a:t>
            </a:r>
            <a:endParaRPr sz="1600"/>
          </a:p>
        </p:txBody>
      </p:sp>
      <p:cxnSp>
        <p:nvCxnSpPr>
          <p:cNvPr id="2030716798" name="Straight Arrow Connector 63"/>
          <p:cNvCxnSpPr>
            <a:stCxn id="702617258" idx="4"/>
            <a:endCxn id="864049872" idx="0"/>
          </p:cNvCxnSpPr>
          <p:nvPr/>
        </p:nvCxnSpPr>
        <p:spPr bwMode="auto">
          <a:xfrm>
            <a:off x="6316661" y="4940697"/>
            <a:ext cx="0" cy="44727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424116078" name="Connector: Elbow 66"/>
          <p:cNvCxnSpPr>
            <a:stCxn id="864049872" idx="1"/>
            <a:endCxn id="963725712" idx="5"/>
          </p:cNvCxnSpPr>
          <p:nvPr/>
        </p:nvCxnSpPr>
        <p:spPr bwMode="auto">
          <a:xfrm rot="16199998" flipV="1">
            <a:off x="4511250" y="4315135"/>
            <a:ext cx="669531" cy="1751406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86611688" name="Oval 70"/>
          <p:cNvSpPr/>
          <p:nvPr/>
        </p:nvSpPr>
        <p:spPr bwMode="auto">
          <a:xfrm>
            <a:off x="7872412" y="4362848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84719923" name="Straight Arrow Connector 71"/>
          <p:cNvCxnSpPr>
            <a:stCxn id="702617258" idx="6"/>
            <a:endCxn id="1586611688" idx="2"/>
          </p:cNvCxnSpPr>
          <p:nvPr/>
        </p:nvCxnSpPr>
        <p:spPr bwMode="auto">
          <a:xfrm>
            <a:off x="6983411" y="4651772"/>
            <a:ext cx="88899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242161232" name="Oval 74"/>
          <p:cNvSpPr/>
          <p:nvPr/>
        </p:nvSpPr>
        <p:spPr bwMode="auto">
          <a:xfrm>
            <a:off x="10088561" y="4362848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53769064" name="Straight Arrow Connector 75"/>
          <p:cNvCxnSpPr>
            <a:stCxn id="1586611688" idx="6"/>
            <a:endCxn id="242161232" idx="2"/>
          </p:cNvCxnSpPr>
          <p:nvPr/>
        </p:nvCxnSpPr>
        <p:spPr bwMode="auto">
          <a:xfrm>
            <a:off x="9410699" y="4651772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62348610" name="Straight Arrow Connector 2"/>
          <p:cNvCxnSpPr>
            <a:stCxn id="1586611688" idx="0"/>
            <a:endCxn id="963725712" idx="0"/>
          </p:cNvCxnSpPr>
          <p:nvPr/>
        </p:nvCxnSpPr>
        <p:spPr bwMode="auto">
          <a:xfrm rot="16199998" flipV="1">
            <a:off x="6070203" y="1791494"/>
            <a:ext cx="12699" cy="5142705"/>
          </a:xfrm>
          <a:prstGeom prst="bentConnector3">
            <a:avLst>
              <a:gd name="adj1" fmla="val 14018181"/>
            </a:avLst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963794511" name="TextBox 2"/>
          <p:cNvSpPr txBox="1"/>
          <p:nvPr/>
        </p:nvSpPr>
        <p:spPr bwMode="auto">
          <a:xfrm>
            <a:off x="2619372" y="6478761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Model coherence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87921917" name="TextBox 3"/>
          <p:cNvSpPr txBox="1"/>
          <p:nvPr/>
        </p:nvSpPr>
        <p:spPr bwMode="auto">
          <a:xfrm>
            <a:off x="5430039" y="2600085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Sampling validity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9155987" name="TextBox 4"/>
          <p:cNvSpPr txBox="1"/>
          <p:nvPr/>
        </p:nvSpPr>
        <p:spPr bwMode="auto">
          <a:xfrm>
            <a:off x="5842682" y="647876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Model fit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000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9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000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9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000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3794511" grpId="0"/>
      <p:bldP spid="687921917" grpId="0"/>
      <p:bldP spid="191559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4538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4.2 Sampling challengs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1019086869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Sampling arbitrary densities, rejection sampling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542066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pm.sample() as a black box</a:t>
            </a:r>
            <a:endParaRPr/>
          </a:p>
        </p:txBody>
      </p:sp>
      <p:sp>
        <p:nvSpPr>
          <p:cNvPr id="1176957281" name="Content Placeholder 4"/>
          <p:cNvSpPr>
            <a:spLocks noGrp="1"/>
          </p:cNvSpPr>
          <p:nvPr>
            <p:ph idx="1"/>
          </p:nvPr>
        </p:nvSpPr>
        <p:spPr bwMode="auto">
          <a:xfrm>
            <a:off x="920496" y="1487297"/>
            <a:ext cx="10515600" cy="96329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/>
              <a:t>For a beta-binomial model the posterior is also a Beta distribution</a:t>
            </a:r>
            <a:endParaRPr/>
          </a:p>
          <a:p>
            <a:pPr>
              <a:defRPr/>
            </a:pPr>
            <a:r>
              <a:rPr lang="en-US"/>
              <a:t>So pm.sample() could use a random number generator</a:t>
            </a:r>
            <a:endParaRPr/>
          </a:p>
          <a:p>
            <a:pPr lvl="1">
              <a:defRPr/>
            </a:pPr>
            <a:r>
              <a:rPr lang="en-US"/>
              <a:t>Like the one in preliz</a:t>
            </a:r>
          </a:p>
          <a:p>
            <a:pPr lvl="1">
              <a:defRPr/>
            </a:pPr>
            <a:endParaRPr/>
          </a:p>
        </p:txBody>
      </p:sp>
      <p:pic>
        <p:nvPicPr>
          <p:cNvPr id="1833183936" name="Graphic 1"/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38742" y="2772835"/>
            <a:ext cx="1458518" cy="3720040"/>
          </a:xfrm>
          <a:prstGeom prst="rect">
            <a:avLst/>
          </a:prstGeom>
        </p:spPr>
      </p:pic>
      <p:pic>
        <p:nvPicPr>
          <p:cNvPr id="1382487553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76861" y="3429000"/>
            <a:ext cx="5676397" cy="3161537"/>
          </a:xfrm>
          <a:prstGeom prst="rect">
            <a:avLst/>
          </a:prstGeom>
        </p:spPr>
      </p:pic>
      <p:sp>
        <p:nvSpPr>
          <p:cNvPr id="1137664198" name="TextBox 5"/>
          <p:cNvSpPr txBox="1"/>
          <p:nvPr/>
        </p:nvSpPr>
        <p:spPr bwMode="auto">
          <a:xfrm>
            <a:off x="3047238" y="2592350"/>
            <a:ext cx="8506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sz="1400" b="0">
                <a:solidFill>
                  <a:srgbClr val="001080"/>
                </a:solidFill>
                <a:latin typeface="Consolas"/>
              </a:rPr>
              <a:t>posterior_dist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b="0">
                <a:solidFill>
                  <a:srgbClr val="267F99"/>
                </a:solidFill>
                <a:latin typeface="Consolas"/>
              </a:rPr>
              <a:t>pz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400" b="0">
                <a:solidFill>
                  <a:srgbClr val="267F99"/>
                </a:solidFill>
                <a:latin typeface="Consolas"/>
              </a:rPr>
              <a:t>Beta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400" b="0">
                <a:solidFill>
                  <a:srgbClr val="001080"/>
                </a:solidFill>
                <a:latin typeface="Consolas"/>
              </a:rPr>
              <a:t>alpha</a:t>
            </a:r>
            <a:r>
              <a:rPr lang="en-US" sz="14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400" b="0">
                <a:solidFill>
                  <a:srgbClr val="001080"/>
                </a:solidFill>
                <a:latin typeface="Consolas"/>
              </a:rPr>
              <a:t>alpha_post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400" b="0">
                <a:solidFill>
                  <a:srgbClr val="001080"/>
                </a:solidFill>
                <a:latin typeface="Consolas"/>
              </a:rPr>
              <a:t>beta</a:t>
            </a:r>
            <a:r>
              <a:rPr lang="en-US" sz="14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400" b="0">
                <a:solidFill>
                  <a:srgbClr val="001080"/>
                </a:solidFill>
                <a:latin typeface="Consolas"/>
              </a:rPr>
              <a:t>beta_post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  <a:p>
            <a:pPr>
              <a:buNone/>
              <a:defRPr/>
            </a:pPr>
            <a:r>
              <a:rPr lang="en-US" sz="1400" b="0">
                <a:solidFill>
                  <a:srgbClr val="001080"/>
                </a:solidFill>
                <a:latin typeface="Consolas"/>
              </a:rPr>
              <a:t>posterior_samples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400" b="0">
                <a:solidFill>
                  <a:srgbClr val="001080"/>
                </a:solidFill>
                <a:latin typeface="Consolas"/>
              </a:rPr>
              <a:t>posterior_dist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400" b="0">
                <a:solidFill>
                  <a:srgbClr val="795E26"/>
                </a:solidFill>
                <a:latin typeface="Consolas"/>
              </a:rPr>
              <a:t>rvs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400" b="0">
                <a:solidFill>
                  <a:srgbClr val="098658"/>
                </a:solidFill>
                <a:latin typeface="Consolas"/>
              </a:rPr>
              <a:t>5_000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400" b="0">
                <a:solidFill>
                  <a:srgbClr val="001080"/>
                </a:solidFill>
                <a:latin typeface="Consolas"/>
              </a:rPr>
              <a:t>random_state</a:t>
            </a:r>
            <a:r>
              <a:rPr lang="en-US" sz="14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400" b="0">
                <a:solidFill>
                  <a:srgbClr val="098658"/>
                </a:solidFill>
                <a:latin typeface="Consolas"/>
              </a:rPr>
              <a:t>123</a:t>
            </a:r>
            <a:r>
              <a:rPr lang="en-US" sz="14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402739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713867"/>
          </a:xfrm>
        </p:spPr>
        <p:txBody>
          <a:bodyPr/>
          <a:lstStyle/>
          <a:p>
            <a:pPr>
              <a:defRPr/>
            </a:pPr>
            <a:r>
              <a:rPr lang="en-US"/>
              <a:t>A non-beta prior for the coin flip model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5773772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022541"/>
                <a:ext cx="10515600" cy="1921827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en-US" sz="2400"/>
                  <a:t>Beta priors assign 0 probability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2400" b="0" i="1">
                            <a:latin typeface="Cambria Math"/>
                          </a:rPr>
                          <m:t>𝜃</m:t>
                        </m:r>
                        <m:r>
                          <a:rPr lang="en-US" sz="2400" b="0" i="1">
                            <a:latin typeface="Cambria Math"/>
                          </a:rPr>
                          <m:t>=</m:t>
                        </m:r>
                        <m:r>
                          <a:rPr lang="en-US" sz="2400" b="0" i="1">
                            <a:latin typeface="Cambria Math"/>
                          </a:rPr>
                          <m:t>0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 sz="2400"/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</a:rPr>
                          <m:t>𝜃</m:t>
                        </m:r>
                        <m:r>
                          <a:rPr lang="en-US" sz="2400" i="1">
                            <a:latin typeface="Cambria Math"/>
                          </a:rPr>
                          <m:t>=</m:t>
                        </m:r>
                        <m:r>
                          <a:rPr lang="en-US" sz="2400" b="0" i="1">
                            <a:latin typeface="Cambria Math"/>
                          </a:rPr>
                          <m:t>1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 sz="2400"/>
                  <a:t> for any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2400" b="0" i="1">
                            <a:latin typeface="Cambria Math"/>
                          </a:rPr>
                          <m:t>𝛼</m:t>
                        </m:r>
                        <m:r>
                          <a:rPr lang="en-US" sz="2400" b="0" i="1">
                            <a:latin typeface="Cambria Math"/>
                          </a:rPr>
                          <m:t>,</m:t>
                        </m:r>
                        <m:r>
                          <a:rPr lang="en-US" sz="2400" b="0" i="1">
                            <a:latin typeface="Cambria Math"/>
                          </a:rPr>
                          <m:t>𝛽</m:t>
                        </m:r>
                        <m:r>
                          <a:rPr lang="en-US" sz="2400" b="0" i="1">
                            <a:latin typeface="Cambria Math"/>
                          </a:rPr>
                          <m:t>&gt;</m:t>
                        </m:r>
                        <m:r>
                          <a:rPr lang="en-US" sz="2400" b="0" i="1">
                            <a:latin typeface="Cambria Math"/>
                          </a:rPr>
                          <m:t>0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 sz="2400"/>
              </a:p>
              <a:p>
                <a:pPr>
                  <a:defRPr/>
                </a:pPr>
                <a:r>
                  <a:rPr lang="en-US" sz="2400"/>
                  <a:t>A reasonable prior for a coin asserts that it is probably fair</a:t>
                </a:r>
                <a:endParaRPr/>
              </a:p>
              <a:p>
                <a:pPr lvl="1">
                  <a:defRPr/>
                </a:pPr>
                <a:r>
                  <a:rPr lang="en-US" sz="2000"/>
                  <a:t>But could also be a trick coin</a:t>
                </a:r>
                <a:endParaRPr/>
              </a:p>
              <a:p>
                <a:pPr lvl="1">
                  <a:defRPr/>
                </a:pPr>
                <a:r>
                  <a:rPr lang="en-US" sz="2000"/>
                  <a:t>Or might be biased</a:t>
                </a:r>
                <a:endParaRPr/>
              </a:p>
              <a:p>
                <a:pPr>
                  <a:defRPr/>
                </a:pPr>
                <a:r>
                  <a:rPr lang="en-US" sz="2400"/>
                  <a:t>We will use a truncated normal prior</a:t>
                </a:r>
                <a:endParaRPr/>
              </a:p>
              <a:p>
                <a:pPr marL="457200" lvl="1" indent="0">
                  <a:buNone/>
                  <a:defRPr/>
                </a:pPr>
                <a:endParaRPr sz="2000"/>
              </a:p>
            </p:txBody>
          </p:sp>
        </mc:Choice>
        <mc:Fallback xmlns="">
          <p:sp>
            <p:nvSpPr>
              <p:cNvPr id="73577377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022541"/>
                <a:ext cx="10515600" cy="1921827"/>
              </a:xfrm>
              <a:blipFill>
                <a:blip r:embed="rId3"/>
                <a:stretch>
                  <a:fillRect l="-812" t="-6032" b="-34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5900079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36691" y="2988612"/>
            <a:ext cx="6817109" cy="3796871"/>
          </a:xfrm>
          <a:prstGeom prst="rect">
            <a:avLst/>
          </a:prstGeom>
        </p:spPr>
      </p:pic>
      <p:sp>
        <p:nvSpPr>
          <p:cNvPr id="1766925750" name="TextBox 3"/>
          <p:cNvSpPr txBox="1"/>
          <p:nvPr/>
        </p:nvSpPr>
        <p:spPr bwMode="auto">
          <a:xfrm>
            <a:off x="812035" y="3429000"/>
            <a:ext cx="37246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sz="1600" b="0">
                <a:solidFill>
                  <a:srgbClr val="001080"/>
                </a:solidFill>
                <a:latin typeface="Consolas"/>
              </a:rPr>
              <a:t>theta_prior_mu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98658"/>
                </a:solidFill>
                <a:latin typeface="Consolas"/>
              </a:rPr>
              <a:t>0.5</a:t>
            </a:r>
            <a:endParaRPr lang="en-US" sz="1600" b="0">
              <a:solidFill>
                <a:srgbClr val="3B3B3B"/>
              </a:solidFill>
              <a:latin typeface="Consolas"/>
            </a:endParaRPr>
          </a:p>
          <a:p>
            <a:pPr>
              <a:buNone/>
              <a:defRPr/>
            </a:pPr>
            <a:r>
              <a:rPr lang="en-US" sz="1600" b="0">
                <a:solidFill>
                  <a:srgbClr val="001080"/>
                </a:solidFill>
                <a:latin typeface="Consolas"/>
              </a:rPr>
              <a:t>theta_prior_sigma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98658"/>
                </a:solidFill>
                <a:latin typeface="Consolas"/>
              </a:rPr>
              <a:t>0.2</a:t>
            </a:r>
            <a:endParaRPr lang="en-US" sz="1600" b="0">
              <a:solidFill>
                <a:srgbClr val="3B3B3B"/>
              </a:solidFill>
              <a:latin typeface="Consolas"/>
            </a:endParaRPr>
          </a:p>
          <a:p>
            <a:pPr>
              <a:buNone/>
              <a:defRPr/>
            </a:pPr>
            <a:r>
              <a:rPr lang="en-US" sz="1600" b="0">
                <a:solidFill>
                  <a:srgbClr val="001080"/>
                </a:solidFill>
                <a:latin typeface="Consolas"/>
              </a:rPr>
              <a:t>lower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98658"/>
                </a:solidFill>
                <a:latin typeface="Consolas"/>
              </a:rPr>
              <a:t>0.0</a:t>
            </a:r>
            <a:endParaRPr lang="en-US" sz="1600" b="0">
              <a:solidFill>
                <a:srgbClr val="3B3B3B"/>
              </a:solidFill>
              <a:latin typeface="Consolas"/>
            </a:endParaRPr>
          </a:p>
          <a:p>
            <a:pPr>
              <a:buNone/>
              <a:defRPr/>
            </a:pPr>
            <a:r>
              <a:rPr lang="en-US" sz="1600" b="0">
                <a:solidFill>
                  <a:srgbClr val="001080"/>
                </a:solidFill>
                <a:latin typeface="Consolas"/>
              </a:rPr>
              <a:t>upper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098658"/>
                </a:solidFill>
                <a:latin typeface="Consolas"/>
              </a:rPr>
              <a:t>1.0</a:t>
            </a:r>
            <a:endParaRPr lang="en-US" sz="1600" b="0">
              <a:solidFill>
                <a:srgbClr val="3B3B3B"/>
              </a:solidFill>
              <a:latin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493845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713867"/>
          </a:xfrm>
        </p:spPr>
        <p:txBody>
          <a:bodyPr/>
          <a:lstStyle/>
          <a:p>
            <a:pPr>
              <a:defRPr/>
            </a:pPr>
            <a:r>
              <a:rPr lang="en-US"/>
              <a:t>PyMC has a truncated normal distribution</a:t>
            </a:r>
            <a:endParaRPr/>
          </a:p>
        </p:txBody>
      </p:sp>
      <p:sp>
        <p:nvSpPr>
          <p:cNvPr id="53732036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022541"/>
            <a:ext cx="10515600" cy="71386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/>
              <a:t>So we can use our prior in a PyMC model without difficutly</a:t>
            </a:r>
          </a:p>
          <a:p>
            <a:pPr marL="457200" lvl="1" indent="0">
              <a:buNone/>
              <a:defRPr/>
            </a:pPr>
            <a:endParaRPr sz="2000"/>
          </a:p>
        </p:txBody>
      </p:sp>
      <p:sp>
        <p:nvSpPr>
          <p:cNvPr id="601991587" name="TextBox 5"/>
          <p:cNvSpPr txBox="1"/>
          <p:nvPr/>
        </p:nvSpPr>
        <p:spPr bwMode="auto">
          <a:xfrm>
            <a:off x="838200" y="2393824"/>
            <a:ext cx="91561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b="0">
                <a:solidFill>
                  <a:srgbClr val="AF00DB"/>
                </a:solidFill>
                <a:latin typeface="Consolas"/>
              </a:rPr>
              <a:t>with</a:t>
            </a:r>
            <a:r>
              <a:rPr lang="en-US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0">
                <a:solidFill>
                  <a:srgbClr val="267F99"/>
                </a:solidFill>
                <a:latin typeface="Consolas"/>
              </a:rPr>
              <a:t>pm</a:t>
            </a:r>
            <a:r>
              <a:rPr lang="en-US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b="0">
                <a:solidFill>
                  <a:srgbClr val="267F99"/>
                </a:solidFill>
                <a:latin typeface="Consolas"/>
              </a:rPr>
              <a:t>Model</a:t>
            </a:r>
            <a:r>
              <a:rPr lang="en-US" b="0">
                <a:solidFill>
                  <a:srgbClr val="3B3B3B"/>
                </a:solidFill>
                <a:latin typeface="Consolas"/>
              </a:rPr>
              <a:t>() </a:t>
            </a:r>
            <a:r>
              <a:rPr lang="en-US" b="0">
                <a:solidFill>
                  <a:srgbClr val="AF00DB"/>
                </a:solidFill>
                <a:latin typeface="Consolas"/>
              </a:rPr>
              <a:t>as</a:t>
            </a:r>
            <a:r>
              <a:rPr lang="en-US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nonconjugate_binomial_model:</a:t>
            </a:r>
            <a:endParaRPr lang="en-US" b="0">
              <a:solidFill>
                <a:srgbClr val="3B3B3B"/>
              </a:solidFill>
              <a:latin typeface="Consolas"/>
            </a:endParaRPr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theta_nonbeta</a:t>
            </a:r>
            <a:r>
              <a:rPr lang="en-US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0">
                <a:solidFill>
                  <a:srgbClr val="267F99"/>
                </a:solidFill>
                <a:latin typeface="Consolas"/>
              </a:rPr>
              <a:t>pm</a:t>
            </a:r>
            <a:r>
              <a:rPr lang="en-US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b="0">
                <a:solidFill>
                  <a:srgbClr val="267F99"/>
                </a:solidFill>
                <a:latin typeface="Consolas"/>
              </a:rPr>
              <a:t>TruncatedNormal</a:t>
            </a:r>
            <a:r>
              <a:rPr lang="en-US" b="0">
                <a:solidFill>
                  <a:srgbClr val="3B3B3B"/>
                </a:solidFill>
                <a:latin typeface="Consolas"/>
              </a:rPr>
              <a:t>(</a:t>
            </a:r>
            <a:endParaRPr/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0">
                <a:solidFill>
                  <a:srgbClr val="A31515"/>
                </a:solidFill>
                <a:latin typeface="Consolas"/>
              </a:rPr>
              <a:t>'theta'</a:t>
            </a:r>
            <a:r>
              <a:rPr lang="en-US" b="0">
                <a:solidFill>
                  <a:srgbClr val="3B3B3B"/>
                </a:solidFill>
                <a:latin typeface="Consolas"/>
              </a:rPr>
              <a:t>,</a:t>
            </a:r>
            <a:endParaRPr/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mu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1080"/>
                </a:solidFill>
                <a:latin typeface="Consolas"/>
              </a:rPr>
              <a:t>theta_prior_mu</a:t>
            </a:r>
            <a:r>
              <a:rPr lang="en-US" b="0">
                <a:solidFill>
                  <a:srgbClr val="3B3B3B"/>
                </a:solidFill>
                <a:latin typeface="Consolas"/>
              </a:rPr>
              <a:t>,</a:t>
            </a:r>
            <a:endParaRPr/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sigma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1080"/>
                </a:solidFill>
                <a:latin typeface="Consolas"/>
              </a:rPr>
              <a:t>theta_prior_sigma</a:t>
            </a:r>
            <a:r>
              <a:rPr lang="en-US" b="0">
                <a:solidFill>
                  <a:srgbClr val="3B3B3B"/>
                </a:solidFill>
                <a:latin typeface="Consolas"/>
              </a:rPr>
              <a:t>,</a:t>
            </a:r>
            <a:endParaRPr/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lower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1080"/>
                </a:solidFill>
                <a:latin typeface="Consolas"/>
              </a:rPr>
              <a:t>lower</a:t>
            </a:r>
            <a:r>
              <a:rPr lang="en-US" b="0">
                <a:solidFill>
                  <a:srgbClr val="3B3B3B"/>
                </a:solidFill>
                <a:latin typeface="Consolas"/>
              </a:rPr>
              <a:t>,</a:t>
            </a:r>
            <a:endParaRPr/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upper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1080"/>
                </a:solidFill>
                <a:latin typeface="Consolas"/>
              </a:rPr>
              <a:t>upper</a:t>
            </a:r>
            <a:r>
              <a:rPr lang="en-US" b="0">
                <a:solidFill>
                  <a:srgbClr val="3B3B3B"/>
                </a:solidFill>
                <a:latin typeface="Consolas"/>
              </a:rPr>
              <a:t>,</a:t>
            </a:r>
            <a:endParaRPr/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)</a:t>
            </a:r>
            <a:endParaRPr/>
          </a:p>
          <a:p>
            <a:pPr>
              <a:buNone/>
              <a:defRPr/>
            </a:pPr>
            <a:r>
              <a:rPr lang="en-US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y_nonbeta</a:t>
            </a:r>
            <a:r>
              <a:rPr lang="en-US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0">
                <a:solidFill>
                  <a:srgbClr val="267F99"/>
                </a:solidFill>
                <a:latin typeface="Consolas"/>
              </a:rPr>
              <a:t>pm</a:t>
            </a:r>
            <a:r>
              <a:rPr lang="en-US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b="0">
                <a:solidFill>
                  <a:srgbClr val="267F99"/>
                </a:solidFill>
                <a:latin typeface="Consolas"/>
              </a:rPr>
              <a:t>Bernoulli</a:t>
            </a:r>
            <a:r>
              <a:rPr lang="en-US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b="0">
                <a:solidFill>
                  <a:srgbClr val="A31515"/>
                </a:solidFill>
                <a:latin typeface="Consolas"/>
              </a:rPr>
              <a:t>'y'</a:t>
            </a:r>
            <a:r>
              <a:rPr lang="en-US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p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1080"/>
                </a:solidFill>
                <a:latin typeface="Consolas"/>
              </a:rPr>
              <a:t>theta_nonbeta</a:t>
            </a:r>
            <a:r>
              <a:rPr lang="en-US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b="0">
                <a:solidFill>
                  <a:srgbClr val="001080"/>
                </a:solidFill>
                <a:latin typeface="Consolas"/>
              </a:rPr>
              <a:t>observed</a:t>
            </a:r>
            <a:r>
              <a:rPr lang="en-US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0">
                <a:solidFill>
                  <a:srgbClr val="001080"/>
                </a:solidFill>
                <a:latin typeface="Consolas"/>
              </a:rPr>
              <a:t>data</a:t>
            </a:r>
            <a:r>
              <a:rPr lang="en-US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68128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Preliz has no sampler for the posterior of this model</a:t>
            </a:r>
            <a:endParaRPr sz="3600"/>
          </a:p>
        </p:txBody>
      </p:sp>
      <p:sp>
        <p:nvSpPr>
          <p:cNvPr id="173100005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743839"/>
          </a:xfrm>
        </p:spPr>
        <p:txBody>
          <a:bodyPr/>
          <a:lstStyle/>
          <a:p>
            <a:pPr>
              <a:defRPr/>
            </a:pPr>
            <a:r>
              <a:rPr lang="en-US"/>
              <a:t>Posterior is proportional to likelihood times prior</a:t>
            </a:r>
            <a:endParaRPr/>
          </a:p>
        </p:txBody>
      </p:sp>
      <p:graphicFrame>
        <p:nvGraphicFramePr>
          <p:cNvPr id="1542649892" name="Object 1"/>
          <p:cNvGraphicFramePr>
            <a:graphicFrameLocks noChangeAspect="1"/>
          </p:cNvGraphicFramePr>
          <p:nvPr/>
        </p:nvGraphicFramePr>
        <p:xfrm>
          <a:off x="316738" y="2800504"/>
          <a:ext cx="5425694" cy="1068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3" imgW="3288665" imgH="647065" progId="Equation.DSMT4">
                  <p:embed/>
                </p:oleObj>
              </mc:Choice>
              <mc:Fallback>
                <p:oleObj name="oleObj" r:id="rId3" imgW="3288665" imgH="647065" progId="Equation.DSMT4">
                  <p:embed/>
                  <p:pic>
                    <p:nvPicPr>
                      <p:cNvPr id="1542649892" name="Object 1"/>
                      <p:cNvPicPr/>
                      <p:nvPr/>
                    </p:nvPicPr>
                    <p:blipFill rotWithShape="1">
                      <a:blip r:embed="rId4"/>
                      <a:stretch/>
                    </p:blipFill>
                    <p:spPr bwMode="auto">
                      <a:xfrm>
                        <a:off x="316738" y="2800504"/>
                        <a:ext cx="5425694" cy="1068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0503238" name="Picture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865182" y="2800504"/>
            <a:ext cx="6102980" cy="3399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088624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74129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Rejection sampling samples a proposal function 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5346660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825625"/>
                <a:ext cx="4081272" cy="4351338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/>
                  <a:t>Rejection sampling:</a:t>
                </a:r>
                <a:endParaRPr/>
              </a:p>
              <a:p>
                <a:pPr lvl="1">
                  <a:defRPr/>
                </a:pPr>
                <a:r>
                  <a:rPr lang="en-US"/>
                  <a:t>Choose a proposal function,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endParaRPr/>
              </a:p>
              <a:p>
                <a:pPr lvl="1">
                  <a:defRPr/>
                </a:pPr>
                <a:r>
                  <a:rPr lang="en-US"/>
                  <a:t>Scale it by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𝑀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such that</a:t>
                </a:r>
                <a:endParaRPr/>
              </a:p>
              <a:p>
                <a:pPr lvl="2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𝑀𝑔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  <m:r>
                          <a:rPr lang="en-US" b="0" i="1">
                            <a:latin typeface="Cambria Math"/>
                          </a:rPr>
                          <m:t>&gt;</m:t>
                        </m:r>
                        <m:r>
                          <a:rPr lang="en-US" b="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r>
                  <a:rPr lang="en-US"/>
                  <a:t>Select a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𝜃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from the proposal</a:t>
                </a:r>
                <a:endParaRPr/>
              </a:p>
              <a:p>
                <a:pPr lvl="1">
                  <a:defRPr/>
                </a:pPr>
                <a:endParaRPr lang="en-US"/>
              </a:p>
            </p:txBody>
          </p:sp>
        </mc:Choice>
        <mc:Fallback xmlns="">
          <p:sp>
            <p:nvSpPr>
              <p:cNvPr id="93534666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825625"/>
                <a:ext cx="4081272" cy="4351338"/>
              </a:xfrm>
              <a:blipFill>
                <a:blip r:embed="rId3"/>
                <a:stretch>
                  <a:fillRect l="-2691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62399436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239513" y="1421100"/>
            <a:ext cx="6326312" cy="3523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832902" name="Title 1"/>
          <p:cNvSpPr>
            <a:spLocks noGrp="1"/>
          </p:cNvSpPr>
          <p:nvPr>
            <p:ph type="title"/>
          </p:nvPr>
        </p:nvSpPr>
        <p:spPr bwMode="auto">
          <a:xfrm>
            <a:off x="220133" y="365125"/>
            <a:ext cx="11548534" cy="74129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/>
              <a:t>Rejection balances the desired and sampled probabilities </a:t>
            </a:r>
            <a:endParaRPr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175425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825625"/>
                <a:ext cx="4081272" cy="4351338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/>
                  <a:t>Rejection sampling:</a:t>
                </a:r>
                <a:endParaRPr/>
              </a:p>
              <a:p>
                <a:pPr lvl="1">
                  <a:defRPr/>
                </a:pPr>
                <a:r>
                  <a:rPr lang="en-US"/>
                  <a:t>Choose a proposal function,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endParaRPr/>
              </a:p>
              <a:p>
                <a:pPr lvl="1">
                  <a:defRPr/>
                </a:pPr>
                <a:r>
                  <a:rPr lang="en-US"/>
                  <a:t>Scale it by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𝑀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such that</a:t>
                </a:r>
                <a:endParaRPr/>
              </a:p>
              <a:p>
                <a:pPr lvl="2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𝑀𝑔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  <m:r>
                          <a:rPr lang="en-US" b="0" i="1">
                            <a:latin typeface="Cambria Math"/>
                          </a:rPr>
                          <m:t>&gt;</m:t>
                        </m:r>
                        <m:r>
                          <a:rPr lang="en-US" b="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r>
                  <a:rPr lang="en-US"/>
                  <a:t>Select a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𝜃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from the proposal</a:t>
                </a:r>
                <a:endParaRPr/>
              </a:p>
              <a:p>
                <a:pPr lvl="1">
                  <a:defRPr/>
                </a:pPr>
                <a:r>
                  <a:rPr lang="en-US"/>
                  <a:t>Select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𝑎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uniform in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0</m:t>
                            </m:r>
                            <m:r>
                              <a:rPr lang="en-US" b="0" i="1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r>
                  <a:rPr lang="en-US"/>
                  <a:t>Keep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𝜃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if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b="0" i="1">
                            <a:latin typeface="Cambria Math"/>
                          </a:rPr>
                          <m:t>&lt;</m:t>
                        </m:r>
                        <m:f>
                          <m:f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𝑀𝑔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29317542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825625"/>
                <a:ext cx="4081272" cy="4351338"/>
              </a:xfrm>
              <a:blipFill>
                <a:blip r:embed="rId3"/>
                <a:stretch>
                  <a:fillRect l="-2691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640705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239513" y="1421100"/>
            <a:ext cx="6326312" cy="3523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77784" name="Title 1"/>
          <p:cNvSpPr>
            <a:spLocks noGrp="1"/>
          </p:cNvSpPr>
          <p:nvPr>
            <p:ph type="title"/>
          </p:nvPr>
        </p:nvSpPr>
        <p:spPr bwMode="auto">
          <a:xfrm>
            <a:off x="253999" y="365125"/>
            <a:ext cx="11667067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The advantages and challenges of rejection sampling</a:t>
            </a:r>
            <a:endParaRPr sz="4000"/>
          </a:p>
        </p:txBody>
      </p:sp>
      <p:pic>
        <p:nvPicPr>
          <p:cNvPr id="701201756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67030" y="1588558"/>
            <a:ext cx="5334782" cy="2971271"/>
          </a:xfrm>
          <a:prstGeom prst="rect">
            <a:avLst/>
          </a:prstGeom>
        </p:spPr>
      </p:pic>
      <p:sp>
        <p:nvSpPr>
          <p:cNvPr id="1328083607" name="Content Placeholder 4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582883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/>
              <a:t>Broad range of distributions</a:t>
            </a:r>
            <a:endParaRPr/>
          </a:p>
          <a:p>
            <a:pPr>
              <a:defRPr/>
            </a:pPr>
            <a:r>
              <a:rPr lang="en-US" sz="2400"/>
              <a:t>Simple algorithm</a:t>
            </a:r>
            <a:endParaRPr/>
          </a:p>
          <a:p>
            <a:pPr>
              <a:defRPr/>
            </a:pPr>
            <a:r>
              <a:rPr lang="en-US" sz="2400"/>
              <a:t>Samples are independent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Finding and fitting the proposal function</a:t>
            </a:r>
            <a:endParaRPr sz="240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Sensitive to shape of proposal function</a:t>
            </a:r>
            <a:endParaRPr/>
          </a:p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Inefficient</a:t>
            </a:r>
            <a:endParaRPr/>
          </a:p>
        </p:txBody>
      </p:sp>
      <p:graphicFrame>
        <p:nvGraphicFramePr>
          <p:cNvPr id="1261271098" name="Content Placeholder 2"/>
          <p:cNvGraphicFramePr>
            <a:graphicFrameLocks/>
          </p:cNvGraphicFramePr>
          <p:nvPr/>
        </p:nvGraphicFramePr>
        <p:xfrm>
          <a:off x="7145866" y="4899025"/>
          <a:ext cx="4648200" cy="111252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Proposed samples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10,000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Accepted samples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4,823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Acceptance rate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48%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9068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4.3 Monte-Carlo Markov Chain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1577025824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An iterative algorithm for sampling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721713" name="Title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1116733" cy="1325563"/>
          </a:xfrm>
        </p:spPr>
        <p:txBody>
          <a:bodyPr/>
          <a:lstStyle/>
          <a:p>
            <a:pPr>
              <a:defRPr/>
            </a:pPr>
            <a:r>
              <a:rPr lang="en-US"/>
              <a:t>MCMC turns rejection sampling to a local walk</a:t>
            </a:r>
            <a:endParaRPr/>
          </a:p>
        </p:txBody>
      </p:sp>
      <p:sp>
        <p:nvSpPr>
          <p:cNvPr id="21451333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Use local proposals</a:t>
            </a:r>
            <a:endParaRPr/>
          </a:p>
          <a:p>
            <a:pPr lvl="1">
              <a:defRPr/>
            </a:pPr>
            <a:r>
              <a:rPr lang="en-US"/>
              <a:t>Centered on the last sample</a:t>
            </a:r>
            <a:endParaRPr/>
          </a:p>
          <a:p>
            <a:pPr lvl="1">
              <a:defRPr/>
            </a:pPr>
            <a:r>
              <a:rPr lang="en-US"/>
              <a:t>Easier to find</a:t>
            </a:r>
            <a:endParaRPr/>
          </a:p>
          <a:p>
            <a:pPr lvl="1">
              <a:defRPr/>
            </a:pPr>
            <a:r>
              <a:rPr lang="en-US"/>
              <a:t>Easier to fit</a:t>
            </a:r>
            <a:endParaRPr/>
          </a:p>
          <a:p>
            <a:pPr lvl="1">
              <a:defRPr/>
            </a:pPr>
            <a:r>
              <a:rPr lang="en-US"/>
              <a:t>Increase acceptance rate</a:t>
            </a:r>
            <a:endParaRPr/>
          </a:p>
          <a:p>
            <a:pPr>
              <a:defRPr/>
            </a:pPr>
            <a:r>
              <a:rPr lang="en-US"/>
              <a:t>But samples are no longer independent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946623676" name="Picture 4" descr="Graphical representation of MCMC algorithm. | Download Scientific Diagram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7135025" y="3632201"/>
            <a:ext cx="4667509" cy="26797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18113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200"/>
              <a:t>MCMC works only when each chain explores the full posterior</a:t>
            </a:r>
            <a:endParaRPr lang="he-IL" sz="3200"/>
          </a:p>
        </p:txBody>
      </p:sp>
      <p:sp>
        <p:nvSpPr>
          <p:cNvPr id="652411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Mathematical conditions for correctness:</a:t>
            </a:r>
            <a:endParaRPr/>
          </a:p>
          <a:p>
            <a:pPr lvl="1">
              <a:defRPr/>
            </a:pPr>
            <a:r>
              <a:rPr lang="en-US"/>
              <a:t>Posterior must be finite (normalizable)</a:t>
            </a:r>
            <a:endParaRPr/>
          </a:p>
          <a:p>
            <a:pPr lvl="1">
              <a:defRPr/>
            </a:pPr>
            <a:r>
              <a:rPr lang="en-US"/>
              <a:t>Support of the posterior should be connected (avoiding isolated regions)</a:t>
            </a:r>
            <a:endParaRPr/>
          </a:p>
          <a:p>
            <a:pPr>
              <a:defRPr/>
            </a:pPr>
            <a:r>
              <a:rPr lang="en-US"/>
              <a:t>Practical considerations:</a:t>
            </a:r>
            <a:endParaRPr lang="he-IL"/>
          </a:p>
          <a:p>
            <a:pPr lvl="1">
              <a:defRPr/>
            </a:pPr>
            <a:r>
              <a:rPr lang="en-US"/>
              <a:t>Samples are not independent.</a:t>
            </a:r>
            <a:endParaRPr/>
          </a:p>
          <a:p>
            <a:pPr lvl="1">
              <a:defRPr/>
            </a:pPr>
            <a:r>
              <a:rPr lang="en-US"/>
              <a:t>Must discard warm-up (burn-in) samples.</a:t>
            </a:r>
            <a:endParaRPr/>
          </a:p>
          <a:p>
            <a:pPr lvl="1">
              <a:defRPr/>
            </a:pPr>
            <a:r>
              <a:rPr lang="en-US"/>
              <a:t>Requires careful checks to ensure the algorithm has converged.</a:t>
            </a:r>
            <a:endParaRPr/>
          </a:p>
          <a:p>
            <a:pPr lvl="1">
              <a:defRPr/>
            </a:pPr>
            <a:r>
              <a:rPr lang="en-US"/>
              <a:t>Efficiency depends on model complexity and sampler settings.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41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41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41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41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41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41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41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7844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4.4 Metropolis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153725116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The simplest MCMC algorithm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8545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Metropolis builds samples one step at a time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223661" name="Flowchart: Process 2"/>
              <p:cNvSpPr/>
              <p:nvPr/>
            </p:nvSpPr>
            <p:spPr bwMode="auto">
              <a:xfrm>
                <a:off x="448056" y="4663440"/>
                <a:ext cx="1819656" cy="960120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/>
                  <a:t>Start somewhere</a:t>
                </a:r>
                <a:endParaRPr/>
              </a:p>
              <a:p>
                <a:pPr algn="ctr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current</m:t>
                              </m:r>
                            </m:sub>
                          </m:sSub>
                          <m:r>
                            <a:rPr lang="en-US" b="0" i="1">
                              <a:latin typeface="Cambria Math"/>
                              <a:ea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current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464223661" name="Flowchart: Process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056" y="4663440"/>
                <a:ext cx="1819656" cy="960120"/>
              </a:xfrm>
              <a:prstGeom prst="flowChartProcess">
                <a:avLst/>
              </a:prstGeom>
              <a:blipFill>
                <a:blip r:embed="rId3"/>
                <a:stretch>
                  <a:fillRect l="-2000" r="-1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1799063" name="Flowchart: Process 7"/>
              <p:cNvSpPr/>
              <p:nvPr/>
            </p:nvSpPr>
            <p:spPr bwMode="auto">
              <a:xfrm>
                <a:off x="2853668" y="4654296"/>
                <a:ext cx="2118012" cy="969264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/>
                  <a:t>Next place: </a:t>
                </a:r>
                <a:endParaRPr/>
              </a:p>
              <a:p>
                <a:pPr algn="ctr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𝑝𝑟𝑜𝑝𝑜𝑠𝑒𝑑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proposed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1651799063" name="Flowchart: Process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3668" y="4654296"/>
                <a:ext cx="2118012" cy="969264"/>
              </a:xfrm>
              <a:prstGeom prst="flowChart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9580523" name="Flowchart: Decision 8"/>
              <p:cNvSpPr/>
              <p:nvPr/>
            </p:nvSpPr>
            <p:spPr bwMode="auto">
              <a:xfrm>
                <a:off x="5557636" y="4517136"/>
                <a:ext cx="2670048" cy="1234440"/>
              </a:xfrm>
              <a:prstGeom prst="flowChartDecision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  <a:ea typeface="Cambria Math"/>
                              </a:rPr>
                              <m:t>current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  <a:ea typeface="Cambria Math"/>
                              </a:rPr>
                              <m:t>proposed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GB"/>
                  <a:t>?</a:t>
                </a:r>
                <a:endParaRPr/>
              </a:p>
            </p:txBody>
          </p:sp>
        </mc:Choice>
        <mc:Fallback xmlns="">
          <p:sp>
            <p:nvSpPr>
              <p:cNvPr id="1819580523" name="Flowchart: Decision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7636" y="4517136"/>
                <a:ext cx="2670048" cy="1234440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8252023" name="Flowchart: Process 9"/>
              <p:cNvSpPr/>
              <p:nvPr/>
            </p:nvSpPr>
            <p:spPr bwMode="auto">
              <a:xfrm>
                <a:off x="8675348" y="3266640"/>
                <a:ext cx="2118012" cy="969264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/>
                  <a:t>Go to </a:t>
                </a:r>
                <a:endParaRPr/>
              </a:p>
              <a:p>
                <a:pPr algn="ctr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𝑝𝑟𝑜𝑝𝑜𝑠𝑒𝑑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1298252023" name="Flowchart: Process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5348" y="3266640"/>
                <a:ext cx="2118012" cy="969264"/>
              </a:xfrm>
              <a:prstGeom prst="flowChartProcess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3873422" name="Straight Arrow Connector 12"/>
          <p:cNvCxnSpPr>
            <a:stCxn id="464223661" idx="3"/>
            <a:endCxn id="1651799063" idx="1"/>
          </p:cNvCxnSpPr>
          <p:nvPr/>
        </p:nvCxnSpPr>
        <p:spPr bwMode="auto">
          <a:xfrm flipV="1">
            <a:off x="2267712" y="5138928"/>
            <a:ext cx="585956" cy="45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115016" name="Straight Arrow Connector 13"/>
          <p:cNvCxnSpPr>
            <a:stCxn id="1651799063" idx="3"/>
            <a:endCxn id="1819580523" idx="1"/>
          </p:cNvCxnSpPr>
          <p:nvPr/>
        </p:nvCxnSpPr>
        <p:spPr bwMode="auto">
          <a:xfrm flipV="1">
            <a:off x="4971680" y="5134356"/>
            <a:ext cx="585956" cy="45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873136" name="Straight Arrow Connector 16"/>
          <p:cNvCxnSpPr>
            <a:stCxn id="1819580523" idx="0"/>
            <a:endCxn id="1298252023" idx="1"/>
          </p:cNvCxnSpPr>
          <p:nvPr/>
        </p:nvCxnSpPr>
        <p:spPr bwMode="auto">
          <a:xfrm rot="5400000" flipH="1" flipV="1">
            <a:off x="7401072" y="3242860"/>
            <a:ext cx="765864" cy="1782688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476664" name="TextBox 21"/>
          <p:cNvSpPr txBox="1"/>
          <p:nvPr/>
        </p:nvSpPr>
        <p:spPr bwMode="auto">
          <a:xfrm>
            <a:off x="6892660" y="3317932"/>
            <a:ext cx="599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Yes</a:t>
            </a:r>
            <a:endParaRPr lang="en-GB" sz="2400" b="1"/>
          </a:p>
        </p:txBody>
      </p:sp>
      <p:cxnSp>
        <p:nvCxnSpPr>
          <p:cNvPr id="1333421528" name="Straight Arrow Connector 16"/>
          <p:cNvCxnSpPr>
            <a:stCxn id="1298252023" idx="0"/>
            <a:endCxn id="1651799063" idx="0"/>
          </p:cNvCxnSpPr>
          <p:nvPr/>
        </p:nvCxnSpPr>
        <p:spPr bwMode="auto">
          <a:xfrm rot="16199998" flipH="1" flipV="1">
            <a:off x="6129686" y="1049628"/>
            <a:ext cx="1387656" cy="5821680"/>
          </a:xfrm>
          <a:prstGeom prst="bentConnector3">
            <a:avLst>
              <a:gd name="adj1" fmla="val -1647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5405005" name="TextBox 5"/>
              <p:cNvSpPr txBox="1"/>
              <p:nvPr/>
            </p:nvSpPr>
            <p:spPr bwMode="auto">
              <a:xfrm>
                <a:off x="849086" y="1544558"/>
                <a:ext cx="9995916" cy="78386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defRPr/>
                </a:pPr>
                <a:r>
                  <a:rPr lang="en-US"/>
                  <a:t>Sample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starting at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>
                                <a:latin typeface="Cambria Math"/>
                              </a:rPr>
                              <m:t>current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which has probability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b="0" i="0">
                                    <a:latin typeface="Cambria Math"/>
                                  </a:rPr>
                                  <m:t>current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>
                                <a:latin typeface="Cambria Math"/>
                              </a:rPr>
                              <m:t>current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>
                  <a:defRPr/>
                </a:pPr>
                <a:r>
                  <a:rPr lang="en-US"/>
                  <a:t>Consider a next step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>
                                <a:latin typeface="Cambria Math"/>
                              </a:rPr>
                              <m:t>proposed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which as probability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b="0" i="0">
                                    <a:latin typeface="Cambria Math"/>
                                  </a:rPr>
                                  <m:t>proposed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>
                                <a:latin typeface="Cambria Math"/>
                              </a:rPr>
                              <m:t>proposed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he-IL"/>
              </a:p>
            </p:txBody>
          </p:sp>
        </mc:Choice>
        <mc:Fallback xmlns="">
          <p:sp>
            <p:nvSpPr>
              <p:cNvPr id="605405005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086" y="1544558"/>
                <a:ext cx="9995916" cy="783869"/>
              </a:xfrm>
              <a:prstGeom prst="rect">
                <a:avLst/>
              </a:prstGeom>
              <a:blipFill>
                <a:blip r:embed="rId7"/>
                <a:stretch>
                  <a:fillRect l="-488" t="-3876" b="-69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35606118" name="Object 6"/>
          <p:cNvGraphicFramePr>
            <a:graphicFrameLocks noChangeAspect="1"/>
          </p:cNvGraphicFramePr>
          <p:nvPr/>
        </p:nvGraphicFramePr>
        <p:xfrm>
          <a:off x="5532438" y="3305175"/>
          <a:ext cx="11271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8" imgW="1126490" imgH="245110" progId="Equation.DSMT4">
                  <p:embed/>
                </p:oleObj>
              </mc:Choice>
              <mc:Fallback>
                <p:oleObj name="oleObj" r:id="rId8" imgW="1126490" imgH="245110" progId="Equation.DSMT4">
                  <p:embed/>
                  <p:pic>
                    <p:nvPicPr>
                      <p:cNvPr id="1035606118" name="Object 6"/>
                      <p:cNvPicPr/>
                      <p:nvPr/>
                    </p:nvPicPr>
                    <p:blipFill rotWithShape="1">
                      <a:blip r:embed="rId9"/>
                      <a:stretch/>
                    </p:blipFill>
                    <p:spPr bwMode="auto">
                      <a:xfrm>
                        <a:off x="5532438" y="3305175"/>
                        <a:ext cx="1127125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22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87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050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11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58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87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25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7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223661" grpId="0" animBg="1"/>
      <p:bldP spid="1651799063" grpId="0" animBg="1"/>
      <p:bldP spid="1819580523" grpId="0" animBg="1"/>
      <p:bldP spid="1298252023" grpId="0" animBg="1"/>
      <p:bldP spid="674766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70923" name="Title 1"/>
          <p:cNvSpPr>
            <a:spLocks noGrp="1"/>
          </p:cNvSpPr>
          <p:nvPr>
            <p:ph type="title"/>
          </p:nvPr>
        </p:nvSpPr>
        <p:spPr bwMode="auto">
          <a:xfrm>
            <a:off x="104023" y="105019"/>
            <a:ext cx="1181704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4000"/>
              <a:t>Metropolis sometimes accepts low probability moves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1515537" name="Flowchart: Process 7"/>
              <p:cNvSpPr/>
              <p:nvPr/>
            </p:nvSpPr>
            <p:spPr bwMode="auto">
              <a:xfrm>
                <a:off x="382046" y="3091235"/>
                <a:ext cx="2118012" cy="969264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/>
                  <a:t>Pick next place: left or right</a:t>
                </a:r>
                <a:endParaRPr/>
              </a:p>
              <a:p>
                <a:pPr algn="ctr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/>
                                  <a:ea typeface="Cambria Math"/>
                                </a:rPr>
                                <m:t>𝑝𝑟𝑜𝑝𝑜𝑠𝑒𝑑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proposed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1051515537" name="Flowchart: Process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046" y="3091235"/>
                <a:ext cx="2118012" cy="969264"/>
              </a:xfrm>
              <a:prstGeom prst="flowChartProcess">
                <a:avLst/>
              </a:prstGeom>
              <a:blipFill>
                <a:blip r:embed="rId3"/>
                <a:stretch>
                  <a:fillRect t="-1242" r="-1146" b="-186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9594062" name="Flowchart: Decision 8"/>
              <p:cNvSpPr/>
              <p:nvPr/>
            </p:nvSpPr>
            <p:spPr bwMode="auto">
              <a:xfrm>
                <a:off x="3086014" y="2954075"/>
                <a:ext cx="2670048" cy="1234440"/>
              </a:xfrm>
              <a:prstGeom prst="flowChartDecision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  <a:ea typeface="Cambria Math"/>
                              </a:rPr>
                              <m:t>current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  <a:ea typeface="Cambria Math"/>
                              </a:rPr>
                              <m:t>proposed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GB"/>
                  <a:t>?</a:t>
                </a:r>
                <a:endParaRPr/>
              </a:p>
            </p:txBody>
          </p:sp>
        </mc:Choice>
        <mc:Fallback xmlns="">
          <p:sp>
            <p:nvSpPr>
              <p:cNvPr id="1089594062" name="Flowchart: Decision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6014" y="2954075"/>
                <a:ext cx="2670048" cy="1234440"/>
              </a:xfrm>
              <a:prstGeom prst="flowChartDecision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8486165" name="Flowchart: Process 9"/>
              <p:cNvSpPr/>
              <p:nvPr/>
            </p:nvSpPr>
            <p:spPr bwMode="auto">
              <a:xfrm>
                <a:off x="6479744" y="1703579"/>
                <a:ext cx="2118012" cy="969264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/>
                  <a:t>Go to </a:t>
                </a:r>
                <a:endParaRPr/>
              </a:p>
              <a:p>
                <a:pPr algn="ctr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proposed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998486165" name="Flowchart: Process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9744" y="1703579"/>
                <a:ext cx="2118012" cy="969264"/>
              </a:xfrm>
              <a:prstGeom prst="flowChartProcess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4662916" name="Straight Arrow Connector 13"/>
          <p:cNvCxnSpPr>
            <a:stCxn id="1051515537" idx="3"/>
            <a:endCxn id="1089594062" idx="1"/>
          </p:cNvCxnSpPr>
          <p:nvPr/>
        </p:nvCxnSpPr>
        <p:spPr bwMode="auto">
          <a:xfrm flipV="1">
            <a:off x="2500058" y="3571295"/>
            <a:ext cx="585956" cy="45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003089" name="Straight Arrow Connector 16"/>
          <p:cNvCxnSpPr>
            <a:stCxn id="1089594062" idx="0"/>
            <a:endCxn id="998486165" idx="1"/>
          </p:cNvCxnSpPr>
          <p:nvPr/>
        </p:nvCxnSpPr>
        <p:spPr bwMode="auto">
          <a:xfrm rot="5400000" flipH="1" flipV="1">
            <a:off x="5067459" y="1541790"/>
            <a:ext cx="765864" cy="2058706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8108280" name="TextBox 21"/>
          <p:cNvSpPr txBox="1"/>
          <p:nvPr/>
        </p:nvSpPr>
        <p:spPr bwMode="auto">
          <a:xfrm>
            <a:off x="4421038" y="1754871"/>
            <a:ext cx="599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Yes</a:t>
            </a:r>
            <a:endParaRPr lang="en-GB" sz="2400" b="1"/>
          </a:p>
        </p:txBody>
      </p:sp>
      <p:cxnSp>
        <p:nvCxnSpPr>
          <p:cNvPr id="526135168" name="Straight Arrow Connector 16"/>
          <p:cNvCxnSpPr>
            <a:stCxn id="998486165" idx="0"/>
            <a:endCxn id="1051515537" idx="0"/>
          </p:cNvCxnSpPr>
          <p:nvPr/>
        </p:nvCxnSpPr>
        <p:spPr bwMode="auto">
          <a:xfrm rot="16199998" flipH="1" flipV="1">
            <a:off x="3796073" y="-651442"/>
            <a:ext cx="1387656" cy="6097698"/>
          </a:xfrm>
          <a:prstGeom prst="bentConnector3">
            <a:avLst>
              <a:gd name="adj1" fmla="val -16474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210837" name="Flowchart: Process 14"/>
              <p:cNvSpPr/>
              <p:nvPr/>
            </p:nvSpPr>
            <p:spPr bwMode="auto">
              <a:xfrm>
                <a:off x="3362032" y="4679243"/>
                <a:ext cx="2118012" cy="969264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/>
                  <a:t>Pick random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algn="ctr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0</m:t>
                          </m:r>
                          <m:r>
                            <a:rPr lang="en-US" b="0" i="1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b="0" i="1">
                              <a:latin typeface="Cambria Math"/>
                              <a:ea typeface="Cambria Math"/>
                            </a:rPr>
                            <m:t>𝑟</m:t>
                          </m:r>
                          <m:r>
                            <a:rPr lang="en-US" b="0" i="1">
                              <a:latin typeface="Cambria Math"/>
                              <a:ea typeface="Cambria Math"/>
                            </a:rPr>
                            <m:t>&lt;</m:t>
                          </m:r>
                          <m:r>
                            <a:rPr lang="en-US" b="0" i="1">
                              <a:latin typeface="Cambria Math"/>
                              <a:ea typeface="Cambria Math"/>
                            </a:rPr>
                            <m:t>1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25210837" name="Flowchart: Process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2032" y="4679243"/>
                <a:ext cx="2118012" cy="969264"/>
              </a:xfrm>
              <a:prstGeom prst="flowChartProcess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2233804" name="Flowchart: Decision 15"/>
              <p:cNvSpPr/>
              <p:nvPr/>
            </p:nvSpPr>
            <p:spPr bwMode="auto">
              <a:xfrm>
                <a:off x="6203726" y="4546655"/>
                <a:ext cx="2670048" cy="1234440"/>
              </a:xfrm>
              <a:prstGeom prst="flowChartDecision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𝑟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&lt;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/>
                                    <a:ea typeface="Cambria Math"/>
                                  </a:rPr>
                                  <m:t>proposed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/>
                                    <a:ea typeface="Cambria Math"/>
                                  </a:rPr>
                                  <m:t>current</m:t>
                                </m:r>
                              </m:sub>
                            </m:sSub>
                          </m:den>
                        </m:f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GB"/>
                  <a:t>?</a:t>
                </a:r>
                <a:endParaRPr/>
              </a:p>
            </p:txBody>
          </p:sp>
        </mc:Choice>
        <mc:Fallback xmlns="">
          <p:sp>
            <p:nvSpPr>
              <p:cNvPr id="1662233804" name="Flowchart: Decision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03726" y="4546655"/>
                <a:ext cx="2670048" cy="1234440"/>
              </a:xfrm>
              <a:prstGeom prst="flowChartDecision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772161" name="Flowchart: Process 17"/>
              <p:cNvSpPr/>
              <p:nvPr/>
            </p:nvSpPr>
            <p:spPr bwMode="auto">
              <a:xfrm>
                <a:off x="9514451" y="4671814"/>
                <a:ext cx="2118012" cy="969264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/>
                  <a:t>Go to </a:t>
                </a:r>
                <a:endParaRPr/>
              </a:p>
              <a:p>
                <a:pPr algn="ctr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/>
                                  <a:ea typeface="Cambria Math"/>
                                </a:rPr>
                                <m:t>current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338772161" name="Flowchart: Process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14451" y="4671814"/>
                <a:ext cx="2118012" cy="969264"/>
              </a:xfrm>
              <a:prstGeom prst="flowChartProcess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3246990" name="Straight Arrow Connector 18"/>
          <p:cNvCxnSpPr>
            <a:stCxn id="1089594062" idx="2"/>
            <a:endCxn id="25210837" idx="0"/>
          </p:cNvCxnSpPr>
          <p:nvPr/>
        </p:nvCxnSpPr>
        <p:spPr bwMode="auto">
          <a:xfrm>
            <a:off x="4421038" y="4188515"/>
            <a:ext cx="0" cy="49072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732157" name="Straight Arrow Connector 23"/>
          <p:cNvCxnSpPr>
            <a:stCxn id="25210837" idx="3"/>
            <a:endCxn id="1662233804" idx="1"/>
          </p:cNvCxnSpPr>
          <p:nvPr/>
        </p:nvCxnSpPr>
        <p:spPr bwMode="auto">
          <a:xfrm>
            <a:off x="5480044" y="5163875"/>
            <a:ext cx="72368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299700" name="Straight Arrow Connector 24"/>
          <p:cNvCxnSpPr>
            <a:stCxn id="1662233804" idx="0"/>
            <a:endCxn id="998486165" idx="2"/>
          </p:cNvCxnSpPr>
          <p:nvPr/>
        </p:nvCxnSpPr>
        <p:spPr bwMode="auto">
          <a:xfrm flipV="1">
            <a:off x="7538750" y="2672843"/>
            <a:ext cx="0" cy="18738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9347202" name="Straight Arrow Connector 30"/>
          <p:cNvCxnSpPr>
            <a:stCxn id="1662233804" idx="3"/>
            <a:endCxn id="338772161" idx="1"/>
          </p:cNvCxnSpPr>
          <p:nvPr/>
        </p:nvCxnSpPr>
        <p:spPr bwMode="auto">
          <a:xfrm flipV="1">
            <a:off x="8873774" y="5156446"/>
            <a:ext cx="640677" cy="74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573740" name="Straight Arrow Connector 16"/>
          <p:cNvCxnSpPr>
            <a:stCxn id="338772161" idx="2"/>
            <a:endCxn id="1051515537" idx="2"/>
          </p:cNvCxnSpPr>
          <p:nvPr/>
        </p:nvCxnSpPr>
        <p:spPr bwMode="auto">
          <a:xfrm rot="5400000" flipH="1">
            <a:off x="5216965" y="284587"/>
            <a:ext cx="1580579" cy="9132405"/>
          </a:xfrm>
          <a:prstGeom prst="bentConnector3">
            <a:avLst>
              <a:gd name="adj1" fmla="val -28348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1731386" name="TextBox 38"/>
          <p:cNvSpPr txBox="1"/>
          <p:nvPr/>
        </p:nvSpPr>
        <p:spPr bwMode="auto">
          <a:xfrm>
            <a:off x="4421038" y="4110899"/>
            <a:ext cx="55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No</a:t>
            </a:r>
            <a:endParaRPr lang="en-GB" sz="2400" b="1"/>
          </a:p>
        </p:txBody>
      </p:sp>
      <p:sp>
        <p:nvSpPr>
          <p:cNvPr id="1849762089" name="TextBox 39"/>
          <p:cNvSpPr txBox="1"/>
          <p:nvPr/>
        </p:nvSpPr>
        <p:spPr bwMode="auto">
          <a:xfrm>
            <a:off x="7518918" y="3915459"/>
            <a:ext cx="599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Yes</a:t>
            </a:r>
            <a:endParaRPr lang="en-GB" sz="2400" b="1"/>
          </a:p>
        </p:txBody>
      </p:sp>
      <p:sp>
        <p:nvSpPr>
          <p:cNvPr id="1602945650" name="TextBox 40"/>
          <p:cNvSpPr txBox="1"/>
          <p:nvPr/>
        </p:nvSpPr>
        <p:spPr bwMode="auto">
          <a:xfrm>
            <a:off x="8804009" y="4620718"/>
            <a:ext cx="55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No</a:t>
            </a:r>
            <a:endParaRPr lang="en-GB" sz="2400" b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73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24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73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2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76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9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34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94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7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5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10837" grpId="0" animBg="1"/>
      <p:bldP spid="1662233804" grpId="0" animBg="1"/>
      <p:bldP spid="338772161" grpId="0" animBg="1"/>
      <p:bldP spid="661731386" grpId="0"/>
      <p:bldP spid="1849762089" grpId="0"/>
      <p:bldP spid="16029456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43330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A simple target distribution to clarify metropolis</a:t>
            </a:r>
            <a:endParaRPr lang="he-IL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9924576" name="Content Placeholder 2"/>
              <p:cNvSpPr>
                <a:spLocks noGrp="1"/>
              </p:cNvSpPr>
              <p:nvPr>
                <p:ph idx="1"/>
              </p:nvPr>
            </p:nvSpPr>
            <p:spPr bwMode="auto"/>
            <p:txBody>
              <a:bodyPr/>
              <a:lstStyle/>
              <a:p>
                <a:pPr>
                  <a:defRPr/>
                </a:pPr>
                <a:r>
                  <a:rPr lang="en-US"/>
                  <a:t>Sample from a discrete distribution</a:t>
                </a:r>
                <a:endParaRPr/>
              </a:p>
              <a:p>
                <a:pPr lvl="1">
                  <a:defRPr/>
                </a:pPr>
                <a:r>
                  <a:rPr lang="en-US"/>
                  <a:t>7 possibilities: 1, 2, 3, 4, 5, 6, 7</a:t>
                </a:r>
                <a:endParaRPr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  <m:r>
                          <a:rPr lang="en-US" b="0" i="1">
                            <a:latin typeface="Cambria Math"/>
                          </a:rPr>
                          <m:t>∝</m:t>
                        </m:r>
                        <m:r>
                          <a:rPr lang="en-US" b="0" i="1">
                            <a:latin typeface="Cambria Math"/>
                          </a:rPr>
                          <m:t>𝜃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2">
                  <a:defRPr/>
                </a:pPr>
                <a:r>
                  <a:rPr lang="en-US"/>
                  <a:t>We will not need the normalized probability</a:t>
                </a:r>
                <a:endParaRPr/>
              </a:p>
              <a:p>
                <a:pPr lvl="1">
                  <a:defRPr/>
                </a:pPr>
                <a:r>
                  <a:rPr lang="en-US"/>
                  <a:t>Start at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𝜃</m:t>
                        </m:r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r>
                          <a:rPr lang="en-US" b="0" i="1">
                            <a:latin typeface="Cambria Math"/>
                          </a:rPr>
                          <m:t>4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he-IL"/>
              </a:p>
            </p:txBody>
          </p:sp>
        </mc:Choice>
        <mc:Fallback xmlns="">
          <p:sp>
            <p:nvSpPr>
              <p:cNvPr id="201992457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149331" name="Title 1"/>
          <p:cNvSpPr>
            <a:spLocks noGrp="1"/>
          </p:cNvSpPr>
          <p:nvPr>
            <p:ph type="title"/>
          </p:nvPr>
        </p:nvSpPr>
        <p:spPr bwMode="auto">
          <a:xfrm>
            <a:off x="201168" y="97186"/>
            <a:ext cx="5606965" cy="1325563"/>
          </a:xfrm>
        </p:spPr>
        <p:txBody>
          <a:bodyPr/>
          <a:lstStyle/>
          <a:p>
            <a:pPr>
              <a:defRPr/>
            </a:pPr>
            <a:r>
              <a:rPr lang="en-US"/>
              <a:t>Metropolis run showing accept reject and stay </a:t>
            </a:r>
            <a:endParaRPr lang="en-GB"/>
          </a:p>
        </p:txBody>
      </p:sp>
      <p:sp>
        <p:nvSpPr>
          <p:cNvPr id="1741479428" name="Content Placeholder 4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4620768" cy="4351338"/>
          </a:xfrm>
        </p:spPr>
        <p:txBody>
          <a:bodyPr/>
          <a:lstStyle/>
          <a:p>
            <a:pPr>
              <a:defRPr/>
            </a:pPr>
            <a:r>
              <a:rPr lang="en-US"/>
              <a:t>Step 1: left, r &gt; 0.75, stay</a:t>
            </a:r>
            <a:endParaRPr/>
          </a:p>
          <a:p>
            <a:pPr>
              <a:defRPr/>
            </a:pPr>
            <a:r>
              <a:rPr lang="en-US"/>
              <a:t>Step 2: left, r &lt; 0.75, go</a:t>
            </a:r>
            <a:endParaRPr/>
          </a:p>
          <a:p>
            <a:pPr>
              <a:defRPr/>
            </a:pPr>
            <a:r>
              <a:rPr lang="en-US"/>
              <a:t>Step 3: left, r &lt; 0.66, go</a:t>
            </a:r>
            <a:endParaRPr/>
          </a:p>
          <a:p>
            <a:pPr>
              <a:defRPr/>
            </a:pPr>
            <a:r>
              <a:rPr lang="en-US"/>
              <a:t>Step  4: right, go</a:t>
            </a:r>
            <a:endParaRPr/>
          </a:p>
          <a:p>
            <a:pPr>
              <a:defRPr/>
            </a:pPr>
            <a:r>
              <a:rPr lang="en-US"/>
              <a:t>Step 5: left, r &lt; 0.66, go</a:t>
            </a:r>
            <a:endParaRPr/>
          </a:p>
          <a:p>
            <a:pPr>
              <a:defRPr/>
            </a:pPr>
            <a:r>
              <a:rPr lang="en-US"/>
              <a:t>Step 6: left, r &gt; 0.5, stay</a:t>
            </a:r>
            <a:endParaRPr/>
          </a:p>
          <a:p>
            <a:pPr>
              <a:defRPr/>
            </a:pPr>
            <a:r>
              <a:rPr lang="en-US"/>
              <a:t>Step 7: right, go</a:t>
            </a:r>
            <a:endParaRPr/>
          </a:p>
          <a:p>
            <a:pPr>
              <a:defRPr/>
            </a:pPr>
            <a:r>
              <a:rPr lang="en-US"/>
              <a:t>Step 8: left, r &lt; 0.66, stay</a:t>
            </a:r>
            <a:endParaRPr lang="en-GB"/>
          </a:p>
        </p:txBody>
      </p:sp>
      <p:pic>
        <p:nvPicPr>
          <p:cNvPr id="1693763687" name="Pictur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02977" y="4971476"/>
            <a:ext cx="6503635" cy="1789338"/>
          </a:xfrm>
          <a:prstGeom prst="rect">
            <a:avLst/>
          </a:prstGeom>
        </p:spPr>
      </p:pic>
      <p:pic>
        <p:nvPicPr>
          <p:cNvPr id="1022508515" name="Picture 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02976" y="280925"/>
            <a:ext cx="6503635" cy="3677152"/>
          </a:xfrm>
          <a:prstGeom prst="rect">
            <a:avLst/>
          </a:prstGeom>
        </p:spPr>
      </p:pic>
      <p:sp>
        <p:nvSpPr>
          <p:cNvPr id="831720855" name="Arrow: Up 9"/>
          <p:cNvSpPr/>
          <p:nvPr/>
        </p:nvSpPr>
        <p:spPr bwMode="auto">
          <a:xfrm>
            <a:off x="8273143" y="4169229"/>
            <a:ext cx="674914" cy="696685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794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83033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4800600" cy="1325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The chain spends more time in more probabile states</a:t>
            </a:r>
            <a:endParaRPr lang="en-GB"/>
          </a:p>
        </p:txBody>
      </p:sp>
      <p:sp>
        <p:nvSpPr>
          <p:cNvPr id="428220237" name="Content Placeholder 4"/>
          <p:cNvSpPr>
            <a:spLocks noGrp="1"/>
          </p:cNvSpPr>
          <p:nvPr>
            <p:ph idx="1"/>
          </p:nvPr>
        </p:nvSpPr>
        <p:spPr bwMode="auto">
          <a:xfrm>
            <a:off x="838200" y="2387599"/>
            <a:ext cx="4620768" cy="3789363"/>
          </a:xfrm>
        </p:spPr>
        <p:txBody>
          <a:bodyPr/>
          <a:lstStyle/>
          <a:p>
            <a:pPr>
              <a:defRPr/>
            </a:pPr>
            <a:r>
              <a:rPr lang="en-US"/>
              <a:t>Which ends up picking each possibility with exactly its probability</a:t>
            </a:r>
            <a:endParaRPr lang="en-GB"/>
          </a:p>
        </p:txBody>
      </p:sp>
      <p:pic>
        <p:nvPicPr>
          <p:cNvPr id="193822856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85317" y="2020753"/>
            <a:ext cx="5156790" cy="2914287"/>
          </a:xfrm>
          <a:prstGeom prst="rect">
            <a:avLst/>
          </a:prstGeom>
        </p:spPr>
      </p:pic>
      <p:pic>
        <p:nvPicPr>
          <p:cNvPr id="989679938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85317" y="504180"/>
            <a:ext cx="5156790" cy="1418781"/>
          </a:xfrm>
          <a:prstGeom prst="rect">
            <a:avLst/>
          </a:prstGeom>
        </p:spPr>
      </p:pic>
      <p:pic>
        <p:nvPicPr>
          <p:cNvPr id="1330505063" name="Picture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85318" y="5303285"/>
            <a:ext cx="5156790" cy="1418782"/>
          </a:xfrm>
          <a:prstGeom prst="rect">
            <a:avLst/>
          </a:prstGeom>
        </p:spPr>
      </p:pic>
      <p:sp>
        <p:nvSpPr>
          <p:cNvPr id="15134855" name="Arrow: Up 6"/>
          <p:cNvSpPr/>
          <p:nvPr/>
        </p:nvSpPr>
        <p:spPr bwMode="auto">
          <a:xfrm>
            <a:off x="8363712" y="4886889"/>
            <a:ext cx="478971" cy="368245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sp>
        <p:nvSpPr>
          <p:cNvPr id="1223763196" name="Arrow: Up 7"/>
          <p:cNvSpPr/>
          <p:nvPr/>
        </p:nvSpPr>
        <p:spPr bwMode="auto">
          <a:xfrm>
            <a:off x="8363712" y="1880602"/>
            <a:ext cx="478971" cy="134937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74993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Empirical distribution quickly leaves initial condition</a:t>
            </a:r>
            <a:endParaRPr lang="en-GB" sz="3600"/>
          </a:p>
        </p:txBody>
      </p:sp>
      <p:pic>
        <p:nvPicPr>
          <p:cNvPr id="266191793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7057" y="1676767"/>
            <a:ext cx="9666513" cy="4816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142959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200"/>
              <a:t>Empirical distribution slowly approaches target distribution</a:t>
            </a:r>
            <a:endParaRPr lang="en-GB" sz="3200"/>
          </a:p>
        </p:txBody>
      </p:sp>
      <p:pic>
        <p:nvPicPr>
          <p:cNvPr id="528242554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44631" y="1883228"/>
            <a:ext cx="8848453" cy="4409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4282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intuition behind Metropolis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1872879" name="Content Placeholder 2"/>
              <p:cNvSpPr>
                <a:spLocks noGrp="1"/>
              </p:cNvSpPr>
              <p:nvPr>
                <p:ph idx="1"/>
              </p:nvPr>
            </p:nvSpPr>
            <p:spPr bwMode="auto"/>
            <p:txBody>
              <a:bodyPr/>
              <a:lstStyle/>
              <a:p>
                <a:pPr>
                  <a:defRPr/>
                </a:pPr>
                <a:r>
                  <a:rPr b="1"/>
                  <a:t>Don’t</a:t>
                </a:r>
                <a:r>
                  <a:t> always move towards high probability</a:t>
                </a:r>
              </a:p>
              <a:p>
                <a:pPr lvl="1">
                  <a:defRPr/>
                </a:pPr>
                <a:r>
                  <a:t>This is a sampler, not a search for the maximum</a:t>
                </a:r>
              </a:p>
              <a:p>
                <a:pPr lvl="0">
                  <a:defRPr/>
                </a:pPr>
                <a:r>
                  <a:rPr b="1"/>
                  <a:t>Do</a:t>
                </a:r>
                <a:r>
                  <a:t> move towards high probability more often</a:t>
                </a:r>
              </a:p>
              <a:p>
                <a:pPr lvl="1">
                  <a:defRPr/>
                </a:pPr>
                <a:r>
                  <a:t>So that higher probability is sampled more</a:t>
                </a:r>
              </a:p>
              <a:p>
                <a:pPr lvl="0">
                  <a:defRPr/>
                </a:pPr>
                <a:r>
                  <a:rPr b="1"/>
                  <a:t>Balance</a:t>
                </a:r>
                <a:r>
                  <a:rPr b="0"/>
                  <a:t> these correctly</a:t>
                </a:r>
              </a:p>
              <a:p>
                <a:pPr lvl="1">
                  <a:defRPr/>
                </a:pPr>
                <a:r>
                  <a:rPr b="0"/>
                  <a:t>I need to move to a position 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a:rPr lang="en-US" sz="24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b="0"/>
                  <a:t> half as often as one 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a:rPr lang="en-US" sz="24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en-US" sz="24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 u="none" strike="noStrike" cap="none" spc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b="0"/>
              </a:p>
              <a:p>
                <a:pPr lvl="1">
                  <a:defRPr/>
                </a:pPr>
                <a:endParaRPr/>
              </a:p>
            </p:txBody>
          </p:sp>
        </mc:Choice>
        <mc:Fallback xmlns="">
          <p:sp>
            <p:nvSpPr>
              <p:cNvPr id="172187287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0694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Detailed balance: probability flow in both directions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6181187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825625"/>
                <a:ext cx="10515600" cy="1325563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en-US"/>
                  <a:t>In the target distribution</a:t>
                </a:r>
                <a:endParaRPr/>
              </a:p>
              <a:p>
                <a:pPr lvl="1">
                  <a:defRPr/>
                </a:pPr>
                <a:r>
                  <a:rPr lang="en-US"/>
                  <a:t>Probability flows from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at the same rate it flows from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>
                  <a:defRPr/>
                </a:pPr>
                <a:r>
                  <a:rPr lang="en-US"/>
                  <a:t>More likely to go from 4 to 5, but more likely to be at 5 to start with</a:t>
                </a:r>
                <a:endParaRPr lang="he-IL"/>
              </a:p>
            </p:txBody>
          </p:sp>
        </mc:Choice>
        <mc:Fallback xmlns="">
          <p:sp>
            <p:nvSpPr>
              <p:cNvPr id="177618118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825625"/>
                <a:ext cx="10515600" cy="1325563"/>
              </a:xfrm>
              <a:blipFill>
                <a:blip r:embed="rId3"/>
                <a:stretch>
                  <a:fillRect l="-1043" t="-10092" b="-82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9305045" name="Object 3"/>
          <p:cNvGraphicFramePr>
            <a:graphicFrameLocks noChangeAspect="1"/>
          </p:cNvGraphicFramePr>
          <p:nvPr/>
        </p:nvGraphicFramePr>
        <p:xfrm>
          <a:off x="366192" y="4059238"/>
          <a:ext cx="1474787" cy="577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647065" imgH="252730" progId="Equation.DSMT4">
                  <p:embed/>
                </p:oleObj>
              </mc:Choice>
              <mc:Fallback>
                <p:oleObj name="oleObj" r:id="rId4" imgW="647065" imgH="252730" progId="Equation.DSMT4">
                  <p:embed/>
                  <p:pic>
                    <p:nvPicPr>
                      <p:cNvPr id="209305045" name="Object 3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366192" y="4059238"/>
                        <a:ext cx="1474787" cy="577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34205687" name="TextBox 4"/>
              <p:cNvSpPr txBox="1"/>
              <p:nvPr/>
            </p:nvSpPr>
            <p:spPr bwMode="auto">
              <a:xfrm>
                <a:off x="324396" y="3183593"/>
                <a:ext cx="4530632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defRPr/>
                </a:pPr>
                <a:r>
                  <a:rPr lang="en-US" sz="2800"/>
                  <a:t>In the example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2800" b="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sz="2800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sz="2800" b="0" i="1">
                                <a:latin typeface="Cambria Math"/>
                              </a:rPr>
                              <m:t>𝜃</m:t>
                            </m:r>
                          </m:e>
                        </m:d>
                        <m:r>
                          <a:rPr lang="en-US" sz="2800" b="0" i="1">
                            <a:latin typeface="Cambria Math"/>
                          </a:rPr>
                          <m:t>∝</m:t>
                        </m:r>
                        <m:r>
                          <a:rPr lang="en-US" sz="2800" b="0" i="1">
                            <a:latin typeface="Cambria Math"/>
                          </a:rPr>
                          <m:t>𝜃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 sz="2800"/>
                  <a:t>):</a:t>
                </a:r>
                <a:endParaRPr lang="he-IL" sz="2800"/>
              </a:p>
            </p:txBody>
          </p:sp>
        </mc:Choice>
        <mc:Fallback xmlns="">
          <p:sp>
            <p:nvSpPr>
              <p:cNvPr id="2134205687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396" y="3183593"/>
                <a:ext cx="4530632" cy="523220"/>
              </a:xfrm>
              <a:prstGeom prst="rect">
                <a:avLst/>
              </a:prstGeom>
              <a:blipFill>
                <a:blip r:embed="rId6"/>
                <a:stretch>
                  <a:fillRect l="-2692" t="-10465" b="-325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975654" name="Object 5"/>
          <p:cNvGraphicFramePr>
            <a:graphicFrameLocks noChangeAspect="1"/>
          </p:cNvGraphicFramePr>
          <p:nvPr/>
        </p:nvGraphicFramePr>
        <p:xfrm>
          <a:off x="1835845" y="3874293"/>
          <a:ext cx="400843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7" imgW="1675765" imgH="393065" progId="Equation.DSMT4">
                  <p:embed/>
                </p:oleObj>
              </mc:Choice>
              <mc:Fallback>
                <p:oleObj name="oleObj" r:id="rId7" imgW="1675765" imgH="393065" progId="Equation.DSMT4">
                  <p:embed/>
                  <p:pic>
                    <p:nvPicPr>
                      <p:cNvPr id="15975654" name="Object 5"/>
                      <p:cNvPicPr/>
                      <p:nvPr/>
                    </p:nvPicPr>
                    <p:blipFill rotWithShape="1">
                      <a:blip r:embed="rId8"/>
                      <a:stretch/>
                    </p:blipFill>
                    <p:spPr bwMode="auto">
                      <a:xfrm>
                        <a:off x="1835845" y="3874293"/>
                        <a:ext cx="4008438" cy="94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3782818" name="Object 6"/>
          <p:cNvGraphicFramePr>
            <a:graphicFrameLocks noChangeAspect="1"/>
          </p:cNvGraphicFramePr>
          <p:nvPr/>
        </p:nvGraphicFramePr>
        <p:xfrm>
          <a:off x="5844283" y="3884863"/>
          <a:ext cx="819995" cy="941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9" imgW="342265" imgH="393065" progId="Equation.DSMT4">
                  <p:embed/>
                </p:oleObj>
              </mc:Choice>
              <mc:Fallback>
                <p:oleObj name="oleObj" r:id="rId9" imgW="342265" imgH="393065" progId="Equation.DSMT4">
                  <p:embed/>
                  <p:pic>
                    <p:nvPicPr>
                      <p:cNvPr id="1663782818" name="Object 6"/>
                      <p:cNvPicPr/>
                      <p:nvPr/>
                    </p:nvPicPr>
                    <p:blipFill rotWithShape="1">
                      <a:blip r:embed="rId10"/>
                      <a:stretch/>
                    </p:blipFill>
                    <p:spPr bwMode="auto">
                      <a:xfrm>
                        <a:off x="5844283" y="3884863"/>
                        <a:ext cx="819995" cy="941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72879" name="Object 3"/>
          <p:cNvGraphicFramePr>
            <a:graphicFrameLocks noChangeAspect="1"/>
          </p:cNvGraphicFramePr>
          <p:nvPr/>
        </p:nvGraphicFramePr>
        <p:xfrm>
          <a:off x="324396" y="5164793"/>
          <a:ext cx="1474787" cy="577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11" imgW="647065" imgH="252730" progId="Equation.DSMT4">
                  <p:embed/>
                </p:oleObj>
              </mc:Choice>
              <mc:Fallback>
                <p:oleObj name="oleObj" r:id="rId11" imgW="647065" imgH="252730" progId="Equation.DSMT4">
                  <p:embed/>
                  <p:pic>
                    <p:nvPicPr>
                      <p:cNvPr id="216172879" name="Object 3"/>
                      <p:cNvPicPr/>
                      <p:nvPr/>
                    </p:nvPicPr>
                    <p:blipFill rotWithShape="1">
                      <a:blip r:embed="rId12"/>
                      <a:stretch/>
                    </p:blipFill>
                    <p:spPr bwMode="auto">
                      <a:xfrm>
                        <a:off x="324396" y="5164793"/>
                        <a:ext cx="1474787" cy="577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0653284" name="Object 5"/>
          <p:cNvGraphicFramePr>
            <a:graphicFrameLocks noChangeAspect="1"/>
          </p:cNvGraphicFramePr>
          <p:nvPr/>
        </p:nvGraphicFramePr>
        <p:xfrm>
          <a:off x="1828232" y="5134630"/>
          <a:ext cx="22780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13" imgW="951865" imgH="252730" progId="Equation.DSMT4">
                  <p:embed/>
                </p:oleObj>
              </mc:Choice>
              <mc:Fallback>
                <p:oleObj name="oleObj" r:id="rId13" imgW="951865" imgH="252730" progId="Equation.DSMT4">
                  <p:embed/>
                  <p:pic>
                    <p:nvPicPr>
                      <p:cNvPr id="1140653284" name="Object 5"/>
                      <p:cNvPicPr/>
                      <p:nvPr/>
                    </p:nvPicPr>
                    <p:blipFill rotWithShape="1">
                      <a:blip r:embed="rId14"/>
                      <a:stretch/>
                    </p:blipFill>
                    <p:spPr bwMode="auto">
                      <a:xfrm>
                        <a:off x="1828232" y="5134630"/>
                        <a:ext cx="2278063" cy="608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5519099" name="Object 6"/>
          <p:cNvGraphicFramePr>
            <a:graphicFrameLocks noChangeAspect="1"/>
          </p:cNvGraphicFramePr>
          <p:nvPr/>
        </p:nvGraphicFramePr>
        <p:xfrm>
          <a:off x="4157095" y="4983024"/>
          <a:ext cx="157797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15" imgW="659765" imgH="393065" progId="Equation.DSMT4">
                  <p:embed/>
                </p:oleObj>
              </mc:Choice>
              <mc:Fallback>
                <p:oleObj name="oleObj" r:id="rId15" imgW="659765" imgH="393065" progId="Equation.DSMT4">
                  <p:embed/>
                  <p:pic>
                    <p:nvPicPr>
                      <p:cNvPr id="935519099" name="Object 6"/>
                      <p:cNvPicPr/>
                      <p:nvPr/>
                    </p:nvPicPr>
                    <p:blipFill rotWithShape="1">
                      <a:blip r:embed="rId16"/>
                      <a:stretch/>
                    </p:blipFill>
                    <p:spPr bwMode="auto">
                      <a:xfrm>
                        <a:off x="4157095" y="4983024"/>
                        <a:ext cx="1577975" cy="941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5862276" name="Object 10"/>
          <p:cNvGraphicFramePr>
            <a:graphicFrameLocks noChangeAspect="1"/>
          </p:cNvGraphicFramePr>
          <p:nvPr/>
        </p:nvGraphicFramePr>
        <p:xfrm>
          <a:off x="5744435" y="4925660"/>
          <a:ext cx="919843" cy="105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17" imgW="342265" imgH="393065" progId="Equation.DSMT4">
                  <p:embed/>
                </p:oleObj>
              </mc:Choice>
              <mc:Fallback>
                <p:oleObj name="oleObj" r:id="rId17" imgW="342265" imgH="393065" progId="Equation.DSMT4">
                  <p:embed/>
                  <p:pic>
                    <p:nvPicPr>
                      <p:cNvPr id="2045862276" name="Object 10"/>
                      <p:cNvPicPr/>
                      <p:nvPr/>
                    </p:nvPicPr>
                    <p:blipFill rotWithShape="1">
                      <a:blip r:embed="rId18"/>
                      <a:stretch/>
                    </p:blipFill>
                    <p:spPr bwMode="auto">
                      <a:xfrm>
                        <a:off x="5744435" y="4925660"/>
                        <a:ext cx="919843" cy="1056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42610" name="Object 3"/>
          <p:cNvGraphicFramePr>
            <a:graphicFrameLocks noChangeAspect="1"/>
          </p:cNvGraphicFramePr>
          <p:nvPr/>
        </p:nvGraphicFramePr>
        <p:xfrm>
          <a:off x="7788048" y="4066676"/>
          <a:ext cx="1446212" cy="577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19" imgW="633730" imgH="252730" progId="Equation.DSMT4">
                  <p:embed/>
                </p:oleObj>
              </mc:Choice>
              <mc:Fallback>
                <p:oleObj name="oleObj" r:id="rId19" imgW="633730" imgH="252730" progId="Equation.DSMT4">
                  <p:embed/>
                  <p:pic>
                    <p:nvPicPr>
                      <p:cNvPr id="412742610" name="Object 3"/>
                      <p:cNvPicPr/>
                      <p:nvPr/>
                    </p:nvPicPr>
                    <p:blipFill rotWithShape="1">
                      <a:blip r:embed="rId20"/>
                      <a:stretch/>
                    </p:blipFill>
                    <p:spPr bwMode="auto">
                      <a:xfrm>
                        <a:off x="7788048" y="4066676"/>
                        <a:ext cx="1446212" cy="577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472886" name="Object 5"/>
          <p:cNvGraphicFramePr>
            <a:graphicFrameLocks noChangeAspect="1"/>
          </p:cNvGraphicFramePr>
          <p:nvPr/>
        </p:nvGraphicFramePr>
        <p:xfrm>
          <a:off x="9179029" y="4983025"/>
          <a:ext cx="173037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1" imgW="723265" imgH="393065" progId="Equation.DSMT4">
                  <p:embed/>
                </p:oleObj>
              </mc:Choice>
              <mc:Fallback>
                <p:oleObj name="oleObj" r:id="rId21" imgW="723265" imgH="393065" progId="Equation.DSMT4">
                  <p:embed/>
                  <p:pic>
                    <p:nvPicPr>
                      <p:cNvPr id="124472886" name="Object 5"/>
                      <p:cNvPicPr/>
                      <p:nvPr/>
                    </p:nvPicPr>
                    <p:blipFill rotWithShape="1">
                      <a:blip r:embed="rId22"/>
                      <a:stretch/>
                    </p:blipFill>
                    <p:spPr bwMode="auto">
                      <a:xfrm>
                        <a:off x="9179029" y="4983025"/>
                        <a:ext cx="1730375" cy="94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3821" name="Object 6"/>
          <p:cNvGraphicFramePr>
            <a:graphicFrameLocks noChangeAspect="1"/>
          </p:cNvGraphicFramePr>
          <p:nvPr/>
        </p:nvGraphicFramePr>
        <p:xfrm>
          <a:off x="10943802" y="4983024"/>
          <a:ext cx="819995" cy="941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3" imgW="342265" imgH="393065" progId="Equation.DSMT4">
                  <p:embed/>
                </p:oleObj>
              </mc:Choice>
              <mc:Fallback>
                <p:oleObj name="oleObj" r:id="rId23" imgW="342265" imgH="393065" progId="Equation.DSMT4">
                  <p:embed/>
                  <p:pic>
                    <p:nvPicPr>
                      <p:cNvPr id="204863821" name="Object 6"/>
                      <p:cNvPicPr/>
                      <p:nvPr/>
                    </p:nvPicPr>
                    <p:blipFill rotWithShape="1">
                      <a:blip r:embed="rId24"/>
                      <a:stretch/>
                    </p:blipFill>
                    <p:spPr bwMode="auto">
                      <a:xfrm>
                        <a:off x="10943802" y="4983024"/>
                        <a:ext cx="819995" cy="941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4584085" name="Object 7"/>
          <p:cNvGraphicFramePr>
            <a:graphicFrameLocks noChangeAspect="1"/>
          </p:cNvGraphicFramePr>
          <p:nvPr/>
        </p:nvGraphicFramePr>
        <p:xfrm>
          <a:off x="7734404" y="5164793"/>
          <a:ext cx="1444625" cy="577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5" imgW="633730" imgH="252730" progId="Equation.DSMT4">
                  <p:embed/>
                </p:oleObj>
              </mc:Choice>
              <mc:Fallback>
                <p:oleObj name="oleObj" r:id="rId25" imgW="633730" imgH="252730" progId="Equation.DSMT4">
                  <p:embed/>
                  <p:pic>
                    <p:nvPicPr>
                      <p:cNvPr id="1264584085" name="Object 7"/>
                      <p:cNvPicPr/>
                      <p:nvPr/>
                    </p:nvPicPr>
                    <p:blipFill rotWithShape="1">
                      <a:blip r:embed="rId26"/>
                      <a:stretch/>
                    </p:blipFill>
                    <p:spPr bwMode="auto">
                      <a:xfrm>
                        <a:off x="7734404" y="5164793"/>
                        <a:ext cx="1444625" cy="577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2409317" name="Object 9"/>
          <p:cNvGraphicFramePr>
            <a:graphicFrameLocks noChangeAspect="1"/>
          </p:cNvGraphicFramePr>
          <p:nvPr/>
        </p:nvGraphicFramePr>
        <p:xfrm>
          <a:off x="9179029" y="3874293"/>
          <a:ext cx="157797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7" imgW="659765" imgH="393065" progId="Equation.DSMT4">
                  <p:embed/>
                </p:oleObj>
              </mc:Choice>
              <mc:Fallback>
                <p:oleObj name="oleObj" r:id="rId27" imgW="659765" imgH="393065" progId="Equation.DSMT4">
                  <p:embed/>
                  <p:pic>
                    <p:nvPicPr>
                      <p:cNvPr id="1702409317" name="Object 9"/>
                      <p:cNvPicPr/>
                      <p:nvPr/>
                    </p:nvPicPr>
                    <p:blipFill rotWithShape="1">
                      <a:blip r:embed="rId28"/>
                      <a:stretch/>
                    </p:blipFill>
                    <p:spPr bwMode="auto">
                      <a:xfrm>
                        <a:off x="9179029" y="3874293"/>
                        <a:ext cx="1577975" cy="941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21927" name="Object 10"/>
          <p:cNvGraphicFramePr>
            <a:graphicFrameLocks noChangeAspect="1"/>
          </p:cNvGraphicFramePr>
          <p:nvPr/>
        </p:nvGraphicFramePr>
        <p:xfrm>
          <a:off x="10757003" y="3816928"/>
          <a:ext cx="919843" cy="105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9" imgW="342265" imgH="393065" progId="Equation.DSMT4">
                  <p:embed/>
                </p:oleObj>
              </mc:Choice>
              <mc:Fallback>
                <p:oleObj name="oleObj" r:id="rId29" imgW="342265" imgH="393065" progId="Equation.DSMT4">
                  <p:embed/>
                  <p:pic>
                    <p:nvPicPr>
                      <p:cNvPr id="399721927" name="Object 10"/>
                      <p:cNvPicPr/>
                      <p:nvPr/>
                    </p:nvPicPr>
                    <p:blipFill rotWithShape="1">
                      <a:blip r:embed="rId30"/>
                      <a:stretch/>
                    </p:blipFill>
                    <p:spPr bwMode="auto">
                      <a:xfrm>
                        <a:off x="10757003" y="3816928"/>
                        <a:ext cx="919843" cy="1056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20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7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58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40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18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420568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094317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Detailed balance makes the target distribution stable</a:t>
            </a:r>
            <a:endParaRPr lang="he-IL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2464824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825624"/>
                <a:ext cx="10515600" cy="298586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/>
                  <a:t>In the target distribution</a:t>
                </a:r>
                <a:endParaRPr/>
              </a:p>
              <a:p>
                <a:pPr lvl="1">
                  <a:defRPr/>
                </a:pPr>
                <a:r>
                  <a:rPr lang="en-US"/>
                  <a:t>Probability flows from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at the same rate it flows from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>
                  <a:defRPr/>
                </a:pPr>
                <a:r>
                  <a:rPr lang="en-US"/>
                  <a:t>Detailed balance means the target distribution is a fixed point</a:t>
                </a:r>
                <a:endParaRPr/>
              </a:p>
              <a:p>
                <a:pPr lvl="1">
                  <a:defRPr/>
                </a:pPr>
                <a:r>
                  <a:rPr lang="en-US"/>
                  <a:t>Sampling stabilizes around the target distribution</a:t>
                </a:r>
                <a:endParaRPr/>
              </a:p>
              <a:p>
                <a:pPr>
                  <a:defRPr/>
                </a:pPr>
                <a:r>
                  <a:rPr lang="en-US"/>
                  <a:t>Like in differential equations: </a:t>
                </a:r>
                <a:endParaRPr/>
              </a:p>
              <a:p>
                <a:pPr lvl="1">
                  <a:defRPr/>
                </a:pPr>
                <a:r>
                  <a:rPr lang="en-US"/>
                  <a:t>We always converge to a single fixed point</a:t>
                </a:r>
                <a:endParaRPr lang="he-IL"/>
              </a:p>
            </p:txBody>
          </p:sp>
        </mc:Choice>
        <mc:Fallback xmlns="">
          <p:sp>
            <p:nvSpPr>
              <p:cNvPr id="29246482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825624"/>
                <a:ext cx="10515600" cy="2985861"/>
              </a:xfrm>
              <a:blipFill>
                <a:blip r:embed="rId3"/>
                <a:stretch>
                  <a:fillRect l="-1043" t="-326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46632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8699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Metropolis rule only requires probability ratios</a:t>
            </a:r>
            <a:endParaRPr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5750961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511944"/>
                <a:ext cx="10515600" cy="84137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defRPr/>
                </a:pPr>
                <a:r>
                  <a:rPr lang="en-US"/>
                  <a:t>Note the trick of using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𝑚𝑖𝑛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instead of an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𝑖𝑓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>
                  <a:defRPr/>
                </a:pPr>
                <a:r>
                  <a:rPr lang="en-US"/>
                  <a:t>If we don’t follow the proposal, we stay in the same place</a:t>
                </a:r>
                <a:endParaRPr/>
              </a:p>
            </p:txBody>
          </p:sp>
        </mc:Choice>
        <mc:Fallback xmlns="">
          <p:sp>
            <p:nvSpPr>
              <p:cNvPr id="143575096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511944"/>
                <a:ext cx="10515600" cy="841375"/>
              </a:xfrm>
              <a:blipFill>
                <a:blip r:embed="rId3"/>
                <a:stretch>
                  <a:fillRect l="-928" t="-18116" b="-130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2186706" name="Group 11"/>
          <p:cNvGrpSpPr/>
          <p:nvPr/>
        </p:nvGrpSpPr>
        <p:grpSpPr bwMode="auto">
          <a:xfrm>
            <a:off x="1135977" y="3002997"/>
            <a:ext cx="5129352" cy="504186"/>
            <a:chOff x="170781" y="3002997"/>
            <a:chExt cx="5129352" cy="504186"/>
          </a:xfrm>
        </p:grpSpPr>
        <p:graphicFrame>
          <p:nvGraphicFramePr>
            <p:cNvPr id="2" name="Object 4"/>
            <p:cNvGraphicFramePr>
              <a:graphicFrameLocks noChangeAspect="1"/>
            </p:cNvGraphicFramePr>
            <p:nvPr/>
          </p:nvGraphicFramePr>
          <p:xfrm>
            <a:off x="3234267" y="3002997"/>
            <a:ext cx="2065866" cy="504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leObj" r:id="rId4" imgW="1268095" imgH="308610" progId="Equation.DSMT4">
                    <p:embed/>
                  </p:oleObj>
                </mc:Choice>
                <mc:Fallback>
                  <p:oleObj name="oleObj" r:id="rId4" imgW="1268095" imgH="308610" progId="Equation.DSMT4">
                    <p:embed/>
                    <p:pic>
                      <p:nvPicPr>
                        <p:cNvPr id="5" name="Object 4"/>
                        <p:cNvPicPr/>
                        <p:nvPr/>
                      </p:nvPicPr>
                      <p:blipFill rotWithShape="1">
                        <a:blip r:embed="rId5"/>
                        <a:stretch/>
                      </p:blipFill>
                      <p:spPr bwMode="auto">
                        <a:xfrm>
                          <a:off x="3234267" y="3002997"/>
                          <a:ext cx="2065866" cy="5041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7"/>
            <p:cNvSpPr txBox="1"/>
            <p:nvPr/>
          </p:nvSpPr>
          <p:spPr bwMode="auto">
            <a:xfrm>
              <a:off x="170781" y="3045518"/>
              <a:ext cx="30042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The proposal function:</a:t>
              </a:r>
              <a:endParaRPr sz="2400"/>
            </a:p>
          </p:txBody>
        </p:sp>
      </p:grpSp>
      <p:grpSp>
        <p:nvGrpSpPr>
          <p:cNvPr id="2029850115" name="Group 13"/>
          <p:cNvGrpSpPr/>
          <p:nvPr/>
        </p:nvGrpSpPr>
        <p:grpSpPr bwMode="auto">
          <a:xfrm>
            <a:off x="1135977" y="4384703"/>
            <a:ext cx="6768619" cy="842038"/>
            <a:chOff x="309514" y="4635930"/>
            <a:chExt cx="6768619" cy="842038"/>
          </a:xfrm>
        </p:grpSpPr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4045980" y="4635930"/>
            <a:ext cx="3032153" cy="842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leObj" r:id="rId6" imgW="2348865" imgH="651510" progId="Equation.DSMT4">
                    <p:embed/>
                  </p:oleObj>
                </mc:Choice>
                <mc:Fallback>
                  <p:oleObj name="oleObj" r:id="rId6" imgW="2348865" imgH="651510" progId="Equation.DSMT4">
                    <p:embed/>
                    <p:pic>
                      <p:nvPicPr>
                        <p:cNvPr id="7" name="Object 6"/>
                        <p:cNvPicPr/>
                        <p:nvPr/>
                      </p:nvPicPr>
                      <p:blipFill rotWithShape="1">
                        <a:blip r:embed="rId7"/>
                        <a:stretch/>
                      </p:blipFill>
                      <p:spPr bwMode="auto">
                        <a:xfrm>
                          <a:off x="4045980" y="4635930"/>
                          <a:ext cx="3032153" cy="8420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/>
            <p:cNvSpPr txBox="1"/>
            <p:nvPr/>
          </p:nvSpPr>
          <p:spPr bwMode="auto">
            <a:xfrm>
              <a:off x="309514" y="4768643"/>
              <a:ext cx="36354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The acceptance probability:</a:t>
              </a:r>
              <a:endParaRPr sz="2400"/>
            </a:p>
          </p:txBody>
        </p:sp>
      </p:grpSp>
      <p:grpSp>
        <p:nvGrpSpPr>
          <p:cNvPr id="364610249" name="Group 14"/>
          <p:cNvGrpSpPr/>
          <p:nvPr/>
        </p:nvGrpSpPr>
        <p:grpSpPr bwMode="auto">
          <a:xfrm>
            <a:off x="1135977" y="5387234"/>
            <a:ext cx="7039957" cy="946410"/>
            <a:chOff x="326447" y="5715001"/>
            <a:chExt cx="7039957" cy="946410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2011717" y="5715001"/>
            <a:ext cx="5354687" cy="946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leObj" r:id="rId8" imgW="2729865" imgH="481965" progId="Equation.DSMT4">
                    <p:embed/>
                  </p:oleObj>
                </mc:Choice>
                <mc:Fallback>
                  <p:oleObj name="oleObj" r:id="rId8" imgW="2729865" imgH="481965" progId="Equation.DSMT4">
                    <p:embed/>
                    <p:pic>
                      <p:nvPicPr>
                        <p:cNvPr id="4" name="Object 3"/>
                        <p:cNvPicPr/>
                        <p:nvPr/>
                      </p:nvPicPr>
                      <p:blipFill rotWithShape="1">
                        <a:blip r:embed="rId9"/>
                        <a:stretch/>
                      </p:blipFill>
                      <p:spPr bwMode="auto">
                        <a:xfrm>
                          <a:off x="2011717" y="5715001"/>
                          <a:ext cx="5354687" cy="9464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/>
            <p:cNvSpPr txBox="1"/>
            <p:nvPr/>
          </p:nvSpPr>
          <p:spPr bwMode="auto">
            <a:xfrm>
              <a:off x="326447" y="5922871"/>
              <a:ext cx="1685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The update:</a:t>
              </a:r>
              <a:endParaRPr sz="2400"/>
            </a:p>
          </p:txBody>
        </p:sp>
      </p:grpSp>
      <p:grpSp>
        <p:nvGrpSpPr>
          <p:cNvPr id="1874309998" name="Group 15"/>
          <p:cNvGrpSpPr/>
          <p:nvPr/>
        </p:nvGrpSpPr>
        <p:grpSpPr bwMode="auto">
          <a:xfrm>
            <a:off x="1135977" y="3750496"/>
            <a:ext cx="3736466" cy="523607"/>
            <a:chOff x="170781" y="3012695"/>
            <a:chExt cx="3736466" cy="523607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3175001" y="3012695"/>
            <a:ext cx="732245" cy="523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leObj" r:id="rId10" imgW="354965" imgH="252730" progId="Equation.DSMT4">
                    <p:embed/>
                  </p:oleObj>
                </mc:Choice>
                <mc:Fallback>
                  <p:oleObj name="oleObj" r:id="rId10" imgW="354965" imgH="252730" progId="Equation.DSMT4">
                    <p:embed/>
                    <p:pic>
                      <p:nvPicPr>
                        <p:cNvPr id="5" name="Object 4"/>
                        <p:cNvPicPr/>
                        <p:nvPr/>
                      </p:nvPicPr>
                      <p:blipFill rotWithShape="1">
                        <a:blip r:embed="rId11"/>
                        <a:stretch/>
                      </p:blipFill>
                      <p:spPr bwMode="auto">
                        <a:xfrm>
                          <a:off x="3175001" y="3012695"/>
                          <a:ext cx="732245" cy="5236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/>
            <p:cNvSpPr txBox="1"/>
            <p:nvPr/>
          </p:nvSpPr>
          <p:spPr bwMode="auto">
            <a:xfrm>
              <a:off x="170781" y="3045518"/>
              <a:ext cx="30671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The target distribution: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695723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9649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Metropolis-Hastings corrects asymmetric proposals</a:t>
            </a:r>
            <a:endParaRPr sz="3600"/>
          </a:p>
        </p:txBody>
      </p:sp>
      <p:sp>
        <p:nvSpPr>
          <p:cNvPr id="193392114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679521"/>
            <a:ext cx="10515600" cy="8413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/>
              <a:t>Adjust acceptance probability for the proposal asymmetry</a:t>
            </a:r>
            <a:endParaRPr/>
          </a:p>
          <a:p>
            <a:pPr lvl="1">
              <a:defRPr/>
            </a:pPr>
            <a:r>
              <a:rPr lang="en-US"/>
              <a:t>Maintain detailed balance</a:t>
            </a:r>
            <a:endParaRPr/>
          </a:p>
        </p:txBody>
      </p:sp>
      <p:grpSp>
        <p:nvGrpSpPr>
          <p:cNvPr id="1229017564" name="Group 11"/>
          <p:cNvGrpSpPr/>
          <p:nvPr/>
        </p:nvGrpSpPr>
        <p:grpSpPr bwMode="auto">
          <a:xfrm>
            <a:off x="1135977" y="3002997"/>
            <a:ext cx="5129352" cy="504186"/>
            <a:chOff x="170781" y="3002997"/>
            <a:chExt cx="5129352" cy="504186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3234267" y="3002997"/>
            <a:ext cx="2065866" cy="504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leObj" r:id="rId3" imgW="1268095" imgH="308610" progId="Equation.DSMT4">
                    <p:embed/>
                  </p:oleObj>
                </mc:Choice>
                <mc:Fallback>
                  <p:oleObj name="oleObj" r:id="rId3" imgW="1268095" imgH="308610" progId="Equation.DSMT4">
                    <p:embed/>
                    <p:pic>
                      <p:nvPicPr>
                        <p:cNvPr id="5" name="Object 4"/>
                        <p:cNvPicPr/>
                        <p:nvPr/>
                      </p:nvPicPr>
                      <p:blipFill rotWithShape="1">
                        <a:blip r:embed="rId4"/>
                        <a:stretch/>
                      </p:blipFill>
                      <p:spPr bwMode="auto">
                        <a:xfrm>
                          <a:off x="3234267" y="3002997"/>
                          <a:ext cx="2065866" cy="5041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7"/>
            <p:cNvSpPr txBox="1"/>
            <p:nvPr/>
          </p:nvSpPr>
          <p:spPr bwMode="auto">
            <a:xfrm>
              <a:off x="170781" y="3045518"/>
              <a:ext cx="30042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The proposal function:</a:t>
              </a:r>
              <a:endParaRPr sz="2400"/>
            </a:p>
          </p:txBody>
        </p:sp>
      </p:grpSp>
      <p:grpSp>
        <p:nvGrpSpPr>
          <p:cNvPr id="39254512" name="Group 13"/>
          <p:cNvGrpSpPr/>
          <p:nvPr/>
        </p:nvGrpSpPr>
        <p:grpSpPr bwMode="auto">
          <a:xfrm>
            <a:off x="1135977" y="3942189"/>
            <a:ext cx="7713575" cy="841375"/>
            <a:chOff x="309514" y="4581612"/>
            <a:chExt cx="7713575" cy="841375"/>
          </a:xfrm>
        </p:grpSpPr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3944996" y="4581612"/>
            <a:ext cx="4078093" cy="841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leObj" r:id="rId5" imgW="2336165" imgH="481965" progId="Equation.DSMT4">
                    <p:embed/>
                  </p:oleObj>
                </mc:Choice>
                <mc:Fallback>
                  <p:oleObj name="oleObj" r:id="rId5" imgW="2336165" imgH="481965" progId="Equation.DSMT4">
                    <p:embed/>
                    <p:pic>
                      <p:nvPicPr>
                        <p:cNvPr id="7" name="Object 6"/>
                        <p:cNvPicPr/>
                        <p:nvPr/>
                      </p:nvPicPr>
                      <p:blipFill rotWithShape="1">
                        <a:blip r:embed="rId6"/>
                        <a:stretch/>
                      </p:blipFill>
                      <p:spPr bwMode="auto">
                        <a:xfrm>
                          <a:off x="3944996" y="4581612"/>
                          <a:ext cx="4078093" cy="841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/>
            <p:cNvSpPr txBox="1"/>
            <p:nvPr/>
          </p:nvSpPr>
          <p:spPr bwMode="auto">
            <a:xfrm>
              <a:off x="309514" y="4768643"/>
              <a:ext cx="36354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The acceptance probability:</a:t>
              </a:r>
              <a:endParaRPr sz="2400"/>
            </a:p>
          </p:txBody>
        </p:sp>
      </p:grpSp>
      <p:grpSp>
        <p:nvGrpSpPr>
          <p:cNvPr id="1757924634" name="Group 14"/>
          <p:cNvGrpSpPr/>
          <p:nvPr/>
        </p:nvGrpSpPr>
        <p:grpSpPr bwMode="auto">
          <a:xfrm>
            <a:off x="1135977" y="5405601"/>
            <a:ext cx="7039957" cy="946410"/>
            <a:chOff x="326447" y="5715001"/>
            <a:chExt cx="7039957" cy="946410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2011717" y="5715001"/>
            <a:ext cx="5354687" cy="946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leObj" r:id="rId7" imgW="2729865" imgH="481965" progId="Equation.DSMT4">
                    <p:embed/>
                  </p:oleObj>
                </mc:Choice>
                <mc:Fallback>
                  <p:oleObj name="oleObj" r:id="rId7" imgW="2729865" imgH="481965" progId="Equation.DSMT4">
                    <p:embed/>
                    <p:pic>
                      <p:nvPicPr>
                        <p:cNvPr id="4" name="Object 3"/>
                        <p:cNvPicPr/>
                        <p:nvPr/>
                      </p:nvPicPr>
                      <p:blipFill rotWithShape="1">
                        <a:blip r:embed="rId8"/>
                        <a:stretch/>
                      </p:blipFill>
                      <p:spPr bwMode="auto">
                        <a:xfrm>
                          <a:off x="2011717" y="5715001"/>
                          <a:ext cx="5354687" cy="9464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/>
            <p:cNvSpPr txBox="1"/>
            <p:nvPr/>
          </p:nvSpPr>
          <p:spPr bwMode="auto">
            <a:xfrm>
              <a:off x="326447" y="5922871"/>
              <a:ext cx="1685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/>
                <a:t>The update: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CA5A-3441-80CA-966A-88D093BE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Demo: Metropolis with good and narrow proposals</a:t>
            </a:r>
            <a:endParaRPr lang="en-IL" sz="3600" dirty="0"/>
          </a:p>
        </p:txBody>
      </p:sp>
      <p:sp>
        <p:nvSpPr>
          <p:cNvPr id="5" name="Rectangle: Rounded Corners 4">
            <a:hlinkClick r:id="rId2"/>
            <a:extLst>
              <a:ext uri="{FF2B5EF4-FFF2-40B4-BE49-F238E27FC236}">
                <a16:creationId xmlns:a16="http://schemas.microsoft.com/office/drawing/2014/main" id="{5AF3775D-BB70-A763-4094-2EDC057411BF}"/>
              </a:ext>
            </a:extLst>
          </p:cNvPr>
          <p:cNvSpPr/>
          <p:nvPr/>
        </p:nvSpPr>
        <p:spPr>
          <a:xfrm>
            <a:off x="1926076" y="5700409"/>
            <a:ext cx="2062264" cy="100194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Good proposal</a:t>
            </a:r>
            <a:endParaRPr lang="en-IL" dirty="0"/>
          </a:p>
        </p:txBody>
      </p:sp>
      <p:sp>
        <p:nvSpPr>
          <p:cNvPr id="6" name="Rectangle: Rounded Corners 5">
            <a:hlinkClick r:id="rId3"/>
            <a:extLst>
              <a:ext uri="{FF2B5EF4-FFF2-40B4-BE49-F238E27FC236}">
                <a16:creationId xmlns:a16="http://schemas.microsoft.com/office/drawing/2014/main" id="{813C93D3-05C1-0B5D-CA58-580C6B6C764A}"/>
              </a:ext>
            </a:extLst>
          </p:cNvPr>
          <p:cNvSpPr/>
          <p:nvPr/>
        </p:nvSpPr>
        <p:spPr>
          <a:xfrm>
            <a:off x="8936477" y="5700408"/>
            <a:ext cx="2062264" cy="100194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Narrow proposal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2882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3737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4.5 Sampling diagnostics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452719212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Trace plots, Rhat, ESS, and MCSE 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864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Diagnostics test whether sampling succeeded</a:t>
            </a:r>
            <a:endParaRPr/>
          </a:p>
        </p:txBody>
      </p:sp>
      <p:sp>
        <p:nvSpPr>
          <p:cNvPr id="281121697" name="Content Placeholder 1"/>
          <p:cNvSpPr>
            <a:spLocks noGrp="1"/>
          </p:cNvSpPr>
          <p:nvPr>
            <p:ph idx="1"/>
          </p:nvPr>
        </p:nvSpPr>
        <p:spPr bwMode="auto">
          <a:xfrm>
            <a:off x="838200" y="4738379"/>
            <a:ext cx="10515600" cy="1438583"/>
          </a:xfrm>
        </p:spPr>
        <p:txBody>
          <a:bodyPr/>
          <a:lstStyle/>
          <a:p>
            <a:pPr>
              <a:defRPr/>
            </a:pPr>
            <a:r>
              <a:rPr lang="en-US"/>
              <a:t>This doesn’t mean the model makes sense or fits the data</a:t>
            </a:r>
            <a:endParaRPr/>
          </a:p>
          <a:p>
            <a:pPr>
              <a:defRPr/>
            </a:pPr>
            <a:r>
              <a:rPr lang="en-US"/>
              <a:t>Only that we approximately sampled the posterior of our model</a:t>
            </a:r>
            <a:endParaRPr/>
          </a:p>
        </p:txBody>
      </p:sp>
      <p:sp>
        <p:nvSpPr>
          <p:cNvPr id="1886877448" name="Oval 3"/>
          <p:cNvSpPr/>
          <p:nvPr/>
        </p:nvSpPr>
        <p:spPr bwMode="auto">
          <a:xfrm>
            <a:off x="387348" y="3657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1794145977" name="Oval 4"/>
          <p:cNvSpPr/>
          <p:nvPr/>
        </p:nvSpPr>
        <p:spPr bwMode="auto">
          <a:xfrm>
            <a:off x="2781299" y="3657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647043420" name="Straight Arrow Connector 6"/>
          <p:cNvCxnSpPr>
            <a:stCxn id="1886877448" idx="6"/>
            <a:endCxn id="1794145977" idx="2"/>
          </p:cNvCxnSpPr>
          <p:nvPr/>
        </p:nvCxnSpPr>
        <p:spPr bwMode="auto">
          <a:xfrm>
            <a:off x="1720849" y="3946524"/>
            <a:ext cx="106044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928845079" name="Oval 13"/>
          <p:cNvSpPr/>
          <p:nvPr/>
        </p:nvSpPr>
        <p:spPr bwMode="auto">
          <a:xfrm>
            <a:off x="5599112" y="3657600"/>
            <a:ext cx="1333499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2548350" name="Straight Arrow Connector 14"/>
          <p:cNvCxnSpPr>
            <a:stCxn id="1794145977" idx="6"/>
            <a:endCxn id="928845079" idx="2"/>
          </p:cNvCxnSpPr>
          <p:nvPr/>
        </p:nvCxnSpPr>
        <p:spPr bwMode="auto">
          <a:xfrm>
            <a:off x="4114800" y="3946524"/>
            <a:ext cx="1484311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979602252" name="Oval 32"/>
          <p:cNvSpPr/>
          <p:nvPr/>
        </p:nvSpPr>
        <p:spPr bwMode="auto">
          <a:xfrm>
            <a:off x="5424486" y="2204244"/>
            <a:ext cx="1682749" cy="93979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Diagnostics</a:t>
            </a:r>
            <a:endParaRPr sz="1600"/>
          </a:p>
        </p:txBody>
      </p:sp>
      <p:cxnSp>
        <p:nvCxnSpPr>
          <p:cNvPr id="342988908" name="Straight Arrow Connector 33"/>
          <p:cNvCxnSpPr>
            <a:stCxn id="928845079" idx="0"/>
            <a:endCxn id="1979602252" idx="4"/>
          </p:cNvCxnSpPr>
          <p:nvPr/>
        </p:nvCxnSpPr>
        <p:spPr bwMode="auto">
          <a:xfrm flipV="1">
            <a:off x="6265861" y="3144043"/>
            <a:ext cx="0" cy="51355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684853676" name="Connector: Elbow 36"/>
          <p:cNvCxnSpPr>
            <a:stCxn id="1979602252" idx="2"/>
            <a:endCxn id="928845079" idx="1"/>
          </p:cNvCxnSpPr>
          <p:nvPr/>
        </p:nvCxnSpPr>
        <p:spPr bwMode="auto">
          <a:xfrm rot="10800000" flipH="1" flipV="1">
            <a:off x="5424486" y="2674143"/>
            <a:ext cx="369911" cy="1068079"/>
          </a:xfrm>
          <a:prstGeom prst="bentConnector4">
            <a:avLst>
              <a:gd name="adj1" fmla="val -61798"/>
              <a:gd name="adj2" fmla="val 68036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79720910" name="Connector: Elbow 39"/>
          <p:cNvCxnSpPr>
            <a:stCxn id="1979602252" idx="2"/>
            <a:endCxn id="1794145977" idx="7"/>
          </p:cNvCxnSpPr>
          <p:nvPr/>
        </p:nvCxnSpPr>
        <p:spPr bwMode="auto">
          <a:xfrm rot="10800000" flipV="1">
            <a:off x="3919511" y="2674143"/>
            <a:ext cx="1504973" cy="106807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74286185" name="Oval 70"/>
          <p:cNvSpPr/>
          <p:nvPr/>
        </p:nvSpPr>
        <p:spPr bwMode="auto">
          <a:xfrm>
            <a:off x="7821612" y="3657600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409702333" name="Straight Arrow Connector 71"/>
          <p:cNvCxnSpPr>
            <a:stCxn id="928845079" idx="6"/>
            <a:endCxn id="1074286185" idx="2"/>
          </p:cNvCxnSpPr>
          <p:nvPr/>
        </p:nvCxnSpPr>
        <p:spPr bwMode="auto">
          <a:xfrm>
            <a:off x="6932611" y="3946524"/>
            <a:ext cx="888999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162182475" name="Oval 74"/>
          <p:cNvSpPr/>
          <p:nvPr/>
        </p:nvSpPr>
        <p:spPr bwMode="auto">
          <a:xfrm>
            <a:off x="10037761" y="3657600"/>
            <a:ext cx="1538287" cy="57784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1020048792" name="Straight Arrow Connector 75"/>
          <p:cNvCxnSpPr>
            <a:stCxn id="1074286185" idx="6"/>
            <a:endCxn id="1162182475" idx="2"/>
          </p:cNvCxnSpPr>
          <p:nvPr/>
        </p:nvCxnSpPr>
        <p:spPr bwMode="auto">
          <a:xfrm>
            <a:off x="9359899" y="3946524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172853560" name="Straight Arrow Connector 2"/>
          <p:cNvCxnSpPr>
            <a:stCxn id="1074286185" idx="0"/>
            <a:endCxn id="1794145977" idx="0"/>
          </p:cNvCxnSpPr>
          <p:nvPr/>
        </p:nvCxnSpPr>
        <p:spPr bwMode="auto">
          <a:xfrm rot="16199998" flipV="1">
            <a:off x="6019403" y="1086246"/>
            <a:ext cx="12699" cy="5142705"/>
          </a:xfrm>
          <a:prstGeom prst="bentConnector3">
            <a:avLst>
              <a:gd name="adj1" fmla="val 14018181"/>
            </a:avLst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21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1216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12169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68389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Diagnostics check sampling not the model</a:t>
            </a:r>
            <a:endParaRPr lang="he-IL"/>
          </a:p>
        </p:txBody>
      </p:sp>
      <p:sp>
        <p:nvSpPr>
          <p:cNvPr id="1224452770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Did we succeed in sampling the posterior distribution?</a:t>
            </a:r>
            <a:endParaRPr/>
          </a:p>
          <a:p>
            <a:pPr lvl="1">
              <a:defRPr/>
            </a:pPr>
            <a:r>
              <a:rPr lang="en-US"/>
              <a:t>Not assessing:</a:t>
            </a:r>
            <a:endParaRPr/>
          </a:p>
          <a:p>
            <a:pPr lvl="2">
              <a:defRPr/>
            </a:pPr>
            <a:r>
              <a:rPr lang="en-US"/>
              <a:t>The model</a:t>
            </a:r>
            <a:endParaRPr/>
          </a:p>
          <a:p>
            <a:pPr lvl="2">
              <a:defRPr/>
            </a:pPr>
            <a:r>
              <a:rPr lang="en-US"/>
              <a:t>The fit</a:t>
            </a:r>
            <a:endParaRPr/>
          </a:p>
          <a:p>
            <a:pPr lvl="2">
              <a:defRPr/>
            </a:pPr>
            <a:r>
              <a:rPr lang="en-US"/>
              <a:t>The interpretation</a:t>
            </a:r>
            <a:endParaRPr/>
          </a:p>
          <a:p>
            <a:pPr lvl="1">
              <a:defRPr/>
            </a:pPr>
            <a:r>
              <a:rPr lang="en-US"/>
              <a:t>Only asking</a:t>
            </a:r>
            <a:endParaRPr/>
          </a:p>
          <a:p>
            <a:pPr lvl="2">
              <a:defRPr/>
            </a:pPr>
            <a:r>
              <a:rPr lang="en-US"/>
              <a:t>If the sampling algorithm worked</a:t>
            </a:r>
            <a:endParaRPr/>
          </a:p>
          <a:p>
            <a:pPr>
              <a:defRPr/>
            </a:pPr>
            <a:r>
              <a:rPr lang="en-US"/>
              <a:t>Two major criteria</a:t>
            </a:r>
            <a:endParaRPr/>
          </a:p>
          <a:p>
            <a:pPr lvl="1">
              <a:defRPr/>
            </a:pPr>
            <a:r>
              <a:rPr lang="en-US"/>
              <a:t>Mixing of chains</a:t>
            </a:r>
            <a:endParaRPr/>
          </a:p>
          <a:p>
            <a:pPr lvl="1">
              <a:defRPr/>
            </a:pPr>
            <a:r>
              <a:rPr lang="en-US"/>
              <a:t>Independence of samples</a:t>
            </a:r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4527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566599" name="Title 4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888910"/>
          </a:xfrm>
        </p:spPr>
        <p:txBody>
          <a:bodyPr/>
          <a:lstStyle/>
          <a:p>
            <a:pPr>
              <a:defRPr/>
            </a:pPr>
            <a:r>
              <a:rPr lang="en-US"/>
              <a:t>Multiple chains test how well we explored </a:t>
            </a:r>
            <a:endParaRPr/>
          </a:p>
        </p:txBody>
      </p:sp>
      <p:sp>
        <p:nvSpPr>
          <p:cNvPr id="710053445" name="Content Placeholder 5"/>
          <p:cNvSpPr>
            <a:spLocks noGrp="1"/>
          </p:cNvSpPr>
          <p:nvPr>
            <p:ph idx="1"/>
          </p:nvPr>
        </p:nvSpPr>
        <p:spPr bwMode="auto">
          <a:xfrm>
            <a:off x="420028" y="1254035"/>
            <a:ext cx="4995336" cy="30298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14000"/>
          </a:bodyPr>
          <a:lstStyle/>
          <a:p>
            <a:pPr>
              <a:defRPr/>
            </a:pPr>
            <a:r>
              <a:rPr lang="en-US" sz="2600"/>
              <a:t>Important for:</a:t>
            </a:r>
            <a:endParaRPr sz="2200"/>
          </a:p>
          <a:p>
            <a:pPr lvl="1">
              <a:defRPr/>
            </a:pPr>
            <a:r>
              <a:rPr lang="en-US" sz="2600"/>
              <a:t>Exploring posterior</a:t>
            </a:r>
            <a:endParaRPr sz="1800"/>
          </a:p>
          <a:p>
            <a:pPr lvl="1">
              <a:defRPr/>
            </a:pPr>
            <a:r>
              <a:rPr lang="en-US" sz="2600"/>
              <a:t>Convergence diagnostics</a:t>
            </a:r>
            <a:endParaRPr sz="1800"/>
          </a:p>
          <a:p>
            <a:pPr lvl="1">
              <a:defRPr/>
            </a:pPr>
            <a:r>
              <a:rPr lang="en-US" sz="2600"/>
              <a:t>Parallelization</a:t>
            </a:r>
            <a:endParaRPr sz="1800"/>
          </a:p>
          <a:p>
            <a:pPr>
              <a:defRPr/>
            </a:pPr>
            <a:r>
              <a:rPr lang="en-US" sz="2600"/>
              <a:t>Each one will have a different starting point</a:t>
            </a:r>
            <a:endParaRPr sz="2200"/>
          </a:p>
          <a:p>
            <a:pPr>
              <a:defRPr/>
            </a:pPr>
            <a:r>
              <a:rPr lang="en-US" sz="2600"/>
              <a:t>Starting points should be “reasonable”</a:t>
            </a:r>
            <a:endParaRPr sz="2200"/>
          </a:p>
          <a:p>
            <a:pPr lvl="1">
              <a:defRPr/>
            </a:pPr>
            <a:r>
              <a:rPr lang="en-US" sz="2600"/>
              <a:t>Otherwise convergence can take a long time</a:t>
            </a:r>
            <a:endParaRPr sz="1800"/>
          </a:p>
        </p:txBody>
      </p:sp>
      <p:pic>
        <p:nvPicPr>
          <p:cNvPr id="1998830342" name="Picture 199883034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08292" y="1797475"/>
            <a:ext cx="6737953" cy="3896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871185" name="Title 4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888909"/>
          </a:xfrm>
        </p:spPr>
        <p:txBody>
          <a:bodyPr/>
          <a:lstStyle/>
          <a:p>
            <a:pPr>
              <a:defRPr/>
            </a:pPr>
            <a:r>
              <a:rPr lang="en-US"/>
              <a:t>Poor tuning interferes with sampling</a:t>
            </a:r>
            <a:endParaRPr/>
          </a:p>
        </p:txBody>
      </p:sp>
      <p:sp>
        <p:nvSpPr>
          <p:cNvPr id="1151722727" name="Content Placeholder 5"/>
          <p:cNvSpPr>
            <a:spLocks noGrp="1"/>
          </p:cNvSpPr>
          <p:nvPr>
            <p:ph idx="1"/>
          </p:nvPr>
        </p:nvSpPr>
        <p:spPr bwMode="auto">
          <a:xfrm>
            <a:off x="420028" y="1254035"/>
            <a:ext cx="4995336" cy="44841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lvl="0">
              <a:defRPr/>
            </a:pPr>
            <a:r>
              <a:rPr sz="2800"/>
              <a:t>Proposal width unmatched to posterior width</a:t>
            </a:r>
          </a:p>
          <a:p>
            <a:pPr lvl="0">
              <a:defRPr/>
            </a:pPr>
            <a:r>
              <a:rPr sz="2800"/>
              <a:t>Slow movement through the posterior</a:t>
            </a:r>
          </a:p>
          <a:p>
            <a:pPr lvl="0">
              <a:defRPr/>
            </a:pPr>
            <a:r>
              <a:rPr sz="2800"/>
              <a:t>Long warmup to get past initial starting point</a:t>
            </a:r>
          </a:p>
          <a:p>
            <a:pPr lvl="0">
              <a:defRPr/>
            </a:pPr>
            <a:r>
              <a:rPr sz="2800"/>
              <a:t>PyMC automatically</a:t>
            </a:r>
          </a:p>
          <a:p>
            <a:pPr lvl="1">
              <a:defRPr/>
            </a:pPr>
            <a:r>
              <a:rPr sz="2400"/>
              <a:t>Chooses warmup</a:t>
            </a:r>
          </a:p>
          <a:p>
            <a:pPr lvl="1">
              <a:defRPr/>
            </a:pPr>
            <a:r>
              <a:rPr sz="2400"/>
              <a:t>Uses warmup to tune sampling</a:t>
            </a:r>
          </a:p>
          <a:p>
            <a:pPr lvl="1">
              <a:defRPr/>
            </a:pPr>
            <a:r>
              <a:rPr sz="2400"/>
              <a:t>Discards warmup</a:t>
            </a:r>
            <a:endParaRPr sz="1600"/>
          </a:p>
        </p:txBody>
      </p:sp>
      <p:pic>
        <p:nvPicPr>
          <p:cNvPr id="659624474" name="Picture 65962447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94146" y="2510344"/>
            <a:ext cx="6296550" cy="36410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046501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97057"/>
          </a:xfrm>
        </p:spPr>
        <p:txBody>
          <a:bodyPr/>
          <a:lstStyle/>
          <a:p>
            <a:pPr>
              <a:defRPr/>
            </a:pPr>
            <a:r>
              <a:rPr lang="en-US"/>
              <a:t>Trace plots reveal mixing and stuck chains</a:t>
            </a:r>
            <a:endParaRPr/>
          </a:p>
        </p:txBody>
      </p:sp>
      <p:sp>
        <p:nvSpPr>
          <p:cNvPr id="17955527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“Stuck” sampling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Lack of overlap</a:t>
            </a:r>
            <a:endParaRPr/>
          </a:p>
        </p:txBody>
      </p:sp>
      <p:sp>
        <p:nvSpPr>
          <p:cNvPr id="1495074966" name="TextBox 5"/>
          <p:cNvSpPr txBox="1"/>
          <p:nvPr/>
        </p:nvSpPr>
        <p:spPr bwMode="auto">
          <a:xfrm>
            <a:off x="1526308" y="1419760"/>
            <a:ext cx="9837210" cy="453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defRPr/>
            </a:pPr>
            <a:r>
              <a:rPr lang="en-US" sz="1200" b="0">
                <a:solidFill>
                  <a:srgbClr val="001080"/>
                </a:solidFill>
                <a:latin typeface="Consolas"/>
              </a:rPr>
              <a:t>ax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az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plot_trace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idata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var_names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[</a:t>
            </a:r>
            <a:r>
              <a:rPr lang="en-US" sz="1200" b="0">
                <a:solidFill>
                  <a:srgbClr val="A31515"/>
                </a:solidFill>
                <a:latin typeface="Consolas"/>
              </a:rPr>
              <a:t>‘theta’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],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chain_prop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{</a:t>
            </a:r>
            <a:r>
              <a:rPr lang="en-US" sz="1200" b="0">
                <a:solidFill>
                  <a:srgbClr val="A31515"/>
                </a:solidFill>
                <a:latin typeface="Consolas"/>
              </a:rPr>
              <a:t>"ls"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: </a:t>
            </a:r>
            <a:r>
              <a:rPr lang="en-US" sz="1200" b="0">
                <a:solidFill>
                  <a:srgbClr val="A31515"/>
                </a:solidFill>
                <a:latin typeface="Consolas"/>
              </a:rPr>
              <a:t>"-"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}, compact=False)</a:t>
            </a:r>
            <a:endParaRPr/>
          </a:p>
          <a:p>
            <a:pPr>
              <a:lnSpc>
                <a:spcPts val="1425"/>
              </a:lnSpc>
              <a:defRPr/>
            </a:pPr>
            <a:endParaRPr/>
          </a:p>
        </p:txBody>
      </p:sp>
      <p:pic>
        <p:nvPicPr>
          <p:cNvPr id="96365904" name="Picture 9636590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26308" y="4893337"/>
            <a:ext cx="10619227" cy="1852666"/>
          </a:xfrm>
          <a:prstGeom prst="rect">
            <a:avLst/>
          </a:prstGeom>
        </p:spPr>
      </p:pic>
      <p:pic>
        <p:nvPicPr>
          <p:cNvPr id="1900780579" name="Picture 190078057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526308" y="3011569"/>
            <a:ext cx="10619227" cy="1852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0054342" name="Title 1"/>
              <p:cNvSpPr>
                <a:spLocks noGrp="1"/>
              </p:cNvSpPr>
              <p:nvPr>
                <p:ph type="title"/>
              </p:nvPr>
            </p:nvSpPr>
            <p:spPr bwMode="auto"/>
            <p:txBody>
              <a:bodyPr>
                <a:normAutofit/>
              </a:bodyPr>
              <a:lstStyle/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GB"/>
                  <a:t> quantifies convergence of multiple chains</a:t>
                </a:r>
                <a:endParaRPr/>
              </a:p>
            </p:txBody>
          </p:sp>
        </mc:Choice>
        <mc:Fallback xmlns="">
          <p:sp>
            <p:nvSpPr>
              <p:cNvPr id="92005434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 bwMode="auto"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8687063" name="Content Placeholder 3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690689"/>
                <a:ext cx="4648200" cy="1937414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/>
                              </a:rPr>
                              <m:t>𝑅</m:t>
                            </m:r>
                          </m:e>
                        </m:acc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: Shrink factor</a:t>
                </a:r>
                <a:endParaRPr/>
              </a:p>
              <a:p>
                <a:pPr lvl="1">
                  <a:defRPr/>
                </a:pPr>
                <a:r>
                  <a:rPr lang="en-US"/>
                  <a:t>Ratio of chain distance to chain variance</a:t>
                </a:r>
                <a:endParaRPr/>
              </a:p>
              <a:p>
                <a:pPr>
                  <a:defRPr/>
                </a:pPr>
                <a:r>
                  <a:rPr lang="en-US"/>
                  <a:t>Prefer values less than 1.1</a:t>
                </a:r>
                <a:endParaRPr/>
              </a:p>
              <a:p>
                <a:pPr>
                  <a:defRPr/>
                </a:pPr>
                <a:r>
                  <a:rPr lang="en-US"/>
                  <a:t>Figure shows artificial data</a:t>
                </a:r>
                <a:endParaRPr/>
              </a:p>
            </p:txBody>
          </p:sp>
        </mc:Choice>
        <mc:Fallback xmlns="">
          <p:sp>
            <p:nvSpPr>
              <p:cNvPr id="408687063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690689"/>
                <a:ext cx="4648200" cy="1937414"/>
              </a:xfrm>
              <a:blipFill>
                <a:blip r:embed="rId4"/>
                <a:stretch>
                  <a:fillRect l="-2100" t="-5975" b="-69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3660399" name="TextBox 7"/>
          <p:cNvSpPr txBox="1"/>
          <p:nvPr/>
        </p:nvSpPr>
        <p:spPr bwMode="auto">
          <a:xfrm>
            <a:off x="6017342" y="199767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sz="1600" b="0">
                <a:solidFill>
                  <a:srgbClr val="7A3E9D"/>
                </a:solidFill>
                <a:latin typeface="Consolas"/>
              </a:rPr>
              <a:t>rhat</a:t>
            </a:r>
            <a:r>
              <a:rPr lang="en-US" sz="1600" b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600" b="0">
                <a:solidFill>
                  <a:srgbClr val="777777"/>
                </a:solidFill>
                <a:latin typeface="Consolas"/>
              </a:rPr>
              <a:t>=</a:t>
            </a:r>
            <a:r>
              <a:rPr lang="en-US" sz="1600" b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600" b="1">
                <a:solidFill>
                  <a:srgbClr val="7A3E9D"/>
                </a:solidFill>
                <a:latin typeface="Consolas"/>
              </a:rPr>
              <a:t>az</a:t>
            </a:r>
            <a:r>
              <a:rPr lang="en-US" sz="1600" b="0">
                <a:solidFill>
                  <a:srgbClr val="777777"/>
                </a:solidFill>
                <a:latin typeface="Consolas"/>
              </a:rPr>
              <a:t>.</a:t>
            </a:r>
            <a:r>
              <a:rPr lang="en-US" sz="1600" b="1">
                <a:solidFill>
                  <a:srgbClr val="AA3731"/>
                </a:solidFill>
                <a:latin typeface="Consolas"/>
              </a:rPr>
              <a:t>rhat</a:t>
            </a:r>
            <a:r>
              <a:rPr lang="en-US" sz="1600" b="0">
                <a:solidFill>
                  <a:srgbClr val="777777"/>
                </a:solidFill>
                <a:latin typeface="Consolas"/>
              </a:rPr>
              <a:t>(</a:t>
            </a:r>
            <a:r>
              <a:rPr lang="en-US" sz="1600" b="0">
                <a:solidFill>
                  <a:srgbClr val="7A3E9D"/>
                </a:solidFill>
                <a:latin typeface="Consolas"/>
              </a:rPr>
              <a:t>idata</a:t>
            </a:r>
            <a:r>
              <a:rPr lang="en-US" sz="1600" b="0">
                <a:solidFill>
                  <a:srgbClr val="777777"/>
                </a:solidFill>
                <a:latin typeface="Consolas"/>
              </a:rPr>
              <a:t>)</a:t>
            </a:r>
            <a:endParaRPr lang="en-US" sz="1600" b="0">
              <a:solidFill>
                <a:srgbClr val="333333"/>
              </a:solidFill>
              <a:latin typeface="Consolas"/>
            </a:endParaRPr>
          </a:p>
          <a:p>
            <a:pPr>
              <a:defRPr/>
            </a:pPr>
            <a:r>
              <a:rPr lang="en-US" sz="1600" b="0">
                <a:solidFill>
                  <a:srgbClr val="7A3E9D"/>
                </a:solidFill>
                <a:latin typeface="Consolas"/>
              </a:rPr>
              <a:t>rhat</a:t>
            </a:r>
            <a:r>
              <a:rPr lang="en-US" sz="1600" b="0">
                <a:solidFill>
                  <a:srgbClr val="777777"/>
                </a:solidFill>
                <a:latin typeface="Consolas"/>
              </a:rPr>
              <a:t>.</a:t>
            </a:r>
            <a:r>
              <a:rPr lang="en-US" sz="1600">
                <a:solidFill>
                  <a:srgbClr val="333333"/>
                </a:solidFill>
                <a:latin typeface="Consolas"/>
              </a:rPr>
              <a:t>x</a:t>
            </a:r>
            <a:r>
              <a:rPr lang="en-US" sz="1600" b="0">
                <a:solidFill>
                  <a:srgbClr val="777777"/>
                </a:solidFill>
                <a:latin typeface="Consolas"/>
              </a:rPr>
              <a:t>.</a:t>
            </a:r>
            <a:r>
              <a:rPr lang="en-US" sz="1600" b="0">
                <a:solidFill>
                  <a:srgbClr val="333333"/>
                </a:solidFill>
                <a:latin typeface="Consolas"/>
              </a:rPr>
              <a:t>values</a:t>
            </a:r>
            <a:endParaRPr/>
          </a:p>
        </p:txBody>
      </p:sp>
      <p:pic>
        <p:nvPicPr>
          <p:cNvPr id="438924437" name="Picture 43892443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183048" y="2803035"/>
            <a:ext cx="6388719" cy="3153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12547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Autocorrelation measures redundancy of information</a:t>
            </a:r>
            <a:endParaRPr sz="3600"/>
          </a:p>
        </p:txBody>
      </p:sp>
      <p:sp>
        <p:nvSpPr>
          <p:cNvPr id="1513938808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535173"/>
            <a:ext cx="10515600" cy="10810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How much can you predict this sample from the previous samples?</a:t>
            </a:r>
            <a:endParaRPr/>
          </a:p>
          <a:p>
            <a:pPr>
              <a:defRPr/>
            </a:pPr>
            <a:r>
              <a:rPr lang="en-US"/>
              <a:t>How far away do you have to get to a truly independent sample</a:t>
            </a:r>
            <a:endParaRPr/>
          </a:p>
        </p:txBody>
      </p:sp>
      <p:graphicFrame>
        <p:nvGraphicFramePr>
          <p:cNvPr id="1510823406" name="Object 7"/>
          <p:cNvGraphicFramePr>
            <a:graphicFrameLocks noChangeAspect="1"/>
          </p:cNvGraphicFramePr>
          <p:nvPr/>
        </p:nvGraphicFramePr>
        <p:xfrm>
          <a:off x="3940953" y="2616200"/>
          <a:ext cx="2948609" cy="1137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3" imgW="1777365" imgH="685800" progId="Equation.DSMT4">
                  <p:embed/>
                </p:oleObj>
              </mc:Choice>
              <mc:Fallback>
                <p:oleObj name="oleObj" r:id="rId3" imgW="1777365" imgH="685800" progId="Equation.DSMT4">
                  <p:embed/>
                  <p:pic>
                    <p:nvPicPr>
                      <p:cNvPr id="1510823406" name="Object 7"/>
                      <p:cNvPicPr/>
                      <p:nvPr/>
                    </p:nvPicPr>
                    <p:blipFill rotWithShape="1">
                      <a:blip r:embed="rId4"/>
                      <a:stretch/>
                    </p:blipFill>
                    <p:spPr bwMode="auto">
                      <a:xfrm>
                        <a:off x="3940953" y="2616200"/>
                        <a:ext cx="2948609" cy="1137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7930335" name="Picture 48793033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209390" y="3945433"/>
            <a:ext cx="7287731" cy="2502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690734" name="Title 1"/>
          <p:cNvSpPr>
            <a:spLocks noGrp="1"/>
          </p:cNvSpPr>
          <p:nvPr>
            <p:ph type="title"/>
          </p:nvPr>
        </p:nvSpPr>
        <p:spPr bwMode="auto">
          <a:xfrm>
            <a:off x="247073" y="120649"/>
            <a:ext cx="10515600" cy="995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ESS shows how autocorrelation affects information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441362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247073" y="1004574"/>
                <a:ext cx="10515600" cy="2247171"/>
              </a:xfrm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normAutofit/>
              </a:bodyPr>
              <a:lstStyle/>
              <a:p>
                <a:pPr>
                  <a:defRPr/>
                </a:pPr>
                <a:r>
                  <a:rPr lang="en-US"/>
                  <a:t>ESS</a:t>
                </a:r>
                <a:endParaRPr/>
              </a:p>
              <a:p>
                <a:pPr lvl="1">
                  <a:defRPr/>
                </a:pPr>
                <a:r>
                  <a:rPr lang="en-US"/>
                  <a:t>Effective sample size</a:t>
                </a:r>
                <a:endParaRPr/>
              </a:p>
              <a:p>
                <a:pPr lvl="1">
                  <a:defRPr/>
                </a:pPr>
                <a:r>
                  <a:rPr lang="en-US"/>
                  <a:t>Number of MCMC samples</a:t>
                </a:r>
                <a:endParaRPr/>
              </a:p>
              <a:p>
                <a:pPr lvl="2">
                  <a:defRPr/>
                </a:pPr>
                <a:r>
                  <a:rPr lang="en-US"/>
                  <a:t>Corrected for autocorrelation</a:t>
                </a:r>
                <a:endParaRPr/>
              </a:p>
              <a:p>
                <a:pPr lvl="2">
                  <a:defRPr/>
                </a:pPr>
                <a:r>
                  <a:rPr lang="en-US"/>
                  <a:t>Might be larger than N if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>
                            <a:latin typeface="Cambria Math"/>
                          </a:rPr>
                          <m:t>ρ</m:t>
                        </m:r>
                        <m:r>
                          <a:rPr lang="en-US" b="0" i="1">
                            <a:latin typeface="Cambria Math"/>
                          </a:rPr>
                          <m:t>&lt;</m:t>
                        </m:r>
                        <m:r>
                          <a:rPr lang="en-US" b="0" i="1">
                            <a:latin typeface="Cambria Math"/>
                          </a:rPr>
                          <m:t>0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 b="0"/>
                  <a:t> for many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>
                            <a:latin typeface="Cambria Math"/>
                          </a:rPr>
                          <m:t>ρ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 b="0"/>
              </a:p>
            </p:txBody>
          </p:sp>
        </mc:Choice>
        <mc:Fallback xmlns="">
          <p:sp>
            <p:nvSpPr>
              <p:cNvPr id="14844136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47073" y="1004574"/>
                <a:ext cx="10515600" cy="2247171"/>
              </a:xfrm>
              <a:blipFill>
                <a:blip r:embed="rId3"/>
                <a:stretch>
                  <a:fillRect l="-1101" t="-48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93489817" name="Object 5"/>
          <p:cNvGraphicFramePr>
            <a:graphicFrameLocks noChangeAspect="1"/>
          </p:cNvGraphicFramePr>
          <p:nvPr/>
        </p:nvGraphicFramePr>
        <p:xfrm>
          <a:off x="7934325" y="1004888"/>
          <a:ext cx="2751138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1218565" imgH="481965" progId="Equation.DSMT4">
                  <p:embed/>
                </p:oleObj>
              </mc:Choice>
              <mc:Fallback>
                <p:oleObj name="oleObj" r:id="rId4" imgW="1218565" imgH="481965" progId="Equation.DSMT4">
                  <p:embed/>
                  <p:pic>
                    <p:nvPicPr>
                      <p:cNvPr id="793489817" name="Object 5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7934325" y="1004888"/>
                        <a:ext cx="2751138" cy="108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6685054" name="Group 846685053"/>
          <p:cNvGrpSpPr/>
          <p:nvPr/>
        </p:nvGrpSpPr>
        <p:grpSpPr bwMode="auto">
          <a:xfrm>
            <a:off x="594624" y="4271270"/>
            <a:ext cx="10702377" cy="2182037"/>
            <a:chOff x="0" y="0"/>
            <a:chExt cx="10702377" cy="2182037"/>
          </a:xfrm>
        </p:grpSpPr>
        <p:pic>
          <p:nvPicPr>
            <p:cNvPr id="843494877" name="Picture 843494876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>
              <a:off x="0" y="0"/>
              <a:ext cx="10702377" cy="2182037"/>
            </a:xfrm>
            <a:prstGeom prst="rect">
              <a:avLst/>
            </a:prstGeom>
          </p:spPr>
        </p:pic>
        <p:sp>
          <p:nvSpPr>
            <p:cNvPr id="143603258" name="Rectangle 9"/>
            <p:cNvSpPr/>
            <p:nvPr/>
          </p:nvSpPr>
          <p:spPr bwMode="auto">
            <a:xfrm>
              <a:off x="6878951" y="231445"/>
              <a:ext cx="2611361" cy="1886002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2"/>
            </a:fontRef>
          </p:style>
          <p:txBody>
            <a:bodyPr rtlCol="1" anchor="ctr"/>
            <a:lstStyle/>
            <a:p>
              <a:pPr algn="ctr">
                <a:defRPr/>
              </a:pPr>
              <a:endParaRPr lang="he-IL"/>
            </a:p>
          </p:txBody>
        </p:sp>
      </p:grpSp>
      <p:sp>
        <p:nvSpPr>
          <p:cNvPr id="630964338" name=" 630964337"/>
          <p:cNvSpPr/>
          <p:nvPr/>
        </p:nvSpPr>
        <p:spPr bwMode="auto">
          <a:xfrm>
            <a:off x="582933" y="3428999"/>
            <a:ext cx="7574493" cy="427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bad_diagnostics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100" b="0" i="0" u="none">
                <a:solidFill>
                  <a:srgbClr val="000000"/>
                </a:solidFill>
                <a:latin typeface="Droid Sans Mono"/>
                <a:ea typeface="Droid Sans Mono"/>
                <a:cs typeface="Droid Sans Mono"/>
              </a:rPr>
              <a:t>=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100" b="0" i="0" u="none">
                <a:solidFill>
                  <a:srgbClr val="267F99"/>
                </a:solidFill>
                <a:latin typeface="Droid Sans Mono"/>
                <a:ea typeface="Droid Sans Mono"/>
                <a:cs typeface="Droid Sans Mono"/>
              </a:rPr>
              <a:t>az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.</a:t>
            </a:r>
            <a:r>
              <a:rPr sz="1100" b="0" i="0" u="none">
                <a:solidFill>
                  <a:srgbClr val="795E26"/>
                </a:solidFill>
                <a:latin typeface="Droid Sans Mono"/>
                <a:ea typeface="Droid Sans Mono"/>
                <a:cs typeface="Droid Sans Mono"/>
              </a:rPr>
              <a:t>summary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idata_metropolis_bad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var_names</a:t>
            </a:r>
            <a:r>
              <a:rPr sz="1100" b="0" i="0" u="none">
                <a:solidFill>
                  <a:srgbClr val="000000"/>
                </a:solidFill>
                <a:latin typeface="Droid Sans Mono"/>
                <a:ea typeface="Droid Sans Mono"/>
                <a:cs typeface="Droid Sans Mono"/>
              </a:rPr>
              <a:t>=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[</a:t>
            </a:r>
            <a:r>
              <a:rPr sz="1100" b="0" i="0" u="none">
                <a:solidFill>
                  <a:srgbClr val="A31515"/>
                </a:solidFill>
                <a:latin typeface="Droid Sans Mono"/>
                <a:ea typeface="Droid Sans Mono"/>
                <a:cs typeface="Droid Sans Mono"/>
              </a:rPr>
              <a:t>'theta'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], </a:t>
            </a: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kind</a:t>
            </a:r>
            <a:r>
              <a:rPr sz="1100" b="0" i="0" u="none">
                <a:solidFill>
                  <a:srgbClr val="000000"/>
                </a:solidFill>
                <a:latin typeface="Droid Sans Mono"/>
                <a:ea typeface="Droid Sans Mono"/>
                <a:cs typeface="Droid Sans Mono"/>
              </a:rPr>
              <a:t>=</a:t>
            </a:r>
            <a:r>
              <a:rPr sz="1100" b="0" i="0" u="none">
                <a:solidFill>
                  <a:srgbClr val="A31515"/>
                </a:solidFill>
                <a:latin typeface="Droid Sans Mono"/>
                <a:ea typeface="Droid Sans Mono"/>
                <a:cs typeface="Droid Sans Mono"/>
              </a:rPr>
              <a:t>'diagnostics'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)</a:t>
            </a:r>
            <a:endParaRPr sz="2000"/>
          </a:p>
          <a:p>
            <a:pPr>
              <a:defRPr/>
            </a:pP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good_diagnostics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100" b="0" i="0" u="none">
                <a:solidFill>
                  <a:srgbClr val="000000"/>
                </a:solidFill>
                <a:latin typeface="Droid Sans Mono"/>
                <a:ea typeface="Droid Sans Mono"/>
                <a:cs typeface="Droid Sans Mono"/>
              </a:rPr>
              <a:t>=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100" b="0" i="0" u="none">
                <a:solidFill>
                  <a:srgbClr val="267F99"/>
                </a:solidFill>
                <a:latin typeface="Droid Sans Mono"/>
                <a:ea typeface="Droid Sans Mono"/>
                <a:cs typeface="Droid Sans Mono"/>
              </a:rPr>
              <a:t>az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.</a:t>
            </a:r>
            <a:r>
              <a:rPr sz="1100" b="0" i="0" u="none">
                <a:solidFill>
                  <a:srgbClr val="795E26"/>
                </a:solidFill>
                <a:latin typeface="Droid Sans Mono"/>
                <a:ea typeface="Droid Sans Mono"/>
                <a:cs typeface="Droid Sans Mono"/>
              </a:rPr>
              <a:t>summary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idata_metropolis_good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var_names</a:t>
            </a:r>
            <a:r>
              <a:rPr sz="1100" b="0" i="0" u="none">
                <a:solidFill>
                  <a:srgbClr val="000000"/>
                </a:solidFill>
                <a:latin typeface="Droid Sans Mono"/>
                <a:ea typeface="Droid Sans Mono"/>
                <a:cs typeface="Droid Sans Mono"/>
              </a:rPr>
              <a:t>=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[</a:t>
            </a:r>
            <a:r>
              <a:rPr sz="1100" b="0" i="0" u="none">
                <a:solidFill>
                  <a:srgbClr val="A31515"/>
                </a:solidFill>
                <a:latin typeface="Droid Sans Mono"/>
                <a:ea typeface="Droid Sans Mono"/>
                <a:cs typeface="Droid Sans Mono"/>
              </a:rPr>
              <a:t>'theta'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], </a:t>
            </a:r>
            <a:r>
              <a:rPr sz="1100" b="0" i="0" u="none">
                <a:solidFill>
                  <a:srgbClr val="001080"/>
                </a:solidFill>
                <a:latin typeface="Droid Sans Mono"/>
                <a:ea typeface="Droid Sans Mono"/>
                <a:cs typeface="Droid Sans Mono"/>
              </a:rPr>
              <a:t>kind</a:t>
            </a:r>
            <a:r>
              <a:rPr sz="1100" b="0" i="0" u="none">
                <a:solidFill>
                  <a:srgbClr val="000000"/>
                </a:solidFill>
                <a:latin typeface="Droid Sans Mono"/>
                <a:ea typeface="Droid Sans Mono"/>
                <a:cs typeface="Droid Sans Mono"/>
              </a:rPr>
              <a:t>=</a:t>
            </a:r>
            <a:r>
              <a:rPr sz="1100" b="0" i="0" u="none">
                <a:solidFill>
                  <a:srgbClr val="A31515"/>
                </a:solidFill>
                <a:latin typeface="Droid Sans Mono"/>
                <a:ea typeface="Droid Sans Mono"/>
                <a:cs typeface="Droid Sans Mono"/>
              </a:rPr>
              <a:t>'diagnostics'</a:t>
            </a:r>
            <a:r>
              <a:rPr sz="1100" b="0" i="0" u="none">
                <a:solidFill>
                  <a:srgbClr val="3B3B3B"/>
                </a:solidFill>
                <a:latin typeface="Droid Sans Mono"/>
                <a:ea typeface="Droid Sans Mono"/>
                <a:cs typeface="Droid Sans Mono"/>
              </a:rPr>
              <a:t>)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41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41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4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234255" name="Title 1"/>
          <p:cNvSpPr>
            <a:spLocks noGrp="1"/>
          </p:cNvSpPr>
          <p:nvPr>
            <p:ph type="title"/>
          </p:nvPr>
        </p:nvSpPr>
        <p:spPr bwMode="auto">
          <a:xfrm>
            <a:off x="838198" y="365126"/>
            <a:ext cx="11122891" cy="58622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MCSE shows how autocorrelation affects uncertainty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8817492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838200" y="1348508"/>
                <a:ext cx="6908799" cy="262024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/>
                  <a:t>MCSE</a:t>
                </a:r>
                <a:endParaRPr/>
              </a:p>
              <a:p>
                <a:pPr lvl="1">
                  <a:defRPr/>
                </a:pPr>
                <a:r>
                  <a:rPr lang="en-US"/>
                  <a:t>Monte Carlo Standard Error</a:t>
                </a:r>
                <a:endParaRPr/>
              </a:p>
              <a:p>
                <a:pPr lvl="1">
                  <a:defRPr/>
                </a:pPr>
                <a:r>
                  <a:rPr lang="en-US"/>
                  <a:t>Estimate from central limit theorem</a:t>
                </a:r>
                <a:endParaRPr/>
              </a:p>
              <a:p>
                <a:pPr lvl="2">
                  <a:defRPr/>
                </a:pPr>
                <a:r>
                  <a:rPr lang="en-US"/>
                  <a:t>Width of the distribution divided by square root of sample size</a:t>
                </a:r>
                <a:endParaRPr/>
              </a:p>
              <a:p>
                <a:pPr lvl="3">
                  <a:defRPr/>
                </a:pPr>
                <a:r>
                  <a:rPr lang="en-US"/>
                  <a:t>Width is the width of the posterior</a:t>
                </a:r>
                <a:endParaRPr/>
              </a:p>
              <a:p>
                <a:pPr lvl="3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>
                                <a:latin typeface="Cambria Math"/>
                              </a:rPr>
                              <m:t>eff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 b="0"/>
                  <a:t> is the effective sample size</a:t>
                </a:r>
                <a:endParaRPr/>
              </a:p>
              <a:p>
                <a:pPr lvl="2">
                  <a:defRPr/>
                </a:pPr>
                <a:endParaRPr/>
              </a:p>
            </p:txBody>
          </p:sp>
        </mc:Choice>
        <mc:Fallback xmlns="">
          <p:sp>
            <p:nvSpPr>
              <p:cNvPr id="123881749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348508"/>
                <a:ext cx="6908799" cy="2620241"/>
              </a:xfrm>
              <a:blipFill>
                <a:blip r:embed="rId3"/>
                <a:stretch>
                  <a:fillRect l="-1589" t="-37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83861964" name="Object 3"/>
          <p:cNvGraphicFramePr>
            <a:graphicFrameLocks noChangeAspect="1"/>
          </p:cNvGraphicFramePr>
          <p:nvPr/>
        </p:nvGraphicFramePr>
        <p:xfrm>
          <a:off x="8043863" y="1474788"/>
          <a:ext cx="2747576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989965" imgH="457200" progId="Equation.DSMT4">
                  <p:embed/>
                </p:oleObj>
              </mc:Choice>
              <mc:Fallback>
                <p:oleObj name="oleObj" r:id="rId4" imgW="989965" imgH="457200" progId="Equation.DSMT4">
                  <p:embed/>
                  <p:pic>
                    <p:nvPicPr>
                      <p:cNvPr id="1283861964" name="Object 3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8043863" y="1474788"/>
                        <a:ext cx="2747576" cy="1268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4185174" name="Group 1254185173"/>
          <p:cNvGrpSpPr/>
          <p:nvPr/>
        </p:nvGrpSpPr>
        <p:grpSpPr bwMode="auto">
          <a:xfrm>
            <a:off x="594623" y="4271269"/>
            <a:ext cx="10702377" cy="2512388"/>
            <a:chOff x="0" y="0"/>
            <a:chExt cx="10702377" cy="2512388"/>
          </a:xfrm>
        </p:grpSpPr>
        <p:pic>
          <p:nvPicPr>
            <p:cNvPr id="2076686766" name="Picture 2076686765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>
              <a:off x="0" y="0"/>
              <a:ext cx="10702377" cy="2182037"/>
            </a:xfrm>
            <a:prstGeom prst="rect">
              <a:avLst/>
            </a:prstGeom>
          </p:spPr>
        </p:pic>
        <p:sp>
          <p:nvSpPr>
            <p:cNvPr id="1362861089" name="Rectangle 9"/>
            <p:cNvSpPr/>
            <p:nvPr/>
          </p:nvSpPr>
          <p:spPr bwMode="auto">
            <a:xfrm>
              <a:off x="4045507" y="148017"/>
              <a:ext cx="2912551" cy="2364370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2"/>
            </a:fontRef>
          </p:style>
          <p:txBody>
            <a:bodyPr rtlCol="1" anchor="ctr"/>
            <a:lstStyle/>
            <a:p>
              <a:pPr algn="ctr">
                <a:defRPr/>
              </a:pPr>
              <a:endParaRPr lang="he-IL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5027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Diagnostics summary</a:t>
            </a:r>
            <a:endParaRPr lang="he-IL"/>
          </a:p>
        </p:txBody>
      </p:sp>
      <p:sp>
        <p:nvSpPr>
          <p:cNvPr id="249895578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/>
              <a:t>First look</a:t>
            </a:r>
            <a:endParaRPr/>
          </a:p>
          <a:p>
            <a:pPr lvl="1">
              <a:defRPr/>
            </a:pPr>
            <a:r>
              <a:rPr lang="en-US"/>
              <a:t>Trace plot</a:t>
            </a:r>
            <a:endParaRPr/>
          </a:p>
          <a:p>
            <a:pPr lvl="1">
              <a:defRPr/>
            </a:pPr>
            <a:r>
              <a:rPr lang="en-US"/>
              <a:t>Look for:</a:t>
            </a:r>
            <a:endParaRPr/>
          </a:p>
          <a:p>
            <a:pPr lvl="2">
              <a:defRPr/>
            </a:pPr>
            <a:r>
              <a:rPr lang="en-US"/>
              <a:t>Chain overlap</a:t>
            </a:r>
            <a:endParaRPr/>
          </a:p>
          <a:p>
            <a:pPr lvl="2">
              <a:defRPr/>
            </a:pPr>
            <a:r>
              <a:rPr lang="en-US"/>
              <a:t>Consistent pattern of noise</a:t>
            </a:r>
            <a:endParaRPr/>
          </a:p>
          <a:p>
            <a:pPr lvl="2">
              <a:defRPr/>
            </a:pPr>
            <a:r>
              <a:rPr lang="en-US"/>
              <a:t>Similar posteriors</a:t>
            </a:r>
            <a:endParaRPr/>
          </a:p>
          <a:p>
            <a:pPr>
              <a:defRPr/>
            </a:pPr>
            <a:r>
              <a:rPr lang="en-US"/>
              <a:t>Rhat</a:t>
            </a:r>
            <a:endParaRPr/>
          </a:p>
          <a:p>
            <a:pPr lvl="1">
              <a:defRPr/>
            </a:pPr>
            <a:r>
              <a:rPr lang="en-US"/>
              <a:t>Measures overlap of chains</a:t>
            </a:r>
            <a:endParaRPr/>
          </a:p>
          <a:p>
            <a:pPr lvl="1">
              <a:defRPr/>
            </a:pPr>
            <a:r>
              <a:rPr lang="en-US"/>
              <a:t>Should be less than 1.1</a:t>
            </a:r>
            <a:endParaRPr/>
          </a:p>
          <a:p>
            <a:pPr>
              <a:defRPr/>
            </a:pPr>
            <a:r>
              <a:rPr lang="en-US"/>
              <a:t>ESS</a:t>
            </a:r>
            <a:endParaRPr/>
          </a:p>
          <a:p>
            <a:pPr lvl="1">
              <a:defRPr/>
            </a:pPr>
            <a:r>
              <a:rPr lang="en-US"/>
              <a:t>Measures within chain correlation</a:t>
            </a:r>
            <a:endParaRPr/>
          </a:p>
          <a:p>
            <a:pPr lvl="1">
              <a:defRPr/>
            </a:pPr>
            <a:r>
              <a:rPr lang="en-US"/>
              <a:t>Gives information about how much information there is</a:t>
            </a:r>
            <a:endParaRPr/>
          </a:p>
          <a:p>
            <a:pPr lvl="1">
              <a:defRPr/>
            </a:pPr>
            <a:r>
              <a:rPr lang="en-US"/>
              <a:t>Should be more than 500</a:t>
            </a:r>
            <a:endParaRPr/>
          </a:p>
          <a:p>
            <a:pPr>
              <a:defRPr/>
            </a:pPr>
            <a:r>
              <a:rPr lang="en-US"/>
              <a:t>MCSE</a:t>
            </a:r>
            <a:endParaRPr/>
          </a:p>
          <a:p>
            <a:pPr lvl="1">
              <a:defRPr/>
            </a:pPr>
            <a:r>
              <a:rPr lang="en-US"/>
              <a:t>How well are we measuring the parameter</a:t>
            </a:r>
            <a:endParaRPr/>
          </a:p>
          <a:p>
            <a:pPr lvl="1">
              <a:defRPr/>
            </a:pPr>
            <a:r>
              <a:rPr lang="en-US"/>
              <a:t>Should be less than 1-2%</a:t>
            </a:r>
            <a:endParaRPr/>
          </a:p>
          <a:p>
            <a:pPr>
              <a:defRPr/>
            </a:pPr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5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7741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4.6 HMC and NUTS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525332797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4000"/>
              <a:t>Typical sets, physical models, and gradients of the probability density, Hamiltonian Monte Carlo and No U-Turn Sampling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155552" name="Title 3"/>
          <p:cNvSpPr>
            <a:spLocks noGrp="1"/>
          </p:cNvSpPr>
          <p:nvPr>
            <p:ph type="title"/>
          </p:nvPr>
        </p:nvSpPr>
        <p:spPr bwMode="auto">
          <a:xfrm>
            <a:off x="157018" y="365125"/>
            <a:ext cx="11720946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Metropolis proposals difficult for correlated parameters</a:t>
            </a:r>
            <a:endParaRPr lang="he-IL" sz="4000"/>
          </a:p>
        </p:txBody>
      </p:sp>
      <p:sp>
        <p:nvSpPr>
          <p:cNvPr id="1799108907" name="Content Placeholder 4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As the dimensionality gets higher</a:t>
            </a:r>
            <a:endParaRPr/>
          </a:p>
          <a:p>
            <a:pPr lvl="1">
              <a:defRPr/>
            </a:pPr>
            <a:r>
              <a:rPr lang="en-US"/>
              <a:t>The “good” jumps get harder to find</a:t>
            </a:r>
            <a:endParaRPr/>
          </a:p>
          <a:p>
            <a:pPr lvl="1">
              <a:defRPr/>
            </a:pPr>
            <a:r>
              <a:rPr lang="en-US"/>
              <a:t>Parameter covariances get harder to esimate</a:t>
            </a:r>
            <a:endParaRPr lang="he-IL"/>
          </a:p>
        </p:txBody>
      </p:sp>
      <p:pic>
        <p:nvPicPr>
          <p:cNvPr id="715581978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56351" y="3596507"/>
            <a:ext cx="6769884" cy="304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209763" name="Title 1"/>
          <p:cNvSpPr>
            <a:spLocks noGrp="1"/>
          </p:cNvSpPr>
          <p:nvPr>
            <p:ph type="title"/>
          </p:nvPr>
        </p:nvSpPr>
        <p:spPr bwMode="auto">
          <a:xfrm>
            <a:off x="277092" y="176666"/>
            <a:ext cx="11388436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Different MCMC algorithms balance simplicity and efficiency</a:t>
            </a:r>
            <a:endParaRPr lang="he-IL" sz="3600"/>
          </a:p>
        </p:txBody>
      </p:sp>
      <p:sp>
        <p:nvSpPr>
          <p:cNvPr id="132262532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502229"/>
            <a:ext cx="10515600" cy="518160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Metropolis</a:t>
            </a:r>
            <a:endParaRPr/>
          </a:p>
          <a:p>
            <a:pPr lvl="1">
              <a:defRPr/>
            </a:pPr>
            <a:r>
              <a:rPr lang="en-US"/>
              <a:t>Metropolis et al, 1953</a:t>
            </a:r>
            <a:endParaRPr/>
          </a:p>
          <a:p>
            <a:pPr>
              <a:defRPr/>
            </a:pPr>
            <a:r>
              <a:rPr lang="en-US"/>
              <a:t>Metropolis-Hastings</a:t>
            </a:r>
            <a:endParaRPr/>
          </a:p>
          <a:p>
            <a:pPr lvl="1">
              <a:defRPr/>
            </a:pPr>
            <a:r>
              <a:rPr lang="en-US"/>
              <a:t>Metropolis with a non-symmetric proposal function</a:t>
            </a:r>
            <a:endParaRPr/>
          </a:p>
          <a:p>
            <a:pPr lvl="1">
              <a:defRPr/>
            </a:pPr>
            <a:r>
              <a:rPr lang="en-US"/>
              <a:t>Hastings, 1970</a:t>
            </a:r>
            <a:endParaRPr/>
          </a:p>
          <a:p>
            <a:pPr>
              <a:defRPr/>
            </a:pPr>
            <a:r>
              <a:rPr lang="en-US"/>
              <a:t>Gibbs Sampling</a:t>
            </a:r>
            <a:endParaRPr/>
          </a:p>
          <a:p>
            <a:pPr lvl="1">
              <a:defRPr/>
            </a:pPr>
            <a:r>
              <a:rPr lang="en-US"/>
              <a:t>Sample each parameter given the other parameters</a:t>
            </a:r>
            <a:endParaRPr/>
          </a:p>
          <a:p>
            <a:pPr lvl="1">
              <a:defRPr/>
            </a:pPr>
            <a:r>
              <a:rPr lang="en-US"/>
              <a:t>Fewer rejections but more analytic work</a:t>
            </a:r>
            <a:endParaRPr/>
          </a:p>
          <a:p>
            <a:pPr lvl="1">
              <a:defRPr/>
            </a:pPr>
            <a:r>
              <a:rPr lang="en-US"/>
              <a:t>Geman and Geman, 1984</a:t>
            </a:r>
            <a:endParaRPr/>
          </a:p>
          <a:p>
            <a:pPr>
              <a:defRPr/>
            </a:pPr>
            <a:r>
              <a:rPr lang="en-US"/>
              <a:t>Hamiltonian Monte Carlo (HMC)</a:t>
            </a:r>
            <a:endParaRPr/>
          </a:p>
          <a:p>
            <a:pPr lvl="1">
              <a:defRPr/>
            </a:pPr>
            <a:r>
              <a:rPr lang="en-US"/>
              <a:t>Uses a complex physical model for a proposal function</a:t>
            </a:r>
            <a:endParaRPr/>
          </a:p>
          <a:p>
            <a:pPr lvl="1">
              <a:defRPr/>
            </a:pPr>
            <a:r>
              <a:rPr lang="en-US"/>
              <a:t>Much more efficient</a:t>
            </a:r>
            <a:endParaRPr/>
          </a:p>
          <a:p>
            <a:pPr lvl="1">
              <a:defRPr/>
            </a:pPr>
            <a:r>
              <a:rPr lang="en-US"/>
              <a:t>Duane et all, 1987</a:t>
            </a:r>
            <a:endParaRPr/>
          </a:p>
          <a:p>
            <a:pPr>
              <a:defRPr/>
            </a:pPr>
            <a:r>
              <a:rPr lang="en-US"/>
              <a:t>No U turn Sampler</a:t>
            </a:r>
            <a:endParaRPr/>
          </a:p>
          <a:p>
            <a:pPr lvl="1">
              <a:defRPr/>
            </a:pPr>
            <a:r>
              <a:rPr lang="en-US"/>
              <a:t>Solves a serious problem in the HMC</a:t>
            </a:r>
            <a:endParaRPr/>
          </a:p>
          <a:p>
            <a:pPr lvl="1">
              <a:defRPr/>
            </a:pPr>
            <a:r>
              <a:rPr lang="en-US"/>
              <a:t>Hoffman and Gelman, 2014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25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6222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HMC uses gradients to shape proposals</a:t>
            </a:r>
            <a:endParaRPr lang="he-IL"/>
          </a:p>
        </p:txBody>
      </p:sp>
      <p:sp>
        <p:nvSpPr>
          <p:cNvPr id="952527639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215524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HMC</a:t>
            </a:r>
            <a:endParaRPr/>
          </a:p>
          <a:p>
            <a:pPr lvl="1">
              <a:defRPr/>
            </a:pPr>
            <a:r>
              <a:rPr lang="en-US"/>
              <a:t>Hamiltonian Monte Carlo</a:t>
            </a:r>
            <a:endParaRPr/>
          </a:p>
          <a:p>
            <a:pPr lvl="1">
              <a:defRPr/>
            </a:pPr>
            <a:r>
              <a:rPr lang="en-US"/>
              <a:t>Use the gradient of the probability!</a:t>
            </a:r>
            <a:endParaRPr/>
          </a:p>
          <a:p>
            <a:pPr lvl="1">
              <a:defRPr/>
            </a:pPr>
            <a:r>
              <a:rPr lang="en-US"/>
              <a:t>Every small step keeps is in “good” probabilities</a:t>
            </a:r>
            <a:endParaRPr lang="he-IL"/>
          </a:p>
        </p:txBody>
      </p:sp>
      <p:pic>
        <p:nvPicPr>
          <p:cNvPr id="1558821123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94504" y="3701442"/>
            <a:ext cx="5359296" cy="2941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8720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HMC is not a maximization algorithm</a:t>
            </a:r>
            <a:endParaRPr lang="he-IL"/>
          </a:p>
        </p:txBody>
      </p:sp>
      <p:sp>
        <p:nvSpPr>
          <p:cNvPr id="144003245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2570884"/>
          </a:xfrm>
        </p:spPr>
        <p:txBody>
          <a:bodyPr/>
          <a:lstStyle/>
          <a:p>
            <a:pPr>
              <a:defRPr/>
            </a:pPr>
            <a:r>
              <a:rPr lang="en-US"/>
              <a:t>Many maximization algorithms use gradient descent</a:t>
            </a:r>
            <a:endParaRPr/>
          </a:p>
          <a:p>
            <a:pPr lvl="1">
              <a:defRPr/>
            </a:pPr>
            <a:r>
              <a:rPr lang="en-US"/>
              <a:t>This finds an extreme point</a:t>
            </a:r>
            <a:endParaRPr/>
          </a:p>
          <a:p>
            <a:pPr lvl="1">
              <a:defRPr/>
            </a:pPr>
            <a:r>
              <a:rPr lang="en-US"/>
              <a:t>Like maximum probability density</a:t>
            </a:r>
            <a:endParaRPr/>
          </a:p>
          <a:p>
            <a:pPr>
              <a:defRPr/>
            </a:pPr>
            <a:r>
              <a:rPr lang="en-US"/>
              <a:t>HMC doesn’t go up or down the gradient</a:t>
            </a:r>
            <a:endParaRPr/>
          </a:p>
          <a:p>
            <a:pPr lvl="1">
              <a:defRPr/>
            </a:pPr>
            <a:r>
              <a:rPr lang="en-US"/>
              <a:t>Most of the probability is not at the mode</a:t>
            </a:r>
            <a:endParaRPr/>
          </a:p>
        </p:txBody>
      </p:sp>
      <p:pic>
        <p:nvPicPr>
          <p:cNvPr id="738507051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93438" y="2874033"/>
            <a:ext cx="3539902" cy="31920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888582" name="Title 1"/>
          <p:cNvSpPr>
            <a:spLocks noGrp="1"/>
          </p:cNvSpPr>
          <p:nvPr>
            <p:ph type="title"/>
          </p:nvPr>
        </p:nvSpPr>
        <p:spPr bwMode="auto">
          <a:xfrm>
            <a:off x="401216" y="365125"/>
            <a:ext cx="11328965" cy="1325563"/>
          </a:xfrm>
        </p:spPr>
        <p:txBody>
          <a:bodyPr/>
          <a:lstStyle/>
          <a:p>
            <a:pPr>
              <a:defRPr/>
            </a:pPr>
            <a:r>
              <a:rPr lang="en-US"/>
              <a:t>In high dimensions, probability is not at the mode</a:t>
            </a:r>
            <a:endParaRPr/>
          </a:p>
        </p:txBody>
      </p:sp>
      <p:sp>
        <p:nvSpPr>
          <p:cNvPr id="158745468" name="Content Placeholder 3"/>
          <p:cNvSpPr>
            <a:spLocks noGrp="1"/>
          </p:cNvSpPr>
          <p:nvPr>
            <p:ph idx="1"/>
          </p:nvPr>
        </p:nvSpPr>
        <p:spPr bwMode="auto">
          <a:xfrm>
            <a:off x="245806" y="1825625"/>
            <a:ext cx="5459362" cy="691433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/>
              <a:t>PDF of multi-dimensional gaussians</a:t>
            </a:r>
            <a:endParaRPr/>
          </a:p>
          <a:p>
            <a:pPr lvl="1">
              <a:defRPr/>
            </a:pPr>
            <a:r>
              <a:rPr lang="en-US"/>
              <a:t>As a function of distance</a:t>
            </a:r>
            <a:endParaRPr/>
          </a:p>
        </p:txBody>
      </p:sp>
      <p:pic>
        <p:nvPicPr>
          <p:cNvPr id="1148686100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1216" y="3429000"/>
            <a:ext cx="4876800" cy="2133600"/>
          </a:xfrm>
          <a:prstGeom prst="rect">
            <a:avLst/>
          </a:prstGeom>
        </p:spPr>
      </p:pic>
      <p:sp>
        <p:nvSpPr>
          <p:cNvPr id="32966945" name="TextBox 5"/>
          <p:cNvSpPr txBox="1"/>
          <p:nvPr/>
        </p:nvSpPr>
        <p:spPr bwMode="auto">
          <a:xfrm>
            <a:off x="5781084" y="2032881"/>
            <a:ext cx="609442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b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rad_dist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Y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):</a:t>
            </a:r>
            <a:endParaRPr/>
          </a:p>
          <a:p>
            <a:pPr>
              <a:defRPr/>
            </a:pP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np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sqrt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np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sum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Y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**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))</a:t>
            </a:r>
            <a:endParaRPr/>
          </a:p>
          <a:p>
            <a:pPr>
              <a:defRPr/>
            </a:pPr>
            <a:endParaRPr lang="en-US" sz="1200">
              <a:solidFill>
                <a:srgbClr val="3B3B3B"/>
              </a:solidFill>
              <a:latin typeface="Consolas"/>
            </a:endParaRPr>
          </a:p>
          <a:p>
            <a:pPr>
              <a:defRPr/>
            </a:pPr>
            <a:r>
              <a:rPr lang="en-US" sz="1200" b="0">
                <a:solidFill>
                  <a:srgbClr val="001080"/>
                </a:solidFill>
                <a:latin typeface="Consolas"/>
              </a:rPr>
              <a:t>xvar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np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linspace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36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200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  <a:p>
            <a:pPr>
              <a:defRPr/>
            </a:pPr>
            <a:br>
              <a:rPr lang="en-US" sz="1200" b="0">
                <a:solidFill>
                  <a:srgbClr val="3B3B3B"/>
                </a:solidFill>
                <a:latin typeface="Consolas"/>
              </a:rPr>
            </a:br>
            <a:r>
              <a:rPr lang="en-US" sz="1200" b="0">
                <a:solidFill>
                  <a:srgbClr val="008000"/>
                </a:solidFill>
                <a:latin typeface="Consolas"/>
              </a:rPr>
              <a:t># the book code is wrapped in a loop to reproduce Figure 9.4</a:t>
            </a:r>
            <a:endParaRPr lang="en-US" sz="1200" b="0">
              <a:solidFill>
                <a:srgbClr val="3B3B3B"/>
              </a:solidFill>
              <a:latin typeface="Consolas"/>
            </a:endParaRPr>
          </a:p>
          <a:p>
            <a:pPr>
              <a:defRPr/>
            </a:pPr>
            <a:r>
              <a:rPr lang="en-US" sz="1200" b="0">
                <a:solidFill>
                  <a:srgbClr val="AF00DB"/>
                </a:solidFill>
                <a:latin typeface="Consolas"/>
              </a:rPr>
              <a:t>for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D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AF00DB"/>
                </a:solidFill>
                <a:latin typeface="Consolas"/>
              </a:rPr>
              <a:t>in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10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100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1000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]:</a:t>
            </a:r>
            <a:endParaRPr/>
          </a:p>
          <a:p>
            <a:pPr>
              <a:defRPr/>
            </a:pP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T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int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1e3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  <a:p>
            <a:pPr>
              <a:defRPr/>
            </a:pP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Y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stats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multivariate_normal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np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zeros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D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),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np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identity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D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)).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rvs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T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  <a:p>
            <a:pPr>
              <a:defRPr/>
            </a:pPr>
            <a:br>
              <a:rPr lang="en-US" sz="1200" b="0">
                <a:solidFill>
                  <a:srgbClr val="3B3B3B"/>
                </a:solidFill>
                <a:latin typeface="Consolas"/>
              </a:rPr>
            </a:b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Rd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list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map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rad_dist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Y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))</a:t>
            </a:r>
            <a:endParaRPr/>
          </a:p>
          <a:p>
            <a:pPr>
              <a:defRPr/>
            </a:pPr>
            <a:br>
              <a:rPr lang="en-US" sz="1200" b="0">
                <a:solidFill>
                  <a:srgbClr val="3B3B3B"/>
                </a:solidFill>
                <a:latin typeface="Consolas"/>
              </a:rPr>
            </a:b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kde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stats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gaussian_kde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Rd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  <a:p>
            <a:pPr>
              <a:defRPr/>
            </a:pP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yvar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kde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xvar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  <a:p>
            <a:pPr>
              <a:defRPr/>
            </a:pP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ax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.plot(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xvar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yvar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color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200" b="0">
                <a:solidFill>
                  <a:srgbClr val="A31515"/>
                </a:solidFill>
                <a:latin typeface="Consolas"/>
              </a:rPr>
              <a:t>"k"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  <a:p>
            <a:pPr>
              <a:defRPr/>
            </a:pPr>
            <a:br>
              <a:rPr lang="en-US" sz="1200" b="0">
                <a:solidFill>
                  <a:srgbClr val="3B3B3B"/>
                </a:solidFill>
                <a:latin typeface="Consolas"/>
              </a:rPr>
            </a:br>
            <a:r>
              <a:rPr lang="en-US" sz="1200" b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ax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.text(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np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795E26"/>
                </a:solidFill>
                <a:latin typeface="Consolas"/>
              </a:rPr>
              <a:t>mean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Rd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), </a:t>
            </a:r>
            <a:r>
              <a:rPr lang="en-US" sz="1200" b="0">
                <a:solidFill>
                  <a:srgbClr val="267F99"/>
                </a:solidFill>
                <a:latin typeface="Consolas"/>
              </a:rPr>
              <a:t>np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max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200" b="0">
                <a:solidFill>
                  <a:srgbClr val="001080"/>
                </a:solidFill>
                <a:latin typeface="Consolas"/>
              </a:rPr>
              <a:t>yvar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sz="1200" b="0">
                <a:solidFill>
                  <a:srgbClr val="000000"/>
                </a:solidFill>
                <a:latin typeface="Consolas"/>
              </a:rPr>
              <a:t>*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200" b="0">
                <a:solidFill>
                  <a:srgbClr val="098658"/>
                </a:solidFill>
                <a:latin typeface="Consolas"/>
              </a:rPr>
              <a:t>1.02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200" b="0">
                <a:solidFill>
                  <a:srgbClr val="0000FF"/>
                </a:solidFill>
                <a:latin typeface="Consolas"/>
              </a:rPr>
              <a:t>f</a:t>
            </a:r>
            <a:r>
              <a:rPr lang="en-US" sz="1200" b="0">
                <a:solidFill>
                  <a:srgbClr val="A31515"/>
                </a:solidFill>
                <a:latin typeface="Consolas"/>
              </a:rPr>
              <a:t>"D: </a:t>
            </a:r>
            <a:r>
              <a:rPr lang="en-US" sz="1200" b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200" b="0">
                <a:solidFill>
                  <a:srgbClr val="0070C1"/>
                </a:solidFill>
                <a:latin typeface="Consolas"/>
              </a:rPr>
              <a:t>D</a:t>
            </a:r>
            <a:r>
              <a:rPr lang="en-US" sz="1200" b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200" b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b="0">
                <a:solidFill>
                  <a:srgbClr val="3B3B3B"/>
                </a:solidFill>
                <a:latin typeface="Consolas"/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183427" name="Title 1"/>
          <p:cNvSpPr>
            <a:spLocks noGrp="1"/>
          </p:cNvSpPr>
          <p:nvPr>
            <p:ph type="title"/>
          </p:nvPr>
        </p:nvSpPr>
        <p:spPr bwMode="auto">
          <a:xfrm>
            <a:off x="838200" y="266803"/>
            <a:ext cx="10515600" cy="65743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In high dimensions, the </a:t>
            </a:r>
            <a:r>
              <a:rPr lang="en-US" b="1"/>
              <a:t>volume</a:t>
            </a:r>
            <a:r>
              <a:rPr lang="en-US"/>
              <a:t> isn’t at the mode</a:t>
            </a:r>
            <a:endParaRPr/>
          </a:p>
        </p:txBody>
      </p:sp>
      <p:sp>
        <p:nvSpPr>
          <p:cNvPr id="1841713205" name="Content Placeholder 4"/>
          <p:cNvSpPr>
            <a:spLocks noGrp="1"/>
          </p:cNvSpPr>
          <p:nvPr>
            <p:ph idx="1"/>
          </p:nvPr>
        </p:nvSpPr>
        <p:spPr bwMode="auto">
          <a:xfrm>
            <a:off x="7327491" y="4792944"/>
            <a:ext cx="4441723" cy="101792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Consider a spherical shell</a:t>
            </a:r>
            <a:endParaRPr/>
          </a:p>
          <a:p>
            <a:pPr lvl="1">
              <a:defRPr/>
            </a:pPr>
            <a:r>
              <a:rPr lang="en-US" sz="1600"/>
              <a:t>Let dimensionality increase</a:t>
            </a:r>
            <a:endParaRPr/>
          </a:p>
          <a:p>
            <a:pPr lvl="1">
              <a:defRPr/>
            </a:pPr>
            <a:r>
              <a:rPr lang="en-US" sz="1600"/>
              <a:t>Look at exterior and interior volume</a:t>
            </a:r>
            <a:endParaRPr/>
          </a:p>
        </p:txBody>
      </p:sp>
      <p:pic>
        <p:nvPicPr>
          <p:cNvPr id="77248460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95082" y="1883304"/>
            <a:ext cx="5772447" cy="2051155"/>
          </a:xfrm>
          <a:prstGeom prst="rect">
            <a:avLst/>
          </a:prstGeom>
        </p:spPr>
      </p:pic>
      <p:pic>
        <p:nvPicPr>
          <p:cNvPr id="1581408035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95081" y="4127075"/>
            <a:ext cx="6003747" cy="2051155"/>
          </a:xfrm>
          <a:prstGeom prst="rect">
            <a:avLst/>
          </a:prstGeom>
        </p:spPr>
      </p:pic>
      <p:sp>
        <p:nvSpPr>
          <p:cNvPr id="452866624" name="Content Placeholder 4"/>
          <p:cNvSpPr txBox="1"/>
          <p:nvPr/>
        </p:nvSpPr>
        <p:spPr bwMode="auto">
          <a:xfrm>
            <a:off x="7126796" y="1883304"/>
            <a:ext cx="4354971" cy="108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/>
              <a:t>Consider a N-D cube</a:t>
            </a:r>
            <a:endParaRPr/>
          </a:p>
          <a:p>
            <a:pPr lvl="1">
              <a:defRPr/>
            </a:pPr>
            <a:r>
              <a:rPr lang="en-US" sz="1600"/>
              <a:t>What percentage is in the middle?</a:t>
            </a:r>
            <a:endParaRPr/>
          </a:p>
        </p:txBody>
      </p:sp>
      <p:graphicFrame>
        <p:nvGraphicFramePr>
          <p:cNvPr id="213349557" name="Object 7"/>
          <p:cNvGraphicFramePr>
            <a:graphicFrameLocks noChangeAspect="1"/>
          </p:cNvGraphicFramePr>
          <p:nvPr/>
        </p:nvGraphicFramePr>
        <p:xfrm>
          <a:off x="1678243" y="1124368"/>
          <a:ext cx="3269211" cy="56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5" imgW="1612265" imgH="278765" progId="Equation.DSMT4">
                  <p:embed/>
                </p:oleObj>
              </mc:Choice>
              <mc:Fallback>
                <p:oleObj name="oleObj" r:id="rId5" imgW="1612265" imgH="278765" progId="Equation.DSMT4">
                  <p:embed/>
                  <p:pic>
                    <p:nvPicPr>
                      <p:cNvPr id="213349557" name="Object 7"/>
                      <p:cNvPicPr/>
                      <p:nvPr/>
                    </p:nvPicPr>
                    <p:blipFill rotWithShape="1">
                      <a:blip r:embed="rId6"/>
                      <a:stretch/>
                    </p:blipFill>
                    <p:spPr bwMode="auto">
                      <a:xfrm>
                        <a:off x="1678243" y="1124368"/>
                        <a:ext cx="3269211" cy="566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89280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Probability mass combines density and volume</a:t>
            </a:r>
            <a:endParaRPr/>
          </a:p>
        </p:txBody>
      </p:sp>
      <p:sp>
        <p:nvSpPr>
          <p:cNvPr id="1416185831" name="Content Placeholder 6"/>
          <p:cNvSpPr>
            <a:spLocks noGrp="1"/>
          </p:cNvSpPr>
          <p:nvPr>
            <p:ph idx="1"/>
          </p:nvPr>
        </p:nvSpPr>
        <p:spPr bwMode="auto">
          <a:xfrm>
            <a:off x="5107708" y="1825625"/>
            <a:ext cx="6613237" cy="1684193"/>
          </a:xfrm>
        </p:spPr>
        <p:txBody>
          <a:bodyPr/>
          <a:lstStyle/>
          <a:p>
            <a:pPr>
              <a:defRPr/>
            </a:pPr>
            <a:r>
              <a:rPr lang="en-US"/>
              <a:t>The typical set</a:t>
            </a:r>
            <a:endParaRPr/>
          </a:p>
          <a:p>
            <a:pPr lvl="1">
              <a:defRPr/>
            </a:pPr>
            <a:r>
              <a:rPr lang="en-US"/>
              <a:t>Where most of the probability mass is</a:t>
            </a:r>
            <a:endParaRPr/>
          </a:p>
          <a:p>
            <a:pPr lvl="2">
              <a:defRPr/>
            </a:pPr>
            <a:r>
              <a:rPr lang="en-US"/>
              <a:t>Not very close to the mode</a:t>
            </a:r>
            <a:endParaRPr/>
          </a:p>
          <a:p>
            <a:pPr lvl="2">
              <a:defRPr/>
            </a:pPr>
            <a:r>
              <a:rPr lang="en-US"/>
              <a:t>Not very far from the mode</a:t>
            </a:r>
            <a:endParaRPr/>
          </a:p>
        </p:txBody>
      </p:sp>
      <p:pic>
        <p:nvPicPr>
          <p:cNvPr id="156437314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41691" y="2260035"/>
            <a:ext cx="4393708" cy="4232839"/>
          </a:xfrm>
          <a:prstGeom prst="rect">
            <a:avLst/>
          </a:prstGeom>
        </p:spPr>
      </p:pic>
      <p:pic>
        <p:nvPicPr>
          <p:cNvPr id="675824997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44783" y="4456728"/>
            <a:ext cx="3276768" cy="2038455"/>
          </a:xfrm>
          <a:prstGeom prst="rect">
            <a:avLst/>
          </a:prstGeom>
        </p:spPr>
      </p:pic>
      <p:sp>
        <p:nvSpPr>
          <p:cNvPr id="1957487342" name="TextBox 4"/>
          <p:cNvSpPr txBox="1"/>
          <p:nvPr/>
        </p:nvSpPr>
        <p:spPr bwMode="auto">
          <a:xfrm>
            <a:off x="6649038" y="3691199"/>
            <a:ext cx="3758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Visualization of a typical set in high dimensions</a:t>
            </a:r>
            <a:endParaRPr/>
          </a:p>
        </p:txBody>
      </p:sp>
      <p:graphicFrame>
        <p:nvGraphicFramePr>
          <p:cNvPr id="1688751784" name="Object 7"/>
          <p:cNvGraphicFramePr>
            <a:graphicFrameLocks noChangeAspect="1"/>
          </p:cNvGraphicFramePr>
          <p:nvPr/>
        </p:nvGraphicFramePr>
        <p:xfrm>
          <a:off x="1503939" y="1856032"/>
          <a:ext cx="3269211" cy="56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5" imgW="1612265" imgH="278765" progId="Equation.DSMT4">
                  <p:embed/>
                </p:oleObj>
              </mc:Choice>
              <mc:Fallback>
                <p:oleObj name="oleObj" r:id="rId5" imgW="1612265" imgH="278765" progId="Equation.DSMT4">
                  <p:embed/>
                  <p:pic>
                    <p:nvPicPr>
                      <p:cNvPr id="1688751784" name="Object 7"/>
                      <p:cNvPicPr/>
                      <p:nvPr/>
                    </p:nvPicPr>
                    <p:blipFill rotWithShape="1">
                      <a:blip r:embed="rId6"/>
                      <a:stretch/>
                    </p:blipFill>
                    <p:spPr bwMode="auto">
                      <a:xfrm>
                        <a:off x="1503939" y="1856032"/>
                        <a:ext cx="3269211" cy="566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9370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HMC proposals stay in the typical set</a:t>
            </a:r>
            <a:endParaRPr lang="he-IL"/>
          </a:p>
        </p:txBody>
      </p:sp>
      <p:sp>
        <p:nvSpPr>
          <p:cNvPr id="1710797169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23455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HMC moves perpendicular to the gradient</a:t>
            </a:r>
            <a:endParaRPr/>
          </a:p>
          <a:p>
            <a:pPr lvl="1">
              <a:defRPr/>
            </a:pPr>
            <a:r>
              <a:rPr lang="en-US"/>
              <a:t>Like a satellite</a:t>
            </a:r>
            <a:endParaRPr/>
          </a:p>
          <a:p>
            <a:pPr lvl="1">
              <a:defRPr/>
            </a:pPr>
            <a:r>
              <a:rPr lang="en-US"/>
              <a:t>Not towards the mode</a:t>
            </a:r>
            <a:endParaRPr/>
          </a:p>
          <a:p>
            <a:pPr lvl="1">
              <a:defRPr/>
            </a:pPr>
            <a:r>
              <a:rPr lang="en-US"/>
              <a:t>Not away from it</a:t>
            </a:r>
            <a:endParaRPr/>
          </a:p>
        </p:txBody>
      </p:sp>
      <p:pic>
        <p:nvPicPr>
          <p:cNvPr id="1147610400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37640" y="3641424"/>
            <a:ext cx="3434953" cy="2851451"/>
          </a:xfrm>
          <a:prstGeom prst="rect">
            <a:avLst/>
          </a:prstGeom>
        </p:spPr>
      </p:pic>
      <p:pic>
        <p:nvPicPr>
          <p:cNvPr id="1361547167" name="Picture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V="1">
            <a:off x="6799381" y="3456858"/>
            <a:ext cx="3485165" cy="3036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28526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The right momentum keeps HMC in the typical set</a:t>
            </a:r>
            <a:endParaRPr/>
          </a:p>
        </p:txBody>
      </p:sp>
      <p:sp>
        <p:nvSpPr>
          <p:cNvPr id="289523421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4420998"/>
            <a:ext cx="10515600" cy="1755965"/>
          </a:xfrm>
        </p:spPr>
        <p:txBody>
          <a:bodyPr/>
          <a:lstStyle/>
          <a:p>
            <a:pPr>
              <a:defRPr/>
            </a:pPr>
            <a:r>
              <a:rPr lang="en-US"/>
              <a:t>Too little momentum and we end up near the mode</a:t>
            </a:r>
            <a:endParaRPr/>
          </a:p>
          <a:p>
            <a:pPr>
              <a:defRPr/>
            </a:pPr>
            <a:r>
              <a:rPr lang="en-US"/>
              <a:t>Too much momentum and we fly out into space</a:t>
            </a:r>
            <a:endParaRPr/>
          </a:p>
        </p:txBody>
      </p:sp>
      <p:pic>
        <p:nvPicPr>
          <p:cNvPr id="162282717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1938" y="1585969"/>
            <a:ext cx="6798880" cy="29405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1206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/>
              <a:t>HMC must use simulated, approximated physics</a:t>
            </a:r>
            <a:endParaRPr/>
          </a:p>
        </p:txBody>
      </p:sp>
      <p:sp>
        <p:nvSpPr>
          <p:cNvPr id="185284983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5875751" cy="466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Leapfrog integration</a:t>
            </a:r>
            <a:endParaRPr/>
          </a:p>
          <a:p>
            <a:pPr lvl="1">
              <a:defRPr/>
            </a:pPr>
            <a:r>
              <a:rPr lang="en-US"/>
              <a:t>Half step in direction of momentum</a:t>
            </a:r>
            <a:endParaRPr/>
          </a:p>
          <a:p>
            <a:pPr lvl="1">
              <a:defRPr/>
            </a:pPr>
            <a:r>
              <a:rPr lang="en-US"/>
              <a:t>Re-calculate momentum in new location</a:t>
            </a:r>
            <a:endParaRPr/>
          </a:p>
          <a:p>
            <a:pPr lvl="1">
              <a:defRPr/>
            </a:pPr>
            <a:r>
              <a:rPr lang="en-US"/>
              <a:t>Repeat</a:t>
            </a:r>
            <a:endParaRPr/>
          </a:p>
          <a:p>
            <a:pPr>
              <a:defRPr/>
            </a:pPr>
            <a:r>
              <a:rPr lang="en-US"/>
              <a:t>This is just a proposal function</a:t>
            </a:r>
            <a:endParaRPr/>
          </a:p>
          <a:p>
            <a:pPr lvl="1">
              <a:defRPr/>
            </a:pPr>
            <a:r>
              <a:rPr lang="en-US"/>
              <a:t>At the end apply Metropolis rule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1933195044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10399" y="2107131"/>
            <a:ext cx="4856514" cy="3041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904483" name="Title 1"/>
          <p:cNvSpPr>
            <a:spLocks noGrp="1"/>
          </p:cNvSpPr>
          <p:nvPr>
            <p:ph type="title"/>
          </p:nvPr>
        </p:nvSpPr>
        <p:spPr bwMode="auto">
          <a:xfrm>
            <a:off x="449191" y="365124"/>
            <a:ext cx="11504705" cy="1325562"/>
          </a:xfrm>
        </p:spPr>
        <p:txBody>
          <a:bodyPr/>
          <a:lstStyle/>
          <a:p>
            <a:pPr>
              <a:defRPr/>
            </a:pPr>
            <a:r>
              <a:rPr lang="en-US" sz="3600"/>
              <a:t>HMC tuning balances approximation and computation time</a:t>
            </a:r>
            <a:endParaRPr sz="3600"/>
          </a:p>
        </p:txBody>
      </p:sp>
      <p:sp>
        <p:nvSpPr>
          <p:cNvPr id="1599813568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5875751" cy="466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Algorithm parameters:</a:t>
            </a:r>
            <a:endParaRPr/>
          </a:p>
          <a:p>
            <a:pPr lvl="1">
              <a:defRPr/>
            </a:pPr>
            <a:r>
              <a:rPr lang="en-US"/>
              <a:t>Number of steps</a:t>
            </a:r>
            <a:endParaRPr/>
          </a:p>
          <a:p>
            <a:pPr lvl="1">
              <a:defRPr/>
            </a:pPr>
            <a:r>
              <a:rPr lang="en-US"/>
              <a:t>Size of step</a:t>
            </a:r>
            <a:endParaRPr/>
          </a:p>
          <a:p>
            <a:pPr>
              <a:defRPr/>
            </a:pPr>
            <a:r>
              <a:rPr lang="en-US"/>
              <a:t>Tuning for:</a:t>
            </a:r>
            <a:endParaRPr/>
          </a:p>
          <a:p>
            <a:pPr lvl="1">
              <a:defRPr/>
            </a:pPr>
            <a:r>
              <a:rPr lang="en-US"/>
              <a:t>Minimize correlation between samples</a:t>
            </a:r>
            <a:endParaRPr/>
          </a:p>
          <a:p>
            <a:pPr lvl="1">
              <a:defRPr/>
            </a:pPr>
            <a:r>
              <a:rPr lang="en-US"/>
              <a:t>High target acceptance ratio</a:t>
            </a:r>
            <a:endParaRPr/>
          </a:p>
          <a:p>
            <a:pPr lvl="2">
              <a:defRPr/>
            </a:pPr>
            <a:r>
              <a:rPr lang="en-US"/>
              <a:t>Default: 0.9</a:t>
            </a:r>
            <a:endParaRPr/>
          </a:p>
          <a:p>
            <a:pPr lvl="1"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1145374973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10399" y="2107131"/>
            <a:ext cx="4856514" cy="3041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065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HMC is Metropolis with well tuned proposals</a:t>
            </a:r>
            <a:endParaRPr lang="he-IL"/>
          </a:p>
        </p:txBody>
      </p:sp>
      <p:sp>
        <p:nvSpPr>
          <p:cNvPr id="1623969232" name="Content Placeholder 2"/>
          <p:cNvSpPr>
            <a:spLocks noGrp="1"/>
          </p:cNvSpPr>
          <p:nvPr>
            <p:ph idx="1"/>
          </p:nvPr>
        </p:nvSpPr>
        <p:spPr bwMode="auto">
          <a:xfrm>
            <a:off x="21077" y="1698491"/>
            <a:ext cx="5912795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Special proposal function for Metropolis</a:t>
            </a:r>
            <a:endParaRPr sz="2400" dirty="0"/>
          </a:p>
          <a:p>
            <a:pPr>
              <a:defRPr/>
            </a:pPr>
            <a:r>
              <a:rPr lang="en-US" sz="2400" dirty="0"/>
              <a:t>Simulates physics to stay in the ‘typical set’</a:t>
            </a:r>
            <a:endParaRPr sz="2400" dirty="0"/>
          </a:p>
          <a:p>
            <a:pPr>
              <a:defRPr/>
            </a:pPr>
            <a:r>
              <a:rPr lang="en-US" sz="2400" dirty="0"/>
              <a:t>Goals</a:t>
            </a:r>
            <a:endParaRPr sz="2400" dirty="0"/>
          </a:p>
          <a:p>
            <a:pPr lvl="1">
              <a:defRPr/>
            </a:pPr>
            <a:r>
              <a:rPr lang="en-US" sz="2000" dirty="0"/>
              <a:t>Minimize autocorrelation</a:t>
            </a:r>
            <a:endParaRPr sz="2000" dirty="0"/>
          </a:p>
          <a:p>
            <a:pPr lvl="1">
              <a:defRPr/>
            </a:pPr>
            <a:r>
              <a:rPr lang="en-US" sz="2000" dirty="0"/>
              <a:t>Maintain very high acceptance ratio</a:t>
            </a:r>
            <a:endParaRPr sz="2000" dirty="0"/>
          </a:p>
          <a:p>
            <a:pPr>
              <a:defRPr/>
            </a:pPr>
            <a:r>
              <a:rPr lang="en-US" sz="2400" dirty="0"/>
              <a:t>Parameters</a:t>
            </a:r>
            <a:endParaRPr sz="2400" dirty="0"/>
          </a:p>
          <a:p>
            <a:pPr lvl="1">
              <a:defRPr/>
            </a:pPr>
            <a:r>
              <a:rPr lang="en-US" sz="2000" dirty="0"/>
              <a:t>Number of steps</a:t>
            </a:r>
            <a:endParaRPr sz="2000" dirty="0"/>
          </a:p>
          <a:p>
            <a:pPr lvl="1">
              <a:defRPr/>
            </a:pPr>
            <a:r>
              <a:rPr lang="en-US" sz="2000" dirty="0"/>
              <a:t>Step size</a:t>
            </a:r>
            <a:endParaRPr lang="he-IL" sz="2000" dirty="0"/>
          </a:p>
        </p:txBody>
      </p:sp>
      <p:sp>
        <p:nvSpPr>
          <p:cNvPr id="2" name="Rectangle: Rounded Corners 1">
            <a:hlinkClick r:id="rId3"/>
            <a:extLst>
              <a:ext uri="{FF2B5EF4-FFF2-40B4-BE49-F238E27FC236}">
                <a16:creationId xmlns:a16="http://schemas.microsoft.com/office/drawing/2014/main" id="{E406A0FA-8FC5-B82E-A8B3-2FF9A39D3A13}"/>
              </a:ext>
            </a:extLst>
          </p:cNvPr>
          <p:cNvSpPr/>
          <p:nvPr/>
        </p:nvSpPr>
        <p:spPr>
          <a:xfrm>
            <a:off x="7201303" y="1902772"/>
            <a:ext cx="2402732" cy="7101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HMC</a:t>
            </a:r>
            <a:endParaRPr lang="en-IL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9668-B469-8E6C-C74F-9080EAEB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 can loop back on itself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03AD-81C2-8247-E7D5-5791EE436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451" y="1690688"/>
            <a:ext cx="3529519" cy="4351338"/>
          </a:xfrm>
        </p:spPr>
        <p:txBody>
          <a:bodyPr>
            <a:normAutofit/>
          </a:bodyPr>
          <a:lstStyle/>
          <a:p>
            <a:r>
              <a:rPr lang="en-US" dirty="0"/>
              <a:t>The energy creates an orbit</a:t>
            </a:r>
          </a:p>
          <a:p>
            <a:r>
              <a:rPr lang="en-US" dirty="0"/>
              <a:t>Length of orbit is hard to guess</a:t>
            </a:r>
            <a:endParaRPr lang="en-IL" dirty="0"/>
          </a:p>
        </p:txBody>
      </p:sp>
      <p:sp>
        <p:nvSpPr>
          <p:cNvPr id="4" name="Rectangle: Rounded Corners 3">
            <a:hlinkClick r:id="rId2"/>
            <a:extLst>
              <a:ext uri="{FF2B5EF4-FFF2-40B4-BE49-F238E27FC236}">
                <a16:creationId xmlns:a16="http://schemas.microsoft.com/office/drawing/2014/main" id="{FE011468-FADC-02FE-719A-D339AA5223C7}"/>
              </a:ext>
            </a:extLst>
          </p:cNvPr>
          <p:cNvSpPr/>
          <p:nvPr/>
        </p:nvSpPr>
        <p:spPr bwMode="auto">
          <a:xfrm>
            <a:off x="6684523" y="1335629"/>
            <a:ext cx="2402732" cy="7101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HMC with u turns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74897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59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NUTS automates HMC path length selection</a:t>
            </a:r>
            <a:endParaRPr lang="he-IL"/>
          </a:p>
        </p:txBody>
      </p:sp>
      <p:sp>
        <p:nvSpPr>
          <p:cNvPr id="1948133472" name="Content Placeholder 2"/>
          <p:cNvSpPr>
            <a:spLocks noGrp="1"/>
          </p:cNvSpPr>
          <p:nvPr>
            <p:ph idx="1"/>
          </p:nvPr>
        </p:nvSpPr>
        <p:spPr bwMode="auto">
          <a:xfrm>
            <a:off x="176720" y="1550286"/>
            <a:ext cx="650618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 lnSpcReduction="12000"/>
          </a:bodyPr>
          <a:lstStyle/>
          <a:p>
            <a:pPr>
              <a:defRPr/>
            </a:pPr>
            <a:r>
              <a:rPr lang="en-US" dirty="0"/>
              <a:t>NUTS: No U-Turn Sampling</a:t>
            </a:r>
            <a:endParaRPr dirty="0"/>
          </a:p>
          <a:p>
            <a:pPr lvl="1">
              <a:defRPr/>
            </a:pPr>
            <a:r>
              <a:rPr lang="en-US" dirty="0"/>
              <a:t>A variant of HMC</a:t>
            </a:r>
            <a:endParaRPr dirty="0"/>
          </a:p>
          <a:p>
            <a:pPr lvl="1">
              <a:defRPr/>
            </a:pPr>
            <a:r>
              <a:rPr lang="en-US" dirty="0"/>
              <a:t>Explores multiple possible jumps in two </a:t>
            </a:r>
            <a:r>
              <a:rPr lang="en-US" dirty="0" err="1"/>
              <a:t>direcitons</a:t>
            </a:r>
            <a:endParaRPr dirty="0"/>
          </a:p>
          <a:p>
            <a:pPr lvl="1">
              <a:defRPr/>
            </a:pPr>
            <a:r>
              <a:rPr lang="en-US" dirty="0"/>
              <a:t>Default state-of-the-art sampler in PPCs</a:t>
            </a:r>
            <a:endParaRPr dirty="0"/>
          </a:p>
          <a:p>
            <a:pPr>
              <a:defRPr/>
            </a:pPr>
            <a:r>
              <a:rPr lang="en-US" dirty="0"/>
              <a:t>Parameters</a:t>
            </a:r>
            <a:endParaRPr dirty="0"/>
          </a:p>
          <a:p>
            <a:pPr lvl="1">
              <a:defRPr/>
            </a:pPr>
            <a:r>
              <a:rPr lang="en-US" dirty="0"/>
              <a:t>Target acceptance probability</a:t>
            </a:r>
            <a:endParaRPr dirty="0"/>
          </a:p>
          <a:p>
            <a:pPr lvl="2">
              <a:defRPr/>
            </a:pPr>
            <a:r>
              <a:rPr lang="en-US" dirty="0"/>
              <a:t>Controls step size</a:t>
            </a:r>
            <a:endParaRPr dirty="0"/>
          </a:p>
          <a:p>
            <a:pPr lvl="2">
              <a:defRPr/>
            </a:pPr>
            <a:r>
              <a:rPr lang="en-US" dirty="0"/>
              <a:t>Higher gives slower but better sampling</a:t>
            </a:r>
            <a:endParaRPr dirty="0"/>
          </a:p>
          <a:p>
            <a:pPr lvl="1">
              <a:defRPr/>
            </a:pPr>
            <a:r>
              <a:rPr lang="en-US" dirty="0"/>
              <a:t>Maximum tree depth</a:t>
            </a:r>
            <a:endParaRPr dirty="0"/>
          </a:p>
          <a:p>
            <a:pPr lvl="2">
              <a:defRPr/>
            </a:pPr>
            <a:r>
              <a:rPr lang="en-US" dirty="0"/>
              <a:t>Controls the number of steps</a:t>
            </a:r>
            <a:endParaRPr dirty="0"/>
          </a:p>
          <a:p>
            <a:pPr lvl="2">
              <a:defRPr/>
            </a:pPr>
            <a:r>
              <a:rPr lang="en-US" dirty="0"/>
              <a:t>Higher gives slower but better sampling</a:t>
            </a:r>
            <a:endParaRPr lang="he-IL" dirty="0"/>
          </a:p>
        </p:txBody>
      </p:sp>
      <p:sp>
        <p:nvSpPr>
          <p:cNvPr id="2" name="Rectangle: Rounded Corners 1">
            <a:hlinkClick r:id="rId3"/>
            <a:extLst>
              <a:ext uri="{FF2B5EF4-FFF2-40B4-BE49-F238E27FC236}">
                <a16:creationId xmlns:a16="http://schemas.microsoft.com/office/drawing/2014/main" id="{1B59FEAF-1F88-4A1A-D60D-3EC4344131B6}"/>
              </a:ext>
            </a:extLst>
          </p:cNvPr>
          <p:cNvSpPr/>
          <p:nvPr/>
        </p:nvSpPr>
        <p:spPr bwMode="auto">
          <a:xfrm>
            <a:off x="7885888" y="1863919"/>
            <a:ext cx="2402732" cy="7101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HMC with u turns</a:t>
            </a:r>
            <a:endParaRPr lang="en-IL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334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002753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8"/>
            <a:ext cx="10935277" cy="2852737"/>
          </a:xfrm>
        </p:spPr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4.7 Divergences: HMC diagnostics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1498022258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A diagnostic tool for failure of the HMC simulation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001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Divergences: failure of leapfrog integration</a:t>
            </a:r>
            <a:endParaRPr lang="he-IL"/>
          </a:p>
        </p:txBody>
      </p:sp>
      <p:sp>
        <p:nvSpPr>
          <p:cNvPr id="1662096781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662460"/>
            <a:ext cx="10515600" cy="23716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>
              <a:defRPr/>
            </a:pPr>
            <a:r>
              <a:rPr lang="en-US" sz="2000"/>
              <a:t>If probability is changing too quickly</a:t>
            </a:r>
            <a:endParaRPr sz="2000"/>
          </a:p>
          <a:p>
            <a:pPr lvl="1">
              <a:defRPr/>
            </a:pPr>
            <a:r>
              <a:rPr lang="en-US" sz="2000"/>
              <a:t>Noise will compound and satellite “energy” will change</a:t>
            </a:r>
            <a:endParaRPr sz="2000"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Depends on the step size and number of steps</a:t>
            </a:r>
            <a:endParaRPr sz="2000"/>
          </a:p>
          <a:p>
            <a:pPr>
              <a:defRPr/>
            </a:pPr>
            <a:r>
              <a:rPr lang="en-US" sz="2000"/>
              <a:t>Leads to change in ‘energy’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</p:txBody>
      </p:sp>
      <p:pic>
        <p:nvPicPr>
          <p:cNvPr id="131493738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14906" y="2736102"/>
            <a:ext cx="6175056" cy="38422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3504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Divergences mean sampling is unreliable</a:t>
            </a:r>
            <a:endParaRPr lang="he-IL"/>
          </a:p>
        </p:txBody>
      </p:sp>
      <p:sp>
        <p:nvSpPr>
          <p:cNvPr id="281399087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966736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/>
              <a:t>Famous quote:</a:t>
            </a:r>
            <a:endParaRPr/>
          </a:p>
          <a:p>
            <a:pPr lvl="1">
              <a:defRPr/>
            </a:pPr>
            <a:r>
              <a:rPr lang="en-US" b="0" i="0">
                <a:solidFill>
                  <a:srgbClr val="222222"/>
                </a:solidFill>
                <a:latin typeface="Arial"/>
              </a:rPr>
              <a:t>the rule of thumb is that divergences are nothing to worry about as long as you have fewer than about one of them.</a:t>
            </a:r>
            <a:endParaRPr lang="en-US"/>
          </a:p>
          <a:p>
            <a:pPr>
              <a:defRPr/>
            </a:pPr>
            <a:endParaRPr lang="he-IL"/>
          </a:p>
        </p:txBody>
      </p:sp>
      <p:pic>
        <p:nvPicPr>
          <p:cNvPr id="468616618" name="Picture 3"/>
          <p:cNvPicPr>
            <a:picLocks noChangeAspect="1"/>
          </p:cNvPicPr>
          <p:nvPr/>
        </p:nvPicPr>
        <p:blipFill rotWithShape="1">
          <a:blip r:embed="rId3"/>
          <a:srcRect r="44728"/>
          <a:stretch/>
        </p:blipFill>
        <p:spPr bwMode="auto">
          <a:xfrm>
            <a:off x="525369" y="3098904"/>
            <a:ext cx="9465230" cy="1069263"/>
          </a:xfrm>
          <a:prstGeom prst="rect">
            <a:avLst/>
          </a:prstGeom>
        </p:spPr>
      </p:pic>
      <p:pic>
        <p:nvPicPr>
          <p:cNvPr id="416579116" name="Ink 4"/>
          <p:cNvPicPr/>
          <p:nvPr/>
        </p:nvPicPr>
        <p:blipFill rotWithShape="1">
          <a:blip r:embed="rId4"/>
          <a:stretch/>
        </p:blipFill>
        <p:spPr bwMode="auto">
          <a:xfrm>
            <a:off x="496865" y="3429000"/>
            <a:ext cx="3528000" cy="286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138713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867521"/>
          </a:xfrm>
        </p:spPr>
        <p:txBody>
          <a:bodyPr/>
          <a:lstStyle/>
          <a:p>
            <a:pPr>
              <a:defRPr/>
            </a:pPr>
            <a:r>
              <a:rPr lang="en-US"/>
              <a:t>Trace plots show divergences</a:t>
            </a:r>
            <a:endParaRPr lang="he-IL"/>
          </a:p>
        </p:txBody>
      </p:sp>
      <p:sp>
        <p:nvSpPr>
          <p:cNvPr id="383927708" name="Content Placeholder 2"/>
          <p:cNvSpPr>
            <a:spLocks noGrp="1"/>
          </p:cNvSpPr>
          <p:nvPr>
            <p:ph idx="1"/>
          </p:nvPr>
        </p:nvSpPr>
        <p:spPr bwMode="auto">
          <a:xfrm>
            <a:off x="548714" y="5957794"/>
            <a:ext cx="10515600" cy="683885"/>
          </a:xfrm>
        </p:spPr>
        <p:txBody>
          <a:bodyPr/>
          <a:lstStyle/>
          <a:p>
            <a:pPr lvl="1">
              <a:defRPr/>
            </a:pPr>
            <a:r>
              <a:rPr lang="en-US" dirty="0"/>
              <a:t>This can help identify the problematic region in parameter space</a:t>
            </a:r>
            <a:endParaRPr lang="he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C41E3-0575-AAAF-ACEC-434CC809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14" y="1517476"/>
            <a:ext cx="10956587" cy="19115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EAD737-6C28-785D-A0EF-583C5E092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05" y="3532790"/>
            <a:ext cx="10956589" cy="1911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5083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4.8 PyTensor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1807495673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The machinery that translates models to math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48340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Where do gradients come from?</a:t>
            </a:r>
            <a:endParaRPr lang="he-IL"/>
          </a:p>
        </p:txBody>
      </p:sp>
      <p:sp>
        <p:nvSpPr>
          <p:cNvPr id="1569829690" name="Content Placeholder 3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4960088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en-US"/>
              <a:t>Start with a model and data</a:t>
            </a:r>
            <a:endParaRPr/>
          </a:p>
          <a:p>
            <a:pPr lvl="1">
              <a:defRPr/>
            </a:pPr>
            <a:r>
              <a:t>In PyMC</a:t>
            </a:r>
          </a:p>
          <a:p>
            <a:pPr>
              <a:defRPr/>
            </a:pPr>
            <a:r>
              <a:rPr lang="en-US"/>
              <a:t>Call “sample”</a:t>
            </a:r>
            <a:endParaRPr/>
          </a:p>
          <a:p>
            <a:pPr>
              <a:defRPr/>
            </a:pPr>
            <a:r>
              <a:rPr lang="en-US"/>
              <a:t>Get samples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The algorithm uses:</a:t>
            </a:r>
            <a:endParaRPr/>
          </a:p>
          <a:p>
            <a:pPr lvl="1">
              <a:defRPr/>
            </a:pPr>
            <a:r>
              <a:rPr lang="en-US"/>
              <a:t>Probability density</a:t>
            </a:r>
            <a:endParaRPr/>
          </a:p>
          <a:p>
            <a:pPr lvl="1">
              <a:defRPr/>
            </a:pPr>
            <a:r>
              <a:rPr lang="en-US"/>
              <a:t>Gradients</a:t>
            </a:r>
            <a:endParaRPr/>
          </a:p>
          <a:p>
            <a:pPr lvl="0">
              <a:defRPr/>
            </a:pPr>
            <a:r>
              <a:rPr lang="en-US"/>
              <a:t>Where do they come from?</a:t>
            </a:r>
            <a:endParaRPr lang="he-IL"/>
          </a:p>
        </p:txBody>
      </p:sp>
      <p:pic>
        <p:nvPicPr>
          <p:cNvPr id="1527655726" name="Picture 2" descr="New Page 1 [socsci2.ucsd.edu]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783572" y="1456771"/>
            <a:ext cx="5159782" cy="515978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10760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PyTensor is PyMC’s computational back end</a:t>
            </a:r>
            <a:endParaRPr/>
          </a:p>
        </p:txBody>
      </p:sp>
      <p:sp>
        <p:nvSpPr>
          <p:cNvPr id="2073688317" name="Content Placeholder 1"/>
          <p:cNvSpPr>
            <a:spLocks noGrp="1"/>
          </p:cNvSpPr>
          <p:nvPr>
            <p:ph idx="1"/>
          </p:nvPr>
        </p:nvSpPr>
        <p:spPr bwMode="auto">
          <a:xfrm>
            <a:off x="838200" y="1451504"/>
            <a:ext cx="10515600" cy="951442"/>
          </a:xfrm>
        </p:spPr>
        <p:txBody>
          <a:bodyPr/>
          <a:lstStyle/>
          <a:p>
            <a:pPr>
              <a:defRPr/>
            </a:pPr>
            <a:r>
              <a:rPr lang="en-US"/>
              <a:t>HMC needs the log posterior density and its gradients</a:t>
            </a:r>
            <a:endParaRPr/>
          </a:p>
          <a:p>
            <a:pPr lvl="1">
              <a:defRPr/>
            </a:pPr>
            <a:r>
              <a:rPr lang="en-US"/>
              <a:t>PyTensor computes them</a:t>
            </a:r>
            <a:endParaRPr/>
          </a:p>
        </p:txBody>
      </p:sp>
      <p:pic>
        <p:nvPicPr>
          <p:cNvPr id="1212035595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928532" y="2473663"/>
            <a:ext cx="7291855" cy="40964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852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Gradients tell PyMC how probability changes</a:t>
            </a:r>
            <a:endParaRPr/>
          </a:p>
        </p:txBody>
      </p:sp>
      <p:pic>
        <p:nvPicPr>
          <p:cNvPr id="1523323081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0027" y="2287057"/>
            <a:ext cx="5355280" cy="3631142"/>
          </a:xfrm>
          <a:prstGeom prst="rect">
            <a:avLst/>
          </a:prstGeom>
        </p:spPr>
      </p:pic>
      <p:graphicFrame>
        <p:nvGraphicFramePr>
          <p:cNvPr id="983200854" name="Object 5"/>
          <p:cNvGraphicFramePr>
            <a:graphicFrameLocks noChangeAspect="1"/>
          </p:cNvGraphicFramePr>
          <p:nvPr/>
        </p:nvGraphicFramePr>
        <p:xfrm>
          <a:off x="7230533" y="2433331"/>
          <a:ext cx="3850217" cy="3484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1739265" imgH="1574165" progId="Equation.DSMT4">
                  <p:embed/>
                </p:oleObj>
              </mc:Choice>
              <mc:Fallback>
                <p:oleObj name="oleObj" r:id="rId4" imgW="1739265" imgH="1574165" progId="Equation.DSMT4">
                  <p:embed/>
                  <p:pic>
                    <p:nvPicPr>
                      <p:cNvPr id="983200854" name="Object 5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7230533" y="2433331"/>
                        <a:ext cx="3850217" cy="3484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054984" name="Title 1"/>
          <p:cNvSpPr>
            <a:spLocks noGrp="1"/>
          </p:cNvSpPr>
          <p:nvPr>
            <p:ph type="title"/>
          </p:nvPr>
        </p:nvSpPr>
        <p:spPr bwMode="auto">
          <a:xfrm>
            <a:off x="175161" y="365124"/>
            <a:ext cx="11849919" cy="1325562"/>
          </a:xfrm>
        </p:spPr>
        <p:txBody>
          <a:bodyPr/>
          <a:lstStyle/>
          <a:p>
            <a:pPr>
              <a:defRPr/>
            </a:pPr>
            <a:r>
              <a:rPr lang="en-US" sz="3600"/>
              <a:t>PyMC symbolic variables become probability calculations</a:t>
            </a:r>
            <a:endParaRPr sz="3600"/>
          </a:p>
        </p:txBody>
      </p:sp>
      <p:sp>
        <p:nvSpPr>
          <p:cNvPr id="662675910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105473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65000" lnSpcReduction="7000"/>
          </a:bodyPr>
          <a:lstStyle/>
          <a:p>
            <a:pPr>
              <a:defRPr/>
            </a:pPr>
            <a:r>
              <a:rPr lang="en-US" sz="2400">
                <a:latin typeface="Courier New"/>
                <a:cs typeface="Courier New"/>
              </a:rPr>
              <a:t>PyMC basic_RVs </a:t>
            </a:r>
            <a:r>
              <a:rPr lang="en-US"/>
              <a:t>shows the random variables in our model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PyTensor dprint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show the graph of relationships</a:t>
            </a:r>
            <a:endParaRPr sz="2800"/>
          </a:p>
          <a:p>
            <a:pPr>
              <a:defRPr/>
            </a:pPr>
            <a:endParaRPr/>
          </a:p>
        </p:txBody>
      </p:sp>
      <p:pic>
        <p:nvPicPr>
          <p:cNvPr id="1743813880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5161" y="3053648"/>
            <a:ext cx="4403688" cy="896442"/>
          </a:xfrm>
          <a:prstGeom prst="rect">
            <a:avLst/>
          </a:prstGeom>
        </p:spPr>
      </p:pic>
      <p:pic>
        <p:nvPicPr>
          <p:cNvPr id="177185617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86565" y="3185289"/>
            <a:ext cx="4776088" cy="2827136"/>
          </a:xfrm>
          <a:prstGeom prst="rect">
            <a:avLst/>
          </a:prstGeom>
        </p:spPr>
      </p:pic>
      <p:sp>
        <p:nvSpPr>
          <p:cNvPr id="1674464460" name="TextBox 5"/>
          <p:cNvSpPr txBox="1"/>
          <p:nvPr/>
        </p:nvSpPr>
        <p:spPr bwMode="auto">
          <a:xfrm>
            <a:off x="1226238" y="4998966"/>
            <a:ext cx="567943" cy="396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FF0000"/>
                </a:solidFill>
              </a:rPr>
              <a:t>size</a:t>
            </a:r>
            <a:endParaRPr sz="2000">
              <a:solidFill>
                <a:srgbClr val="FF0000"/>
              </a:solidFill>
            </a:endParaRPr>
          </a:p>
        </p:txBody>
      </p:sp>
      <p:cxnSp>
        <p:nvCxnSpPr>
          <p:cNvPr id="299243612" name="Straight Arrow Connector 7"/>
          <p:cNvCxnSpPr>
            <a:cxnSpLocks/>
          </p:cNvCxnSpPr>
          <p:nvPr/>
        </p:nvCxnSpPr>
        <p:spPr bwMode="auto">
          <a:xfrm flipV="1">
            <a:off x="1794663" y="4351509"/>
            <a:ext cx="3271857" cy="847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7479562" name="Straight Arrow Connector 8"/>
          <p:cNvCxnSpPr>
            <a:cxnSpLocks/>
          </p:cNvCxnSpPr>
          <p:nvPr/>
        </p:nvCxnSpPr>
        <p:spPr bwMode="auto">
          <a:xfrm flipV="1">
            <a:off x="1794663" y="5061059"/>
            <a:ext cx="3627082" cy="1379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46102725" name="TextBox 11"/>
          <p:cNvSpPr txBox="1"/>
          <p:nvPr/>
        </p:nvSpPr>
        <p:spPr bwMode="auto">
          <a:xfrm>
            <a:off x="905811" y="4598857"/>
            <a:ext cx="643474" cy="396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00B0F0"/>
                </a:solidFill>
              </a:rPr>
              <a:t>type</a:t>
            </a:r>
            <a:endParaRPr sz="2000">
              <a:solidFill>
                <a:srgbClr val="00B0F0"/>
              </a:solidFill>
            </a:endParaRPr>
          </a:p>
        </p:txBody>
      </p:sp>
      <p:cxnSp>
        <p:nvCxnSpPr>
          <p:cNvPr id="1372750193" name="Straight Arrow Connector 12"/>
          <p:cNvCxnSpPr>
            <a:cxnSpLocks/>
          </p:cNvCxnSpPr>
          <p:nvPr/>
        </p:nvCxnSpPr>
        <p:spPr bwMode="auto">
          <a:xfrm flipV="1">
            <a:off x="1555348" y="4178291"/>
            <a:ext cx="3511172" cy="620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106234" name="Straight Arrow Connector 13"/>
          <p:cNvCxnSpPr>
            <a:cxnSpLocks/>
          </p:cNvCxnSpPr>
          <p:nvPr/>
        </p:nvCxnSpPr>
        <p:spPr bwMode="auto">
          <a:xfrm>
            <a:off x="1555348" y="4798912"/>
            <a:ext cx="3866397" cy="8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4843851" name="TextBox 24"/>
          <p:cNvSpPr txBox="1"/>
          <p:nvPr/>
        </p:nvSpPr>
        <p:spPr bwMode="auto">
          <a:xfrm>
            <a:off x="721167" y="5399077"/>
            <a:ext cx="1377565" cy="396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00B050"/>
                </a:solidFill>
              </a:rPr>
              <a:t>parameters</a:t>
            </a:r>
            <a:endParaRPr sz="2000">
              <a:solidFill>
                <a:srgbClr val="00B050"/>
              </a:solidFill>
            </a:endParaRPr>
          </a:p>
        </p:txBody>
      </p:sp>
      <p:cxnSp>
        <p:nvCxnSpPr>
          <p:cNvPr id="1843065216" name="Straight Arrow Connector 25"/>
          <p:cNvCxnSpPr>
            <a:cxnSpLocks/>
            <a:stCxn id="1974843851" idx="3"/>
          </p:cNvCxnSpPr>
          <p:nvPr/>
        </p:nvCxnSpPr>
        <p:spPr bwMode="auto">
          <a:xfrm>
            <a:off x="2098732" y="5597377"/>
            <a:ext cx="3323013" cy="175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86056667" name="Straight Arrow Connector 26"/>
          <p:cNvCxnSpPr>
            <a:cxnSpLocks/>
          </p:cNvCxnSpPr>
          <p:nvPr/>
        </p:nvCxnSpPr>
        <p:spPr bwMode="auto">
          <a:xfrm flipV="1">
            <a:off x="2102379" y="5248021"/>
            <a:ext cx="3319366" cy="3511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06897077" name="Straight Arrow Connector 27"/>
          <p:cNvCxnSpPr>
            <a:cxnSpLocks/>
          </p:cNvCxnSpPr>
          <p:nvPr/>
        </p:nvCxnSpPr>
        <p:spPr bwMode="auto">
          <a:xfrm flipV="1">
            <a:off x="2102379" y="5437886"/>
            <a:ext cx="3319366" cy="16124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25">
            <a:extLst>
              <a:ext uri="{FF2B5EF4-FFF2-40B4-BE49-F238E27FC236}">
                <a16:creationId xmlns:a16="http://schemas.microsoft.com/office/drawing/2014/main" id="{64F1A2C0-3B12-CF76-4933-A0FA28F035C8}"/>
              </a:ext>
            </a:extLst>
          </p:cNvPr>
          <p:cNvCxnSpPr>
            <a:cxnSpLocks/>
            <a:stCxn id="1974843851" idx="3"/>
          </p:cNvCxnSpPr>
          <p:nvPr/>
        </p:nvCxnSpPr>
        <p:spPr bwMode="auto">
          <a:xfrm>
            <a:off x="2098732" y="5597377"/>
            <a:ext cx="3331217" cy="1528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024075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038020"/>
          </a:xfrm>
        </p:spPr>
        <p:txBody>
          <a:bodyPr/>
          <a:lstStyle/>
          <a:p>
            <a:pPr>
              <a:defRPr/>
            </a:pPr>
            <a:r>
              <a:rPr lang="en-US"/>
              <a:t>PyTensor handles cascaded</a:t>
            </a:r>
            <a:r>
              <a:t> operations</a:t>
            </a:r>
          </a:p>
        </p:txBody>
      </p:sp>
      <p:sp>
        <p:nvSpPr>
          <p:cNvPr id="472935066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731308"/>
          </a:xfrm>
        </p:spPr>
        <p:txBody>
          <a:bodyPr/>
          <a:lstStyle/>
          <a:p>
            <a:pPr>
              <a:defRPr/>
            </a:pPr>
            <a:r>
              <a:rPr lang="en-US"/>
              <a:t>Must draw theta in order to draw y</a:t>
            </a:r>
            <a:endParaRPr/>
          </a:p>
        </p:txBody>
      </p:sp>
      <p:pic>
        <p:nvPicPr>
          <p:cNvPr id="1457343887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47"/>
          <a:stretch>
            <a:fillRect/>
          </a:stretch>
        </p:blipFill>
        <p:spPr bwMode="auto">
          <a:xfrm>
            <a:off x="1593638" y="2675116"/>
            <a:ext cx="7138932" cy="3226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19764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710278"/>
          </a:xfrm>
        </p:spPr>
        <p:txBody>
          <a:bodyPr/>
          <a:lstStyle/>
          <a:p>
            <a:pPr>
              <a:defRPr/>
            </a:pPr>
            <a:r>
              <a:rPr lang="en-US"/>
              <a:t>The log joint probability density function</a:t>
            </a:r>
            <a:endParaRPr/>
          </a:p>
        </p:txBody>
      </p:sp>
      <p:sp>
        <p:nvSpPr>
          <p:cNvPr id="664473963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075403"/>
            <a:ext cx="10515600" cy="8379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 err="1"/>
              <a:t>PyMC</a:t>
            </a:r>
            <a:r>
              <a:rPr lang="en-US" sz="2000" dirty="0"/>
              <a:t> uses </a:t>
            </a:r>
            <a:r>
              <a:rPr lang="en-US" sz="2000" dirty="0" err="1"/>
              <a:t>PyTensor</a:t>
            </a:r>
            <a:r>
              <a:rPr lang="en-US" sz="2000" dirty="0"/>
              <a:t> to create a function that gives the probability of parameters and data</a:t>
            </a:r>
            <a:endParaRPr sz="2000" dirty="0"/>
          </a:p>
          <a:p>
            <a:pPr>
              <a:defRPr/>
            </a:pPr>
            <a:r>
              <a:rPr lang="en-US" sz="2000" dirty="0"/>
              <a:t>And its gradient</a:t>
            </a:r>
            <a:endParaRPr sz="2000" dirty="0"/>
          </a:p>
        </p:txBody>
      </p:sp>
      <p:pic>
        <p:nvPicPr>
          <p:cNvPr id="358313105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88526" y="5434655"/>
            <a:ext cx="8801307" cy="1189078"/>
          </a:xfrm>
          <a:prstGeom prst="rect">
            <a:avLst/>
          </a:prstGeom>
        </p:spPr>
      </p:pic>
      <p:sp>
        <p:nvSpPr>
          <p:cNvPr id="241094321" name="TextBox 6"/>
          <p:cNvSpPr txBox="1"/>
          <p:nvPr/>
        </p:nvSpPr>
        <p:spPr bwMode="auto">
          <a:xfrm>
            <a:off x="9473047" y="2479307"/>
            <a:ext cx="2316786" cy="118907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The PyMC model uses a transformed value of theta. Explained in future lecture.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086D2-E0F1-A34A-2F3A-33DF9880823E}"/>
              </a:ext>
            </a:extLst>
          </p:cNvPr>
          <p:cNvSpPr txBox="1"/>
          <p:nvPr/>
        </p:nvSpPr>
        <p:spPr>
          <a:xfrm>
            <a:off x="976744" y="1983224"/>
            <a:ext cx="76661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sample_theta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theta_nonbeta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theta_transformed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special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logit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sample_theta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logp_func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nonconjugate_binomial_model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compile_logp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dlogp_func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nonconjugate_binomial_model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compile_dlogp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joint_logp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logp_func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theta_interval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__"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theta_transformed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gradient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dlogp_func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theta_interval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__"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theta_transformed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b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"Sampled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theta: 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sample_theta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:.6f}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"Observed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y:         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bernoulli_data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"Joint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log probability: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joint_logp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:.6f}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"Gradient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            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gradient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BB504-CD6D-A665-C5B3-4309CB59316B}"/>
              </a:ext>
            </a:extLst>
          </p:cNvPr>
          <p:cNvSpPr/>
          <p:nvPr/>
        </p:nvSpPr>
        <p:spPr>
          <a:xfrm>
            <a:off x="838198" y="2604655"/>
            <a:ext cx="5941293" cy="145934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5411D1-9942-C7CC-3778-39189C63619E}"/>
              </a:ext>
            </a:extLst>
          </p:cNvPr>
          <p:cNvSpPr/>
          <p:nvPr/>
        </p:nvSpPr>
        <p:spPr bwMode="auto">
          <a:xfrm>
            <a:off x="838198" y="1913343"/>
            <a:ext cx="4463475" cy="69131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9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094321" grpId="0" animBg="1"/>
      <p:bldP spid="6" grpId="0" animBg="1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4244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Source Sans Pro"/>
                <a:ea typeface="Source Sans Pro"/>
              </a:rPr>
              <a:t>4.9 Workflow validation</a:t>
            </a:r>
            <a:endParaRPr>
              <a:latin typeface="Source Sans Pro"/>
              <a:ea typeface="Source Sans Pro"/>
            </a:endParaRPr>
          </a:p>
        </p:txBody>
      </p:sp>
      <p:sp>
        <p:nvSpPr>
          <p:cNvPr id="1134250621" name="Text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Prior predictive, diagnostics, and posterior predictive tests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051267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102918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/>
            </a:br>
            <a:r>
              <a:rPr lang="en-US"/>
              <a:t>Bayesian workflow is iterative and self-correcting</a:t>
            </a:r>
            <a:endParaRPr/>
          </a:p>
        </p:txBody>
      </p:sp>
      <p:sp>
        <p:nvSpPr>
          <p:cNvPr id="513459730" name="Oval 3"/>
          <p:cNvSpPr/>
          <p:nvPr/>
        </p:nvSpPr>
        <p:spPr bwMode="auto">
          <a:xfrm>
            <a:off x="38735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738399505" name="Oval 4"/>
          <p:cNvSpPr/>
          <p:nvPr/>
        </p:nvSpPr>
        <p:spPr bwMode="auto">
          <a:xfrm>
            <a:off x="278130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989991763" name="Straight Arrow Connector 6"/>
          <p:cNvCxnSpPr>
            <a:stCxn id="513459730" idx="6"/>
            <a:endCxn id="738399505" idx="2"/>
          </p:cNvCxnSpPr>
          <p:nvPr/>
        </p:nvCxnSpPr>
        <p:spPr bwMode="auto">
          <a:xfrm>
            <a:off x="1720850" y="3946525"/>
            <a:ext cx="106045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923116665" name="Oval 7"/>
          <p:cNvSpPr/>
          <p:nvPr/>
        </p:nvSpPr>
        <p:spPr bwMode="auto">
          <a:xfrm>
            <a:off x="2606675" y="4835126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Prior predictive sampling</a:t>
            </a:r>
            <a:endParaRPr sz="1600"/>
          </a:p>
        </p:txBody>
      </p:sp>
      <p:cxnSp>
        <p:nvCxnSpPr>
          <p:cNvPr id="1619915159" name="Straight Arrow Connector 8"/>
          <p:cNvCxnSpPr>
            <a:stCxn id="738399505" idx="4"/>
            <a:endCxn id="1923116665" idx="0"/>
          </p:cNvCxnSpPr>
          <p:nvPr/>
        </p:nvCxnSpPr>
        <p:spPr bwMode="auto">
          <a:xfrm>
            <a:off x="3448050" y="4235450"/>
            <a:ext cx="0" cy="59967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694028981" name="Connector: Elbow 12"/>
          <p:cNvCxnSpPr>
            <a:stCxn id="1923116665" idx="2"/>
            <a:endCxn id="738399505" idx="3"/>
          </p:cNvCxnSpPr>
          <p:nvPr/>
        </p:nvCxnSpPr>
        <p:spPr bwMode="auto">
          <a:xfrm rot="10800000" flipH="1">
            <a:off x="2606675" y="4150827"/>
            <a:ext cx="369912" cy="1154201"/>
          </a:xfrm>
          <a:prstGeom prst="bentConnector4">
            <a:avLst>
              <a:gd name="adj1" fmla="val -61798"/>
              <a:gd name="adj2" fmla="val 6669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97388997" name="Oval 13"/>
          <p:cNvSpPr/>
          <p:nvPr/>
        </p:nvSpPr>
        <p:spPr bwMode="auto">
          <a:xfrm>
            <a:off x="5599112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605985088" name="Straight Arrow Connector 14"/>
          <p:cNvCxnSpPr>
            <a:stCxn id="738399505" idx="6"/>
            <a:endCxn id="697388997" idx="2"/>
          </p:cNvCxnSpPr>
          <p:nvPr/>
        </p:nvCxnSpPr>
        <p:spPr bwMode="auto">
          <a:xfrm>
            <a:off x="4114800" y="3946525"/>
            <a:ext cx="148431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899785182" name="Oval 32"/>
          <p:cNvSpPr/>
          <p:nvPr/>
        </p:nvSpPr>
        <p:spPr bwMode="auto">
          <a:xfrm>
            <a:off x="5424487" y="2204244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Diagnostics</a:t>
            </a:r>
            <a:endParaRPr sz="1600"/>
          </a:p>
        </p:txBody>
      </p:sp>
      <p:cxnSp>
        <p:nvCxnSpPr>
          <p:cNvPr id="14668096" name="Straight Arrow Connector 33"/>
          <p:cNvCxnSpPr>
            <a:stCxn id="697388997" idx="0"/>
            <a:endCxn id="899785182" idx="4"/>
          </p:cNvCxnSpPr>
          <p:nvPr/>
        </p:nvCxnSpPr>
        <p:spPr bwMode="auto">
          <a:xfrm flipV="1">
            <a:off x="6265862" y="3144044"/>
            <a:ext cx="0" cy="51355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004842565" name="Connector: Elbow 36"/>
          <p:cNvCxnSpPr>
            <a:stCxn id="899785182" idx="2"/>
            <a:endCxn id="697388997" idx="1"/>
          </p:cNvCxnSpPr>
          <p:nvPr/>
        </p:nvCxnSpPr>
        <p:spPr bwMode="auto">
          <a:xfrm rot="10800000" flipH="1" flipV="1">
            <a:off x="5424487" y="2674144"/>
            <a:ext cx="369912" cy="1068080"/>
          </a:xfrm>
          <a:prstGeom prst="bentConnector4">
            <a:avLst>
              <a:gd name="adj1" fmla="val -61798"/>
              <a:gd name="adj2" fmla="val 68036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62888236" name="Connector: Elbow 39"/>
          <p:cNvCxnSpPr>
            <a:stCxn id="899785182" idx="2"/>
            <a:endCxn id="738399505" idx="7"/>
          </p:cNvCxnSpPr>
          <p:nvPr/>
        </p:nvCxnSpPr>
        <p:spPr bwMode="auto">
          <a:xfrm rot="10800000" flipV="1">
            <a:off x="3919512" y="2674144"/>
            <a:ext cx="1504974" cy="106808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96078499" name="Oval 60"/>
          <p:cNvSpPr/>
          <p:nvPr/>
        </p:nvSpPr>
        <p:spPr bwMode="auto">
          <a:xfrm>
            <a:off x="5424487" y="4682727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Posterior predictive sampling</a:t>
            </a:r>
            <a:endParaRPr sz="1600"/>
          </a:p>
        </p:txBody>
      </p:sp>
      <p:cxnSp>
        <p:nvCxnSpPr>
          <p:cNvPr id="578411852" name="Straight Arrow Connector 63"/>
          <p:cNvCxnSpPr>
            <a:stCxn id="697388997" idx="4"/>
            <a:endCxn id="996078499" idx="0"/>
          </p:cNvCxnSpPr>
          <p:nvPr/>
        </p:nvCxnSpPr>
        <p:spPr bwMode="auto">
          <a:xfrm>
            <a:off x="6265862" y="4235450"/>
            <a:ext cx="0" cy="44727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921527034" name="Connector: Elbow 66"/>
          <p:cNvCxnSpPr>
            <a:stCxn id="996078499" idx="1"/>
            <a:endCxn id="738399505" idx="5"/>
          </p:cNvCxnSpPr>
          <p:nvPr/>
        </p:nvCxnSpPr>
        <p:spPr bwMode="auto">
          <a:xfrm rot="16199998" flipV="1">
            <a:off x="4460451" y="3609888"/>
            <a:ext cx="669532" cy="175140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88420335" name="Oval 70"/>
          <p:cNvSpPr/>
          <p:nvPr/>
        </p:nvSpPr>
        <p:spPr bwMode="auto">
          <a:xfrm>
            <a:off x="782161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2042657976" name="Straight Arrow Connector 71"/>
          <p:cNvCxnSpPr>
            <a:stCxn id="697388997" idx="6"/>
            <a:endCxn id="2088420335" idx="2"/>
          </p:cNvCxnSpPr>
          <p:nvPr/>
        </p:nvCxnSpPr>
        <p:spPr bwMode="auto">
          <a:xfrm>
            <a:off x="6932612" y="3946525"/>
            <a:ext cx="88900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846945630" name="Oval 74"/>
          <p:cNvSpPr/>
          <p:nvPr/>
        </p:nvSpPr>
        <p:spPr bwMode="auto">
          <a:xfrm>
            <a:off x="1003776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1182916859" name="Straight Arrow Connector 75"/>
          <p:cNvCxnSpPr>
            <a:stCxn id="2088420335" idx="6"/>
            <a:endCxn id="846945630" idx="2"/>
          </p:cNvCxnSpPr>
          <p:nvPr/>
        </p:nvCxnSpPr>
        <p:spPr bwMode="auto">
          <a:xfrm>
            <a:off x="9359900" y="3946525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417276969" name="Straight Arrow Connector 2"/>
          <p:cNvCxnSpPr>
            <a:stCxn id="2088420335" idx="0"/>
            <a:endCxn id="738399505" idx="0"/>
          </p:cNvCxnSpPr>
          <p:nvPr/>
        </p:nvCxnSpPr>
        <p:spPr bwMode="auto">
          <a:xfrm rot="16199998" flipV="1">
            <a:off x="6019403" y="1086247"/>
            <a:ext cx="12700" cy="5142706"/>
          </a:xfrm>
          <a:prstGeom prst="bentConnector3">
            <a:avLst>
              <a:gd name="adj1" fmla="val 14018181"/>
            </a:avLst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91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11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02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78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84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88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41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07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5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27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3116665" grpId="0" animBg="1"/>
      <p:bldP spid="899785182" grpId="0" animBg="1"/>
      <p:bldP spid="99607849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2538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Prior predictive checks test model coherence</a:t>
            </a:r>
            <a:endParaRPr/>
          </a:p>
        </p:txBody>
      </p:sp>
      <p:sp>
        <p:nvSpPr>
          <p:cNvPr id="1929950396" name="Oval 3"/>
          <p:cNvSpPr/>
          <p:nvPr/>
        </p:nvSpPr>
        <p:spPr bwMode="auto">
          <a:xfrm>
            <a:off x="38735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189324225" name="Oval 4"/>
          <p:cNvSpPr/>
          <p:nvPr/>
        </p:nvSpPr>
        <p:spPr bwMode="auto">
          <a:xfrm>
            <a:off x="278130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875951090" name="Straight Arrow Connector 6"/>
          <p:cNvCxnSpPr>
            <a:stCxn id="1929950396" idx="6"/>
            <a:endCxn id="189324225" idx="2"/>
          </p:cNvCxnSpPr>
          <p:nvPr/>
        </p:nvCxnSpPr>
        <p:spPr bwMode="auto">
          <a:xfrm>
            <a:off x="1720850" y="3946525"/>
            <a:ext cx="106045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30977869" name="Oval 7"/>
          <p:cNvSpPr/>
          <p:nvPr/>
        </p:nvSpPr>
        <p:spPr bwMode="auto">
          <a:xfrm>
            <a:off x="2606675" y="4835126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Prior predictive sampling</a:t>
            </a:r>
            <a:endParaRPr sz="1600"/>
          </a:p>
        </p:txBody>
      </p:sp>
      <p:cxnSp>
        <p:nvCxnSpPr>
          <p:cNvPr id="833516698" name="Straight Arrow Connector 8"/>
          <p:cNvCxnSpPr>
            <a:stCxn id="189324225" idx="4"/>
            <a:endCxn id="130977869" idx="0"/>
          </p:cNvCxnSpPr>
          <p:nvPr/>
        </p:nvCxnSpPr>
        <p:spPr bwMode="auto">
          <a:xfrm>
            <a:off x="3448050" y="4235450"/>
            <a:ext cx="0" cy="59967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637353207" name="Connector: Elbow 12"/>
          <p:cNvCxnSpPr>
            <a:stCxn id="130977869" idx="2"/>
            <a:endCxn id="189324225" idx="3"/>
          </p:cNvCxnSpPr>
          <p:nvPr/>
        </p:nvCxnSpPr>
        <p:spPr bwMode="auto">
          <a:xfrm rot="10800000" flipH="1">
            <a:off x="2606675" y="4150827"/>
            <a:ext cx="369912" cy="1154201"/>
          </a:xfrm>
          <a:prstGeom prst="bentConnector4">
            <a:avLst>
              <a:gd name="adj1" fmla="val -61798"/>
              <a:gd name="adj2" fmla="val 6669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59315286" name="Oval 13"/>
          <p:cNvSpPr/>
          <p:nvPr/>
        </p:nvSpPr>
        <p:spPr bwMode="auto">
          <a:xfrm>
            <a:off x="5599112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1357283641" name="Straight Arrow Connector 14"/>
          <p:cNvCxnSpPr>
            <a:stCxn id="189324225" idx="6"/>
            <a:endCxn id="1159315286" idx="2"/>
          </p:cNvCxnSpPr>
          <p:nvPr/>
        </p:nvCxnSpPr>
        <p:spPr bwMode="auto">
          <a:xfrm>
            <a:off x="4114800" y="3946525"/>
            <a:ext cx="148431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871093928" name="Oval 70"/>
          <p:cNvSpPr/>
          <p:nvPr/>
        </p:nvSpPr>
        <p:spPr bwMode="auto">
          <a:xfrm>
            <a:off x="782161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999034497" name="Straight Arrow Connector 71"/>
          <p:cNvCxnSpPr>
            <a:stCxn id="1159315286" idx="6"/>
            <a:endCxn id="1871093928" idx="2"/>
          </p:cNvCxnSpPr>
          <p:nvPr/>
        </p:nvCxnSpPr>
        <p:spPr bwMode="auto">
          <a:xfrm>
            <a:off x="6932612" y="3946525"/>
            <a:ext cx="88900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445650157" name="Oval 74"/>
          <p:cNvSpPr/>
          <p:nvPr/>
        </p:nvSpPr>
        <p:spPr bwMode="auto">
          <a:xfrm>
            <a:off x="1003776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309301002" name="Straight Arrow Connector 75"/>
          <p:cNvCxnSpPr>
            <a:stCxn id="1871093928" idx="6"/>
            <a:endCxn id="445650157" idx="2"/>
          </p:cNvCxnSpPr>
          <p:nvPr/>
        </p:nvCxnSpPr>
        <p:spPr bwMode="auto">
          <a:xfrm>
            <a:off x="9359900" y="3946525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15554" name="Title 1"/>
          <p:cNvSpPr>
            <a:spLocks noGrp="1"/>
          </p:cNvSpPr>
          <p:nvPr>
            <p:ph type="title"/>
          </p:nvPr>
        </p:nvSpPr>
        <p:spPr bwMode="auto">
          <a:xfrm>
            <a:off x="677333" y="389911"/>
            <a:ext cx="11040533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Predictive sampling selects parameters and data together</a:t>
            </a:r>
            <a:endParaRPr lang="he-IL" sz="3600"/>
          </a:p>
        </p:txBody>
      </p:sp>
      <p:sp>
        <p:nvSpPr>
          <p:cNvPr id="251460457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2866877"/>
          </a:xfrm>
        </p:spPr>
        <p:txBody>
          <a:bodyPr/>
          <a:lstStyle/>
          <a:p>
            <a:pPr>
              <a:defRPr/>
            </a:pPr>
            <a:r>
              <a:rPr lang="en-US"/>
              <a:t>Given a model and priors</a:t>
            </a:r>
            <a:endParaRPr/>
          </a:p>
          <a:p>
            <a:pPr>
              <a:defRPr/>
            </a:pPr>
            <a:r>
              <a:rPr lang="en-US"/>
              <a:t>Repeat:</a:t>
            </a:r>
            <a:endParaRPr/>
          </a:p>
          <a:p>
            <a:pPr lvl="1">
              <a:defRPr/>
            </a:pPr>
            <a:r>
              <a:rPr lang="en-US"/>
              <a:t>Select parameters from the priors</a:t>
            </a:r>
            <a:endParaRPr/>
          </a:p>
          <a:p>
            <a:pPr lvl="1">
              <a:defRPr/>
            </a:pPr>
            <a:r>
              <a:rPr lang="en-US"/>
              <a:t>Pick data from the model given the parameters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A sanity check for model and priors</a:t>
            </a:r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0A2C2-2849-A8ED-569B-83B25CF7D5B6}"/>
              </a:ext>
            </a:extLst>
          </p:cNvPr>
          <p:cNvSpPr txBox="1"/>
          <p:nvPr/>
        </p:nvSpPr>
        <p:spPr>
          <a:xfrm>
            <a:off x="677333" y="5585980"/>
            <a:ext cx="104493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nonconjugate_binomial_model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idata_binomial_prior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sample_prior_predictive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random_seed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964183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Prior predictive: what data is possible under the model?</a:t>
            </a:r>
            <a:endParaRPr lang="he-IL" sz="3600"/>
          </a:p>
        </p:txBody>
      </p:sp>
      <p:sp>
        <p:nvSpPr>
          <p:cNvPr id="1899717745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441577"/>
            <a:ext cx="10515600" cy="115149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Choose a set of parameters from the prior</a:t>
            </a:r>
            <a:endParaRPr dirty="0"/>
          </a:p>
          <a:p>
            <a:pPr>
              <a:defRPr/>
            </a:pPr>
            <a:r>
              <a:rPr lang="en-US" dirty="0"/>
              <a:t>Simulate data under these parameters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05E00B-239A-FAFE-4AFC-FA9C16A5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64" y="3143608"/>
            <a:ext cx="9110472" cy="3250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02757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200"/>
              <a:t>Inference data separates data, prior, and prior predictive</a:t>
            </a:r>
            <a:endParaRPr lang="he-IL" sz="3200"/>
          </a:p>
        </p:txBody>
      </p:sp>
      <p:pic>
        <p:nvPicPr>
          <p:cNvPr id="750195532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4301" y="1885646"/>
            <a:ext cx="7809110" cy="3086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A05FED-C3B3-FCB5-3D98-66A3CC40DA56}"/>
                  </a:ext>
                </a:extLst>
              </p:cNvPr>
              <p:cNvSpPr txBox="1"/>
              <p:nvPr/>
            </p:nvSpPr>
            <p:spPr>
              <a:xfrm>
                <a:off x="2295144" y="3941064"/>
                <a:ext cx="1743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𝑒𝑡𝑎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𝑎𝑖𝑛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𝑑𝑟𝑎𝑤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A05FED-C3B3-FCB5-3D98-66A3CC40D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44" y="3941064"/>
                <a:ext cx="1743747" cy="307777"/>
              </a:xfrm>
              <a:prstGeom prst="rect">
                <a:avLst/>
              </a:prstGeom>
              <a:blipFill>
                <a:blip r:embed="rId4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450E93-64E3-9870-ACE6-03F6C58F1851}"/>
                  </a:ext>
                </a:extLst>
              </p:cNvPr>
              <p:cNvSpPr txBox="1"/>
              <p:nvPr/>
            </p:nvSpPr>
            <p:spPr bwMode="auto">
              <a:xfrm>
                <a:off x="2295144" y="4245722"/>
                <a:ext cx="21468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𝑎𝑖𝑛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𝑑𝑟𝑎𝑤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⁡_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450E93-64E3-9870-ACE6-03F6C58F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5144" y="4245722"/>
                <a:ext cx="2146870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5465C4-1F20-F5C3-4971-AACE2CF53630}"/>
                  </a:ext>
                </a:extLst>
              </p:cNvPr>
              <p:cNvSpPr txBox="1"/>
              <p:nvPr/>
            </p:nvSpPr>
            <p:spPr bwMode="auto">
              <a:xfrm>
                <a:off x="2295144" y="4550380"/>
                <a:ext cx="11424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⁡_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5465C4-1F20-F5C3-4971-AACE2CF53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5144" y="4550380"/>
                <a:ext cx="1142492" cy="307777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768849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950518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/>
            </a:br>
            <a:r>
              <a:rPr lang="en-US"/>
              <a:t>Diagnostics check sampling validity</a:t>
            </a:r>
            <a:endParaRPr/>
          </a:p>
        </p:txBody>
      </p:sp>
      <p:sp>
        <p:nvSpPr>
          <p:cNvPr id="512810964" name="Oval 3"/>
          <p:cNvSpPr/>
          <p:nvPr/>
        </p:nvSpPr>
        <p:spPr bwMode="auto">
          <a:xfrm>
            <a:off x="38735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857278998" name="Oval 4"/>
          <p:cNvSpPr/>
          <p:nvPr/>
        </p:nvSpPr>
        <p:spPr bwMode="auto">
          <a:xfrm>
            <a:off x="278130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779045004" name="Straight Arrow Connector 6"/>
          <p:cNvCxnSpPr>
            <a:stCxn id="512810964" idx="6"/>
            <a:endCxn id="857278998" idx="2"/>
          </p:cNvCxnSpPr>
          <p:nvPr/>
        </p:nvCxnSpPr>
        <p:spPr bwMode="auto">
          <a:xfrm>
            <a:off x="1720850" y="3946525"/>
            <a:ext cx="106045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234004696" name="Oval 7"/>
          <p:cNvSpPr/>
          <p:nvPr/>
        </p:nvSpPr>
        <p:spPr bwMode="auto">
          <a:xfrm>
            <a:off x="2606675" y="4835126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Prior predictive sampling</a:t>
            </a:r>
            <a:endParaRPr sz="1600"/>
          </a:p>
        </p:txBody>
      </p:sp>
      <p:cxnSp>
        <p:nvCxnSpPr>
          <p:cNvPr id="233735612" name="Straight Arrow Connector 8"/>
          <p:cNvCxnSpPr>
            <a:stCxn id="857278998" idx="4"/>
            <a:endCxn id="234004696" idx="0"/>
          </p:cNvCxnSpPr>
          <p:nvPr/>
        </p:nvCxnSpPr>
        <p:spPr bwMode="auto">
          <a:xfrm>
            <a:off x="3448050" y="4235450"/>
            <a:ext cx="0" cy="59967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483050646" name="Connector: Elbow 12"/>
          <p:cNvCxnSpPr>
            <a:stCxn id="234004696" idx="2"/>
            <a:endCxn id="857278998" idx="3"/>
          </p:cNvCxnSpPr>
          <p:nvPr/>
        </p:nvCxnSpPr>
        <p:spPr bwMode="auto">
          <a:xfrm rot="10800000" flipH="1">
            <a:off x="2606675" y="4150827"/>
            <a:ext cx="369912" cy="1154201"/>
          </a:xfrm>
          <a:prstGeom prst="bentConnector4">
            <a:avLst>
              <a:gd name="adj1" fmla="val -61798"/>
              <a:gd name="adj2" fmla="val 6669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24678058" name="Oval 13"/>
          <p:cNvSpPr/>
          <p:nvPr/>
        </p:nvSpPr>
        <p:spPr bwMode="auto">
          <a:xfrm>
            <a:off x="5599112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1908863684" name="Straight Arrow Connector 14"/>
          <p:cNvCxnSpPr>
            <a:stCxn id="857278998" idx="6"/>
            <a:endCxn id="1624678058" idx="2"/>
          </p:cNvCxnSpPr>
          <p:nvPr/>
        </p:nvCxnSpPr>
        <p:spPr bwMode="auto">
          <a:xfrm>
            <a:off x="4114800" y="3946525"/>
            <a:ext cx="148431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2128077541" name="Oval 32"/>
          <p:cNvSpPr/>
          <p:nvPr/>
        </p:nvSpPr>
        <p:spPr bwMode="auto">
          <a:xfrm>
            <a:off x="5424487" y="2204244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Diagnostics</a:t>
            </a:r>
            <a:endParaRPr sz="1600"/>
          </a:p>
        </p:txBody>
      </p:sp>
      <p:cxnSp>
        <p:nvCxnSpPr>
          <p:cNvPr id="2021318873" name="Straight Arrow Connector 33"/>
          <p:cNvCxnSpPr>
            <a:stCxn id="1624678058" idx="0"/>
            <a:endCxn id="2128077541" idx="4"/>
          </p:cNvCxnSpPr>
          <p:nvPr/>
        </p:nvCxnSpPr>
        <p:spPr bwMode="auto">
          <a:xfrm flipV="1">
            <a:off x="6265862" y="3144044"/>
            <a:ext cx="0" cy="51355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704109700" name="Connector: Elbow 36"/>
          <p:cNvCxnSpPr>
            <a:stCxn id="2128077541" idx="2"/>
            <a:endCxn id="1624678058" idx="1"/>
          </p:cNvCxnSpPr>
          <p:nvPr/>
        </p:nvCxnSpPr>
        <p:spPr bwMode="auto">
          <a:xfrm rot="10800000" flipH="1" flipV="1">
            <a:off x="5424487" y="2674144"/>
            <a:ext cx="369912" cy="1068080"/>
          </a:xfrm>
          <a:prstGeom prst="bentConnector4">
            <a:avLst>
              <a:gd name="adj1" fmla="val -61798"/>
              <a:gd name="adj2" fmla="val 68036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74998221" name="Connector: Elbow 39"/>
          <p:cNvCxnSpPr>
            <a:stCxn id="2128077541" idx="2"/>
            <a:endCxn id="857278998" idx="7"/>
          </p:cNvCxnSpPr>
          <p:nvPr/>
        </p:nvCxnSpPr>
        <p:spPr bwMode="auto">
          <a:xfrm rot="10800000" flipV="1">
            <a:off x="3919512" y="2674144"/>
            <a:ext cx="1504974" cy="106808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9256679" name="Oval 70"/>
          <p:cNvSpPr/>
          <p:nvPr/>
        </p:nvSpPr>
        <p:spPr bwMode="auto">
          <a:xfrm>
            <a:off x="782161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828366359" name="Straight Arrow Connector 71"/>
          <p:cNvCxnSpPr>
            <a:stCxn id="1624678058" idx="6"/>
            <a:endCxn id="389256679" idx="2"/>
          </p:cNvCxnSpPr>
          <p:nvPr/>
        </p:nvCxnSpPr>
        <p:spPr bwMode="auto">
          <a:xfrm>
            <a:off x="6932612" y="3946525"/>
            <a:ext cx="88900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2127065645" name="Oval 74"/>
          <p:cNvSpPr/>
          <p:nvPr/>
        </p:nvSpPr>
        <p:spPr bwMode="auto">
          <a:xfrm>
            <a:off x="1003776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1734843674" name="Straight Arrow Connector 75"/>
          <p:cNvCxnSpPr>
            <a:stCxn id="389256679" idx="6"/>
            <a:endCxn id="2127065645" idx="2"/>
          </p:cNvCxnSpPr>
          <p:nvPr/>
        </p:nvCxnSpPr>
        <p:spPr bwMode="auto">
          <a:xfrm>
            <a:off x="9359900" y="3946525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34954710" name="Straight Arrow Connector 2"/>
          <p:cNvCxnSpPr>
            <a:stCxn id="389256679" idx="0"/>
            <a:endCxn id="857278998" idx="0"/>
          </p:cNvCxnSpPr>
          <p:nvPr/>
        </p:nvCxnSpPr>
        <p:spPr bwMode="auto">
          <a:xfrm rot="16199998" flipV="1">
            <a:off x="6019403" y="1086247"/>
            <a:ext cx="12700" cy="5142706"/>
          </a:xfrm>
          <a:prstGeom prst="bentConnector3">
            <a:avLst>
              <a:gd name="adj1" fmla="val 14018181"/>
            </a:avLst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940879324" name="TextBox 1"/>
          <p:cNvSpPr txBox="1"/>
          <p:nvPr/>
        </p:nvSpPr>
        <p:spPr bwMode="auto">
          <a:xfrm>
            <a:off x="2530972" y="5824296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Model coherence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775307056" name="TextBox 2"/>
          <p:cNvSpPr txBox="1"/>
          <p:nvPr/>
        </p:nvSpPr>
        <p:spPr bwMode="auto">
          <a:xfrm>
            <a:off x="5424486" y="1884089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Sampling validity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223597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950518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/>
            </a:br>
            <a:r>
              <a:rPr lang="en-US"/>
              <a:t>Diagnostics check sampling validity</a:t>
            </a:r>
            <a:endParaRPr/>
          </a:p>
        </p:txBody>
      </p:sp>
      <p:sp>
        <p:nvSpPr>
          <p:cNvPr id="1401904965" name="Oval 3"/>
          <p:cNvSpPr/>
          <p:nvPr/>
        </p:nvSpPr>
        <p:spPr bwMode="auto">
          <a:xfrm>
            <a:off x="38735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1443995297" name="Oval 4"/>
          <p:cNvSpPr/>
          <p:nvPr/>
        </p:nvSpPr>
        <p:spPr bwMode="auto">
          <a:xfrm>
            <a:off x="278130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1738294320" name="Straight Arrow Connector 6"/>
          <p:cNvCxnSpPr>
            <a:stCxn id="1401904965" idx="6"/>
            <a:endCxn id="1443995297" idx="2"/>
          </p:cNvCxnSpPr>
          <p:nvPr/>
        </p:nvCxnSpPr>
        <p:spPr bwMode="auto">
          <a:xfrm>
            <a:off x="1720850" y="3946525"/>
            <a:ext cx="106045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428908746" name="Oval 7"/>
          <p:cNvSpPr/>
          <p:nvPr/>
        </p:nvSpPr>
        <p:spPr bwMode="auto">
          <a:xfrm>
            <a:off x="2606675" y="4835126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Prior predictive sampling</a:t>
            </a:r>
            <a:endParaRPr sz="1600"/>
          </a:p>
        </p:txBody>
      </p:sp>
      <p:cxnSp>
        <p:nvCxnSpPr>
          <p:cNvPr id="1338558396" name="Straight Arrow Connector 8"/>
          <p:cNvCxnSpPr>
            <a:stCxn id="1443995297" idx="4"/>
            <a:endCxn id="428908746" idx="0"/>
          </p:cNvCxnSpPr>
          <p:nvPr/>
        </p:nvCxnSpPr>
        <p:spPr bwMode="auto">
          <a:xfrm>
            <a:off x="3448050" y="4235450"/>
            <a:ext cx="0" cy="59967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406366205" name="Connector: Elbow 12"/>
          <p:cNvCxnSpPr>
            <a:stCxn id="428908746" idx="2"/>
            <a:endCxn id="1443995297" idx="3"/>
          </p:cNvCxnSpPr>
          <p:nvPr/>
        </p:nvCxnSpPr>
        <p:spPr bwMode="auto">
          <a:xfrm rot="10800000" flipH="1">
            <a:off x="2606675" y="4150827"/>
            <a:ext cx="369912" cy="1154201"/>
          </a:xfrm>
          <a:prstGeom prst="bentConnector4">
            <a:avLst>
              <a:gd name="adj1" fmla="val -61798"/>
              <a:gd name="adj2" fmla="val 6669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20732909" name="Oval 13"/>
          <p:cNvSpPr/>
          <p:nvPr/>
        </p:nvSpPr>
        <p:spPr bwMode="auto">
          <a:xfrm>
            <a:off x="5599112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676818616" name="Straight Arrow Connector 14"/>
          <p:cNvCxnSpPr>
            <a:stCxn id="1443995297" idx="6"/>
            <a:endCxn id="1220732909" idx="2"/>
          </p:cNvCxnSpPr>
          <p:nvPr/>
        </p:nvCxnSpPr>
        <p:spPr bwMode="auto">
          <a:xfrm>
            <a:off x="4114800" y="3946525"/>
            <a:ext cx="148431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746490801" name="Oval 32"/>
          <p:cNvSpPr/>
          <p:nvPr/>
        </p:nvSpPr>
        <p:spPr bwMode="auto">
          <a:xfrm>
            <a:off x="5424487" y="2204244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Diagnostics</a:t>
            </a:r>
            <a:endParaRPr sz="1600"/>
          </a:p>
        </p:txBody>
      </p:sp>
      <p:cxnSp>
        <p:nvCxnSpPr>
          <p:cNvPr id="990270086" name="Straight Arrow Connector 33"/>
          <p:cNvCxnSpPr>
            <a:stCxn id="1220732909" idx="0"/>
            <a:endCxn id="1746490801" idx="4"/>
          </p:cNvCxnSpPr>
          <p:nvPr/>
        </p:nvCxnSpPr>
        <p:spPr bwMode="auto">
          <a:xfrm flipV="1">
            <a:off x="6265862" y="3144044"/>
            <a:ext cx="0" cy="51355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842113679" name="Connector: Elbow 36"/>
          <p:cNvCxnSpPr>
            <a:stCxn id="1746490801" idx="2"/>
            <a:endCxn id="1220732909" idx="1"/>
          </p:cNvCxnSpPr>
          <p:nvPr/>
        </p:nvCxnSpPr>
        <p:spPr bwMode="auto">
          <a:xfrm rot="10800000" flipH="1" flipV="1">
            <a:off x="5424487" y="2674144"/>
            <a:ext cx="369912" cy="1068080"/>
          </a:xfrm>
          <a:prstGeom prst="bentConnector4">
            <a:avLst>
              <a:gd name="adj1" fmla="val -61798"/>
              <a:gd name="adj2" fmla="val 68036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5242634" name="Connector: Elbow 39"/>
          <p:cNvCxnSpPr>
            <a:stCxn id="1746490801" idx="2"/>
            <a:endCxn id="1443995297" idx="7"/>
          </p:cNvCxnSpPr>
          <p:nvPr/>
        </p:nvCxnSpPr>
        <p:spPr bwMode="auto">
          <a:xfrm rot="10800000" flipV="1">
            <a:off x="3919512" y="2674144"/>
            <a:ext cx="1504974" cy="106808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29646838" name="Oval 70"/>
          <p:cNvSpPr/>
          <p:nvPr/>
        </p:nvSpPr>
        <p:spPr bwMode="auto">
          <a:xfrm>
            <a:off x="782161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1834380112" name="Straight Arrow Connector 71"/>
          <p:cNvCxnSpPr>
            <a:stCxn id="1220732909" idx="6"/>
            <a:endCxn id="2129646838" idx="2"/>
          </p:cNvCxnSpPr>
          <p:nvPr/>
        </p:nvCxnSpPr>
        <p:spPr bwMode="auto">
          <a:xfrm>
            <a:off x="6932612" y="3946525"/>
            <a:ext cx="88900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480525078" name="Oval 74"/>
          <p:cNvSpPr/>
          <p:nvPr/>
        </p:nvSpPr>
        <p:spPr bwMode="auto">
          <a:xfrm>
            <a:off x="1003776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979918079" name="Straight Arrow Connector 75"/>
          <p:cNvCxnSpPr>
            <a:stCxn id="2129646838" idx="6"/>
            <a:endCxn id="1480525078" idx="2"/>
          </p:cNvCxnSpPr>
          <p:nvPr/>
        </p:nvCxnSpPr>
        <p:spPr bwMode="auto">
          <a:xfrm>
            <a:off x="9359900" y="3946525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308922132" name="Straight Arrow Connector 2"/>
          <p:cNvCxnSpPr>
            <a:stCxn id="2129646838" idx="0"/>
            <a:endCxn id="1443995297" idx="0"/>
          </p:cNvCxnSpPr>
          <p:nvPr/>
        </p:nvCxnSpPr>
        <p:spPr bwMode="auto">
          <a:xfrm rot="16199998" flipV="1">
            <a:off x="6019403" y="1086247"/>
            <a:ext cx="12700" cy="5142706"/>
          </a:xfrm>
          <a:prstGeom prst="bentConnector3">
            <a:avLst>
              <a:gd name="adj1" fmla="val 14018181"/>
            </a:avLst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950332110" name="TextBox 1"/>
          <p:cNvSpPr txBox="1"/>
          <p:nvPr/>
        </p:nvSpPr>
        <p:spPr bwMode="auto">
          <a:xfrm>
            <a:off x="2530972" y="5824296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Model coherence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82608980" name="TextBox 2"/>
          <p:cNvSpPr txBox="1"/>
          <p:nvPr/>
        </p:nvSpPr>
        <p:spPr bwMode="auto">
          <a:xfrm>
            <a:off x="5424486" y="1884089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Sampling validity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8411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Posterior predictive tests test model fit</a:t>
            </a:r>
            <a:endParaRPr/>
          </a:p>
        </p:txBody>
      </p:sp>
      <p:sp>
        <p:nvSpPr>
          <p:cNvPr id="1084926284" name="Oval 3"/>
          <p:cNvSpPr/>
          <p:nvPr/>
        </p:nvSpPr>
        <p:spPr bwMode="auto">
          <a:xfrm>
            <a:off x="38735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Data</a:t>
            </a:r>
            <a:endParaRPr/>
          </a:p>
        </p:txBody>
      </p:sp>
      <p:sp>
        <p:nvSpPr>
          <p:cNvPr id="488528129" name="Oval 4"/>
          <p:cNvSpPr/>
          <p:nvPr/>
        </p:nvSpPr>
        <p:spPr bwMode="auto">
          <a:xfrm>
            <a:off x="2781300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Model</a:t>
            </a:r>
            <a:endParaRPr/>
          </a:p>
        </p:txBody>
      </p:sp>
      <p:cxnSp>
        <p:nvCxnSpPr>
          <p:cNvPr id="1695468915" name="Straight Arrow Connector 6"/>
          <p:cNvCxnSpPr>
            <a:stCxn id="1084926284" idx="6"/>
            <a:endCxn id="488528129" idx="2"/>
          </p:cNvCxnSpPr>
          <p:nvPr/>
        </p:nvCxnSpPr>
        <p:spPr bwMode="auto">
          <a:xfrm>
            <a:off x="1720850" y="3946525"/>
            <a:ext cx="106045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152555951" name="Oval 7"/>
          <p:cNvSpPr/>
          <p:nvPr/>
        </p:nvSpPr>
        <p:spPr bwMode="auto">
          <a:xfrm>
            <a:off x="2606675" y="4835126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Prior predictive sampling</a:t>
            </a:r>
            <a:endParaRPr sz="1600"/>
          </a:p>
        </p:txBody>
      </p:sp>
      <p:cxnSp>
        <p:nvCxnSpPr>
          <p:cNvPr id="2043352140" name="Straight Arrow Connector 8"/>
          <p:cNvCxnSpPr>
            <a:stCxn id="488528129" idx="4"/>
            <a:endCxn id="1152555951" idx="0"/>
          </p:cNvCxnSpPr>
          <p:nvPr/>
        </p:nvCxnSpPr>
        <p:spPr bwMode="auto">
          <a:xfrm>
            <a:off x="3448050" y="4235450"/>
            <a:ext cx="0" cy="59967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346400551" name="Connector: Elbow 12"/>
          <p:cNvCxnSpPr>
            <a:stCxn id="1152555951" idx="2"/>
            <a:endCxn id="488528129" idx="3"/>
          </p:cNvCxnSpPr>
          <p:nvPr/>
        </p:nvCxnSpPr>
        <p:spPr bwMode="auto">
          <a:xfrm rot="10800000" flipH="1">
            <a:off x="2606675" y="4150827"/>
            <a:ext cx="369912" cy="1154201"/>
          </a:xfrm>
          <a:prstGeom prst="bentConnector4">
            <a:avLst>
              <a:gd name="adj1" fmla="val -61798"/>
              <a:gd name="adj2" fmla="val 6669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50333332" name="Oval 13"/>
          <p:cNvSpPr/>
          <p:nvPr/>
        </p:nvSpPr>
        <p:spPr bwMode="auto">
          <a:xfrm>
            <a:off x="5599112" y="3657600"/>
            <a:ext cx="1333500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Sample</a:t>
            </a:r>
            <a:endParaRPr/>
          </a:p>
        </p:txBody>
      </p:sp>
      <p:cxnSp>
        <p:nvCxnSpPr>
          <p:cNvPr id="1312635087" name="Straight Arrow Connector 14"/>
          <p:cNvCxnSpPr>
            <a:stCxn id="488528129" idx="6"/>
            <a:endCxn id="550333332" idx="2"/>
          </p:cNvCxnSpPr>
          <p:nvPr/>
        </p:nvCxnSpPr>
        <p:spPr bwMode="auto">
          <a:xfrm>
            <a:off x="4114800" y="3946525"/>
            <a:ext cx="148431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2058486983" name="Oval 32"/>
          <p:cNvSpPr/>
          <p:nvPr/>
        </p:nvSpPr>
        <p:spPr bwMode="auto">
          <a:xfrm>
            <a:off x="5424487" y="2204244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Diagnostics</a:t>
            </a:r>
            <a:endParaRPr sz="1600"/>
          </a:p>
        </p:txBody>
      </p:sp>
      <p:cxnSp>
        <p:nvCxnSpPr>
          <p:cNvPr id="819912034" name="Straight Arrow Connector 33"/>
          <p:cNvCxnSpPr>
            <a:stCxn id="550333332" idx="0"/>
            <a:endCxn id="2058486983" idx="4"/>
          </p:cNvCxnSpPr>
          <p:nvPr/>
        </p:nvCxnSpPr>
        <p:spPr bwMode="auto">
          <a:xfrm flipV="1">
            <a:off x="6265862" y="3144044"/>
            <a:ext cx="0" cy="51355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84784858" name="Connector: Elbow 36"/>
          <p:cNvCxnSpPr>
            <a:stCxn id="2058486983" idx="2"/>
            <a:endCxn id="550333332" idx="1"/>
          </p:cNvCxnSpPr>
          <p:nvPr/>
        </p:nvCxnSpPr>
        <p:spPr bwMode="auto">
          <a:xfrm rot="10800000" flipH="1" flipV="1">
            <a:off x="5424487" y="2674144"/>
            <a:ext cx="369912" cy="1068080"/>
          </a:xfrm>
          <a:prstGeom prst="bentConnector4">
            <a:avLst>
              <a:gd name="adj1" fmla="val -61798"/>
              <a:gd name="adj2" fmla="val 68036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9821812" name="Connector: Elbow 39"/>
          <p:cNvCxnSpPr>
            <a:stCxn id="2058486983" idx="2"/>
            <a:endCxn id="488528129" idx="7"/>
          </p:cNvCxnSpPr>
          <p:nvPr/>
        </p:nvCxnSpPr>
        <p:spPr bwMode="auto">
          <a:xfrm rot="10800000" flipV="1">
            <a:off x="3919512" y="2674144"/>
            <a:ext cx="1504974" cy="106808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4246541" name="Oval 60"/>
          <p:cNvSpPr/>
          <p:nvPr/>
        </p:nvSpPr>
        <p:spPr bwMode="auto">
          <a:xfrm>
            <a:off x="5424487" y="4682727"/>
            <a:ext cx="1682750" cy="9398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Posterior predictive sampling</a:t>
            </a:r>
            <a:endParaRPr sz="1600"/>
          </a:p>
        </p:txBody>
      </p:sp>
      <p:cxnSp>
        <p:nvCxnSpPr>
          <p:cNvPr id="1913906318" name="Straight Arrow Connector 63"/>
          <p:cNvCxnSpPr>
            <a:stCxn id="550333332" idx="4"/>
            <a:endCxn id="884246541" idx="0"/>
          </p:cNvCxnSpPr>
          <p:nvPr/>
        </p:nvCxnSpPr>
        <p:spPr bwMode="auto">
          <a:xfrm>
            <a:off x="6265862" y="4235450"/>
            <a:ext cx="0" cy="44727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69124408" name="Connector: Elbow 66"/>
          <p:cNvCxnSpPr>
            <a:stCxn id="884246541" idx="1"/>
            <a:endCxn id="488528129" idx="5"/>
          </p:cNvCxnSpPr>
          <p:nvPr/>
        </p:nvCxnSpPr>
        <p:spPr bwMode="auto">
          <a:xfrm rot="16199998" flipV="1">
            <a:off x="4460451" y="3609888"/>
            <a:ext cx="669532" cy="175140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70402027" name="Oval 70"/>
          <p:cNvSpPr/>
          <p:nvPr/>
        </p:nvSpPr>
        <p:spPr bwMode="auto">
          <a:xfrm>
            <a:off x="782161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Posterior</a:t>
            </a:r>
            <a:endParaRPr/>
          </a:p>
        </p:txBody>
      </p:sp>
      <p:cxnSp>
        <p:nvCxnSpPr>
          <p:cNvPr id="662667586" name="Straight Arrow Connector 71"/>
          <p:cNvCxnSpPr>
            <a:stCxn id="550333332" idx="6"/>
            <a:endCxn id="470402027" idx="2"/>
          </p:cNvCxnSpPr>
          <p:nvPr/>
        </p:nvCxnSpPr>
        <p:spPr bwMode="auto">
          <a:xfrm>
            <a:off x="6932612" y="3946525"/>
            <a:ext cx="88900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328766897" name="Oval 74"/>
          <p:cNvSpPr/>
          <p:nvPr/>
        </p:nvSpPr>
        <p:spPr bwMode="auto">
          <a:xfrm>
            <a:off x="10037762" y="3657600"/>
            <a:ext cx="1538288" cy="5778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Inference</a:t>
            </a:r>
            <a:endParaRPr/>
          </a:p>
        </p:txBody>
      </p:sp>
      <p:cxnSp>
        <p:nvCxnSpPr>
          <p:cNvPr id="444873582" name="Straight Arrow Connector 75"/>
          <p:cNvCxnSpPr>
            <a:stCxn id="470402027" idx="6"/>
            <a:endCxn id="1328766897" idx="2"/>
          </p:cNvCxnSpPr>
          <p:nvPr/>
        </p:nvCxnSpPr>
        <p:spPr bwMode="auto">
          <a:xfrm>
            <a:off x="9359900" y="3946525"/>
            <a:ext cx="677862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cxnSp>
        <p:nvCxnSpPr>
          <p:cNvPr id="1622508945" name="Straight Arrow Connector 2"/>
          <p:cNvCxnSpPr>
            <a:stCxn id="470402027" idx="0"/>
            <a:endCxn id="488528129" idx="0"/>
          </p:cNvCxnSpPr>
          <p:nvPr/>
        </p:nvCxnSpPr>
        <p:spPr bwMode="auto">
          <a:xfrm rot="16199998" flipV="1">
            <a:off x="6019403" y="1086247"/>
            <a:ext cx="12700" cy="5142706"/>
          </a:xfrm>
          <a:prstGeom prst="bentConnector3">
            <a:avLst>
              <a:gd name="adj1" fmla="val 14018181"/>
            </a:avLst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258095494" name="TextBox 1"/>
          <p:cNvSpPr txBox="1"/>
          <p:nvPr/>
        </p:nvSpPr>
        <p:spPr bwMode="auto">
          <a:xfrm>
            <a:off x="2530972" y="5824296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Model coherence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82363812" name="TextBox 2"/>
          <p:cNvSpPr txBox="1"/>
          <p:nvPr/>
        </p:nvSpPr>
        <p:spPr bwMode="auto">
          <a:xfrm>
            <a:off x="5424486" y="1884089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Sampling validity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06319750" name="TextBox 3"/>
          <p:cNvSpPr txBox="1"/>
          <p:nvPr/>
        </p:nvSpPr>
        <p:spPr bwMode="auto">
          <a:xfrm>
            <a:off x="5781975" y="5774926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Model fit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24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90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24654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0753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Posterior predictive sampling is predictive sampling</a:t>
            </a:r>
            <a:endParaRPr lang="he-IL" sz="3600"/>
          </a:p>
        </p:txBody>
      </p:sp>
      <p:sp>
        <p:nvSpPr>
          <p:cNvPr id="21081073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Repeat:</a:t>
            </a:r>
            <a:endParaRPr/>
          </a:p>
          <a:p>
            <a:pPr lvl="1">
              <a:defRPr/>
            </a:pPr>
            <a:r>
              <a:rPr lang="en-US"/>
              <a:t>Pick parameters from </a:t>
            </a:r>
            <a:r>
              <a:rPr lang="en-US" b="1"/>
              <a:t>posterior</a:t>
            </a:r>
            <a:r>
              <a:rPr lang="en-US"/>
              <a:t> distribution</a:t>
            </a:r>
            <a:endParaRPr/>
          </a:p>
          <a:p>
            <a:pPr lvl="1">
              <a:defRPr/>
            </a:pPr>
            <a:r>
              <a:rPr lang="en-US"/>
              <a:t>Pick data from parameters</a:t>
            </a:r>
            <a:endParaRPr lang="he-I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0EE299-A969-EC25-4143-4DCE5AE93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3286336"/>
            <a:ext cx="6205346" cy="3474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444530" name="Title 1"/>
          <p:cNvSpPr>
            <a:spLocks noGrp="1"/>
          </p:cNvSpPr>
          <p:nvPr>
            <p:ph type="title"/>
          </p:nvPr>
        </p:nvSpPr>
        <p:spPr bwMode="auto">
          <a:xfrm>
            <a:off x="127001" y="119592"/>
            <a:ext cx="11819465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Posterior predictive samples are added to idata object</a:t>
            </a:r>
            <a:endParaRPr lang="he-IL" sz="4000"/>
          </a:p>
        </p:txBody>
      </p:sp>
      <p:pic>
        <p:nvPicPr>
          <p:cNvPr id="1609203814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2246" y="1661800"/>
            <a:ext cx="7422771" cy="3669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76A53A-24AF-2A60-8A17-C8BB5C679063}"/>
                  </a:ext>
                </a:extLst>
              </p:cNvPr>
              <p:cNvSpPr txBox="1"/>
              <p:nvPr/>
            </p:nvSpPr>
            <p:spPr bwMode="auto">
              <a:xfrm>
                <a:off x="2426761" y="4501754"/>
                <a:ext cx="21468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𝑎𝑖𝑛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𝑑𝑟𝑎𝑤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dim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⁡_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76A53A-24AF-2A60-8A17-C8BB5C679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6761" y="4501754"/>
                <a:ext cx="2146870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06E4E8-1C69-62B7-B3CC-99598029CA6F}"/>
                  </a:ext>
                </a:extLst>
              </p:cNvPr>
              <p:cNvSpPr txBox="1"/>
              <p:nvPr/>
            </p:nvSpPr>
            <p:spPr bwMode="auto">
              <a:xfrm>
                <a:off x="2426761" y="4193977"/>
                <a:ext cx="1743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𝑒𝑡𝑎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𝑎𝑖𝑛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𝑑𝑟𝑎𝑤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L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06E4E8-1C69-62B7-B3CC-99598029C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6761" y="4193977"/>
                <a:ext cx="1743747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2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496054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77321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Workflow development started in the first lecture</a:t>
            </a:r>
            <a:endParaRPr/>
          </a:p>
        </p:txBody>
      </p:sp>
      <p:graphicFrame>
        <p:nvGraphicFramePr>
          <p:cNvPr id="121551778" name="Table 2"/>
          <p:cNvGraphicFramePr>
            <a:graphicFrameLocks noGrp="1"/>
          </p:cNvGraphicFramePr>
          <p:nvPr/>
        </p:nvGraphicFramePr>
        <p:xfrm>
          <a:off x="1780074" y="1423138"/>
          <a:ext cx="8127999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Step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Solutions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collection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validation procedures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methodology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Develop protocols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Document processes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Propose 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Generate graph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Take sample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 dimensions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Debug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Prior predictive plots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Trace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Rhat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ESS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MCSE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Divergences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sampling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initialization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Reparameterize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Posterior predictive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Bayesian p 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Change model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037026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79</a:t>
            </a:fld>
            <a:endParaRPr lang="en-GB"/>
          </a:p>
        </p:txBody>
      </p:sp>
      <p:sp>
        <p:nvSpPr>
          <p:cNvPr id="702726472" name="Rectangle 1"/>
          <p:cNvSpPr/>
          <p:nvPr/>
        </p:nvSpPr>
        <p:spPr bwMode="auto">
          <a:xfrm>
            <a:off x="1507067" y="2717799"/>
            <a:ext cx="9110133" cy="35136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4524076" name="Rectangle 2"/>
          <p:cNvSpPr/>
          <p:nvPr/>
        </p:nvSpPr>
        <p:spPr bwMode="auto">
          <a:xfrm>
            <a:off x="7202973" y="1423138"/>
            <a:ext cx="3687233" cy="35136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25813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77321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The next two lectures introduced models</a:t>
            </a:r>
            <a:endParaRPr/>
          </a:p>
        </p:txBody>
      </p:sp>
      <p:graphicFrame>
        <p:nvGraphicFramePr>
          <p:cNvPr id="1815351280" name="Table 2"/>
          <p:cNvGraphicFramePr>
            <a:graphicFrameLocks noGrp="1"/>
          </p:cNvGraphicFramePr>
          <p:nvPr/>
        </p:nvGraphicFramePr>
        <p:xfrm>
          <a:off x="1780074" y="1423138"/>
          <a:ext cx="8127999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Step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Solutions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collection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validation procedures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methodology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Develop protocols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Document processes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Propose 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Generate graph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Take samples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 dimensions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Debug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Prior predictive plots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Trace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Rhat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ESS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MCSE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Divergences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sampling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initialization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Reparameterize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Posterior predictive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Bayesian p 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Change model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51407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80</a:t>
            </a:fld>
            <a:endParaRPr lang="en-GB"/>
          </a:p>
        </p:txBody>
      </p:sp>
      <p:sp>
        <p:nvSpPr>
          <p:cNvPr id="698495330" name="Rectangle 1"/>
          <p:cNvSpPr/>
          <p:nvPr/>
        </p:nvSpPr>
        <p:spPr bwMode="auto">
          <a:xfrm>
            <a:off x="1507067" y="3361267"/>
            <a:ext cx="9110133" cy="28701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228026" name="Rectangle 2"/>
          <p:cNvSpPr/>
          <p:nvPr/>
        </p:nvSpPr>
        <p:spPr bwMode="auto">
          <a:xfrm>
            <a:off x="7202973" y="1423138"/>
            <a:ext cx="3687233" cy="455432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21689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77321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This lecture introduced the key workflow tests</a:t>
            </a:r>
            <a:endParaRPr/>
          </a:p>
        </p:txBody>
      </p:sp>
      <p:graphicFrame>
        <p:nvGraphicFramePr>
          <p:cNvPr id="1603875447" name="Table 2"/>
          <p:cNvGraphicFramePr>
            <a:graphicFrameLocks noGrp="1"/>
          </p:cNvGraphicFramePr>
          <p:nvPr/>
        </p:nvGraphicFramePr>
        <p:xfrm>
          <a:off x="1780074" y="1423138"/>
          <a:ext cx="8127999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Step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Solutions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collection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validation procedures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methodology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Develop protocols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Document processes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Propose 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Generate graph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Take samples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 dimensions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Debug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Prior predictive plots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Trace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Rhat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ESS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MCSE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Divergences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sampling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initialization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Reparameterize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Posterior predictive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Bayesian p 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Change model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3111568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81</a:t>
            </a:fld>
            <a:endParaRPr lang="en-GB"/>
          </a:p>
        </p:txBody>
      </p:sp>
      <p:sp>
        <p:nvSpPr>
          <p:cNvPr id="861873260" name="Rectangle 2"/>
          <p:cNvSpPr/>
          <p:nvPr/>
        </p:nvSpPr>
        <p:spPr bwMode="auto">
          <a:xfrm>
            <a:off x="7202973" y="1423138"/>
            <a:ext cx="3687233" cy="484219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392511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77321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Each failure mode has different solutions</a:t>
            </a:r>
            <a:endParaRPr/>
          </a:p>
        </p:txBody>
      </p:sp>
      <p:graphicFrame>
        <p:nvGraphicFramePr>
          <p:cNvPr id="1688514678" name="Table 2"/>
          <p:cNvGraphicFramePr>
            <a:graphicFrameLocks noGrp="1"/>
          </p:cNvGraphicFramePr>
          <p:nvPr/>
        </p:nvGraphicFramePr>
        <p:xfrm>
          <a:off x="1780074" y="1423138"/>
          <a:ext cx="8127999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Step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Solutions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collection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Data validation procedures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methodology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Develop protocols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Document processes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Propose 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Generate graph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Take samples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Test dimensions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Debug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Prior predictive plots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Trace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Rhat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ESS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MCSE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Divergences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Improve sampling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initialization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Reparameterize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Simplify model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Change priors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Sample posterior predictive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Posterior predictive plots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Bayesian p values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Change model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716890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DC7AD3-7C2E-418B-8082-788996B615FB}" type="slidenum">
              <a:rPr lang="en-GB"/>
              <a:t>82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3283</Words>
  <Application>Microsoft Office PowerPoint</Application>
  <PresentationFormat>Widescreen</PresentationFormat>
  <Paragraphs>733</Paragraphs>
  <Slides>82</Slides>
  <Notes>80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Arial</vt:lpstr>
      <vt:lpstr>Calibri</vt:lpstr>
      <vt:lpstr>Calibri Light</vt:lpstr>
      <vt:lpstr>Cambria Math</vt:lpstr>
      <vt:lpstr>Consolas</vt:lpstr>
      <vt:lpstr>Courier New</vt:lpstr>
      <vt:lpstr>Droid Sans Mono</vt:lpstr>
      <vt:lpstr>Source Sans Pro</vt:lpstr>
      <vt:lpstr>Office Theme</vt:lpstr>
      <vt:lpstr>oleObj</vt:lpstr>
      <vt:lpstr>Statistics 367-1-4361 Bayesian Workflow</vt:lpstr>
      <vt:lpstr>4.1 Bayesian workflow</vt:lpstr>
      <vt:lpstr> Basic Bayesian processing</vt:lpstr>
      <vt:lpstr>A full workflow requires testing</vt:lpstr>
      <vt:lpstr>The full Bayesian workflow includes 3 tests</vt:lpstr>
      <vt:lpstr>4.2 Sampling challengs</vt:lpstr>
      <vt:lpstr>pm.sample() as a black box</vt:lpstr>
      <vt:lpstr>A non-beta prior for the coin flip model</vt:lpstr>
      <vt:lpstr>PyMC has a truncated normal distribution</vt:lpstr>
      <vt:lpstr>Preliz has no sampler for the posterior of this model</vt:lpstr>
      <vt:lpstr>Rejection sampling samples a proposal function </vt:lpstr>
      <vt:lpstr>Rejection balances the desired and sampled probabilities </vt:lpstr>
      <vt:lpstr>The advantages and challenges of rejection sampling</vt:lpstr>
      <vt:lpstr>4.3 Monte-Carlo Markov Chain</vt:lpstr>
      <vt:lpstr>MCMC turns rejection sampling to a local walk</vt:lpstr>
      <vt:lpstr>MCMC works only when each chain explores the full posterior</vt:lpstr>
      <vt:lpstr>4.4 Metropolis</vt:lpstr>
      <vt:lpstr>Metropolis builds samples one step at a time</vt:lpstr>
      <vt:lpstr>Metropolis sometimes accepts low probability moves</vt:lpstr>
      <vt:lpstr>A simple target distribution to clarify metropolis</vt:lpstr>
      <vt:lpstr>Metropolis run showing accept reject and stay </vt:lpstr>
      <vt:lpstr>The chain spends more time in more probabile states</vt:lpstr>
      <vt:lpstr>Empirical distribution quickly leaves initial condition</vt:lpstr>
      <vt:lpstr>Empirical distribution slowly approaches target distribution</vt:lpstr>
      <vt:lpstr>The intuition behind Metropolis</vt:lpstr>
      <vt:lpstr>Detailed balance: probability flow in both directions</vt:lpstr>
      <vt:lpstr>Detailed balance makes the target distribution stable</vt:lpstr>
      <vt:lpstr>Metropolis rule only requires probability ratios</vt:lpstr>
      <vt:lpstr>Metropolis-Hastings corrects asymmetric proposals</vt:lpstr>
      <vt:lpstr>Demo: Metropolis with good and narrow proposals</vt:lpstr>
      <vt:lpstr>4.5 Sampling diagnostics</vt:lpstr>
      <vt:lpstr>Diagnostics test whether sampling succeeded</vt:lpstr>
      <vt:lpstr>Diagnostics check sampling not the model</vt:lpstr>
      <vt:lpstr>Multiple chains test how well we explored </vt:lpstr>
      <vt:lpstr>Poor tuning interferes with sampling</vt:lpstr>
      <vt:lpstr>Trace plots reveal mixing and stuck chains</vt:lpstr>
      <vt:lpstr>R ̂ quantifies convergence of multiple chains</vt:lpstr>
      <vt:lpstr>Autocorrelation measures redundancy of information</vt:lpstr>
      <vt:lpstr>ESS shows how autocorrelation affects information</vt:lpstr>
      <vt:lpstr>MCSE shows how autocorrelation affects uncertainty</vt:lpstr>
      <vt:lpstr>Diagnostics summary</vt:lpstr>
      <vt:lpstr>4.6 HMC and NUTS</vt:lpstr>
      <vt:lpstr>Metropolis proposals difficult for correlated parameters</vt:lpstr>
      <vt:lpstr>Different MCMC algorithms balance simplicity and efficiency</vt:lpstr>
      <vt:lpstr>HMC uses gradients to shape proposals</vt:lpstr>
      <vt:lpstr>HMC is not a maximization algorithm</vt:lpstr>
      <vt:lpstr>In high dimensions, probability is not at the mode</vt:lpstr>
      <vt:lpstr>In high dimensions, the volume isn’t at the mode</vt:lpstr>
      <vt:lpstr>Probability mass combines density and volume</vt:lpstr>
      <vt:lpstr>HMC proposals stay in the typical set</vt:lpstr>
      <vt:lpstr>The right momentum keeps HMC in the typical set</vt:lpstr>
      <vt:lpstr>HMC must use simulated, approximated physics</vt:lpstr>
      <vt:lpstr>HMC tuning balances approximation and computation time</vt:lpstr>
      <vt:lpstr>HMC is Metropolis with well tuned proposals</vt:lpstr>
      <vt:lpstr>HMC can loop back on itself</vt:lpstr>
      <vt:lpstr>NUTS automates HMC path length selection</vt:lpstr>
      <vt:lpstr>4.7 Divergences: HMC diagnostics</vt:lpstr>
      <vt:lpstr>Divergences: failure of leapfrog integration</vt:lpstr>
      <vt:lpstr>Divergences mean sampling is unreliable</vt:lpstr>
      <vt:lpstr>Trace plots show divergences</vt:lpstr>
      <vt:lpstr>4.8 PyTensor</vt:lpstr>
      <vt:lpstr>Where do gradients come from?</vt:lpstr>
      <vt:lpstr>PyTensor is PyMC’s computational back end</vt:lpstr>
      <vt:lpstr>Gradients tell PyMC how probability changes</vt:lpstr>
      <vt:lpstr>PyMC symbolic variables become probability calculations</vt:lpstr>
      <vt:lpstr>PyTensor handles cascaded operations</vt:lpstr>
      <vt:lpstr>The log joint probability density function</vt:lpstr>
      <vt:lpstr>4.9 Workflow validation</vt:lpstr>
      <vt:lpstr> Bayesian workflow is iterative and self-correcting</vt:lpstr>
      <vt:lpstr> Prior predictive checks test model coherence</vt:lpstr>
      <vt:lpstr>Predictive sampling selects parameters and data together</vt:lpstr>
      <vt:lpstr>Prior predictive: what data is possible under the model?</vt:lpstr>
      <vt:lpstr>Inference data separates data, prior, and prior predictive</vt:lpstr>
      <vt:lpstr> Diagnostics check sampling validity</vt:lpstr>
      <vt:lpstr> Diagnostics check sampling validity</vt:lpstr>
      <vt:lpstr>Posterior predictive tests test model fit</vt:lpstr>
      <vt:lpstr>Posterior predictive sampling is predictive sampling</vt:lpstr>
      <vt:lpstr>Posterior predictive samples are added to idata object</vt:lpstr>
      <vt:lpstr>Workflow development started in the first lecture</vt:lpstr>
      <vt:lpstr>The next two lectures introduced models</vt:lpstr>
      <vt:lpstr>This lecture introduced the key workflow tests</vt:lpstr>
      <vt:lpstr>Each failure mode has different solutions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82</cp:revision>
  <dcterms:created xsi:type="dcterms:W3CDTF">2016-03-07T06:16:50Z</dcterms:created>
  <dcterms:modified xsi:type="dcterms:W3CDTF">2026-05-06T05:12:04Z</dcterms:modified>
</cp:coreProperties>
</file>