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304" r:id="rId4"/>
    <p:sldId id="305" r:id="rId5"/>
    <p:sldId id="258" r:id="rId6"/>
    <p:sldId id="259" r:id="rId7"/>
    <p:sldId id="260" r:id="rId8"/>
    <p:sldId id="261" r:id="rId9"/>
    <p:sldId id="262" r:id="rId10"/>
    <p:sldId id="263" r:id="rId11"/>
    <p:sldId id="296" r:id="rId12"/>
    <p:sldId id="264" r:id="rId13"/>
    <p:sldId id="265" r:id="rId14"/>
    <p:sldId id="266" r:id="rId15"/>
    <p:sldId id="267" r:id="rId16"/>
    <p:sldId id="268" r:id="rId17"/>
    <p:sldId id="301" r:id="rId18"/>
    <p:sldId id="269" r:id="rId19"/>
    <p:sldId id="270" r:id="rId20"/>
    <p:sldId id="295" r:id="rId21"/>
    <p:sldId id="271" r:id="rId22"/>
    <p:sldId id="272" r:id="rId23"/>
    <p:sldId id="273" r:id="rId24"/>
    <p:sldId id="274" r:id="rId25"/>
    <p:sldId id="275" r:id="rId26"/>
    <p:sldId id="302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97" r:id="rId35"/>
    <p:sldId id="283" r:id="rId36"/>
    <p:sldId id="284" r:id="rId37"/>
    <p:sldId id="298" r:id="rId38"/>
    <p:sldId id="285" r:id="rId39"/>
    <p:sldId id="286" r:id="rId40"/>
    <p:sldId id="287" r:id="rId41"/>
    <p:sldId id="288" r:id="rId42"/>
    <p:sldId id="300" r:id="rId43"/>
    <p:sldId id="289" r:id="rId44"/>
    <p:sldId id="290" r:id="rId45"/>
    <p:sldId id="291" r:id="rId46"/>
    <p:sldId id="292" r:id="rId47"/>
    <p:sldId id="293" r:id="rId48"/>
    <p:sldId id="294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CCCC"/>
    <a:srgbClr val="FFCC99"/>
    <a:srgbClr val="FFFF99"/>
    <a:srgbClr val="EAF3F8"/>
    <a:srgbClr val="FFFF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83293" autoAdjust="0"/>
  </p:normalViewPr>
  <p:slideViewPr>
    <p:cSldViewPr snapToGrid="0" snapToObjects="1">
      <p:cViewPr varScale="1">
        <p:scale>
          <a:sx n="68" d="100"/>
          <a:sy n="68" d="100"/>
        </p:scale>
        <p:origin x="1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31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C431-08D2-6E17-FD71-55A48E7B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6F343-07C3-0181-3D9D-D38744846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1E315-A205-451B-FD25-A75FB94D4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87643-B31B-ED11-D320-57B169DE4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20064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8B27-ADB1-7E7A-9406-9DB07780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9D2B6-DF91-5695-359E-FB20D8715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AA09E-FC96-8433-47EF-85A020C56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30ECC-F588-D01F-8C99-3AE4A927D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81975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5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6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7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8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9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10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9274-DB5B-7EA0-5474-143CE751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A0A98-400F-7602-7BFD-134BC8C28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40201-1C6C-6FF6-7B5D-C0BB914D2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B1CFE-9CD2-C094-E3D4-5F5B44127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11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61434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12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13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14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15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16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26C3-EC74-E513-75D1-D92CC166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E2E1E-AD40-7F26-BB5D-CC7356308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185CC-A8FD-848A-7A2E-1FBFC06DC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</a:rPr>
              <a:t>It is called random not because the county effect is “random noise” or meaningless, but because the model treats the county-specific intercepts as draws from a shared population distribution.</a:t>
            </a:r>
          </a:p>
          <a:p>
            <a:r>
              <a:rPr lang="en-US" dirty="0">
                <a:latin typeface="David" panose="020E0502060401010101" pitchFamily="34" charset="-79"/>
              </a:rPr>
              <a:t>county-level deviations are modeled as coming from a probability distribution, rather than as unrelated fixed coefficients.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55D4A-ADF1-C305-6DD0-2782977CD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17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9216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</a:rPr>
              <a:t>It is called random not because the county effect is “random noise” or meaningless, but because the model treats the county-specific intercepts as draws from a shared population distribution.</a:t>
            </a:r>
          </a:p>
          <a:p>
            <a:r>
              <a:rPr lang="en-US" dirty="0">
                <a:latin typeface="David" panose="020E0502060401010101" pitchFamily="34" charset="-79"/>
              </a:rPr>
              <a:t>county-level deviations are modeled as coming from a probability distribution, rather than as unrelated fixed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18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</a:rPr>
              <a:t>(1|county) means each county gets its own intercept adjustment.</a:t>
            </a:r>
          </a:p>
          <a:p>
            <a:r>
              <a:rPr lang="en-US" dirty="0">
                <a:latin typeface="David" panose="020E0502060401010101" pitchFamily="34" charset="-79"/>
              </a:rPr>
              <a:t>It does not mean the number 1 is a predictor. It means we are adding a random effect for the intercept.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19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B9F3-8B15-9A42-102E-A9F56050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F4386-CECB-C133-D5DD-2E71EB31F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8A1D3-150C-13AF-2841-4C34A91E5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BCDD9-12C7-4F87-4893-F164060A3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20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64778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21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22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23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24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25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16A9-F19F-F793-C269-24E6098B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7AAAD-7978-6AF6-6EE4-48D01E37D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FDE2E-247A-0C47-3137-1CF7371B4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6BC1-716C-D1B3-78BD-76EBA0EC6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26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6889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27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28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29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30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e-IL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notation</a:t>
            </a:r>
            <a:r>
              <a:rPr lang="he-I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MVNormal</a:t>
            </a:r>
            <a:r>
              <a:rPr lang="he-I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(μ, Σ) </a:t>
            </a:r>
            <a:r>
              <a:rPr lang="he-IL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refers</a:t>
            </a:r>
            <a:r>
              <a:rPr lang="he-IL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</a:t>
            </a:r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31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32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</a:rPr>
              <a:t>https://docs.scipy.org/doc/scipy/reference/generated/scipy.stats.pearsonr.html</a:t>
            </a:r>
            <a:r>
              <a:rPr lang="he-IL" dirty="0">
                <a:latin typeface="David" panose="020E0502060401010101" pitchFamily="34" charset="-79"/>
              </a:rPr>
              <a:t> </a:t>
            </a:r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33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5FB0-59AB-9466-190E-09D721F8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9F80A-CB52-1733-B5C9-2AA4A987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812D9-951B-4D96-0CA1-BACDD3651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</a:rPr>
              <a:t>https://docs.scipy.org/doc/scipy/reference/generated/scipy.stats.pearsonr.html</a:t>
            </a:r>
            <a:r>
              <a:rPr lang="he-IL" dirty="0">
                <a:latin typeface="David" panose="020E0502060401010101" pitchFamily="34" charset="-79"/>
              </a:rPr>
              <a:t> </a:t>
            </a:r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138D6-1E67-F5EC-D000-4F1BFEF9A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34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0848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35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36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AC27-DD2B-7480-8C20-1BC79807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35759-3DEA-ED7B-CBD2-652B1B57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41D33B8-2600-D3C6-93D5-E809AFA207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David" panose="020E0502060401010101" pitchFamily="34" charset="-79"/>
                  </a:rPr>
                  <a:t>https://docs.scipy.org/doc/scipy/reference/generated/scipy.stats.pearsonr.html</a:t>
                </a:r>
                <a:r>
                  <a:rPr lang="he-IL" dirty="0">
                    <a:latin typeface="David" panose="020E0502060401010101" pitchFamily="34" charset="-79"/>
                  </a:rPr>
                  <a:t>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US" b="1" dirty="0">
                    <a:latin typeface="David" panose="020E0502060401010101" pitchFamily="34" charset="-79"/>
                  </a:rPr>
                  <a:t> </a:t>
                </a:r>
                <a:r>
                  <a:rPr lang="en-US" dirty="0">
                    <a:latin typeface="David" panose="020E0502060401010101" pitchFamily="34" charset="-79"/>
                  </a:rPr>
                  <a:t>is the population correlation coefficient, and it measures the direction and strength of the linear relationship between two variables. Its values range from (-1) to (1): positive values indicate a positive linear relationship, negative values indicate a negative linear relationship, and values close to (0) indicate little or no linear relationship.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, the squared correlation, measures the proportion of shared linear variance between the two variables. Its values range from (0) to (1).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:r>
                  <a:rPr lang="en-US" dirty="0">
                    <a:latin typeface="David" panose="020E0502060401010101" pitchFamily="34" charset="-79"/>
                  </a:rPr>
                  <a:t>For example, 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, meaning that 64% of the variance is shared through the linear relationship. Unlike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does not preserve the direction of the relationship: both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 give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. Therefore, (\rho) tells us both the direction and strength of the relationship, while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David" panose="020E0502060401010101" pitchFamily="34" charset="-79"/>
                  </a:rPr>
                  <a:t>tells us only about the amount of shared linear variance.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41D33B8-2600-D3C6-93D5-E809AFA207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David" panose="020E0502060401010101" pitchFamily="34" charset="-79"/>
                  </a:rPr>
                  <a:t>https://docs.scipy.org/doc/scipy/reference/generated/scipy.stats.pearsonr.html</a:t>
                </a:r>
                <a:r>
                  <a:rPr lang="he-IL" dirty="0">
                    <a:latin typeface="David" panose="020E0502060401010101" pitchFamily="34" charset="-79"/>
                  </a:rPr>
                  <a:t>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:r>
                  <a:rPr lang="en-US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𝝆</a:t>
                </a:r>
                <a:r>
                  <a:rPr lang="en-US" b="1" dirty="0">
                    <a:latin typeface="David" panose="020E0502060401010101" pitchFamily="34" charset="-79"/>
                  </a:rPr>
                  <a:t> </a:t>
                </a:r>
                <a:r>
                  <a:rPr lang="en-US" dirty="0">
                    <a:latin typeface="David" panose="020E0502060401010101" pitchFamily="34" charset="-79"/>
                  </a:rPr>
                  <a:t>is the population correlation coefficient, and it measures the direction and strength of the linear relationship between two variables. Its values range from (-1) to (1): positive values indicate a positive linear relationship, negative values indicate a negative linear relationship, and values close to (0) indicate little or no linear relationship.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:r>
                  <a:rPr lang="en-US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𝝆^𝟐</a:t>
                </a:r>
                <a:r>
                  <a:rPr lang="en-US" dirty="0">
                    <a:latin typeface="David" panose="020E0502060401010101" pitchFamily="34" charset="-79"/>
                  </a:rPr>
                  <a:t>, the squared correlation, measures the proportion of shared linear variance between the two variables. Its values range from (0) to (1). 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  <a:p>
                <a:r>
                  <a:rPr lang="en-US" dirty="0">
                    <a:latin typeface="David" panose="020E0502060401010101" pitchFamily="34" charset="-79"/>
                  </a:rPr>
                  <a:t>For example, if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i="0" dirty="0">
                    <a:latin typeface="Cambria Math" panose="02040503050406030204" pitchFamily="18" charset="0"/>
                  </a:rPr>
                  <a:t>= 0.8</a:t>
                </a:r>
                <a:r>
                  <a:rPr lang="en-US" dirty="0">
                    <a:latin typeface="David" panose="020E0502060401010101" pitchFamily="34" charset="-79"/>
                  </a:rPr>
                  <a:t>, then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^2</a:t>
                </a:r>
                <a:r>
                  <a:rPr lang="en-US" i="0" dirty="0">
                    <a:latin typeface="Cambria Math" panose="02040503050406030204" pitchFamily="18" charset="0"/>
                  </a:rPr>
                  <a:t>= 0.64</a:t>
                </a:r>
                <a:r>
                  <a:rPr lang="en-US" dirty="0">
                    <a:latin typeface="David" panose="020E0502060401010101" pitchFamily="34" charset="-79"/>
                  </a:rPr>
                  <a:t>, meaning that 64% of the variance is shared through the linear relationship. Unlike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dirty="0">
                    <a:latin typeface="David" panose="020E0502060401010101" pitchFamily="34" charset="-79"/>
                  </a:rPr>
                  <a:t>,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^2  </a:t>
                </a:r>
                <a:r>
                  <a:rPr lang="en-US" dirty="0">
                    <a:latin typeface="David" panose="020E0502060401010101" pitchFamily="34" charset="-79"/>
                  </a:rPr>
                  <a:t>does not preserve the direction of the relationship: both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i="0" dirty="0">
                    <a:latin typeface="Cambria Math" panose="02040503050406030204" pitchFamily="18" charset="0"/>
                  </a:rPr>
                  <a:t>= 0.8 </a:t>
                </a:r>
                <a:r>
                  <a:rPr lang="en-US" dirty="0">
                    <a:latin typeface="David" panose="020E0502060401010101" pitchFamily="34" charset="-79"/>
                  </a:rPr>
                  <a:t>and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=−0.8</a:t>
                </a:r>
                <a:r>
                  <a:rPr lang="en-US" dirty="0">
                    <a:latin typeface="David" panose="020E0502060401010101" pitchFamily="34" charset="-79"/>
                  </a:rPr>
                  <a:t> give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^2</a:t>
                </a:r>
                <a:r>
                  <a:rPr lang="en-US" i="0" dirty="0">
                    <a:latin typeface="Cambria Math" panose="02040503050406030204" pitchFamily="18" charset="0"/>
                  </a:rPr>
                  <a:t>= 0.64</a:t>
                </a:r>
                <a:r>
                  <a:rPr lang="en-US" dirty="0">
                    <a:latin typeface="David" panose="020E0502060401010101" pitchFamily="34" charset="-79"/>
                  </a:rPr>
                  <a:t>. Therefore, (\rho) tells us both the direction and strength of the relationship, while 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^2  </a:t>
                </a:r>
                <a:r>
                  <a:rPr lang="en-US" dirty="0">
                    <a:latin typeface="David" panose="020E0502060401010101" pitchFamily="34" charset="-79"/>
                  </a:rPr>
                  <a:t>tells us only about the amount of shared linear variance.</a:t>
                </a:r>
              </a:p>
              <a:p>
                <a:endParaRPr lang="en-US" dirty="0">
                  <a:latin typeface="David" panose="020E0502060401010101" pitchFamily="34" charset="-79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8DA07-D7B3-5409-F851-C7D25C95A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37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64477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38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39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40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41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DFBF-60C6-A2C8-26AD-154970068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83601-D6BC-9BD7-3BE9-B29078CE5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825FB-91E0-836C-DA60-9162A9FEF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B0CD9-68A4-025E-6652-ED20135F4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42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620667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43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44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45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46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47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 eaLnBrk="1" latinLnBrk="0" hangingPunct="1"/>
                <a14:m>
                  <m:oMath xmlns:m="http://schemas.openxmlformats.org/officeDocument/2006/math">
                    <m:r>
                      <a:rPr lang="he-IL" sz="1200" b="1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𝝆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the population correlation coefficient, and it measures the direction and strength of the linear relationship between two variables. Its values range from (-1) to (1): positive values indicate a positive linear relationship, negative values indicate a negative linear relationship, and values close to (0) indicate little or no linear relationship. </a:t>
                </a:r>
                <a:endParaRPr lang="he-IL" dirty="0">
                  <a:effectLst/>
                </a:endParaRPr>
              </a:p>
              <a:p>
                <a:pPr rtl="0" eaLnBrk="1" latinLnBrk="0" hangingPunct="1"/>
                <a14:m>
                  <m:oMath xmlns:m="http://schemas.openxmlformats.org/officeDocument/2006/math">
                    <m:sSup>
                      <m:sSupPr>
                        <m:ctrlPr>
                          <a:rPr lang="he-IL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he-IL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𝝆</m:t>
                        </m:r>
                      </m:e>
                      <m:sup>
                        <m:r>
                          <a:rPr lang="he-IL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squared correlation, measures the proportion of shared linear variance between the two variables. Its values range from (0) to (1). </a:t>
                </a:r>
                <a:endParaRPr lang="he-IL" dirty="0">
                  <a:effectLst/>
                </a:endParaRPr>
              </a:p>
              <a:p>
                <a:pPr rtl="0" eaLnBrk="1" latinLnBrk="0" hangingPunct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example, if </a:t>
                </a:r>
                <a14:m>
                  <m:oMath xmlns:m="http://schemas.openxmlformats.org/officeDocument/2006/math"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he-IL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p>
                        <m: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64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meaning that 64% of the variance is shared through the linear relationship. Unlike </a:t>
                </a:r>
                <a14:m>
                  <m:oMath xmlns:m="http://schemas.openxmlformats.org/officeDocument/2006/math"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he-IL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p>
                        <m: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does not preserve the direction of the relationship: both </a:t>
                </a:r>
                <a14:m>
                  <m:oMath xmlns:m="http://schemas.openxmlformats.org/officeDocument/2006/math"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=−</m:t>
                    </m:r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give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he-IL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p>
                        <m: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he-IL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64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Therefore, (\rho) tells us both the direction and strength of the relationship, while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he-IL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p>
                        <m:r>
                          <a:rPr lang="he-IL" sz="1200" b="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he-IL" sz="1200" b="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tells us only about the amount of shared linear variance.</a:t>
                </a:r>
                <a:endParaRPr lang="he-IL" dirty="0">
                  <a:effectLst/>
                </a:endParaRPr>
              </a:p>
              <a:p>
                <a:endParaRPr lang="en-US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 eaLnBrk="1" latinLnBrk="0" hangingPunct="1"/>
                <a:r>
                  <a:rPr lang="he-IL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𝝆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the population correlation coefficient, and it measures the direction and strength of the linear relationship between two variables. Its values range from (-1) to (1): positive values indicate a positive linear relationship, negative values indicate a negative linear relationship, and values close to (0) indicate little or no linear relationship. </a:t>
                </a:r>
                <a:endParaRPr lang="he-IL" dirty="0">
                  <a:effectLst/>
                </a:endParaRPr>
              </a:p>
              <a:p>
                <a:pPr rtl="0" eaLnBrk="1" latinLnBrk="0" hangingPunct="1"/>
                <a:r>
                  <a:rPr lang="he-IL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𝝆^𝟐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squared correlation, measures the proportion of shared linear variance between the two variables. Its values range from (0) to (1). </a:t>
                </a:r>
                <a:endParaRPr lang="he-IL" dirty="0">
                  <a:effectLst/>
                </a:endParaRPr>
              </a:p>
              <a:p>
                <a:pPr rtl="0" eaLnBrk="1" latinLnBrk="0" hangingPunct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example, if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𝜌= 0.8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then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he-IL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^2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 0.64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meaning that 64% of the variance is shared through the linear relationship. Unlike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he-IL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^2 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does not preserve the direction of the relationship: both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𝜌= 0.8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he-IL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=−0.8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give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he-IL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^2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 0.64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Therefore, (\rho) tells us both the direction and strength of the relationship, while </a:t>
                </a:r>
                <a:r>
                  <a:rPr lang="he-IL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he-IL" sz="1200" b="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^2 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tells us only about the amount of shared linear variance.</a:t>
                </a:r>
                <a:endParaRPr lang="he-IL" dirty="0">
                  <a:effectLst/>
                </a:endParaRPr>
              </a:p>
              <a:p>
                <a:endParaRPr lang="en-US" dirty="0">
                  <a:latin typeface="David" panose="020E0502060401010101" pitchFamily="34" charset="-79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David" panose="020E0502060401010101" pitchFamily="34" charset="-79"/>
              </a:rPr>
              <a:t>48</a:t>
            </a:fld>
            <a:endParaRPr lang="en-US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hyperlink" Target="https://www.sciencedirect.com/topics/mathematics/bivariate-normal-distribution" TargetMode="Externa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7048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Tutorial 10</a:t>
            </a:r>
            <a:endParaRPr lang="en-US" sz="50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048" y="2542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Hierarchical Regression and Correlation</a:t>
            </a:r>
            <a:endParaRPr lang="en-US" sz="24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27048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Statistical Computation and Analysis</a:t>
            </a:r>
            <a:endParaRPr lang="en-US" sz="2200" dirty="0">
              <a:latin typeface="David" panose="020E0502060401010101" pitchFamily="34" charset="-79"/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Spring 2026</a:t>
            </a:r>
            <a:endParaRPr lang="en-US" sz="22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622666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Assignment 3 Quiz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9640" y="3744883"/>
            <a:ext cx="10332720" cy="12843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algn="ctr"/>
            <a:endParaRPr lang="he-IL" sz="2200" dirty="0">
              <a:latin typeface="David" panose="020E0502060401010101" pitchFamily="34" charset="-79"/>
              <a:ea typeface="Aptos" pitchFamily="34" charset="-122"/>
              <a:cs typeface="David" panose="020E0502060401010101" pitchFamily="34" charset="-79"/>
            </a:endParaRPr>
          </a:p>
          <a:p>
            <a:pPr algn="ctr" rtl="1"/>
            <a:r>
              <a:rPr lang="en-US" sz="3300" b="1" dirty="0"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Password: HW3</a:t>
            </a:r>
            <a:endParaRPr lang="he-IL" sz="3300" b="1" dirty="0">
              <a:latin typeface="David" panose="020E0502060401010101" pitchFamily="34" charset="-79"/>
              <a:ea typeface="Aptos" pitchFamily="34" charset="-122"/>
              <a:cs typeface="David" panose="020E0502060401010101" pitchFamily="34" charset="-79"/>
            </a:endParaRPr>
          </a:p>
          <a:p>
            <a:pPr algn="ctr"/>
            <a:r>
              <a:rPr lang="en-US" sz="2200" dirty="0"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15 minutes</a:t>
            </a:r>
          </a:p>
          <a:p>
            <a:pPr algn="ctr"/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8 questions</a:t>
            </a:r>
          </a:p>
          <a:p>
            <a:pPr algn="ctr"/>
            <a:r>
              <a:rPr lang="en-US" sz="2200" dirty="0"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Pass\fail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, need to answer at least 4 correct to pass</a:t>
            </a:r>
          </a:p>
          <a:p>
            <a:pPr algn="ctr"/>
            <a:endParaRPr lang="en-US" sz="22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789F-D37F-C937-87F5-620E4B8D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0D3D59-2B78-C67F-E883-C13A67890D87}"/>
              </a:ext>
            </a:extLst>
          </p:cNvPr>
          <p:cNvSpPr/>
          <p:nvPr/>
        </p:nvSpPr>
        <p:spPr>
          <a:xfrm>
            <a:off x="841248" y="43018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Reminder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E1670-4B90-C3DD-5D6E-14160BE3284F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F34F52-11FD-B3B6-9C84-3B8752A22B0A}"/>
              </a:ext>
            </a:extLst>
          </p:cNvPr>
          <p:cNvSpPr/>
          <p:nvPr/>
        </p:nvSpPr>
        <p:spPr>
          <a:xfrm>
            <a:off x="841248" y="1396538"/>
            <a:ext cx="1033272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Reserve duty makeup quizzes: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Assignment quizzes: 21.07 and 11.08 at 16:00 -18:00, location TBD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Midterm quiz: 19.06, time &amp; location TBD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Make sure to makeup all of your missing quizzes &amp; submit all assignments before your final exam.</a:t>
            </a:r>
            <a:endParaRPr lang="en-US" sz="2200" dirty="0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220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7014-E5F1-7AD9-C585-ED1D0CEC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A801AA-9F83-0360-0693-405F0BD05E56}"/>
              </a:ext>
            </a:extLst>
          </p:cNvPr>
          <p:cNvSpPr/>
          <p:nvPr/>
        </p:nvSpPr>
        <p:spPr>
          <a:xfrm>
            <a:off x="841248" y="43018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Tutorial Outline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9E5752-D1F8-761C-01AC-87FCFEFB682E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</a:t>
            </a:r>
            <a:endParaRPr lang="en-US" sz="12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1FCA8EA-DEC2-22F2-5964-6EE832DBD31A}"/>
                  </a:ext>
                </a:extLst>
              </p:cNvPr>
              <p:cNvSpPr/>
              <p:nvPr/>
            </p:nvSpPr>
            <p:spPr>
              <a:xfrm>
                <a:off x="841248" y="1396538"/>
                <a:ext cx="10332720" cy="502920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Hierarchical regression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Regression versus correlation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Pearson’s r, population correlation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²</m:t>
                    </m:r>
                  </m:oMath>
                </a14:m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Covariance matrix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Simple Bayesian bivariate Normal correlation model</a:t>
                </a:r>
                <a:endParaRPr lang="en-US" sz="22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1FCA8EA-DEC2-22F2-5964-6EE832DBD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396538"/>
                <a:ext cx="10332720" cy="5029200"/>
              </a:xfrm>
              <a:prstGeom prst="rect">
                <a:avLst/>
              </a:prstGeom>
              <a:blipFill>
                <a:blip r:embed="rId3"/>
                <a:stretch>
                  <a:fillRect l="-1534" t="-181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02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Main idea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This tutorial focuses on two ways statistical models represent dependence in data.</a:t>
            </a:r>
            <a:endParaRPr lang="en-US" sz="2200" dirty="0">
              <a:latin typeface="David" panose="020E0502060401010101" pitchFamily="34" charset="-79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120640" cy="4206240"/>
          </a:xfrm>
          <a:prstGeom prst="rect">
            <a:avLst/>
          </a:prstGeom>
          <a:solidFill>
            <a:srgbClr val="EAF3F8"/>
          </a:solidFill>
          <a:ln w="12700">
            <a:solidFill>
              <a:srgbClr val="D5E7F0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45352" y="1874520"/>
            <a:ext cx="5120640" cy="4206240"/>
          </a:xfrm>
          <a:prstGeom prst="rect">
            <a:avLst/>
          </a:prstGeom>
          <a:solidFill>
            <a:srgbClr val="FFF2E0"/>
          </a:solidFill>
          <a:ln w="12700">
            <a:solidFill>
              <a:srgbClr val="F4D7B3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Grouped dependence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5720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Observations from the same group may be more similar.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For example: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houses nested within counties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Modeling response: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hierarchical regression</a:t>
            </a:r>
            <a:endParaRPr lang="en-US" sz="1800" b="1" dirty="0">
              <a:latin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73952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822B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Symmetric association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73952" y="2606040"/>
            <a:ext cx="45720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Two variables may vary together without assigning one as outcome and the other as predictor.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r>
              <a:rPr lang="en-US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For example:</a:t>
            </a:r>
          </a:p>
          <a:p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uranium and log radon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Modeling response: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correlation model</a:t>
            </a:r>
            <a:endParaRPr lang="en-US" sz="1800" b="1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0175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Dataset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" y="1324574"/>
            <a:ext cx="45238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PART 1: HIERARCHICAL REGRESSION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965960"/>
            <a:ext cx="5486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Dataset: Household-level radon measurements from Minnesota.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Dependent variable: log_radon.</a:t>
            </a: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Predictors: basement status and county-level uranium.</a:t>
            </a: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Grouping variable: county.</a:t>
            </a: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After cleaning: 878 observations from 85 counties.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2331720" cy="640080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Variable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0" y="1417320"/>
            <a:ext cx="2331720" cy="640080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Role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log_radon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78240" y="205740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Outcome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269748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basement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78240" y="269748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House-level predictor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6446520" y="3337560"/>
                <a:ext cx="2331720" cy="64008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</m:t>
                      </m:r>
                      <m:r>
                        <a:rPr lang="en-US" sz="1600" i="1" dirty="0" err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𝑟𝑎𝑛𝑖𝑢</m:t>
                      </m:r>
                      <m:sSup>
                        <m:sSupPr>
                          <m:ctrlPr>
                            <a:rPr lang="en-US" sz="1600" i="1" dirty="0" err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err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i="1" dirty="0" err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3337560"/>
                <a:ext cx="233172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8778240" y="333756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Standardized uranium predictor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397764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county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78240" y="3977640"/>
            <a:ext cx="23317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Group-level structure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46520" y="480060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Note: uranium is standardized so the slope is interpreted per one standard deviation increase.</a:t>
            </a:r>
            <a:endParaRPr lang="en-US" sz="16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45699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Data preparation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5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" y="1371600"/>
            <a:ext cx="51206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Keep rows with log_radon, basement, Uppm, and county.</a:t>
            </a:r>
            <a:endParaRPr lang="en-US" sz="2000" dirty="0">
              <a:latin typeface="David" panose="020E0502060401010101" pitchFamily="34" charset="-79"/>
            </a:endParaRPr>
          </a:p>
          <a:p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Keep only basement coded as Y or N.</a:t>
            </a:r>
            <a:endParaRPr lang="en-US" sz="2000" dirty="0">
              <a:latin typeface="David" panose="020E0502060401010101" pitchFamily="34" charset="-79"/>
            </a:endParaRPr>
          </a:p>
          <a:p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Convert Uppm and log_radon to numeric.</a:t>
            </a:r>
            <a:endParaRPr lang="en-US" sz="2000" dirty="0">
              <a:latin typeface="David" panose="020E0502060401010101" pitchFamily="34" charset="-79"/>
            </a:endParaRPr>
          </a:p>
          <a:p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Standardize uranium and log radon when needed.</a:t>
            </a:r>
            <a:endParaRPr lang="en-US" sz="2000" dirty="0">
              <a:latin typeface="David" panose="020E0502060401010101" pitchFamily="34" charset="-79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09360" y="1325880"/>
            <a:ext cx="5029200" cy="2194560"/>
          </a:xfrm>
          <a:prstGeom prst="roundRect">
            <a:avLst>
              <a:gd name="adj" fmla="val 1667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46520" y="1435608"/>
            <a:ext cx="4754880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radon["𝑢𝑟𝑎𝑛𝑖𝑢𝑚^𝑧 "] = standardize(radon["Uppm"])</a:t>
            </a:r>
            <a:endParaRPr lang="en-US" sz="15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radon["log_radon_z"] = standardize(radon["log_radon"])</a:t>
            </a:r>
            <a:endParaRPr lang="en-US" sz="15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radon["basement"] = pd.Categorical(</a:t>
            </a:r>
            <a:endParaRPr lang="en-US" sz="15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radon["basement"], categories=["N", "Y"]</a:t>
            </a:r>
            <a:endParaRPr lang="en-US" sz="15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09360" y="3886200"/>
            <a:ext cx="5029200" cy="1005840"/>
          </a:xfrm>
          <a:prstGeom prst="roundRect">
            <a:avLst>
              <a:gd name="adj" fmla="val 3636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46520" y="3995928"/>
            <a:ext cx="47548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𝑢𝑟𝑎𝑛𝑖𝑢𝑚^𝑧  = (uranium − mean(uranium)) / sd(uranium)</a:t>
            </a:r>
            <a:endParaRPr lang="en-US" sz="17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1159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Inspect the data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6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875762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5257800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Output from the notebook: distribution, basement comparison, and uranium association.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Use these plots to check the outcome scale, the basement groups, and the relation between uranium and log radon before fitting models.</a:t>
            </a:r>
            <a:endParaRPr lang="en-US" sz="1600" dirty="0">
              <a:latin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2601B2-6559-A1D5-4A01-62D0CA7DE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65" y="1950098"/>
            <a:ext cx="10693269" cy="2583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40193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County structure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7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61264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868680" y="566928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County means vary and counties have different sample sizes.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0" y="1280160"/>
            <a:ext cx="41148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Houses are nested within counties.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County means vary.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Some counties have very few observations.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This motivates a county-level intercept in the model.</a:t>
            </a:r>
            <a:endParaRPr lang="en-US" sz="1900" dirty="0">
              <a:latin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3A7A4A-E906-E34B-C74E-B2E69EE1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35" y="1657460"/>
            <a:ext cx="5775376" cy="3640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Model 1 - Multiple regression</a:t>
            </a:r>
            <a:endParaRPr lang="en-US" sz="44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8</a:t>
            </a:r>
            <a:endParaRPr lang="en-US" sz="1200" dirty="0">
              <a:latin typeface="David" panose="020E0502060401010101" pitchFamily="34" charset="-79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927018-7700-6B92-2EFF-F33BD6760770}"/>
              </a:ext>
            </a:extLst>
          </p:cNvPr>
          <p:cNvGrpSpPr/>
          <p:nvPr/>
        </p:nvGrpSpPr>
        <p:grpSpPr>
          <a:xfrm>
            <a:off x="744717" y="1376880"/>
            <a:ext cx="9982986" cy="1367149"/>
            <a:chOff x="565608" y="1159235"/>
            <a:chExt cx="9982986" cy="1367149"/>
          </a:xfrm>
        </p:grpSpPr>
        <p:sp>
          <p:nvSpPr>
            <p:cNvPr id="6" name="Shape 4"/>
            <p:cNvSpPr/>
            <p:nvPr/>
          </p:nvSpPr>
          <p:spPr>
            <a:xfrm>
              <a:off x="841248" y="1159235"/>
              <a:ext cx="9433967" cy="1367149"/>
            </a:xfrm>
            <a:prstGeom prst="roundRect">
              <a:avLst>
                <a:gd name="adj" fmla="val 2000"/>
              </a:avLst>
            </a:prstGeom>
            <a:solidFill>
              <a:srgbClr val="F3F3F3"/>
            </a:solidFill>
            <a:ln w="12700">
              <a:solidFill>
                <a:srgbClr val="BFBFBF">
                  <a:alpha val="75000"/>
                </a:srgbClr>
              </a:solidFill>
              <a:prstDash val="solid"/>
            </a:ln>
          </p:spPr>
          <p:txBody>
            <a:bodyPr/>
            <a:lstStyle/>
            <a:p>
              <a:endParaRPr lang="he-IL" dirty="0">
                <a:latin typeface="David" panose="020E0502060401010101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5"/>
                <p:cNvSpPr/>
                <p:nvPr/>
              </p:nvSpPr>
              <p:spPr>
                <a:xfrm>
                  <a:off x="565608" y="1159235"/>
                  <a:ext cx="9982986" cy="1367149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 fontScale="92500" lnSpcReduction="10000"/>
                </a:bodyPr>
                <a:lstStyle/>
                <a:p>
                  <a:pPr/>
                  <a:br>
                    <a:rPr lang="en-US" sz="2000" i="1" dirty="0">
                      <a:solidFill>
                        <a:srgbClr val="111111"/>
                      </a:solidFill>
                      <a:latin typeface="Cambria Math" panose="02040503050406030204" pitchFamily="18" charset="0"/>
                      <a:ea typeface="Aptos" pitchFamily="34" charset="-122"/>
                      <a:cs typeface="David" panose="020E0502060401010101" pitchFamily="34" charset="-79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log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⁡_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𝑟𝑎𝑑𝑜𝑛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~ 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𝑏𝑎𝑠𝑒𝑚𝑒𝑛𝑡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+ 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𝑢𝑟𝑎𝑛𝑖𝑢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𝑧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</m:t>
                        </m:r>
                      </m:oMath>
                    </m:oMathPara>
                  </a14:m>
                  <a:endParaRPr lang="en-US" sz="2000" dirty="0">
                    <a:solidFill>
                      <a:srgbClr val="111111"/>
                    </a:solidFill>
                    <a:ea typeface="Aptos" pitchFamily="34" charset="-122"/>
                    <a:cs typeface="David" panose="020E0502060401010101" pitchFamily="34" charset="-79"/>
                  </a:endParaRPr>
                </a:p>
                <a:p>
                  <a:endParaRPr lang="en-US" sz="2000" i="1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Aptos" pitchFamily="34" charset="-122"/>
                    <a:cs typeface="David" panose="020E0502060401010101" pitchFamily="34" charset="-79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𝑦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ᵢ ~ 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𝑁𝑜𝑟𝑚𝑎𝑙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𝜇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ᵢ, 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𝜎</m:t>
                        </m:r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)</m:t>
                        </m:r>
                      </m:oMath>
                    </m:oMathPara>
                  </a14:m>
                  <a:endParaRPr lang="he-IL" sz="1900" i="1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Aptos" pitchFamily="34" charset="-122"/>
                    <a:cs typeface="David" panose="020E0502060401010101" pitchFamily="34" charset="-79"/>
                  </a:endParaRPr>
                </a:p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𝜇</m:t>
                        </m:r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ᵢ = </m:t>
                        </m:r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𝛽</m:t>
                        </m:r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₀</m:t>
                        </m:r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+ </m:t>
                        </m:r>
                        <m:sSub>
                          <m:sSubPr>
                            <m:ctrlP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sSubPr>
                          <m:e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𝑏𝑎𝑠𝑒𝑚𝑒𝑛𝑡</m:t>
                            </m:r>
                          </m:sub>
                        </m:sSub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</m:t>
                        </m:r>
                        <m:sSub>
                          <m:sSubPr>
                            <m:ctrlP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sSubPr>
                          <m:e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𝑏𝑎𝑠𝑒𝑚𝑒𝑛𝑡</m:t>
                            </m:r>
                          </m:sub>
                        </m:sSub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,ᵢ + </m:t>
                        </m:r>
                        <m:sSub>
                          <m:sSubPr>
                            <m:ctrlP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sSubPr>
                          <m:e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𝑢𝑟𝑎𝑛𝑖𝑢</m:t>
                            </m:r>
                            <m:sSup>
                              <m:sSupPr>
                                <m:ctrlPr>
                                  <a:rPr lang="en-US" sz="190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en-US" sz="19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190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𝑧</m:t>
                                </m:r>
                              </m:sup>
                            </m:sSup>
                          </m:sub>
                        </m:sSub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 </m:t>
                        </m:r>
                        <m:sSub>
                          <m:sSubPr>
                            <m:ctrlP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sSubPr>
                          <m:e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𝑢𝑟𝑎𝑛𝑖𝑢</m:t>
                            </m:r>
                            <m:sSup>
                              <m:sSupPr>
                                <m:ctrlPr>
                                  <a:rPr lang="en-US" sz="190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en-US" sz="19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190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𝑧</m:t>
                                </m:r>
                              </m:sup>
                            </m:sSup>
                          </m:sub>
                        </m:sSub>
                        <m:r>
                          <a:rPr lang="en-US" sz="1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,ᵢ</m:t>
                        </m:r>
                      </m:oMath>
                    </m:oMathPara>
                  </a14:m>
                  <a:endParaRPr lang="he-IL" sz="1900" i="1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Aptos" pitchFamily="34" charset="-122"/>
                    <a:cs typeface="David" panose="020E0502060401010101" pitchFamily="34" charset="-79"/>
                  </a:endParaRPr>
                </a:p>
                <a:p>
                  <a:pPr marL="0" indent="0">
                    <a:buNone/>
                  </a:pPr>
                  <a:endParaRPr lang="he-IL" sz="1900" i="1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Aptos" pitchFamily="34" charset="-122"/>
                    <a:cs typeface="David" panose="020E0502060401010101" pitchFamily="34" charset="-79"/>
                  </a:endParaRPr>
                </a:p>
              </p:txBody>
            </p:sp>
          </mc:Choice>
          <mc:Fallback xmlns="">
            <p:sp>
              <p:nvSpPr>
                <p:cNvPr id="7" name="Text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608" y="1159235"/>
                  <a:ext cx="9982986" cy="1367149"/>
                </a:xfrm>
                <a:prstGeom prst="rect">
                  <a:avLst/>
                </a:prstGeom>
                <a:blipFill>
                  <a:blip r:embed="rId3"/>
                  <a:stretch>
                    <a:fillRect l="-1404" b="-18750"/>
                  </a:stretch>
                </a:blipFill>
                <a:ln/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37788" y="3083393"/>
                <a:ext cx="7675860" cy="2304663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𝛽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₀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: expected log radon for the reference basement category at average uranium.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𝛽</m:t>
                        </m:r>
                      </m:e>
                      <m:sub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𝑏𝑎𝑠𝑒𝑚𝑒𝑛𝑡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: expected difference between basement categories.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𝛽</m:t>
                        </m:r>
                      </m:e>
                      <m:sub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𝑢𝑟𝑎𝑛𝑖𝑢𝑚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: expected change for one-SD increase in uranium.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: residual house-level variation.</a:t>
                </a:r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88" y="3083393"/>
                <a:ext cx="7675860" cy="2304663"/>
              </a:xfrm>
              <a:prstGeom prst="rect">
                <a:avLst/>
              </a:prstGeom>
              <a:blipFill>
                <a:blip r:embed="rId4"/>
                <a:stretch>
                  <a:fillRect l="-1747" r="-23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FC17-E71F-D63E-2BAA-193B2DA7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3C78C8-372F-8DF1-D2F9-9186A51F98D6}"/>
              </a:ext>
            </a:extLst>
          </p:cNvPr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Model 1 - Multiple regression</a:t>
            </a:r>
            <a:endParaRPr lang="en-US" sz="44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D31857-1778-F92D-7AC6-76BE25A1B8FD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8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7E967D-12C5-F267-E606-E9854923544D}"/>
              </a:ext>
            </a:extLst>
          </p:cNvPr>
          <p:cNvSpPr/>
          <p:nvPr/>
        </p:nvSpPr>
        <p:spPr>
          <a:xfrm>
            <a:off x="631080" y="1159235"/>
            <a:ext cx="6226696" cy="182880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09DACB3C-A355-D3E8-4DC1-77745FF3435C}"/>
                  </a:ext>
                </a:extLst>
              </p:cNvPr>
              <p:cNvSpPr/>
              <p:nvPr/>
            </p:nvSpPr>
            <p:spPr>
              <a:xfrm>
                <a:off x="768240" y="1268963"/>
                <a:ext cx="6108421" cy="16093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log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⁡_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𝑟𝑎𝑑𝑜𝑛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~ 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r>
                        <a:rPr lang="en-US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111111"/>
                  </a:solidFill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~ 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𝑁𝑜𝑟𝑚𝑎𝑙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he-IL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 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𝛽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₀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 +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16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16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</m:t>
                      </m:r>
                    </m:oMath>
                  </m:oMathPara>
                </a14:m>
                <a:endParaRPr lang="he-IL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he-IL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09DACB3C-A355-D3E8-4DC1-77745FF343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40" y="1268963"/>
                <a:ext cx="6108421" cy="1609344"/>
              </a:xfrm>
              <a:prstGeom prst="rect">
                <a:avLst/>
              </a:prstGeom>
              <a:blipFill>
                <a:blip r:embed="rId3"/>
                <a:stretch>
                  <a:fillRect l="-199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9509C3E-A5BE-3A57-0E06-2AB04E6B36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5258"/>
          <a:stretch>
            <a:fillRect/>
          </a:stretch>
        </p:blipFill>
        <p:spPr>
          <a:xfrm>
            <a:off x="1018529" y="4000595"/>
            <a:ext cx="4844030" cy="1313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28A74-680D-C78E-B127-3457B155AF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480"/>
          <a:stretch>
            <a:fillRect/>
          </a:stretch>
        </p:blipFill>
        <p:spPr>
          <a:xfrm>
            <a:off x="7089180" y="1945028"/>
            <a:ext cx="4981085" cy="40693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6">
                <a:extLst>
                  <a:ext uri="{FF2B5EF4-FFF2-40B4-BE49-F238E27FC236}">
                    <a16:creationId xmlns:a16="http://schemas.microsoft.com/office/drawing/2014/main" id="{99896F8D-3D54-123E-F36B-22CBAAAC1FB9}"/>
                  </a:ext>
                </a:extLst>
              </p:cNvPr>
              <p:cNvSpPr/>
              <p:nvPr/>
            </p:nvSpPr>
            <p:spPr>
              <a:xfrm>
                <a:off x="768240" y="3374604"/>
                <a:ext cx="5595238" cy="2304663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h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𝑜𝑜𝑠𝑖𝑛𝑔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𝑜𝑢𝑟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𝑜𝑤𝑛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𝑝𝑟𝑖𝑜𝑟𝑠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d>
                      <m:dPr>
                        <m:ctrlPr>
                          <a:rPr lang="en-US" sz="1800" b="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𝑜𝑝𝑡𝑖𝑜𝑛𝑎𝑙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:</m:t>
                    </m:r>
                  </m:oMath>
                </a14:m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2" name="Text 6">
                <a:extLst>
                  <a:ext uri="{FF2B5EF4-FFF2-40B4-BE49-F238E27FC236}">
                    <a16:creationId xmlns:a16="http://schemas.microsoft.com/office/drawing/2014/main" id="{99896F8D-3D54-123E-F36B-22CBAAAC1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40" y="3374604"/>
                <a:ext cx="5595238" cy="2304663"/>
              </a:xfrm>
              <a:prstGeom prst="rect">
                <a:avLst/>
              </a:prstGeom>
              <a:blipFill>
                <a:blip r:embed="rId5"/>
                <a:stretch>
                  <a:fillRect l="-228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6">
                <a:extLst>
                  <a:ext uri="{FF2B5EF4-FFF2-40B4-BE49-F238E27FC236}">
                    <a16:creationId xmlns:a16="http://schemas.microsoft.com/office/drawing/2014/main" id="{D0A8A286-EF17-3B19-691A-F7887C57FA6F}"/>
                  </a:ext>
                </a:extLst>
              </p:cNvPr>
              <p:cNvSpPr/>
              <p:nvPr/>
            </p:nvSpPr>
            <p:spPr>
              <a:xfrm>
                <a:off x="7108065" y="1371633"/>
                <a:ext cx="4981085" cy="2304663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𝑀𝑜𝑑𝑒𝑙𝑖𝑛𝑔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𝑤𝑖𝑡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h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𝐵𝑎𝑚𝑏𝑖</m:t>
                    </m:r>
                    <m:r>
                      <a:rPr lang="en-US" sz="1800" b="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:</m:t>
                    </m:r>
                  </m:oMath>
                </a14:m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4" name="Text 6">
                <a:extLst>
                  <a:ext uri="{FF2B5EF4-FFF2-40B4-BE49-F238E27FC236}">
                    <a16:creationId xmlns:a16="http://schemas.microsoft.com/office/drawing/2014/main" id="{D0A8A286-EF17-3B19-691A-F7887C57F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065" y="1371633"/>
                <a:ext cx="4981085" cy="2304663"/>
              </a:xfrm>
              <a:prstGeom prst="rect">
                <a:avLst/>
              </a:prstGeom>
              <a:blipFill>
                <a:blip r:embed="rId6"/>
                <a:stretch>
                  <a:fillRect l="-2570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146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68329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Multiple regression: prior predictive check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9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667512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222457"/>
            <a:ext cx="6638544" cy="41844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5778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Cumulative prior predictive check.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18119" y="1234440"/>
            <a:ext cx="3751839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Checks whether the priors generate plausible log-radon values before fitting.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Not a model-fit check.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observed distribution should fall within the range implied by the prior predictive distribution.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88036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Multiple regression: sampling diagnostics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10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4088" y="1581912"/>
            <a:ext cx="59436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71358"/>
            <a:ext cx="5907024" cy="3918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9253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Trace plots for fixed effects and residual σ.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67728" y="1947672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30768" y="1947672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ESS bulk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93808" y="1947672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R-hat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67728" y="2331720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Intercept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30768" y="2331720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4301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93808" y="2331720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67728" y="271576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basement[Y]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30768" y="271576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4319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93808" y="271576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3"/>
              <p:cNvSpPr/>
              <p:nvPr/>
            </p:nvSpPr>
            <p:spPr>
              <a:xfrm>
                <a:off x="6967728" y="3099816"/>
                <a:ext cx="1463040" cy="3840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8" y="3099816"/>
                <a:ext cx="1463040" cy="384048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8430768" y="309981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4215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893808" y="309981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67728" y="348386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sigma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430768" y="348386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4348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93808" y="348386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67728" y="4233672"/>
            <a:ext cx="450189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Diagnostics check sampling validity.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Here the chains mixed well and R-hat is approximately 1.</a:t>
            </a:r>
            <a:endParaRPr lang="en-US" sz="17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0175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Multiple regression: posterior summary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11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850447"/>
            <a:ext cx="1737360" cy="42976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90800" y="1850447"/>
            <a:ext cx="1737360" cy="42976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Mean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28160" y="1850447"/>
            <a:ext cx="1737360" cy="42976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94% HDI</a:t>
            </a:r>
            <a:endParaRPr lang="en-US" sz="15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853440" y="2280215"/>
                <a:ext cx="1737360" cy="42976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𝐼𝑛𝑡𝑒𝑟𝑐𝑒𝑝𝑡</m:t>
                      </m:r>
                    </m:oMath>
                  </m:oMathPara>
                </a14:m>
                <a:endParaRPr lang="en-US" sz="15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2280215"/>
                <a:ext cx="1737360" cy="4297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2590800" y="2280215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0.838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28160" y="2280215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[0.662, 1.025]</a:t>
            </a:r>
            <a:endParaRPr lang="en-US" sz="15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53440" y="2709983"/>
                <a:ext cx="1737360" cy="42976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𝑌</m:t>
                      </m:r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2709983"/>
                <a:ext cx="1737360" cy="429768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2590800" y="2709983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0.456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8160" y="2709983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[0.259, 0.640]</a:t>
            </a:r>
            <a:endParaRPr lang="en-US" sz="15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853440" y="3139751"/>
                <a:ext cx="1737360" cy="42976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5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5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5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3139751"/>
                <a:ext cx="1737360" cy="429768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2590800" y="3139751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0.259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28160" y="3139751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[0.207, 0.309]</a:t>
            </a:r>
            <a:endParaRPr lang="en-US" sz="15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853440" y="3569519"/>
                <a:ext cx="1737360" cy="42976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𝑠𝑖𝑔𝑚𝑎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3569519"/>
                <a:ext cx="1737360" cy="429768"/>
              </a:xfrm>
              <a:prstGeom prst="rect">
                <a:avLst/>
              </a:prstGeom>
              <a:blipFill>
                <a:blip r:embed="rId6"/>
                <a:stretch>
                  <a:fillRect b="-1389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2590800" y="3569519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0.770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28160" y="3569519"/>
            <a:ext cx="17373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[0.735, 0.805]</a:t>
            </a:r>
            <a:endParaRPr lang="en-US" sz="1500" dirty="0">
              <a:latin typeface="David" panose="020E0502060401010101" pitchFamily="34" charset="-79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5560" y="1850447"/>
            <a:ext cx="52030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Houses with basement = Y have higher expected log radon than the reference group, after accounting for uranium.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Higher county uranium is associated with higher expected log radon.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σ is the remaining residual variation around the regression mean.</a:t>
            </a:r>
            <a:endParaRPr lang="en-US" sz="1800" dirty="0">
              <a:latin typeface="David" panose="020E0502060401010101" pitchFamily="34" charset="-79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Interpretation should remain observational. The regression model describes association under the model assumptions.</a:t>
            </a:r>
            <a:endParaRPr lang="en-US" sz="16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Multiple regression: posterior predictive check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40080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63194"/>
            <a:ext cx="6364224" cy="40115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486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predictive check for log radon.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52359" y="1234440"/>
            <a:ext cx="4173583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predictive checks ask whether the fitted model can generate data that resemble the observed data.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model captures the central part of the distribution reasonably well.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Any mismatch in tails or shape suggests model limitations.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6677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Multiple regression: posterior predictions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13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649224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18332"/>
            <a:ext cx="6455664" cy="3992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7784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Predicted log radon as a function of standardized uranium and basement status.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3657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fitted lines summarize expected log radon across uranium values.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Basement status changes the intercept.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model uses one uranium slope shared across basement groups.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3483-4072-996B-3E3B-83EF044E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9F97A2-2C5F-72EB-D4BD-DE5BC14B3406}"/>
              </a:ext>
            </a:extLst>
          </p:cNvPr>
          <p:cNvSpPr/>
          <p:nvPr/>
        </p:nvSpPr>
        <p:spPr>
          <a:xfrm>
            <a:off x="868680" y="25146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Why add a hierarchical county intercept?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5AF5F9-BAFE-698A-25EB-0C4FF423F3A5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14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89114B-8D70-47EA-D6B5-C9DD3F55FFDE}"/>
              </a:ext>
            </a:extLst>
          </p:cNvPr>
          <p:cNvSpPr/>
          <p:nvPr/>
        </p:nvSpPr>
        <p:spPr>
          <a:xfrm>
            <a:off x="868680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multiple regression treats all remaining variation as residual house-level noise.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306B9B-2CB6-2564-B2FE-D07EADB3A48C}"/>
              </a:ext>
            </a:extLst>
          </p:cNvPr>
          <p:cNvSpPr/>
          <p:nvPr/>
        </p:nvSpPr>
        <p:spPr>
          <a:xfrm>
            <a:off x="914400" y="1828800"/>
            <a:ext cx="10241280" cy="777240"/>
          </a:xfrm>
          <a:prstGeom prst="roundRect">
            <a:avLst>
              <a:gd name="adj" fmla="val 4706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D6ACDF57-A5F9-F3C3-9C52-604EF84C8579}"/>
                  </a:ext>
                </a:extLst>
              </p:cNvPr>
              <p:cNvSpPr/>
              <p:nvPr/>
            </p:nvSpPr>
            <p:spPr>
              <a:xfrm>
                <a:off x="1051560" y="1938528"/>
                <a:ext cx="9966960" cy="5577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 </m:t>
                      </m:r>
                      <m:sSub>
                        <m:sSubPr>
                          <m:ctrlPr>
                            <a:rPr lang="en-US" sz="21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0</m:t>
                          </m:r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 + </m:t>
                      </m:r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1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1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1938528"/>
                <a:ext cx="9966960" cy="557784"/>
              </a:xfrm>
              <a:prstGeom prst="rect">
                <a:avLst/>
              </a:prstGeom>
              <a:blipFill>
                <a:blip r:embed="rId3"/>
                <a:stretch>
                  <a:fillRect b="-7609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>
            <a:extLst>
              <a:ext uri="{FF2B5EF4-FFF2-40B4-BE49-F238E27FC236}">
                <a16:creationId xmlns:a16="http://schemas.microsoft.com/office/drawing/2014/main" id="{AEAA8349-631B-FE62-7C6A-912A998A0734}"/>
              </a:ext>
            </a:extLst>
          </p:cNvPr>
          <p:cNvSpPr/>
          <p:nvPr/>
        </p:nvSpPr>
        <p:spPr>
          <a:xfrm>
            <a:off x="868680" y="301752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But homes from the same county may share geological or environmental factors not fully captured by uranium.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93A394-A348-82F8-FB95-552B2CA48CB5}"/>
              </a:ext>
            </a:extLst>
          </p:cNvPr>
          <p:cNvSpPr/>
          <p:nvPr/>
        </p:nvSpPr>
        <p:spPr>
          <a:xfrm>
            <a:off x="914400" y="3794760"/>
            <a:ext cx="10241280" cy="150876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DAB733F0-A950-52A2-A1F0-B95A6FE9F1C2}"/>
                  </a:ext>
                </a:extLst>
              </p:cNvPr>
              <p:cNvSpPr/>
              <p:nvPr/>
            </p:nvSpPr>
            <p:spPr>
              <a:xfrm>
                <a:off x="1051560" y="3904488"/>
                <a:ext cx="9966960" cy="139903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Add a county-level baseline: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0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, 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𝑐𝑜𝑢𝑛𝑡𝑦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sz="200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Where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𝑢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𝑐𝑜𝑢𝑛𝑡𝑦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is random </a:t>
                </a:r>
                <a:r>
                  <a:rPr lang="he-IL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intercept adjustment</a:t>
                </a: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for a specific county </a:t>
                </a:r>
                <a:endParaRPr lang="he-IL" sz="200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sz="2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DAB733F0-A950-52A2-A1F0-B95A6FE9F1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904488"/>
                <a:ext cx="9966960" cy="1399032"/>
              </a:xfrm>
              <a:prstGeom prst="rect">
                <a:avLst/>
              </a:prstGeom>
              <a:blipFill>
                <a:blip r:embed="rId4"/>
                <a:stretch>
                  <a:fillRect l="-1590" t="-12664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143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5146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Why add a hierarchical county intercept?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14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multiple regression treats all remaining variation as residual house-level noise.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241280" cy="777240"/>
          </a:xfrm>
          <a:prstGeom prst="roundRect">
            <a:avLst>
              <a:gd name="adj" fmla="val 4706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51560" y="1938528"/>
                <a:ext cx="9966960" cy="5577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 </m:t>
                      </m:r>
                      <m:sSub>
                        <m:sSubPr>
                          <m:ctrlPr>
                            <a:rPr lang="en-US" sz="21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0</m:t>
                          </m:r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 + </m:t>
                      </m:r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1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1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1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1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1938528"/>
                <a:ext cx="9966960" cy="557784"/>
              </a:xfrm>
              <a:prstGeom prst="rect">
                <a:avLst/>
              </a:prstGeom>
              <a:blipFill>
                <a:blip r:embed="rId3"/>
                <a:stretch>
                  <a:fillRect b="-7609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868680" y="301752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But homes from the same county may share geological or environmental factors not fully captured by uranium.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10241280" cy="150876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1051560" y="3904488"/>
                <a:ext cx="9966960" cy="139903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Add a county-level baseline: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0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, 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𝑐𝑜𝑢𝑛𝑡𝑦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sz="200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Where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𝑢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𝑐𝑜𝑢𝑛𝑡𝑦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David" panose="020E0502060401010101" pitchFamily="34" charset="-79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is random </a:t>
                </a:r>
                <a:r>
                  <a:rPr lang="he-IL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intercept adjustment</a:t>
                </a: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for a specific county </a:t>
                </a:r>
                <a:endParaRPr lang="he-IL" sz="200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sz="2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904488"/>
                <a:ext cx="9966960" cy="1399032"/>
              </a:xfrm>
              <a:prstGeom prst="rect">
                <a:avLst/>
              </a:prstGeom>
              <a:blipFill>
                <a:blip r:embed="rId4"/>
                <a:stretch>
                  <a:fillRect l="-1590" t="-12664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4EE607-6699-AE61-4547-8384C635A8AC}"/>
              </a:ext>
            </a:extLst>
          </p:cNvPr>
          <p:cNvSpPr txBox="1"/>
          <p:nvPr/>
        </p:nvSpPr>
        <p:spPr>
          <a:xfrm>
            <a:off x="169683" y="614487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66666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It is called random not because the county effect is “random noise” or meaningless, but because the model treats the county-specific intercepts as draws from a shared population distribution.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C28B39-A839-482D-57DA-E81C812B263A}"/>
              </a:ext>
            </a:extLst>
          </p:cNvPr>
          <p:cNvCxnSpPr>
            <a:cxnSpLocks/>
          </p:cNvCxnSpPr>
          <p:nvPr/>
        </p:nvCxnSpPr>
        <p:spPr>
          <a:xfrm flipV="1">
            <a:off x="1051560" y="5192768"/>
            <a:ext cx="2165337" cy="95210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Model 2 - Hierarchical regression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15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5669280" cy="685800"/>
          </a:xfrm>
          <a:prstGeom prst="roundRect">
            <a:avLst>
              <a:gd name="adj" fmla="val 5333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207008"/>
                <a:ext cx="5394960" cy="4663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log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⁡_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𝑟𝑎𝑑𝑜𝑛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~ 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20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 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(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|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𝑐𝑜𝑢𝑛𝑡𝑦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207008"/>
                <a:ext cx="5394960" cy="466344"/>
              </a:xfrm>
              <a:prstGeom prst="rect">
                <a:avLst/>
              </a:prstGeom>
              <a:blipFill>
                <a:blip r:embed="rId3"/>
                <a:stretch>
                  <a:fillRect b="-389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293620" y="3900582"/>
            <a:ext cx="8214360" cy="1981744"/>
          </a:xfrm>
          <a:prstGeom prst="roundRect">
            <a:avLst>
              <a:gd name="adj" fmla="val 129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2293620" y="3900582"/>
                <a:ext cx="8214360" cy="19817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~ 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𝑁𝑜𝑟𝑚𝑎𝑙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18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+ </m:t>
                          </m:r>
                          <m:sSub>
                            <m:sSubPr>
                              <m:ctrlP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bPr>
                            <m:e>
                              <m: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𝑐𝑜𝑢𝑛𝑡𝑦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 dirty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David" panose="020E0502060401010101" pitchFamily="34" charset="-79"/>
                                    </a:rPr>
                                  </m:ctrlPr>
                                </m:dPr>
                                <m:e>
                                  <m:r>
                                    <a:rPr lang="ar-AE" i="1" dirty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David" panose="020E0502060401010101" pitchFamily="34" charset="-79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sSub>
                        <m:sSubPr>
                          <m:ctrlP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ar-AE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</m:t>
                      </m:r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+ </m:t>
                      </m:r>
                      <m:sSub>
                        <m:sSubPr>
                          <m:ctrlP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𝑢𝑟𝑎𝑛𝑖𝑢𝑚</m:t>
                          </m:r>
                        </m:sub>
                      </m:sSub>
                      <m:r>
                        <a:rPr lang="ar-AE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𝑢𝑟𝑎𝑛𝑖𝑢𝑚</m:t>
                          </m:r>
                        </m:sub>
                      </m:sSub>
                      <m:r>
                        <a:rPr lang="ar-AE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</m:t>
                      </m:r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</m:t>
                      </m:r>
                    </m:oMath>
                  </m:oMathPara>
                </a14:m>
                <a:endParaRPr lang="en-US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en-US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</m:t>
                      </m:r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ⱼ ~ </m:t>
                      </m:r>
                      <m:r>
                        <a:rPr lang="en-US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𝑁𝑜𝑟𝑚𝑎𝑙</m:t>
                      </m:r>
                      <m:d>
                        <m:dPr>
                          <m:ctrlP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0</m:t>
                          </m:r>
                          <m:r>
                            <a:rPr lang="ar-AE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, </m:t>
                          </m:r>
                          <m:sSub>
                            <m:sSubPr>
                              <m:ctrlP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bPr>
                            <m:e>
                              <m: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𝑐𝑜𝑢𝑛𝑡𝑦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620" y="3900582"/>
                <a:ext cx="8214360" cy="1981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841248" y="1983676"/>
                <a:ext cx="7089772" cy="2550795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(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1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|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𝑐𝑜𝑢𝑛𝑡𝑦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): 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each county gets an intercept adjustment.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county effects are modeled as related, not completely independent.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𝜎</m:t>
                        </m:r>
                      </m:e>
                      <m:sub>
                        <m:r>
                          <a:rPr lang="en-US" sz="18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David" panose="020E0502060401010101" pitchFamily="34" charset="-79"/>
                          </a:rPr>
                          <m:t>𝑐𝑜𝑢𝑛𝑡𝑦</m:t>
                        </m:r>
                      </m:sub>
                    </m:sSub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measures between-county baseline variation.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𝜎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measures residual house-level variation.</a:t>
                </a:r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983676"/>
                <a:ext cx="7089772" cy="2550795"/>
              </a:xfrm>
              <a:prstGeom prst="rect">
                <a:avLst/>
              </a:prstGeom>
              <a:blipFill>
                <a:blip r:embed="rId5"/>
                <a:stretch>
                  <a:fillRect l="-180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83580-24D0-CD4C-F72E-A34FC876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21A15B-3C8F-3397-D107-CAABF432775C}"/>
              </a:ext>
            </a:extLst>
          </p:cNvPr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Model 2 - Hierarchical regression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B1E7B4-50E3-6BA5-E89D-DBBADF113FBA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15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1614C89-9C60-2351-9B0F-FDBD8FB85C9C}"/>
              </a:ext>
            </a:extLst>
          </p:cNvPr>
          <p:cNvSpPr/>
          <p:nvPr/>
        </p:nvSpPr>
        <p:spPr>
          <a:xfrm>
            <a:off x="570284" y="1012438"/>
            <a:ext cx="7099480" cy="1964027"/>
          </a:xfrm>
          <a:prstGeom prst="roundRect">
            <a:avLst>
              <a:gd name="adj" fmla="val 129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1AD19B7-D053-CE24-88F5-6B7CE6C1655A}"/>
                  </a:ext>
                </a:extLst>
              </p:cNvPr>
              <p:cNvSpPr/>
              <p:nvPr/>
            </p:nvSpPr>
            <p:spPr>
              <a:xfrm>
                <a:off x="570282" y="1012438"/>
                <a:ext cx="7099481" cy="1964027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log</m:t>
                      </m:r>
                      <m:r>
                        <a:rPr lang="en-US" sz="16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⁡_</m:t>
                      </m:r>
                      <m:r>
                        <a:rPr lang="en-US" sz="16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𝑟𝑎𝑑𝑜𝑛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~ 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 + 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1</m:t>
                          </m:r>
                        </m:e>
                        <m:e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𝑐𝑜𝑢𝑛𝑡𝑦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endParaRPr lang="he-IL" sz="12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~ </m:t>
                      </m:r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𝑁𝑜𝑟𝑚𝑎𝑙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𝜇</m:t>
                          </m:r>
                          <m: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ᵢ, </m:t>
                          </m:r>
                          <m: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14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en-US" sz="14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=</m:t>
                      </m:r>
                      <m:d>
                        <m:dPr>
                          <m:ctrlP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+ </m:t>
                          </m:r>
                          <m:sSub>
                            <m:sSubPr>
                              <m:ctrlPr>
                                <a:rPr lang="ar-AE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bPr>
                            <m:e>
                              <m:r>
                                <a:rPr lang="ar-AE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6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𝑐𝑜𝑢𝑛𝑡𝑦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sz="1600" i="1" dirty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David" panose="020E0502060401010101" pitchFamily="34" charset="-79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 dirty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David" panose="020E0502060401010101" pitchFamily="34" charset="-79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+ </m:t>
                      </m:r>
                      <m:sSub>
                        <m:sSubPr>
                          <m:ctrlP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sSub>
                        <m:sSubPr>
                          <m:ctrlP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𝑏𝑎𝑠𝑒𝑚𝑒𝑛𝑡</m:t>
                          </m:r>
                        </m:sub>
                      </m:sSub>
                      <m:r>
                        <a:rPr lang="ar-AE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+ </m:t>
                      </m:r>
                      <m:sSub>
                        <m:sSubPr>
                          <m:ctrlP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𝛽</m:t>
                          </m:r>
                        </m:e>
                        <m:sub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𝑢𝑟𝑎𝑛𝑖𝑢𝑚</m:t>
                          </m:r>
                        </m:sub>
                      </m:sSub>
                      <m:r>
                        <a:rPr lang="ar-AE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sSub>
                        <m:sSubPr>
                          <m:ctrlP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𝑥</m:t>
                          </m:r>
                        </m:e>
                        <m:sub>
                          <m:r>
                            <a:rPr lang="ar-AE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𝑢𝑟𝑎𝑛𝑖𝑢𝑚</m:t>
                          </m:r>
                        </m:sub>
                      </m:sSub>
                      <m:r>
                        <a:rPr lang="ar-AE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</m:t>
                      </m:r>
                    </m:oMath>
                  </m:oMathPara>
                </a14:m>
                <a:endParaRPr lang="en-US" sz="16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1AD19B7-D053-CE24-88F5-6B7CE6C16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82" y="1012438"/>
                <a:ext cx="7099481" cy="1964027"/>
              </a:xfrm>
              <a:prstGeom prst="rect">
                <a:avLst/>
              </a:prstGeom>
              <a:blipFill>
                <a:blip r:embed="rId3"/>
                <a:stretch>
                  <a:fillRect l="-1375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C6EEEBE-28F6-DD93-BCF2-534289EEF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769"/>
          <a:stretch>
            <a:fillRect/>
          </a:stretch>
        </p:blipFill>
        <p:spPr>
          <a:xfrm>
            <a:off x="570283" y="3508201"/>
            <a:ext cx="6016138" cy="1520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C88ABD-0723-1447-13CC-047E9E5995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027"/>
          <a:stretch>
            <a:fillRect/>
          </a:stretch>
        </p:blipFill>
        <p:spPr>
          <a:xfrm>
            <a:off x="5698886" y="3229951"/>
            <a:ext cx="6016138" cy="30654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FF4672-726A-3DC9-B44D-1B75F3CE587F}"/>
              </a:ext>
            </a:extLst>
          </p:cNvPr>
          <p:cNvSpPr/>
          <p:nvPr/>
        </p:nvSpPr>
        <p:spPr>
          <a:xfrm>
            <a:off x="6287678" y="5222449"/>
            <a:ext cx="5427346" cy="62311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645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62171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Hierarchical regression: prior predictive check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16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667512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22457"/>
            <a:ext cx="6638544" cy="41844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778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Cumulative prior predictive check.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0" y="1234440"/>
            <a:ext cx="35204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hierarchical model has an additional source of variation.</a:t>
            </a:r>
            <a:endParaRPr lang="en-US" sz="1800" dirty="0">
              <a:latin typeface="David" panose="020E0502060401010101" pitchFamily="34" charset="-79"/>
            </a:endParaRPr>
          </a:p>
          <a:p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prior should allow county differences without generating impossible values too often.</a:t>
            </a:r>
            <a:endParaRPr lang="en-US" sz="1800" dirty="0">
              <a:latin typeface="David" panose="020E0502060401010101" pitchFamily="34" charset="-79"/>
            </a:endParaRPr>
          </a:p>
          <a:p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check asks whether the model is coherent before seeing the data.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8346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Hierarchical regression: diagnostics</a:t>
            </a:r>
            <a:endParaRPr lang="en-US" sz="36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17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59436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199106"/>
            <a:ext cx="5907024" cy="39111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349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Trace plots for common parameters.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49440" y="1325880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0" y="1325880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ESS bulk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75520" y="1325880"/>
            <a:ext cx="1463040" cy="384048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R-hat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49440" y="170992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Intercept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0" y="170992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8327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75520" y="170992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/>
              <p:nvPr/>
            </p:nvSpPr>
            <p:spPr>
              <a:xfrm>
                <a:off x="6949440" y="2093976"/>
                <a:ext cx="1463040" cy="3840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𝑌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40" y="2093976"/>
                <a:ext cx="1463040" cy="384048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1"/>
          <p:cNvSpPr/>
          <p:nvPr/>
        </p:nvSpPr>
        <p:spPr>
          <a:xfrm>
            <a:off x="8412480" y="209397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8141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75520" y="209397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3"/>
              <p:cNvSpPr/>
              <p:nvPr/>
            </p:nvSpPr>
            <p:spPr>
              <a:xfrm>
                <a:off x="6949440" y="2478024"/>
                <a:ext cx="1463040" cy="3840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16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40" y="2478024"/>
                <a:ext cx="1463040" cy="384048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8412480" y="247802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4504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875520" y="247802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49440" y="286207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sigma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412480" y="286207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5643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75520" y="286207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49440" y="365760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common parameters show good sampling behavior. The county-level scale should also be checked before interpretation.</a:t>
            </a:r>
            <a:endParaRPr lang="en-US" sz="17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5043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County-level variation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18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630936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10114"/>
            <a:ext cx="6272784" cy="3872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949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for the county-level standard deviation.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06640" y="1554480"/>
            <a:ext cx="1249680" cy="480060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400" dirty="0">
              <a:latin typeface="David" panose="020E0502060401010101" pitchFamily="34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56320" y="1554480"/>
            <a:ext cx="1249680" cy="480060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Mean</a:t>
            </a:r>
            <a:endParaRPr lang="en-US" sz="1400" dirty="0">
              <a:latin typeface="David" panose="020E0502060401010101" pitchFamily="34" charset="-79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06000" y="1554480"/>
            <a:ext cx="1249680" cy="480060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94% HDI</a:t>
            </a:r>
            <a:endParaRPr lang="en-US" sz="14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7406640" y="2034540"/>
                <a:ext cx="1249680" cy="48006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|</m:t>
                      </m:r>
                      <m:r>
                        <a:rPr lang="en-US" sz="1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𝑐𝑜𝑢𝑛𝑡</m:t>
                      </m:r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𝑦</m:t>
                          </m:r>
                        </m:e>
                        <m:sub>
                          <m:r>
                            <a:rPr lang="en-US" sz="1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𝑠𝑖𝑔𝑚𝑎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0" y="2034540"/>
                <a:ext cx="1249680" cy="480060"/>
              </a:xfrm>
              <a:prstGeom prst="rect">
                <a:avLst/>
              </a:prstGeom>
              <a:blipFill>
                <a:blip r:embed="rId4"/>
                <a:stretch>
                  <a:fillRect l="-483" r="-3865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/>
          <p:cNvSpPr/>
          <p:nvPr/>
        </p:nvSpPr>
        <p:spPr>
          <a:xfrm>
            <a:off x="8656320" y="2034540"/>
            <a:ext cx="1249680" cy="4800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0.147</a:t>
            </a:r>
            <a:endParaRPr lang="en-US" sz="1400" dirty="0">
              <a:latin typeface="David" panose="020E0502060401010101" pitchFamily="34" charset="-79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906000" y="2034540"/>
            <a:ext cx="1249680" cy="48006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[0.053, 0.250]</a:t>
            </a:r>
            <a:endParaRPr lang="en-US" sz="14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/>
              <p:nvPr/>
            </p:nvSpPr>
            <p:spPr>
              <a:xfrm>
                <a:off x="7406640" y="2880360"/>
                <a:ext cx="3749040" cy="237744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 fontScale="92500"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This parameter measures variation in county-level intercepts.</a:t>
                </a:r>
                <a:endParaRPr lang="en-US" sz="17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Values away from zero indicate remaining county-level baseline differences.</a:t>
                </a:r>
                <a:endParaRPr lang="en-US" sz="17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7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It should be interpreted relative to the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𝑟𝑒𝑠𝑖𝑑𝑢𝑎𝑙</m:t>
                    </m:r>
                    <m:r>
                      <a:rPr lang="en-US" sz="17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7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𝜎</m:t>
                    </m:r>
                  </m:oMath>
                </a14:m>
                <a:r>
                  <a:rPr lang="en-US" sz="17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17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0" y="2880360"/>
                <a:ext cx="3749040" cy="2377440"/>
              </a:xfrm>
              <a:prstGeom prst="rect">
                <a:avLst/>
              </a:prstGeom>
              <a:blipFill>
                <a:blip r:embed="rId5"/>
                <a:stretch>
                  <a:fillRect l="-3089" r="-3902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69865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Hierarchical regression: posterior predictive check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19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15371" y="1554415"/>
            <a:ext cx="649224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59" y="1737230"/>
            <a:ext cx="6455664" cy="40692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15371" y="6034975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predictive check for hierarchical regression.</a:t>
            </a:r>
            <a:endParaRPr lang="en-US" sz="10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Hierarchical regression: posterior predictions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20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649224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6293429" cy="38923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7784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Predicted log radon as a function of uranium and basement status.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38709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plotted lines summarize predictions averaged over the hierarchical structure.</a:t>
            </a:r>
            <a:endParaRPr lang="en-US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8826C-4D71-29EC-05B1-BDBCE583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F60AA1-1AB6-22DD-41CF-188213F78985}"/>
              </a:ext>
            </a:extLst>
          </p:cNvPr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Hierarchical regression: posterior predictions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FF3FD2-C5AD-F5E3-12CE-C372168868E9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20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DAE4D7-BD23-6EFA-90E5-3990D109B1B3}"/>
              </a:ext>
            </a:extLst>
          </p:cNvPr>
          <p:cNvSpPr/>
          <p:nvPr/>
        </p:nvSpPr>
        <p:spPr>
          <a:xfrm>
            <a:off x="777240" y="1097280"/>
            <a:ext cx="649224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56EAF41-007A-333B-2C93-E623571DFE00}"/>
              </a:ext>
            </a:extLst>
          </p:cNvPr>
          <p:cNvSpPr/>
          <p:nvPr/>
        </p:nvSpPr>
        <p:spPr>
          <a:xfrm>
            <a:off x="777240" y="557784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Predicted log radon as a function of uranium and basement status in each county.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2674A2C-CCDC-F450-0CF7-A0CDE7BB45CC}"/>
              </a:ext>
            </a:extLst>
          </p:cNvPr>
          <p:cNvSpPr/>
          <p:nvPr/>
        </p:nvSpPr>
        <p:spPr>
          <a:xfrm>
            <a:off x="7543800" y="1325880"/>
            <a:ext cx="38709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plotted lines summarize predictions averaged over the hierarchical structure.</a:t>
            </a:r>
            <a:endParaRPr lang="en-US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model also contains county-specific intercept deviations.</a:t>
            </a:r>
            <a:endParaRPr lang="en-US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same predictors are interpreted after accounting for county baseline variation.</a:t>
            </a:r>
            <a:endParaRPr lang="en-US" dirty="0">
              <a:latin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426F6E-9D88-DE01-D486-50E27BAF6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641" y="1254944"/>
            <a:ext cx="5487938" cy="409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6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Short model comparison with LOO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21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00120" y="985459"/>
            <a:ext cx="8195602" cy="36425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613824" y="471488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LOO comparison plot.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01980" y="5312664"/>
            <a:ext cx="10241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LOO estimates expected out-of-sample predictive accuracy.</a:t>
            </a:r>
            <a:endParaRPr lang="en-US" sz="16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hierarchical model is ranked first, but the difference is modest relative to uncertainty.</a:t>
            </a:r>
            <a:endParaRPr lang="en-US" sz="16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comparison asks about prediction, not whether the model is “true.”</a:t>
            </a:r>
            <a:endParaRPr lang="en-US" sz="1600" dirty="0">
              <a:latin typeface="David" panose="020E0502060401010101" pitchFamily="34" charset="-79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2DD9B94-5E97-D5E9-DC90-F3267263F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42" y="1076451"/>
            <a:ext cx="7705372" cy="3453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5393254-57D6-8349-159F-3D843D87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009" y="2362512"/>
            <a:ext cx="4130398" cy="19813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Posterior estimates across models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6968" y="1957563"/>
            <a:ext cx="153162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Model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18588" y="1957563"/>
            <a:ext cx="153162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50208" y="1957563"/>
            <a:ext cx="153162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Mean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1828" y="1957563"/>
            <a:ext cx="153162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94% HDI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362512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Multiple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2418588" y="2362512"/>
                <a:ext cx="1531620" cy="40494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588" y="2362512"/>
                <a:ext cx="1531620" cy="404949"/>
              </a:xfrm>
              <a:prstGeom prst="rect">
                <a:avLst/>
              </a:prstGeom>
              <a:blipFill>
                <a:blip r:embed="rId4"/>
                <a:stretch>
                  <a:fillRect b="-7353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3950208" y="2362512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0.456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1828" y="2362512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[0.259, 0.640]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2767460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Multiple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2418588" y="2767460"/>
                <a:ext cx="1531620" cy="40494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16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588" y="2767460"/>
                <a:ext cx="1531620" cy="404949"/>
              </a:xfrm>
              <a:prstGeom prst="rect">
                <a:avLst/>
              </a:prstGeom>
              <a:blipFill>
                <a:blip r:embed="rId5"/>
                <a:stretch>
                  <a:fillRect b="-8824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3950208" y="2767460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0.259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1828" y="2767460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[0.207, 0.309]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" y="3172409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Multiple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18588" y="3172409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sigma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50208" y="3172409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0.770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1828" y="3172409"/>
            <a:ext cx="1531620" cy="404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[0.735, 0.805]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577357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Hierarchical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2418588" y="3577357"/>
                <a:ext cx="1531620" cy="4049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𝑏𝑎𝑠𝑒𝑚𝑒𝑛𝑡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111111"/>
                  </a:solidFill>
                  <a:ea typeface="Aptos" pitchFamily="34" charset="-122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588" y="3577357"/>
                <a:ext cx="1531620" cy="4049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3950208" y="3577357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0.477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1828" y="3577357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[0.273, 0.674]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6968" y="3982306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Hierarchical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2418588" y="3982306"/>
                <a:ext cx="1531620" cy="4049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𝑢𝑟𝑎𝑛𝑖𝑢</m:t>
                      </m:r>
                      <m:sSup>
                        <m:sSupPr>
                          <m:ctrlP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𝑚</m:t>
                          </m:r>
                        </m:e>
                        <m:sup>
                          <m:r>
                            <a:rPr lang="en-US" sz="1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6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 </m:t>
                      </m:r>
                    </m:oMath>
                  </m:oMathPara>
                </a14:m>
                <a:endParaRPr lang="en-US" sz="1600" dirty="0">
                  <a:solidFill>
                    <a:srgbClr val="111111"/>
                  </a:solidFill>
                  <a:ea typeface="Aptos" pitchFamily="34" charset="-122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588" y="3982306"/>
                <a:ext cx="1531620" cy="4049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24"/>
          <p:cNvSpPr/>
          <p:nvPr/>
        </p:nvSpPr>
        <p:spPr>
          <a:xfrm>
            <a:off x="3950208" y="3982306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0.237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1828" y="3982306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[0.176, 0.298]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6968" y="4387254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Hierarchical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18588" y="4387254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sigma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50208" y="4387254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0.758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1828" y="4387254"/>
            <a:ext cx="1531620" cy="4049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[0.722, 0.793]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30"/>
              <p:cNvSpPr/>
              <p:nvPr/>
            </p:nvSpPr>
            <p:spPr>
              <a:xfrm>
                <a:off x="7379208" y="1957563"/>
                <a:ext cx="4172090" cy="283464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 lnSpcReduction="10000"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Adding county-level structure changes the estimates slightly.</a:t>
                </a:r>
                <a:endParaRPr lang="en-US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uranium slope is somewhat smaller after accounting for county intercepts.</a:t>
                </a:r>
                <a:endParaRPr lang="en-US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𝑟𝑒𝑠𝑖𝑑𝑢𝑎𝑙</m:t>
                    </m:r>
                    <m:r>
                      <a:rPr lang="en-US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𝜎</m:t>
                    </m:r>
                    <m:r>
                      <a:rPr lang="en-US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is also slightly smaller.</a:t>
                </a:r>
                <a:endParaRPr lang="en-US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Interpretation should combine diagnostics, PPC, and model comparison.</a:t>
                </a:r>
                <a:endParaRPr lang="en-US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208" y="1957563"/>
                <a:ext cx="4172090" cy="2834640"/>
              </a:xfrm>
              <a:prstGeom prst="rect">
                <a:avLst/>
              </a:prstGeom>
              <a:blipFill>
                <a:blip r:embed="rId8"/>
                <a:stretch>
                  <a:fillRect l="-3216" r="-4240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9559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Regression section summary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23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336517"/>
            <a:ext cx="1033272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 multiple regression can include more than one predictor.</a:t>
            </a:r>
            <a:endParaRPr lang="en-US" sz="22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 hierarchical regression can account for observations nested within groups.</a:t>
            </a:r>
            <a:endParaRPr lang="en-US" sz="22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In the radon data, houses are nested within counties.</a:t>
            </a:r>
            <a:endParaRPr lang="en-US" sz="22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county random intercept separates county-level baseline variation from residual house-level variation.</a:t>
            </a:r>
            <a:endParaRPr lang="en-US" sz="22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LOO asks whether the added structure improves expected out-of-sample prediction.</a:t>
            </a:r>
            <a:endParaRPr lang="en-US" sz="22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" y="286263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From regression to correlation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24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9536" y="960120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822B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PART 2: CORRELATION AND COVARIANCE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second part changes the scientific question.</a:t>
            </a:r>
            <a:endParaRPr lang="en-US" sz="2200" dirty="0">
              <a:latin typeface="David" panose="020E0502060401010101" pitchFamily="34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20640" cy="4206240"/>
          </a:xfrm>
          <a:prstGeom prst="rect">
            <a:avLst/>
          </a:prstGeom>
          <a:solidFill>
            <a:srgbClr val="EAF3F8"/>
          </a:solidFill>
          <a:ln w="12700">
            <a:solidFill>
              <a:srgbClr val="D5E7F0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45352" y="1920240"/>
            <a:ext cx="5120640" cy="4206240"/>
          </a:xfrm>
          <a:prstGeom prst="rect">
            <a:avLst/>
          </a:prstGeom>
          <a:solidFill>
            <a:srgbClr val="FFF2E0"/>
          </a:solidFill>
          <a:ln w="12700">
            <a:solidFill>
              <a:srgbClr val="F4D7B3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Regression question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How does the expected value of y change as x changes?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One variable is the outcome.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other variable is a predictor.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Model is directional.</a:t>
            </a:r>
            <a:endParaRPr lang="en-US" sz="1800" dirty="0">
              <a:latin typeface="David" panose="020E0502060401010101" pitchFamily="34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73952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822B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Correlation question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73952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How do two variables vary together?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Neither variable is privileged as the outcome.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Both are modeled jointly.</a:t>
            </a: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endParaRPr lang="en-US" sz="1800" dirty="0">
              <a:latin typeface="David" panose="020E0502060401010101" pitchFamily="34" charset="-79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Model is symmetric.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Directional model versus correlational model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25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EAF3F8"/>
          </a:solidFill>
          <a:ln w="12700">
            <a:solidFill>
              <a:srgbClr val="D5E7F0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298448"/>
                <a:ext cx="5029200" cy="16093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Regression model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en-US" sz="2200" dirty="0">
                  <a:latin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 ~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𝑁𝑜𝑟𝑚𝑎𝑙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𝛼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+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𝛽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𝑥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298448"/>
                <a:ext cx="5029200" cy="1609344"/>
              </a:xfrm>
              <a:prstGeom prst="rect">
                <a:avLst/>
              </a:prstGeom>
              <a:blipFill>
                <a:blip r:embed="rId3"/>
                <a:stretch>
                  <a:fillRect l="-3394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6446520" y="1188720"/>
            <a:ext cx="4937760" cy="1828800"/>
          </a:xfrm>
          <a:prstGeom prst="roundRect">
            <a:avLst>
              <a:gd name="adj" fmla="val 2000"/>
            </a:avLst>
          </a:prstGeom>
          <a:solidFill>
            <a:srgbClr val="FFF2E0"/>
          </a:solidFill>
          <a:ln w="12700">
            <a:solidFill>
              <a:srgbClr val="F4D7B3"/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583680" y="1298448"/>
                <a:ext cx="4663440" cy="16093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Correlation model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en-US" sz="2200" dirty="0">
                  <a:latin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𝑥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ᵢ]ᵀ ~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𝑀𝑉𝑁𝑜𝑟𝑚𝑎𝑙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i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2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298448"/>
                <a:ext cx="4663440" cy="1609344"/>
              </a:xfrm>
              <a:prstGeom prst="rect">
                <a:avLst/>
              </a:prstGeom>
              <a:blipFill>
                <a:blip r:embed="rId4"/>
                <a:stretch>
                  <a:fillRect l="-3660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Regression imposes a predictor/outcome structure.</a:t>
            </a: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Correlation models joint variation.</a:t>
            </a:r>
            <a:endParaRPr lang="en-US" sz="2100" dirty="0">
              <a:latin typeface="David" panose="020E0502060401010101" pitchFamily="34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Correlation alone is not a causal claim.</a:t>
            </a:r>
            <a:endParaRPr lang="en-US" sz="2100" dirty="0">
              <a:latin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5E1EE-6A42-6A45-A3EE-B7B898DDEDC7}"/>
              </a:ext>
            </a:extLst>
          </p:cNvPr>
          <p:cNvSpPr txBox="1"/>
          <p:nvPr/>
        </p:nvSpPr>
        <p:spPr>
          <a:xfrm>
            <a:off x="9809376" y="6302332"/>
            <a:ext cx="238262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William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L.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Dunn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, J.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Kenneth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Shultis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,</a:t>
            </a:r>
          </a:p>
          <a:p>
            <a:pPr algn="r"/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Appendix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A -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Some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Common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Probability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Distributions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,</a:t>
            </a:r>
          </a:p>
          <a:p>
            <a:pPr algn="r"/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Exploring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Monte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Carlo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Methods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Second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Edition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),</a:t>
            </a:r>
          </a:p>
          <a:p>
            <a:pPr algn="r"/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Elsevier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,</a:t>
            </a:r>
          </a:p>
          <a:p>
            <a:pPr algn="r"/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2023,</a:t>
            </a:r>
          </a:p>
          <a:p>
            <a:pPr algn="r"/>
            <a:r>
              <a:rPr lang="he-IL" sz="300" dirty="0" err="1">
                <a:solidFill>
                  <a:schemeClr val="bg2">
                    <a:lumMod val="75000"/>
                  </a:schemeClr>
                </a:solidFill>
              </a:rPr>
              <a:t>Pages</a:t>
            </a:r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 447-495,</a:t>
            </a:r>
          </a:p>
          <a:p>
            <a:pPr algn="r"/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ISBN 9780128197394,</a:t>
            </a:r>
          </a:p>
          <a:p>
            <a:pPr algn="r"/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https://doi.org/10.1016/B978-0-12-819739-4.00019-6.</a:t>
            </a:r>
          </a:p>
          <a:p>
            <a:pPr algn="r"/>
            <a:r>
              <a:rPr lang="he-IL" sz="300" dirty="0">
                <a:solidFill>
                  <a:schemeClr val="bg2">
                    <a:lumMod val="75000"/>
                  </a:schemeClr>
                </a:solidFill>
              </a:rPr>
              <a:t>(https://www.sciencedirect.com/science/article/pii/B9780128197394000196)</a:t>
            </a:r>
          </a:p>
        </p:txBody>
      </p:sp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71E5E44E-6467-ADA0-A423-7BCCBE6FC0C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43935" y="3374788"/>
            <a:ext cx="3444025" cy="25702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Inspect the association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26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" y="1005840"/>
            <a:ext cx="621792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214446"/>
            <a:ext cx="6181344" cy="4383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Association between standardized uranium and standardized log radon.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98080" y="1325880"/>
            <a:ext cx="37490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scatterplot shows positive association.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plotted variables are standardized.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Basement is shown only for context; the correlation model below uses two continuous variables.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Pearson correlation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27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1000672"/>
            <a:ext cx="5120640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978408" y="1110400"/>
                <a:ext cx="4846320" cy="51206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𝑠𝑎𝑚𝑝𝑙𝑒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𝑃𝑒𝑎𝑟𝑠𝑜𝑛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𝑐𝑜𝑟𝑟𝑒𝑙𝑎𝑡𝑖𝑜𝑛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8" y="1110400"/>
                <a:ext cx="4846320" cy="512064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41248" y="1973912"/>
                <a:ext cx="9328868" cy="132747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>
                    <a:solidFill>
                      <a:srgbClr val="111111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M</a:t>
                </a:r>
                <a:r>
                  <a:rPr lang="he-IL" sz="2100" dirty="0" err="1">
                    <a:solidFill>
                      <a:srgbClr val="111111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easures</a:t>
                </a:r>
                <a:r>
                  <a:rPr lang="he-IL" sz="2100" dirty="0">
                    <a:solidFill>
                      <a:srgbClr val="111111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 the </a:t>
                </a:r>
                <a:r>
                  <a:rPr lang="en-US" sz="2100" dirty="0">
                    <a:solidFill>
                      <a:srgbClr val="111111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linear relationship between two datasets</a:t>
                </a:r>
                <a:r>
                  <a:rPr lang="he-IL" sz="2100" dirty="0">
                    <a:solidFill>
                      <a:srgbClr val="111111"/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estimates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𝑝𝑜𝑝𝑢𝑙𝑎𝑡𝑖𝑜𝑛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𝑐𝑜𝑟𝑟𝑒𝑙𝑎𝑡𝑖𝑜𝑛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is bounded between −1 and 1.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frequentist p-value tests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𝐻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₀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: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=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2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973912"/>
                <a:ext cx="9328868" cy="1327470"/>
              </a:xfrm>
              <a:prstGeom prst="rect">
                <a:avLst/>
              </a:prstGeom>
              <a:blipFill>
                <a:blip r:embed="rId4"/>
                <a:stretch>
                  <a:fillRect l="-1634" t="-6422" b="-412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DB6FF9A6-B749-9DA4-FF54-B49CBD8CD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" y="3556619"/>
            <a:ext cx="7643191" cy="29262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08E21-D1C2-995D-CEB5-FDA98DE0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A2FA316-E958-4A4A-E4AE-6D042883AB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01795" y="1249348"/>
            <a:ext cx="7255501" cy="43593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3CBF9D-317D-8E18-D31A-A2F4E08ABCBA}"/>
              </a:ext>
            </a:extLst>
          </p:cNvPr>
          <p:cNvSpPr/>
          <p:nvPr/>
        </p:nvSpPr>
        <p:spPr>
          <a:xfrm>
            <a:off x="2435087" y="3011557"/>
            <a:ext cx="6440556" cy="318051"/>
          </a:xfrm>
          <a:prstGeom prst="rect">
            <a:avLst/>
          </a:prstGeom>
          <a:solidFill>
            <a:srgbClr val="FFFF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67F20C-B775-B4DA-2B55-2C78B3F1114E}"/>
              </a:ext>
            </a:extLst>
          </p:cNvPr>
          <p:cNvSpPr/>
          <p:nvPr/>
        </p:nvSpPr>
        <p:spPr>
          <a:xfrm>
            <a:off x="2435087" y="4151077"/>
            <a:ext cx="6301409" cy="589887"/>
          </a:xfrm>
          <a:prstGeom prst="rect">
            <a:avLst/>
          </a:prstGeom>
          <a:solidFill>
            <a:srgbClr val="FFFF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6BB804A-0906-9BE0-059E-F3771FFFD9CF}"/>
              </a:ext>
            </a:extLst>
          </p:cNvPr>
          <p:cNvSpPr/>
          <p:nvPr/>
        </p:nvSpPr>
        <p:spPr>
          <a:xfrm>
            <a:off x="841248" y="46177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Pearson correlation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161096-69B9-3CBE-B106-F4A793015863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27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1C21E3-8795-7D2D-A9C5-7D3B706E4D84}"/>
              </a:ext>
            </a:extLst>
          </p:cNvPr>
          <p:cNvSpPr/>
          <p:nvPr/>
        </p:nvSpPr>
        <p:spPr>
          <a:xfrm>
            <a:off x="2435087" y="3329608"/>
            <a:ext cx="6440556" cy="506895"/>
          </a:xfrm>
          <a:prstGeom prst="rect">
            <a:avLst/>
          </a:prstGeom>
          <a:solidFill>
            <a:srgbClr val="FFFF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3486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2978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Population correlation ρ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28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4389120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892808"/>
                <a:ext cx="4114800" cy="51206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−</m:t>
                      </m:r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≤ </m:t>
                      </m:r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≤ </m:t>
                      </m:r>
                      <m:r>
                        <a:rPr lang="en-US" sz="2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892808"/>
                <a:ext cx="4114800" cy="512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68680" y="2788920"/>
                <a:ext cx="5486400" cy="356616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is the population correlation parameter.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 Bayesian inference,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has a prior and a posterior distribution.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Positive values mean that high values of one variable tend to occur with high values of the other.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Negative values mean the opposite.</a:t>
                </a:r>
                <a:endParaRPr lang="en-US" sz="2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788920"/>
                <a:ext cx="5486400" cy="3566160"/>
              </a:xfrm>
              <a:prstGeom prst="rect">
                <a:avLst/>
              </a:prstGeom>
              <a:blipFill>
                <a:blip r:embed="rId4"/>
                <a:stretch>
                  <a:fillRect l="-2667" r="-3222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7040880" y="1783080"/>
            <a:ext cx="4480560" cy="13716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7178040" y="1892808"/>
                <a:ext cx="4206240" cy="115214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5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Bayesian target:</a:t>
                </a:r>
                <a:endParaRPr lang="en-US" sz="2500" dirty="0">
                  <a:latin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𝑝</m:t>
                      </m:r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| </m:t>
                      </m:r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𝑑𝑎𝑡𝑎</m:t>
                      </m:r>
                      <m:r>
                        <a:rPr lang="en-US" sz="25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en-US" sz="25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0" y="1892808"/>
                <a:ext cx="4206240" cy="1152144"/>
              </a:xfrm>
              <a:prstGeom prst="rect">
                <a:avLst/>
              </a:prstGeom>
              <a:blipFill>
                <a:blip r:embed="rId5"/>
                <a:stretch>
                  <a:fillRect l="-4638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040880" y="3566160"/>
                <a:ext cx="4480560" cy="137160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Instead of only reporting a point estimate, the Bayesian model gives uncertainty over plausible values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19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80" y="3566160"/>
                <a:ext cx="4480560" cy="1371600"/>
              </a:xfrm>
              <a:prstGeom prst="rect">
                <a:avLst/>
              </a:prstGeom>
              <a:blipFill>
                <a:blip r:embed="rId6"/>
                <a:stretch>
                  <a:fillRect l="-2993" r="-2993" b="-355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/>
              <p:nvPr/>
            </p:nvSpPr>
            <p:spPr>
              <a:xfrm>
                <a:off x="841248" y="164592"/>
                <a:ext cx="10515600" cy="59436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1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 Display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31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 Display" pitchFamily="34" charset="-122"/>
                        <a:cs typeface="David" panose="020E0502060401010101" pitchFamily="34" charset="-79"/>
                      </a:rPr>
                      <m:t>²</m:t>
                    </m:r>
                  </m:oMath>
                </a14:m>
                <a:r>
                  <a:rPr lang="en-US" sz="31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 Display" pitchFamily="34" charset="-122"/>
                    <a:cs typeface="David" panose="020E0502060401010101" pitchFamily="34" charset="-79"/>
                  </a:rPr>
                  <a:t> as shared variance</a:t>
                </a:r>
                <a:endParaRPr lang="en-US" sz="31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2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"/>
                <a:ext cx="10515600" cy="594360"/>
              </a:xfrm>
              <a:prstGeom prst="rect">
                <a:avLst/>
              </a:prstGeom>
              <a:blipFill>
                <a:blip r:embed="rId3"/>
                <a:stretch>
                  <a:fillRect t="-10204" b="-29592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29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10424160" cy="1005840"/>
          </a:xfrm>
          <a:prstGeom prst="roundRect">
            <a:avLst>
              <a:gd name="adj" fmla="val 3636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298448"/>
                <a:ext cx="10149840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²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𝑓𝑟𝑎𝑐𝑡𝑖𝑜𝑛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𝑜𝑓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𝑣𝑎𝑟𝑖𝑎𝑛𝑐𝑒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h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𝑎𝑟𝑒𝑑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𝑏𝑒𝑡𝑤𝑒𝑒𝑛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𝑡𝑤𝑜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𝑣𝑎𝑟𝑖𝑎𝑏𝑙𝑒𝑠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298448"/>
                <a:ext cx="10149840" cy="786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68680" y="2560320"/>
                <a:ext cx="10332720" cy="310896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²</m:t>
                    </m:r>
                  </m:oMath>
                </a14:m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is a </a:t>
                </a:r>
                <a:r>
                  <a:rPr lang="en-US" sz="2200" b="1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normalized effect-size measure for correlation</a:t>
                </a: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Example: 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= 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0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.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6</m:t>
                    </m:r>
                  </m:oMath>
                </a14:m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²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= 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0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.</m:t>
                    </m:r>
                    <m:r>
                      <a:rPr lang="en-US" sz="2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36</m:t>
                    </m:r>
                  </m:oMath>
                </a14:m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This means about 36% shared variance in the linear association sense.</a:t>
                </a:r>
                <a:endParaRPr lang="en-US" sz="2200" dirty="0">
                  <a:latin typeface="David" panose="020E0502060401010101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It is not a causal statement.</a:t>
                </a:r>
                <a:endParaRPr lang="en-US" sz="22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560320"/>
                <a:ext cx="10332720" cy="3108960"/>
              </a:xfrm>
              <a:prstGeom prst="rect">
                <a:avLst/>
              </a:prstGeom>
              <a:blipFill>
                <a:blip r:embed="rId5"/>
                <a:stretch>
                  <a:fillRect l="-1593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8A252-DFA6-410C-4683-2F448135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F79A80A2-FC97-58D2-8742-D229AB07D106}"/>
                  </a:ext>
                </a:extLst>
              </p:cNvPr>
              <p:cNvSpPr/>
              <p:nvPr/>
            </p:nvSpPr>
            <p:spPr>
              <a:xfrm>
                <a:off x="841248" y="461772"/>
                <a:ext cx="10515600" cy="59436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r>
                  <a:rPr lang="en-US" sz="4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 Display" pitchFamily="34" charset="-122"/>
                    <a:cs typeface="David" panose="020E0502060401010101" pitchFamily="34" charset="-79"/>
                  </a:rPr>
                  <a:t>Pearson r and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 Display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4000" i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 Display" pitchFamily="34" charset="-122"/>
                        <a:cs typeface="David" panose="020E0502060401010101" pitchFamily="34" charset="-79"/>
                      </a:rPr>
                      <m:t>²</m:t>
                    </m:r>
                  </m:oMath>
                </a14:m>
                <a:endParaRPr lang="en-US" sz="4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F79A80A2-FC97-58D2-8742-D229AB07D1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61772"/>
                <a:ext cx="10515600" cy="594360"/>
              </a:xfrm>
              <a:prstGeom prst="rect">
                <a:avLst/>
              </a:prstGeom>
              <a:blipFill>
                <a:blip r:embed="rId3"/>
                <a:stretch>
                  <a:fillRect l="-2899" t="-25773" b="-55670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1">
            <a:extLst>
              <a:ext uri="{FF2B5EF4-FFF2-40B4-BE49-F238E27FC236}">
                <a16:creationId xmlns:a16="http://schemas.microsoft.com/office/drawing/2014/main" id="{61456938-42CE-E609-C408-2B5D1F8D4EA7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27</a:t>
            </a:r>
            <a:endParaRPr lang="en-US" sz="1200" dirty="0">
              <a:latin typeface="David" panose="020E0502060401010101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709DA-7B6D-2F6D-CA32-027D1270E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538" y="1744578"/>
            <a:ext cx="8319053" cy="4001569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E0467A78-ECB5-3A36-DE65-D5F95BD6607E}"/>
              </a:ext>
            </a:extLst>
          </p:cNvPr>
          <p:cNvSpPr/>
          <p:nvPr/>
        </p:nvSpPr>
        <p:spPr>
          <a:xfrm>
            <a:off x="5541064" y="5403247"/>
            <a:ext cx="4572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p-value is not the effect size.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effect size is better summarized by r or r².</a:t>
            </a:r>
            <a:endParaRPr lang="en-US" sz="1700" dirty="0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92713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0175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Covariance and covariance matrix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30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8406" y="1747157"/>
            <a:ext cx="4764904" cy="3363686"/>
          </a:xfrm>
          <a:prstGeom prst="roundRect">
            <a:avLst>
              <a:gd name="adj" fmla="val 25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851270" y="1856885"/>
                <a:ext cx="4754880" cy="12435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4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  <m:e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ₓᵧ</m:t>
                                </m:r>
                              </m:e>
                              <m:e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a:rPr lang="en-US" sz="24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70" y="1856885"/>
                <a:ext cx="4754880" cy="1243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6551583" y="3694176"/>
            <a:ext cx="4233672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Diagonal entries: variances.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Off-diagonal entries: covariance.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matrix is symmetric.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Covariance depends on units.</a:t>
            </a:r>
            <a:endParaRPr lang="en-US" sz="19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823837" y="3429653"/>
                <a:ext cx="4764903" cy="151790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ₓᵧ = 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ₓ 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𝜎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ᵧ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f>
                        <m:fPr>
                          <m:ctrlPr>
                            <a:rPr lang="en-US" sz="23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fPr>
                        <m:num>
                          <m:r>
                            <a:rPr lang="en-US" sz="23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𝜎</m:t>
                          </m:r>
                          <m:r>
                            <a:rPr lang="en-US" sz="23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ₓᵧ</m:t>
                          </m:r>
                        </m:num>
                        <m:den>
                          <m:d>
                            <m:dPr>
                              <m:ctrlPr>
                                <a:rPr lang="en-US" sz="23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𝜎</m:t>
                              </m:r>
                              <m:r>
                                <a:rPr lang="en-US" sz="23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ₓ </m:t>
                              </m:r>
                              <m:r>
                                <a:rPr lang="en-US" sz="23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𝜎</m:t>
                              </m:r>
                              <m:r>
                                <a:rPr lang="en-US" sz="2300" i="1" dirty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endParaRPr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7" y="3429653"/>
                <a:ext cx="4764903" cy="1517904"/>
              </a:xfrm>
              <a:prstGeom prst="rect">
                <a:avLst/>
              </a:prstGeom>
              <a:blipFill>
                <a:blip r:embed="rId4"/>
                <a:stretch>
                  <a:fillRect b="-642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6551583" y="1764792"/>
            <a:ext cx="5064252" cy="1463040"/>
          </a:xfrm>
          <a:prstGeom prst="roundRect">
            <a:avLst>
              <a:gd name="adj" fmla="val 25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6688743" y="1874520"/>
                <a:ext cx="4772084" cy="12435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srgbClr val="111111"/>
                                    </a:solidFill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43" y="1874520"/>
                <a:ext cx="4772084" cy="1243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Empirical matrices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31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5615628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latin typeface="David" panose="020E0502060401010101" pitchFamily="34" charset="-79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5906020-A460-DBBA-B91A-E10805F5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22"/>
          <a:stretch>
            <a:fillRect/>
          </a:stretch>
        </p:blipFill>
        <p:spPr>
          <a:xfrm>
            <a:off x="6673132" y="1005840"/>
            <a:ext cx="4802588" cy="4810329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A3ED0D96-196A-7DC9-4A69-D83487A00346}"/>
              </a:ext>
            </a:extLst>
          </p:cNvPr>
          <p:cNvSpPr/>
          <p:nvPr/>
        </p:nvSpPr>
        <p:spPr>
          <a:xfrm>
            <a:off x="826644" y="3349564"/>
            <a:ext cx="4233672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Diagonal entries: variances.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Off-diagonal entries: covariance.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matrix is symmetric.</a:t>
            </a:r>
            <a:endParaRPr lang="en-US" sz="19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Covariance depends on units.</a:t>
            </a:r>
            <a:endParaRPr lang="en-US" sz="1900" dirty="0">
              <a:latin typeface="David" panose="020E0502060401010101" pitchFamily="34" charset="-79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045941CA-7866-3B18-85C0-4F69DB7BE892}"/>
              </a:ext>
            </a:extLst>
          </p:cNvPr>
          <p:cNvSpPr/>
          <p:nvPr/>
        </p:nvSpPr>
        <p:spPr>
          <a:xfrm>
            <a:off x="826644" y="1445983"/>
            <a:ext cx="5064252" cy="1463040"/>
          </a:xfrm>
          <a:prstGeom prst="roundRect">
            <a:avLst>
              <a:gd name="adj" fmla="val 25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8">
                <a:extLst>
                  <a:ext uri="{FF2B5EF4-FFF2-40B4-BE49-F238E27FC236}">
                    <a16:creationId xmlns:a16="http://schemas.microsoft.com/office/drawing/2014/main" id="{845BC111-3D30-E013-EEAA-F9274D65B06E}"/>
                  </a:ext>
                </a:extLst>
              </p:cNvPr>
              <p:cNvSpPr/>
              <p:nvPr/>
            </p:nvSpPr>
            <p:spPr>
              <a:xfrm>
                <a:off x="963804" y="1555711"/>
                <a:ext cx="4772084" cy="12435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srgbClr val="111111"/>
                                    </a:solidFill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 8">
                <a:extLst>
                  <a:ext uri="{FF2B5EF4-FFF2-40B4-BE49-F238E27FC236}">
                    <a16:creationId xmlns:a16="http://schemas.microsoft.com/office/drawing/2014/main" id="{845BC111-3D30-E013-EEAA-F9274D65B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04" y="1555711"/>
                <a:ext cx="4772084" cy="1243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Bayesian correlation model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207008"/>
                <a:ext cx="5029200" cy="51206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𝑥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ᵢ]ᵀ ~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𝑀𝑉𝑁𝑜𝑟𝑚𝑎𝑙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i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2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207008"/>
                <a:ext cx="5029200" cy="512064"/>
              </a:xfrm>
              <a:prstGeom prst="rect">
                <a:avLst/>
              </a:prstGeom>
              <a:blipFill>
                <a:blip r:embed="rId3"/>
                <a:stretch>
                  <a:fillRect b="-1547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68680" y="2057400"/>
            <a:ext cx="5303520" cy="594360"/>
          </a:xfrm>
          <a:prstGeom prst="roundRect">
            <a:avLst>
              <a:gd name="adj" fmla="val 6154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05840" y="2167128"/>
                <a:ext cx="5029200" cy="37490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[ 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ₓ, 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1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ᵧ ]ᵀ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167128"/>
                <a:ext cx="5029200" cy="374904"/>
              </a:xfrm>
              <a:prstGeom prst="rect">
                <a:avLst/>
              </a:prstGeom>
              <a:blipFill>
                <a:blip r:embed="rId4"/>
                <a:stretch>
                  <a:fillRect t="-18033" b="-3442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868680" y="2834640"/>
            <a:ext cx="5303520" cy="13716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6492240" y="1198147"/>
                <a:ext cx="4754880" cy="365760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appears inside the likelihood through the covariance matrix.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A univariate Normal likelihood cannot estimate correlation between two outcomes.</a:t>
                </a:r>
                <a:endParaRPr lang="en-US" sz="20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model estimates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𝜇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,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𝜎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,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𝑎𝑛𝑑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20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jointly.</a:t>
                </a:r>
                <a:endParaRPr lang="en-US" sz="20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1198147"/>
                <a:ext cx="4754880" cy="3657600"/>
              </a:xfrm>
              <a:prstGeom prst="rect">
                <a:avLst/>
              </a:prstGeom>
              <a:blipFill>
                <a:blip r:embed="rId5"/>
                <a:stretch>
                  <a:fillRect l="-3077" r="-2692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8">
                <a:extLst>
                  <a:ext uri="{FF2B5EF4-FFF2-40B4-BE49-F238E27FC236}">
                    <a16:creationId xmlns:a16="http://schemas.microsoft.com/office/drawing/2014/main" id="{6FE27506-10E5-80A8-8CDA-A065325F0CBC}"/>
                  </a:ext>
                </a:extLst>
              </p:cNvPr>
              <p:cNvSpPr/>
              <p:nvPr/>
            </p:nvSpPr>
            <p:spPr>
              <a:xfrm>
                <a:off x="841248" y="2898648"/>
                <a:ext cx="4772084" cy="12435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srgbClr val="111111"/>
                                    </a:solidFill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𝜌𝜎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ₓ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</m:e>
                              <m:e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𝜎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ᵧ</m:t>
                                </m:r>
                                <m:r>
                                  <a:rPr lang="en-US" sz="2000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Aptos" pitchFamily="34" charset="-122"/>
                                    <a:cs typeface="David" panose="020E0502060401010101" pitchFamily="34" charset="-79"/>
                                  </a:rPr>
                                  <m:t>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 8">
                <a:extLst>
                  <a:ext uri="{FF2B5EF4-FFF2-40B4-BE49-F238E27FC236}">
                    <a16:creationId xmlns:a16="http://schemas.microsoft.com/office/drawing/2014/main" id="{6FE27506-10E5-80A8-8CDA-A065325F0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2898648"/>
                <a:ext cx="4772084" cy="12435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Prior for ρ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33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4480560" cy="1426464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005840" y="1298448"/>
                <a:ext cx="4206240" cy="142646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3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ar-AE" sz="23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𝜃</m:t>
                          </m:r>
                        </m:e>
                        <m:sub>
                          <m:r>
                            <a:rPr lang="ar-AE" sz="23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𝜌</m:t>
                          </m:r>
                        </m:sub>
                      </m:sSub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~ 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𝐵𝑒𝑡𝑎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.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3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 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.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3</m:t>
                      </m:r>
                      <m:r>
                        <a:rPr lang="ar-AE" sz="23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lang="he-IL" sz="23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he-IL" sz="2300" i="1" dirty="0">
                  <a:solidFill>
                    <a:srgbClr val="111111"/>
                  </a:solidFill>
                  <a:latin typeface="Cambria Math" panose="02040503050406030204" pitchFamily="18" charset="0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𝜌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= 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2</m:t>
                      </m:r>
                      <m:sSub>
                        <m:sSubPr>
                          <m:ctrlPr>
                            <a:rPr lang="en-US" sz="23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3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𝜃</m:t>
                          </m:r>
                        </m:e>
                        <m:sub>
                          <m:r>
                            <a:rPr lang="en-US" sz="23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𝜌</m:t>
                          </m:r>
                        </m:sub>
                      </m:sSub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 − </m:t>
                      </m:r>
                      <m:r>
                        <a:rPr lang="en-US" sz="23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1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298448"/>
                <a:ext cx="4206240" cy="1426464"/>
              </a:xfrm>
              <a:prstGeom prst="rect">
                <a:avLst/>
              </a:prstGeom>
              <a:blipFill>
                <a:blip r:embed="rId3"/>
                <a:stretch>
                  <a:fillRect l="-4203" t="-3846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868680" y="3065057"/>
            <a:ext cx="4480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A Beta distribution lives on [0, 1].</a:t>
            </a:r>
            <a:endParaRPr lang="en-US" sz="20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transformation maps it to [−1, 1].</a:t>
            </a:r>
            <a:endParaRPr lang="en-US" sz="2000" dirty="0">
              <a:latin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This gives a simple bounded prior for correlation.</a:t>
            </a:r>
            <a:endParaRPr lang="en-US" sz="2000" dirty="0">
              <a:latin typeface="David" panose="020E0502060401010101" pitchFamily="34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23560" y="1051560"/>
            <a:ext cx="5486400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8" name="Image 0" descr="/mnt/data/tut10_imgs/img_14.png"/>
          <p:cNvPicPr>
            <a:picLocks noChangeAspect="1"/>
          </p:cNvPicPr>
          <p:nvPr/>
        </p:nvPicPr>
        <p:blipFill>
          <a:blip r:embed="rId4"/>
          <a:srcRect r="42205"/>
          <a:stretch>
            <a:fillRect/>
          </a:stretch>
        </p:blipFill>
        <p:spPr>
          <a:xfrm>
            <a:off x="6096000" y="1260046"/>
            <a:ext cx="4635627" cy="33071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0" y="5212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Prior density for ρ.</a:t>
            </a:r>
            <a:endParaRPr lang="en-US" sz="1000" dirty="0">
              <a:latin typeface="David" panose="020E0502060401010101" pitchFamily="34" charset="-79"/>
            </a:endParaRPr>
          </a:p>
        </p:txBody>
      </p:sp>
      <p:pic>
        <p:nvPicPr>
          <p:cNvPr id="11" name="Image 0" descr="/mnt/data/tut10_imgs/img_14.png">
            <a:extLst>
              <a:ext uri="{FF2B5EF4-FFF2-40B4-BE49-F238E27FC236}">
                <a16:creationId xmlns:a16="http://schemas.microsoft.com/office/drawing/2014/main" id="{11E3D367-DD55-9BBC-717B-BF4AFBEACD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586" t="40505" r="-1063" b="46609"/>
          <a:stretch>
            <a:fillRect/>
          </a:stretch>
        </p:blipFill>
        <p:spPr>
          <a:xfrm>
            <a:off x="6765797" y="4653633"/>
            <a:ext cx="3695701" cy="441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B24305-6778-3956-6963-21F5C6BA6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16882"/>
            <a:ext cx="4296375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2F755-1857-5942-8055-85F9506B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26B8C6-A7AA-6AC9-C6D4-D316F943BB98}"/>
              </a:ext>
            </a:extLst>
          </p:cNvPr>
          <p:cNvSpPr/>
          <p:nvPr/>
        </p:nvSpPr>
        <p:spPr>
          <a:xfrm>
            <a:off x="688074" y="298374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Bayesian correlation model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C2FF93-77E5-135B-7592-3FA61DC735CE}"/>
              </a:ext>
            </a:extLst>
          </p:cNvPr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32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03CBF2-E4EE-2D8A-2D15-5EE8D191C036}"/>
              </a:ext>
            </a:extLst>
          </p:cNvPr>
          <p:cNvSpPr/>
          <p:nvPr/>
        </p:nvSpPr>
        <p:spPr>
          <a:xfrm>
            <a:off x="6811033" y="398989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BFBFB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8D1D3CF0-EA11-8D09-B936-216D9DEBB726}"/>
                  </a:ext>
                </a:extLst>
              </p:cNvPr>
              <p:cNvSpPr/>
              <p:nvPr/>
            </p:nvSpPr>
            <p:spPr>
              <a:xfrm>
                <a:off x="6948193" y="508717"/>
                <a:ext cx="5029200" cy="51206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𝑥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ᵢ,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𝑦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ᵢ]ᵀ ~ 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𝑀𝑉𝑁𝑜𝑟𝑚𝑎𝑙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(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22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i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Σ</m:t>
                      </m:r>
                      <m:r>
                        <a:rPr lang="en-US" sz="22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8D1D3CF0-EA11-8D09-B936-216D9DEBB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193" y="508717"/>
                <a:ext cx="5029200" cy="512064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4C24B24-F7CE-8302-A78E-A63EFE95E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041" y="1859613"/>
            <a:ext cx="3499305" cy="40199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6645B8-91AF-75E1-36A6-2024BC31CB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551"/>
          <a:stretch>
            <a:fillRect/>
          </a:stretch>
        </p:blipFill>
        <p:spPr>
          <a:xfrm>
            <a:off x="1123125" y="1530229"/>
            <a:ext cx="4506400" cy="47194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C289C4-54FA-9817-BD24-350B4142AA26}"/>
              </a:ext>
            </a:extLst>
          </p:cNvPr>
          <p:cNvSpPr/>
          <p:nvPr/>
        </p:nvSpPr>
        <p:spPr>
          <a:xfrm>
            <a:off x="1404594" y="3167406"/>
            <a:ext cx="3855563" cy="612742"/>
          </a:xfrm>
          <a:prstGeom prst="rect">
            <a:avLst/>
          </a:prstGeom>
          <a:solidFill>
            <a:srgbClr val="FFCCCC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81B07-DAC0-87B4-C8A3-36699D26957C}"/>
              </a:ext>
            </a:extLst>
          </p:cNvPr>
          <p:cNvSpPr/>
          <p:nvPr/>
        </p:nvSpPr>
        <p:spPr>
          <a:xfrm>
            <a:off x="1404594" y="3889954"/>
            <a:ext cx="4157220" cy="1266508"/>
          </a:xfrm>
          <a:prstGeom prst="rect">
            <a:avLst/>
          </a:prstGeom>
          <a:solidFill>
            <a:srgbClr val="CCCC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44ED7-A23E-3154-65B9-A82E61F1315D}"/>
              </a:ext>
            </a:extLst>
          </p:cNvPr>
          <p:cNvSpPr/>
          <p:nvPr/>
        </p:nvSpPr>
        <p:spPr>
          <a:xfrm>
            <a:off x="1404594" y="2775846"/>
            <a:ext cx="3855563" cy="281754"/>
          </a:xfrm>
          <a:prstGeom prst="rect">
            <a:avLst/>
          </a:prstGeom>
          <a:solidFill>
            <a:srgbClr val="FFCC99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39ABA-8D65-50BE-E9D2-2E2B73940505}"/>
              </a:ext>
            </a:extLst>
          </p:cNvPr>
          <p:cNvSpPr/>
          <p:nvPr/>
        </p:nvSpPr>
        <p:spPr>
          <a:xfrm>
            <a:off x="8163612" y="3889955"/>
            <a:ext cx="1553268" cy="892032"/>
          </a:xfrm>
          <a:prstGeom prst="rect">
            <a:avLst/>
          </a:prstGeom>
          <a:solidFill>
            <a:srgbClr val="CCCC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3E106-EA11-E65B-B354-A40FCCA1F3EC}"/>
              </a:ext>
            </a:extLst>
          </p:cNvPr>
          <p:cNvSpPr/>
          <p:nvPr/>
        </p:nvSpPr>
        <p:spPr>
          <a:xfrm>
            <a:off x="9741309" y="1859612"/>
            <a:ext cx="978816" cy="2599265"/>
          </a:xfrm>
          <a:prstGeom prst="rect">
            <a:avLst/>
          </a:prstGeom>
          <a:solidFill>
            <a:srgbClr val="FFCCCC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BE4B14-60C8-FD51-F177-132CEE34A229}"/>
              </a:ext>
            </a:extLst>
          </p:cNvPr>
          <p:cNvSpPr/>
          <p:nvPr/>
        </p:nvSpPr>
        <p:spPr>
          <a:xfrm>
            <a:off x="7499996" y="2751646"/>
            <a:ext cx="2100988" cy="1138307"/>
          </a:xfrm>
          <a:prstGeom prst="rect">
            <a:avLst/>
          </a:prstGeom>
          <a:solidFill>
            <a:srgbClr val="FFCC99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75003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7432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Bayesian correlation: prior predictive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34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5840" y="1005840"/>
            <a:ext cx="512064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024128"/>
            <a:ext cx="4718304" cy="4718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8064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Prior predictive scatter for the bivariate Normal model.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92240" y="1280160"/>
            <a:ext cx="4663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Each orange point cloud is a dataset drawn from the prior predictive distribution.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Observed data are overlaid in black.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prior predictive check asks whether the joint model is plausible before fitting.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Bayesian correlation: diagnostics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35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603504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70" y="978408"/>
            <a:ext cx="5343899" cy="4443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4864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Trace plots for the bivariate Normal model.</a:t>
            </a:r>
            <a:endParaRPr lang="en-US" sz="1000" dirty="0">
              <a:latin typeface="David" panose="020E0502060401010101" pitchFamily="34" charset="-79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95160" y="1325880"/>
            <a:ext cx="1463040" cy="402336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Parameter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58200" y="1325880"/>
            <a:ext cx="1463040" cy="402336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ESS bulk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21240" y="1325880"/>
            <a:ext cx="1463040" cy="402336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R-hat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6995160" y="1728216"/>
                <a:ext cx="1463040" cy="40233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avid" panose="020E0502060401010101" pitchFamily="34" charset="-79"/>
                        </a:rPr>
                        <m:t>𝜌</m:t>
                      </m:r>
                    </m:oMath>
                  </m:oMathPara>
                </a14:m>
                <a:endParaRPr lang="en-US" sz="16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0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1728216"/>
                <a:ext cx="1463040" cy="402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/>
          <p:cNvSpPr/>
          <p:nvPr/>
        </p:nvSpPr>
        <p:spPr>
          <a:xfrm>
            <a:off x="8458200" y="1728216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4045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921240" y="1728216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/>
              <p:nvPr/>
            </p:nvSpPr>
            <p:spPr>
              <a:xfrm>
                <a:off x="6995160" y="2130552"/>
                <a:ext cx="1463040" cy="40233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𝜌</m:t>
                          </m:r>
                        </m:e>
                        <m:sup>
                          <m:r>
                            <a:rPr lang="en-US" sz="16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2130552"/>
                <a:ext cx="1463040" cy="402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1"/>
          <p:cNvSpPr/>
          <p:nvPr/>
        </p:nvSpPr>
        <p:spPr>
          <a:xfrm>
            <a:off x="8458200" y="2130552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4045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21240" y="2130552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3"/>
              <p:cNvSpPr/>
              <p:nvPr/>
            </p:nvSpPr>
            <p:spPr>
              <a:xfrm>
                <a:off x="6995160" y="2532888"/>
                <a:ext cx="1463040" cy="40233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avid" panose="020E0502060401010101" pitchFamily="34" charset="-79"/>
                        </a:rPr>
                        <m:t>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𝑢𝑟𝑎𝑛𝑖𝑢</m:t>
                          </m:r>
                          <m:sSup>
                            <m:sSupPr>
                              <m:ctrlPr>
                                <a:rPr lang="en-US" sz="1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r>
                                <a:rPr lang="en-US" sz="1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David" panose="020E0502060401010101" pitchFamily="34" charset="-79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2532888"/>
                <a:ext cx="1463040" cy="402336"/>
              </a:xfrm>
              <a:prstGeom prst="rect">
                <a:avLst/>
              </a:prstGeom>
              <a:blipFill>
                <a:blip r:embed="rId6"/>
                <a:stretch>
                  <a:fillRect r="-413" b="-7353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8458200" y="2532888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4375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921240" y="2532888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6"/>
              <p:cNvSpPr/>
              <p:nvPr/>
            </p:nvSpPr>
            <p:spPr>
              <a:xfrm>
                <a:off x="6995160" y="2935224"/>
                <a:ext cx="1463040" cy="40233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D0D0D0"/>
                </a:solidFill>
              </a:ln>
            </p:spPr>
            <p:txBody>
              <a:bodyPr wrap="square" lIns="635" tIns="635" rIns="635" bIns="635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David" panose="020E0502060401010101" pitchFamily="34" charset="-79"/>
                        </a:rPr>
                        <m:t>𝜇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log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⁡_</m:t>
                      </m:r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𝑟𝑎𝑑𝑜</m:t>
                      </m:r>
                      <m:sSup>
                        <m:sSupPr>
                          <m:ctrlPr>
                            <a:rPr lang="en-US" sz="16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𝑛</m:t>
                          </m:r>
                        </m:e>
                        <m:sup>
                          <m:r>
                            <a:rPr lang="en-US" sz="1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David" panose="020E0502060401010101" pitchFamily="34" charset="-79"/>
                            </a:rPr>
                            <m:t>𝑧</m:t>
                          </m:r>
                        </m:sup>
                      </m:sSup>
                      <m:r>
                        <a:rPr lang="en-US" sz="1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David" panose="020E0502060401010101" pitchFamily="34" charset="-79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2935224"/>
                <a:ext cx="1463040" cy="402336"/>
              </a:xfrm>
              <a:prstGeom prst="rect">
                <a:avLst/>
              </a:prstGeom>
              <a:blipFill>
                <a:blip r:embed="rId7"/>
                <a:stretch>
                  <a:fillRect r="-3306" b="-7353"/>
                </a:stretch>
              </a:blipFill>
              <a:ln>
                <a:solidFill>
                  <a:srgbClr val="D0D0D0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/>
          <p:cNvSpPr/>
          <p:nvPr/>
        </p:nvSpPr>
        <p:spPr>
          <a:xfrm>
            <a:off x="8458200" y="2935224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4253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921240" y="2935224"/>
            <a:ext cx="1463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1.00</a:t>
            </a:r>
            <a:endParaRPr lang="en-US" sz="16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9"/>
              <p:cNvSpPr/>
              <p:nvPr/>
            </p:nvSpPr>
            <p:spPr>
              <a:xfrm>
                <a:off x="6995160" y="3886200"/>
                <a:ext cx="4389120" cy="7315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700" dirty="0">
                    <a:solidFill>
                      <a:srgbClr val="333333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Diagnostics support interpreting the posterior for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𝑎𝑛𝑑</m:t>
                    </m:r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</m:t>
                    </m:r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17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²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17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22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60" y="3886200"/>
                <a:ext cx="4389120" cy="731520"/>
              </a:xfrm>
              <a:prstGeom prst="rect">
                <a:avLst/>
              </a:prstGeom>
              <a:blipFill>
                <a:blip r:embed="rId8"/>
                <a:stretch>
                  <a:fillRect l="-3056" t="-8333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Posterior distribution of ρ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36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658368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205556"/>
            <a:ext cx="6547104" cy="4126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5321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distribution of the population correlation.</a:t>
            </a:r>
            <a:endParaRPr lang="en-US" sz="10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7726679" y="1325880"/>
                <a:ext cx="3838303" cy="39319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Posterior mean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≈ 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0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.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323</m:t>
                    </m:r>
                  </m:oMath>
                </a14:m>
                <a:endParaRPr lang="en-US" sz="1800" dirty="0">
                  <a:solidFill>
                    <a:srgbClr val="111111"/>
                  </a:solidFill>
                  <a:latin typeface="David" panose="020E0502060401010101" pitchFamily="34" charset="-79"/>
                  <a:ea typeface="Aptos" pitchFamily="34" charset="-122"/>
                  <a:cs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94% HDI: [0.267, 0.381].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posterior is clearly positive in this model.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This describes association, not causation.</a:t>
                </a:r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79" y="1325880"/>
                <a:ext cx="3838303" cy="3931920"/>
              </a:xfrm>
              <a:prstGeom prst="rect">
                <a:avLst/>
              </a:prstGeom>
              <a:blipFill>
                <a:blip r:embed="rId4"/>
                <a:stretch>
                  <a:fillRect l="-3333" r="-3175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4592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Posterior distribution of ρ²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37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658368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e-IL" dirty="0">
              <a:latin typeface="David" panose="020E0502060401010101" pitchFamily="34" charset="-79"/>
            </a:endParaRPr>
          </a:p>
        </p:txBody>
      </p:sp>
      <p:pic>
        <p:nvPicPr>
          <p:cNvPr id="5" name="Image 0" descr="/mnt/data/tut10_imgs/img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203599"/>
            <a:ext cx="6547104" cy="4130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5321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distribution of shared variance.</a:t>
            </a:r>
            <a:endParaRPr lang="en-US" sz="10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7726680" y="1325880"/>
                <a:ext cx="4003766" cy="39319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Posterior mean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𝜌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²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 ≈ 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0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.</m:t>
                    </m:r>
                    <m:r>
                      <a:rPr lang="en-US" sz="18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David" panose="020E0502060401010101" pitchFamily="34" charset="-79"/>
                      </a:rPr>
                      <m:t>105</m:t>
                    </m:r>
                  </m:oMath>
                </a14:m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94% HDI: [0.068, 0.141].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Interpretation: roughly 10% shared variance in the linear association sense.</a:t>
                </a:r>
                <a:endParaRPr lang="en-US" sz="1800" dirty="0">
                  <a:latin typeface="David" panose="020E0502060401010101" pitchFamily="34" charset="-79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Shared variance </a:t>
                </a:r>
                <a:r>
                  <a:rPr lang="en-US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describes association</a:t>
                </a:r>
                <a:r>
                  <a:rPr lang="en-US" sz="18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 not a causal effect.</a:t>
                </a:r>
                <a:endParaRPr lang="en-US" sz="18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80" y="1325880"/>
                <a:ext cx="4003766" cy="3931920"/>
              </a:xfrm>
              <a:prstGeom prst="rect">
                <a:avLst/>
              </a:prstGeom>
              <a:blipFill>
                <a:blip r:embed="rId4"/>
                <a:stretch>
                  <a:fillRect l="-3354" r="-457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30513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Pearson correlation versus </a:t>
            </a: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Bayesian</a:t>
            </a:r>
            <a:r>
              <a:rPr lang="en-US" sz="31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 correlation</a:t>
            </a:r>
            <a:endParaRPr lang="en-US" sz="31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38</a:t>
            </a:r>
            <a:endParaRPr lang="en-US" sz="1200" dirty="0">
              <a:latin typeface="David" panose="020E0502060401010101" pitchFamily="3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3920" y="1706972"/>
            <a:ext cx="260604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Quantity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89960" y="1706972"/>
            <a:ext cx="2606040" cy="404949"/>
          </a:xfrm>
          <a:prstGeom prst="rect">
            <a:avLst/>
          </a:prstGeom>
          <a:solidFill>
            <a:srgbClr val="EAF3F8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Value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3920" y="2111921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Pearson r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89960" y="2111921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0.324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3920" y="2516869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mean ρ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89960" y="2516869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0.323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3920" y="2921818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ρ 94% HDI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89960" y="2921818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[0.267, 0.381]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3920" y="3326766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Pearson r²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89960" y="3326766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0.105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3920" y="3731715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Posterior mean ρ²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89960" y="3731715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0.105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3920" y="4136663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ρ² 94% HDI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89960" y="4136663"/>
            <a:ext cx="2606040" cy="404949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[0.068, 0.141]</a:t>
            </a:r>
            <a:endParaRPr lang="en-US" sz="1600" dirty="0">
              <a:latin typeface="David" panose="020E0502060401010101" pitchFamily="34" charset="-79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760" y="1706972"/>
            <a:ext cx="484632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Pearson r is a sample statistic.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Bayesian model estimates a posterior distribution for ρ.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posterior directly expresses uncertainty about plausible population correlations.</a:t>
            </a:r>
            <a:endParaRPr lang="en-US" sz="1800" dirty="0">
              <a:latin typeface="David" panose="020E0502060401010101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11111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The p-value asks a different question: compatibility with H₀: ρ = 0.</a:t>
            </a:r>
            <a:endParaRPr lang="en-US" sz="1800" dirty="0">
              <a:latin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274320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11111"/>
                </a:solidFill>
                <a:latin typeface="David" panose="020E0502060401010101" pitchFamily="34" charset="-79"/>
                <a:ea typeface="Aptos Display" pitchFamily="34" charset="-122"/>
                <a:cs typeface="David" panose="020E0502060401010101" pitchFamily="34" charset="-79"/>
              </a:rPr>
              <a:t>Final conceptual summary</a:t>
            </a:r>
            <a:endParaRPr lang="en-US" sz="4000" dirty="0">
              <a:latin typeface="David" panose="020E0502060401010101" pitchFamily="34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13648" y="6355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David" panose="020E0502060401010101" pitchFamily="34" charset="-79"/>
                <a:ea typeface="Aptos" pitchFamily="34" charset="-122"/>
                <a:cs typeface="David" panose="020E0502060401010101" pitchFamily="34" charset="-79"/>
              </a:rPr>
              <a:t>39</a:t>
            </a:r>
            <a:endParaRPr lang="en-US" sz="1200" dirty="0">
              <a:latin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868680" y="1143000"/>
                <a:ext cx="10332720" cy="493776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>
                <a:normAutofit/>
              </a:bodyPr>
              <a:lstStyle/>
              <a:p>
                <a:r>
                  <a:rPr lang="en-US" sz="2400" b="1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Grouped dependence: </a:t>
                </a:r>
              </a:p>
              <a:p>
                <a:r>
                  <a:rPr lang="en-US" sz="24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houses in the same county may be more similar than houses in different counties.</a:t>
                </a:r>
                <a:endParaRPr lang="en-US" sz="2400" dirty="0">
                  <a:latin typeface="David" panose="020E0502060401010101" pitchFamily="34" charset="-79"/>
                </a:endParaRPr>
              </a:p>
              <a:p>
                <a:r>
                  <a:rPr lang="en-US" sz="24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Hierarchical regression represents this using county-level intercepts.</a:t>
                </a:r>
              </a:p>
              <a:p>
                <a:endParaRPr lang="en-US" sz="2400" dirty="0">
                  <a:latin typeface="David" panose="020E0502060401010101" pitchFamily="34" charset="-79"/>
                </a:endParaRPr>
              </a:p>
              <a:p>
                <a:r>
                  <a:rPr lang="en-US" sz="2400" b="1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Symmetric association: </a:t>
                </a:r>
              </a:p>
              <a:p>
                <a:r>
                  <a:rPr lang="en-US" sz="24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two continuous measurements can vary together without a predictor/outcome direction.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US" sz="2400" b="1" dirty="0">
                    <a:latin typeface="David" panose="020E0502060401010101" pitchFamily="34" charset="-79"/>
                  </a:rPr>
                  <a:t> </a:t>
                </a:r>
                <a:r>
                  <a:rPr lang="en-US" sz="2400" dirty="0">
                    <a:latin typeface="David" panose="020E0502060401010101" pitchFamily="34" charset="-79"/>
                  </a:rPr>
                  <a:t>is the population correlation coefficient, and it measures the direction and strength of the linear relationship between two variables.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dirty="0">
                    <a:latin typeface="David" panose="020E0502060401010101" pitchFamily="34" charset="-79"/>
                  </a:rPr>
                  <a:t>, the squared correlation, measures the proportion of shared linear variance between the two variables. </a:t>
                </a:r>
              </a:p>
              <a:p>
                <a:r>
                  <a:rPr lang="en-US" sz="24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bivariate Normal model represents this through the covariance matrix and ρ.</a:t>
                </a:r>
                <a:endParaRPr lang="en-US" sz="2400" dirty="0">
                  <a:latin typeface="David" panose="020E0502060401010101" pitchFamily="34" charset="-79"/>
                </a:endParaRPr>
              </a:p>
              <a:p>
                <a:r>
                  <a:rPr lang="en-US" sz="2400" dirty="0">
                    <a:solidFill>
                      <a:srgbClr val="111111"/>
                    </a:solidFill>
                    <a:latin typeface="David" panose="020E0502060401010101" pitchFamily="34" charset="-79"/>
                    <a:ea typeface="Aptos" pitchFamily="34" charset="-122"/>
                    <a:cs typeface="David" panose="020E0502060401010101" pitchFamily="34" charset="-79"/>
                  </a:rPr>
                  <a:t>The modeling choice should follow the scientific question and data structure.</a:t>
                </a:r>
              </a:p>
              <a:p>
                <a:endParaRPr lang="en-US" sz="2400" dirty="0">
                  <a:latin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143000"/>
                <a:ext cx="10332720" cy="4937760"/>
              </a:xfrm>
              <a:prstGeom prst="rect">
                <a:avLst/>
              </a:prstGeom>
              <a:blipFill>
                <a:blip r:embed="rId3"/>
                <a:stretch>
                  <a:fillRect l="-1829" t="-1975" r="-885" b="-123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3303</Words>
  <Application>Microsoft Office PowerPoint</Application>
  <PresentationFormat>Widescreen</PresentationFormat>
  <Paragraphs>548</Paragraphs>
  <Slides>48</Slides>
  <Notes>48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Cambria Math</vt:lpstr>
      <vt:lpstr>Courier New</vt:lpstr>
      <vt:lpstr>David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Statistical Computation and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10</dc:title>
  <dc:subject>Tutorial 10 Hierarchical Regression and Correlation</dc:subject>
  <dc:creator>OpenAI</dc:creator>
  <cp:lastModifiedBy>נעם גונן</cp:lastModifiedBy>
  <cp:revision>80</cp:revision>
  <dcterms:created xsi:type="dcterms:W3CDTF">2026-06-29T09:52:46Z</dcterms:created>
  <dcterms:modified xsi:type="dcterms:W3CDTF">2026-06-30T11:21:51Z</dcterms:modified>
</cp:coreProperties>
</file>